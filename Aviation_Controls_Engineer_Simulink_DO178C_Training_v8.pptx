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4a3c7798b14530" /><Relationship Type="http://schemas.openxmlformats.org/officeDocument/2006/relationships/extended-properties" Target="/docProps/app.xml" Id="R1838ef0f98ae4557" /><Relationship Type="http://schemas.openxmlformats.org/officeDocument/2006/relationships/officeDocument" Target="/ppt/presentation.xml" Id="R33e615c66d574f79" /></Relationships>
</file>

<file path=ppt/presentation.xml><?xml version="1.0" encoding="utf-8"?>
<p:presentation xmlns:p="http://schemas.openxmlformats.org/presentationml/2006/main">
  <p:sldMasterIdLst>
    <p:sldMasterId xmlns:r="http://schemas.openxmlformats.org/officeDocument/2006/relationships" id="2147483648" r:id="Ra9e9d34c93224469"/>
  </p:sldMasterIdLst>
  <p:notesMasterIdLst>
    <p:notesMasterId xmlns:r="http://schemas.openxmlformats.org/officeDocument/2006/relationships" r:id="Rea4dcce7c59243ec"/>
  </p:notesMasterIdLst>
  <p:sldIdLst>
    <p:sldId xmlns:r="http://schemas.openxmlformats.org/officeDocument/2006/relationships" id="256" r:id="R12d61f668b474a59"/>
    <p:sldId xmlns:r="http://schemas.openxmlformats.org/officeDocument/2006/relationships" id="257" r:id="Rb9840f397bfd4980"/>
    <p:sldId xmlns:r="http://schemas.openxmlformats.org/officeDocument/2006/relationships" id="258" r:id="R4c3a49ce799b4ec9"/>
    <p:sldId xmlns:r="http://schemas.openxmlformats.org/officeDocument/2006/relationships" id="259" r:id="Rd07d598a492948ff"/>
    <p:sldId xmlns:r="http://schemas.openxmlformats.org/officeDocument/2006/relationships" id="260" r:id="Rea74b05b192c4bba"/>
    <p:sldId xmlns:r="http://schemas.openxmlformats.org/officeDocument/2006/relationships" id="261" r:id="R83d15c55886f4e5d"/>
    <p:sldId xmlns:r="http://schemas.openxmlformats.org/officeDocument/2006/relationships" id="262" r:id="R560f76eff67e4505"/>
    <p:sldId xmlns:r="http://schemas.openxmlformats.org/officeDocument/2006/relationships" id="263" r:id="R7e8c28fa155f4a01"/>
    <p:sldId xmlns:r="http://schemas.openxmlformats.org/officeDocument/2006/relationships" id="264" r:id="Re265109aeaa34863"/>
    <p:sldId xmlns:r="http://schemas.openxmlformats.org/officeDocument/2006/relationships" id="265" r:id="R5a656146f8b145f5"/>
    <p:sldId xmlns:r="http://schemas.openxmlformats.org/officeDocument/2006/relationships" id="266" r:id="R37b0a9f657ab436f"/>
    <p:sldId xmlns:r="http://schemas.openxmlformats.org/officeDocument/2006/relationships" id="267" r:id="R6efa0e5c0df14c30"/>
    <p:sldId xmlns:r="http://schemas.openxmlformats.org/officeDocument/2006/relationships" id="268" r:id="R4caff2194fd84c99"/>
    <p:sldId xmlns:r="http://schemas.openxmlformats.org/officeDocument/2006/relationships" id="269" r:id="R84b0c4e6894644bc"/>
    <p:sldId xmlns:r="http://schemas.openxmlformats.org/officeDocument/2006/relationships" id="270" r:id="R69610fce27a6495b"/>
    <p:sldId xmlns:r="http://schemas.openxmlformats.org/officeDocument/2006/relationships" id="271" r:id="Rca74528984774185"/>
    <p:sldId xmlns:r="http://schemas.openxmlformats.org/officeDocument/2006/relationships" id="272" r:id="Rfbcfa26499454626"/>
    <p:sldId xmlns:r="http://schemas.openxmlformats.org/officeDocument/2006/relationships" id="273" r:id="Rfb7b49a75b2c4798"/>
    <p:sldId xmlns:r="http://schemas.openxmlformats.org/officeDocument/2006/relationships" id="274" r:id="Rd34b484eb88b4a41"/>
    <p:sldId xmlns:r="http://schemas.openxmlformats.org/officeDocument/2006/relationships" id="275" r:id="R7c7e7986db0e4fd6"/>
    <p:sldId xmlns:r="http://schemas.openxmlformats.org/officeDocument/2006/relationships" id="276" r:id="R9f42398ddda14cd5"/>
    <p:sldId xmlns:r="http://schemas.openxmlformats.org/officeDocument/2006/relationships" id="277" r:id="Rcd6409753c8a4232"/>
    <p:sldId xmlns:r="http://schemas.openxmlformats.org/officeDocument/2006/relationships" id="278" r:id="R63c0a96f491b4bdf"/>
    <p:sldId xmlns:r="http://schemas.openxmlformats.org/officeDocument/2006/relationships" id="279" r:id="R35b7c108c29f4696"/>
    <p:sldId xmlns:r="http://schemas.openxmlformats.org/officeDocument/2006/relationships" id="280" r:id="R7f855fbdfdfa4e86"/>
    <p:sldId xmlns:r="http://schemas.openxmlformats.org/officeDocument/2006/relationships" id="281" r:id="R1ebb81029d1740a5"/>
    <p:sldId xmlns:r="http://schemas.openxmlformats.org/officeDocument/2006/relationships" id="282" r:id="R617a18502ad4447a"/>
    <p:sldId xmlns:r="http://schemas.openxmlformats.org/officeDocument/2006/relationships" id="283" r:id="Rf5287da01b594f99"/>
    <p:sldId xmlns:r="http://schemas.openxmlformats.org/officeDocument/2006/relationships" id="284" r:id="R61e6f7f85bd34b12"/>
    <p:sldId xmlns:r="http://schemas.openxmlformats.org/officeDocument/2006/relationships" id="285" r:id="Ra5f3101c1c1642ac"/>
    <p:sldId xmlns:r="http://schemas.openxmlformats.org/officeDocument/2006/relationships" id="286" r:id="R5427dda583234a38"/>
    <p:sldId xmlns:r="http://schemas.openxmlformats.org/officeDocument/2006/relationships" id="287" r:id="R0d9c28e5a2eb4191"/>
    <p:sldId xmlns:r="http://schemas.openxmlformats.org/officeDocument/2006/relationships" id="288" r:id="R75bb64bf1e274882"/>
    <p:sldId xmlns:r="http://schemas.openxmlformats.org/officeDocument/2006/relationships" id="289" r:id="R197f1c3e8e324648"/>
    <p:sldId xmlns:r="http://schemas.openxmlformats.org/officeDocument/2006/relationships" id="290" r:id="Ra49d3e34bf1c4677"/>
    <p:sldId xmlns:r="http://schemas.openxmlformats.org/officeDocument/2006/relationships" id="291" r:id="R7d3503f95be64947"/>
    <p:sldId xmlns:r="http://schemas.openxmlformats.org/officeDocument/2006/relationships" id="292" r:id="R7d2a4c59a0f84b8d"/>
    <p:sldId xmlns:r="http://schemas.openxmlformats.org/officeDocument/2006/relationships" id="293" r:id="R8ac879d0423a4aab"/>
    <p:sldId xmlns:r="http://schemas.openxmlformats.org/officeDocument/2006/relationships" id="294" r:id="R04aa56b22cba403c"/>
    <p:sldId xmlns:r="http://schemas.openxmlformats.org/officeDocument/2006/relationships" id="295" r:id="R9c1f7ffa40304d82"/>
    <p:sldId xmlns:r="http://schemas.openxmlformats.org/officeDocument/2006/relationships" id="296" r:id="R87e92855bdc7452e"/>
    <p:sldId xmlns:r="http://schemas.openxmlformats.org/officeDocument/2006/relationships" id="297" r:id="R29991701815c45a5"/>
    <p:sldId xmlns:r="http://schemas.openxmlformats.org/officeDocument/2006/relationships" id="298" r:id="R2b3ad226c882468f"/>
    <p:sldId xmlns:r="http://schemas.openxmlformats.org/officeDocument/2006/relationships" id="299" r:id="R05be2f61ea1c4714"/>
    <p:sldId xmlns:r="http://schemas.openxmlformats.org/officeDocument/2006/relationships" id="300" r:id="Rb4465448a2974a0f"/>
    <p:sldId xmlns:r="http://schemas.openxmlformats.org/officeDocument/2006/relationships" id="301" r:id="R6715ca87bced4d71"/>
    <p:sldId xmlns:r="http://schemas.openxmlformats.org/officeDocument/2006/relationships" id="302" r:id="R9a0438722d394ec0"/>
    <p:sldId xmlns:r="http://schemas.openxmlformats.org/officeDocument/2006/relationships" id="303" r:id="R3e373aa30b624049"/>
    <p:sldId xmlns:r="http://schemas.openxmlformats.org/officeDocument/2006/relationships" id="304" r:id="R7e0a60d672404fb7"/>
    <p:sldId xmlns:r="http://schemas.openxmlformats.org/officeDocument/2006/relationships" id="305" r:id="R7adda01a7d344da6"/>
    <p:sldId xmlns:r="http://schemas.openxmlformats.org/officeDocument/2006/relationships" id="306" r:id="R148dc21aae484663"/>
    <p:sldId xmlns:r="http://schemas.openxmlformats.org/officeDocument/2006/relationships" id="307" r:id="R8929340798094add"/>
    <p:sldId xmlns:r="http://schemas.openxmlformats.org/officeDocument/2006/relationships" id="308" r:id="R3f41673b98b444d9"/>
    <p:sldId xmlns:r="http://schemas.openxmlformats.org/officeDocument/2006/relationships" id="309" r:id="Ref172a8fc28740ea"/>
    <p:sldId xmlns:r="http://schemas.openxmlformats.org/officeDocument/2006/relationships" id="310" r:id="R5d5e45ecd1184f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be13a2a8fac4a0b" /><Relationship Type="http://schemas.openxmlformats.org/officeDocument/2006/relationships/slideMaster" Target="/ppt/slideMasters/slideMaster1.xml" Id="Ra9e9d34c93224469" /><Relationship Type="http://schemas.openxmlformats.org/officeDocument/2006/relationships/notesMaster" Target="/ppt/notesMasters/notesMaster1.xml" Id="Rea4dcce7c59243ec" /><Relationship Type="http://schemas.openxmlformats.org/officeDocument/2006/relationships/presProps" Target="/ppt/presProps.xml" Id="Rd4f9e6fa87e84075" /><Relationship Type="http://schemas.openxmlformats.org/officeDocument/2006/relationships/viewProps" Target="/ppt/viewProps.xml" Id="Rca89ef1a061c482f" /><Relationship Type="http://schemas.openxmlformats.org/officeDocument/2006/relationships/tableStyles" Target="/ppt/tableStyles.xml" Id="Reb7450acf5c74b33" /><Relationship Type="http://schemas.openxmlformats.org/officeDocument/2006/relationships/slide" Target="/ppt/slides/slide1.xml" Id="R12d61f668b474a59" /><Relationship Type="http://schemas.openxmlformats.org/officeDocument/2006/relationships/slide" Target="/ppt/slides/slide2.xml" Id="Rb9840f397bfd4980" /><Relationship Type="http://schemas.openxmlformats.org/officeDocument/2006/relationships/slide" Target="/ppt/slides/slide3.xml" Id="R4c3a49ce799b4ec9" /><Relationship Type="http://schemas.openxmlformats.org/officeDocument/2006/relationships/slide" Target="/ppt/slides/slide4.xml" Id="Rd07d598a492948ff" /><Relationship Type="http://schemas.openxmlformats.org/officeDocument/2006/relationships/slide" Target="/ppt/slides/slide5.xml" Id="Rea74b05b192c4bba" /><Relationship Type="http://schemas.openxmlformats.org/officeDocument/2006/relationships/slide" Target="/ppt/slides/slide6.xml" Id="R83d15c55886f4e5d" /><Relationship Type="http://schemas.openxmlformats.org/officeDocument/2006/relationships/slide" Target="/ppt/slides/slide7.xml" Id="R560f76eff67e4505" /><Relationship Type="http://schemas.openxmlformats.org/officeDocument/2006/relationships/slide" Target="/ppt/slides/slide8.xml" Id="R7e8c28fa155f4a01" /><Relationship Type="http://schemas.openxmlformats.org/officeDocument/2006/relationships/slide" Target="/ppt/slides/slide9.xml" Id="Re265109aeaa34863" /><Relationship Type="http://schemas.openxmlformats.org/officeDocument/2006/relationships/slide" Target="/ppt/slides/slide10.xml" Id="R5a656146f8b145f5" /><Relationship Type="http://schemas.openxmlformats.org/officeDocument/2006/relationships/slide" Target="/ppt/slides/slide11.xml" Id="R37b0a9f657ab436f" /><Relationship Type="http://schemas.openxmlformats.org/officeDocument/2006/relationships/slide" Target="/ppt/slides/slide12.xml" Id="R6efa0e5c0df14c30" /><Relationship Type="http://schemas.openxmlformats.org/officeDocument/2006/relationships/slide" Target="/ppt/slides/slide13.xml" Id="R4caff2194fd84c99" /><Relationship Type="http://schemas.openxmlformats.org/officeDocument/2006/relationships/slide" Target="/ppt/slides/slide14.xml" Id="R84b0c4e6894644bc" /><Relationship Type="http://schemas.openxmlformats.org/officeDocument/2006/relationships/slide" Target="/ppt/slides/slide15.xml" Id="R69610fce27a6495b" /><Relationship Type="http://schemas.openxmlformats.org/officeDocument/2006/relationships/slide" Target="/ppt/slides/slide16.xml" Id="Rca74528984774185" /><Relationship Type="http://schemas.openxmlformats.org/officeDocument/2006/relationships/slide" Target="/ppt/slides/slide17.xml" Id="Rfbcfa26499454626" /><Relationship Type="http://schemas.openxmlformats.org/officeDocument/2006/relationships/slide" Target="/ppt/slides/slide18.xml" Id="Rfb7b49a75b2c4798" /><Relationship Type="http://schemas.openxmlformats.org/officeDocument/2006/relationships/slide" Target="/ppt/slides/slide19.xml" Id="Rd34b484eb88b4a41" /><Relationship Type="http://schemas.openxmlformats.org/officeDocument/2006/relationships/slide" Target="/ppt/slides/slide20.xml" Id="R7c7e7986db0e4fd6" /><Relationship Type="http://schemas.openxmlformats.org/officeDocument/2006/relationships/slide" Target="/ppt/slides/slide21.xml" Id="R9f42398ddda14cd5" /><Relationship Type="http://schemas.openxmlformats.org/officeDocument/2006/relationships/slide" Target="/ppt/slides/slide22.xml" Id="Rcd6409753c8a4232" /><Relationship Type="http://schemas.openxmlformats.org/officeDocument/2006/relationships/slide" Target="/ppt/slides/slide23.xml" Id="R63c0a96f491b4bdf" /><Relationship Type="http://schemas.openxmlformats.org/officeDocument/2006/relationships/slide" Target="/ppt/slides/slide24.xml" Id="R35b7c108c29f4696" /><Relationship Type="http://schemas.openxmlformats.org/officeDocument/2006/relationships/slide" Target="/ppt/slides/slide25.xml" Id="R7f855fbdfdfa4e86" /><Relationship Type="http://schemas.openxmlformats.org/officeDocument/2006/relationships/slide" Target="/ppt/slides/slide26.xml" Id="R1ebb81029d1740a5" /><Relationship Type="http://schemas.openxmlformats.org/officeDocument/2006/relationships/slide" Target="/ppt/slides/slide27.xml" Id="R617a18502ad4447a" /><Relationship Type="http://schemas.openxmlformats.org/officeDocument/2006/relationships/slide" Target="/ppt/slides/slide28.xml" Id="Rf5287da01b594f99" /><Relationship Type="http://schemas.openxmlformats.org/officeDocument/2006/relationships/slide" Target="/ppt/slides/slide29.xml" Id="R61e6f7f85bd34b12" /><Relationship Type="http://schemas.openxmlformats.org/officeDocument/2006/relationships/slide" Target="/ppt/slides/slide30.xml" Id="Ra5f3101c1c1642ac" /><Relationship Type="http://schemas.openxmlformats.org/officeDocument/2006/relationships/slide" Target="/ppt/slides/slide31.xml" Id="R5427dda583234a38" /><Relationship Type="http://schemas.openxmlformats.org/officeDocument/2006/relationships/slide" Target="/ppt/slides/slide32.xml" Id="R0d9c28e5a2eb4191" /><Relationship Type="http://schemas.openxmlformats.org/officeDocument/2006/relationships/slide" Target="/ppt/slides/slide33.xml" Id="R75bb64bf1e274882" /><Relationship Type="http://schemas.openxmlformats.org/officeDocument/2006/relationships/slide" Target="/ppt/slides/slide34.xml" Id="R197f1c3e8e324648" /><Relationship Type="http://schemas.openxmlformats.org/officeDocument/2006/relationships/slide" Target="/ppt/slides/slide35.xml" Id="Ra49d3e34bf1c4677" /><Relationship Type="http://schemas.openxmlformats.org/officeDocument/2006/relationships/slide" Target="/ppt/slides/slide36.xml" Id="R7d3503f95be64947" /><Relationship Type="http://schemas.openxmlformats.org/officeDocument/2006/relationships/slide" Target="/ppt/slides/slide37.xml" Id="R7d2a4c59a0f84b8d" /><Relationship Type="http://schemas.openxmlformats.org/officeDocument/2006/relationships/slide" Target="/ppt/slides/slide38.xml" Id="R8ac879d0423a4aab" /><Relationship Type="http://schemas.openxmlformats.org/officeDocument/2006/relationships/slide" Target="/ppt/slides/slide39.xml" Id="R04aa56b22cba403c" /><Relationship Type="http://schemas.openxmlformats.org/officeDocument/2006/relationships/slide" Target="/ppt/slides/slide40.xml" Id="R9c1f7ffa40304d82" /><Relationship Type="http://schemas.openxmlformats.org/officeDocument/2006/relationships/slide" Target="/ppt/slides/slide41.xml" Id="R87e92855bdc7452e" /><Relationship Type="http://schemas.openxmlformats.org/officeDocument/2006/relationships/slide" Target="/ppt/slides/slide42.xml" Id="R29991701815c45a5" /><Relationship Type="http://schemas.openxmlformats.org/officeDocument/2006/relationships/slide" Target="/ppt/slides/slide43.xml" Id="R2b3ad226c882468f" /><Relationship Type="http://schemas.openxmlformats.org/officeDocument/2006/relationships/slide" Target="/ppt/slides/slide44.xml" Id="R05be2f61ea1c4714" /><Relationship Type="http://schemas.openxmlformats.org/officeDocument/2006/relationships/slide" Target="/ppt/slides/slide45.xml" Id="Rb4465448a2974a0f" /><Relationship Type="http://schemas.openxmlformats.org/officeDocument/2006/relationships/slide" Target="/ppt/slides/slide46.xml" Id="R6715ca87bced4d71" /><Relationship Type="http://schemas.openxmlformats.org/officeDocument/2006/relationships/slide" Target="/ppt/slides/slide47.xml" Id="R9a0438722d394ec0" /><Relationship Type="http://schemas.openxmlformats.org/officeDocument/2006/relationships/slide" Target="/ppt/slides/slide48.xml" Id="R3e373aa30b624049" /><Relationship Type="http://schemas.openxmlformats.org/officeDocument/2006/relationships/slide" Target="/ppt/slides/slide49.xml" Id="R7e0a60d672404fb7" /><Relationship Type="http://schemas.openxmlformats.org/officeDocument/2006/relationships/slide" Target="/ppt/slides/slide50.xml" Id="R7adda01a7d344da6" /><Relationship Type="http://schemas.openxmlformats.org/officeDocument/2006/relationships/slide" Target="/ppt/slides/slide51.xml" Id="R148dc21aae484663" /><Relationship Type="http://schemas.openxmlformats.org/officeDocument/2006/relationships/slide" Target="/ppt/slides/slide52.xml" Id="R8929340798094add" /><Relationship Type="http://schemas.openxmlformats.org/officeDocument/2006/relationships/slide" Target="/ppt/slides/slide53.xml" Id="R3f41673b98b444d9" /><Relationship Type="http://schemas.openxmlformats.org/officeDocument/2006/relationships/slide" Target="/ppt/slides/slide54.xml" Id="Ref172a8fc28740ea" /><Relationship Type="http://schemas.openxmlformats.org/officeDocument/2006/relationships/slide" Target="/ppt/slides/slide55.xml" Id="R5d5e45ecd1184f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e693f7bb104e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912755c9854fc5" /><Relationship Type="http://schemas.openxmlformats.org/officeDocument/2006/relationships/notesMaster" Target="/ppt/notesMasters/notesMaster1.xml" Id="Rd5ea62c337d54b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7dc740fbd549ab" /><Relationship Type="http://schemas.openxmlformats.org/officeDocument/2006/relationships/notesMaster" Target="/ppt/notesMasters/notesMaster1.xml" Id="R3f252865aef345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5dfcf924ed4385" /><Relationship Type="http://schemas.openxmlformats.org/officeDocument/2006/relationships/notesMaster" Target="/ppt/notesMasters/notesMaster1.xml" Id="Rd6b82bfe2b6e44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f65b45ab80401b" /><Relationship Type="http://schemas.openxmlformats.org/officeDocument/2006/relationships/notesMaster" Target="/ppt/notesMasters/notesMaster1.xml" Id="Rbc1b27c59a7d48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48bdfc4d8f47f9" /><Relationship Type="http://schemas.openxmlformats.org/officeDocument/2006/relationships/notesMaster" Target="/ppt/notesMasters/notesMaster1.xml" Id="R6cd8b8f60fc342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651ab49c674cb8" /><Relationship Type="http://schemas.openxmlformats.org/officeDocument/2006/relationships/notesMaster" Target="/ppt/notesMasters/notesMaster1.xml" Id="R69fc8216d4db4c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47bb4e4ef34712" /><Relationship Type="http://schemas.openxmlformats.org/officeDocument/2006/relationships/notesMaster" Target="/ppt/notesMasters/notesMaster1.xml" Id="Rc569b8de70364d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c60c0d491247ba" /><Relationship Type="http://schemas.openxmlformats.org/officeDocument/2006/relationships/notesMaster" Target="/ppt/notesMasters/notesMaster1.xml" Id="R6bfade680ef543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2a034a6d4c40d0" /><Relationship Type="http://schemas.openxmlformats.org/officeDocument/2006/relationships/notesMaster" Target="/ppt/notesMasters/notesMaster1.xml" Id="R46b581906b7046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d1b9def2df490f" /><Relationship Type="http://schemas.openxmlformats.org/officeDocument/2006/relationships/notesMaster" Target="/ppt/notesMasters/notesMaster1.xml" Id="Rc0d2c8f6800d4e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86c3956140487d" /><Relationship Type="http://schemas.openxmlformats.org/officeDocument/2006/relationships/notesMaster" Target="/ppt/notesMasters/notesMaster1.xml" Id="Rd449680615364c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80a029bf3b4d14" /><Relationship Type="http://schemas.openxmlformats.org/officeDocument/2006/relationships/notesMaster" Target="/ppt/notesMasters/notesMaster1.xml" Id="Rd9b6fa353a1d42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f6137662c14f41" /><Relationship Type="http://schemas.openxmlformats.org/officeDocument/2006/relationships/notesMaster" Target="/ppt/notesMasters/notesMaster1.xml" Id="R8a5385f9f9f643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400d71dca64a35" /><Relationship Type="http://schemas.openxmlformats.org/officeDocument/2006/relationships/notesMaster" Target="/ppt/notesMasters/notesMaster1.xml" Id="R182d26425dc547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f92df0efe143b7" /><Relationship Type="http://schemas.openxmlformats.org/officeDocument/2006/relationships/notesMaster" Target="/ppt/notesMasters/notesMaster1.xml" Id="Rd32ded0f35624e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763697f81c4705" /><Relationship Type="http://schemas.openxmlformats.org/officeDocument/2006/relationships/notesMaster" Target="/ppt/notesMasters/notesMaster1.xml" Id="R788db1f56d144e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2ae3db5d6d4c79" /><Relationship Type="http://schemas.openxmlformats.org/officeDocument/2006/relationships/notesMaster" Target="/ppt/notesMasters/notesMaster1.xml" Id="R00780aae30bc40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783ff5ce604545" /><Relationship Type="http://schemas.openxmlformats.org/officeDocument/2006/relationships/notesMaster" Target="/ppt/notesMasters/notesMaster1.xml" Id="Raf81b1e4bcb049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ecfd1e53ec48c1" /><Relationship Type="http://schemas.openxmlformats.org/officeDocument/2006/relationships/notesMaster" Target="/ppt/notesMasters/notesMaster1.xml" Id="Rd0c65c9f4a7a48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ff112b0f11845d4" /><Relationship Type="http://schemas.openxmlformats.org/officeDocument/2006/relationships/notesMaster" Target="/ppt/notesMasters/notesMaster1.xml" Id="R19b1f859d38b4e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74253f031a40a2" /><Relationship Type="http://schemas.openxmlformats.org/officeDocument/2006/relationships/notesMaster" Target="/ppt/notesMasters/notesMaster1.xml" Id="Re521cffb9fa747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2d0a3570f340d6" /><Relationship Type="http://schemas.openxmlformats.org/officeDocument/2006/relationships/notesMaster" Target="/ppt/notesMasters/notesMaster1.xml" Id="R5c90eda27ea3491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2441504e58d45bb" /><Relationship Type="http://schemas.openxmlformats.org/officeDocument/2006/relationships/notesMaster" Target="/ppt/notesMasters/notesMaster1.xml" Id="R6e9f177044d9492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8ae4aab8c1c402d" /><Relationship Type="http://schemas.openxmlformats.org/officeDocument/2006/relationships/notesMaster" Target="/ppt/notesMasters/notesMaster1.xml" Id="R6059417adad54b3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153aa86528d4b5b" /><Relationship Type="http://schemas.openxmlformats.org/officeDocument/2006/relationships/notesMaster" Target="/ppt/notesMasters/notesMaster1.xml" Id="R06daea70fcea4ff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3c18ef13c904366" /><Relationship Type="http://schemas.openxmlformats.org/officeDocument/2006/relationships/notesMaster" Target="/ppt/notesMasters/notesMaster1.xml" Id="R1dcbd2f446214b1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2f8bc7435304d71" /><Relationship Type="http://schemas.openxmlformats.org/officeDocument/2006/relationships/notesMaster" Target="/ppt/notesMasters/notesMaster1.xml" Id="Rbf924e3f4bc345f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deb0a3220b1438b" /><Relationship Type="http://schemas.openxmlformats.org/officeDocument/2006/relationships/notesMaster" Target="/ppt/notesMasters/notesMaster1.xml" Id="R4395e956a614477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5ccd0a8191c4f34" /><Relationship Type="http://schemas.openxmlformats.org/officeDocument/2006/relationships/notesMaster" Target="/ppt/notesMasters/notesMaster1.xml" Id="R9d0569f6097548e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6318ad4c93a40e5" /><Relationship Type="http://schemas.openxmlformats.org/officeDocument/2006/relationships/notesMaster" Target="/ppt/notesMasters/notesMaster1.xml" Id="Raa424495c9d4476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83198082007405c" /><Relationship Type="http://schemas.openxmlformats.org/officeDocument/2006/relationships/notesMaster" Target="/ppt/notesMasters/notesMaster1.xml" Id="R0847f4ae716a47f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24acf3826e84090" /><Relationship Type="http://schemas.openxmlformats.org/officeDocument/2006/relationships/notesMaster" Target="/ppt/notesMasters/notesMaster1.xml" Id="R348d2e95fc874eb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0d465186b314fd3" /><Relationship Type="http://schemas.openxmlformats.org/officeDocument/2006/relationships/notesMaster" Target="/ppt/notesMasters/notesMaster1.xml" Id="R6ffccaa98640466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522ab5a0a7f4e24" /><Relationship Type="http://schemas.openxmlformats.org/officeDocument/2006/relationships/notesMaster" Target="/ppt/notesMasters/notesMaster1.xml" Id="Rf871cb4367394d8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7577c2f747443bd" /><Relationship Type="http://schemas.openxmlformats.org/officeDocument/2006/relationships/notesMaster" Target="/ppt/notesMasters/notesMaster1.xml" Id="R13e83b93bb8c4c9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da9cefc0ef44d30" /><Relationship Type="http://schemas.openxmlformats.org/officeDocument/2006/relationships/notesMaster" Target="/ppt/notesMasters/notesMaster1.xml" Id="R2b7e01122288406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7fce1a17c734a3b" /><Relationship Type="http://schemas.openxmlformats.org/officeDocument/2006/relationships/notesMaster" Target="/ppt/notesMasters/notesMaster1.xml" Id="Rd5a17c42ea63457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a8a350e6d5a4c6b" /><Relationship Type="http://schemas.openxmlformats.org/officeDocument/2006/relationships/notesMaster" Target="/ppt/notesMasters/notesMaster1.xml" Id="R7b4daecc3cba4f0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adbd70b297e46a2" /><Relationship Type="http://schemas.openxmlformats.org/officeDocument/2006/relationships/notesMaster" Target="/ppt/notesMasters/notesMaster1.xml" Id="R043f05ac7dac448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88bcf60914a4978" /><Relationship Type="http://schemas.openxmlformats.org/officeDocument/2006/relationships/notesMaster" Target="/ppt/notesMasters/notesMaster1.xml" Id="R8024acf97c5b492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cfeefcc2a934c6b" /><Relationship Type="http://schemas.openxmlformats.org/officeDocument/2006/relationships/notesMaster" Target="/ppt/notesMasters/notesMaster1.xml" Id="R026bd25291494c5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23304c4c76c4921" /><Relationship Type="http://schemas.openxmlformats.org/officeDocument/2006/relationships/notesMaster" Target="/ppt/notesMasters/notesMaster1.xml" Id="Rb9ae14e856d7409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893fb3751504c4d" /><Relationship Type="http://schemas.openxmlformats.org/officeDocument/2006/relationships/notesMaster" Target="/ppt/notesMasters/notesMaster1.xml" Id="R6ff55d491109451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79cebbe1c3c4db5" /><Relationship Type="http://schemas.openxmlformats.org/officeDocument/2006/relationships/notesMaster" Target="/ppt/notesMasters/notesMaster1.xml" Id="Ra2701dfbe70c474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6fddc7a60564d6e" /><Relationship Type="http://schemas.openxmlformats.org/officeDocument/2006/relationships/notesMaster" Target="/ppt/notesMasters/notesMaster1.xml" Id="Ra2202c5db4854d1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3e2699c263d46a8" /><Relationship Type="http://schemas.openxmlformats.org/officeDocument/2006/relationships/notesMaster" Target="/ppt/notesMasters/notesMaster1.xml" Id="R7264017c626048a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b190a8c568a462f" /><Relationship Type="http://schemas.openxmlformats.org/officeDocument/2006/relationships/notesMaster" Target="/ppt/notesMasters/notesMaster1.xml" Id="Re31c26887e99431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fc0ca2e38264595" /><Relationship Type="http://schemas.openxmlformats.org/officeDocument/2006/relationships/notesMaster" Target="/ppt/notesMasters/notesMaster1.xml" Id="R67702281ea1e44f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2b8728fca3c4bb3" /><Relationship Type="http://schemas.openxmlformats.org/officeDocument/2006/relationships/notesMaster" Target="/ppt/notesMasters/notesMaster1.xml" Id="R35502a6b84b3428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683ccfbd0f34ce3" /><Relationship Type="http://schemas.openxmlformats.org/officeDocument/2006/relationships/notesMaster" Target="/ppt/notesMasters/notesMaster1.xml" Id="Rd4c6f07f4025445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590bf3dafa946b6" /><Relationship Type="http://schemas.openxmlformats.org/officeDocument/2006/relationships/notesMaster" Target="/ppt/notesMasters/notesMaster1.xml" Id="Re689178d82514a8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f708bf487284cbc" /><Relationship Type="http://schemas.openxmlformats.org/officeDocument/2006/relationships/notesMaster" Target="/ppt/notesMasters/notesMaster1.xml" Id="R4f9b061f928147b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64eb73fd1224155" /><Relationship Type="http://schemas.openxmlformats.org/officeDocument/2006/relationships/notesMaster" Target="/ppt/notesMasters/notesMaster1.xml" Id="Rafc7db0b7dbf4ff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136580f604d49e6" /><Relationship Type="http://schemas.openxmlformats.org/officeDocument/2006/relationships/notesMaster" Target="/ppt/notesMasters/notesMaster1.xml" Id="R3c0ef367095e42a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0f54866be8347c3" /><Relationship Type="http://schemas.openxmlformats.org/officeDocument/2006/relationships/notesMaster" Target="/ppt/notesMasters/notesMaster1.xml" Id="Rc18547c43f8f46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Mode: Briefing</a:t>
            </a:r>
          </a:p>
          <a:p xmlns:a="http://schemas.openxmlformats.org/drawingml/2006/main">
            <a:r>
              <a:t/>
            </a:r>
          </a:p>
          <a:p xmlns:a="http://schemas.openxmlformats.org/drawingml/2006/main">
            <a:r>
              <a:t>Prerequisite: None.</a:t>
            </a:r>
            <a:endParaRPr/>
          </a:p>
          <a:p xmlns:a="http://schemas.openxmlformats.org/drawingml/2006/main">
            <a:r>
              <a:t/>
            </a:r>
          </a:p>
          <a:p xmlns:a="http://schemas.openxmlformats.org/drawingml/2006/main">
            <a:r>
              <a:t>Set the learner's mission: use this package to understand, create, update, run, inspect, and explain an illustrative aviation-controls component without mistaking training evidence for production or certification evidence. Self-guided learners need PowerPoint Notes view and README.md side-by-side because recovery details live there.</a:t>
            </a:r>
          </a:p>
          <a:p xmlns:a="http://schemas.openxmlformats.org/drawingml/2006/main">
            <a:r>
              <a:t/>
            </a:r>
            <a:endParaRPr/>
          </a:p>
          <a:p xmlns:a="http://schemas.openxmlformats.org/drawingml/2006/main">
            <a:r>
              <a:t>Do</a:t>
            </a:r>
          </a:p>
          <a:p xmlns:a="http://schemas.openxmlformats.org/drawingml/2006/main">
            <a:r>
              <a:t>- Confirm that MATLAB is open at the repository root, this is the v8 deck, Notes are visible, and README.md is open beside it.</a:t>
            </a:r>
          </a:p>
          <a:p xmlns:a="http://schemas.openxmlformats.org/drawingml/2006/main">
            <a:r>
              <a:t/>
            </a:r>
          </a:p>
          <a:p xmlns:a="http://schemas.openxmlformats.org/drawingml/2006/main">
            <a:r>
              <a:t>Expected</a:t>
            </a:r>
          </a:p>
          <a:p xmlns:a="http://schemas.openxmlformats.org/drawingml/2006/main">
            <a:r>
              <a:t>- The learner can state that the 48-slide core is an executable onboarding route and slides 49-55 are references.</a:t>
            </a:r>
          </a:p>
          <a:p xmlns:a="http://schemas.openxmlformats.org/drawingml/2006/main">
            <a:r>
              <a:t/>
            </a:r>
          </a:p>
          <a:p xmlns:a="http://schemas.openxmlformats.org/drawingml/2006/main">
            <a:r>
              <a:t>Recovery</a:t>
            </a:r>
          </a:p>
          <a:p xmlns:a="http://schemas.openxmlformats.org/drawingml/2006/main">
            <a:r>
              <a:t>- If the repository or v8 deck is not available, stop and obtain the controlled training package before proceeding.</a:t>
            </a:r>
          </a:p>
          <a:p xmlns:a="http://schemas.openxmlformats.org/drawingml/2006/main">
            <a:r>
              <a:t/>
            </a:r>
          </a:p>
          <a:p xmlns:a="http://schemas.openxmlformats.org/drawingml/2006/main">
            <a:r>
              <a:t>Caveats</a:t>
            </a:r>
          </a:p>
          <a:p xmlns:a="http://schemas.openxmlformats.org/drawingml/2006/main">
            <a:r>
              <a:t>- Illustrative desktop-MIL training only; no production aircraft data or certification approval.</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Mode: Briefing</a:t>
            </a:r>
          </a:p>
          <a:p xmlns:a="http://schemas.openxmlformats.org/drawingml/2006/main">
            <a:r>
              <a:t/>
            </a:r>
          </a:p>
          <a:p xmlns:a="http://schemas.openxmlformats.org/drawingml/2006/main">
            <a:r>
              <a:t>Prerequisite: Slide 1 orientation.</a:t>
            </a:r>
            <a:endParaRPr/>
          </a:p>
          <a:p xmlns:a="http://schemas.openxmlformats.org/drawingml/2006/main">
            <a:r>
              <a:t/>
            </a:r>
          </a:p>
          <a:p xmlns:a="http://schemas.openxmlformats.org/drawingml/2006/main">
            <a:r>
              <a:t>Present the absolute snapshot without combining unlike counts. The package retains 8/8 accepted model updates, 19/19 passing limiter assessment rows, and 24/24 required exports present. The two Model-reference parents emit the exact known R2023b Student-license fallback message even though all five saved Model blocks are asserted Normal. Separately, the controlled top-level GRT build generated and compiled 5/5 models.</a:t>
            </a:r>
          </a:p>
          <a:p xmlns:a="http://schemas.openxmlformats.org/drawingml/2006/main">
            <a:r>
              <a:t/>
            </a:r>
            <a:endParaRPr/>
          </a:p>
          <a:p xmlns:a="http://schemas.openxmlformats.org/drawingml/2006/main">
            <a:r>
              <a:t>Do</a:t>
            </a:r>
          </a:p>
          <a:p xmlns:a="http://schemas.openxmlformats.org/drawingml/2006/main">
            <a:r>
              <a:t>- Open results/validation_summary.txt and results/top_level_codegen_v8_evidence/Build_Evidence_Manifest.txt beside the slide.</a:t>
            </a:r>
          </a:p>
          <a:p xmlns:a="http://schemas.openxmlformats.org/drawingml/2006/main">
            <a:r>
              <a:t/>
            </a:r>
          </a:p>
          <a:p xmlns:a="http://schemas.openxmlformats.org/drawingml/2006/main">
            <a:r>
              <a:t>Expected</a:t>
            </a:r>
          </a:p>
          <a:p xmlns:a="http://schemas.openxmlformats.org/drawingml/2006/main">
            <a:r>
              <a:t>- The learner can locate each count in its owning evidence record and explain its scope.</a:t>
            </a:r>
            <a:endParaRPr/>
          </a:p>
          <a:p xmlns:a="http://schemas.openxmlformats.org/drawingml/2006/main">
            <a:r>
              <a:t/>
            </a:r>
            <a:endParaRPr/>
          </a:p>
          <a:p xmlns:a="http://schemas.openxmlformats.org/drawingml/2006/main">
            <a:r>
              <a:t>Recovery</a:t>
            </a:r>
            <a:endParaRPr/>
          </a:p>
          <a:p xmlns:a="http://schemas.openxmlformats.org/drawingml/2006/main">
            <a:r>
              <a:t>- If a file is missing, record the package as incomplete; do not infer status from the slide alone.</a:t>
            </a:r>
            <a:endParaRPr/>
          </a:p>
          <a:p xmlns:a="http://schemas.openxmlformats.org/drawingml/2006/main">
            <a:r>
              <a:t/>
            </a:r>
            <a:endParaRPr/>
          </a:p>
          <a:p xmlns:a="http://schemas.openxmlformats.org/drawingml/2006/main">
            <a:r>
              <a:t>Caveats</a:t>
            </a:r>
            <a:endParaRPr/>
          </a:p>
          <a:p xmlns:a="http://schemas.openxmlformats.org/drawingml/2006/main">
            <a:r>
              <a:t>- The validator reads retained CSV results and checks required-file presence; it does not establish result freshness or content hashes.</a:t>
            </a:r>
            <a:endParaRPr/>
          </a:p>
          <a:p xmlns:a="http://schemas.openxmlformats.org/drawingml/2006/main">
            <a:r>
              <a:t>- The GRT executable was built but not executed; code-generation validation and SIL/PIL were not run.</a:t>
            </a:r>
            <a:endParaRPr/>
          </a:p>
          <a:p xmlns:a="http://schemas.openxmlformats.org/drawingml/2006/main">
            <a:r>
              <a:t>- Git dirty at build was 1, so the retained build is tied to the manifest and local working-tree state, not a clean commit alone.</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results/top_level_codegen_v8_evidence/Build_Evidence_Manifest.txt</a:t>
            </a:r>
            <a:endParaRPr/>
          </a:p>
          <a:p xmlns:a="http://schemas.openxmlformats.org/drawingml/2006/main">
            <a:r>
              <a:t>- results/top_level_codegen_v8_evidence/ReferencedFlightControlArchitecture_slbuild.log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Mode: Briefing and checklist</a:t>
            </a:r>
          </a:p>
          <a:p xmlns:a="http://schemas.openxmlformats.org/drawingml/2006/main">
            <a:r>
              <a:t/>
            </a:r>
          </a:p>
          <a:p xmlns:a="http://schemas.openxmlformats.org/drawingml/2006/main">
            <a:r>
              <a:t>Prerequisite: Slide 2 evidence snapshot.</a:t>
            </a:r>
            <a:endParaRPr/>
          </a:p>
          <a:p xmlns:a="http://schemas.openxmlformats.org/drawingml/2006/main">
            <a:r>
              <a:t/>
            </a:r>
          </a:p>
          <a:p xmlns:a="http://schemas.openxmlformats.org/drawingml/2006/main">
            <a:r>
              <a:t>Define completion as three layers: package baseline present, learner demonstrations completed, and program assurance gates closed by the authorized people. A green retained artifact is not a substitute for an unsigned or unperformed gate.</a:t>
            </a:r>
          </a:p>
          <a:p xmlns:a="http://schemas.openxmlformats.org/drawingml/2006/main">
            <a:r>
              <a:t/>
            </a:r>
            <a:endParaRPr/>
          </a:p>
          <a:p xmlns:a="http://schemas.openxmlformats.org/drawingml/2006/main">
            <a:r>
              <a:t>Do</a:t>
            </a:r>
          </a:p>
          <a:p xmlns:a="http://schemas.openxmlformats.org/drawingml/2006/main">
            <a:r>
              <a:t>- Mark each checklist item as Retained, Learner-demonstrated, or Open, and identify the evidence path or required owner.</a:t>
            </a:r>
          </a:p>
          <a:p xmlns:a="http://schemas.openxmlformats.org/drawingml/2006/main">
            <a:r>
              <a:t/>
            </a:r>
          </a:p>
          <a:p xmlns:a="http://schemas.openxmlformats.org/drawingml/2006/main">
            <a:r>
              <a:t>Expected</a:t>
            </a:r>
          </a:p>
          <a:p xmlns:a="http://schemas.openxmlformats.org/drawingml/2006/main">
            <a:r>
              <a:t>- The learner distinguishes current evidence from activities that must still be performed or signed off.</a:t>
            </a:r>
          </a:p>
          <a:p xmlns:a="http://schemas.openxmlformats.org/drawingml/2006/main">
            <a:r>
              <a:t/>
            </a:r>
          </a:p>
          <a:p xmlns:a="http://schemas.openxmlformats.org/drawingml/2006/main">
            <a:r>
              <a:t>Recovery</a:t>
            </a:r>
          </a:p>
          <a:p xmlns:a="http://schemas.openxmlformats.org/drawingml/2006/main">
            <a:r>
              <a:t>- If ownership or acceptance criteria are unknown, leave the item Open and escalate to the project authority rather than inventing closure.</a:t>
            </a:r>
          </a:p>
          <a:p xmlns:a="http://schemas.openxmlformats.org/drawingml/2006/main">
            <a:r>
              <a:t/>
            </a:r>
          </a:p>
          <a:p xmlns:a="http://schemas.openxmlformats.org/drawingml/2006/main">
            <a:r>
              <a:t>Caveats</a:t>
            </a:r>
          </a:p>
          <a:p xmlns:a="http://schemas.openxmlformats.org/drawingml/2006/main">
            <a:r>
              <a:t>- Model Advisor, Polyspace Bug Finder, Polyspace Code Prover, SIL/PIL/HIL, and the project-defined RCF sign-off are not completed evidence in this package.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results/environment_inventory.txt</a:t>
            </a:r>
          </a:p>
          <a:p xmlns:a="http://schemas.openxmlformats.org/drawingml/2006/main">
            <a:r>
              <a:t>- results/top_level_codegen_v8_evidence/Build_Evidence_Manifest.txt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Mode: Route selection</a:t>
            </a:r>
          </a:p>
          <a:p xmlns:a="http://schemas.openxmlformats.org/drawingml/2006/main">
            <a:r>
              <a:t/>
            </a:r>
          </a:p>
          <a:p xmlns:a="http://schemas.openxmlformats.org/drawingml/2006/main">
            <a:r>
              <a:t>Prerequisite: Slides 1-3.</a:t>
            </a:r>
            <a:endParaRPr/>
          </a:p>
          <a:p xmlns:a="http://schemas.openxmlformats.org/drawingml/2006/main">
            <a:r>
              <a:t/>
            </a:r>
          </a:p>
          <a:p xmlns:a="http://schemas.openxmlformats.org/drawingml/2006/main">
            <a:r>
              <a:t>Choose a route before presenting: instructor onboarding uses slides 1-12, 20-34, and 47-48; self-guided model creation uses slides 13-19; assurance review uses slides 35-46; slides 49-55 are references.</a:t>
            </a:r>
          </a:p>
          <a:p xmlns:a="http://schemas.openxmlformats.org/drawingml/2006/main">
            <a:r>
              <a:t/>
            </a:r>
          </a:p>
          <a:p xmlns:a="http://schemas.openxmlformats.org/drawingml/2006/main">
            <a:r>
              <a:t>Do</a:t>
            </a:r>
          </a:p>
          <a:p xmlns:a="http://schemas.openxmlformats.org/drawingml/2006/main">
            <a:r>
              <a:t>- Select the route that matches the learner's assignment and note any skipped prerequisites.</a:t>
            </a:r>
          </a:p>
          <a:p xmlns:a="http://schemas.openxmlformats.org/drawingml/2006/main">
            <a:r>
              <a:t/>
            </a:r>
          </a:p>
          <a:p xmlns:a="http://schemas.openxmlformats.org/drawingml/2006/main">
            <a:r>
              <a:t>Expected</a:t>
            </a:r>
          </a:p>
          <a:p xmlns:a="http://schemas.openxmlformats.org/drawingml/2006/main">
            <a:r>
              <a:t>- The learner knows where to start, what to perform, and where supporting model views live.</a:t>
            </a:r>
          </a:p>
          <a:p xmlns:a="http://schemas.openxmlformats.org/drawingml/2006/main">
            <a:r>
              <a:t/>
            </a:r>
          </a:p>
          <a:p xmlns:a="http://schemas.openxmlformats.org/drawingml/2006/main">
            <a:r>
              <a:t>Recovery</a:t>
            </a:r>
          </a:p>
          <a:p xmlns:a="http://schemas.openxmlformats.org/drawingml/2006/main">
            <a:r>
              <a:t>- If the learner cannot complete the preflight, return to slides 7-8 before entering a hands-on route.</a:t>
            </a:r>
          </a:p>
          <a:p xmlns:a="http://schemas.openxmlformats.org/drawingml/2006/main">
            <a:r>
              <a:t/>
            </a:r>
          </a:p>
          <a:p xmlns:a="http://schemas.openxmlformats.org/drawingml/2006/main">
            <a:r>
              <a:t>Caveats</a:t>
            </a:r>
          </a:p>
          <a:p xmlns:a="http://schemas.openxmlformats.org/drawingml/2006/main">
            <a:r>
              <a:t>- Skipping slides changes teaching order, not the evidence status of the package.</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Mode: Briefing</a:t>
            </a:r>
          </a:p>
          <a:p xmlns:a="http://schemas.openxmlformats.org/drawingml/2006/main">
            <a:r>
              <a:t/>
            </a:r>
          </a:p>
          <a:p xmlns:a="http://schemas.openxmlformats.org/drawingml/2006/main">
            <a:r>
              <a:t>Prerequisite: Route selected on slide 4.</a:t>
            </a:r>
            <a:endParaRPr/>
          </a:p>
          <a:p xmlns:a="http://schemas.openxmlformats.org/drawingml/2006/main">
            <a:r>
              <a:t/>
            </a:r>
          </a:p>
          <a:p xmlns:a="http://schemas.openxmlformats.org/drawingml/2006/main">
            <a:r>
              <a:t>Use the model hub to connect models, data, scripts, results, reports, and screenshots. The executable source is the repository; the deck is the navigation and interpretation layer.</a:t>
            </a:r>
          </a:p>
          <a:p xmlns:a="http://schemas.openxmlformats.org/drawingml/2006/main">
            <a:r>
              <a:t/>
            </a:r>
            <a:endParaRPr/>
          </a:p>
          <a:p xmlns:a="http://schemas.openxmlformats.org/drawingml/2006/main">
            <a:r>
              <a:t>Do</a:t>
            </a:r>
          </a:p>
          <a:p xmlns:a="http://schemas.openxmlformats.org/drawingml/2006/main">
            <a:r>
              <a:t>- Locate the models, data, scripts, results, reports, screenshots, and docs folders in the repository root.</a:t>
            </a:r>
          </a:p>
          <a:p xmlns:a="http://schemas.openxmlformats.org/drawingml/2006/main">
            <a:r>
              <a:t/>
            </a:r>
          </a:p>
          <a:p xmlns:a="http://schemas.openxmlformats.org/drawingml/2006/main">
            <a:r>
              <a:t>Expected</a:t>
            </a:r>
          </a:p>
          <a:p xmlns:a="http://schemas.openxmlformats.org/drawingml/2006/main">
            <a:r>
              <a:t>- The learner can name which folder owns model source, controlled data, execution drivers, and retained evidence.</a:t>
            </a:r>
          </a:p>
          <a:p xmlns:a="http://schemas.openxmlformats.org/drawingml/2006/main">
            <a:r>
              <a:t/>
            </a:r>
          </a:p>
          <a:p xmlns:a="http://schemas.openxmlformats.org/drawingml/2006/main">
            <a:r>
              <a:t>Recovery</a:t>
            </a:r>
          </a:p>
          <a:p xmlns:a="http://schemas.openxmlformats.org/drawingml/2006/main">
            <a:r>
              <a:t>- If the folder layout differs, confirm the active repository root and version before running commands.</a:t>
            </a:r>
          </a:p>
          <a:p xmlns:a="http://schemas.openxmlformats.org/drawingml/2006/main">
            <a:r>
              <a:t/>
            </a:r>
          </a:p>
          <a:p xmlns:a="http://schemas.openxmlformats.org/drawingml/2006/main">
            <a:r>
              <a:t>Caveats</a:t>
            </a:r>
          </a:p>
          <a:p xmlns:a="http://schemas.openxmlformats.org/drawingml/2006/main">
            <a:r>
              <a:t>- Screenshots support orientation; saved models, scripts, and result files are the inspectable artifacts.</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Mode: Mission briefing</a:t>
            </a:r>
          </a:p>
          <a:p xmlns:a="http://schemas.openxmlformats.org/drawingml/2006/main">
            <a:r>
              <a:t/>
            </a:r>
          </a:p>
          <a:p xmlns:a="http://schemas.openxmlformats.org/drawingml/2006/main">
            <a:r>
              <a:t>Prerequisite: Slides 1-5.</a:t>
            </a:r>
            <a:endParaRPr/>
          </a:p>
          <a:p xmlns:a="http://schemas.openxmlformats.org/drawingml/2006/main">
            <a:r>
              <a:t/>
            </a:r>
          </a:p>
          <a:p xmlns:a="http://schemas.openxmlformats.org/drawingml/2006/main">
            <a:r>
              <a:t>The capstone is reproducibility: initialize the package, choose the right top level, update it, run the controlled limiter driver, inspect SDI and result plots, locate the dictionary and bus, inspect the top-level build tree, and identify open assurance gates.</a:t>
            </a:r>
          </a:p>
          <a:p xmlns:a="http://schemas.openxmlformats.org/drawingml/2006/main">
            <a:r>
              <a:t/>
            </a:r>
          </a:p>
          <a:p xmlns:a="http://schemas.openxmlformats.org/drawingml/2006/main">
            <a:r>
              <a:t>Do</a:t>
            </a:r>
          </a:p>
          <a:p xmlns:a="http://schemas.openxmlformats.org/drawingml/2006/main">
            <a:r>
              <a:t>- Read the capstone deliverables and reserve a place to record paths, observations, and open gates.</a:t>
            </a:r>
          </a:p>
          <a:p xmlns:a="http://schemas.openxmlformats.org/drawingml/2006/main">
            <a:r>
              <a:t/>
            </a:r>
          </a:p>
          <a:p xmlns:a="http://schemas.openxmlformats.org/drawingml/2006/main">
            <a:r>
              <a:t>Expected</a:t>
            </a:r>
          </a:p>
          <a:p xmlns:a="http://schemas.openxmlformats.org/drawingml/2006/main">
            <a:r>
              <a:t>- The learner can describe the final demonstration before beginning the lab.</a:t>
            </a:r>
          </a:p>
          <a:p xmlns:a="http://schemas.openxmlformats.org/drawingml/2006/main">
            <a:r>
              <a:t/>
            </a:r>
          </a:p>
          <a:p xmlns:a="http://schemas.openxmlformats.org/drawingml/2006/main">
            <a:r>
              <a:t>Recovery</a:t>
            </a:r>
          </a:p>
          <a:p xmlns:a="http://schemas.openxmlformats.org/drawingml/2006/main">
            <a:r>
              <a:t>- If the assignment requires a different target or project process, record that delta before executing this training workflow.</a:t>
            </a:r>
          </a:p>
          <a:p xmlns:a="http://schemas.openxmlformats.org/drawingml/2006/main">
            <a:r>
              <a:t/>
            </a:r>
          </a:p>
          <a:p xmlns:a="http://schemas.openxmlformats.org/drawingml/2006/main">
            <a:r>
              <a:t>Caveats</a:t>
            </a:r>
          </a:p>
          <a:p xmlns:a="http://schemas.openxmlformats.org/drawingml/2006/main">
            <a:r>
              <a:t>- The capstone demonstrates onboarding competence; it does not grant approval authority.</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Hands-on preflight</a:t>
            </a:r>
          </a:p>
          <a:p xmlns:a="http://schemas.openxmlformats.org/drawingml/2006/main">
            <a:r>
              <a:t/>
            </a:r>
          </a:p>
          <a:p xmlns:a="http://schemas.openxmlformats.org/drawingml/2006/main">
            <a:r>
              <a:t>Prerequisite: Repository copied locally; MATLAB R2023b environment available.</a:t>
            </a:r>
            <a:endParaRPr/>
          </a:p>
          <a:p xmlns:a="http://schemas.openxmlformats.org/drawingml/2006/main">
            <a:r>
              <a:t/>
            </a:r>
          </a:p>
          <a:p xmlns:a="http://schemas.openxmlformats.org/drawingml/2006/main">
            <a:r>
              <a:t>Verify location, products, model files, controlled data, and retained evidence before modifying anything. The full baseline requires Stateflow. Reproducing the retained GRT executable additionally requires Windows, Simulink Coder, and a selected supported C/C++ compiler; the retained run used Microsoft Visual C++ 2017.</a:t>
            </a:r>
          </a:p>
          <a:p xmlns:a="http://schemas.openxmlformats.org/drawingml/2006/main">
            <a:r>
              <a:t/>
            </a:r>
            <a:endParaRPr/>
          </a:p>
          <a:p xmlns:a="http://schemas.openxmlformats.org/drawingml/2006/main">
            <a:r>
              <a:t>Do</a:t>
            </a:r>
          </a:p>
          <a:p xmlns:a="http://schemas.openxmlformats.org/drawingml/2006/main">
            <a:r>
              <a:t>- Set projectRoot=pwd, assert README.md exists, inspect results/environment_inventory.txt, confirm Stateflow for the full baseline, and query the selected C compiler before any GRT build.</a:t>
            </a:r>
          </a:p>
          <a:p xmlns:a="http://schemas.openxmlformats.org/drawingml/2006/main">
            <a:r>
              <a:t/>
            </a:r>
          </a:p>
          <a:p xmlns:a="http://schemas.openxmlformats.org/drawingml/2006/main">
            <a:r>
              <a:t>Expected</a:t>
            </a:r>
          </a:p>
          <a:p xmlns:a="http://schemas.openxmlformats.org/drawingml/2006/main">
            <a:r>
              <a:t>- Preflight finds the repository root, eight delivered models, the data dictionary, scripts, and current validation artifacts.</a:t>
            </a:r>
            <a:endParaRPr/>
          </a:p>
          <a:p xmlns:a="http://schemas.openxmlformats.org/drawingml/2006/main">
            <a:r>
              <a:t/>
            </a:r>
            <a:endParaRPr/>
          </a:p>
          <a:p xmlns:a="http://schemas.openxmlformats.org/drawingml/2006/main">
            <a:r>
              <a:t>Recovery</a:t>
            </a:r>
            <a:endParaRPr/>
          </a:p>
          <a:p xmlns:a="http://schemas.openxmlformats.org/drawingml/2006/main">
            <a:r>
              <a:t>- If any prerequisite fails, correct the working folder or installation; do not regenerate models as a first response.</a:t>
            </a:r>
            <a:endParaRPr/>
          </a:p>
          <a:p xmlns:a="http://schemas.openxmlformats.org/drawingml/2006/main">
            <a:r>
              <a:t/>
            </a:r>
            <a:endParaRPr/>
          </a:p>
          <a:p xmlns:a="http://schemas.openxmlformats.org/drawingml/2006/main">
            <a:r>
              <a:t>Caveats</a:t>
            </a:r>
            <a:endParaRPr/>
          </a:p>
          <a:p xmlns:a="http://schemas.openxmlformats.org/drawingml/2006/main">
            <a:r>
              <a:t>- Product availability can differ from the retained environment inventory.</a:t>
            </a:r>
            <a:endParaRPr/>
          </a:p>
          <a:p xmlns:a="http://schemas.openxmlformats.org/drawingml/2006/main">
            <a:r>
              <a:t>- A local installation match does not establish project qualification or approval.</a:t>
            </a:r>
            <a:endParaRPr/>
          </a:p>
          <a:p xmlns:a="http://schemas.openxmlformats.org/drawingml/2006/main">
            <a:r>
              <a:t>- Orientation-only open/inspect steps are separate from initialization and drivers that write the dictionary or retained evidence.</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results/environment_inventory.txt</a:t>
            </a:r>
            <a:endParaRPr/>
          </a:p>
          <a:p xmlns:a="http://schemas.openxmlformats.org/drawingml/2006/main">
            <a:r>
              <a:t>- results/MATLAB_ProductInventory.csv</a:t>
            </a:r>
            <a:endParaRPr/>
          </a:p>
          <a:p xmlns:a="http://schemas.openxmlformats.org/drawingml/2006/main">
            <a:r>
              <a:t>- results/validation_summary.txt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Hands-on demonstration</a:t>
            </a:r>
          </a:p>
          <a:p xmlns:a="http://schemas.openxmlformats.org/drawingml/2006/main">
            <a:r>
              <a:t/>
            </a:r>
          </a:p>
          <a:p xmlns:a="http://schemas.openxmlformats.org/drawingml/2006/main">
            <a:r>
              <a:t>Prerequisite: Slide 7 preflight complete.</a:t>
            </a:r>
            <a:endParaRPr/>
          </a:p>
          <a:p xmlns:a="http://schemas.openxmlformats.org/drawingml/2006/main">
            <a:r>
              <a:t/>
            </a:r>
          </a:p>
          <a:p xmlns:a="http://schemas.openxmlformats.org/drawingml/2006/main">
            <a:r>
              <a:t>This is a write-producing refresh, not orientation-only inspection. After authorization, use repository-relative initialization, update the aircraft model, and call the controlled simulation and limiter-test drivers; README.md lists a separate safe open/inspect sequence.</a:t>
            </a:r>
          </a:p>
          <a:p xmlns:a="http://schemas.openxmlformats.org/drawingml/2006/main">
            <a:r>
              <a:t/>
            </a:r>
            <a:endParaRPr/>
          </a:p>
          <a:p xmlns:a="http://schemas.openxmlformats.org/drawingml/2006/main">
            <a:r>
              <a:t>Do</a:t>
            </a:r>
          </a:p>
          <a:p xmlns:a="http://schemas.openxmlformats.org/drawingml/2006/main">
            <a:r>
              <a:t>- Run the exact portable command block from the slide from the repository root.</a:t>
            </a:r>
          </a:p>
          <a:p xmlns:a="http://schemas.openxmlformats.org/drawingml/2006/main">
            <a:r>
              <a:t/>
            </a:r>
          </a:p>
          <a:p xmlns:a="http://schemas.openxmlformats.org/drawingml/2006/main">
            <a:r>
              <a:t>Expected</a:t>
            </a:r>
          </a:p>
          <a:p xmlns:a="http://schemas.openxmlformats.org/drawingml/2006/main">
            <a:r>
              <a:t>- AircraftFeedbackControlLoop opens and updates, the training simulations complete, and the limiter driver reports 19/19 passing assessments.</a:t>
            </a:r>
            <a:endParaRPr/>
          </a:p>
          <a:p xmlns:a="http://schemas.openxmlformats.org/drawingml/2006/main">
            <a:r>
              <a:t/>
            </a:r>
            <a:endParaRPr/>
          </a:p>
          <a:p xmlns:a="http://schemas.openxmlformats.org/drawingml/2006/main">
            <a:r>
              <a:t>Recovery</a:t>
            </a:r>
            <a:endParaRPr/>
          </a:p>
          <a:p xmlns:a="http://schemas.openxmlformats.org/drawingml/2006/main">
            <a:r>
              <a:t>- If an assertion fails, reset to the repository root. If update or simulation fails, capture the full MATLAB diagnostic and stop before changing models or evidence files.</a:t>
            </a:r>
            <a:endParaRPr/>
          </a:p>
          <a:p xmlns:a="http://schemas.openxmlformats.org/drawingml/2006/main">
            <a:r>
              <a:t/>
            </a:r>
            <a:endParaRPr/>
          </a:p>
          <a:p xmlns:a="http://schemas.openxmlformats.org/drawingml/2006/main">
            <a:r>
              <a:t>Caveats</a:t>
            </a:r>
            <a:endParaRPr/>
          </a:p>
          <a:p xmlns:a="http://schemas.openxmlformats.org/drawingml/2006/main">
            <a:r>
              <a:t>- initialize_training_data restores managed classroom entries; experiment only in an authorized copy.</a:t>
            </a:r>
            <a:endParaRPr/>
          </a:p>
          <a:p xmlns:a="http://schemas.openxmlformats.org/drawingml/2006/main">
            <a:r>
              <a:t>- The driver refreshes retained outputs, so treat execution as an evidence-producing action.</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scripts/initialize_training_data.m</a:t>
            </a:r>
            <a:endParaRPr/>
          </a:p>
          <a:p xmlns:a="http://schemas.openxmlformats.org/drawingml/2006/main">
            <a:r>
              <a:t>- scripts/run_training_simulations.m</a:t>
            </a:r>
            <a:endParaRPr/>
          </a:p>
          <a:p xmlns:a="http://schemas.openxmlformats.org/drawingml/2006/main">
            <a:r>
              <a:t>- scripts/run_pitch_rate_limiter_tests.m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Mode: Model-selection lab</a:t>
            </a:r>
          </a:p>
          <a:p xmlns:a="http://schemas.openxmlformats.org/drawingml/2006/main">
            <a:r>
              <a:t/>
            </a:r>
          </a:p>
          <a:p xmlns:a="http://schemas.openxmlformats.org/drawingml/2006/main">
            <a:r>
              <a:t>Prerequisite: Path initialized on slide 8.</a:t>
            </a:r>
            <a:endParaRPr/>
          </a:p>
          <a:p xmlns:a="http://schemas.openxmlformats.org/drawingml/2006/main">
            <a:r>
              <a:t/>
            </a:r>
            <a:endParaRPr/>
          </a:p>
          <a:p xmlns:a="http://schemas.openxmlformats.org/drawingml/2006/main">
            <a:r>
              <a:t>Choose the model that matches the question. AircraftFeedbackControlLoop teaches closed-loop behavior; PitchRateLimiter_Harness executes the component test path; ReferencedFlightControlArchitecture is the highest-level integration and code-generation target.</a:t>
            </a:r>
            <a:endParaRPr/>
          </a:p>
          <a:p xmlns:a="http://schemas.openxmlformats.org/drawingml/2006/main">
            <a:r>
              <a:t/>
            </a:r>
            <a:endParaRPr/>
          </a:p>
          <a:p xmlns:a="http://schemas.openxmlformats.org/drawingml/2006/main">
            <a:r>
              <a:t>Do</a:t>
            </a:r>
            <a:endParaRPr/>
          </a:p>
          <a:p xmlns:a="http://schemas.openxmlformats.org/drawingml/2006/main">
            <a:r>
              <a:t>- Open all three models and identify the model name shown in each window title.</a:t>
            </a:r>
            <a:endParaRPr/>
          </a:p>
          <a:p xmlns:a="http://schemas.openxmlformats.org/drawingml/2006/main">
            <a:r>
              <a:t/>
            </a:r>
            <a:endParaRPr/>
          </a:p>
          <a:p xmlns:a="http://schemas.openxmlformats.org/drawingml/2006/main">
            <a:r>
              <a:t>Expected</a:t>
            </a:r>
            <a:endParaRPr/>
          </a:p>
          <a:p xmlns:a="http://schemas.openxmlformats.org/drawingml/2006/main">
            <a:r>
              <a:t>- The learner selects ReferencedFlightControlArchitecture for the top-level Ctrl+B/GRT build and PitchRateLimiter_Harness for the limiter execution walkthrough.</a:t>
            </a:r>
            <a:endParaRPr/>
          </a:p>
          <a:p xmlns:a="http://schemas.openxmlformats.org/drawingml/2006/main">
            <a:r>
              <a:t/>
            </a:r>
            <a:endParaRPr/>
          </a:p>
          <a:p xmlns:a="http://schemas.openxmlformats.org/drawingml/2006/main">
            <a:r>
              <a:t>Recovery</a:t>
            </a:r>
            <a:endParaRPr/>
          </a:p>
          <a:p xmlns:a="http://schemas.openxmlformats.org/drawingml/2006/main">
            <a:r>
              <a:t>- If a referenced model cannot resolve, verify the models folder is on the MATLAB path and rerun initialization.</a:t>
            </a:r>
            <a:endParaRPr/>
          </a:p>
          <a:p xmlns:a="http://schemas.openxmlformats.org/drawingml/2006/main">
            <a:r>
              <a:t/>
            </a:r>
            <a:endParaRPr/>
          </a:p>
          <a:p xmlns:a="http://schemas.openxmlformats.org/drawingml/2006/main">
            <a:r>
              <a:t>Caveats</a:t>
            </a:r>
            <a:endParaRPr/>
          </a:p>
          <a:p xmlns:a="http://schemas.openxmlformats.org/drawingml/2006/main">
            <a:r>
              <a:t>- Building the harness is not equivalent to building the integration top level.</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models/PitchRateLimiter_Harness.slx</a:t>
            </a:r>
            <a:endParaRPr/>
          </a:p>
          <a:p xmlns:a="http://schemas.openxmlformats.org/drawingml/2006/main">
            <a:r>
              <a:t>- models/ReferencedFlightControlArchitecture.slx</a:t>
            </a:r>
            <a:endParaRPr/>
          </a:p>
          <a:p xmlns:a="http://schemas.openxmlformats.org/drawingml/2006/main">
            <a:r>
              <a:t>- 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Mode: Decision briefing</a:t>
            </a:r>
          </a:p>
          <a:p xmlns:a="http://schemas.openxmlformats.org/drawingml/2006/main">
            <a:r>
              <a:t/>
            </a:r>
          </a:p>
          <a:p xmlns:a="http://schemas.openxmlformats.org/drawingml/2006/main">
            <a:r>
              <a:t>Prerequisite: Repository root and target model known.</a:t>
            </a:r>
            <a:endParaRPr/>
          </a:p>
          <a:p xmlns:a="http://schemas.openxmlformats.org/drawingml/2006/main">
            <a:r>
              <a:t/>
            </a:r>
          </a:p>
          <a:p xmlns:a="http://schemas.openxmlformats.org/drawingml/2006/main">
            <a:r>
              <a:t>Separate safe manual learning from controlled refresh and destructive regeneration. Manual open, inspect, update, and simulation are different from refresh_onboarding_artifacts; regenerate_all/create_training_models can replace managed artifacts.</a:t>
            </a:r>
          </a:p>
          <a:p xmlns:a="http://schemas.openxmlformats.org/drawingml/2006/main">
            <a:r>
              <a:t/>
            </a:r>
            <a:endParaRPr/>
          </a:p>
          <a:p xmlns:a="http://schemas.openxmlformats.org/drawingml/2006/main">
            <a:r>
              <a:t>Do</a:t>
            </a:r>
          </a:p>
          <a:p xmlns:a="http://schemas.openxmlformats.org/drawingml/2006/main">
            <a:r>
              <a:t>- Choose the manual lab lane unless the assignment explicitly authorizes refreshing or regenerating evidence.</a:t>
            </a:r>
          </a:p>
          <a:p xmlns:a="http://schemas.openxmlformats.org/drawingml/2006/main">
            <a:r>
              <a:t/>
            </a:r>
          </a:p>
          <a:p xmlns:a="http://schemas.openxmlformats.org/drawingml/2006/main">
            <a:r>
              <a:t>Expected</a:t>
            </a:r>
          </a:p>
          <a:p xmlns:a="http://schemas.openxmlformats.org/drawingml/2006/main">
            <a:r>
              <a:t>- The learner can explain which commands may rewrite dictionary entries, models, screenshots, and results.</a:t>
            </a:r>
          </a:p>
          <a:p xmlns:a="http://schemas.openxmlformats.org/drawingml/2006/main">
            <a:r>
              <a:t/>
            </a:r>
          </a:p>
          <a:p xmlns:a="http://schemas.openxmlformats.org/drawingml/2006/main">
            <a:r>
              <a:t>Recovery</a:t>
            </a:r>
          </a:p>
          <a:p xmlns:a="http://schemas.openxmlformats.org/drawingml/2006/main">
            <a:r>
              <a:t>- If regeneration was started unintentionally, stop, preserve diagnostics, and restore from version control or the controlled package owner.</a:t>
            </a:r>
          </a:p>
          <a:p xmlns:a="http://schemas.openxmlformats.org/drawingml/2006/main">
            <a:r>
              <a:t/>
            </a:r>
          </a:p>
          <a:p xmlns:a="http://schemas.openxmlformats.org/drawingml/2006/main">
            <a:r>
              <a:t>Caveats</a:t>
            </a:r>
          </a:p>
          <a:p xmlns:a="http://schemas.openxmlformats.org/drawingml/2006/main">
            <a:r>
              <a:t>- Do not use create_training_models.m merely to repair a path or product issue.</a:t>
            </a:r>
          </a:p>
          <a:p xmlns:a="http://schemas.openxmlformats.org/drawingml/2006/main">
            <a:r>
              <a:t>- Preserve unrelated user changes in a dirty working tree.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scripts/refresh_onboarding_artifacts.m</a:t>
            </a:r>
          </a:p>
          <a:p xmlns:a="http://schemas.openxmlformats.org/drawingml/2006/main">
            <a:r>
              <a:t>- scripts/regenerate_all.m</a:t>
            </a:r>
          </a:p>
          <a:p xmlns:a="http://schemas.openxmlformats.org/drawingml/2006/main">
            <a:r>
              <a:t>- scripts/create_training_models.m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Mode: Concept briefing</a:t>
            </a:r>
          </a:p>
          <a:p xmlns:a="http://schemas.openxmlformats.org/drawingml/2006/main">
            <a:r>
              <a:t/>
            </a:r>
          </a:p>
          <a:p xmlns:a="http://schemas.openxmlformats.org/drawingml/2006/main">
            <a:r>
              <a:t>Prerequisite: Slides 7-10.</a:t>
            </a:r>
            <a:endParaRPr/>
          </a:p>
          <a:p xmlns:a="http://schemas.openxmlformats.org/drawingml/2006/main">
            <a:r>
              <a:t/>
            </a:r>
          </a:p>
          <a:p xmlns:a="http://schemas.openxmlformats.org/drawingml/2006/main">
            <a:r>
              <a:t>MATLAB owns commands, scripts, variables, and file orchestration; Simulink owns block-diagram structure, compiled attributes, update, simulation, and target-dependent build. The controlled workflow deliberately uses both.</a:t>
            </a:r>
          </a:p>
          <a:p xmlns:a="http://schemas.openxmlformats.org/drawingml/2006/main">
            <a:r>
              <a:t/>
            </a:r>
            <a:endParaRPr/>
          </a:p>
          <a:p xmlns:a="http://schemas.openxmlformats.org/drawingml/2006/main">
            <a:r>
              <a:t>Do</a:t>
            </a:r>
          </a:p>
          <a:p xmlns:a="http://schemas.openxmlformats.org/drawingml/2006/main">
            <a:r>
              <a:t>- Identify one action performed in MATLAB and one performed in the Simulink editor.</a:t>
            </a:r>
          </a:p>
          <a:p xmlns:a="http://schemas.openxmlformats.org/drawingml/2006/main">
            <a:r>
              <a:t/>
            </a:r>
          </a:p>
          <a:p xmlns:a="http://schemas.openxmlformats.org/drawingml/2006/main">
            <a:r>
              <a:t>Expected</a:t>
            </a:r>
          </a:p>
          <a:p xmlns:a="http://schemas.openxmlformats.org/drawingml/2006/main">
            <a:r>
              <a:t>- The learner does not confuse running a MATLAB driver with pressing Run on a saved model or pressing Ctrl+B.</a:t>
            </a:r>
          </a:p>
          <a:p xmlns:a="http://schemas.openxmlformats.org/drawingml/2006/main">
            <a:r>
              <a:t/>
            </a:r>
          </a:p>
          <a:p xmlns:a="http://schemas.openxmlformats.org/drawingml/2006/main">
            <a:r>
              <a:t>Recovery</a:t>
            </a:r>
          </a:p>
          <a:p xmlns:a="http://schemas.openxmlformats.org/drawingml/2006/main">
            <a:r>
              <a:t>- If results differ, first confirm which execution path and workspace supplied the inputs.</a:t>
            </a:r>
          </a:p>
          <a:p xmlns:a="http://schemas.openxmlformats.org/drawingml/2006/main">
            <a:r>
              <a:t/>
            </a:r>
          </a:p>
          <a:p xmlns:a="http://schemas.openxmlformats.org/drawingml/2006/main">
            <a:r>
              <a:t>Caveats</a:t>
            </a:r>
          </a:p>
          <a:p xmlns:a="http://schemas.openxmlformats.org/drawingml/2006/main">
            <a:r>
              <a:t>- Equivalent-looking UI and scripted actions can have different inputs, overrides, and evidence handling.</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scripts/run_pitch_rate_limiter_tests.m</a:t>
            </a:r>
          </a:p>
          <a:p xmlns:a="http://schemas.openxmlformats.org/drawingml/2006/main">
            <a:r>
              <a:t>- https://www.mathworks.com/help/simulink/ug/using-the-sim-command.html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plus demonstration</a:t>
            </a:r>
          </a:p>
          <a:p xmlns:a="http://schemas.openxmlformats.org/drawingml/2006/main">
            <a:r>
              <a:t/>
            </a:r>
            <a:endParaRPr/>
          </a:p>
          <a:p xmlns:a="http://schemas.openxmlformats.org/drawingml/2006/main">
            <a:r>
              <a:t>Mode: UI orientation</a:t>
            </a:r>
          </a:p>
          <a:p xmlns:a="http://schemas.openxmlformats.org/drawingml/2006/main">
            <a:r>
              <a:t/>
            </a:r>
          </a:p>
          <a:p xmlns:a="http://schemas.openxmlformats.org/drawingml/2006/main">
            <a:r>
              <a:t>Prerequisite: A model open in Simulink.</a:t>
            </a:r>
            <a:endParaRPr/>
          </a:p>
          <a:p xmlns:a="http://schemas.openxmlformats.org/drawingml/2006/main">
            <a:r>
              <a:t/>
            </a:r>
            <a:endParaRPr/>
          </a:p>
          <a:p xmlns:a="http://schemas.openxmlformats.org/drawingml/2006/main">
            <a:r>
              <a:t>Orient to the Simulation, Debug, Modeling, Apps, and Signal controls. The Signal tab exposes Log Signals and Test Point actions; the modeling controls provide Model Settings; keyboard shortcuts trigger update or target-dependent build.</a:t>
            </a:r>
            <a:endParaRPr/>
          </a:p>
          <a:p xmlns:a="http://schemas.openxmlformats.org/drawingml/2006/main">
            <a:r>
              <a:t/>
            </a:r>
            <a:endParaRPr/>
          </a:p>
          <a:p xmlns:a="http://schemas.openxmlformats.org/drawingml/2006/main">
            <a:r>
              <a:t>Do</a:t>
            </a:r>
            <a:endParaRPr/>
          </a:p>
          <a:p xmlns:a="http://schemas.openxmlformats.org/drawingml/2006/main">
            <a:r>
              <a:t>- Select a signal, open the Signal tab, locate Log Signals and Test Point, and locate Model Settings without changing the model.</a:t>
            </a:r>
            <a:endParaRPr/>
          </a:p>
          <a:p xmlns:a="http://schemas.openxmlformats.org/drawingml/2006/main">
            <a:r>
              <a:t/>
            </a:r>
            <a:endParaRPr/>
          </a:p>
          <a:p xmlns:a="http://schemas.openxmlformats.org/drawingml/2006/main">
            <a:r>
              <a:t>Expected</a:t>
            </a:r>
          </a:p>
          <a:p xmlns:a="http://schemas.openxmlformats.org/drawingml/2006/main">
            <a:r>
              <a:t>- The learner can point to the controls used in slides 17-19 and distinguish navigation from execution.</a:t>
            </a:r>
          </a:p>
          <a:p xmlns:a="http://schemas.openxmlformats.org/drawingml/2006/main">
            <a:r>
              <a:t/>
            </a:r>
          </a:p>
          <a:p xmlns:a="http://schemas.openxmlformats.org/drawingml/2006/main">
            <a:r>
              <a:t>Recovery</a:t>
            </a:r>
          </a:p>
          <a:p xmlns:a="http://schemas.openxmlformats.org/drawingml/2006/main">
            <a:r>
              <a:t>- If the contextual Signal tab is hidden, select a signal line or right-click the line and use its properties/context menu.</a:t>
            </a:r>
          </a:p>
          <a:p xmlns:a="http://schemas.openxmlformats.org/drawingml/2006/main">
            <a:r>
              <a:t/>
            </a:r>
          </a:p>
          <a:p xmlns:a="http://schemas.openxmlformats.org/drawingml/2006/main">
            <a:r>
              <a:t>Caveats</a:t>
            </a:r>
          </a:p>
          <a:p xmlns:a="http://schemas.openxmlformats.org/drawingml/2006/main">
            <a:r>
              <a:t>- UI arrangement can vary by MATLAB release and license; use the underlying model property when a ribbon control moves.</a:t>
            </a:r>
          </a:p>
          <a:p xmlns:a="http://schemas.openxmlformats.org/drawingml/2006/main">
            <a:r>
              <a:t/>
            </a:r>
          </a:p>
          <a:p xmlns:a="http://schemas.openxmlformats.org/drawingml/2006/main">
            <a:r>
              <a:t>[Sources]</a:t>
            </a:r>
          </a:p>
          <a:p xmlns:a="http://schemas.openxmlformats.org/drawingml/2006/main">
            <a:r>
              <a:t>- user-provided Image 1: Simulink Signal tab capture</a:t>
            </a:r>
          </a:p>
          <a:p xmlns:a="http://schemas.openxmlformats.org/drawingml/2006/main">
            <a:r>
              <a:t>- user-provided Image 2: Configuration Parameters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Mode: Build-lab briefing</a:t>
            </a:r>
          </a:p>
          <a:p xmlns:a="http://schemas.openxmlformats.org/drawingml/2006/main">
            <a:r>
              <a:t/>
            </a:r>
          </a:p>
          <a:p xmlns:a="http://schemas.openxmlformats.org/drawingml/2006/main">
            <a:r>
              <a:t>Prerequisite: Slides 7-12 complete.</a:t>
            </a:r>
            <a:endParaRPr/>
          </a:p>
          <a:p xmlns:a="http://schemas.openxmlformats.org/drawingml/2006/main">
            <a:r>
              <a:t/>
            </a:r>
          </a:p>
          <a:p xmlns:a="http://schemas.openxmlformats.org/drawingml/2006/main">
            <a:r>
              <a:t>The learner helper creates a uniquely named component and matching harness under learner_workspace/&lt;tag&gt;/models without putting that folder on the permanent path. The six construction gates can then be inspected or manually recreated from the exact table.</a:t>
            </a:r>
          </a:p>
          <a:p xmlns:a="http://schemas.openxmlformats.org/drawingml/2006/main">
            <a:r>
              <a:t/>
            </a:r>
            <a:endParaRPr/>
          </a:p>
          <a:p xmlns:a="http://schemas.openxmlformats.org/drawingml/2006/main">
            <a:r>
              <a:t>Do</a:t>
            </a:r>
          </a:p>
          <a:p xmlns:a="http://schemas.openxmlformats.org/drawingml/2006/main">
            <a:r>
              <a:t>- Run create_pitch_rate_limiter_practice(projectRoot,'TLEE'), inspect practiceSummary, and confirm which -all PitchRateLimiter resolves first to the delivered models folder.</a:t>
            </a:r>
          </a:p>
          <a:p xmlns:a="http://schemas.openxmlformats.org/drawingml/2006/main">
            <a:r>
              <a:t/>
            </a:r>
          </a:p>
          <a:p xmlns:a="http://schemas.openxmlformats.org/drawingml/2006/main">
            <a:r>
              <a:t>Expected</a:t>
            </a:r>
          </a:p>
          <a:p xmlns:a="http://schemas.openxmlformats.org/drawingml/2006/main">
            <a:r>
              <a:t>- The learner has a safe component path, matching harness, unique names, and six explicit construction gates.</a:t>
            </a:r>
          </a:p>
          <a:p xmlns:a="http://schemas.openxmlformats.org/drawingml/2006/main">
            <a:r>
              <a:t/>
            </a:r>
          </a:p>
          <a:p xmlns:a="http://schemas.openxmlformats.org/drawingml/2006/main">
            <a:r>
              <a:t>Recovery</a:t>
            </a:r>
          </a:p>
          <a:p xmlns:a="http://schemas.openxmlformats.org/drawingml/2006/main">
            <a:r>
              <a:t>- If no authorized copy is available, switch to read-only observation of the delivered model.</a:t>
            </a:r>
          </a:p>
          <a:p xmlns:a="http://schemas.openxmlformats.org/drawingml/2006/main">
            <a:r>
              <a:t/>
            </a:r>
          </a:p>
          <a:p xmlns:a="http://schemas.openxmlformats.org/drawingml/2006/main">
            <a:r>
              <a:t>Caveats</a:t>
            </a:r>
          </a:p>
          <a:p xmlns:a="http://schemas.openxmlformats.org/drawingml/2006/main">
            <a:r>
              <a:t>- Do not overwrite the delivered training baseline during an exploratory build lab.</a:t>
            </a:r>
          </a:p>
          <a:p xmlns:a="http://schemas.openxmlformats.org/drawingml/2006/main">
            <a:r>
              <a:t/>
            </a:r>
          </a:p>
          <a:p xmlns:a="http://schemas.openxmlformats.org/drawingml/2006/main">
            <a:r>
              <a:t>[Sources]</a:t>
            </a:r>
          </a:p>
          <a:p xmlns:a="http://schemas.openxmlformats.org/drawingml/2006/main">
            <a:r>
              <a:t>- scripts/create_pitch_rate_limiter_practice.m</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Hands-on build lab</a:t>
            </a:r>
          </a:p>
          <a:p xmlns:a="http://schemas.openxmlformats.org/drawingml/2006/main">
            <a:r>
              <a:t/>
            </a:r>
          </a:p>
          <a:p xmlns:a="http://schemas.openxmlformats.org/drawingml/2006/main">
            <a:r>
              <a:t>Prerequisite: Authorized working copy; slide 13.</a:t>
            </a:r>
            <a:endParaRPr/>
          </a:p>
          <a:p xmlns:a="http://schemas.openxmlformats.org/drawingml/2006/main">
            <a:r>
              <a:t/>
            </a:r>
          </a:p>
          <a:p xmlns:a="http://schemas.openxmlformats.org/drawingml/2006/main">
            <a:r>
              <a:t>Use the safe helper to create the learner model shell under learner_workspace/&lt;tag&gt;/models, then inspect the generated shell and dictionary attachment. This prevents an ambiguous Save As path or a practice model that shadows the delivered UUT.</a:t>
            </a:r>
          </a:p>
          <a:p xmlns:a="http://schemas.openxmlformats.org/drawingml/2006/main">
            <a:r>
              <a:t/>
            </a:r>
            <a:endParaRPr/>
          </a:p>
          <a:p xmlns:a="http://schemas.openxmlformats.org/drawingml/2006/main">
            <a:r>
              <a:t>Do</a:t>
            </a:r>
          </a:p>
          <a:p xmlns:a="http://schemas.openxmlformats.org/drawingml/2006/main">
            <a:r>
              <a:t>- Open practiceSummary.ModelFile and verify its exact unique path, FCS_Data.sldd attachment, fixed-step discrete solver, and FixedStep expression Sample_time.</a:t>
            </a:r>
          </a:p>
          <a:p xmlns:a="http://schemas.openxmlformats.org/drawingml/2006/main">
            <a:r>
              <a:t/>
            </a:r>
          </a:p>
          <a:p xmlns:a="http://schemas.openxmlformats.org/drawingml/2006/main">
            <a:r>
              <a:t>Expected</a:t>
            </a:r>
          </a:p>
          <a:p xmlns:a="http://schemas.openxmlformats.org/drawingml/2006/main">
            <a:r>
              <a:t>- The model shell saves, the dictionary resolves, and Ctrl+D does not report unresolved data or solver errors.</a:t>
            </a:r>
            <a:endParaRPr/>
          </a:p>
          <a:p xmlns:a="http://schemas.openxmlformats.org/drawingml/2006/main">
            <a:r>
              <a:t/>
            </a:r>
            <a:endParaRPr/>
          </a:p>
          <a:p xmlns:a="http://schemas.openxmlformats.org/drawingml/2006/main">
            <a:r>
              <a:t>Recovery</a:t>
            </a:r>
            <a:endParaRPr/>
          </a:p>
          <a:p xmlns:a="http://schemas.openxmlformats.org/drawingml/2006/main">
            <a:r>
              <a:t>- Correct dictionary path and solver configuration; do not create base-workspace duplicates of missing controlled entries.</a:t>
            </a:r>
            <a:endParaRPr/>
          </a:p>
          <a:p xmlns:a="http://schemas.openxmlformats.org/drawingml/2006/main">
            <a:r>
              <a:t/>
            </a:r>
            <a:endParaRPr/>
          </a:p>
          <a:p xmlns:a="http://schemas.openxmlformats.org/drawingml/2006/main">
            <a:r>
              <a:t>Caveats</a:t>
            </a:r>
            <a:endParaRPr/>
          </a:p>
          <a:p xmlns:a="http://schemas.openxmlformats.org/drawingml/2006/main">
            <a:r>
              <a:t>- The delivered model is the reference implementation; new construction belongs in an authorized copy.</a:t>
            </a:r>
            <a:endParaRPr/>
          </a:p>
          <a:p xmlns:a="http://schemas.openxmlformats.org/drawingml/2006/main">
            <a:r>
              <a:t/>
            </a:r>
            <a:endParaRPr/>
          </a:p>
          <a:p xmlns:a="http://schemas.openxmlformats.org/drawingml/2006/main">
            <a:r>
              <a:t>[Sources]</a:t>
            </a:r>
            <a:endParaRPr/>
          </a:p>
          <a:p xmlns:a="http://schemas.openxmlformats.org/drawingml/2006/main">
            <a:r>
              <a:t>- scripts/create_pitch_rate_limiter_practice.m</a:t>
            </a:r>
            <a:endParaRPr/>
          </a:p>
          <a:p xmlns:a="http://schemas.openxmlformats.org/drawingml/2006/main">
            <a:r>
              <a:t>- scripts/initialize_training_data.m</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Hands-on build lab</a:t>
            </a:r>
          </a:p>
          <a:p xmlns:a="http://schemas.openxmlformats.org/drawingml/2006/main">
            <a:r>
              <a:t/>
            </a:r>
          </a:p>
          <a:p xmlns:a="http://schemas.openxmlformats.org/drawingml/2006/main">
            <a:r>
              <a:t>Prerequisite: Compilable shell from slide 14.</a:t>
            </a:r>
            <a:endParaRPr/>
          </a:p>
          <a:p xmlns:a="http://schemas.openxmlformats.org/drawingml/2006/main">
            <a:r>
              <a:t/>
            </a:r>
            <a:endParaRPr/>
          </a:p>
          <a:p xmlns:a="http://schemas.openxmlformats.org/drawingml/2006/main">
            <a:r>
              <a:t>Define interfaces before internal logic. Names, dimensions, types, units, sample time, and bus usage are part of the component contract and should be reviewable at the model boundary.</a:t>
            </a:r>
            <a:endParaRPr/>
          </a:p>
          <a:p xmlns:a="http://schemas.openxmlformats.org/drawingml/2006/main">
            <a:r>
              <a:t/>
            </a:r>
            <a:endParaRPr/>
          </a:p>
          <a:p xmlns:a="http://schemas.openxmlformats.org/drawingml/2006/main">
            <a:r>
              <a:t>Do</a:t>
            </a:r>
            <a:endParaRPr/>
          </a:p>
          <a:p xmlns:a="http://schemas.openxmlformats.org/drawingml/2006/main">
            <a:r>
              <a:t>- Add or inspect the component Inports and Outports and compare them with the dictionary and bus inventories.</a:t>
            </a:r>
            <a:endParaRPr/>
          </a:p>
          <a:p xmlns:a="http://schemas.openxmlformats.org/drawingml/2006/main">
            <a:r>
              <a:t/>
            </a:r>
            <a:endParaRPr/>
          </a:p>
          <a:p xmlns:a="http://schemas.openxmlformats.org/drawingml/2006/main">
            <a:r>
              <a:t>Expected</a:t>
            </a:r>
          </a:p>
          <a:p xmlns:a="http://schemas.openxmlformats.org/drawingml/2006/main">
            <a:r>
              <a:t>- Ctrl+D propagates the intended scalar types and units with no interface mismatch.</a:t>
            </a:r>
          </a:p>
          <a:p xmlns:a="http://schemas.openxmlformats.org/drawingml/2006/main">
            <a:r>
              <a:t/>
            </a:r>
          </a:p>
          <a:p xmlns:a="http://schemas.openxmlformats.org/drawingml/2006/main">
            <a:r>
              <a:t>Recovery</a:t>
            </a:r>
          </a:p>
          <a:p xmlns:a="http://schemas.openxmlformats.org/drawingml/2006/main">
            <a:r>
              <a:t>- Trace the first mismatched port back to its source, dictionary entry, or bus element; correct the contract before adding logic.</a:t>
            </a:r>
          </a:p>
          <a:p xmlns:a="http://schemas.openxmlformats.org/drawingml/2006/main">
            <a:r>
              <a:t/>
            </a:r>
          </a:p>
          <a:p xmlns:a="http://schemas.openxmlformats.org/drawingml/2006/main">
            <a:r>
              <a:t>Caveats</a:t>
            </a:r>
          </a:p>
          <a:p xmlns:a="http://schemas.openxmlformats.org/drawingml/2006/main">
            <a:r>
              <a:t>- Compiled agreement shows interface consistency, not semantic correctness.</a:t>
            </a:r>
          </a:p>
          <a:p xmlns:a="http://schemas.openxmlformats.org/drawingml/2006/main">
            <a:r>
              <a:t/>
            </a:r>
          </a:p>
          <a:p xmlns:a="http://schemas.openxmlformats.org/drawingml/2006/main">
            <a:r>
              <a:t>[Sources]</a:t>
            </a:r>
          </a:p>
          <a:p xmlns:a="http://schemas.openxmlformats.org/drawingml/2006/main">
            <a:r>
              <a:t>- scripts/create_training_models.m</a:t>
            </a:r>
          </a:p>
          <a:p xmlns:a="http://schemas.openxmlformats.org/drawingml/2006/main">
            <a:r>
              <a:t>- results/FCS_DataDictionary_Inventory.csv</a:t>
            </a:r>
          </a:p>
          <a:p xmlns:a="http://schemas.openxmlformats.org/drawingml/2006/main">
            <a:r>
              <a:t>- results/FlightControlBus_Inventory.csv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endParaRPr/>
          </a:p>
          <a:p xmlns:a="http://schemas.openxmlformats.org/drawingml/2006/main">
            <a:r>
              <a:t>Mode: Hands-on build lab</a:t>
            </a:r>
          </a:p>
          <a:p xmlns:a="http://schemas.openxmlformats.org/drawingml/2006/main">
            <a:r>
              <a:t/>
            </a:r>
          </a:p>
          <a:p xmlns:a="http://schemas.openxmlformats.org/drawingml/2006/main">
            <a:r>
              <a:t>Prerequisite: Interfaces compile on slide 15.</a:t>
            </a:r>
            <a:endParaRPr/>
          </a:p>
          <a:p xmlns:a="http://schemas.openxmlformats.org/drawingml/2006/main">
            <a:r>
              <a:t/>
            </a:r>
            <a:endParaRPr/>
          </a:p>
          <a:p xmlns:a="http://schemas.openxmlformats.org/drawingml/2006/main">
            <a:r>
              <a:t>Use the exact table: AND with two inputs; Saturation limits q_limit_normal and -q_limit_normal; fallback Constant q_fallback_command at Sample_time; Switch criterion u2 ~= 0 with threshold 0.5; strict &gt; and &lt; comparisons; OR then AND for limiter_active.</a:t>
            </a:r>
            <a:endParaRPr/>
          </a:p>
          <a:p xmlns:a="http://schemas.openxmlformats.org/drawingml/2006/main">
            <a:r>
              <a:t/>
            </a:r>
            <a:endParaRPr/>
          </a:p>
          <a:p xmlns:a="http://schemas.openxmlformats.org/drawingml/2006/main">
            <a:r>
              <a:t>Do</a:t>
            </a:r>
            <a:endParaRPr/>
          </a:p>
          <a:p xmlns:a="http://schemas.openxmlformats.org/drawingml/2006/main">
            <a:r>
              <a:t>- Compare every practice block parameter and connection against the visible table, then trace inside-limit, outside-limit, disabled, and invalid behavior.</a:t>
            </a:r>
            <a:endParaRPr/>
          </a:p>
          <a:p xmlns:a="http://schemas.openxmlformats.org/drawingml/2006/main">
            <a:r>
              <a:t/>
            </a:r>
            <a:endParaRPr/>
          </a:p>
          <a:p xmlns:a="http://schemas.openxmlformats.org/drawingml/2006/main">
            <a:r>
              <a:t>Expected</a:t>
            </a:r>
          </a:p>
          <a:p xmlns:a="http://schemas.openxmlformats.org/drawingml/2006/main">
            <a:r>
              <a:t>- The learner can predict output and limiter_active for an inside-limit, outside-limit, disabled, and invalid case.</a:t>
            </a:r>
          </a:p>
          <a:p xmlns:a="http://schemas.openxmlformats.org/drawingml/2006/main">
            <a:r>
              <a:t/>
            </a:r>
          </a:p>
          <a:p xmlns:a="http://schemas.openxmlformats.org/drawingml/2006/main">
            <a:r>
              <a:t>Recovery</a:t>
            </a:r>
          </a:p>
          <a:p xmlns:a="http://schemas.openxmlformats.org/drawingml/2006/main">
            <a:r>
              <a:t>- If behavior is ambiguous, return to the traceability acceptance criteria before changing blocks.</a:t>
            </a:r>
          </a:p>
          <a:p xmlns:a="http://schemas.openxmlformats.org/drawingml/2006/main">
            <a:r>
              <a:t/>
            </a:r>
          </a:p>
          <a:p xmlns:a="http://schemas.openxmlformats.org/drawingml/2006/main">
            <a:r>
              <a:t>Caveats</a:t>
            </a:r>
          </a:p>
          <a:p xmlns:a="http://schemas.openxmlformats.org/drawingml/2006/main">
            <a:r>
              <a:t>- The logic and parameter values are illustrative classroom content, not production-aircraft requirements.</a:t>
            </a:r>
          </a:p>
          <a:p xmlns:a="http://schemas.openxmlformats.org/drawingml/2006/main">
            <a:r>
              <a:t/>
            </a:r>
          </a:p>
          <a:p xmlns:a="http://schemas.openxmlformats.org/drawingml/2006/main">
            <a:r>
              <a:t>[Sources]</a:t>
            </a:r>
          </a:p>
          <a:p xmlns:a="http://schemas.openxmlformats.org/drawingml/2006/main">
            <a:r>
              <a:t>- models/PitchRateLimiter.slx</a:t>
            </a:r>
          </a:p>
          <a:p xmlns:a="http://schemas.openxmlformats.org/drawingml/2006/main">
            <a:r>
              <a:t>- screenshots/PitchRateLimiter_Implementation.png</a:t>
            </a:r>
          </a:p>
          <a:p xmlns:a="http://schemas.openxmlformats.org/drawingml/2006/main">
            <a:r>
              <a:t>- docs/PitchRateLimiter_Requirements_Traceability.csv</a:t>
            </a:r>
          </a:p>
          <a:p xmlns:a="http://schemas.openxmlformats.org/drawingml/2006/main">
            <a:r>
              <a:t>- scripts/create_pitch_rate_limiter_practice.m</a:t>
            </a:r>
          </a:p>
          <a:p xmlns:a="http://schemas.openxmlformats.org/drawingml/2006/main">
            <a:r>
              <a:t>- scripts/create_training_models.m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plus demonstration</a:t>
            </a:r>
          </a:p>
          <a:p xmlns:a="http://schemas.openxmlformats.org/drawingml/2006/main">
            <a:r>
              <a:t/>
            </a:r>
            <a:endParaRPr/>
          </a:p>
          <a:p xmlns:a="http://schemas.openxmlformats.org/drawingml/2006/main">
            <a:r>
              <a:t>Mode: Instrumentation lab</a:t>
            </a:r>
          </a:p>
          <a:p xmlns:a="http://schemas.openxmlformats.org/drawingml/2006/main">
            <a:r>
              <a:t/>
            </a:r>
          </a:p>
          <a:p xmlns:a="http://schemas.openxmlformats.org/drawingml/2006/main">
            <a:r>
              <a:t>Prerequisite: A compilable signal path from slide 16.</a:t>
            </a:r>
            <a:endParaRPr/>
          </a:p>
          <a:p xmlns:a="http://schemas.openxmlformats.org/drawingml/2006/main">
            <a:r>
              <a:t/>
            </a:r>
            <a:endParaRPr/>
          </a:p>
          <a:p xmlns:a="http://schemas.openxmlformats.org/drawingml/2006/main">
            <a:r>
              <a:t>Use signal logging when simulation data must be retained and compared in SDI or a script. Use a test point when the signal must remain observable for testing or code-generation instrumentation even when optimization might otherwise remove it. A signal can be both, but each designation needs a stated purpose.</a:t>
            </a:r>
            <a:endParaRPr/>
          </a:p>
          <a:p xmlns:a="http://schemas.openxmlformats.org/drawingml/2006/main">
            <a:r>
              <a:t/>
            </a:r>
            <a:endParaRPr/>
          </a:p>
          <a:p xmlns:a="http://schemas.openxmlformats.org/drawingml/2006/main">
            <a:r>
              <a:t>Do</a:t>
            </a:r>
            <a:endParaRPr/>
          </a:p>
          <a:p xmlns:a="http://schemas.openxmlformats.org/drawingml/2006/main">
            <a:r>
              <a:t>- Select one analysis signal and enable Log Signals. Inspect, but do not arbitrarily enable, the Test Point control; record why each designation is or is not needed.</a:t>
            </a:r>
            <a:endParaRPr/>
          </a:p>
          <a:p xmlns:a="http://schemas.openxmlformats.org/drawingml/2006/main">
            <a:r>
              <a:t/>
            </a:r>
            <a:endParaRPr/>
          </a:p>
          <a:p xmlns:a="http://schemas.openxmlformats.org/drawingml/2006/main">
            <a:r>
              <a:t>Expected</a:t>
            </a:r>
          </a:p>
          <a:p xmlns:a="http://schemas.openxmlformats.org/drawingml/2006/main">
            <a:r>
              <a:t>- The logging badge appears and the signal is available in logsout after simulation; test-point status matches the documented observability need.</a:t>
            </a:r>
          </a:p>
          <a:p xmlns:a="http://schemas.openxmlformats.org/drawingml/2006/main">
            <a:r>
              <a:t/>
            </a:r>
            <a:endParaRPr/>
          </a:p>
          <a:p xmlns:a="http://schemas.openxmlformats.org/drawingml/2006/main">
            <a:r>
              <a:t>Recovery</a:t>
            </a:r>
            <a:endParaRPr/>
          </a:p>
          <a:p xmlns:a="http://schemas.openxmlformats.org/drawingml/2006/main">
            <a:r>
              <a:t>- If the signal is absent from logsout, verify SignalLogging is enabled, the source port is marked for logging, and the expected dataset name is used.</a:t>
            </a:r>
            <a:endParaRPr/>
          </a:p>
          <a:p xmlns:a="http://schemas.openxmlformats.org/drawingml/2006/main">
            <a:r>
              <a:t/>
            </a:r>
            <a:endParaRPr/>
          </a:p>
          <a:p xmlns:a="http://schemas.openxmlformats.org/drawingml/2006/main">
            <a:r>
              <a:t>Caveats</a:t>
            </a:r>
            <a:endParaRPr/>
          </a:p>
          <a:p xmlns:a="http://schemas.openxmlformats.org/drawingml/2006/main">
            <a:r>
              <a:t>- Logging is simulation evidence capture; a test point is an observability designation. Neither alone creates a verification oracle.</a:t>
            </a:r>
            <a:endParaRPr/>
          </a:p>
          <a:p xmlns:a="http://schemas.openxmlformats.org/drawingml/2006/main">
            <a:r>
              <a:t>- Extra test points can affect generated interfaces or optimization and require project review.</a:t>
            </a:r>
            <a:endParaRPr/>
          </a:p>
          <a:p xmlns:a="http://schemas.openxmlformats.org/drawingml/2006/main">
            <a:r>
              <a:t/>
            </a:r>
            <a:endParaRPr/>
          </a:p>
          <a:p xmlns:a="http://schemas.openxmlformats.org/drawingml/2006/main">
            <a:r>
              <a:t>[Sources]</a:t>
            </a:r>
            <a:endParaRPr/>
          </a:p>
          <a:p xmlns:a="http://schemas.openxmlformats.org/drawingml/2006/main">
            <a:r>
              <a:t>- user-provided Image 1: Simulink Signal tab capture</a:t>
            </a:r>
            <a:endParaRPr/>
          </a:p>
          <a:p xmlns:a="http://schemas.openxmlformats.org/drawingml/2006/main">
            <a:r>
              <a:t>- scripts/create_training_models.m</a:t>
            </a:r>
            <a:endParaRPr/>
          </a:p>
          <a:p xmlns:a="http://schemas.openxmlformats.org/drawingml/2006/main">
            <a:r>
              <a:t>- scripts/run_training_simulations.m</a:t>
            </a:r>
            <a:endParaRPr/>
          </a:p>
          <a:p xmlns:a="http://schemas.openxmlformats.org/drawingml/2006/main">
            <a:r>
              <a:t>- https://www.mathworks.com/help/simulink/ug/export-simulation-data.html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plus demonstration</a:t>
            </a:r>
          </a:p>
          <a:p xmlns:a="http://schemas.openxmlformats.org/drawingml/2006/main">
            <a:r>
              <a:t/>
            </a:r>
            <a:endParaRPr/>
          </a:p>
          <a:p xmlns:a="http://schemas.openxmlformats.org/drawingml/2006/main">
            <a:r>
              <a:t>Mode: Settings lab</a:t>
            </a:r>
          </a:p>
          <a:p xmlns:a="http://schemas.openxmlformats.org/drawingml/2006/main">
            <a:r>
              <a:t/>
            </a:r>
          </a:p>
          <a:p xmlns:a="http://schemas.openxmlformats.org/drawingml/2006/main">
            <a:r>
              <a:t>Prerequisite: Target model open; slide 17 complete.</a:t>
            </a:r>
            <a:endParaRPr/>
          </a:p>
          <a:p xmlns:a="http://schemas.openxmlformats.org/drawingml/2006/main">
            <a:r>
              <a:t/>
            </a:r>
            <a:endParaRPr/>
          </a:p>
          <a:p xmlns:a="http://schemas.openxmlformats.org/drawingml/2006/main">
            <a:r>
              <a:t>Open Model Settings and distinguish saved configuration from driver overrides. AircraftFeedbackControlLoop is saved with StopTime 12 but the controlled aircraft run uses 20; PitchRateLimiter_Harness is saved with StopTime 2 but the assessment driver uses 0.36. Both use fixed-step discrete execution at 0.02 seconds.</a:t>
            </a:r>
            <a:endParaRPr/>
          </a:p>
          <a:p xmlns:a="http://schemas.openxmlformats.org/drawingml/2006/main">
            <a:r>
              <a:t/>
            </a:r>
            <a:endParaRPr/>
          </a:p>
          <a:p xmlns:a="http://schemas.openxmlformats.org/drawingml/2006/main">
            <a:r>
              <a:t>Do</a:t>
            </a:r>
            <a:endParaRPr/>
          </a:p>
          <a:p xmlns:a="http://schemas.openxmlformats.org/drawingml/2006/main">
            <a:r>
              <a:t>- Open Configuration Parameters, inspect Solver, fixed step, and Stop time, then locate the setModelParameter overrides in the relevant driver.</a:t>
            </a:r>
            <a:endParaRPr/>
          </a:p>
          <a:p xmlns:a="http://schemas.openxmlformats.org/drawingml/2006/main">
            <a:r>
              <a:t/>
            </a:r>
            <a:endParaRPr/>
          </a:p>
          <a:p xmlns:a="http://schemas.openxmlformats.org/drawingml/2006/main">
            <a:r>
              <a:t>Expected</a:t>
            </a:r>
          </a:p>
          <a:p xmlns:a="http://schemas.openxmlformats.org/drawingml/2006/main">
            <a:r>
              <a:t>- The learner can state both the saved and effective settings for the selected execution path.</a:t>
            </a:r>
          </a:p>
          <a:p xmlns:a="http://schemas.openxmlformats.org/drawingml/2006/main">
            <a:r>
              <a:t/>
            </a:r>
            <a:endParaRPr/>
          </a:p>
          <a:p xmlns:a="http://schemas.openxmlformats.org/drawingml/2006/main">
            <a:r>
              <a:t>Recovery</a:t>
            </a:r>
            <a:endParaRPr/>
          </a:p>
          <a:p xmlns:a="http://schemas.openxmlformats.org/drawingml/2006/main">
            <a:r>
              <a:t>- If observed settings disagree, identify active configuration references and SimulationInput overrides before editing the saved model.</a:t>
            </a:r>
            <a:endParaRPr/>
          </a:p>
          <a:p xmlns:a="http://schemas.openxmlformats.org/drawingml/2006/main">
            <a:r>
              <a:t/>
            </a:r>
            <a:endParaRPr/>
          </a:p>
          <a:p xmlns:a="http://schemas.openxmlformats.org/drawingml/2006/main">
            <a:r>
              <a:t>Caveats</a:t>
            </a:r>
            <a:endParaRPr/>
          </a:p>
          <a:p xmlns:a="http://schemas.openxmlformats.org/drawingml/2006/main">
            <a:r>
              <a:t>- A screenshot documents where to inspect settings; the saved model and execution driver determine effective values.</a:t>
            </a:r>
            <a:endParaRPr/>
          </a:p>
          <a:p xmlns:a="http://schemas.openxmlformats.org/drawingml/2006/main">
            <a:r>
              <a:t>- Changing settings can invalidate comparison with retained evidence.</a:t>
            </a:r>
            <a:endParaRPr/>
          </a:p>
          <a:p xmlns:a="http://schemas.openxmlformats.org/drawingml/2006/main">
            <a:r>
              <a:t/>
            </a:r>
            <a:endParaRPr/>
          </a:p>
          <a:p xmlns:a="http://schemas.openxmlformats.org/drawingml/2006/main">
            <a:r>
              <a:t>[Sources]</a:t>
            </a:r>
            <a:endParaRPr/>
          </a:p>
          <a:p xmlns:a="http://schemas.openxmlformats.org/drawingml/2006/main">
            <a:r>
              <a:t>- user-provided Image 2: Configuration Parameters capture</a:t>
            </a:r>
            <a:endParaRPr/>
          </a:p>
          <a:p xmlns:a="http://schemas.openxmlformats.org/drawingml/2006/main">
            <a:r>
              <a:t>- results/SimulationConfiguration.csv</a:t>
            </a:r>
            <a:endParaRPr/>
          </a:p>
          <a:p xmlns:a="http://schemas.openxmlformats.org/drawingml/2006/main">
            <a:r>
              <a:t>- scripts/run_training_simulations.m</a:t>
            </a:r>
            <a:endParaRPr/>
          </a:p>
          <a:p xmlns:a="http://schemas.openxmlformats.org/drawingml/2006/main">
            <a:r>
              <a:t>- scripts/run_pitch_rate_limiter_tests.m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Mode: Update gate</a:t>
            </a:r>
          </a:p>
          <a:p xmlns:a="http://schemas.openxmlformats.org/drawingml/2006/main">
            <a:r>
              <a:t/>
            </a:r>
          </a:p>
          <a:p xmlns:a="http://schemas.openxmlformats.org/drawingml/2006/main">
            <a:r>
              <a:t>Prerequisite: Instrumentation and settings complete.</a:t>
            </a:r>
            <a:endParaRPr/>
          </a:p>
          <a:p xmlns:a="http://schemas.openxmlformats.org/drawingml/2006/main">
            <a:r>
              <a:t/>
            </a:r>
          </a:p>
          <a:p xmlns:a="http://schemas.openxmlformats.org/drawingml/2006/main">
            <a:r>
              <a:t>Press Ctrl+D before running or building. Update evaluates parameters, compiles interfaces, propagates types, dimensions, and sample times, resolves references, and reports update-time errors without advancing simulation time.</a:t>
            </a:r>
          </a:p>
          <a:p xmlns:a="http://schemas.openxmlformats.org/drawingml/2006/main">
            <a:r>
              <a:t/>
            </a:r>
            <a:endParaRPr/>
          </a:p>
          <a:p xmlns:a="http://schemas.openxmlformats.org/drawingml/2006/main">
            <a:r>
              <a:t>Do</a:t>
            </a:r>
          </a:p>
          <a:p xmlns:a="http://schemas.openxmlformats.org/drawingml/2006/main">
            <a:r>
              <a:t>- Save the working copy, press Ctrl+D, and inspect the Diagnostic Viewer and compiled attributes.</a:t>
            </a:r>
          </a:p>
          <a:p xmlns:a="http://schemas.openxmlformats.org/drawingml/2006/main">
            <a:r>
              <a:t/>
            </a:r>
          </a:p>
          <a:p xmlns:a="http://schemas.openxmlformats.org/drawingml/2006/main">
            <a:r>
              <a:t>Expected</a:t>
            </a:r>
          </a:p>
          <a:p xmlns:a="http://schemas.openxmlformats.org/drawingml/2006/main">
            <a:r>
              <a:t>- Update completes without warnings or errors and simulation time does not advance.</a:t>
            </a:r>
          </a:p>
          <a:p xmlns:a="http://schemas.openxmlformats.org/drawingml/2006/main">
            <a:r>
              <a:t/>
            </a:r>
          </a:p>
          <a:p xmlns:a="http://schemas.openxmlformats.org/drawingml/2006/main">
            <a:r>
              <a:t>Recovery</a:t>
            </a:r>
          </a:p>
          <a:p xmlns:a="http://schemas.openxmlformats.org/drawingml/2006/main">
            <a:r>
              <a:t>- Resolve the first diagnostic at its source, update again, and do not proceed while warnings or errors remain unexplained.</a:t>
            </a:r>
          </a:p>
          <a:p xmlns:a="http://schemas.openxmlformats.org/drawingml/2006/main">
            <a:r>
              <a:t/>
            </a:r>
          </a:p>
          <a:p xmlns:a="http://schemas.openxmlformats.org/drawingml/2006/main">
            <a:r>
              <a:t>Caveats</a:t>
            </a:r>
          </a:p>
          <a:p xmlns:a="http://schemas.openxmlformats.org/drawingml/2006/main">
            <a:r>
              <a:t>- The retained validator achieved 8/8 updates; it accepts only the exact Student-license Model-block fallback message on the two parent models after asserting all saved ModelReference modes are Normal. Any other warning fails.</a:t>
            </a: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https://www.mathworks.com/help/simulink/ug/update-a-block-diagram.html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Harness walkthrough</a:t>
            </a:r>
          </a:p>
          <a:p xmlns:a="http://schemas.openxmlformats.org/drawingml/2006/main">
            <a:r>
              <a:t/>
            </a:r>
          </a:p>
          <a:p xmlns:a="http://schemas.openxmlformats.org/drawingml/2006/main">
            <a:r>
              <a:t>Prerequisite: Path initialized; PitchRateLimiter_Harness open.</a:t>
            </a:r>
            <a:endParaRPr/>
          </a:p>
          <a:p xmlns:a="http://schemas.openxmlformats.org/drawingml/2006/main">
            <a:r>
              <a:t/>
            </a:r>
            <a:endParaRPr/>
          </a:p>
          <a:p xmlns:a="http://schemas.openxmlformats.org/drawingml/2006/main">
            <a:r>
              <a:t>The image shows the delivered PitchRateLimiter_Harness and its saved Normal-mode reference to the delivered PitchRateLimiter. The practice helper creates a separate, uniquely named harness that references the learner UUT in the same workspace; never assume the delivered harness tests a practice model.</a:t>
            </a:r>
            <a:endParaRPr/>
          </a:p>
          <a:p xmlns:a="http://schemas.openxmlformats.org/drawingml/2006/main">
            <a:r>
              <a:t/>
            </a:r>
            <a:endParaRPr/>
          </a:p>
          <a:p xmlns:a="http://schemas.openxmlformats.org/drawingml/2006/main">
            <a:r>
              <a:t>Do</a:t>
            </a:r>
            <a:endParaRPr/>
          </a:p>
          <a:p xmlns:a="http://schemas.openxmlformats.org/drawingml/2006/main">
            <a:r>
              <a:t>- Locate the delivered UUT reference and captures, then compare its ModelName with practiceSummary.HarnessFile and the uniquely named learner UUT.</a:t>
            </a:r>
            <a:endParaRPr/>
          </a:p>
          <a:p xmlns:a="http://schemas.openxmlformats.org/drawingml/2006/main">
            <a:r>
              <a:t/>
            </a:r>
            <a:endParaRPr/>
          </a:p>
          <a:p xmlns:a="http://schemas.openxmlformats.org/drawingml/2006/main">
            <a:r>
              <a:t>Expected</a:t>
            </a:r>
          </a:p>
          <a:p xmlns:a="http://schemas.openxmlformats.org/drawingml/2006/main">
            <a:r>
              <a:t>- The learner identifies which harness targets which UUT and confirms both Model references are saved Normal.</a:t>
            </a:r>
          </a:p>
          <a:p xmlns:a="http://schemas.openxmlformats.org/drawingml/2006/main">
            <a:r>
              <a:t/>
            </a:r>
          </a:p>
          <a:p xmlns:a="http://schemas.openxmlformats.org/drawingml/2006/main">
            <a:r>
              <a:t>Recovery</a:t>
            </a:r>
          </a:p>
          <a:p xmlns:a="http://schemas.openxmlformats.org/drawingml/2006/main">
            <a:r>
              <a:t>- If the UUT does not resolve or uses another mode, restore the models path and the saved Normal-mode baseline before continuing.</a:t>
            </a:r>
          </a:p>
          <a:p xmlns:a="http://schemas.openxmlformats.org/drawingml/2006/main">
            <a:r>
              <a:t/>
            </a:r>
          </a:p>
          <a:p xmlns:a="http://schemas.openxmlformats.org/drawingml/2006/main">
            <a:r>
              <a:t>Caveats</a:t>
            </a:r>
          </a:p>
          <a:p xmlns:a="http://schemas.openxmlformats.org/drawingml/2006/main">
            <a:r>
              <a:t>- This is not a Simulink Test/Test Manager harness or .mldatx test suite.</a:t>
            </a:r>
          </a:p>
          <a:p xmlns:a="http://schemas.openxmlformats.org/drawingml/2006/main">
            <a:r>
              <a:t/>
            </a:r>
          </a:p>
          <a:p xmlns:a="http://schemas.openxmlformats.org/drawingml/2006/main">
            <a:r>
              <a:t>[Sources]</a:t>
            </a:r>
          </a:p>
          <a:p xmlns:a="http://schemas.openxmlformats.org/drawingml/2006/main">
            <a:r>
              <a:t>- models/PitchRateLimiter_Harness.slx</a:t>
            </a:r>
          </a:p>
          <a:p xmlns:a="http://schemas.openxmlformats.org/drawingml/2006/main">
            <a:r>
              <a:t>- screenshots/PitchRateLimiter_Harness.png</a:t>
            </a:r>
          </a:p>
          <a:p xmlns:a="http://schemas.openxmlformats.org/drawingml/2006/main">
            <a:r>
              <a:t>- scripts/create_pitch_rate_limiter_practice.m</a:t>
            </a:r>
          </a:p>
          <a:p xmlns:a="http://schemas.openxmlformats.org/drawingml/2006/main">
            <a:r>
              <a:t>- scripts/create_training_models.m</a:t>
            </a:r>
          </a:p>
          <a:p xmlns:a="http://schemas.openxmlformats.org/drawingml/2006/main">
            <a:r>
              <a:t>- scripts/validate_training_project.m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Harness input lab</a:t>
            </a:r>
          </a:p>
          <a:p xmlns:a="http://schemas.openxmlformats.org/drawingml/2006/main">
            <a:r>
              <a:t/>
            </a:r>
          </a:p>
          <a:p xmlns:a="http://schemas.openxmlformats.org/drawingml/2006/main">
            <a:r>
              <a:t>Prerequisite: Slide 20 harness walkthrough.</a:t>
            </a:r>
            <a:endParaRPr/>
          </a:p>
          <a:p xmlns:a="http://schemas.openxmlformats.org/drawingml/2006/main">
            <a:r>
              <a:t/>
            </a:r>
          </a:p>
          <a:p xmlns:a="http://schemas.openxmlformats.org/drawingml/2006/main">
            <a:r>
              <a:t>The retained input sequence is created in code, not stored as a standalone stimulus CSV. The shared driver defines nineteen rows and three timeseries. The baseline entry point selects the delivered harness; the practice wrapper selects the matching learner harness and learner-local output root.</a:t>
            </a:r>
          </a:p>
          <a:p xmlns:a="http://schemas.openxmlformats.org/drawingml/2006/main">
            <a:r>
              <a:t/>
            </a:r>
            <a:endParaRPr/>
          </a:p>
          <a:p xmlns:a="http://schemas.openxmlformats.org/drawingml/2006/main">
            <a:r>
              <a:t>Do</a:t>
            </a:r>
          </a:p>
          <a:p xmlns:a="http://schemas.openxmlformats.org/drawingml/2006/main">
            <a:r>
              <a:t>- Find the test definition and three timeseries in the driver, then inspect the corresponding From Workspace block variable names.</a:t>
            </a:r>
          </a:p>
          <a:p xmlns:a="http://schemas.openxmlformats.org/drawingml/2006/main">
            <a:r>
              <a:t/>
            </a:r>
          </a:p>
          <a:p xmlns:a="http://schemas.openxmlformats.org/drawingml/2006/main">
            <a:r>
              <a:t>Expected</a:t>
            </a:r>
          </a:p>
          <a:p xmlns:a="http://schemas.openxmlformats.org/drawingml/2006/main">
            <a:r>
              <a:t>- Variable names match end to end and the MAT result retains qCommandInput, normalModeInput, and inputValidInput.</a:t>
            </a:r>
            <a:endParaRPr/>
          </a:p>
          <a:p xmlns:a="http://schemas.openxmlformats.org/drawingml/2006/main">
            <a:r>
              <a:t/>
            </a:r>
          </a:p>
          <a:p xmlns:a="http://schemas.openxmlformats.org/drawingml/2006/main">
            <a:r>
              <a:t>Recovery</a:t>
            </a:r>
          </a:p>
          <a:p xmlns:a="http://schemas.openxmlformats.org/drawingml/2006/main">
            <a:r>
              <a:t>- If variables are missing, run the controlled driver; do not treat the saved harness placeholders as the assessment input set.</a:t>
            </a:r>
          </a:p>
          <a:p xmlns:a="http://schemas.openxmlformats.org/drawingml/2006/main">
            <a:r>
              <a:t/>
            </a:r>
          </a:p>
          <a:p xmlns:a="http://schemas.openxmlformats.org/drawingml/2006/main">
            <a:r>
              <a:t>Caveats</a:t>
            </a:r>
          </a:p>
          <a:p xmlns:a="http://schemas.openxmlformats.org/drawingml/2006/main">
            <a:r>
              <a:t>- Pressing Run on either saved harness uses benign two-sample placeholders, not the nineteen-point sequence.</a:t>
            </a:r>
          </a:p>
          <a:p xmlns:a="http://schemas.openxmlformats.org/drawingml/2006/main">
            <a:r>
              <a:t>- Nineteen assessments are nineteen rows from one simulation, not nineteen independent simulations.</a:t>
            </a:r>
          </a:p>
          <a:p xmlns:a="http://schemas.openxmlformats.org/drawingml/2006/main">
            <a:r>
              <a:t/>
            </a:r>
          </a:p>
          <a:p xmlns:a="http://schemas.openxmlformats.org/drawingml/2006/main">
            <a:r>
              <a:t>[Sources]</a:t>
            </a:r>
          </a:p>
          <a:p xmlns:a="http://schemas.openxmlformats.org/drawingml/2006/main">
            <a:r>
              <a:t>- scripts/run_pitch_rate_limiter_tests.m</a:t>
            </a:r>
          </a:p>
          <a:p xmlns:a="http://schemas.openxmlformats.org/drawingml/2006/main">
            <a:r>
              <a:t>- scripts/run_pitch_rate_limiter_practice_tests.m</a:t>
            </a:r>
          </a:p>
          <a:p xmlns:a="http://schemas.openxmlformats.org/drawingml/2006/main">
            <a:r>
              <a:t>- models/PitchRateLimiter_Harness.slx</a:t>
            </a:r>
          </a:p>
          <a:p xmlns:a="http://schemas.openxmlformats.org/drawingml/2006/main">
            <a:r>
              <a:t>- data/FCS_Data.sldd</a:t>
            </a:r>
          </a:p>
          <a:p xmlns:a="http://schemas.openxmlformats.org/drawingml/2006/main">
            <a:r>
              <a:t>- results/PitchRateLimiter_TestResults.mat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Evidence-path walkthrough</a:t>
            </a:r>
          </a:p>
          <a:p xmlns:a="http://schemas.openxmlformats.org/drawingml/2006/main">
            <a:r>
              <a:t/>
            </a:r>
          </a:p>
          <a:p xmlns:a="http://schemas.openxmlformats.org/drawingml/2006/main">
            <a:r>
              <a:t>Prerequisite: Slides 20-21.</a:t>
            </a:r>
            <a:endParaRPr/>
          </a:p>
          <a:p xmlns:a="http://schemas.openxmlformats.org/drawingml/2006/main">
            <a:r>
              <a:t/>
            </a:r>
          </a:p>
          <a:p xmlns:a="http://schemas.openxmlformats.org/drawingml/2006/main">
            <a:r>
              <a:t>Choose the driver by UUT. run_pitch_rate_limiter_tests targets the delivered harness, refreshes the managed baseline dictionary, and replaces the official result files. run_pitch_rate_limiter_practice_tests targets the uniquely named learner harness, reads the existing required dictionary entries without reinitializing them, and writes only learner_workspace/&lt;tag&gt;/evidence. Both use the same stimulus/oracle implementation.</a:t>
            </a:r>
          </a:p>
          <a:p xmlns:a="http://schemas.openxmlformats.org/drawingml/2006/main">
            <a:r>
              <a:t/>
            </a:r>
            <a:endParaRPr/>
          </a:p>
          <a:p xmlns:a="http://schemas.openxmlformats.org/drawingml/2006/main">
            <a:r>
              <a:t>Do</a:t>
            </a:r>
          </a:p>
          <a:p xmlns:a="http://schemas.openxmlformats.org/drawingml/2006/main">
            <a:r>
              <a:t>- Run the practice wrapper, inspect summary.PracticeModel and summary.OutputRoot, then compare those paths with the delivered baseline driver defaults.</a:t>
            </a:r>
          </a:p>
          <a:p xmlns:a="http://schemas.openxmlformats.org/drawingml/2006/main">
            <a:r>
              <a:t/>
            </a:r>
          </a:p>
          <a:p xmlns:a="http://schemas.openxmlformats.org/drawingml/2006/main">
            <a:r>
              <a:t>Expected</a:t>
            </a:r>
          </a:p>
          <a:p xmlns:a="http://schemas.openxmlformats.org/drawingml/2006/main">
            <a:r>
              <a:t>- The learner can prove which UUT was assessed and where its CSV, MAT, HTML, and PNG were written.</a:t>
            </a:r>
            <a:endParaRPr/>
          </a:p>
          <a:p xmlns:a="http://schemas.openxmlformats.org/drawingml/2006/main">
            <a:r>
              <a:t/>
            </a:r>
          </a:p>
          <a:p xmlns:a="http://schemas.openxmlformats.org/drawingml/2006/main">
            <a:r>
              <a:t>Recovery</a:t>
            </a:r>
          </a:p>
          <a:p xmlns:a="http://schemas.openxmlformats.org/drawingml/2006/main">
            <a:r>
              <a:t>- If artifacts disagree, treat the set as stale or mixed and rerun only under authorized evidence-refresh conditions.</a:t>
            </a:r>
          </a:p>
          <a:p xmlns:a="http://schemas.openxmlformats.org/drawingml/2006/main">
            <a:r>
              <a:t/>
            </a:r>
          </a:p>
          <a:p xmlns:a="http://schemas.openxmlformats.org/drawingml/2006/main">
            <a:r>
              <a:t>Caveats</a:t>
            </a:r>
          </a:p>
          <a:p xmlns:a="http://schemas.openxmlformats.org/drawingml/2006/main">
            <a:r>
              <a:t>- Multiple export formats are not independent verification runs.</a:t>
            </a:r>
          </a:p>
          <a:p xmlns:a="http://schemas.openxmlformats.org/drawingml/2006/main">
            <a:r>
              <a:t>- The validator reads the retained CSV; it does not rerun this driver.</a:t>
            </a:r>
          </a:p>
          <a:p xmlns:a="http://schemas.openxmlformats.org/drawingml/2006/main">
            <a:r>
              <a:t>- The practice wrapper fails preflight if required dictionary entries are missing; it does not repair or rewrite the shared dictionary.</a:t>
            </a:r>
          </a:p>
          <a:p xmlns:a="http://schemas.openxmlformats.org/drawingml/2006/main">
            <a:r>
              <a:t/>
            </a:r>
          </a:p>
          <a:p xmlns:a="http://schemas.openxmlformats.org/drawingml/2006/main">
            <a:r>
              <a:t>[Sources]</a:t>
            </a:r>
          </a:p>
          <a:p xmlns:a="http://schemas.openxmlformats.org/drawingml/2006/main">
            <a:r>
              <a:t>- scripts/initialize_training_data.m</a:t>
            </a:r>
          </a:p>
          <a:p xmlns:a="http://schemas.openxmlformats.org/drawingml/2006/main">
            <a:r>
              <a:t>- scripts/run_pitch_rate_limiter_tests.m</a:t>
            </a:r>
          </a:p>
          <a:p xmlns:a="http://schemas.openxmlformats.org/drawingml/2006/main">
            <a:r>
              <a:t>- scripts/run_pitch_rate_limiter_practice_tests.m</a:t>
            </a:r>
          </a:p>
          <a:p xmlns:a="http://schemas.openxmlformats.org/drawingml/2006/main">
            <a:r>
              <a:t>- scripts/create_pitch_rate_limiter_practice.m</a:t>
            </a:r>
          </a:p>
          <a:p xmlns:a="http://schemas.openxmlformats.org/drawingml/2006/main">
            <a:r>
              <a:t>- models/PitchRateLimiter_Harness.slx</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plus demonstration</a:t>
            </a:r>
          </a:p>
          <a:p xmlns:a="http://schemas.openxmlformats.org/drawingml/2006/main">
            <a:r>
              <a:t/>
            </a:r>
            <a:endParaRPr/>
          </a:p>
          <a:p xmlns:a="http://schemas.openxmlformats.org/drawingml/2006/main">
            <a:r>
              <a:t>Mode: Command comparison</a:t>
            </a:r>
          </a:p>
          <a:p xmlns:a="http://schemas.openxmlformats.org/drawingml/2006/main">
            <a:r>
              <a:t/>
            </a:r>
          </a:p>
          <a:p xmlns:a="http://schemas.openxmlformats.org/drawingml/2006/main">
            <a:r>
              <a:t>Prerequisite: Correct model selected on slide 9.</a:t>
            </a:r>
            <a:endParaRPr/>
          </a:p>
          <a:p xmlns:a="http://schemas.openxmlformats.org/drawingml/2006/main">
            <a:r>
              <a:t/>
            </a:r>
          </a:p>
          <a:p xmlns:a="http://schemas.openxmlformats.org/drawingml/2006/main">
            <a:r>
              <a:t>Ctrl+D updates without advancing time. Run executes the selected model with its current inputs and settings. Ctrl+B invokes a target-dependent build. For retained assessment use the scripted limiter driver; for retained integration build evidence use build_top_level_grt_evidence on ReferencedFlightControlArchitecture.</a:t>
            </a:r>
          </a:p>
          <a:p xmlns:a="http://schemas.openxmlformats.org/drawingml/2006/main">
            <a:r>
              <a:t/>
            </a:r>
            <a:endParaRPr/>
          </a:p>
          <a:p xmlns:a="http://schemas.openxmlformats.org/drawingml/2006/main">
            <a:r>
              <a:t>Do</a:t>
            </a:r>
          </a:p>
          <a:p xmlns:a="http://schemas.openxmlformats.org/drawingml/2006/main">
            <a:r>
              <a:t>- Demonstrate Ctrl+D on the harness, explain why manual Run uses placeholders, and inspect the top-level build script before any Ctrl+B action.</a:t>
            </a:r>
          </a:p>
          <a:p xmlns:a="http://schemas.openxmlformats.org/drawingml/2006/main">
            <a:r>
              <a:t/>
            </a:r>
          </a:p>
          <a:p xmlns:a="http://schemas.openxmlformats.org/drawingml/2006/main">
            <a:r>
              <a:t>Expected</a:t>
            </a:r>
          </a:p>
          <a:p xmlns:a="http://schemas.openxmlformats.org/drawingml/2006/main">
            <a:r>
              <a:t>- The learner predicts the artifact and state change caused by each action and chooses the correct top level.</a:t>
            </a:r>
          </a:p>
          <a:p xmlns:a="http://schemas.openxmlformats.org/drawingml/2006/main">
            <a:r>
              <a:t/>
            </a:r>
          </a:p>
          <a:p xmlns:a="http://schemas.openxmlformats.org/drawingml/2006/main">
            <a:r>
              <a:t>Recovery</a:t>
            </a:r>
          </a:p>
          <a:p xmlns:a="http://schemas.openxmlformats.org/drawingml/2006/main">
            <a:r>
              <a:t>- If the wrong model was run or built, stop, preserve the diagnostic/output location, clean only project-owned temporary artifacts, and restart from the correct target.</a:t>
            </a:r>
          </a:p>
          <a:p xmlns:a="http://schemas.openxmlformats.org/drawingml/2006/main">
            <a:r>
              <a:t/>
            </a:r>
          </a:p>
          <a:p xmlns:a="http://schemas.openxmlformats.org/drawingml/2006/main">
            <a:r>
              <a:t>Caveats</a:t>
            </a:r>
          </a:p>
          <a:p xmlns:a="http://schemas.openxmlformats.org/drawingml/2006/main">
            <a:r>
              <a:t>- An interactive Ctrl+B result depends on the active target and environment; the retained evidence was produced by scripted slbuild.</a:t>
            </a:r>
          </a:p>
          <a:p xmlns:a="http://schemas.openxmlformats.org/drawingml/2006/main">
            <a:r>
              <a:t>- The retained executable was not executed or SIL/PIL-verified.</a:t>
            </a:r>
          </a:p>
          <a:p xmlns:a="http://schemas.openxmlformats.org/drawingml/2006/main">
            <a:r>
              <a:t/>
            </a:r>
          </a:p>
          <a:p xmlns:a="http://schemas.openxmlformats.org/drawingml/2006/main">
            <a:r>
              <a:t>[Sources]</a:t>
            </a:r>
          </a:p>
          <a:p xmlns:a="http://schemas.openxmlformats.org/drawingml/2006/main">
            <a:r>
              <a:t>- scripts/run_pitch_rate_limiter_tests.m</a:t>
            </a:r>
          </a:p>
          <a:p xmlns:a="http://schemas.openxmlformats.org/drawingml/2006/main">
            <a:r>
              <a:t>- scripts/build_top_level_grt_evidence.m</a:t>
            </a:r>
          </a:p>
          <a:p xmlns:a="http://schemas.openxmlformats.org/drawingml/2006/main">
            <a:r>
              <a:t>- results/top_level_codegen_v8_evidence/Build_Evidence_Manifest.txt</a:t>
            </a:r>
          </a:p>
          <a:p xmlns:a="http://schemas.openxmlformats.org/drawingml/2006/main">
            <a:r>
              <a:t>- https://www.mathworks.com/help/simulink/slref/slbuild.html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Build-evidence walkthrough</a:t>
            </a:r>
          </a:p>
          <a:p xmlns:a="http://schemas.openxmlformats.org/drawingml/2006/main">
            <a:r>
              <a:t/>
            </a:r>
          </a:p>
          <a:p xmlns:a="http://schemas.openxmlformats.org/drawingml/2006/main">
            <a:r>
              <a:t>Prerequisite: Slide 23 command comparison.</a:t>
            </a:r>
            <a:endParaRPr/>
          </a:p>
          <a:p xmlns:a="http://schemas.openxmlformats.org/drawingml/2006/main">
            <a:r>
              <a:t/>
            </a:r>
            <a:endParaRPr/>
          </a:p>
          <a:p xmlns:a="http://schemas.openxmlformats.org/drawingml/2006/main">
            <a:r>
              <a:t>Read the real v8 build tree. The evidence root contains the manifest, MAT summary, diary log, cache, a top-level GRT generated-code/report folder, four referenced targets under codegen/slprj/grt, and ReferencedFlightControlArchitecture.exe. The log records 5 of 5 models built, zero already up to date, in 1 minute 27.572 seconds.</a:t>
            </a:r>
            <a:endParaRPr/>
          </a:p>
          <a:p xmlns:a="http://schemas.openxmlformats.org/drawingml/2006/main">
            <a:r>
              <a:t/>
            </a:r>
            <a:endParaRPr/>
          </a:p>
          <a:p xmlns:a="http://schemas.openxmlformats.org/drawingml/2006/main">
            <a:r>
              <a:t>Do</a:t>
            </a:r>
            <a:endParaRPr/>
          </a:p>
          <a:p xmlns:a="http://schemas.openxmlformats.org/drawingml/2006/main">
            <a:r>
              <a:t>- Open Build_Evidence_Manifest.txt, the slbuild log, the generated top-model C file, and the HTML report from results/top_level_codegen_v8_evidence.</a:t>
            </a:r>
            <a:endParaRPr/>
          </a:p>
          <a:p xmlns:a="http://schemas.openxmlformats.org/drawingml/2006/main">
            <a:r>
              <a:t/>
            </a:r>
            <a:endParaRPr/>
          </a:p>
          <a:p xmlns:a="http://schemas.openxmlformats.org/drawingml/2006/main">
            <a:r>
              <a:t>Expected</a:t>
            </a:r>
          </a:p>
          <a:p xmlns:a="http://schemas.openxmlformats.org/drawingml/2006/main">
            <a:r>
              <a:t>- The learner locates the parent target, four referenced targets, executable, source, report, and provenance record.</a:t>
            </a:r>
          </a:p>
          <a:p xmlns:a="http://schemas.openxmlformats.org/drawingml/2006/main">
            <a:r>
              <a:t/>
            </a:r>
            <a:endParaRPr/>
          </a:p>
          <a:p xmlns:a="http://schemas.openxmlformats.org/drawingml/2006/main">
            <a:r>
              <a:t>Recovery</a:t>
            </a:r>
            <a:endParaRPr/>
          </a:p>
          <a:p xmlns:a="http://schemas.openxmlformats.org/drawingml/2006/main">
            <a:r>
              <a:t>- If the tree is absent and a new controlled build is authorized, run build_top_level_grt_evidence(projectRoot,'RunLabel','&lt;unique_label&gt;'); never substitute a screenshot for missing files.</a:t>
            </a:r>
            <a:endParaRPr/>
          </a:p>
          <a:p xmlns:a="http://schemas.openxmlformats.org/drawingml/2006/main">
            <a:r>
              <a:t/>
            </a:r>
            <a:endParaRPr/>
          </a:p>
          <a:p xmlns:a="http://schemas.openxmlformats.org/drawingml/2006/main">
            <a:r>
              <a:t>Caveats</a:t>
            </a:r>
            <a:endParaRPr/>
          </a:p>
          <a:p xmlns:a="http://schemas.openxmlformats.org/drawingml/2006/main">
            <a:r>
              <a:t>- The retained run used scripted slbuild; Ctrl+B is the interactive analogue and may use different active settings or output locations.</a:t>
            </a:r>
            <a:endParaRPr/>
          </a:p>
          <a:p xmlns:a="http://schemas.openxmlformats.org/drawingml/2006/main">
            <a:r>
              <a:t>- Git dirty at build was 1, but the manifest does not retain the dirty file list, diff, or exact dirty-source snapshot; do not call this build fully reproducible from the manifest alone.</a:t>
            </a:r>
            <a:endParaRPr/>
          </a:p>
          <a:p xmlns:a="http://schemas.openxmlformats.org/drawingml/2006/main">
            <a:r>
              <a:t>- The target is grt.tlc for desktop training/prototyping, not production airborne code.</a:t>
            </a:r>
            <a:endParaRPr/>
          </a:p>
          <a:p xmlns:a="http://schemas.openxmlformats.org/drawingml/2006/main">
            <a:r>
              <a:t>- Executable executed: NO; code-generation validation: NO; SIL/PIL: NO.</a:t>
            </a:r>
            <a:endParaRPr/>
          </a:p>
          <a:p xmlns:a="http://schemas.openxmlformats.org/drawingml/2006/main">
            <a:r>
              <a:t/>
            </a:r>
            <a:endParaRPr/>
          </a:p>
          <a:p xmlns:a="http://schemas.openxmlformats.org/drawingml/2006/main">
            <a:r>
              <a:t>[Sources]</a:t>
            </a:r>
            <a:endParaRPr/>
          </a:p>
          <a:p xmlns:a="http://schemas.openxmlformats.org/drawingml/2006/main">
            <a:r>
              <a:t>- scripts/build_top_level_grt_evidence.m</a:t>
            </a:r>
            <a:endParaRPr/>
          </a:p>
          <a:p xmlns:a="http://schemas.openxmlformats.org/drawingml/2006/main">
            <a:r>
              <a:t>- results/top_level_codegen_v8_evidence/Build_Evidence_Manifest.txt</a:t>
            </a:r>
            <a:endParaRPr/>
          </a:p>
          <a:p xmlns:a="http://schemas.openxmlformats.org/drawingml/2006/main">
            <a:r>
              <a:t>- results/top_level_codegen_v8_evidence/ReferencedFlightControlArchitecture_slbuild.log</a:t>
            </a:r>
            <a:endParaRPr/>
          </a:p>
          <a:p xmlns:a="http://schemas.openxmlformats.org/drawingml/2006/main">
            <a:r>
              <a:t>- results/top_level_codegen_v8_evidence/codegen/ReferencedFlightControlArchitecture_grt_rtw/ReferencedFlightControlArchitecture.c</a:t>
            </a:r>
            <a:endParaRPr/>
          </a:p>
          <a:p xmlns:a="http://schemas.openxmlformats.org/drawingml/2006/main">
            <a:r>
              <a:t>- results/top_level_codegen_v8_evidence/codegen/ReferencedFlightControlArchitecture_grt_rtw/html/index.html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Mode: SDI demonstration</a:t>
            </a:r>
          </a:p>
          <a:p xmlns:a="http://schemas.openxmlformats.org/drawingml/2006/main">
            <a:r>
              <a:t/>
            </a:r>
          </a:p>
          <a:p xmlns:a="http://schemas.openxmlformats.org/drawingml/2006/main">
            <a:r>
              <a:t>Prerequisite: Controlled simulation artifacts present.</a:t>
            </a:r>
            <a:endParaRPr/>
          </a:p>
          <a:p xmlns:a="http://schemas.openxmlformats.org/drawingml/2006/main">
            <a:r>
              <a:t/>
            </a:r>
            <a:endParaRPr/>
          </a:p>
          <a:p xmlns:a="http://schemas.openxmlformats.org/drawingml/2006/main">
            <a:r>
              <a:t>Open the saved SDI reference safely. The saved view controls layout and display; the saved session holds one run with five signals. The helper requires explicit permission before replacing current SDI state and creates recoverable backups.</a:t>
            </a:r>
            <a:endParaRPr/>
          </a:p>
          <a:p xmlns:a="http://schemas.openxmlformats.org/drawingml/2006/main">
            <a:r>
              <a:t/>
            </a:r>
            <a:endParaRPr/>
          </a:p>
          <a:p xmlns:a="http://schemas.openxmlformats.org/drawingml/2006/main">
            <a:r>
              <a:t>Do</a:t>
            </a:r>
            <a:endParaRPr/>
          </a:p>
          <a:p xmlns:a="http://schemas.openxmlformats.org/drawingml/2006/main">
            <a:r>
              <a:t>- Inspect scripts/open_data_inspector_reference.m, save current work, then load the reference session and view using the helper's guarded workflow.</a:t>
            </a:r>
            <a:endParaRPr/>
          </a:p>
          <a:p xmlns:a="http://schemas.openxmlformats.org/drawingml/2006/main">
            <a:r>
              <a:t/>
            </a:r>
            <a:endParaRPr/>
          </a:p>
          <a:p xmlns:a="http://schemas.openxmlformats.org/drawingml/2006/main">
            <a:r>
              <a:t>Expected</a:t>
            </a:r>
          </a:p>
          <a:p xmlns:a="http://schemas.openxmlformats.org/drawingml/2006/main">
            <a:r>
              <a:t>- SDI opens with the command/response/error, isolated error, and actuator/disturbance panels.</a:t>
            </a:r>
          </a:p>
          <a:p xmlns:a="http://schemas.openxmlformats.org/drawingml/2006/main">
            <a:r>
              <a:t/>
            </a:r>
          </a:p>
          <a:p xmlns:a="http://schemas.openxmlformats.org/drawingml/2006/main">
            <a:r>
              <a:t>Recovery</a:t>
            </a:r>
          </a:p>
          <a:p xmlns:a="http://schemas.openxmlformats.org/drawingml/2006/main">
            <a:r>
              <a:t>- If current SDI state is important, cancel and export/save it first; restore from the helper-created backup if loading the reference is not desired.</a:t>
            </a:r>
          </a:p>
          <a:p xmlns:a="http://schemas.openxmlformats.org/drawingml/2006/main">
            <a:r>
              <a:t/>
            </a:r>
          </a:p>
          <a:p xmlns:a="http://schemas.openxmlformats.org/drawingml/2006/main">
            <a:r>
              <a:t>Caveats</a:t>
            </a:r>
          </a:p>
          <a:p xmlns:a="http://schemas.openxmlformats.org/drawingml/2006/main">
            <a:r>
              <a:t>- The two .mldatx files are SDI session/view artifacts, not Simulink Test or Test Manager artifacts.</a:t>
            </a:r>
          </a:p>
          <a:p xmlns:a="http://schemas.openxmlformats.org/drawingml/2006/main">
            <a:r>
              <a:t/>
            </a:r>
          </a:p>
          <a:p xmlns:a="http://schemas.openxmlformats.org/drawingml/2006/main">
            <a:r>
              <a:t>[Sources]</a:t>
            </a:r>
          </a:p>
          <a:p xmlns:a="http://schemas.openxmlformats.org/drawingml/2006/main">
            <a:r>
              <a:t>- scripts/open_data_inspector_reference.m</a:t>
            </a: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screenshots/SimulationDataInspector_Onboarding.jpg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Graph interpretation</a:t>
            </a:r>
          </a:p>
          <a:p xmlns:a="http://schemas.openxmlformats.org/drawingml/2006/main">
            <a:r>
              <a:t/>
            </a:r>
          </a:p>
          <a:p xmlns:a="http://schemas.openxmlformats.org/drawingml/2006/main">
            <a:r>
              <a:t>Prerequisite: Slide 25 SDI view open or screenshot visible.</a:t>
            </a:r>
            <a:endParaRPr/>
          </a:p>
          <a:p xmlns:a="http://schemas.openxmlformats.org/drawingml/2006/main">
            <a:r>
              <a:t/>
            </a:r>
            <a:endParaRPr/>
          </a:p>
          <a:p xmlns:a="http://schemas.openxmlformats.org/drawingml/2006/main">
            <a:r>
              <a:t>Read the three aligned plots as one causal story. The top overlays command, dynamic response, and model-logged tracking error. The middle isolates error to reveal step jumps and decay. The bottom aligns actuator effort with disturbance timing so cause and response can be correlated.</a:t>
            </a:r>
            <a:endParaRPr/>
          </a:p>
          <a:p xmlns:a="http://schemas.openxmlformats.org/drawingml/2006/main">
            <a:r>
              <a:t/>
            </a:r>
            <a:endParaRPr/>
          </a:p>
          <a:p xmlns:a="http://schemas.openxmlformats.org/drawingml/2006/main">
            <a:r>
              <a:t>Do</a:t>
            </a:r>
            <a:endParaRPr/>
          </a:p>
          <a:p xmlns:a="http://schemas.openxmlformats.org/drawingml/2006/main">
            <a:r>
              <a:t>- Choose one command transition and one disturbance event; follow the same time cursor through all three panels and verify exact values in the retained CSV.</a:t>
            </a:r>
            <a:endParaRPr/>
          </a:p>
          <a:p xmlns:a="http://schemas.openxmlformats.org/drawingml/2006/main">
            <a:r>
              <a:t/>
            </a:r>
            <a:endParaRPr/>
          </a:p>
          <a:p xmlns:a="http://schemas.openxmlformats.org/drawingml/2006/main">
            <a:r>
              <a:t>Expected</a:t>
            </a:r>
          </a:p>
          <a:p xmlns:a="http://schemas.openxmlformats.org/drawingml/2006/main">
            <a:r>
              <a:t>- The learner explains transient lag, error decay, actuator response, and disturbance correlation without comparing unlike units as magnitudes.</a:t>
            </a:r>
          </a:p>
          <a:p xmlns:a="http://schemas.openxmlformats.org/drawingml/2006/main">
            <a:r>
              <a:t/>
            </a:r>
            <a:endParaRPr/>
          </a:p>
          <a:p xmlns:a="http://schemas.openxmlformats.org/drawingml/2006/main">
            <a:r>
              <a:t>Recovery</a:t>
            </a:r>
            <a:endParaRPr/>
          </a:p>
          <a:p xmlns:a="http://schemas.openxmlformats.org/drawingml/2006/main">
            <a:r>
              <a:t>- If a visual claim is uncertain, use SDI cursors or results/AircraftFeedback_CommandTracking.csv rather than estimating from pixels.</a:t>
            </a:r>
            <a:endParaRPr/>
          </a:p>
          <a:p xmlns:a="http://schemas.openxmlformats.org/drawingml/2006/main">
            <a:r>
              <a:t/>
            </a:r>
            <a:endParaRPr/>
          </a:p>
          <a:p xmlns:a="http://schemas.openxmlformats.org/drawingml/2006/main">
            <a:r>
              <a:t>Caveats</a:t>
            </a:r>
            <a:endParaRPr/>
          </a:p>
          <a:p xmlns:a="http://schemas.openxmlformats.org/drawingml/2006/main">
            <a:r>
              <a:t>- Error_deg is the model-logged tracking-error signal, not an independently recomputed oracle.</a:t>
            </a:r>
            <a:endParaRPr/>
          </a:p>
          <a:p xmlns:a="http://schemas.openxmlformats.org/drawingml/2006/main">
            <a:r>
              <a:t>- Actuator degrees and disturbance degrees per second squared share a panel for timing comparison only.</a:t>
            </a:r>
            <a:endParaRPr/>
          </a:p>
          <a:p xmlns:a="http://schemas.openxmlformats.org/drawingml/2006/main">
            <a:r>
              <a:t>- The retained run contains 1001 samples from 0 to 20 seconds at 0.02-second spacing.</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results/AircraftFeedback_CommandTracking.csv</a:t>
            </a:r>
            <a:endParaRPr/>
          </a:p>
          <a:p xmlns:a="http://schemas.openxmlformats.org/drawingml/2006/main">
            <a:r>
              <a:t>- scripts/update_data_inspector.m</a:t>
            </a:r>
            <a:endParaRPr/>
          </a:p>
          <a:p xmlns:a="http://schemas.openxmlformats.org/drawingml/2006/main">
            <a:r>
              <a:t>- scripts/run_training_simulations.m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Timing interpretation</a:t>
            </a:r>
          </a:p>
          <a:p xmlns:a="http://schemas.openxmlformats.org/drawingml/2006/main">
            <a:r>
              <a:t/>
            </a:r>
          </a:p>
          <a:p xmlns:a="http://schemas.openxmlformats.org/drawingml/2006/main">
            <a:r>
              <a:t>Prerequisite: Limiter driver and traceability files available.</a:t>
            </a:r>
            <a:endParaRPr/>
          </a:p>
          <a:p xmlns:a="http://schemas.openxmlformats.org/drawingml/2006/main">
            <a:r>
              <a:t/>
            </a:r>
          </a:p>
          <a:p xmlns:a="http://schemas.openxmlformats.org/drawingml/2006/main">
            <a:r>
              <a:t>The limiter suite checks configuration and recorded timestamps, not execution-time deadlines. Required sample time is 0.02 seconds, tolerance is max(1e-12, requiredSampleTime times 1e-9), and the retained check requires the dictionary setting and logged spacing to agree.</a:t>
            </a:r>
          </a:p>
          <a:p xmlns:a="http://schemas.openxmlformats.org/drawingml/2006/main">
            <a:r>
              <a:t/>
            </a:r>
            <a:endParaRPr/>
          </a:p>
          <a:p xmlns:a="http://schemas.openxmlformats.org/drawingml/2006/main">
            <a:r>
              <a:t>Do</a:t>
            </a:r>
          </a:p>
          <a:p xmlns:a="http://schemas.openxmlformats.org/drawingml/2006/main">
            <a:r>
              <a:t>- Inspect RequiredSampleTime_s, DictionarySampleTime_s, SampleTimeConfigurationPass, observed spacing, TimestampPass, and Timing50HzPass in the result files.</a:t>
            </a:r>
          </a:p>
          <a:p xmlns:a="http://schemas.openxmlformats.org/drawingml/2006/main">
            <a:r>
              <a:t/>
            </a:r>
          </a:p>
          <a:p xmlns:a="http://schemas.openxmlformats.org/drawingml/2006/main">
            <a:r>
              <a:t>Expected</a:t>
            </a:r>
          </a:p>
          <a:p xmlns:a="http://schemas.openxmlformats.org/drawingml/2006/main">
            <a:r>
              <a:t>- The learner can state that retained 50 Hz timestamp spacing and same-sample functional response passed.</a:t>
            </a:r>
          </a:p>
          <a:p xmlns:a="http://schemas.openxmlformats.org/drawingml/2006/main">
            <a:r>
              <a:t/>
            </a:r>
          </a:p>
          <a:p xmlns:a="http://schemas.openxmlformats.org/drawingml/2006/main">
            <a:r>
              <a:t>Recovery</a:t>
            </a:r>
          </a:p>
          <a:p xmlns:a="http://schemas.openxmlformats.org/drawingml/2006/main">
            <a:r>
              <a:t>- If timing fails, first separate dictionary configuration mismatch from logged timestamp-spacing mismatch and investigate the responsible path.</a:t>
            </a:r>
          </a:p>
          <a:p xmlns:a="http://schemas.openxmlformats.org/drawingml/2006/main">
            <a:r>
              <a:t/>
            </a:r>
          </a:p>
          <a:p xmlns:a="http://schemas.openxmlformats.org/drawingml/2006/main">
            <a:r>
              <a:t>Caveats</a:t>
            </a:r>
          </a:p>
          <a:p xmlns:a="http://schemas.openxmlformats.org/drawingml/2006/main">
            <a:r>
              <a:t>- No WCET, scheduling, deadline, overrun, processor-load, or real-time execution claim is supported.</a:t>
            </a:r>
          </a:p>
          <a:p xmlns:a="http://schemas.openxmlformats.org/drawingml/2006/main">
            <a:r>
              <a:t>- Desktop-MIL timestamps do not establish target timing performance.</a:t>
            </a:r>
          </a:p>
          <a:p xmlns:a="http://schemas.openxmlformats.org/drawingml/2006/main">
            <a:r>
              <a:t/>
            </a:r>
          </a:p>
          <a:p xmlns:a="http://schemas.openxmlformats.org/drawingml/2006/main">
            <a:r>
              <a:t>[Sources]</a:t>
            </a:r>
          </a:p>
          <a:p xmlns:a="http://schemas.openxmlformats.org/drawingml/2006/main">
            <a:r>
              <a:t>- scripts/run_pitch_rate_limiter_tests.m</a:t>
            </a: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Verification-workflow walkthrough</a:t>
            </a:r>
          </a:p>
          <a:p xmlns:a="http://schemas.openxmlformats.org/drawingml/2006/main">
            <a:r>
              <a:t/>
            </a:r>
          </a:p>
          <a:p xmlns:a="http://schemas.openxmlformats.org/drawingml/2006/main">
            <a:r>
              <a:t>Prerequisite: Slides 20-27.</a:t>
            </a:r>
            <a:endParaRPr/>
          </a:p>
          <a:p xmlns:a="http://schemas.openxmlformats.org/drawingml/2006/main">
            <a:r>
              <a:t/>
            </a:r>
          </a:p>
          <a:p xmlns:a="http://schemas.openxmlformats.org/drawingml/2006/main">
            <a:r>
              <a:t>Keep roles explicit: initialization is the baseline producer, the driver is stimulus producer and executor, the harness is connectivity, the driver oracle computes pass fields, and validate_training_project is a later package validator that reads the retained CSV and checks file presence.</a:t>
            </a:r>
          </a:p>
          <a:p xmlns:a="http://schemas.openxmlformats.org/drawingml/2006/main">
            <a:r>
              <a:t/>
            </a:r>
            <a:endParaRPr/>
          </a:p>
          <a:p xmlns:a="http://schemas.openxmlformats.org/drawingml/2006/main">
            <a:r>
              <a:t>Do</a:t>
            </a:r>
          </a:p>
          <a:p xmlns:a="http://schemas.openxmlformats.org/drawingml/2006/main">
            <a:r>
              <a:t>- Trace one requirement from input row through harness output, oracle fields, exports, and package-validation summary.</a:t>
            </a:r>
          </a:p>
          <a:p xmlns:a="http://schemas.openxmlformats.org/drawingml/2006/main">
            <a:r>
              <a:t/>
            </a:r>
          </a:p>
          <a:p xmlns:a="http://schemas.openxmlformats.org/drawingml/2006/main">
            <a:r>
              <a:t>Expected</a:t>
            </a:r>
          </a:p>
          <a:p xmlns:a="http://schemas.openxmlformats.org/drawingml/2006/main">
            <a:r>
              <a:t>- The learner can name who produced, executed, assessed, exported, and later checked the artifact set.</a:t>
            </a:r>
            <a:endParaRPr/>
          </a:p>
          <a:p xmlns:a="http://schemas.openxmlformats.org/drawingml/2006/main">
            <a:r>
              <a:t/>
            </a:r>
          </a:p>
          <a:p xmlns:a="http://schemas.openxmlformats.org/drawingml/2006/main">
            <a:r>
              <a:t>Recovery</a:t>
            </a:r>
          </a:p>
          <a:p xmlns:a="http://schemas.openxmlformats.org/drawingml/2006/main">
            <a:r>
              <a:t>- If provenance is unclear, do not merge files from different runs; retain timestamps and rerun the controlled producer chain only with authorization.</a:t>
            </a:r>
          </a:p>
          <a:p xmlns:a="http://schemas.openxmlformats.org/drawingml/2006/main">
            <a:r>
              <a:t/>
            </a:r>
          </a:p>
          <a:p xmlns:a="http://schemas.openxmlformats.org/drawingml/2006/main">
            <a:r>
              <a:t>Caveats</a:t>
            </a:r>
          </a:p>
          <a:p xmlns:a="http://schemas.openxmlformats.org/drawingml/2006/main">
            <a:r>
              <a:t>- The limited suite retains 19 passing sample assessments from one deterministic 0.36-second desktop-MIL simulation.</a:t>
            </a:r>
          </a:p>
          <a:p xmlns:a="http://schemas.openxmlformats.org/drawingml/2006/main">
            <a:r>
              <a:t>- The validator does not independently rerun the suite or establish export freshness.</a:t>
            </a:r>
          </a:p>
          <a:p xmlns:a="http://schemas.openxmlformats.org/drawingml/2006/main">
            <a:r>
              <a:t/>
            </a:r>
          </a:p>
          <a:p xmlns:a="http://schemas.openxmlformats.org/drawingml/2006/main">
            <a:r>
              <a:t>[Sources]</a:t>
            </a:r>
          </a:p>
          <a:p xmlns:a="http://schemas.openxmlformats.org/drawingml/2006/main">
            <a:r>
              <a:t>- scripts/initialize_training_data.m</a:t>
            </a:r>
          </a:p>
          <a:p xmlns:a="http://schemas.openxmlformats.org/drawingml/2006/main">
            <a:r>
              <a:t>- scripts/run_pitch_rate_limiter_tests.m</a:t>
            </a:r>
          </a:p>
          <a:p xmlns:a="http://schemas.openxmlformats.org/drawingml/2006/main">
            <a:r>
              <a:t>- models/PitchRateLimiter_Harness.slx</a:t>
            </a:r>
          </a:p>
          <a:p xmlns:a="http://schemas.openxmlformats.org/drawingml/2006/main">
            <a:r>
              <a:t>- scripts/validate_training_project.m</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Result review</a:t>
            </a:r>
          </a:p>
          <a:p xmlns:a="http://schemas.openxmlformats.org/drawingml/2006/main">
            <a:r>
              <a:t/>
            </a:r>
          </a:p>
          <a:p xmlns:a="http://schemas.openxmlformats.org/drawingml/2006/main">
            <a:r>
              <a:t>Prerequisite: Controlled limiter results present.</a:t>
            </a:r>
            <a:endParaRPr/>
          </a:p>
          <a:p xmlns:a="http://schemas.openxmlformats.org/drawingml/2006/main">
            <a:r>
              <a:t/>
            </a:r>
            <a:endParaRPr/>
          </a:p>
          <a:p xmlns:a="http://schemas.openxmlformats.org/drawingml/2006/main">
            <a:r>
              <a:t>State the result precisely: one 0.36-second desktop-MIL execution was assessed at nineteen rows/instants spaced at 0.02 seconds. All rows retain true NumericPass, LimiterActivePass, TimestampPass, and Timing50HzPass; the first three are row-specific and the suite-level spacing result is repeated on each row.</a:t>
            </a:r>
            <a:endParaRPr/>
          </a:p>
          <a:p xmlns:a="http://schemas.openxmlformats.org/drawingml/2006/main">
            <a:r>
              <a:t/>
            </a:r>
            <a:endParaRPr/>
          </a:p>
          <a:p xmlns:a="http://schemas.openxmlformats.org/drawingml/2006/main">
            <a:r>
              <a:t>Do</a:t>
            </a:r>
            <a:endParaRPr/>
          </a:p>
          <a:p xmlns:a="http://schemas.openxmlformats.org/drawingml/2006/main">
            <a:r>
              <a:t>- Open the CSV and identify boundary, saturation, invalid-input, disabled-mode, and mode-transition rows.</a:t>
            </a:r>
            <a:endParaRPr/>
          </a:p>
          <a:p xmlns:a="http://schemas.openxmlformats.org/drawingml/2006/main">
            <a:r>
              <a:t/>
            </a:r>
            <a:endParaRPr/>
          </a:p>
          <a:p xmlns:a="http://schemas.openxmlformats.org/drawingml/2006/main">
            <a:r>
              <a:t>Expected</a:t>
            </a:r>
          </a:p>
          <a:p xmlns:a="http://schemas.openxmlformats.org/drawingml/2006/main">
            <a:r>
              <a:t>- The learner can explain why the dashboard says 19/19 and what each pass field represents.</a:t>
            </a:r>
          </a:p>
          <a:p xmlns:a="http://schemas.openxmlformats.org/drawingml/2006/main">
            <a:r>
              <a:t/>
            </a:r>
          </a:p>
          <a:p xmlns:a="http://schemas.openxmlformats.org/drawingml/2006/main">
            <a:r>
              <a:t>Recovery</a:t>
            </a:r>
          </a:p>
          <a:p xmlns:a="http://schemas.openxmlformats.org/drawingml/2006/main">
            <a:r>
              <a:t>- If the badge and row data disagree, trust neither until the controlled driver is rerun and all exports are regenerated together.</a:t>
            </a:r>
          </a:p>
          <a:p xmlns:a="http://schemas.openxmlformats.org/drawingml/2006/main">
            <a:r>
              <a:t/>
            </a:r>
          </a:p>
          <a:p xmlns:a="http://schemas.openxmlformats.org/drawingml/2006/main">
            <a:r>
              <a:t>Caveats</a:t>
            </a:r>
          </a:p>
          <a:p xmlns:a="http://schemas.openxmlformats.org/drawingml/2006/main">
            <a:r>
              <a:t>- This is not nineteen independent tests and not a Test Manager suite.</a:t>
            </a:r>
          </a:p>
          <a:p xmlns:a="http://schemas.openxmlformats.org/drawingml/2006/main">
            <a:r>
              <a:t>- The report graphic supports review; CSV/MAT values and executable oracle determine retained status.</a:t>
            </a:r>
          </a:p>
          <a:p xmlns:a="http://schemas.openxmlformats.org/drawingml/2006/main">
            <a:r>
              <a:t/>
            </a:r>
          </a:p>
          <a:p xmlns:a="http://schemas.openxmlformats.org/drawingml/2006/main">
            <a:r>
              <a:t>[Sources]</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Graph interpretation</a:t>
            </a:r>
          </a:p>
          <a:p xmlns:a="http://schemas.openxmlformats.org/drawingml/2006/main">
            <a:r>
              <a:t/>
            </a:r>
          </a:p>
          <a:p xmlns:a="http://schemas.openxmlformats.org/drawingml/2006/main">
            <a:r>
              <a:t>Prerequisite: Slide 29 result overview.</a:t>
            </a:r>
            <a:endParaRPr/>
          </a:p>
          <a:p xmlns:a="http://schemas.openxmlformats.org/drawingml/2006/main">
            <a:r>
              <a:t/>
            </a:r>
            <a:endParaRPr/>
          </a:p>
          <a:p xmlns:a="http://schemas.openxmlformats.org/drawingml/2006/main">
            <a:r>
              <a:t>Read the test report top to bottom. The input display is clipped to plus or minus 18 for readability; expected and actual outputs overlap, valid Normal-mode commands clamp at plus or minus 12, and invalid or disabled rows use zero fallback. Expected and actual limiter_active overlap. The log-scale error panel is visually empty because every retained absolute error is exactly zero.</a:t>
            </a:r>
            <a:endParaRPr/>
          </a:p>
          <a:p xmlns:a="http://schemas.openxmlformats.org/drawingml/2006/main">
            <a:r>
              <a:t/>
            </a:r>
            <a:endParaRPr/>
          </a:p>
          <a:p xmlns:a="http://schemas.openxmlformats.org/drawingml/2006/main">
            <a:r>
              <a:t>Do</a:t>
            </a:r>
            <a:endParaRPr/>
          </a:p>
          <a:p xmlns:a="http://schemas.openxmlformats.org/drawingml/2006/main">
            <a:r>
              <a:t>- Select one row from each behavior class and match it across the top, middle, and error panels and the CSV.</a:t>
            </a:r>
            <a:endParaRPr/>
          </a:p>
          <a:p xmlns:a="http://schemas.openxmlformats.org/drawingml/2006/main">
            <a:r>
              <a:t/>
            </a:r>
            <a:endParaRPr/>
          </a:p>
          <a:p xmlns:a="http://schemas.openxmlformats.org/drawingml/2006/main">
            <a:r>
              <a:t>Expected</a:t>
            </a:r>
          </a:p>
          <a:p xmlns:a="http://schemas.openxmlformats.org/drawingml/2006/main">
            <a:r>
              <a:t>- The learner explains all three panels, including why a blank log-error trace represents zero positive errors rather than missing data.</a:t>
            </a:r>
          </a:p>
          <a:p xmlns:a="http://schemas.openxmlformats.org/drawingml/2006/main">
            <a:r>
              <a:t/>
            </a:r>
          </a:p>
          <a:p xmlns:a="http://schemas.openxmlformats.org/drawingml/2006/main">
            <a:r>
              <a:t>Recovery</a:t>
            </a:r>
          </a:p>
          <a:p xmlns:a="http://schemas.openxmlformats.org/drawingml/2006/main">
            <a:r>
              <a:t>- Use the CSV or MAT file for exact values when plot clipping, overlap, or log scaling hides detail.</a:t>
            </a:r>
          </a:p>
          <a:p xmlns:a="http://schemas.openxmlformats.org/drawingml/2006/main">
            <a:r>
              <a:t/>
            </a:r>
          </a:p>
          <a:p xmlns:a="http://schemas.openxmlformats.org/drawingml/2006/main">
            <a:r>
              <a:t>Caveats</a:t>
            </a:r>
          </a:p>
          <a:p xmlns:a="http://schemas.openxmlformats.org/drawingml/2006/main">
            <a:r>
              <a:t>- Displayed input clipping does not change the executed input values.</a:t>
            </a:r>
          </a:p>
          <a:p xmlns:a="http://schemas.openxmlformats.org/drawingml/2006/main">
            <a:r>
              <a:t>- The active flag is true only for valid Normal-mode input strictly outside the inclusive limits.</a:t>
            </a:r>
          </a:p>
          <a:p xmlns:a="http://schemas.openxmlformats.org/drawingml/2006/main">
            <a:r>
              <a:t>- Use 'retains evidence of passing checks,' not 'proves certification compliance.'</a:t>
            </a:r>
          </a:p>
          <a:p xmlns:a="http://schemas.openxmlformats.org/drawingml/2006/main">
            <a:r>
              <a:t/>
            </a:r>
          </a:p>
          <a:p xmlns:a="http://schemas.openxmlformats.org/drawingml/2006/main">
            <a:r>
              <a:t>[Sources]</a:t>
            </a:r>
          </a:p>
          <a:p xmlns:a="http://schemas.openxmlformats.org/drawingml/2006/main">
            <a:r>
              <a:t>- reports/PitchRateLimiter_TestReport.png</a:t>
            </a:r>
          </a:p>
          <a:p xmlns:a="http://schemas.openxmlformats.org/drawingml/2006/main">
            <a:r>
              <a:t>- results/PitchRateLimiter_TestResults.csv</a:t>
            </a:r>
          </a:p>
          <a:p xmlns:a="http://schemas.openxmlformats.org/drawingml/2006/main">
            <a:r>
              <a:t>- scripts/run_pitch_rate_limiter_tests.m</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Traceability exercise</a:t>
            </a:r>
          </a:p>
          <a:p xmlns:a="http://schemas.openxmlformats.org/drawingml/2006/main">
            <a:r>
              <a:t/>
            </a:r>
          </a:p>
          <a:p xmlns:a="http://schemas.openxmlformats.org/drawingml/2006/main">
            <a:r>
              <a:t>Prerequisite: Slides 27-30.</a:t>
            </a:r>
            <a:endParaRPr/>
          </a:p>
          <a:p xmlns:a="http://schemas.openxmlformats.org/drawingml/2006/main">
            <a:r>
              <a:t/>
            </a:r>
            <a:endParaRPr/>
          </a:p>
          <a:p xmlns:a="http://schemas.openxmlformats.org/drawingml/2006/main">
            <a:r>
              <a:t>Trace requirements to implementation and specific acceptance evidence. PRL-001 is associated with rows 1-10 and 19; PRL-004 covers 0.02-second configuration and logged spacing within the executable tolerance. PRL-005 covers same-frame magnitude response at row 10, not an unrelated invalid-input row.</a:t>
            </a:r>
            <a:endParaRPr/>
          </a:p>
          <a:p xmlns:a="http://schemas.openxmlformats.org/drawingml/2006/main">
            <a:r>
              <a:t/>
            </a:r>
            <a:endParaRPr/>
          </a:p>
          <a:p xmlns:a="http://schemas.openxmlformats.org/drawingml/2006/main">
            <a:r>
              <a:t>Do</a:t>
            </a:r>
            <a:endParaRPr/>
          </a:p>
          <a:p xmlns:a="http://schemas.openxmlformats.org/drawingml/2006/main">
            <a:r>
              <a:t>- Open docs/PitchRateLimiter_Requirements_Traceability.csv and trace one ID to a model artifact, a result column, and a representative retained row.</a:t>
            </a:r>
            <a:endParaRPr/>
          </a:p>
          <a:p xmlns:a="http://schemas.openxmlformats.org/drawingml/2006/main">
            <a:r>
              <a:t/>
            </a:r>
            <a:endParaRPr/>
          </a:p>
          <a:p xmlns:a="http://schemas.openxmlformats.org/drawingml/2006/main">
            <a:r>
              <a:t>Expected</a:t>
            </a:r>
          </a:p>
          <a:p xmlns:a="http://schemas.openxmlformats.org/drawingml/2006/main">
            <a:r>
              <a:t>- The learner produces a defensible requirement-to-model-to-check-to-result chain and notices the corrected PRL-005 mapping.</a:t>
            </a:r>
          </a:p>
          <a:p xmlns:a="http://schemas.openxmlformats.org/drawingml/2006/main">
            <a:r>
              <a:t/>
            </a:r>
            <a:endParaRPr/>
          </a:p>
          <a:p xmlns:a="http://schemas.openxmlformats.org/drawingml/2006/main">
            <a:r>
              <a:t>Recovery</a:t>
            </a:r>
            <a:endParaRPr/>
          </a:p>
          <a:p xmlns:a="http://schemas.openxmlformats.org/drawingml/2006/main">
            <a:r>
              <a:t>- If an ID cannot be tied to an observable criterion and row, mark the trace incomplete and correct the traceability record under change control.</a:t>
            </a:r>
            <a:endParaRPr/>
          </a:p>
          <a:p xmlns:a="http://schemas.openxmlformats.org/drawingml/2006/main">
            <a:r>
              <a:t/>
            </a:r>
            <a:endParaRPr/>
          </a:p>
          <a:p xmlns:a="http://schemas.openxmlformats.org/drawingml/2006/main">
            <a:r>
              <a:t>Caveats</a:t>
            </a:r>
            <a:endParaRPr/>
          </a:p>
          <a:p xmlns:a="http://schemas.openxmlformats.org/drawingml/2006/main">
            <a:r>
              <a:t>- The IDs are training records in CSV, not live Requirements Toolbox links.</a:t>
            </a:r>
            <a:endParaRPr/>
          </a:p>
          <a:p xmlns:a="http://schemas.openxmlformats.org/drawingml/2006/main">
            <a:r>
              <a:t>- Traceability supports review; it does not replace independent verification or approval.</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models/PitchRateLimiter.slx</a:t>
            </a:r>
            <a:endParaRPr/>
          </a:p>
          <a:p xmlns:a="http://schemas.openxmlformats.org/drawingml/2006/main">
            <a:r>
              <a:t>- scripts/run_pitch_rate_limiter_tests.m</a:t>
            </a:r>
            <a:endParaRPr/>
          </a:p>
          <a:p xmlns:a="http://schemas.openxmlformats.org/drawingml/2006/main">
            <a:r>
              <a:t>- results/PitchRateLimiter_TestResults.csv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Data-contract briefing</a:t>
            </a:r>
          </a:p>
          <a:p xmlns:a="http://schemas.openxmlformats.org/drawingml/2006/main">
            <a:r>
              <a:t/>
            </a:r>
          </a:p>
          <a:p xmlns:a="http://schemas.openxmlformats.org/drawingml/2006/main">
            <a:r>
              <a:t>Prerequisite: Initialization complete.</a:t>
            </a:r>
            <a:endParaRPr/>
          </a:p>
          <a:p xmlns:a="http://schemas.openxmlformats.org/drawingml/2006/main">
            <a:r>
              <a:t/>
            </a:r>
            <a:endParaRPr/>
          </a:p>
          <a:p xmlns:a="http://schemas.openxmlformats.org/drawingml/2006/main">
            <a:r>
              <a:t>FCS_Data.sldd is the shared Design Data source. It retains 31 entries: 26 Simulink.Parameter objects, four Simulink.Signal objects, and one Simulink.Bus. FlightControlBus has five scalar elements: q_rate, pitch_angle, mach, air_data_valid, and mode.</a:t>
            </a:r>
            <a:endParaRPr/>
          </a:p>
          <a:p xmlns:a="http://schemas.openxmlformats.org/drawingml/2006/main">
            <a:r>
              <a:t/>
            </a:r>
            <a:endParaRPr/>
          </a:p>
          <a:p xmlns:a="http://schemas.openxmlformats.org/drawingml/2006/main">
            <a:r>
              <a:t>Do</a:t>
            </a:r>
            <a:endParaRPr/>
          </a:p>
          <a:p xmlns:a="http://schemas.openxmlformats.org/drawingml/2006/main">
            <a:r>
              <a:t>- Compare Sample_time, q_limit_normal, q_fallback_command, and FlightControlBus between the dictionary and retained inventory CSV files.</a:t>
            </a:r>
            <a:endParaRPr/>
          </a:p>
          <a:p xmlns:a="http://schemas.openxmlformats.org/drawingml/2006/main">
            <a:r>
              <a:t/>
            </a:r>
            <a:endParaRPr/>
          </a:p>
          <a:p xmlns:a="http://schemas.openxmlformats.org/drawingml/2006/main">
            <a:r>
              <a:t>Expected</a:t>
            </a:r>
          </a:p>
          <a:p xmlns:a="http://schemas.openxmlformats.org/drawingml/2006/main">
            <a:r>
              <a:t>- The learner locates the values, types, units, dimensions, descriptions, and five bus elements.</a:t>
            </a:r>
          </a:p>
          <a:p xmlns:a="http://schemas.openxmlformats.org/drawingml/2006/main">
            <a:r>
              <a:t/>
            </a:r>
            <a:endParaRPr/>
          </a:p>
          <a:p xmlns:a="http://schemas.openxmlformats.org/drawingml/2006/main">
            <a:r>
              <a:t>Recovery</a:t>
            </a:r>
            <a:endParaRPr/>
          </a:p>
          <a:p xmlns:a="http://schemas.openxmlformats.org/drawingml/2006/main">
            <a:r>
              <a:t>- If inventories and dictionary disagree, treat the inventories as stale and regenerate them only through the controlled initialization/refresh workflow.</a:t>
            </a:r>
            <a:endParaRPr/>
          </a:p>
          <a:p xmlns:a="http://schemas.openxmlformats.org/drawingml/2006/main">
            <a:r>
              <a:t/>
            </a:r>
            <a:endParaRPr/>
          </a:p>
          <a:p xmlns:a="http://schemas.openxmlformats.org/drawingml/2006/main">
            <a:r>
              <a:t>Caveats</a:t>
            </a:r>
            <a:endParaRPr/>
          </a:p>
          <a:p xmlns:a="http://schemas.openxmlformats.org/drawingml/2006/main">
            <a:r>
              <a:t>- The dictionary and bus define controlled structure; they do not by themselves prove semantic correctness.</a:t>
            </a:r>
            <a:endParaRPr/>
          </a:p>
          <a:p xmlns:a="http://schemas.openxmlformats.org/drawingml/2006/main">
            <a:r>
              <a:t>- Values are illustrative classroom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endParaRPr/>
          </a:p>
          <a:p xmlns:a="http://schemas.openxmlformats.org/drawingml/2006/main">
            <a:r>
              <a:t>- scripts/initialize_training_data.m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plus demonstration</a:t>
            </a:r>
          </a:p>
          <a:p xmlns:a="http://schemas.openxmlformats.org/drawingml/2006/main">
            <a:r>
              <a:t/>
            </a:r>
            <a:endParaRPr/>
          </a:p>
          <a:p xmlns:a="http://schemas.openxmlformats.org/drawingml/2006/main">
            <a:r>
              <a:t>Mode: Dictionary access lab</a:t>
            </a:r>
          </a:p>
          <a:p xmlns:a="http://schemas.openxmlformats.org/drawingml/2006/main">
            <a:r>
              <a:t/>
            </a:r>
          </a:p>
          <a:p xmlns:a="http://schemas.openxmlformats.org/drawingml/2006/main">
            <a:r>
              <a:t>Prerequisite: Slide 32; repository-relative path initialized.</a:t>
            </a:r>
            <a:endParaRPr/>
          </a:p>
          <a:p xmlns:a="http://schemas.openxmlformats.org/drawingml/2006/main">
            <a:r>
              <a:t/>
            </a:r>
          </a:p>
          <a:p xmlns:a="http://schemas.openxmlformats.org/drawingml/2006/main">
            <a:r>
              <a:t>The GUI and MATLAB API expose the same controlled entry. In Model Explorer open data/FCS_Data.sldd, select Design Data and FlightControlBus, or use Simulink.data.dictionary.open, getSection, getEntry, and getValue, then close the dictionary.</a:t>
            </a:r>
          </a:p>
          <a:p xmlns:a="http://schemas.openxmlformats.org/drawingml/2006/main">
            <a:r>
              <a:t/>
            </a:r>
            <a:endParaRPr/>
          </a:p>
          <a:p xmlns:a="http://schemas.openxmlformats.org/drawingml/2006/main">
            <a:r>
              <a:t>Do</a:t>
            </a:r>
          </a:p>
          <a:p xmlns:a="http://schemas.openxmlformats.org/drawingml/2006/main">
            <a:r>
              <a:t>- Run the exact API example on the slide and compare the returned element names with the Model Explorer capture and inventory CSV.</a:t>
            </a:r>
          </a:p>
          <a:p xmlns:a="http://schemas.openxmlformats.org/drawingml/2006/main">
            <a:r>
              <a:t/>
            </a:r>
          </a:p>
          <a:p xmlns:a="http://schemas.openxmlformats.org/drawingml/2006/main">
            <a:r>
              <a:t>Expected</a:t>
            </a:r>
          </a:p>
          <a:p xmlns:a="http://schemas.openxmlformats.org/drawingml/2006/main">
            <a:r>
              <a:t>- The command returns q_rate, pitch_angle, mach, air_data_valid, and mode, and the dictionary closes cleanly.</a:t>
            </a:r>
            <a:endParaRPr/>
          </a:p>
          <a:p xmlns:a="http://schemas.openxmlformats.org/drawingml/2006/main">
            <a:r>
              <a:t/>
            </a:r>
            <a:endParaRPr/>
          </a:p>
          <a:p xmlns:a="http://schemas.openxmlformats.org/drawingml/2006/main">
            <a:r>
              <a:t>Recovery</a:t>
            </a:r>
            <a:endParaRPr/>
          </a:p>
          <a:p xmlns:a="http://schemas.openxmlformats.org/drawingml/2006/main">
            <a:r>
              <a:t>- If the entry is unresolved, confirm projectRoot and initialization; do not create a duplicate FlightControlBus in the base workspace.</a:t>
            </a:r>
            <a:endParaRPr/>
          </a:p>
          <a:p xmlns:a="http://schemas.openxmlformats.org/drawingml/2006/main">
            <a:r>
              <a:t/>
            </a:r>
            <a:endParaRPr/>
          </a:p>
          <a:p xmlns:a="http://schemas.openxmlformats.org/drawingml/2006/main">
            <a:r>
              <a:t>Caveats</a:t>
            </a:r>
            <a:endParaRPr/>
          </a:p>
          <a:p xmlns:a="http://schemas.openxmlformats.org/drawingml/2006/main">
            <a:r>
              <a:t>- Initialization can restore managed names; make edits only under the project's data-change process.</a:t>
            </a:r>
            <a:endParaRPr/>
          </a:p>
          <a:p xmlns:a="http://schemas.openxmlformats.org/drawingml/2006/main">
            <a:r>
              <a:t>- The screenshot was captured for read-only orientation.</a:t>
            </a:r>
            <a:endParaRPr/>
          </a:p>
          <a:p xmlns:a="http://schemas.openxmlformats.org/drawingml/2006/main">
            <a:r>
              <a:t/>
            </a:r>
            <a:endParaRPr/>
          </a:p>
          <a:p xmlns:a="http://schemas.openxmlformats.org/drawingml/2006/main">
            <a:r>
              <a:t>[Sources]</a:t>
            </a:r>
            <a:endParaRPr/>
          </a:p>
          <a:p xmlns:a="http://schemas.openxmlformats.org/drawingml/2006/main">
            <a:r>
              <a:t>- screenshots/FCS_Data_ModelExplorer_FlightControlBus.jpg</a:t>
            </a:r>
            <a:endParaRPr/>
          </a:p>
          <a:p xmlns:a="http://schemas.openxmlformats.org/drawingml/2006/main">
            <a:r>
              <a:t>- data/FCS_Data.sldd</a:t>
            </a:r>
            <a:endParaRPr/>
          </a:p>
          <a:p xmlns:a="http://schemas.openxmlformats.org/drawingml/2006/main">
            <a:r>
              <a:t>- results/FlightControlBus_Inventory.csv</a:t>
            </a:r>
            <a:endParaRPr/>
          </a:p>
          <a:p xmlns:a="http://schemas.openxmlformats.org/drawingml/2006/main">
            <a:r>
              <a:t>- https://www.mathworks.com/help/simulink/slref/simulink.data.dictionary.open.html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Peer-review checklist</a:t>
            </a:r>
          </a:p>
          <a:p xmlns:a="http://schemas.openxmlformats.org/drawingml/2006/main">
            <a:r>
              <a:t/>
            </a:r>
          </a:p>
          <a:p xmlns:a="http://schemas.openxmlformats.org/drawingml/2006/main">
            <a:r>
              <a:t>Prerequisite: Slides 20-33.</a:t>
            </a:r>
            <a:endParaRPr/>
          </a:p>
          <a:p xmlns:a="http://schemas.openxmlformats.org/drawingml/2006/main">
            <a:r>
              <a:t/>
            </a:r>
          </a:p>
          <a:p xmlns:a="http://schemas.openxmlformats.org/drawingml/2006/main">
            <a:r>
              <a:t>Review contracts before aesthetics: exact learner model/harness names, saved Normal reference mode, controlled dictionary, fixed-step/sample-time agreement, explicit input provenance, no unexpected update diagnostic, practice-driver oracle ownership, learner-local evidence paths, traceability, and stated boundaries. The exact known Student-license Model-block message is documented separately from unexpected warnings.</a:t>
            </a:r>
          </a:p>
          <a:p xmlns:a="http://schemas.openxmlformats.org/drawingml/2006/main">
            <a:r>
              <a:t/>
            </a:r>
            <a:endParaRPr/>
          </a:p>
          <a:p xmlns:a="http://schemas.openxmlformats.org/drawingml/2006/main">
            <a:r>
              <a:t>Do</a:t>
            </a:r>
          </a:p>
          <a:p xmlns:a="http://schemas.openxmlformats.org/drawingml/2006/main">
            <a:r>
              <a:t>- Have a second person walk the checklist against the repository without relying on the presenter's memory.</a:t>
            </a:r>
          </a:p>
          <a:p xmlns:a="http://schemas.openxmlformats.org/drawingml/2006/main">
            <a:r>
              <a:t/>
            </a:r>
          </a:p>
          <a:p xmlns:a="http://schemas.openxmlformats.org/drawingml/2006/main">
            <a:r>
              <a:t>Expected</a:t>
            </a:r>
          </a:p>
          <a:p xmlns:a="http://schemas.openxmlformats.org/drawingml/2006/main">
            <a:r>
              <a:t>- Each checklist item has a file, model property, command output, or explicitly Open disposition.</a:t>
            </a:r>
          </a:p>
          <a:p xmlns:a="http://schemas.openxmlformats.org/drawingml/2006/main">
            <a:r>
              <a:t/>
            </a:r>
          </a:p>
          <a:p xmlns:a="http://schemas.openxmlformats.org/drawingml/2006/main">
            <a:r>
              <a:t>Recovery</a:t>
            </a:r>
          </a:p>
          <a:p xmlns:a="http://schemas.openxmlformats.org/drawingml/2006/main">
            <a:r>
              <a:t>- For any unsupported item, record the gap and owner; do not mark it complete based only on the deck.</a:t>
            </a:r>
          </a:p>
          <a:p xmlns:a="http://schemas.openxmlformats.org/drawingml/2006/main">
            <a:r>
              <a:t/>
            </a:r>
          </a:p>
          <a:p xmlns:a="http://schemas.openxmlformats.org/drawingml/2006/main">
            <a:r>
              <a:t>Caveats</a:t>
            </a:r>
          </a:p>
          <a:p xmlns:a="http://schemas.openxmlformats.org/drawingml/2006/main">
            <a:r>
              <a:t>- A training peer review is not automatically the independent verification or approval required by a program.</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docs/PitchRateLimiter_Requirements_Traceability.csv</a:t>
            </a:r>
          </a:p>
          <a:p xmlns:a="http://schemas.openxmlformats.org/drawingml/2006/main">
            <a:r>
              <a:t>- results/top_level_codegen_v8_evidence/Build_Evidence_Manifest.txt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 plus walkthrough</a:t>
            </a:r>
          </a:p>
          <a:p xmlns:a="http://schemas.openxmlformats.org/drawingml/2006/main">
            <a:r>
              <a:t/>
            </a:r>
            <a:endParaRPr/>
          </a:p>
          <a:p xmlns:a="http://schemas.openxmlformats.org/drawingml/2006/main">
            <a:r>
              <a:t>Mode: Assurance workflow demonstration</a:t>
            </a:r>
          </a:p>
          <a:p xmlns:a="http://schemas.openxmlformats.org/drawingml/2006/main">
            <a:r>
              <a:t/>
            </a:r>
          </a:p>
          <a:p xmlns:a="http://schemas.openxmlformats.org/drawingml/2006/main">
            <a:r>
              <a:t>Prerequisite: Target component and project check configuration identified.</a:t>
            </a:r>
            <a:endParaRPr/>
          </a:p>
          <a:p xmlns:a="http://schemas.openxmlformats.org/drawingml/2006/main">
            <a:r>
              <a:t/>
            </a:r>
          </a:p>
          <a:p xmlns:a="http://schemas.openxmlformats.org/drawingml/2006/main">
            <a:r>
              <a:t>Use Model Advisor only after the program supplies the component, profile/check IDs, owner, and report path shown as TBD. Then launch Model Advisor, select the approved checks, run them, triage findings, correct or justify them, rerun, and retain the report with model/configuration identity and reviewer disposition.</a:t>
            </a:r>
          </a:p>
          <a:p xmlns:a="http://schemas.openxmlformats.org/drawingml/2006/main">
            <a:r>
              <a:t/>
            </a:r>
            <a:endParaRPr/>
          </a:p>
          <a:p xmlns:a="http://schemas.openxmlformats.org/drawingml/2006/main">
            <a:r>
              <a:t>Do</a:t>
            </a:r>
          </a:p>
          <a:p xmlns:a="http://schemas.openxmlformats.org/drawingml/2006/main">
            <a:r>
              <a:t>- Demonstrate how to open Model Advisor and locate check selection and report controls; label the activity FUTURE unless an approved profile is supplied and executed.</a:t>
            </a:r>
          </a:p>
          <a:p xmlns:a="http://schemas.openxmlformats.org/drawingml/2006/main">
            <a:r>
              <a:t/>
            </a:r>
          </a:p>
          <a:p xmlns:a="http://schemas.openxmlformats.org/drawingml/2006/main">
            <a:r>
              <a:t>Expected</a:t>
            </a:r>
          </a:p>
          <a:p xmlns:a="http://schemas.openxmlformats.org/drawingml/2006/main">
            <a:r>
              <a:t>- The learner can explain how a component would be checked and how findings would be verified and retained.</a:t>
            </a:r>
            <a:endParaRPr/>
          </a:p>
          <a:p xmlns:a="http://schemas.openxmlformats.org/drawingml/2006/main">
            <a:r>
              <a:t/>
            </a:r>
            <a:endParaRPr/>
          </a:p>
          <a:p xmlns:a="http://schemas.openxmlformats.org/drawingml/2006/main">
            <a:r>
              <a:t>Recovery</a:t>
            </a:r>
            <a:endParaRPr/>
          </a:p>
          <a:p xmlns:a="http://schemas.openxmlformats.org/drawingml/2006/main">
            <a:r>
              <a:t>- If no approved check profile, report location, or disposition authority is known, stop at the walkthrough and record the gate Open.</a:t>
            </a:r>
            <a:endParaRPr/>
          </a:p>
          <a:p xmlns:a="http://schemas.openxmlformats.org/drawingml/2006/main">
            <a:r>
              <a:t/>
            </a:r>
            <a:endParaRPr/>
          </a:p>
          <a:p xmlns:a="http://schemas.openxmlformats.org/drawingml/2006/main">
            <a:r>
              <a:t>Caveats</a:t>
            </a:r>
            <a:endParaRPr/>
          </a:p>
          <a:p xmlns:a="http://schemas.openxmlformats.org/drawingml/2006/main">
            <a:r>
              <a:t>- No completed Model Advisor run, approved profile, retained report, or disposition record is supplied in this package.</a:t>
            </a:r>
            <a:endParaRPr/>
          </a:p>
          <a:p xmlns:a="http://schemas.openxmlformats.org/drawingml/2006/main">
            <a:r>
              <a:t>- A passing Advisor run would be one evidence input,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results/MATLAB_ProductInventory.csv</a:t>
            </a:r>
            <a:endParaRPr/>
          </a:p>
          <a:p xmlns:a="http://schemas.openxmlformats.org/drawingml/2006/main">
            <a:r>
              <a:t>- https://www.mathworks.com/help/simulink/model-advisor.html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Mode: Future-evidence placeholder</a:t>
            </a:r>
          </a:p>
          <a:p xmlns:a="http://schemas.openxmlformats.org/drawingml/2006/main">
            <a:r>
              <a:t/>
            </a:r>
          </a:p>
          <a:p xmlns:a="http://schemas.openxmlformats.org/drawingml/2006/main">
            <a:r>
              <a:t>Prerequisite: Slide 35 assurance workflow.</a:t>
            </a:r>
            <a:endParaRPr/>
          </a:p>
          <a:p xmlns:a="http://schemas.openxmlformats.org/drawingml/2006/main">
            <a:r>
              <a:t/>
            </a:r>
          </a:p>
          <a:p xmlns:a="http://schemas.openxmlformats.org/drawingml/2006/main">
            <a:r>
              <a:t>Reserve distinct controlled locations for Polyspace Bug Finder and Code Prover results. Record tool/version, configuration, source or generated-code baseline, findings, dispositions, reviewer, and rerun status when the approved process requires them.</a:t>
            </a:r>
          </a:p>
          <a:p xmlns:a="http://schemas.openxmlformats.org/drawingml/2006/main">
            <a:r>
              <a:t/>
            </a:r>
            <a:endParaRPr/>
          </a:p>
          <a:p xmlns:a="http://schemas.openxmlformats.org/drawingml/2006/main">
            <a:r>
              <a:t>Do</a:t>
            </a:r>
          </a:p>
          <a:p xmlns:a="http://schemas.openxmlformats.org/drawingml/2006/main">
            <a:r>
              <a:t>- Identify the project owner and approved storage location for each future artifact; do not paste an untraceable screenshot into the placeholder.</a:t>
            </a:r>
          </a:p>
          <a:p xmlns:a="http://schemas.openxmlformats.org/drawingml/2006/main">
            <a:r>
              <a:t/>
            </a:r>
          </a:p>
          <a:p xmlns:a="http://schemas.openxmlformats.org/drawingml/2006/main">
            <a:r>
              <a:t>Expected</a:t>
            </a:r>
          </a:p>
          <a:p xmlns:a="http://schemas.openxmlformats.org/drawingml/2006/main">
            <a:r>
              <a:t>- Both placeholders remain visibly Open until traceable reports and dispositions are supplied.</a:t>
            </a:r>
          </a:p>
          <a:p xmlns:a="http://schemas.openxmlformats.org/drawingml/2006/main">
            <a:r>
              <a:t/>
            </a:r>
          </a:p>
          <a:p xmlns:a="http://schemas.openxmlformats.org/drawingml/2006/main">
            <a:r>
              <a:t>Recovery</a:t>
            </a:r>
          </a:p>
          <a:p xmlns:a="http://schemas.openxmlformats.org/drawingml/2006/main">
            <a:r>
              <a:t>- If Polyspace is unavailable or not required, document the authoritative applicability decision instead of implying completion.</a:t>
            </a:r>
          </a:p>
          <a:p xmlns:a="http://schemas.openxmlformats.org/drawingml/2006/main">
            <a:r>
              <a:t/>
            </a:r>
          </a:p>
          <a:p xmlns:a="http://schemas.openxmlformats.org/drawingml/2006/main">
            <a:r>
              <a:t>Caveats</a:t>
            </a:r>
          </a:p>
          <a:p xmlns:a="http://schemas.openxmlformats.org/drawingml/2006/main">
            <a:r>
              <a:t>- No Bug Finder or Code Prover execution or retained result is supplied.</a:t>
            </a:r>
          </a:p>
          <a:p xmlns:a="http://schemas.openxmlformats.org/drawingml/2006/main">
            <a:r>
              <a:t>- Tool availability in an inventory does not mean analysis was run.</a:t>
            </a: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results/MATLAB_ProductInventory.csv</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Standards briefing</a:t>
            </a:r>
          </a:p>
          <a:p xmlns:a="http://schemas.openxmlformats.org/drawingml/2006/main">
            <a:r>
              <a:t/>
            </a:r>
          </a:p>
          <a:p xmlns:a="http://schemas.openxmlformats.org/drawingml/2006/main">
            <a:r>
              <a:t>Prerequisite: Basic model-based development context.</a:t>
            </a:r>
            <a:endParaRPr/>
          </a:p>
          <a:p xmlns:a="http://schemas.openxmlformats.org/drawingml/2006/main">
            <a:r>
              <a:t/>
            </a:r>
          </a:p>
          <a:p xmlns:a="http://schemas.openxmlformats.org/drawingml/2006/main">
            <a:r>
              <a:t>Place the training workflow in context: DO-178C addresses airborne software life-cycle objectives and DO-331 supplies model-based development and verification guidance. Project plans determine applicable objectives, tools, independence, records, and acceptance.</a:t>
            </a:r>
          </a:p>
          <a:p xmlns:a="http://schemas.openxmlformats.org/drawingml/2006/main">
            <a:r>
              <a:t/>
            </a:r>
            <a:endParaRPr/>
          </a:p>
          <a:p xmlns:a="http://schemas.openxmlformats.org/drawingml/2006/main">
            <a:r>
              <a:t>Do</a:t>
            </a:r>
          </a:p>
          <a:p xmlns:a="http://schemas.openxmlformats.org/drawingml/2006/main">
            <a:r>
              <a:t>- Map one training artifact to a plausible life-cycle data category, then identify what approved project plan would be needed to accept it.</a:t>
            </a:r>
          </a:p>
          <a:p xmlns:a="http://schemas.openxmlformats.org/drawingml/2006/main">
            <a:r>
              <a:t/>
            </a:r>
          </a:p>
          <a:p xmlns:a="http://schemas.openxmlformats.org/drawingml/2006/main">
            <a:r>
              <a:t>Expected</a:t>
            </a:r>
          </a:p>
          <a:p xmlns:a="http://schemas.openxmlformats.org/drawingml/2006/main">
            <a:r>
              <a:t>- The learner can discuss relevance without claiming that the package is compliant or certifiable.</a:t>
            </a:r>
          </a:p>
          <a:p xmlns:a="http://schemas.openxmlformats.org/drawingml/2006/main">
            <a:r>
              <a:t/>
            </a:r>
          </a:p>
          <a:p xmlns:a="http://schemas.openxmlformats.org/drawingml/2006/main">
            <a:r>
              <a:t>Recovery</a:t>
            </a:r>
          </a:p>
          <a:p xmlns:a="http://schemas.openxmlformats.org/drawingml/2006/main">
            <a:r>
              <a:t>- For program-specific interpretations, defer to the approved plans, certification authority, and designated engineering/quality roles.</a:t>
            </a:r>
          </a:p>
          <a:p xmlns:a="http://schemas.openxmlformats.org/drawingml/2006/main">
            <a:r>
              <a:t/>
            </a:r>
          </a:p>
          <a:p xmlns:a="http://schemas.openxmlformats.org/drawingml/2006/main">
            <a:r>
              <a:t>Caveats</a:t>
            </a:r>
          </a:p>
          <a:p xmlns:a="http://schemas.openxmlformats.org/drawingml/2006/main">
            <a:r>
              <a:t>- This deck is educational and not a compliance finding, certification basis, or substitute for approved plans.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Assurance briefing</a:t>
            </a:r>
          </a:p>
          <a:p xmlns:a="http://schemas.openxmlformats.org/drawingml/2006/main">
            <a:r>
              <a:t/>
            </a:r>
          </a:p>
          <a:p xmlns:a="http://schemas.openxmlformats.org/drawingml/2006/main">
            <a:r>
              <a:t>Prerequisite: Slide 37.</a:t>
            </a:r>
            <a:endParaRPr/>
          </a:p>
          <a:p xmlns:a="http://schemas.openxmlformats.org/drawingml/2006/main">
            <a:r>
              <a:t/>
            </a:r>
          </a:p>
          <a:p xmlns:a="http://schemas.openxmlformats.org/drawingml/2006/main">
            <a:r>
              <a:t>Software level and independence affect the rigor and separation of verification activities, but they are assigned by the program's safety and certification process. The model author should know who may independently verify and who may approve each record.</a:t>
            </a:r>
          </a:p>
          <a:p xmlns:a="http://schemas.openxmlformats.org/drawingml/2006/main">
            <a:r>
              <a:t/>
            </a:r>
            <a:endParaRPr/>
          </a:p>
          <a:p xmlns:a="http://schemas.openxmlformats.org/drawingml/2006/main">
            <a:r>
              <a:t>Do</a:t>
            </a:r>
          </a:p>
          <a:p xmlns:a="http://schemas.openxmlformats.org/drawingml/2006/main">
            <a:r>
              <a:t>- Identify the program-defined software level, required independence, verifier, and approver for the learner's actual project; leave blanks for this training package.</a:t>
            </a:r>
          </a:p>
          <a:p xmlns:a="http://schemas.openxmlformats.org/drawingml/2006/main">
            <a:r>
              <a:t/>
            </a:r>
          </a:p>
          <a:p xmlns:a="http://schemas.openxmlformats.org/drawingml/2006/main">
            <a:r>
              <a:t>Expected</a:t>
            </a:r>
          </a:p>
          <a:p xmlns:a="http://schemas.openxmlformats.org/drawingml/2006/main">
            <a:r>
              <a:t>- The learner distinguishes author, reviewer/independent verifier when required, and approving authority.</a:t>
            </a:r>
          </a:p>
          <a:p xmlns:a="http://schemas.openxmlformats.org/drawingml/2006/main">
            <a:r>
              <a:t/>
            </a:r>
          </a:p>
          <a:p xmlns:a="http://schemas.openxmlformats.org/drawingml/2006/main">
            <a:r>
              <a:t>Recovery</a:t>
            </a:r>
          </a:p>
          <a:p xmlns:a="http://schemas.openxmlformats.org/drawingml/2006/main">
            <a:r>
              <a:t>- If roles or level are unknown, treat sign-off as Open and escalate to engineering assurance or certification leadership.</a:t>
            </a:r>
          </a:p>
          <a:p xmlns:a="http://schemas.openxmlformats.org/drawingml/2006/main">
            <a:r>
              <a:t/>
            </a:r>
          </a:p>
          <a:p xmlns:a="http://schemas.openxmlformats.org/drawingml/2006/main">
            <a:r>
              <a:t>Caveats</a:t>
            </a:r>
          </a:p>
          <a:p xmlns:a="http://schemas.openxmlformats.org/drawingml/2006/main">
            <a:r>
              <a:t>- No software level or program-specific independence determination is assigned by this training package.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Traceability briefing</a:t>
            </a:r>
          </a:p>
          <a:p xmlns:a="http://schemas.openxmlformats.org/drawingml/2006/main">
            <a:r>
              <a:t/>
            </a:r>
          </a:p>
          <a:p xmlns:a="http://schemas.openxmlformats.org/drawingml/2006/main">
            <a:r>
              <a:t>Prerequisite: Slides 31 and 37-38.</a:t>
            </a:r>
            <a:endParaRPr/>
          </a:p>
          <a:p xmlns:a="http://schemas.openxmlformats.org/drawingml/2006/main">
            <a:r>
              <a:t/>
            </a:r>
          </a:p>
          <a:p xmlns:a="http://schemas.openxmlformats.org/drawingml/2006/main">
            <a:r>
              <a:t>Use bidirectional traceability across allocated requirement, model implementation, verification method, acceptance criterion, execution evidence, result, review, and disposition. The training CSV demonstrates a small local chain; a production process needs the approved system of record.</a:t>
            </a:r>
          </a:p>
          <a:p xmlns:a="http://schemas.openxmlformats.org/drawingml/2006/main">
            <a:r>
              <a:t/>
            </a:r>
            <a:endParaRPr/>
          </a:p>
          <a:p xmlns:a="http://schemas.openxmlformats.org/drawingml/2006/main">
            <a:r>
              <a:t>Do</a:t>
            </a:r>
          </a:p>
          <a:p xmlns:a="http://schemas.openxmlformats.org/drawingml/2006/main">
            <a:r>
              <a:t>- Trace PRL-004 forward to its checks and backward from a retained pass row to its requirement ID.</a:t>
            </a:r>
          </a:p>
          <a:p xmlns:a="http://schemas.openxmlformats.org/drawingml/2006/main">
            <a:r>
              <a:t/>
            </a:r>
          </a:p>
          <a:p xmlns:a="http://schemas.openxmlformats.org/drawingml/2006/main">
            <a:r>
              <a:t>Expected</a:t>
            </a:r>
          </a:p>
          <a:p xmlns:a="http://schemas.openxmlformats.org/drawingml/2006/main">
            <a:r>
              <a:t>- The learner can identify missing links, not just follow a one-way hyperlink.</a:t>
            </a:r>
          </a:p>
          <a:p xmlns:a="http://schemas.openxmlformats.org/drawingml/2006/main">
            <a:r>
              <a:t/>
            </a:r>
          </a:p>
          <a:p xmlns:a="http://schemas.openxmlformats.org/drawingml/2006/main">
            <a:r>
              <a:t>Recovery</a:t>
            </a:r>
          </a:p>
          <a:p xmlns:a="http://schemas.openxmlformats.org/drawingml/2006/main">
            <a:r>
              <a:t>- Record any orphan requirement, model behavior, or evidence artifact and assign an owner before baseline closure.</a:t>
            </a:r>
          </a:p>
          <a:p xmlns:a="http://schemas.openxmlformats.org/drawingml/2006/main">
            <a:r>
              <a:t/>
            </a:r>
          </a:p>
          <a:p xmlns:a="http://schemas.openxmlformats.org/drawingml/2006/main">
            <a:r>
              <a:t>Caveats</a:t>
            </a:r>
          </a:p>
          <a:p xmlns:a="http://schemas.openxmlformats.org/drawingml/2006/main">
            <a:r>
              <a:t>- A CSV trace matrix is instructional here; it is not automatically an approved requirements-management baseline.</a:t>
            </a:r>
          </a:p>
          <a:p xmlns:a="http://schemas.openxmlformats.org/drawingml/2006/main">
            <a:r>
              <a:t/>
            </a:r>
          </a:p>
          <a:p xmlns:a="http://schemas.openxmlformats.org/drawingml/2006/main">
            <a:r>
              <a:t>[Sources]</a:t>
            </a:r>
          </a:p>
          <a:p xmlns:a="http://schemas.openxmlformats.org/drawingml/2006/main">
            <a:r>
              <a:t>- docs/PitchRateLimiter_Requirements_Traceability.csv</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Mode: Evidence-labeling briefing</a:t>
            </a:r>
          </a:p>
          <a:p xmlns:a="http://schemas.openxmlformats.org/drawingml/2006/main">
            <a:r>
              <a:t/>
            </a:r>
          </a:p>
          <a:p xmlns:a="http://schemas.openxmlformats.org/drawingml/2006/main">
            <a:r>
              <a:t>Prerequisite: Slide 39.</a:t>
            </a:r>
            <a:endParaRPr/>
          </a:p>
          <a:p xmlns:a="http://schemas.openxmlformats.org/drawingml/2006/main">
            <a:r>
              <a:t/>
            </a:r>
          </a:p>
          <a:p xmlns:a="http://schemas.openxmlformats.org/drawingml/2006/main">
            <a:r>
              <a:t>The PRL identifiers displayed in the deck and CSV are presentation/training IDs. They provide readable trace examples but are not live Requirements Toolbox objects or links to an approved external requirement baseline.</a:t>
            </a:r>
          </a:p>
          <a:p xmlns:a="http://schemas.openxmlformats.org/drawingml/2006/main">
            <a:r>
              <a:t/>
            </a:r>
            <a:endParaRPr/>
          </a:p>
          <a:p xmlns:a="http://schemas.openxmlformats.org/drawingml/2006/main">
            <a:r>
              <a:t>Do</a:t>
            </a:r>
          </a:p>
          <a:p xmlns:a="http://schemas.openxmlformats.org/drawingml/2006/main">
            <a:r>
              <a:t>- Locate where each displayed ID is defined and where it appears in retained result rows.</a:t>
            </a:r>
          </a:p>
          <a:p xmlns:a="http://schemas.openxmlformats.org/drawingml/2006/main">
            <a:r>
              <a:t/>
            </a:r>
          </a:p>
          <a:p xmlns:a="http://schemas.openxmlformats.org/drawingml/2006/main">
            <a:r>
              <a:t>Expected</a:t>
            </a:r>
          </a:p>
          <a:p xmlns:a="http://schemas.openxmlformats.org/drawingml/2006/main">
            <a:r>
              <a:t>- The learner labels the IDs accurately and does not imply live requirement-link status.</a:t>
            </a:r>
          </a:p>
          <a:p xmlns:a="http://schemas.openxmlformats.org/drawingml/2006/main">
            <a:r>
              <a:t/>
            </a:r>
          </a:p>
          <a:p xmlns:a="http://schemas.openxmlformats.org/drawingml/2006/main">
            <a:r>
              <a:t>Recovery</a:t>
            </a:r>
          </a:p>
          <a:p xmlns:a="http://schemas.openxmlformats.org/drawingml/2006/main">
            <a:r>
              <a:t>- If a project requires live links, create them only in the approved requirements repository and retain link-verification evidence.</a:t>
            </a:r>
          </a:p>
          <a:p xmlns:a="http://schemas.openxmlformats.org/drawingml/2006/main">
            <a:r>
              <a:t/>
            </a:r>
          </a:p>
          <a:p xmlns:a="http://schemas.openxmlformats.org/drawingml/2006/main">
            <a:r>
              <a:t>Caveats</a:t>
            </a:r>
          </a:p>
          <a:p xmlns:a="http://schemas.openxmlformats.org/drawingml/2006/main">
            <a:r>
              <a:t>- No Requirements Toolbox link set or approved requirements database is supplied.</a:t>
            </a:r>
          </a:p>
          <a:p xmlns:a="http://schemas.openxmlformats.org/drawingml/2006/main">
            <a:r>
              <a:t/>
            </a:r>
          </a:p>
          <a:p xmlns:a="http://schemas.openxmlformats.org/drawingml/2006/main">
            <a:r>
              <a:t>[Sources]</a:t>
            </a: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Conceptual workflow</a:t>
            </a:r>
          </a:p>
          <a:p xmlns:a="http://schemas.openxmlformats.org/drawingml/2006/main">
            <a:r>
              <a:t/>
            </a:r>
          </a:p>
          <a:p xmlns:a="http://schemas.openxmlformats.org/drawingml/2006/main">
            <a:r>
              <a:t>Prerequisite: Controlled local workflow understood.</a:t>
            </a:r>
            <a:endParaRPr/>
          </a:p>
          <a:p xmlns:a="http://schemas.openxmlformats.org/drawingml/2006/main">
            <a:r>
              <a:t/>
            </a:r>
          </a:p>
          <a:p xmlns:a="http://schemas.openxmlformats.org/drawingml/2006/main">
            <a:r>
              <a:t>A CI lane would establish the environment, restore controlled data, update models, run authorized tests, build selected targets, validate artifacts, archive logs, and publish status with traceable provenance. This package supplies local scripts but no executed Jenkins pipeline.</a:t>
            </a:r>
          </a:p>
          <a:p xmlns:a="http://schemas.openxmlformats.org/drawingml/2006/main">
            <a:r>
              <a:t/>
            </a:r>
            <a:endParaRPr/>
          </a:p>
          <a:p xmlns:a="http://schemas.openxmlformats.org/drawingml/2006/main">
            <a:r>
              <a:t>Do</a:t>
            </a:r>
          </a:p>
          <a:p xmlns:a="http://schemas.openxmlformats.org/drawingml/2006/main">
            <a:r>
              <a:t>- Map each local script to a possible CI stage and identify required credentials, licenses, artifact retention, and failure gates.</a:t>
            </a:r>
          </a:p>
          <a:p xmlns:a="http://schemas.openxmlformats.org/drawingml/2006/main">
            <a:r>
              <a:t/>
            </a:r>
          </a:p>
          <a:p xmlns:a="http://schemas.openxmlformats.org/drawingml/2006/main">
            <a:r>
              <a:t>Expected</a:t>
            </a:r>
          </a:p>
          <a:p xmlns:a="http://schemas.openxmlformats.org/drawingml/2006/main">
            <a:r>
              <a:t>- The learner produces a conceptual pipeline without claiming that automation has run.</a:t>
            </a:r>
            <a:endParaRPr/>
          </a:p>
          <a:p xmlns:a="http://schemas.openxmlformats.org/drawingml/2006/main">
            <a:r>
              <a:t/>
            </a:r>
            <a:endParaRPr/>
          </a:p>
          <a:p xmlns:a="http://schemas.openxmlformats.org/drawingml/2006/main">
            <a:r>
              <a:t>Recovery</a:t>
            </a:r>
            <a:endParaRPr/>
          </a:p>
          <a:p xmlns:a="http://schemas.openxmlformats.org/drawingml/2006/main">
            <a:r>
              <a:t>- If CI evidence is required, implement and execute it under the project's infrastructure and configuration-management process.</a:t>
            </a:r>
            <a:endParaRPr/>
          </a:p>
          <a:p xmlns:a="http://schemas.openxmlformats.org/drawingml/2006/main">
            <a:r>
              <a:t/>
            </a:r>
            <a:endParaRPr/>
          </a:p>
          <a:p xmlns:a="http://schemas.openxmlformats.org/drawingml/2006/main">
            <a:r>
              <a:t>Caveats</a:t>
            </a:r>
            <a:endParaRPr/>
          </a:p>
          <a:p xmlns:a="http://schemas.openxmlformats.org/drawingml/2006/main">
            <a:r>
              <a:t>- Jenkins executed: NO.</a:t>
            </a:r>
            <a:endParaRPr/>
          </a:p>
          <a:p xmlns:a="http://schemas.openxmlformats.org/drawingml/2006/main">
            <a:r>
              <a:t>- A conceptual CI diagram is not an executed pipeline or qualification record.</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scripts/refresh_onboarding_artifacts.m</a:t>
            </a:r>
            <a:endParaRPr/>
          </a:p>
          <a:p xmlns:a="http://schemas.openxmlformats.org/drawingml/2006/main">
            <a:r>
              <a:t>- scripts/build_top_level_grt_evidence.m</a:t>
            </a:r>
            <a:endParaRPr/>
          </a:p>
          <a:p xmlns:a="http://schemas.openxmlformats.org/drawingml/2006/main">
            <a:r>
              <a:t>- 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Troubleshooting briefing</a:t>
            </a:r>
          </a:p>
          <a:p xmlns:a="http://schemas.openxmlformats.org/drawingml/2006/main">
            <a:r>
              <a:t/>
            </a:r>
          </a:p>
          <a:p xmlns:a="http://schemas.openxmlformats.org/drawingml/2006/main">
            <a:r>
              <a:t>Prerequisite: Slides 19-29.</a:t>
            </a:r>
            <a:endParaRPr/>
          </a:p>
          <a:p xmlns:a="http://schemas.openxmlformats.org/drawingml/2006/main">
            <a:r>
              <a:t/>
            </a:r>
          </a:p>
          <a:p xmlns:a="http://schemas.openxmlformats.org/drawingml/2006/main">
            <a:r>
              <a:t>Classify before fixing: environment/path, controlled data, model update/interface, simulation/input, oracle/acceptance, export/provenance, build, or assurance/sign-off. The earliest failing gate usually provides the clearest diagnostic.</a:t>
            </a:r>
          </a:p>
          <a:p xmlns:a="http://schemas.openxmlformats.org/drawingml/2006/main">
            <a:r>
              <a:t/>
            </a:r>
            <a:endParaRPr/>
          </a:p>
          <a:p xmlns:a="http://schemas.openxmlformats.org/drawingml/2006/main">
            <a:r>
              <a:t>Do</a:t>
            </a:r>
          </a:p>
          <a:p xmlns:a="http://schemas.openxmlformats.org/drawingml/2006/main">
            <a:r>
              <a:t>- For a sample failure, record the command, target, first diagnostic, affected artifact, and category before changing anything.</a:t>
            </a:r>
          </a:p>
          <a:p xmlns:a="http://schemas.openxmlformats.org/drawingml/2006/main">
            <a:r>
              <a:t/>
            </a:r>
          </a:p>
          <a:p xmlns:a="http://schemas.openxmlformats.org/drawingml/2006/main">
            <a:r>
              <a:t>Expected</a:t>
            </a:r>
          </a:p>
          <a:p xmlns:a="http://schemas.openxmlformats.org/drawingml/2006/main">
            <a:r>
              <a:t>- The learner proposes a scoped recovery that preserves evidence and avoids destructive regeneration.</a:t>
            </a:r>
          </a:p>
          <a:p xmlns:a="http://schemas.openxmlformats.org/drawingml/2006/main">
            <a:r>
              <a:t/>
            </a:r>
          </a:p>
          <a:p xmlns:a="http://schemas.openxmlformats.org/drawingml/2006/main">
            <a:r>
              <a:t>Recovery</a:t>
            </a:r>
          </a:p>
          <a:p xmlns:a="http://schemas.openxmlformats.org/drawingml/2006/main">
            <a:r>
              <a:t>- Return to the last passing gate, correct one root cause, rerun only the dependent controlled stages, and retain diagnostics and dispositions.</a:t>
            </a:r>
          </a:p>
          <a:p xmlns:a="http://schemas.openxmlformats.org/drawingml/2006/main">
            <a:r>
              <a:t/>
            </a:r>
          </a:p>
          <a:p xmlns:a="http://schemas.openxmlformats.org/drawingml/2006/main">
            <a:r>
              <a:t>Caveats</a:t>
            </a:r>
          </a:p>
          <a:p xmlns:a="http://schemas.openxmlformats.org/drawingml/2006/main">
            <a:r>
              <a:t>- Do not reclassify an unperformed assurance gate as a technical pass/fail.</a:t>
            </a:r>
          </a:p>
          <a:p xmlns:a="http://schemas.openxmlformats.org/drawingml/2006/main">
            <a:r>
              <a:t>- Do not overwrite retained evidence while investigating an unexplained discrepancy.</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scripts/validate_training_project.m</a:t>
            </a:r>
          </a:p>
          <a:p xmlns:a="http://schemas.openxmlformats.org/drawingml/2006/main">
            <a:r>
              <a:t>- scripts/run_pitch_rate_limiter_tests.m</a:t>
            </a:r>
          </a:p>
          <a:p xmlns:a="http://schemas.openxmlformats.org/drawingml/2006/main">
            <a:r>
              <a:t>- scripts/build_top_level_grt_evidence.m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Mode: Status boundary</a:t>
            </a:r>
          </a:p>
          <a:p xmlns:a="http://schemas.openxmlformats.org/drawingml/2006/main">
            <a:r>
              <a:t/>
            </a:r>
          </a:p>
          <a:p xmlns:a="http://schemas.openxmlformats.org/drawingml/2006/main">
            <a:r>
              <a:t>Prerequisite: Slides 23-24 and 35-42.</a:t>
            </a:r>
            <a:endParaRPr/>
          </a:p>
          <a:p xmlns:a="http://schemas.openxmlformats.org/drawingml/2006/main">
            <a:r>
              <a:t/>
            </a:r>
          </a:p>
          <a:p xmlns:a="http://schemas.openxmlformats.org/drawingml/2006/main">
            <a:r>
              <a:t>Keep the PIL badge explicit: NOT PERFORMED. A successful desktop GRT build produces code and an executable; it does not execute that code in SIL or PIL or compare code behavior with the model.</a:t>
            </a:r>
          </a:p>
          <a:p xmlns:a="http://schemas.openxmlformats.org/drawingml/2006/main">
            <a:r>
              <a:t/>
            </a:r>
            <a:endParaRPr/>
          </a:p>
          <a:p xmlns:a="http://schemas.openxmlformats.org/drawingml/2006/main">
            <a:r>
              <a:t>Do</a:t>
            </a:r>
          </a:p>
          <a:p xmlns:a="http://schemas.openxmlformats.org/drawingml/2006/main">
            <a:r>
              <a:t>- Point to Executable executed: NO, Code-generation validation run: NO, and SIL/PIL run: NO in the build manifest.</a:t>
            </a:r>
          </a:p>
          <a:p xmlns:a="http://schemas.openxmlformats.org/drawingml/2006/main">
            <a:r>
              <a:t/>
            </a:r>
          </a:p>
          <a:p xmlns:a="http://schemas.openxmlformats.org/drawingml/2006/main">
            <a:r>
              <a:t>Expected</a:t>
            </a:r>
          </a:p>
          <a:p xmlns:a="http://schemas.openxmlformats.org/drawingml/2006/main">
            <a:r>
              <a:t>- The learner can explain why 5/5 build success does not change PIL status.</a:t>
            </a:r>
            <a:endParaRPr/>
          </a:p>
          <a:p xmlns:a="http://schemas.openxmlformats.org/drawingml/2006/main">
            <a:r>
              <a:t/>
            </a:r>
            <a:endParaRPr/>
          </a:p>
          <a:p xmlns:a="http://schemas.openxmlformats.org/drawingml/2006/main">
            <a:r>
              <a:t>Recovery</a:t>
            </a:r>
            <a:endParaRPr/>
          </a:p>
          <a:p xmlns:a="http://schemas.openxmlformats.org/drawingml/2006/main">
            <a:r>
              <a:t>- If PIL is required, obtain the target, harness, comparison criteria, tools, and approved procedure, then retain a separate execution record.</a:t>
            </a:r>
            <a:endParaRPr/>
          </a:p>
          <a:p xmlns:a="http://schemas.openxmlformats.org/drawingml/2006/main">
            <a:r>
              <a:t/>
            </a:r>
            <a:endParaRPr/>
          </a:p>
          <a:p xmlns:a="http://schemas.openxmlformats.org/drawingml/2006/main">
            <a:r>
              <a:t>Caveats</a:t>
            </a:r>
            <a:endParaRPr/>
          </a:p>
          <a:p xmlns:a="http://schemas.openxmlformats.org/drawingml/2006/main">
            <a:r>
              <a:t>- No SIL, PIL, HIL, bench, or target execution evidence is supplied.</a:t>
            </a:r>
            <a:endParaRPr/>
          </a:p>
          <a:p xmlns:a="http://schemas.openxmlformats.org/drawingml/2006/main">
            <a:r>
              <a:t/>
            </a:r>
            <a:endParaRPr/>
          </a:p>
          <a:p xmlns:a="http://schemas.openxmlformats.org/drawingml/2006/main">
            <a:r>
              <a:t>[Sources]</a:t>
            </a:r>
            <a:endParaRPr/>
          </a:p>
          <a:p xmlns:a="http://schemas.openxmlformats.org/drawingml/2006/main">
            <a:r>
              <a:t>- results/top_level_codegen_v8_evidence/Build_Evidence_Manifest.txt</a:t>
            </a:r>
            <a:endParaRPr/>
          </a:p>
          <a:p xmlns:a="http://schemas.openxmlformats.org/drawingml/2006/main">
            <a:r>
              <a:t>- results/environment_inventory.txt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Validation-status review</a:t>
            </a:r>
          </a:p>
          <a:p xmlns:a="http://schemas.openxmlformats.org/drawingml/2006/main">
            <a:r>
              <a:t/>
            </a:r>
          </a:p>
          <a:p xmlns:a="http://schemas.openxmlformats.org/drawingml/2006/main">
            <a:r>
              <a:t>Prerequisite: Current results/validation_summary.txt available.</a:t>
            </a:r>
            <a:endParaRPr/>
          </a:p>
          <a:p xmlns:a="http://schemas.openxmlformats.org/drawingml/2006/main">
            <a:r>
              <a:t/>
            </a:r>
            <a:endParaRPr/>
          </a:p>
          <a:p xmlns:a="http://schemas.openxmlformats.org/drawingml/2006/main">
            <a:r>
              <a:t>Read validator status with scope and freshness. It updates eight delivered models and requires every saved Model-reference mode to be Normal. On the Student license it accepts only the exact known Model-block fallback message for the two parent models; any other warning fails. It reads the retained limiter CSV and checks 24 named paths, but does not rerun the suite or establish freshness/hashes.</a:t>
            </a:r>
            <a:endParaRPr/>
          </a:p>
          <a:p xmlns:a="http://schemas.openxmlformats.org/drawingml/2006/main">
            <a:r>
              <a:t/>
            </a:r>
            <a:endParaRPr/>
          </a:p>
          <a:p xmlns:a="http://schemas.openxmlformats.org/drawingml/2006/main">
            <a:r>
              <a:t>Do</a:t>
            </a:r>
            <a:endParaRPr/>
          </a:p>
          <a:p xmlns:a="http://schemas.openxmlformats.org/drawingml/2006/main">
            <a:r>
              <a:t>- Open scripts/validate_training_project.m beside the summary and connect each reported count to the code that produces it.</a:t>
            </a:r>
            <a:endParaRPr/>
          </a:p>
          <a:p xmlns:a="http://schemas.openxmlformats.org/drawingml/2006/main">
            <a:r>
              <a:t/>
            </a:r>
            <a:endParaRPr/>
          </a:p>
          <a:p xmlns:a="http://schemas.openxmlformats.org/drawingml/2006/main">
            <a:r>
              <a:t>Expected</a:t>
            </a:r>
          </a:p>
          <a:p xmlns:a="http://schemas.openxmlformats.org/drawingml/2006/main">
            <a:r>
              <a:t>- The learner states 8/8, 19/19, and 24/24 accurately and includes each limitation.</a:t>
            </a:r>
          </a:p>
          <a:p xmlns:a="http://schemas.openxmlformats.org/drawingml/2006/main">
            <a:r>
              <a:t/>
            </a:r>
          </a:p>
          <a:p xmlns:a="http://schemas.openxmlformats.org/drawingml/2006/main">
            <a:r>
              <a:t>Recovery</a:t>
            </a:r>
          </a:p>
          <a:p xmlns:a="http://schemas.openxmlformats.org/drawingml/2006/main">
            <a:r>
              <a:t>- If current evidence is needed, rerun the controlled producers first, then the validator; preserve the old evidence set according to project rules.</a:t>
            </a:r>
          </a:p>
          <a:p xmlns:a="http://schemas.openxmlformats.org/drawingml/2006/main">
            <a:r>
              <a:t/>
            </a:r>
          </a:p>
          <a:p xmlns:a="http://schemas.openxmlformats.org/drawingml/2006/main">
            <a:r>
              <a:t>Caveats</a:t>
            </a:r>
          </a:p>
          <a:p xmlns:a="http://schemas.openxmlformats.org/drawingml/2006/main">
            <a:r>
              <a:t>- Overall PASS is limited to the checks implemented by this validator.</a:t>
            </a:r>
          </a:p>
          <a:p xmlns:a="http://schemas.openxmlformats.org/drawingml/2006/main">
            <a:r>
              <a:t>- Required-file presence is not proof of content correctness, freshness, or common provenance.</a:t>
            </a:r>
          </a:p>
          <a:p xmlns:a="http://schemas.openxmlformats.org/drawingml/2006/main">
            <a:r>
              <a:t>- HIL executed: NO; Jenkins executed: NO.</a:t>
            </a: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Evidence-boundary briefing</a:t>
            </a:r>
          </a:p>
          <a:p xmlns:a="http://schemas.openxmlformats.org/drawingml/2006/main">
            <a:r>
              <a:t/>
            </a:r>
          </a:p>
          <a:p xmlns:a="http://schemas.openxmlformats.org/drawingml/2006/main">
            <a:r>
              <a:t>Prerequisite: Slides 2-3 and 35-44.</a:t>
            </a:r>
            <a:endParaRPr/>
          </a:p>
          <a:p xmlns:a="http://schemas.openxmlformats.org/drawingml/2006/main">
            <a:r>
              <a:t/>
            </a:r>
          </a:p>
          <a:p xmlns:a="http://schemas.openxmlformats.org/drawingml/2006/main">
            <a:r>
              <a:t>Summarize what is retained versus explained versus future. Retained: saved models/data, update status, desktop-MIL runs, limiter oracle outputs, SDI artifacts, inventories, and one desktop GRT build. Explained: settings, logging/test-point choices, Advisor workflow, CI concept, and assurance context. Future: executed Advisor/Polyspace, SIL/PIL/HIL, production-code approval, and signed project records.</a:t>
            </a:r>
          </a:p>
          <a:p xmlns:a="http://schemas.openxmlformats.org/drawingml/2006/main">
            <a:r>
              <a:t/>
            </a:r>
            <a:endParaRPr/>
          </a:p>
          <a:p xmlns:a="http://schemas.openxmlformats.org/drawingml/2006/main">
            <a:r>
              <a:t>Do</a:t>
            </a:r>
          </a:p>
          <a:p xmlns:a="http://schemas.openxmlformats.org/drawingml/2006/main">
            <a:r>
              <a:t>- For every claimed result, name the exact file. For every future gate, name the required owner or authoritative process.</a:t>
            </a:r>
          </a:p>
          <a:p xmlns:a="http://schemas.openxmlformats.org/drawingml/2006/main">
            <a:r>
              <a:t/>
            </a:r>
          </a:p>
          <a:p xmlns:a="http://schemas.openxmlformats.org/drawingml/2006/main">
            <a:r>
              <a:t>Expected</a:t>
            </a:r>
          </a:p>
          <a:p xmlns:a="http://schemas.openxmlformats.org/drawingml/2006/main">
            <a:r>
              <a:t>- No slide placeholder or instructional workflow is mistaken for completed evidence.</a:t>
            </a:r>
            <a:endParaRPr/>
          </a:p>
          <a:p xmlns:a="http://schemas.openxmlformats.org/drawingml/2006/main">
            <a:r>
              <a:t/>
            </a:r>
            <a:endParaRPr/>
          </a:p>
          <a:p xmlns:a="http://schemas.openxmlformats.org/drawingml/2006/main">
            <a:r>
              <a:t>Recovery</a:t>
            </a:r>
            <a:endParaRPr/>
          </a:p>
          <a:p xmlns:a="http://schemas.openxmlformats.org/drawingml/2006/main">
            <a:r>
              <a:t>- Remove or qualify any claim that lacks a retained artifact or authoritative disposition.</a:t>
            </a:r>
            <a:endParaRPr/>
          </a:p>
          <a:p xmlns:a="http://schemas.openxmlformats.org/drawingml/2006/main">
            <a:r>
              <a:t/>
            </a:r>
            <a:endParaRPr/>
          </a:p>
          <a:p xmlns:a="http://schemas.openxmlformats.org/drawingml/2006/main">
            <a:r>
              <a:t>Caveats</a:t>
            </a:r>
            <a:endParaRPr/>
          </a:p>
          <a:p xmlns:a="http://schemas.openxmlformats.org/drawingml/2006/main">
            <a:r>
              <a:t>- Desktop-MIL and GRT training evidence do not establish production-aircraft suitability or certification compliance.</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results/validation_summary.txt</a:t>
            </a:r>
            <a:endParaRPr/>
          </a:p>
          <a:p xmlns:a="http://schemas.openxmlformats.org/drawingml/2006/main">
            <a:r>
              <a:t>- results/top_level_codegen_v8_evidence/Build_Evidence_Manifest.txt</a:t>
            </a:r>
            <a:endParaRPr/>
          </a:p>
          <a:p xmlns:a="http://schemas.openxmlformats.org/drawingml/2006/main">
            <a:r>
              <a:t>- results/environment_inventory.txt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Mode: Sign-off placeholder walkthrough</a:t>
            </a:r>
          </a:p>
          <a:p xmlns:a="http://schemas.openxmlformats.org/drawingml/2006/main">
            <a:r>
              <a:t/>
            </a:r>
          </a:p>
          <a:p xmlns:a="http://schemas.openxmlformats.org/drawingml/2006/main">
            <a:r>
              <a:t>Prerequisite: Program-defined completion form, roles, and authority identified.</a:t>
            </a:r>
            <a:endParaRPr/>
          </a:p>
          <a:p xmlns:a="http://schemas.openxmlformats.org/drawingml/2006/main">
            <a:r>
              <a:t/>
            </a:r>
          </a:p>
          <a:p xmlns:a="http://schemas.openxmlformats.org/drawingml/2006/main">
            <a:r>
              <a:t>Treat RCF as the user's project-defined completion-record placeholder, not a universal acronym or authority. The visible form/path, process owner, and trigger remain TBD until the approved process supplies them. Only then should the record identify model/version/requirements/evidence/configuration/findings and required signatures/dates.</a:t>
            </a:r>
          </a:p>
          <a:p xmlns:a="http://schemas.openxmlformats.org/drawingml/2006/main">
            <a:r>
              <a:t/>
            </a:r>
            <a:endParaRPr/>
          </a:p>
          <a:p xmlns:a="http://schemas.openxmlformats.org/drawingml/2006/main">
            <a:r>
              <a:t>Do</a:t>
            </a:r>
          </a:p>
          <a:p xmlns:a="http://schemas.openxmlformats.org/drawingml/2006/main">
            <a:r>
              <a:t>- Locate the approved program form and storage location; identify owner, trigger, required signers, and the evidence package it references.</a:t>
            </a:r>
          </a:p>
          <a:p xmlns:a="http://schemas.openxmlformats.org/drawingml/2006/main">
            <a:r>
              <a:t/>
            </a:r>
          </a:p>
          <a:p xmlns:a="http://schemas.openxmlformats.org/drawingml/2006/main">
            <a:r>
              <a:t>Expected</a:t>
            </a:r>
          </a:p>
          <a:p xmlns:a="http://schemas.openxmlformats.org/drawingml/2006/main">
            <a:r>
              <a:t>- The slide remains an Open placeholder until the approved record is completed and signed after model and verification closure.</a:t>
            </a:r>
            <a:endParaRPr/>
          </a:p>
          <a:p xmlns:a="http://schemas.openxmlformats.org/drawingml/2006/main">
            <a:r>
              <a:t/>
            </a:r>
            <a:endParaRPr/>
          </a:p>
          <a:p xmlns:a="http://schemas.openxmlformats.org/drawingml/2006/main">
            <a:r>
              <a:t>Recovery</a:t>
            </a:r>
            <a:endParaRPr/>
          </a:p>
          <a:p xmlns:a="http://schemas.openxmlformats.org/drawingml/2006/main">
            <a:r>
              <a:t>- If the form, meaning, or authority is unknown, do not invent one; escalate to the project's quality/certification owner and keep the gate Open.</a:t>
            </a:r>
            <a:endParaRPr/>
          </a:p>
          <a:p xmlns:a="http://schemas.openxmlformats.org/drawingml/2006/main">
            <a:r>
              <a:t/>
            </a:r>
            <a:endParaRPr/>
          </a:p>
          <a:p xmlns:a="http://schemas.openxmlformats.org/drawingml/2006/main">
            <a:r>
              <a:t>Caveats</a:t>
            </a:r>
            <a:endParaRPr/>
          </a:p>
          <a:p xmlns:a="http://schemas.openxmlformats.org/drawingml/2006/main">
            <a:r>
              <a:t>- No RCF, signature, independent-verification record, or approval record is supplied in this training package.</a:t>
            </a:r>
            <a:endParaRPr/>
          </a:p>
          <a:p xmlns:a="http://schemas.openxmlformats.org/drawingml/2006/main">
            <a:r>
              <a:t>- Passing MIL, Model Advisor, or Polyspace checks would be evidence inputs, not substitutes for required review and acceptance.</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docs/PitchRateLimiter_Requirements_Traceability.csv</a:t>
            </a:r>
            <a:endParaRPr/>
          </a:p>
          <a:p xmlns:a="http://schemas.openxmlformats.org/drawingml/2006/main">
            <a:r>
              <a:t>- https://www.faa.gov/documentLibrary/media/Order/FAA_Order_8110.49A.pdf</a:t>
            </a:r>
            <a:endParaRPr/>
          </a:p>
          <a:p xmlns:a="http://schemas.openxmlformats.org/drawingml/2006/main">
            <a:r>
              <a:t>- https://www.nasa.gov/reference/systems-engineering-handbook/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15-25 minutes</a:t>
            </a:r>
          </a:p>
          <a:p xmlns:a="http://schemas.openxmlformats.org/drawingml/2006/main">
            <a:r>
              <a:t/>
            </a:r>
            <a:endParaRPr/>
          </a:p>
          <a:p xmlns:a="http://schemas.openxmlformats.org/drawingml/2006/main">
            <a:r>
              <a:t>Mode: Capstone exercise</a:t>
            </a:r>
          </a:p>
          <a:p xmlns:a="http://schemas.openxmlformats.org/drawingml/2006/main">
            <a:r>
              <a:t/>
            </a:r>
          </a:p>
          <a:p xmlns:a="http://schemas.openxmlformats.org/drawingml/2006/main">
            <a:r>
              <a:t>Prerequisite: Core slides 1-46 reviewed; write permission only where authorized.</a:t>
            </a:r>
            <a:endParaRPr/>
          </a:p>
          <a:p xmlns:a="http://schemas.openxmlformats.org/drawingml/2006/main">
            <a:r>
              <a:t/>
            </a:r>
          </a:p>
          <a:p xmlns:a="http://schemas.openxmlformats.org/drawingml/2006/main">
            <a:r>
              <a:t>Demonstrate the learner-owned chain end to end: preflight, unique tag, safe practice component + matching harness creation, Ctrl+D, practice-driver execution, learner-local 19/19 interpretation, SDI causal reading, dictionary access, one requirement trace, and open-gate declaration. Reproducing the delivered baseline is a separate action.</a:t>
            </a:r>
          </a:p>
          <a:p xmlns:a="http://schemas.openxmlformats.org/drawingml/2006/main">
            <a:r>
              <a:t/>
            </a:r>
            <a:endParaRPr/>
          </a:p>
          <a:p xmlns:a="http://schemas.openxmlformats.org/drawingml/2006/main">
            <a:r>
              <a:t>Do</a:t>
            </a:r>
          </a:p>
          <a:p xmlns:a="http://schemas.openxmlformats.org/drawingml/2006/main">
            <a:r>
              <a:t>- Create learner_workspace/&lt;tag&gt;, run its practice assessment, and record exact model/harness/output paths, one SDI transient explanation, all three result-panel explanations, one requirement trace, and remaining assurance gates.</a:t>
            </a:r>
          </a:p>
          <a:p xmlns:a="http://schemas.openxmlformats.org/drawingml/2006/main">
            <a:r>
              <a:t/>
            </a:r>
          </a:p>
          <a:p xmlns:a="http://schemas.openxmlformats.org/drawingml/2006/main">
            <a:r>
              <a:t>Expected</a:t>
            </a:r>
          </a:p>
          <a:p xmlns:a="http://schemas.openxmlformats.org/drawingml/2006/main">
            <a:r>
              <a:t>- A reviewer repeats the learner creation and assessment path without retargeting the delivered harness or overwriting controlled baseline results.</a:t>
            </a:r>
          </a:p>
          <a:p xmlns:a="http://schemas.openxmlformats.org/drawingml/2006/main">
            <a:r>
              <a:t/>
            </a:r>
          </a:p>
          <a:p xmlns:a="http://schemas.openxmlformats.org/drawingml/2006/main">
            <a:r>
              <a:t>Recovery</a:t>
            </a:r>
          </a:p>
          <a:p xmlns:a="http://schemas.openxmlformats.org/drawingml/2006/main">
            <a:r>
              <a:t>- Stop at the first failed gate, classify it using slide 42, preserve diagnostics, and resume only after the prerequisite is restored.</a:t>
            </a:r>
          </a:p>
          <a:p xmlns:a="http://schemas.openxmlformats.org/drawingml/2006/main">
            <a:r>
              <a:t/>
            </a:r>
          </a:p>
          <a:p xmlns:a="http://schemas.openxmlformats.org/drawingml/2006/main">
            <a:r>
              <a:t>Caveats</a:t>
            </a:r>
          </a:p>
          <a:p xmlns:a="http://schemas.openxmlformats.org/drawingml/2006/main">
            <a:r>
              <a:t>- Do not rebuild or refresh evidence merely to obtain a green screen when authorization or provenance is unclear.</a:t>
            </a:r>
          </a:p>
          <a:p xmlns:a="http://schemas.openxmlformats.org/drawingml/2006/main">
            <a:r>
              <a:t>- The retained build manifest records Git dirty at build = 1; disclose that provenance when citing it.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scripts/create_pitch_rate_limiter_practice.m</a:t>
            </a:r>
          </a:p>
          <a:p xmlns:a="http://schemas.openxmlformats.org/drawingml/2006/main">
            <a:r>
              <a:t>- scripts/run_pitch_rate_limiter_practice_tests.m</a:t>
            </a:r>
          </a:p>
          <a:p xmlns:a="http://schemas.openxmlformats.org/drawingml/2006/main">
            <a:r>
              <a:t>- results/validation_summary.txt</a:t>
            </a:r>
          </a:p>
          <a:p xmlns:a="http://schemas.openxmlformats.org/drawingml/2006/main">
            <a:r>
              <a:t>- results/top_level_codegen_v8_evidence/Build_Evidence_Manifest.txt</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Mode: Closeout</a:t>
            </a:r>
          </a:p>
          <a:p xmlns:a="http://schemas.openxmlformats.org/drawingml/2006/main">
            <a:r>
              <a:t/>
            </a:r>
          </a:p>
          <a:p xmlns:a="http://schemas.openxmlformats.org/drawingml/2006/main">
            <a:r>
              <a:t>Prerequisite: Capstone attempted.</a:t>
            </a:r>
            <a:endParaRPr/>
          </a:p>
          <a:p xmlns:a="http://schemas.openxmlformats.org/drawingml/2006/main">
            <a:r>
              <a:t/>
            </a:r>
          </a:p>
          <a:p xmlns:a="http://schemas.openxmlformats.org/drawingml/2006/main">
            <a:r>
              <a:t>Close on repeatable engineering behavior: know the target, initialize explicitly, update before execution, use controlled inputs and oracles, interpret plots causally, retain provenance, trace requirements, and leave unperformed assurance gates visibly Open.</a:t>
            </a:r>
          </a:p>
          <a:p xmlns:a="http://schemas.openxmlformats.org/drawingml/2006/main">
            <a:r>
              <a:t/>
            </a:r>
            <a:endParaRPr/>
          </a:p>
          <a:p xmlns:a="http://schemas.openxmlformats.org/drawingml/2006/main">
            <a:r>
              <a:t>Do</a:t>
            </a:r>
          </a:p>
          <a:p xmlns:a="http://schemas.openxmlformats.org/drawingml/2006/main">
            <a:r>
              <a:t>- State one retained result, one evidence limitation, one recovery rule, and one next owner/action.</a:t>
            </a:r>
          </a:p>
          <a:p xmlns:a="http://schemas.openxmlformats.org/drawingml/2006/main">
            <a:r>
              <a:t/>
            </a:r>
          </a:p>
          <a:p xmlns:a="http://schemas.openxmlformats.org/drawingml/2006/main">
            <a:r>
              <a:t>Expected</a:t>
            </a:r>
          </a:p>
          <a:p xmlns:a="http://schemas.openxmlformats.org/drawingml/2006/main">
            <a:r>
              <a:t>- The learner can hand off the package without overclaiming scope or completion.</a:t>
            </a:r>
          </a:p>
          <a:p xmlns:a="http://schemas.openxmlformats.org/drawingml/2006/main">
            <a:r>
              <a:t/>
            </a:r>
          </a:p>
          <a:p xmlns:a="http://schemas.openxmlformats.org/drawingml/2006/main">
            <a:r>
              <a:t>Recovery</a:t>
            </a:r>
          </a:p>
          <a:p xmlns:a="http://schemas.openxmlformats.org/drawingml/2006/main">
            <a:r>
              <a:t>- If any claim cannot be tied to a source, revise the handoff before sign-off.</a:t>
            </a:r>
          </a:p>
          <a:p xmlns:a="http://schemas.openxmlformats.org/drawingml/2006/main">
            <a:r>
              <a:t/>
            </a:r>
          </a:p>
          <a:p xmlns:a="http://schemas.openxmlformats.org/drawingml/2006/main">
            <a:r>
              <a:t>Caveats</a:t>
            </a:r>
          </a:p>
          <a:p xmlns:a="http://schemas.openxmlformats.org/drawingml/2006/main">
            <a:r>
              <a:t>- End state is onboarding readiness, not certification, production-code approval, or signed program acceptance.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results/top_level_codegen_v8_evidence/Build_Evidence_Manifest.txt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Mode: Reference</a:t>
            </a:r>
          </a:p>
          <a:p xmlns:a="http://schemas.openxmlformats.org/drawingml/2006/main">
            <a:r>
              <a:t/>
            </a:r>
          </a:p>
          <a:p xmlns:a="http://schemas.openxmlformats.org/drawingml/2006/main">
            <a:r>
              <a:t>Prerequisite: None; use as needed.</a:t>
            </a:r>
            <a:endParaRPr/>
          </a:p>
          <a:p xmlns:a="http://schemas.openxmlformats.org/drawingml/2006/main">
            <a:r>
              <a:t/>
            </a:r>
            <a:endParaRPr/>
          </a:p>
          <a:p xmlns:a="http://schemas.openxmlformats.org/drawingml/2006/main">
            <a:r>
              <a:t>Use the glossary to align MATLAB, Simulink, MIL, SDI, GRT, SIL, PIL, HIL, WCET, and traceability terms with the boundaries used in this deck.</a:t>
            </a:r>
            <a:endParaRPr/>
          </a:p>
          <a:p xmlns:a="http://schemas.openxmlformats.org/drawingml/2006/main">
            <a:r>
              <a:t/>
            </a:r>
            <a:endParaRPr/>
          </a:p>
          <a:p xmlns:a="http://schemas.openxmlformats.org/drawingml/2006/main">
            <a:r>
              <a:t>Do</a:t>
            </a:r>
            <a:endParaRPr/>
          </a:p>
          <a:p xmlns:a="http://schemas.openxmlformats.org/drawingml/2006/main">
            <a:r>
              <a:t>- Look up any term before using it in an evidence claim.</a:t>
            </a:r>
            <a:endParaRPr/>
          </a:p>
          <a:p xmlns:a="http://schemas.openxmlformats.org/drawingml/2006/main">
            <a:r>
              <a:t/>
            </a:r>
            <a:endParaRPr/>
          </a:p>
          <a:p xmlns:a="http://schemas.openxmlformats.org/drawingml/2006/main">
            <a:r>
              <a:t>Expected</a:t>
            </a:r>
          </a:p>
          <a:p xmlns:a="http://schemas.openxmlformats.org/drawingml/2006/main">
            <a:r>
              <a:t>- Terminology remains consistent across the learner's handoff.</a:t>
            </a:r>
          </a:p>
          <a:p xmlns:a="http://schemas.openxmlformats.org/drawingml/2006/main">
            <a:r>
              <a:t/>
            </a:r>
            <a:endParaRPr/>
          </a:p>
          <a:p xmlns:a="http://schemas.openxmlformats.org/drawingml/2006/main">
            <a:r>
              <a:t>Recovery</a:t>
            </a:r>
            <a:endParaRPr/>
          </a:p>
          <a:p xmlns:a="http://schemas.openxmlformats.org/drawingml/2006/main">
            <a:r>
              <a:t>- If a program defines a term differently, cite the approved project definition.</a:t>
            </a:r>
            <a:endParaRPr/>
          </a:p>
          <a:p xmlns:a="http://schemas.openxmlformats.org/drawingml/2006/main">
            <a:r>
              <a:t/>
            </a:r>
            <a:endParaRPr/>
          </a:p>
          <a:p xmlns:a="http://schemas.openxmlformats.org/drawingml/2006/main">
            <a:r>
              <a:t>Caveats</a:t>
            </a:r>
            <a:endParaRPr/>
          </a:p>
          <a:p xmlns:a="http://schemas.openxmlformats.org/drawingml/2006/main">
            <a:r>
              <a:t>- A glossary aids communication and does not assign certification status.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results/environment_inventory.txt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Reference model walkthrough</a:t>
            </a:r>
          </a:p>
          <a:p xmlns:a="http://schemas.openxmlformats.org/drawingml/2006/main">
            <a:r>
              <a:t/>
            </a:r>
          </a:p>
          <a:p xmlns:a="http://schemas.openxmlformats.org/drawingml/2006/main">
            <a:r>
              <a:t>Prerequisite: AircraftFeedbackControlLoop open.</a:t>
            </a:r>
            <a:endParaRPr/>
          </a:p>
          <a:p xmlns:a="http://schemas.openxmlformats.org/drawingml/2006/main">
            <a:r>
              <a:t/>
            </a:r>
            <a:endParaRPr/>
          </a:p>
          <a:p xmlns:a="http://schemas.openxmlformats.org/drawingml/2006/main">
            <a:r>
              <a:t>Use the aircraft loop and subsystem gallery to understand command, tracking error, controller, saturation, actuator dynamics, plant, sensor lag, disturbance, and feedback as an illustrative closed-loop architecture.</a:t>
            </a:r>
            <a:endParaRPr/>
          </a:p>
          <a:p xmlns:a="http://schemas.openxmlformats.org/drawingml/2006/main">
            <a:r>
              <a:t/>
            </a:r>
            <a:endParaRPr/>
          </a:p>
          <a:p xmlns:a="http://schemas.openxmlformats.org/drawingml/2006/main">
            <a:r>
              <a:t>Do</a:t>
            </a:r>
            <a:endParaRPr/>
          </a:p>
          <a:p xmlns:a="http://schemas.openxmlformats.org/drawingml/2006/main">
            <a:r>
              <a:t>- Trace pitch command to measured feedback and open each referenced subsystem view shown in the gallery.</a:t>
            </a:r>
            <a:endParaRPr/>
          </a:p>
          <a:p xmlns:a="http://schemas.openxmlformats.org/drawingml/2006/main">
            <a:r>
              <a:t/>
            </a:r>
            <a:endParaRPr/>
          </a:p>
          <a:p xmlns:a="http://schemas.openxmlformats.org/drawingml/2006/main">
            <a:r>
              <a:t>Expected</a:t>
            </a:r>
          </a:p>
          <a:p xmlns:a="http://schemas.openxmlformats.org/drawingml/2006/main">
            <a:r>
              <a:t>- The learner names the causal path and the signals used by the SDI explanation.</a:t>
            </a:r>
          </a:p>
          <a:p xmlns:a="http://schemas.openxmlformats.org/drawingml/2006/main">
            <a:r>
              <a:t/>
            </a:r>
          </a:p>
          <a:p xmlns:a="http://schemas.openxmlformats.org/drawingml/2006/main">
            <a:r>
              <a:t>Recovery</a:t>
            </a:r>
          </a:p>
          <a:p xmlns:a="http://schemas.openxmlformats.org/drawingml/2006/main">
            <a:r>
              <a:t>- If a subsystem view differs, inspect the saved model rather than relying only on the exported image.</a:t>
            </a:r>
          </a:p>
          <a:p xmlns:a="http://schemas.openxmlformats.org/drawingml/2006/main">
            <a:r>
              <a:t/>
            </a:r>
          </a:p>
          <a:p xmlns:a="http://schemas.openxmlformats.org/drawingml/2006/main">
            <a:r>
              <a:t>Caveats</a:t>
            </a:r>
          </a:p>
          <a:p xmlns:a="http://schemas.openxmlformats.org/drawingml/2006/main">
            <a:r>
              <a:t>- The plant and controller are simplified training models, not identified or certifiable aircraft models.</a:t>
            </a:r>
          </a:p>
          <a:p xmlns:a="http://schemas.openxmlformats.org/drawingml/2006/main">
            <a:r>
              <a:t/>
            </a:r>
          </a:p>
          <a:p xmlns:a="http://schemas.openxmlformats.org/drawingml/2006/main">
            <a:r>
              <a:t>[Sources]</a:t>
            </a:r>
          </a:p>
          <a:p xmlns:a="http://schemas.openxmlformats.org/drawingml/2006/main">
            <a:r>
              <a:t>- models/AircraftFeedbackControlLoop.slx</a:t>
            </a:r>
          </a:p>
          <a:p xmlns:a="http://schemas.openxmlformats.org/drawingml/2006/main">
            <a:r>
              <a:t>- screenshots/AircraftFeedbackControlLoop_Model.png</a:t>
            </a:r>
          </a:p>
          <a:p xmlns:a="http://schemas.openxmlformats.org/drawingml/2006/main">
            <a:r>
              <a:t>- screenshots/AircraftFeedback_PitchController.png</a:t>
            </a:r>
          </a:p>
          <a:p xmlns:a="http://schemas.openxmlformats.org/drawingml/2006/main">
            <a:r>
              <a:t>- screenshots/AircraftFeedback_ActuatorDynamics.png</a:t>
            </a:r>
          </a:p>
          <a:p xmlns:a="http://schemas.openxmlformats.org/drawingml/2006/main">
            <a:r>
              <a:t>- screenshots/AircraftFeedback_LongitudinalPlant.png</a:t>
            </a:r>
          </a:p>
          <a:p xmlns:a="http://schemas.openxmlformats.org/drawingml/2006/main">
            <a:r>
              <a:t>- screenshots/AircraftFeedback_SensorProcessingLag.png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Reference model walkthrough</a:t>
            </a:r>
          </a:p>
          <a:p xmlns:a="http://schemas.openxmlformats.org/drawingml/2006/main">
            <a:r>
              <a:t/>
            </a:r>
          </a:p>
          <a:p xmlns:a="http://schemas.openxmlformats.org/drawingml/2006/main">
            <a:r>
              <a:t>Prerequisite: Stateflow available; AutopilotModeLogic open.</a:t>
            </a:r>
            <a:endParaRPr/>
          </a:p>
          <a:p xmlns:a="http://schemas.openxmlformats.org/drawingml/2006/main">
            <a:r>
              <a:t/>
            </a:r>
            <a:endParaRPr/>
          </a:p>
          <a:p xmlns:a="http://schemas.openxmlformats.org/drawingml/2006/main">
            <a:r>
              <a:t>The Stateflow training model illustrates OFF, ARMED, ENGAGED, and DEGRADED behavior and the relationship between chart-level state logic and root-level Simulink interfaces.</a:t>
            </a:r>
            <a:endParaRPr/>
          </a:p>
          <a:p xmlns:a="http://schemas.openxmlformats.org/drawingml/2006/main">
            <a:r>
              <a:t/>
            </a:r>
            <a:endParaRPr/>
          </a:p>
          <a:p xmlns:a="http://schemas.openxmlformats.org/drawingml/2006/main">
            <a:r>
              <a:t>Do</a:t>
            </a:r>
            <a:endParaRPr/>
          </a:p>
          <a:p xmlns:a="http://schemas.openxmlformats.org/drawingml/2006/main">
            <a:r>
              <a:t>- Trace an arm, engage, invalid-data degradation, and reset sequence in the chart and retained mode-sequence output.</a:t>
            </a:r>
            <a:endParaRPr/>
          </a:p>
          <a:p xmlns:a="http://schemas.openxmlformats.org/drawingml/2006/main">
            <a:r>
              <a:t/>
            </a:r>
            <a:endParaRPr/>
          </a:p>
          <a:p xmlns:a="http://schemas.openxmlformats.org/drawingml/2006/main">
            <a:r>
              <a:t>Expected</a:t>
            </a:r>
            <a:endParaRPr/>
          </a:p>
          <a:p xmlns:a="http://schemas.openxmlformats.org/drawingml/2006/main">
            <a:r>
              <a:t>- The learner identifies visited modes and the control-enabled condition.</a:t>
            </a:r>
            <a:endParaRPr/>
          </a:p>
          <a:p xmlns:a="http://schemas.openxmlformats.org/drawingml/2006/main">
            <a:r>
              <a:t/>
            </a:r>
            <a:endParaRPr/>
          </a:p>
          <a:p xmlns:a="http://schemas.openxmlformats.org/drawingml/2006/main">
            <a:r>
              <a:t>Recovery</a:t>
            </a:r>
            <a:endParaRPr/>
          </a:p>
          <a:p xmlns:a="http://schemas.openxmlformats.org/drawingml/2006/main">
            <a:r>
              <a:t>- If Stateflow is unavailable, inspect the exported chart image and retained CSV; do not claim interactive execution.</a:t>
            </a:r>
            <a:endParaRPr/>
          </a:p>
          <a:p xmlns:a="http://schemas.openxmlformats.org/drawingml/2006/main">
            <a:r>
              <a:t/>
            </a:r>
            <a:endParaRPr/>
          </a:p>
          <a:p xmlns:a="http://schemas.openxmlformats.org/drawingml/2006/main">
            <a:r>
              <a:t>Caveats</a:t>
            </a:r>
            <a:endParaRPr/>
          </a:p>
          <a:p xmlns:a="http://schemas.openxmlformats.org/drawingml/2006/main">
            <a:r>
              <a:t>- The mode logic is illustrative and not a production autopilot state machine.</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screenshots/AutopilotModeLogic_Stateflow_Editor.jpg</a:t>
            </a:r>
            <a:endParaRPr/>
          </a:p>
          <a:p xmlns:a="http://schemas.openxmlformats.org/drawingml/2006/main">
            <a:r>
              <a:t>- results/AutopilotModeSequence.csv</a:t>
            </a:r>
            <a:endParaRPr/>
          </a:p>
          <a:p xmlns:a="http://schemas.openxmlformats.org/drawingml/2006/main">
            <a:r>
              <a:t>- scripts/run_training_simulations.m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Reference architecture walkthrough</a:t>
            </a:r>
          </a:p>
          <a:p xmlns:a="http://schemas.openxmlformats.org/drawingml/2006/main">
            <a:r>
              <a:t/>
            </a:r>
          </a:p>
          <a:p xmlns:a="http://schemas.openxmlformats.org/drawingml/2006/main">
            <a:r>
              <a:t>Prerequisite: ReferencedFlightControlArchitecture open.</a:t>
            </a:r>
            <a:endParaRPr/>
          </a:p>
          <a:p xmlns:a="http://schemas.openxmlformats.org/drawingml/2006/main">
            <a:r>
              <a:t/>
            </a:r>
            <a:endParaRPr/>
          </a:p>
          <a:p xmlns:a="http://schemas.openxmlformats.org/drawingml/2006/main">
            <a:r>
              <a:t>Use the highest-level architecture to see bus input, sensor processing, mode interpretation, pitch-rate limiting, controller, actuator command, and referenced-model boundaries. This is also the v8 GRT build target.</a:t>
            </a:r>
            <a:endParaRPr/>
          </a:p>
          <a:p xmlns:a="http://schemas.openxmlformats.org/drawingml/2006/main">
            <a:r>
              <a:t/>
            </a:r>
            <a:endParaRPr/>
          </a:p>
          <a:p xmlns:a="http://schemas.openxmlformats.org/drawingml/2006/main">
            <a:r>
              <a:t>Do</a:t>
            </a:r>
            <a:endParaRPr/>
          </a:p>
          <a:p xmlns:a="http://schemas.openxmlformats.org/drawingml/2006/main">
            <a:r>
              <a:t>- Trace the four Model blocks and confirm each saved SimulationMode is Normal.</a:t>
            </a:r>
            <a:endParaRPr/>
          </a:p>
          <a:p xmlns:a="http://schemas.openxmlformats.org/drawingml/2006/main">
            <a:r>
              <a:t/>
            </a:r>
            <a:endParaRPr/>
          </a:p>
          <a:p xmlns:a="http://schemas.openxmlformats.org/drawingml/2006/main">
            <a:r>
              <a:t>Expected</a:t>
            </a:r>
            <a:endParaRPr/>
          </a:p>
          <a:p xmlns:a="http://schemas.openxmlformats.org/drawingml/2006/main">
            <a:r>
              <a:t>- The learner identifies SensorProcessingRef, PitchRateLimiter, PitchControllerRef, and ActuatorCommandRef and relates them to the 5/5 build.</a:t>
            </a:r>
            <a:endParaRPr/>
          </a:p>
          <a:p xmlns:a="http://schemas.openxmlformats.org/drawingml/2006/main">
            <a:r>
              <a:t/>
            </a:r>
            <a:endParaRPr/>
          </a:p>
          <a:p xmlns:a="http://schemas.openxmlformats.org/drawingml/2006/main">
            <a:r>
              <a:t>Recovery</a:t>
            </a:r>
            <a:endParaRPr/>
          </a:p>
          <a:p xmlns:a="http://schemas.openxmlformats.org/drawingml/2006/main">
            <a:r>
              <a:t>- If a reference is unresolved or not Normal, restore the models path and saved baseline before updating or building.</a:t>
            </a:r>
            <a:endParaRPr/>
          </a:p>
          <a:p xmlns:a="http://schemas.openxmlformats.org/drawingml/2006/main">
            <a:r>
              <a:t/>
            </a:r>
            <a:endParaRPr/>
          </a:p>
          <a:p xmlns:a="http://schemas.openxmlformats.org/drawingml/2006/main">
            <a:r>
              <a:t>Caveats</a:t>
            </a:r>
            <a:endParaRPr/>
          </a:p>
          <a:p xmlns:a="http://schemas.openxmlformats.org/drawingml/2006/main">
            <a:r>
              <a:t>- Successful reference resolution and compilation do not establish component verification or production readiness.</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screenshots/ReferencedFlightControlArchitecture_Model.png</a:t>
            </a:r>
            <a:endParaRPr/>
          </a:p>
          <a:p xmlns:a="http://schemas.openxmlformats.org/drawingml/2006/main">
            <a:r>
              <a:t>- scripts/validate_training_project.m</a:t>
            </a:r>
            <a:endParaRPr/>
          </a:p>
          <a:p xmlns:a="http://schemas.openxmlformats.org/drawingml/2006/main">
            <a:r>
              <a:t>- results/top_level_codegen_v8_evidence/ReferencedFlightControlArchitecture_slbuild.log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Reference contract gallery</a:t>
            </a:r>
          </a:p>
          <a:p xmlns:a="http://schemas.openxmlformats.org/drawingml/2006/main">
            <a:r>
              <a:t/>
            </a:r>
          </a:p>
          <a:p xmlns:a="http://schemas.openxmlformats.org/drawingml/2006/main">
            <a:r>
              <a:t>Prerequisite: Slide 52.</a:t>
            </a:r>
            <a:endParaRPr/>
          </a:p>
          <a:p xmlns:a="http://schemas.openxmlformats.org/drawingml/2006/main">
            <a:r>
              <a:t/>
            </a:r>
            <a:endParaRPr/>
          </a:p>
          <a:p xmlns:a="http://schemas.openxmlformats.org/drawingml/2006/main">
            <a:r>
              <a:t>The component gallery provides reviewable contracts for sensor processing, limiter, controller, and actuator command. Use names, types, units, sample time, parameters, and fallback behavior to reason across reference boundaries.</a:t>
            </a:r>
            <a:endParaRPr/>
          </a:p>
          <a:p xmlns:a="http://schemas.openxmlformats.org/drawingml/2006/main">
            <a:r>
              <a:t/>
            </a:r>
            <a:endParaRPr/>
          </a:p>
          <a:p xmlns:a="http://schemas.openxmlformats.org/drawingml/2006/main">
            <a:r>
              <a:t>Do</a:t>
            </a:r>
            <a:endParaRPr/>
          </a:p>
          <a:p xmlns:a="http://schemas.openxmlformats.org/drawingml/2006/main">
            <a:r>
              <a:t>- Select one component and compare its root ports, dictionary entries, and use in the top architecture.</a:t>
            </a:r>
            <a:endParaRPr/>
          </a:p>
          <a:p xmlns:a="http://schemas.openxmlformats.org/drawingml/2006/main">
            <a:r>
              <a:t/>
            </a:r>
            <a:endParaRPr/>
          </a:p>
          <a:p xmlns:a="http://schemas.openxmlformats.org/drawingml/2006/main">
            <a:r>
              <a:t>Expected</a:t>
            </a:r>
          </a:p>
          <a:p xmlns:a="http://schemas.openxmlformats.org/drawingml/2006/main">
            <a:r>
              <a:t>- The learner can state the component's inputs, outputs, responsibility, and controlled parameters.</a:t>
            </a:r>
          </a:p>
          <a:p xmlns:a="http://schemas.openxmlformats.org/drawingml/2006/main">
            <a:r>
              <a:t/>
            </a:r>
          </a:p>
          <a:p xmlns:a="http://schemas.openxmlformats.org/drawingml/2006/main">
            <a:r>
              <a:t>Recovery</a:t>
            </a:r>
          </a:p>
          <a:p xmlns:a="http://schemas.openxmlformats.org/drawingml/2006/main">
            <a:r>
              <a:t>- If the contract is unclear, return to the saved model, dictionary inventory, and bus inventory rather than inferring from layout.</a:t>
            </a:r>
          </a:p>
          <a:p xmlns:a="http://schemas.openxmlformats.org/drawingml/2006/main">
            <a:r>
              <a:t/>
            </a:r>
          </a:p>
          <a:p xmlns:a="http://schemas.openxmlformats.org/drawingml/2006/main">
            <a:r>
              <a:t>Caveats</a:t>
            </a:r>
          </a:p>
          <a:p xmlns:a="http://schemas.openxmlformats.org/drawingml/2006/main">
            <a:r>
              <a:t>- The gallery is an orientation aid; the saved model and controlled data are authoritative within this training package.</a:t>
            </a:r>
          </a:p>
          <a:p xmlns:a="http://schemas.openxmlformats.org/drawingml/2006/main">
            <a:r>
              <a:t/>
            </a:r>
          </a:p>
          <a:p xmlns:a="http://schemas.openxmlformats.org/drawingml/2006/main">
            <a:r>
              <a:t>[Sources]</a:t>
            </a:r>
          </a:p>
          <a:p xmlns:a="http://schemas.openxmlformats.org/drawingml/2006/main">
            <a:r>
              <a:t>- screenshots/SensorProcessingRef_Model.png</a:t>
            </a:r>
          </a:p>
          <a:p xmlns:a="http://schemas.openxmlformats.org/drawingml/2006/main">
            <a:r>
              <a:t>- screenshots/PitchRateLimiter_Model.png</a:t>
            </a:r>
          </a:p>
          <a:p xmlns:a="http://schemas.openxmlformats.org/drawingml/2006/main">
            <a:r>
              <a:t>- screenshots/PitchControllerRef_Model.png</a:t>
            </a:r>
          </a:p>
          <a:p xmlns:a="http://schemas.openxmlformats.org/drawingml/2006/main">
            <a:r>
              <a:t>- screenshots/ActuatorCommandRef_Model.png</a:t>
            </a:r>
          </a:p>
          <a:p xmlns:a="http://schemas.openxmlformats.org/drawingml/2006/main">
            <a:r>
              <a:t>- results/FCS_DataDictionary_Inventory.csv</a:t>
            </a:r>
          </a:p>
          <a:p xmlns:a="http://schemas.openxmlformats.org/drawingml/2006/main">
            <a:r>
              <a:t>- results/FlightControlBus_Inventory.csv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Mode: Reference visualization</a:t>
            </a:r>
          </a:p>
          <a:p xmlns:a="http://schemas.openxmlformats.org/drawingml/2006/main">
            <a:r>
              <a:t/>
            </a:r>
          </a:p>
          <a:p xmlns:a="http://schemas.openxmlformats.org/drawingml/2006/main">
            <a:r>
              <a:t>Prerequisite: Relevant model or result open.</a:t>
            </a:r>
            <a:endParaRPr/>
          </a:p>
          <a:p xmlns:a="http://schemas.openxmlformats.org/drawingml/2006/main">
            <a:r>
              <a:t/>
            </a:r>
          </a:p>
          <a:p xmlns:a="http://schemas.openxmlformats.org/drawingml/2006/main">
            <a:r>
              <a:t>Use overlays to connect visual annotation with the underlying model and results. Labels should identify navigation, signal purpose, or evidence relationship without obscuring the original artifact.</a:t>
            </a:r>
          </a:p>
          <a:p xmlns:a="http://schemas.openxmlformats.org/drawingml/2006/main">
            <a:r>
              <a:t/>
            </a:r>
            <a:endParaRPr/>
          </a:p>
          <a:p xmlns:a="http://schemas.openxmlformats.org/drawingml/2006/main">
            <a:r>
              <a:t>Do</a:t>
            </a:r>
          </a:p>
          <a:p xmlns:a="http://schemas.openxmlformats.org/drawingml/2006/main">
            <a:r>
              <a:t>- Choose one overlay and verify every callout against the saved model or retained result file.</a:t>
            </a:r>
          </a:p>
          <a:p xmlns:a="http://schemas.openxmlformats.org/drawingml/2006/main">
            <a:r>
              <a:t/>
            </a:r>
          </a:p>
          <a:p xmlns:a="http://schemas.openxmlformats.org/drawingml/2006/main">
            <a:r>
              <a:t>Expected</a:t>
            </a:r>
          </a:p>
          <a:p xmlns:a="http://schemas.openxmlformats.org/drawingml/2006/main">
            <a:r>
              <a:t>- The learner distinguishes editorial guidance from model-generated annotations and evidence.</a:t>
            </a:r>
            <a:endParaRPr/>
          </a:p>
          <a:p xmlns:a="http://schemas.openxmlformats.org/drawingml/2006/main">
            <a:r>
              <a:t/>
            </a:r>
            <a:endParaRPr/>
          </a:p>
          <a:p xmlns:a="http://schemas.openxmlformats.org/drawingml/2006/main">
            <a:r>
              <a:t>Recovery</a:t>
            </a:r>
            <a:endParaRPr/>
          </a:p>
          <a:p xmlns:a="http://schemas.openxmlformats.org/drawingml/2006/main">
            <a:r>
              <a:t>- If a callout disagrees with the source artifact, correct the overlay and retain the source unchanged.</a:t>
            </a:r>
            <a:endParaRPr/>
          </a:p>
          <a:p xmlns:a="http://schemas.openxmlformats.org/drawingml/2006/main">
            <a:r>
              <a:t/>
            </a:r>
            <a:endParaRPr/>
          </a:p>
          <a:p xmlns:a="http://schemas.openxmlformats.org/drawingml/2006/main">
            <a:r>
              <a:t>Caveats</a:t>
            </a:r>
            <a:endParaRPr/>
          </a:p>
          <a:p xmlns:a="http://schemas.openxmlformats.org/drawingml/2006/main">
            <a:r>
              <a:t>- Editorial overlays are explanatory and are not independent verification evidence.</a:t>
            </a:r>
            <a:endParaRPr/>
          </a:p>
          <a:p xmlns:a="http://schemas.openxmlformats.org/drawingml/2006/main">
            <a:r>
              <a:t/>
            </a:r>
            <a:endParaRPr/>
          </a:p>
          <a:p xmlns:a="http://schemas.openxmlformats.org/drawingml/2006/main">
            <a:r>
              <a:t>[Sources]</a:t>
            </a:r>
            <a:endParaRPr/>
          </a:p>
          <a:p xmlns:a="http://schemas.openxmlformats.org/drawingml/2006/main">
            <a:r>
              <a:t>- screenshots/VisualManifest.csv</a:t>
            </a:r>
            <a:endParaRPr/>
          </a:p>
          <a:p xmlns:a="http://schemas.openxmlformats.org/drawingml/2006/main">
            <a:r>
              <a:t>- scripts/export_training_visuals.m</a:t>
            </a:r>
            <a:endParaRPr/>
          </a:p>
          <a:p xmlns:a="http://schemas.openxmlformats.org/drawingml/2006/main">
            <a:r>
              <a:t>- screenshots/TrainingEvidenceSummary.png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Mode: Reference workflow</a:t>
            </a:r>
          </a:p>
          <a:p xmlns:a="http://schemas.openxmlformats.org/drawingml/2006/main">
            <a:r>
              <a:t/>
            </a:r>
          </a:p>
          <a:p xmlns:a="http://schemas.openxmlformats.org/drawingml/2006/main">
            <a:r>
              <a:t>Prerequisite: Standalone PitchRateLimiter callback example available.</a:t>
            </a:r>
            <a:endParaRPr/>
          </a:p>
          <a:p xmlns:a="http://schemas.openxmlformats.org/drawingml/2006/main">
            <a:r>
              <a:t/>
            </a:r>
            <a:endParaRPr/>
          </a:p>
          <a:p xmlns:a="http://schemas.openxmlformats.org/drawingml/2006/main">
            <a:r>
              <a:t>Keep callback and verification paths separate. The callback example creates and loads deterministic context for standalone exploration; run_pitch_rate_limiter_tests initializes the baseline, injects the nineteen-point harness inputs, simulates, applies the oracle, and writes retained evidence.</a:t>
            </a:r>
            <a:endParaRPr/>
          </a:p>
          <a:p xmlns:a="http://schemas.openxmlformats.org/drawingml/2006/main">
            <a:r>
              <a:t/>
            </a:r>
            <a:endParaRPr/>
          </a:p>
          <a:p xmlns:a="http://schemas.openxmlformats.org/drawingml/2006/main">
            <a:r>
              <a:t>Do</a:t>
            </a:r>
            <a:endParaRPr/>
          </a:p>
          <a:p xmlns:a="http://schemas.openxmlformats.org/drawingml/2006/main">
            <a:r>
              <a:t>- Trace preload, setup, postload, optional standalone simulation, and cleanup, then compare that lane with the harness driver.</a:t>
            </a:r>
            <a:endParaRPr/>
          </a:p>
          <a:p xmlns:a="http://schemas.openxmlformats.org/drawingml/2006/main">
            <a:r>
              <a:t/>
            </a:r>
            <a:endParaRPr/>
          </a:p>
          <a:p xmlns:a="http://schemas.openxmlformats.org/drawingml/2006/main">
            <a:r>
              <a:t>Expected</a:t>
            </a:r>
          </a:p>
          <a:p xmlns:a="http://schemas.openxmlformats.org/drawingml/2006/main">
            <a:r>
              <a:t>- The learner identifies which path creates context and which path owns the retained assessment oracle and reports.</a:t>
            </a:r>
          </a:p>
          <a:p xmlns:a="http://schemas.openxmlformats.org/drawingml/2006/main">
            <a:r>
              <a:t/>
            </a:r>
            <a:endParaRPr/>
          </a:p>
          <a:p xmlns:a="http://schemas.openxmlformats.org/drawingml/2006/main">
            <a:r>
              <a:t>Recovery</a:t>
            </a:r>
          </a:p>
          <a:p xmlns:a="http://schemas.openxmlformats.org/drawingml/2006/main">
            <a:r>
              <a:t>- If callback state persists, run the project cleanup workflow and verify the base/model workspace before executing the harness driver.</a:t>
            </a:r>
          </a:p>
          <a:p xmlns:a="http://schemas.openxmlformats.org/drawingml/2006/main">
            <a:r>
              <a:t/>
            </a:r>
          </a:p>
          <a:p xmlns:a="http://schemas.openxmlformats.org/drawingml/2006/main">
            <a:r>
              <a:t>Caveats</a:t>
            </a:r>
          </a:p>
          <a:p xmlns:a="http://schemas.openxmlformats.org/drawingml/2006/main">
            <a:r>
              <a:t>- callback_workflow_example.m does not invoke the retained harness test driver.</a:t>
            </a:r>
          </a:p>
          <a:p xmlns:a="http://schemas.openxmlformats.org/drawingml/2006/main">
            <a:r>
              <a:t>- Callbacks create context; they do not by themselves create verification evidence.</a:t>
            </a:r>
          </a:p>
          <a:p xmlns:a="http://schemas.openxmlformats.org/drawingml/2006/main">
            <a:r>
              <a:t/>
            </a:r>
          </a:p>
          <a:p xmlns:a="http://schemas.openxmlformats.org/drawingml/2006/main">
            <a:r>
              <a:t>[Sources]</a:t>
            </a:r>
          </a:p>
          <a:p xmlns:a="http://schemas.openxmlformats.org/drawingml/2006/main">
            <a:r>
              <a:t>- scripts/callback_workflow_example.m</a:t>
            </a:r>
          </a:p>
          <a:p xmlns:a="http://schemas.openxmlformats.org/drawingml/2006/main">
            <a:r>
              <a:t>- scripts/training_callback_preload.m</a:t>
            </a:r>
          </a:p>
          <a:p xmlns:a="http://schemas.openxmlformats.org/drawingml/2006/main">
            <a:r>
              <a:t>- scripts/training_callback_setup.m</a:t>
            </a:r>
          </a:p>
          <a:p xmlns:a="http://schemas.openxmlformats.org/drawingml/2006/main">
            <a:r>
              <a:t>- scripts/training_callback_postload.m</a:t>
            </a:r>
          </a:p>
          <a:p xmlns:a="http://schemas.openxmlformats.org/drawingml/2006/main">
            <a:r>
              <a:t>- scripts/training_callback_cleanup.m</a:t>
            </a: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5f6225e98f4a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67d22901bf4ef5" /><Relationship Type="http://schemas.openxmlformats.org/officeDocument/2006/relationships/slideLayout" Target="/ppt/slideLayouts/slideLayout1.xml" Id="R934ad90e62fd49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4ad90e62fd49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6c616d65d646c3" /><Relationship Type="http://schemas.openxmlformats.org/officeDocument/2006/relationships/notesSlide" Target="/ppt/notesSlides/notesSlide1.xml" Id="R482e8ed19a7144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50b68093a442c5" /><Relationship Type="http://schemas.openxmlformats.org/officeDocument/2006/relationships/notesSlide" Target="/ppt/notesSlides/notesSlide2.xml" Id="Rec83d890ee3f4d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898b8c2ade49bd" /><Relationship Type="http://schemas.openxmlformats.org/officeDocument/2006/relationships/notesSlide" Target="/ppt/notesSlides/notesSlide3.xml" Id="R0c142f23f5d045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d8aaaeafac496a" /><Relationship Type="http://schemas.openxmlformats.org/officeDocument/2006/relationships/notesSlide" Target="/ppt/notesSlides/notesSlide4.xml" Id="Ra0f222200cf542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7d1556d2d4428c" /><Relationship Type="http://schemas.openxmlformats.org/officeDocument/2006/relationships/notesSlide" Target="/ppt/notesSlides/notesSlide5.xml" Id="R2582e41daf0c47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ad1279a8d74271" /><Relationship Type="http://schemas.openxmlformats.org/officeDocument/2006/relationships/notesSlide" Target="/ppt/notesSlides/notesSlide6.xml" Id="Reed85fa4d3b249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420a0626bf45c0" /><Relationship Type="http://schemas.openxmlformats.org/officeDocument/2006/relationships/notesSlide" Target="/ppt/notesSlides/notesSlide7.xml" Id="R03f10be7bdfb44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03abbf4e9b46a3" /><Relationship Type="http://schemas.openxmlformats.org/officeDocument/2006/relationships/notesSlide" Target="/ppt/notesSlides/notesSlide8.xml" Id="Rbb59d7085b8e4e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ef8554c4e84286" /><Relationship Type="http://schemas.openxmlformats.org/officeDocument/2006/relationships/notesSlide" Target="/ppt/notesSlides/notesSlide9.xml" Id="R06491ceb090e42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6a789c3bf24dd1" /><Relationship Type="http://schemas.openxmlformats.org/officeDocument/2006/relationships/notesSlide" Target="/ppt/notesSlides/notesSlide10.xml" Id="Rc6159e1577a34c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1e62bee7cd4a3c" /><Relationship Type="http://schemas.openxmlformats.org/officeDocument/2006/relationships/notesSlide" Target="/ppt/notesSlides/notesSlide11.xml" Id="R5ca52ee141bc43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1e3123bacc4837" /><Relationship Type="http://schemas.openxmlformats.org/officeDocument/2006/relationships/image" Target="/ppt/media/image.jpeg" Id="R327b36503fa0481e" /><Relationship Type="http://schemas.openxmlformats.org/officeDocument/2006/relationships/notesSlide" Target="/ppt/notesSlides/notesSlide12.xml" Id="R796d78810a4249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f601f63c7f4a87" /><Relationship Type="http://schemas.openxmlformats.org/officeDocument/2006/relationships/notesSlide" Target="/ppt/notesSlides/notesSlide13.xml" Id="R697234e427fe44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f2a3964bbe3498c" /><Relationship Type="http://schemas.openxmlformats.org/officeDocument/2006/relationships/image" Target="/ppt/media/image2.jpeg" Id="R3bbc4b6e4dcb4e3c" /><Relationship Type="http://schemas.openxmlformats.org/officeDocument/2006/relationships/notesSlide" Target="/ppt/notesSlides/notesSlide14.xml" Id="R086b0587d65840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ae643f4931c46c7" /><Relationship Type="http://schemas.openxmlformats.org/officeDocument/2006/relationships/image" Target="/ppt/media/image.png" Id="R78b5a0f46e6f4e89" /><Relationship Type="http://schemas.openxmlformats.org/officeDocument/2006/relationships/notesSlide" Target="/ppt/notesSlides/notesSlide15.xml" Id="R69f785f16a9248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b6bfe1ea03144ff" /><Relationship Type="http://schemas.openxmlformats.org/officeDocument/2006/relationships/notesSlide" Target="/ppt/notesSlides/notesSlide16.xml" Id="Rc708b2f977324b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9bc1615e4104e1b" /><Relationship Type="http://schemas.openxmlformats.org/officeDocument/2006/relationships/image" Target="/ppt/media/image2.png" Id="R64a59c468c484e24" /><Relationship Type="http://schemas.openxmlformats.org/officeDocument/2006/relationships/notesSlide" Target="/ppt/notesSlides/notesSlide17.xml" Id="Rb7c76b0d99f5477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8e19876217f46cc" /><Relationship Type="http://schemas.openxmlformats.org/officeDocument/2006/relationships/image" Target="/ppt/media/image3.png" Id="Rf76b0ea44b3f42a6" /><Relationship Type="http://schemas.openxmlformats.org/officeDocument/2006/relationships/notesSlide" Target="/ppt/notesSlides/notesSlide18.xml" Id="Re8d9f39d13ba42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687cae9843f4462" /><Relationship Type="http://schemas.openxmlformats.org/officeDocument/2006/relationships/notesSlide" Target="/ppt/notesSlides/notesSlide19.xml" Id="R6e047e891215442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d21fe5c1144485e" /><Relationship Type="http://schemas.openxmlformats.org/officeDocument/2006/relationships/image" Target="/ppt/media/image4.png" Id="R8f417f4f9c624297" /><Relationship Type="http://schemas.openxmlformats.org/officeDocument/2006/relationships/notesSlide" Target="/ppt/notesSlides/notesSlide20.xml" Id="Rc1b2ff2e88824c0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03ff542334a4dfe" /><Relationship Type="http://schemas.openxmlformats.org/officeDocument/2006/relationships/notesSlide" Target="/ppt/notesSlides/notesSlide21.xml" Id="Rcf443bf5443347e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64745baffe642b4" /><Relationship Type="http://schemas.openxmlformats.org/officeDocument/2006/relationships/notesSlide" Target="/ppt/notesSlides/notesSlide22.xml" Id="Rc55b62160b2544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98936478fe2462d" /><Relationship Type="http://schemas.openxmlformats.org/officeDocument/2006/relationships/notesSlide" Target="/ppt/notesSlides/notesSlide23.xml" Id="R65b9459fd4a648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3b35e75bcd44a74" /><Relationship Type="http://schemas.openxmlformats.org/officeDocument/2006/relationships/notesSlide" Target="/ppt/notesSlides/notesSlide24.xml" Id="R743d8cf6cfb4443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ec582ea560342f7" /><Relationship Type="http://schemas.openxmlformats.org/officeDocument/2006/relationships/image" Target="/ppt/media/image3.jpeg" Id="Ra2437027ebe240d9" /><Relationship Type="http://schemas.openxmlformats.org/officeDocument/2006/relationships/notesSlide" Target="/ppt/notesSlides/notesSlide25.xml" Id="R1977a27622434a5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429efc2e0934fed" /><Relationship Type="http://schemas.openxmlformats.org/officeDocument/2006/relationships/image" Target="/ppt/media/image4.jpeg" Id="R11911789415842bf" /><Relationship Type="http://schemas.openxmlformats.org/officeDocument/2006/relationships/notesSlide" Target="/ppt/notesSlides/notesSlide26.xml" Id="R722991670da741f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d7866f7245c44ee" /><Relationship Type="http://schemas.openxmlformats.org/officeDocument/2006/relationships/notesSlide" Target="/ppt/notesSlides/notesSlide27.xml" Id="R2baa9e9c7413434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6f9ef9bdd474ab9" /><Relationship Type="http://schemas.openxmlformats.org/officeDocument/2006/relationships/notesSlide" Target="/ppt/notesSlides/notesSlide28.xml" Id="R70fe77ce856e47e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5536d45654849e9" /><Relationship Type="http://schemas.openxmlformats.org/officeDocument/2006/relationships/image" Target="/ppt/media/image5.png" Id="R4d8a5328252c4c57" /><Relationship Type="http://schemas.openxmlformats.org/officeDocument/2006/relationships/notesSlide" Target="/ppt/notesSlides/notesSlide29.xml" Id="Rc6163a30d279485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bfca49029d34005" /><Relationship Type="http://schemas.openxmlformats.org/officeDocument/2006/relationships/image" Target="/ppt/media/image6.png" Id="R9b3c96f6b4e44e26" /><Relationship Type="http://schemas.openxmlformats.org/officeDocument/2006/relationships/notesSlide" Target="/ppt/notesSlides/notesSlide30.xml" Id="R13fd2a960b00433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22fffe153d54abe" /><Relationship Type="http://schemas.openxmlformats.org/officeDocument/2006/relationships/notesSlide" Target="/ppt/notesSlides/notesSlide31.xml" Id="Rdcef7ae33a3044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fa40d34d3584c97" /><Relationship Type="http://schemas.openxmlformats.org/officeDocument/2006/relationships/notesSlide" Target="/ppt/notesSlides/notesSlide32.xml" Id="Rcb74917132dd4fe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21ec19f8afb4e63" /><Relationship Type="http://schemas.openxmlformats.org/officeDocument/2006/relationships/image" Target="/ppt/media/image5.jpeg" Id="Rc56c51513acc4b5f" /><Relationship Type="http://schemas.openxmlformats.org/officeDocument/2006/relationships/notesSlide" Target="/ppt/notesSlides/notesSlide33.xml" Id="R83acb2059a434a6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51e01dbd2df4484" /><Relationship Type="http://schemas.openxmlformats.org/officeDocument/2006/relationships/notesSlide" Target="/ppt/notesSlides/notesSlide34.xml" Id="R9273b5bd7de44bc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d7ba2119bdd42dc" /><Relationship Type="http://schemas.openxmlformats.org/officeDocument/2006/relationships/notesSlide" Target="/ppt/notesSlides/notesSlide35.xml" Id="R408fa8520996407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8f9dcb0e77e492d" /><Relationship Type="http://schemas.openxmlformats.org/officeDocument/2006/relationships/notesSlide" Target="/ppt/notesSlides/notesSlide36.xml" Id="R9a974eda327b4f9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eb9418423bc4cd7" /><Relationship Type="http://schemas.openxmlformats.org/officeDocument/2006/relationships/notesSlide" Target="/ppt/notesSlides/notesSlide37.xml" Id="Ra80f8947f0a144f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6827dbf37854161" /><Relationship Type="http://schemas.openxmlformats.org/officeDocument/2006/relationships/notesSlide" Target="/ppt/notesSlides/notesSlide38.xml" Id="R8b9a1400e3954d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73f0da827324b3e" /><Relationship Type="http://schemas.openxmlformats.org/officeDocument/2006/relationships/notesSlide" Target="/ppt/notesSlides/notesSlide39.xml" Id="Re5da4f1f0533493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ada291166b147ed" /><Relationship Type="http://schemas.openxmlformats.org/officeDocument/2006/relationships/notesSlide" Target="/ppt/notesSlides/notesSlide40.xml" Id="R368215fc42f44e8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beb691f157445e4" /><Relationship Type="http://schemas.openxmlformats.org/officeDocument/2006/relationships/notesSlide" Target="/ppt/notesSlides/notesSlide41.xml" Id="R79eeed0c8fc44a2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5cffe12e7b44fde" /><Relationship Type="http://schemas.openxmlformats.org/officeDocument/2006/relationships/notesSlide" Target="/ppt/notesSlides/notesSlide42.xml" Id="Ra412aa7208d44f2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515e14939bd456e" /><Relationship Type="http://schemas.openxmlformats.org/officeDocument/2006/relationships/notesSlide" Target="/ppt/notesSlides/notesSlide43.xml" Id="R942e0e0b03cb450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473302a67e14384" /><Relationship Type="http://schemas.openxmlformats.org/officeDocument/2006/relationships/notesSlide" Target="/ppt/notesSlides/notesSlide44.xml" Id="Rdb0d7105dd51412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5aba06c5105413c" /><Relationship Type="http://schemas.openxmlformats.org/officeDocument/2006/relationships/notesSlide" Target="/ppt/notesSlides/notesSlide45.xml" Id="Rbd4b509ddb40413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db64c9d04944a91" /><Relationship Type="http://schemas.openxmlformats.org/officeDocument/2006/relationships/notesSlide" Target="/ppt/notesSlides/notesSlide46.xml" Id="R2339b78c40a24cd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4fe9f118c83469c" /><Relationship Type="http://schemas.openxmlformats.org/officeDocument/2006/relationships/notesSlide" Target="/ppt/notesSlides/notesSlide47.xml" Id="Re5821b87e6294eb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24deb5dfc8d4829" /><Relationship Type="http://schemas.openxmlformats.org/officeDocument/2006/relationships/notesSlide" Target="/ppt/notesSlides/notesSlide48.xml" Id="Rc0c4d60f1094411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e9501b809b84b1b" /><Relationship Type="http://schemas.openxmlformats.org/officeDocument/2006/relationships/notesSlide" Target="/ppt/notesSlides/notesSlide49.xml" Id="R211d1c854fb842e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96b233e010f45e1" /><Relationship Type="http://schemas.openxmlformats.org/officeDocument/2006/relationships/image" Target="/ppt/media/image6.jpeg" Id="R76ead07ff1cb4f88" /><Relationship Type="http://schemas.openxmlformats.org/officeDocument/2006/relationships/notesSlide" Target="/ppt/notesSlides/notesSlide50.xml" Id="R298ca1e05c564a6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c8c4ce6f42c4c80" /><Relationship Type="http://schemas.openxmlformats.org/officeDocument/2006/relationships/image" Target="/ppt/media/image7.png" Id="R9908d41e36df4117" /><Relationship Type="http://schemas.openxmlformats.org/officeDocument/2006/relationships/image" Target="/ppt/media/image7.jpeg" Id="R9debb1dcb0af46b8" /><Relationship Type="http://schemas.openxmlformats.org/officeDocument/2006/relationships/notesSlide" Target="/ppt/notesSlides/notesSlide51.xml" Id="R43268ef5f7604d8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726e7c40cdd483f" /><Relationship Type="http://schemas.openxmlformats.org/officeDocument/2006/relationships/image" Target="/ppt/media/image8.jpeg" Id="R2c1baa30b5804372" /><Relationship Type="http://schemas.openxmlformats.org/officeDocument/2006/relationships/notesSlide" Target="/ppt/notesSlides/notesSlide52.xml" Id="R5d54f80a2dad49d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10e8edad4e14345" /><Relationship Type="http://schemas.openxmlformats.org/officeDocument/2006/relationships/image" Target="/ppt/media/image8.png" Id="R20b486c07f644889" /><Relationship Type="http://schemas.openxmlformats.org/officeDocument/2006/relationships/image" Target="/ppt/media/image9.png" Id="R4d30b161d5c542c3" /><Relationship Type="http://schemas.openxmlformats.org/officeDocument/2006/relationships/image" Target="/ppt/media/image10.png" Id="R845aa98221ef4c00" /><Relationship Type="http://schemas.openxmlformats.org/officeDocument/2006/relationships/image" Target="/ppt/media/image11.png" Id="R1455fdf814234859" /><Relationship Type="http://schemas.openxmlformats.org/officeDocument/2006/relationships/notesSlide" Target="/ppt/notesSlides/notesSlide53.xml" Id="Rfc4e18fecc3d4e4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44abc58dec74335" /><Relationship Type="http://schemas.openxmlformats.org/officeDocument/2006/relationships/image" Target="/ppt/media/image12.png" Id="Rc7e9fbac2a6344ae" /><Relationship Type="http://schemas.openxmlformats.org/officeDocument/2006/relationships/notesSlide" Target="/ppt/notesSlides/notesSlide54.xml" Id="R2bfa83b7b75d493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588d1dc6aa048dc" /><Relationship Type="http://schemas.openxmlformats.org/officeDocument/2006/relationships/notesSlide" Target="/ppt/notesSlides/notesSlide55.xml" Id="R4b76a165ed144cee"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500" b="0" i="0">
                <a:solidFill>
                  <a:srgbClr val="7D91A0"/>
                </a:solidFill>
                <a:latin typeface="Aptos"/>
                <a:ea typeface="Aptos"/>
                <a:cs typeface="Aptos"/>
              </a:defRPr>
            </a:pPr>
            <a:r>
              <a:rPr sz="1500" b="0" i="0">
                <a:solidFill>
                  <a:srgbClr val="7D91A0"/>
                </a:solidFill>
                <a:latin typeface="Aptos"/>
                <a:ea typeface="Aptos"/>
                <a:cs typeface="Aptos"/>
              </a:rPr>
              <a:t>First-session orientation • self-guided limiter creation lab • desktop MIL evidence • bounded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82"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83"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84"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
        <p:nvSpPr>
          <p:cNvPr id="174" name="s1-self-guided">
            <a:extLst xmlns:a="http://schemas.openxmlformats.org/drawingml/2006/main">
              <a:ext uri="{FF2B5EF4-FFF2-40B4-BE49-F238E27FC236}">
                <a16:creationId xmlns:a16="http://schemas.microsoft.com/office/drawing/2014/main" id="{9447550F-5F6F-4537-AB0C-ABDC1196FE14}"/>
              </a:ext>
            </a:extLst>
          </p:cNvPr>
          <p:cNvSpPr>
            <a:spLocks xmlns:a="http://schemas.openxmlformats.org/drawingml/2006/main" noGrp="1"/>
          </p:cNvSpPr>
          <p:nvPr/>
        </p:nvSpPr>
        <p:spPr>
          <a:xfrm xmlns:a="http://schemas.openxmlformats.org/drawingml/2006/main">
            <a:off x="685800" y="4400550"/>
            <a:ext cx="7239000" cy="419100"/>
          </a:xfrm>
          <a:prstGeom xmlns:a="http://schemas.openxmlformats.org/drawingml/2006/main" prst="roundRect">
            <a:avLst>
              <a:gd name="adj" fmla="val 27273"/>
            </a:avLst>
          </a:prstGeom>
          <a:solidFill xmlns:a="http://schemas.openxmlformats.org/drawingml/2006/main">
            <a:srgbClr val="0C2133"/>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88" b="1">
                <a:solidFill>
                  <a:srgbClr val="FFFFFF"/>
                </a:solidFill>
                <a:latin typeface="Aptos"/>
                <a:ea typeface="Aptos"/>
                <a:cs typeface="Aptos"/>
              </a:defRPr>
            </a:pPr>
            <a:r>
              <a:rPr sz="1088" b="1">
                <a:solidFill>
                  <a:srgbClr val="FFFFFF"/>
                </a:solidFill>
                <a:latin typeface="Aptos"/>
                <a:ea typeface="Aptos"/>
                <a:cs typeface="Aptos"/>
              </a:rPr>
              <a:t>SELF-GUIDED  •  keep PowerPoint Notes view and README.md open side-by-side</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00 • ORIENTATION</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0B1F33"/>
                </a:solidFill>
                <a:latin typeface="Aptos"/>
                <a:ea typeface="Aptos"/>
                <a:cs typeface="Aptos"/>
              </a:defRPr>
            </a:pPr>
            <a:r>
              <a:rPr sz="2550" b="1" i="0">
                <a:solidFill>
                  <a:srgbClr val="0B1F33"/>
                </a:solidFill>
                <a:latin typeface="Aptos"/>
                <a:ea typeface="Aptos"/>
                <a:cs typeface="Aptos"/>
              </a:rPr>
              <a:t>Absolute summary: the retained baseline is executable, but its claims are bounded</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31" name="s2-card-0">
            <a:extLst xmlns:a="http://schemas.openxmlformats.org/drawingml/2006/main">
              <a:ext uri="{FF2B5EF4-FFF2-40B4-BE49-F238E27FC236}">
                <a16:creationId xmlns:a16="http://schemas.microsoft.com/office/drawing/2014/main" id="{F6FD996F-7EF1-4BA1-A8FE-ADCF6395CA0F}"/>
              </a:ext>
            </a:extLst>
          </p:cNvPr>
          <p:cNvSpPr>
            <a:spLocks xmlns:a="http://schemas.openxmlformats.org/drawingml/2006/main" noGrp="1"/>
          </p:cNvSpPr>
          <p:nvPr/>
        </p:nvSpPr>
        <p:spPr>
          <a:xfrm xmlns:a="http://schemas.openxmlformats.org/drawingml/2006/main">
            <a:off x="685800" y="1447800"/>
            <a:ext cx="25146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20B7C5"/>
            </a:solidFill>
            <a:prstDash val="solid"/>
          </a:ln>
        </p:spPr>
      </p:sp>
      <p:sp>
        <p:nvSpPr>
          <p:cNvPr id="32" name="s2-value-0">
            <a:extLst xmlns:a="http://schemas.openxmlformats.org/drawingml/2006/main">
              <a:ext uri="{FF2B5EF4-FFF2-40B4-BE49-F238E27FC236}">
                <a16:creationId xmlns:a16="http://schemas.microsoft.com/office/drawing/2014/main" id="{6378A7DE-A839-4681-A30C-195126E11435}"/>
              </a:ext>
            </a:extLst>
          </p:cNvPr>
          <p:cNvSpPr>
            <a:spLocks xmlns:a="http://schemas.openxmlformats.org/drawingml/2006/main" noGrp="1"/>
          </p:cNvSpPr>
          <p:nvPr/>
        </p:nvSpPr>
        <p:spPr>
          <a:xfrm xmlns:a="http://schemas.openxmlformats.org/drawingml/2006/main">
            <a:off x="800100" y="15906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75" b="1">
                <a:solidFill>
                  <a:srgbClr val="20B7C5"/>
                </a:solidFill>
                <a:latin typeface="Aptos"/>
                <a:ea typeface="Aptos"/>
                <a:cs typeface="Aptos"/>
              </a:defRPr>
            </a:pPr>
            <a:r>
              <a:rPr sz="2175" b="1">
                <a:solidFill>
                  <a:srgbClr val="20B7C5"/>
                </a:solidFill>
                <a:latin typeface="Aptos"/>
                <a:ea typeface="Aptos"/>
                <a:cs typeface="Aptos"/>
              </a:rPr>
              <a:t>8 / 8</a:t>
            </a:r>
          </a:p>
        </p:txBody>
      </p:sp>
      <p:sp>
        <p:nvSpPr>
          <p:cNvPr id="33" name="s2-label-0">
            <a:extLst xmlns:a="http://schemas.openxmlformats.org/drawingml/2006/main">
              <a:ext uri="{FF2B5EF4-FFF2-40B4-BE49-F238E27FC236}">
                <a16:creationId xmlns:a16="http://schemas.microsoft.com/office/drawing/2014/main" id="{EB580A08-B945-449E-B4AB-60552AB8D72D}"/>
              </a:ext>
            </a:extLst>
          </p:cNvPr>
          <p:cNvSpPr>
            <a:spLocks xmlns:a="http://schemas.openxmlformats.org/drawingml/2006/main" noGrp="1"/>
          </p:cNvSpPr>
          <p:nvPr/>
        </p:nvSpPr>
        <p:spPr>
          <a:xfrm xmlns:a="http://schemas.openxmlformats.org/drawingml/2006/main">
            <a:off x="800100" y="2000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17324A"/>
                </a:solidFill>
                <a:latin typeface="Aptos"/>
                <a:ea typeface="Aptos"/>
                <a:cs typeface="Aptos"/>
              </a:defRPr>
            </a:pPr>
            <a:r>
              <a:rPr sz="960" b="1">
                <a:solidFill>
                  <a:srgbClr val="17324A"/>
                </a:solidFill>
                <a:latin typeface="Aptos"/>
                <a:ea typeface="Aptos"/>
                <a:cs typeface="Aptos"/>
              </a:rPr>
              <a:t>MODEL UPDATE / COMPILE</a:t>
            </a:r>
          </a:p>
          <a:p xmlns:a="http://schemas.openxmlformats.org/drawingml/2006/main">
            <a:pPr algn="ctr">
              <a:defRPr sz="960" b="1">
                <a:solidFill>
                  <a:srgbClr val="17324A"/>
                </a:solidFill>
                <a:latin typeface="Aptos"/>
                <a:ea typeface="Aptos"/>
                <a:cs typeface="Aptos"/>
              </a:defRPr>
            </a:pPr>
            <a:r>
              <a:rPr sz="960" b="1">
                <a:solidFill>
                  <a:srgbClr val="17324A"/>
                </a:solidFill>
                <a:latin typeface="Aptos"/>
                <a:ea typeface="Aptos"/>
                <a:cs typeface="Aptos"/>
              </a:rPr>
              <a:t>ACCEPTED</a:t>
            </a:r>
          </a:p>
        </p:txBody>
      </p:sp>
      <p:sp>
        <p:nvSpPr>
          <p:cNvPr id="34" name="s2-card-1">
            <a:extLst xmlns:a="http://schemas.openxmlformats.org/drawingml/2006/main">
              <a:ext uri="{FF2B5EF4-FFF2-40B4-BE49-F238E27FC236}">
                <a16:creationId xmlns:a16="http://schemas.microsoft.com/office/drawing/2014/main" id="{46E2C85C-A045-4788-9A20-4D859DEC90D3}"/>
              </a:ext>
            </a:extLst>
          </p:cNvPr>
          <p:cNvSpPr>
            <a:spLocks xmlns:a="http://schemas.openxmlformats.org/drawingml/2006/main" noGrp="1"/>
          </p:cNvSpPr>
          <p:nvPr/>
        </p:nvSpPr>
        <p:spPr>
          <a:xfrm xmlns:a="http://schemas.openxmlformats.org/drawingml/2006/main">
            <a:off x="3429000" y="1447800"/>
            <a:ext cx="25146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2CA56F"/>
            </a:solidFill>
            <a:prstDash val="solid"/>
          </a:ln>
        </p:spPr>
      </p:sp>
      <p:sp>
        <p:nvSpPr>
          <p:cNvPr id="35" name="s2-value-1">
            <a:extLst xmlns:a="http://schemas.openxmlformats.org/drawingml/2006/main">
              <a:ext uri="{FF2B5EF4-FFF2-40B4-BE49-F238E27FC236}">
                <a16:creationId xmlns:a16="http://schemas.microsoft.com/office/drawing/2014/main" id="{8AC8B03D-04F1-4926-9BD2-697B6CC9221B}"/>
              </a:ext>
            </a:extLst>
          </p:cNvPr>
          <p:cNvSpPr>
            <a:spLocks xmlns:a="http://schemas.openxmlformats.org/drawingml/2006/main" noGrp="1"/>
          </p:cNvSpPr>
          <p:nvPr/>
        </p:nvSpPr>
        <p:spPr>
          <a:xfrm xmlns:a="http://schemas.openxmlformats.org/drawingml/2006/main">
            <a:off x="3543300" y="15906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75" b="1">
                <a:solidFill>
                  <a:srgbClr val="2CA56F"/>
                </a:solidFill>
                <a:latin typeface="Aptos"/>
                <a:ea typeface="Aptos"/>
                <a:cs typeface="Aptos"/>
              </a:defRPr>
            </a:pPr>
            <a:r>
              <a:rPr sz="2175" b="1">
                <a:solidFill>
                  <a:srgbClr val="2CA56F"/>
                </a:solidFill>
                <a:latin typeface="Aptos"/>
                <a:ea typeface="Aptos"/>
                <a:cs typeface="Aptos"/>
              </a:rPr>
              <a:t>19 / 19</a:t>
            </a:r>
          </a:p>
        </p:txBody>
      </p:sp>
      <p:sp>
        <p:nvSpPr>
          <p:cNvPr id="36" name="s2-label-1">
            <a:extLst xmlns:a="http://schemas.openxmlformats.org/drawingml/2006/main">
              <a:ext uri="{FF2B5EF4-FFF2-40B4-BE49-F238E27FC236}">
                <a16:creationId xmlns:a16="http://schemas.microsoft.com/office/drawing/2014/main" id="{97BFF114-A80B-4025-8CDB-10F160363101}"/>
              </a:ext>
            </a:extLst>
          </p:cNvPr>
          <p:cNvSpPr>
            <a:spLocks xmlns:a="http://schemas.openxmlformats.org/drawingml/2006/main" noGrp="1"/>
          </p:cNvSpPr>
          <p:nvPr/>
        </p:nvSpPr>
        <p:spPr>
          <a:xfrm xmlns:a="http://schemas.openxmlformats.org/drawingml/2006/main">
            <a:off x="3543300" y="2000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17324A"/>
                </a:solidFill>
                <a:latin typeface="Aptos"/>
                <a:ea typeface="Aptos"/>
                <a:cs typeface="Aptos"/>
              </a:defRPr>
            </a:pPr>
            <a:r>
              <a:rPr sz="960" b="1">
                <a:solidFill>
                  <a:srgbClr val="17324A"/>
                </a:solidFill>
                <a:latin typeface="Aptos"/>
                <a:ea typeface="Aptos"/>
                <a:cs typeface="Aptos"/>
              </a:rPr>
              <a:t>ASSESSMENT POINTS</a:t>
            </a:r>
          </a:p>
          <a:p xmlns:a="http://schemas.openxmlformats.org/drawingml/2006/main">
            <a:pPr algn="ctr">
              <a:defRPr sz="960" b="1">
                <a:solidFill>
                  <a:srgbClr val="17324A"/>
                </a:solidFill>
                <a:latin typeface="Aptos"/>
                <a:ea typeface="Aptos"/>
                <a:cs typeface="Aptos"/>
              </a:defRPr>
            </a:pPr>
            <a:r>
              <a:rPr sz="960" b="1">
                <a:solidFill>
                  <a:srgbClr val="17324A"/>
                </a:solidFill>
                <a:latin typeface="Aptos"/>
                <a:ea typeface="Aptos"/>
                <a:cs typeface="Aptos"/>
              </a:rPr>
              <a:t>PASS</a:t>
            </a:r>
          </a:p>
        </p:txBody>
      </p:sp>
      <p:sp>
        <p:nvSpPr>
          <p:cNvPr id="37" name="s2-card-2">
            <a:extLst xmlns:a="http://schemas.openxmlformats.org/drawingml/2006/main">
              <a:ext uri="{FF2B5EF4-FFF2-40B4-BE49-F238E27FC236}">
                <a16:creationId xmlns:a16="http://schemas.microsoft.com/office/drawing/2014/main" id="{4E8DD804-2864-4A4B-8C83-F417289A1852}"/>
              </a:ext>
            </a:extLst>
          </p:cNvPr>
          <p:cNvSpPr>
            <a:spLocks xmlns:a="http://schemas.openxmlformats.org/drawingml/2006/main" noGrp="1"/>
          </p:cNvSpPr>
          <p:nvPr/>
        </p:nvSpPr>
        <p:spPr>
          <a:xfrm xmlns:a="http://schemas.openxmlformats.org/drawingml/2006/main">
            <a:off x="6172200" y="1447800"/>
            <a:ext cx="25146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2D6CDF"/>
            </a:solidFill>
            <a:prstDash val="solid"/>
          </a:ln>
        </p:spPr>
      </p:sp>
      <p:sp>
        <p:nvSpPr>
          <p:cNvPr id="38" name="s2-value-2">
            <a:extLst xmlns:a="http://schemas.openxmlformats.org/drawingml/2006/main">
              <a:ext uri="{FF2B5EF4-FFF2-40B4-BE49-F238E27FC236}">
                <a16:creationId xmlns:a16="http://schemas.microsoft.com/office/drawing/2014/main" id="{3BD221EE-C04C-4291-B184-4BEFCBBF093B}"/>
              </a:ext>
            </a:extLst>
          </p:cNvPr>
          <p:cNvSpPr>
            <a:spLocks xmlns:a="http://schemas.openxmlformats.org/drawingml/2006/main" noGrp="1"/>
          </p:cNvSpPr>
          <p:nvPr/>
        </p:nvSpPr>
        <p:spPr>
          <a:xfrm xmlns:a="http://schemas.openxmlformats.org/drawingml/2006/main">
            <a:off x="6286500" y="15906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75" b="1">
                <a:solidFill>
                  <a:srgbClr val="2D6CDF"/>
                </a:solidFill>
                <a:latin typeface="Aptos"/>
                <a:ea typeface="Aptos"/>
                <a:cs typeface="Aptos"/>
              </a:defRPr>
            </a:pPr>
            <a:r>
              <a:rPr sz="2175" b="1">
                <a:solidFill>
                  <a:srgbClr val="2D6CDF"/>
                </a:solidFill>
                <a:latin typeface="Aptos"/>
                <a:ea typeface="Aptos"/>
                <a:cs typeface="Aptos"/>
              </a:rPr>
              <a:t>24 / 24</a:t>
            </a:r>
          </a:p>
        </p:txBody>
      </p:sp>
      <p:sp>
        <p:nvSpPr>
          <p:cNvPr id="39" name="s2-label-2">
            <a:extLst xmlns:a="http://schemas.openxmlformats.org/drawingml/2006/main">
              <a:ext uri="{FF2B5EF4-FFF2-40B4-BE49-F238E27FC236}">
                <a16:creationId xmlns:a16="http://schemas.microsoft.com/office/drawing/2014/main" id="{DED6C689-A0E6-43E1-949C-A3F75E2170E8}"/>
              </a:ext>
            </a:extLst>
          </p:cNvPr>
          <p:cNvSpPr>
            <a:spLocks xmlns:a="http://schemas.openxmlformats.org/drawingml/2006/main" noGrp="1"/>
          </p:cNvSpPr>
          <p:nvPr/>
        </p:nvSpPr>
        <p:spPr>
          <a:xfrm xmlns:a="http://schemas.openxmlformats.org/drawingml/2006/main">
            <a:off x="6286500" y="2000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17324A"/>
                </a:solidFill>
                <a:latin typeface="Aptos"/>
                <a:ea typeface="Aptos"/>
                <a:cs typeface="Aptos"/>
              </a:defRPr>
            </a:pPr>
            <a:r>
              <a:rPr sz="960" b="1">
                <a:solidFill>
                  <a:srgbClr val="17324A"/>
                </a:solidFill>
                <a:latin typeface="Aptos"/>
                <a:ea typeface="Aptos"/>
                <a:cs typeface="Aptos"/>
              </a:rPr>
              <a:t>VALIDATOR-DEFINED</a:t>
            </a:r>
          </a:p>
          <a:p xmlns:a="http://schemas.openxmlformats.org/drawingml/2006/main">
            <a:pPr algn="ctr">
              <a:defRPr sz="960" b="1">
                <a:solidFill>
                  <a:srgbClr val="17324A"/>
                </a:solidFill>
                <a:latin typeface="Aptos"/>
                <a:ea typeface="Aptos"/>
                <a:cs typeface="Aptos"/>
              </a:defRPr>
            </a:pPr>
            <a:r>
              <a:rPr sz="960" b="1">
                <a:solidFill>
                  <a:srgbClr val="17324A"/>
                </a:solidFill>
                <a:latin typeface="Aptos"/>
                <a:ea typeface="Aptos"/>
                <a:cs typeface="Aptos"/>
              </a:rPr>
              <a:t>EXPORTS PRESENT</a:t>
            </a:r>
          </a:p>
        </p:txBody>
      </p:sp>
      <p:sp>
        <p:nvSpPr>
          <p:cNvPr id="40" name="s2-card-3">
            <a:extLst xmlns:a="http://schemas.openxmlformats.org/drawingml/2006/main">
              <a:ext uri="{FF2B5EF4-FFF2-40B4-BE49-F238E27FC236}">
                <a16:creationId xmlns:a16="http://schemas.microsoft.com/office/drawing/2014/main" id="{A27DEFB6-C8E8-4D3D-835A-254BB7FA0B42}"/>
              </a:ext>
            </a:extLst>
          </p:cNvPr>
          <p:cNvSpPr>
            <a:spLocks xmlns:a="http://schemas.openxmlformats.org/drawingml/2006/main" noGrp="1"/>
          </p:cNvSpPr>
          <p:nvPr/>
        </p:nvSpPr>
        <p:spPr>
          <a:xfrm xmlns:a="http://schemas.openxmlformats.org/drawingml/2006/main">
            <a:off x="8915400" y="1447800"/>
            <a:ext cx="25146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E9A23B"/>
            </a:solidFill>
            <a:prstDash val="solid"/>
          </a:ln>
        </p:spPr>
      </p:sp>
      <p:sp>
        <p:nvSpPr>
          <p:cNvPr id="41" name="s2-value-3">
            <a:extLst xmlns:a="http://schemas.openxmlformats.org/drawingml/2006/main">
              <a:ext uri="{FF2B5EF4-FFF2-40B4-BE49-F238E27FC236}">
                <a16:creationId xmlns:a16="http://schemas.microsoft.com/office/drawing/2014/main" id="{B0B6636F-A36F-45DD-9113-B9BCD88243C3}"/>
              </a:ext>
            </a:extLst>
          </p:cNvPr>
          <p:cNvSpPr>
            <a:spLocks xmlns:a="http://schemas.openxmlformats.org/drawingml/2006/main" noGrp="1"/>
          </p:cNvSpPr>
          <p:nvPr/>
        </p:nvSpPr>
        <p:spPr>
          <a:xfrm xmlns:a="http://schemas.openxmlformats.org/drawingml/2006/main">
            <a:off x="9029700" y="15906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75" b="1">
                <a:solidFill>
                  <a:srgbClr val="E9A23B"/>
                </a:solidFill>
                <a:latin typeface="Aptos"/>
                <a:ea typeface="Aptos"/>
                <a:cs typeface="Aptos"/>
              </a:defRPr>
            </a:pPr>
            <a:r>
              <a:rPr sz="2175" b="1">
                <a:solidFill>
                  <a:srgbClr val="E9A23B"/>
                </a:solidFill>
                <a:latin typeface="Aptos"/>
                <a:ea typeface="Aptos"/>
                <a:cs typeface="Aptos"/>
              </a:rPr>
              <a:t>5 / 5</a:t>
            </a:r>
          </a:p>
        </p:txBody>
      </p:sp>
      <p:sp>
        <p:nvSpPr>
          <p:cNvPr id="42" name="s2-label-3">
            <a:extLst xmlns:a="http://schemas.openxmlformats.org/drawingml/2006/main">
              <a:ext uri="{FF2B5EF4-FFF2-40B4-BE49-F238E27FC236}">
                <a16:creationId xmlns:a16="http://schemas.microsoft.com/office/drawing/2014/main" id="{E42A76F6-8997-49DB-905D-0EDD090A8F24}"/>
              </a:ext>
            </a:extLst>
          </p:cNvPr>
          <p:cNvSpPr>
            <a:spLocks xmlns:a="http://schemas.openxmlformats.org/drawingml/2006/main" noGrp="1"/>
          </p:cNvSpPr>
          <p:nvPr/>
        </p:nvSpPr>
        <p:spPr>
          <a:xfrm xmlns:a="http://schemas.openxmlformats.org/drawingml/2006/main">
            <a:off x="9029700" y="2000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17324A"/>
                </a:solidFill>
                <a:latin typeface="Aptos"/>
                <a:ea typeface="Aptos"/>
                <a:cs typeface="Aptos"/>
              </a:defRPr>
            </a:pPr>
            <a:r>
              <a:rPr sz="960" b="1">
                <a:solidFill>
                  <a:srgbClr val="17324A"/>
                </a:solidFill>
                <a:latin typeface="Aptos"/>
                <a:ea typeface="Aptos"/>
                <a:cs typeface="Aptos"/>
              </a:rPr>
              <a:t>GRT MODELS</a:t>
            </a:r>
          </a:p>
          <a:p xmlns:a="http://schemas.openxmlformats.org/drawingml/2006/main">
            <a:pPr algn="ctr">
              <a:defRPr sz="960" b="1">
                <a:solidFill>
                  <a:srgbClr val="17324A"/>
                </a:solidFill>
                <a:latin typeface="Aptos"/>
                <a:ea typeface="Aptos"/>
                <a:cs typeface="Aptos"/>
              </a:defRPr>
            </a:pPr>
            <a:r>
              <a:rPr sz="960" b="1">
                <a:solidFill>
                  <a:srgbClr val="17324A"/>
                </a:solidFill>
                <a:latin typeface="Aptos"/>
                <a:ea typeface="Aptos"/>
                <a:cs typeface="Aptos"/>
              </a:rPr>
              <a:t>BUILT</a:t>
            </a:r>
          </a:p>
        </p:txBody>
      </p:sp>
      <p:sp>
        <p:nvSpPr>
          <p:cNvPr id="43" name="s2-baseline">
            <a:extLst xmlns:a="http://schemas.openxmlformats.org/drawingml/2006/main">
              <a:ext uri="{FF2B5EF4-FFF2-40B4-BE49-F238E27FC236}">
                <a16:creationId xmlns:a16="http://schemas.microsoft.com/office/drawing/2014/main" id="{C474C6F3-521A-4D48-93B1-F5FBC3C784ED}"/>
              </a:ext>
            </a:extLst>
          </p:cNvPr>
          <p:cNvSpPr>
            <a:spLocks xmlns:a="http://schemas.openxmlformats.org/drawingml/2006/main" noGrp="1"/>
          </p:cNvSpPr>
          <p:nvPr/>
        </p:nvSpPr>
        <p:spPr>
          <a:xfrm xmlns:a="http://schemas.openxmlformats.org/drawingml/2006/main">
            <a:off x="685800" y="2724150"/>
            <a:ext cx="5219700" cy="2333625"/>
          </a:xfrm>
          <a:prstGeom xmlns:a="http://schemas.openxmlformats.org/drawingml/2006/main" prst="roundRect">
            <a:avLst>
              <a:gd name="adj" fmla="val 4898"/>
            </a:avLst>
          </a:prstGeom>
          <a:solidFill xmlns:a="http://schemas.openxmlformats.org/drawingml/2006/main">
            <a:srgbClr val="E2F4EA"/>
          </a:solidFill>
          <a:ln xmlns:a="http://schemas.openxmlformats.org/drawingml/2006/main" w="13335">
            <a:solidFill>
              <a:srgbClr val="2CA56F"/>
            </a:solidFill>
            <a:prstDash val="solid"/>
          </a:ln>
        </p:spPr>
      </p:sp>
      <p:sp>
        <p:nvSpPr>
          <p:cNvPr id="44" name="s2-baseline-title">
            <a:extLst xmlns:a="http://schemas.openxmlformats.org/drawingml/2006/main">
              <a:ext uri="{FF2B5EF4-FFF2-40B4-BE49-F238E27FC236}">
                <a16:creationId xmlns:a16="http://schemas.microsoft.com/office/drawing/2014/main" id="{7230A876-D9CB-4AF1-B74F-4E55B3876CE9}"/>
              </a:ext>
            </a:extLst>
          </p:cNvPr>
          <p:cNvSpPr>
            <a:spLocks xmlns:a="http://schemas.openxmlformats.org/drawingml/2006/main" noGrp="1"/>
          </p:cNvSpPr>
          <p:nvPr/>
        </p:nvSpPr>
        <p:spPr>
          <a:xfrm xmlns:a="http://schemas.openxmlformats.org/drawingml/2006/main">
            <a:off x="895350" y="28765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CA56F"/>
                </a:solidFill>
                <a:latin typeface="Aptos"/>
                <a:ea typeface="Aptos"/>
                <a:cs typeface="Aptos"/>
              </a:defRPr>
            </a:pPr>
            <a:r>
              <a:rPr sz="1200" b="1">
                <a:solidFill>
                  <a:srgbClr val="2CA56F"/>
                </a:solidFill>
                <a:latin typeface="Aptos"/>
                <a:ea typeface="Aptos"/>
                <a:cs typeface="Aptos"/>
              </a:rPr>
              <a:t>RETAINED BASELINE</a:t>
            </a:r>
          </a:p>
        </p:txBody>
      </p:sp>
      <p:sp>
        <p:nvSpPr>
          <p:cNvPr id="45" name="s2-baseline-list-dot-0">
            <a:extLst xmlns:a="http://schemas.openxmlformats.org/drawingml/2006/main">
              <a:ext uri="{FF2B5EF4-FFF2-40B4-BE49-F238E27FC236}">
                <a16:creationId xmlns:a16="http://schemas.microsoft.com/office/drawing/2014/main" id="{DA6C2923-C6BB-4B87-9AE5-392E28A48AD1}"/>
              </a:ext>
            </a:extLst>
          </p:cNvPr>
          <p:cNvSpPr>
            <a:spLocks xmlns:a="http://schemas.openxmlformats.org/drawingml/2006/main" noGrp="1"/>
          </p:cNvSpPr>
          <p:nvPr/>
        </p:nvSpPr>
        <p:spPr>
          <a:xfrm xmlns:a="http://schemas.openxmlformats.org/drawingml/2006/main">
            <a:off x="952500" y="336232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46" name="s2-baseline-list-text-0">
            <a:extLst xmlns:a="http://schemas.openxmlformats.org/drawingml/2006/main">
              <a:ext uri="{FF2B5EF4-FFF2-40B4-BE49-F238E27FC236}">
                <a16:creationId xmlns:a16="http://schemas.microsoft.com/office/drawing/2014/main" id="{F1AB74DD-1D1D-463C-B7B6-1508FAB02CB6}"/>
              </a:ext>
            </a:extLst>
          </p:cNvPr>
          <p:cNvSpPr>
            <a:spLocks xmlns:a="http://schemas.openxmlformats.org/drawingml/2006/main" noGrp="1"/>
          </p:cNvSpPr>
          <p:nvPr/>
        </p:nvSpPr>
        <p:spPr>
          <a:xfrm xmlns:a="http://schemas.openxmlformats.org/drawingml/2006/main">
            <a:off x="1143000" y="3276600"/>
            <a:ext cx="445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40" b="0">
                <a:solidFill>
                  <a:srgbClr val="17324A"/>
                </a:solidFill>
                <a:latin typeface="Aptos"/>
                <a:ea typeface="Aptos"/>
                <a:cs typeface="Aptos"/>
              </a:defRPr>
            </a:pPr>
            <a:r>
              <a:rPr sz="1140" b="0">
                <a:solidFill>
                  <a:srgbClr val="17324A"/>
                </a:solidFill>
                <a:latin typeface="Aptos"/>
                <a:ea typeface="Aptos"/>
                <a:cs typeface="Aptos"/>
              </a:rPr>
              <a:t>Eight saved models; all referenced Model blocks saved in Normal mode</a:t>
            </a:r>
          </a:p>
        </p:txBody>
      </p:sp>
      <p:sp>
        <p:nvSpPr>
          <p:cNvPr id="47" name="s2-baseline-list-dot-1">
            <a:extLst xmlns:a="http://schemas.openxmlformats.org/drawingml/2006/main">
              <a:ext uri="{FF2B5EF4-FFF2-40B4-BE49-F238E27FC236}">
                <a16:creationId xmlns:a16="http://schemas.microsoft.com/office/drawing/2014/main" id="{AA859362-4A19-4D41-B502-8122B245D75F}"/>
              </a:ext>
            </a:extLst>
          </p:cNvPr>
          <p:cNvSpPr>
            <a:spLocks xmlns:a="http://schemas.openxmlformats.org/drawingml/2006/main" noGrp="1"/>
          </p:cNvSpPr>
          <p:nvPr/>
        </p:nvSpPr>
        <p:spPr>
          <a:xfrm xmlns:a="http://schemas.openxmlformats.org/drawingml/2006/main">
            <a:off x="952500" y="370522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48" name="s2-baseline-list-text-1">
            <a:extLst xmlns:a="http://schemas.openxmlformats.org/drawingml/2006/main">
              <a:ext uri="{FF2B5EF4-FFF2-40B4-BE49-F238E27FC236}">
                <a16:creationId xmlns:a16="http://schemas.microsoft.com/office/drawing/2014/main" id="{4773FCF3-A863-4D20-974C-E93DC4C00EC5}"/>
              </a:ext>
            </a:extLst>
          </p:cNvPr>
          <p:cNvSpPr>
            <a:spLocks xmlns:a="http://schemas.openxmlformats.org/drawingml/2006/main" noGrp="1"/>
          </p:cNvSpPr>
          <p:nvPr/>
        </p:nvSpPr>
        <p:spPr>
          <a:xfrm xmlns:a="http://schemas.openxmlformats.org/drawingml/2006/main">
            <a:off x="1143000" y="3619500"/>
            <a:ext cx="445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40" b="0">
                <a:solidFill>
                  <a:srgbClr val="17324A"/>
                </a:solidFill>
                <a:latin typeface="Aptos"/>
                <a:ea typeface="Aptos"/>
                <a:cs typeface="Aptos"/>
              </a:defRPr>
            </a:pPr>
            <a:r>
              <a:rPr sz="1140" b="0">
                <a:solidFill>
                  <a:srgbClr val="17324A"/>
                </a:solidFill>
                <a:latin typeface="Aptos"/>
                <a:ea typeface="Aptos"/>
                <a:cs typeface="Aptos"/>
              </a:rPr>
              <a:t>FCS_Data.sldd: 31 Design Data entries and a five-element bus</a:t>
            </a:r>
          </a:p>
        </p:txBody>
      </p:sp>
      <p:sp>
        <p:nvSpPr>
          <p:cNvPr id="49" name="s2-baseline-list-dot-2">
            <a:extLst xmlns:a="http://schemas.openxmlformats.org/drawingml/2006/main">
              <a:ext uri="{FF2B5EF4-FFF2-40B4-BE49-F238E27FC236}">
                <a16:creationId xmlns:a16="http://schemas.microsoft.com/office/drawing/2014/main" id="{27A0072B-7AC6-414E-8F1D-34FECD65F427}"/>
              </a:ext>
            </a:extLst>
          </p:cNvPr>
          <p:cNvSpPr>
            <a:spLocks xmlns:a="http://schemas.openxmlformats.org/drawingml/2006/main" noGrp="1"/>
          </p:cNvSpPr>
          <p:nvPr/>
        </p:nvSpPr>
        <p:spPr>
          <a:xfrm xmlns:a="http://schemas.openxmlformats.org/drawingml/2006/main">
            <a:off x="952500" y="404812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50" name="s2-baseline-list-text-2">
            <a:extLst xmlns:a="http://schemas.openxmlformats.org/drawingml/2006/main">
              <a:ext uri="{FF2B5EF4-FFF2-40B4-BE49-F238E27FC236}">
                <a16:creationId xmlns:a16="http://schemas.microsoft.com/office/drawing/2014/main" id="{AB130D5D-6281-4DAD-BEF1-86818A1C43A8}"/>
              </a:ext>
            </a:extLst>
          </p:cNvPr>
          <p:cNvSpPr>
            <a:spLocks xmlns:a="http://schemas.openxmlformats.org/drawingml/2006/main" noGrp="1"/>
          </p:cNvSpPr>
          <p:nvPr/>
        </p:nvSpPr>
        <p:spPr>
          <a:xfrm xmlns:a="http://schemas.openxmlformats.org/drawingml/2006/main">
            <a:off x="1143000" y="3962400"/>
            <a:ext cx="445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40" b="0">
                <a:solidFill>
                  <a:srgbClr val="17324A"/>
                </a:solidFill>
                <a:latin typeface="Aptos"/>
                <a:ea typeface="Aptos"/>
                <a:cs typeface="Aptos"/>
              </a:defRPr>
            </a:pPr>
            <a:r>
              <a:rPr sz="1140" b="0">
                <a:solidFill>
                  <a:srgbClr val="17324A"/>
                </a:solidFill>
                <a:latin typeface="Aptos"/>
                <a:ea typeface="Aptos"/>
                <a:cs typeface="Aptos"/>
              </a:rPr>
              <a:t>One saved SDI run, one harness driver, and traceable result files</a:t>
            </a:r>
          </a:p>
        </p:txBody>
      </p:sp>
      <p:sp>
        <p:nvSpPr>
          <p:cNvPr id="51" name="s2-baseline-list-dot-3">
            <a:extLst xmlns:a="http://schemas.openxmlformats.org/drawingml/2006/main">
              <a:ext uri="{FF2B5EF4-FFF2-40B4-BE49-F238E27FC236}">
                <a16:creationId xmlns:a16="http://schemas.microsoft.com/office/drawing/2014/main" id="{6A793790-21E9-46D2-B087-DB1D05582DAE}"/>
              </a:ext>
            </a:extLst>
          </p:cNvPr>
          <p:cNvSpPr>
            <a:spLocks xmlns:a="http://schemas.openxmlformats.org/drawingml/2006/main" noGrp="1"/>
          </p:cNvSpPr>
          <p:nvPr/>
        </p:nvSpPr>
        <p:spPr>
          <a:xfrm xmlns:a="http://schemas.openxmlformats.org/drawingml/2006/main">
            <a:off x="952500" y="439102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52" name="s2-baseline-list-text-3">
            <a:extLst xmlns:a="http://schemas.openxmlformats.org/drawingml/2006/main">
              <a:ext uri="{FF2B5EF4-FFF2-40B4-BE49-F238E27FC236}">
                <a16:creationId xmlns:a16="http://schemas.microsoft.com/office/drawing/2014/main" id="{98B2CD51-1034-42AD-B7BE-AB5821E3F77D}"/>
              </a:ext>
            </a:extLst>
          </p:cNvPr>
          <p:cNvSpPr>
            <a:spLocks xmlns:a="http://schemas.openxmlformats.org/drawingml/2006/main" noGrp="1"/>
          </p:cNvSpPr>
          <p:nvPr/>
        </p:nvSpPr>
        <p:spPr>
          <a:xfrm xmlns:a="http://schemas.openxmlformats.org/drawingml/2006/main">
            <a:off x="1143000" y="4305300"/>
            <a:ext cx="445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40" b="0">
                <a:solidFill>
                  <a:srgbClr val="17324A"/>
                </a:solidFill>
                <a:latin typeface="Aptos"/>
                <a:ea typeface="Aptos"/>
                <a:cs typeface="Aptos"/>
              </a:defRPr>
            </a:pPr>
            <a:r>
              <a:rPr sz="1140" b="0">
                <a:solidFill>
                  <a:srgbClr val="17324A"/>
                </a:solidFill>
                <a:latin typeface="Aptos"/>
                <a:ea typeface="Aptos"/>
                <a:cs typeface="Aptos"/>
              </a:rPr>
              <a:t>Portable top-level GRT build helper plus retained v8 build evidence</a:t>
            </a:r>
          </a:p>
        </p:txBody>
      </p:sp>
      <p:sp>
        <p:nvSpPr>
          <p:cNvPr id="53" name="s2-outcome">
            <a:extLst xmlns:a="http://schemas.openxmlformats.org/drawingml/2006/main">
              <a:ext uri="{FF2B5EF4-FFF2-40B4-BE49-F238E27FC236}">
                <a16:creationId xmlns:a16="http://schemas.microsoft.com/office/drawing/2014/main" id="{DBC15F09-F98A-460E-ABD5-B938D6230132}"/>
              </a:ext>
            </a:extLst>
          </p:cNvPr>
          <p:cNvSpPr>
            <a:spLocks xmlns:a="http://schemas.openxmlformats.org/drawingml/2006/main" noGrp="1"/>
          </p:cNvSpPr>
          <p:nvPr/>
        </p:nvSpPr>
        <p:spPr>
          <a:xfrm xmlns:a="http://schemas.openxmlformats.org/drawingml/2006/main">
            <a:off x="6286500" y="2724150"/>
            <a:ext cx="5219700" cy="2333625"/>
          </a:xfrm>
          <a:prstGeom xmlns:a="http://schemas.openxmlformats.org/drawingml/2006/main" prst="roundRect">
            <a:avLst>
              <a:gd name="adj" fmla="val 4898"/>
            </a:avLst>
          </a:prstGeom>
          <a:solidFill xmlns:a="http://schemas.openxmlformats.org/drawingml/2006/main">
            <a:srgbClr val="E2ECFF"/>
          </a:solidFill>
          <a:ln xmlns:a="http://schemas.openxmlformats.org/drawingml/2006/main" w="13335">
            <a:solidFill>
              <a:srgbClr val="2D6CDF"/>
            </a:solidFill>
            <a:prstDash val="solid"/>
          </a:ln>
        </p:spPr>
      </p:sp>
      <p:sp>
        <p:nvSpPr>
          <p:cNvPr id="54" name="s2-outcome-title">
            <a:extLst xmlns:a="http://schemas.openxmlformats.org/drawingml/2006/main">
              <a:ext uri="{FF2B5EF4-FFF2-40B4-BE49-F238E27FC236}">
                <a16:creationId xmlns:a16="http://schemas.microsoft.com/office/drawing/2014/main" id="{7FBFB3F6-2A48-448C-A6E8-FBF6CDFD7F6C}"/>
              </a:ext>
            </a:extLst>
          </p:cNvPr>
          <p:cNvSpPr>
            <a:spLocks xmlns:a="http://schemas.openxmlformats.org/drawingml/2006/main" noGrp="1"/>
          </p:cNvSpPr>
          <p:nvPr/>
        </p:nvSpPr>
        <p:spPr>
          <a:xfrm xmlns:a="http://schemas.openxmlformats.org/drawingml/2006/main">
            <a:off x="6496050" y="28765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D6CDF"/>
                </a:solidFill>
                <a:latin typeface="Aptos"/>
                <a:ea typeface="Aptos"/>
                <a:cs typeface="Aptos"/>
              </a:defRPr>
            </a:pPr>
            <a:r>
              <a:rPr sz="1200" b="1">
                <a:solidFill>
                  <a:srgbClr val="2D6CDF"/>
                </a:solidFill>
                <a:latin typeface="Aptos"/>
                <a:ea typeface="Aptos"/>
                <a:cs typeface="Aptos"/>
              </a:rPr>
              <a:t>LEARNER OUTCOME</a:t>
            </a:r>
          </a:p>
        </p:txBody>
      </p:sp>
      <p:sp>
        <p:nvSpPr>
          <p:cNvPr id="55" name="s2-outcome-list-dot-0">
            <a:extLst xmlns:a="http://schemas.openxmlformats.org/drawingml/2006/main">
              <a:ext uri="{FF2B5EF4-FFF2-40B4-BE49-F238E27FC236}">
                <a16:creationId xmlns:a16="http://schemas.microsoft.com/office/drawing/2014/main" id="{414887A0-AC94-4DBD-94E8-35EEE29BED06}"/>
              </a:ext>
            </a:extLst>
          </p:cNvPr>
          <p:cNvSpPr>
            <a:spLocks xmlns:a="http://schemas.openxmlformats.org/drawingml/2006/main" noGrp="1"/>
          </p:cNvSpPr>
          <p:nvPr/>
        </p:nvSpPr>
        <p:spPr>
          <a:xfrm xmlns:a="http://schemas.openxmlformats.org/drawingml/2006/main">
            <a:off x="6553200" y="3362325"/>
            <a:ext cx="85725" cy="85725"/>
          </a:xfrm>
          <a:prstGeom xmlns:a="http://schemas.openxmlformats.org/drawingml/2006/main" prst="ellipse">
            <a:avLst/>
          </a:prstGeom>
          <a:solidFill xmlns:a="http://schemas.openxmlformats.org/drawingml/2006/main">
            <a:srgbClr val="2D6CDF"/>
          </a:solidFill>
          <a:ln xmlns:a="http://schemas.openxmlformats.org/drawingml/2006/main" w="0">
            <a:solidFill>
              <a:srgbClr val="2D6CDF"/>
            </a:solidFill>
            <a:prstDash val="solid"/>
          </a:ln>
        </p:spPr>
      </p:sp>
      <p:sp>
        <p:nvSpPr>
          <p:cNvPr id="56" name="s2-outcome-list-text-0">
            <a:extLst xmlns:a="http://schemas.openxmlformats.org/drawingml/2006/main">
              <a:ext uri="{FF2B5EF4-FFF2-40B4-BE49-F238E27FC236}">
                <a16:creationId xmlns:a16="http://schemas.microsoft.com/office/drawing/2014/main" id="{958B5A06-963E-47BC-9436-F91599EB94B8}"/>
              </a:ext>
            </a:extLst>
          </p:cNvPr>
          <p:cNvSpPr>
            <a:spLocks xmlns:a="http://schemas.openxmlformats.org/drawingml/2006/main" noGrp="1"/>
          </p:cNvSpPr>
          <p:nvPr/>
        </p:nvSpPr>
        <p:spPr>
          <a:xfrm xmlns:a="http://schemas.openxmlformats.org/drawingml/2006/main">
            <a:off x="6743700" y="3276600"/>
            <a:ext cx="445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40" b="0">
                <a:solidFill>
                  <a:srgbClr val="17324A"/>
                </a:solidFill>
                <a:latin typeface="Aptos"/>
                <a:ea typeface="Aptos"/>
                <a:cs typeface="Aptos"/>
              </a:defRPr>
            </a:pPr>
            <a:r>
              <a:rPr sz="1140" b="0">
                <a:solidFill>
                  <a:srgbClr val="17324A"/>
                </a:solidFill>
                <a:latin typeface="Aptos"/>
                <a:ea typeface="Aptos"/>
                <a:cs typeface="Aptos"/>
              </a:rPr>
              <a:t>Create an authorized limiter practice model from controlled data</a:t>
            </a:r>
          </a:p>
        </p:txBody>
      </p:sp>
      <p:sp>
        <p:nvSpPr>
          <p:cNvPr id="57" name="s2-outcome-list-dot-1">
            <a:extLst xmlns:a="http://schemas.openxmlformats.org/drawingml/2006/main">
              <a:ext uri="{FF2B5EF4-FFF2-40B4-BE49-F238E27FC236}">
                <a16:creationId xmlns:a16="http://schemas.microsoft.com/office/drawing/2014/main" id="{FC4CD4CA-8111-4E9B-ADAF-AC65DBE51CA0}"/>
              </a:ext>
            </a:extLst>
          </p:cNvPr>
          <p:cNvSpPr>
            <a:spLocks xmlns:a="http://schemas.openxmlformats.org/drawingml/2006/main" noGrp="1"/>
          </p:cNvSpPr>
          <p:nvPr/>
        </p:nvSpPr>
        <p:spPr>
          <a:xfrm xmlns:a="http://schemas.openxmlformats.org/drawingml/2006/main">
            <a:off x="6553200" y="3705225"/>
            <a:ext cx="85725" cy="85725"/>
          </a:xfrm>
          <a:prstGeom xmlns:a="http://schemas.openxmlformats.org/drawingml/2006/main" prst="ellipse">
            <a:avLst/>
          </a:prstGeom>
          <a:solidFill xmlns:a="http://schemas.openxmlformats.org/drawingml/2006/main">
            <a:srgbClr val="2D6CDF"/>
          </a:solidFill>
          <a:ln xmlns:a="http://schemas.openxmlformats.org/drawingml/2006/main" w="0">
            <a:solidFill>
              <a:srgbClr val="2D6CDF"/>
            </a:solidFill>
            <a:prstDash val="solid"/>
          </a:ln>
        </p:spPr>
      </p:sp>
      <p:sp>
        <p:nvSpPr>
          <p:cNvPr id="58" name="s2-outcome-list-text-1">
            <a:extLst xmlns:a="http://schemas.openxmlformats.org/drawingml/2006/main">
              <a:ext uri="{FF2B5EF4-FFF2-40B4-BE49-F238E27FC236}">
                <a16:creationId xmlns:a16="http://schemas.microsoft.com/office/drawing/2014/main" id="{FB4D6C2B-6ABB-4FB1-88BE-860DB74E72AA}"/>
              </a:ext>
            </a:extLst>
          </p:cNvPr>
          <p:cNvSpPr>
            <a:spLocks xmlns:a="http://schemas.openxmlformats.org/drawingml/2006/main" noGrp="1"/>
          </p:cNvSpPr>
          <p:nvPr/>
        </p:nvSpPr>
        <p:spPr>
          <a:xfrm xmlns:a="http://schemas.openxmlformats.org/drawingml/2006/main">
            <a:off x="6743700" y="3619500"/>
            <a:ext cx="445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40" b="0">
                <a:solidFill>
                  <a:srgbClr val="17324A"/>
                </a:solidFill>
                <a:latin typeface="Aptos"/>
                <a:ea typeface="Aptos"/>
                <a:cs typeface="Aptos"/>
              </a:defRPr>
            </a:pPr>
            <a:r>
              <a:rPr sz="1140" b="0">
                <a:solidFill>
                  <a:srgbClr val="17324A"/>
                </a:solidFill>
                <a:latin typeface="Aptos"/>
                <a:ea typeface="Aptos"/>
                <a:cs typeface="Aptos"/>
              </a:rPr>
              <a:t>Explain saved settings versus run-time overrides</a:t>
            </a:r>
          </a:p>
        </p:txBody>
      </p:sp>
      <p:sp>
        <p:nvSpPr>
          <p:cNvPr id="59" name="s2-outcome-list-dot-2">
            <a:extLst xmlns:a="http://schemas.openxmlformats.org/drawingml/2006/main">
              <a:ext uri="{FF2B5EF4-FFF2-40B4-BE49-F238E27FC236}">
                <a16:creationId xmlns:a16="http://schemas.microsoft.com/office/drawing/2014/main" id="{952C1559-37A8-4F6C-8DC3-A363A85FE0EC}"/>
              </a:ext>
            </a:extLst>
          </p:cNvPr>
          <p:cNvSpPr>
            <a:spLocks xmlns:a="http://schemas.openxmlformats.org/drawingml/2006/main" noGrp="1"/>
          </p:cNvSpPr>
          <p:nvPr/>
        </p:nvSpPr>
        <p:spPr>
          <a:xfrm xmlns:a="http://schemas.openxmlformats.org/drawingml/2006/main">
            <a:off x="6553200" y="4048125"/>
            <a:ext cx="85725" cy="85725"/>
          </a:xfrm>
          <a:prstGeom xmlns:a="http://schemas.openxmlformats.org/drawingml/2006/main" prst="ellipse">
            <a:avLst/>
          </a:prstGeom>
          <a:solidFill xmlns:a="http://schemas.openxmlformats.org/drawingml/2006/main">
            <a:srgbClr val="2D6CDF"/>
          </a:solidFill>
          <a:ln xmlns:a="http://schemas.openxmlformats.org/drawingml/2006/main" w="0">
            <a:solidFill>
              <a:srgbClr val="2D6CDF"/>
            </a:solidFill>
            <a:prstDash val="solid"/>
          </a:ln>
        </p:spPr>
      </p:sp>
      <p:sp>
        <p:nvSpPr>
          <p:cNvPr id="60" name="s2-outcome-list-text-2">
            <a:extLst xmlns:a="http://schemas.openxmlformats.org/drawingml/2006/main">
              <a:ext uri="{FF2B5EF4-FFF2-40B4-BE49-F238E27FC236}">
                <a16:creationId xmlns:a16="http://schemas.microsoft.com/office/drawing/2014/main" id="{FE9EC609-4C79-45BC-B93B-DBAB90BA0FC2}"/>
              </a:ext>
            </a:extLst>
          </p:cNvPr>
          <p:cNvSpPr>
            <a:spLocks xmlns:a="http://schemas.openxmlformats.org/drawingml/2006/main" noGrp="1"/>
          </p:cNvSpPr>
          <p:nvPr/>
        </p:nvSpPr>
        <p:spPr>
          <a:xfrm xmlns:a="http://schemas.openxmlformats.org/drawingml/2006/main">
            <a:off x="6743700" y="3962400"/>
            <a:ext cx="445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40" b="0">
                <a:solidFill>
                  <a:srgbClr val="17324A"/>
                </a:solidFill>
                <a:latin typeface="Aptos"/>
                <a:ea typeface="Aptos"/>
                <a:cs typeface="Aptos"/>
              </a:defRPr>
            </a:pPr>
            <a:r>
              <a:rPr sz="1140" b="0">
                <a:solidFill>
                  <a:srgbClr val="17324A"/>
                </a:solidFill>
                <a:latin typeface="Aptos"/>
                <a:ea typeface="Aptos"/>
                <a:cs typeface="Aptos"/>
              </a:rPr>
              <a:t>Use Ctrl+D, Run, and build for their distinct purposes</a:t>
            </a:r>
          </a:p>
        </p:txBody>
      </p:sp>
      <p:sp>
        <p:nvSpPr>
          <p:cNvPr id="61" name="s2-outcome-list-dot-3">
            <a:extLst xmlns:a="http://schemas.openxmlformats.org/drawingml/2006/main">
              <a:ext uri="{FF2B5EF4-FFF2-40B4-BE49-F238E27FC236}">
                <a16:creationId xmlns:a16="http://schemas.microsoft.com/office/drawing/2014/main" id="{7258FDE8-DD79-4159-8628-3CD91586AF5F}"/>
              </a:ext>
            </a:extLst>
          </p:cNvPr>
          <p:cNvSpPr>
            <a:spLocks xmlns:a="http://schemas.openxmlformats.org/drawingml/2006/main" noGrp="1"/>
          </p:cNvSpPr>
          <p:nvPr/>
        </p:nvSpPr>
        <p:spPr>
          <a:xfrm xmlns:a="http://schemas.openxmlformats.org/drawingml/2006/main">
            <a:off x="6553200" y="4391025"/>
            <a:ext cx="85725" cy="85725"/>
          </a:xfrm>
          <a:prstGeom xmlns:a="http://schemas.openxmlformats.org/drawingml/2006/main" prst="ellipse">
            <a:avLst/>
          </a:prstGeom>
          <a:solidFill xmlns:a="http://schemas.openxmlformats.org/drawingml/2006/main">
            <a:srgbClr val="2D6CDF"/>
          </a:solidFill>
          <a:ln xmlns:a="http://schemas.openxmlformats.org/drawingml/2006/main" w="0">
            <a:solidFill>
              <a:srgbClr val="2D6CDF"/>
            </a:solidFill>
            <a:prstDash val="solid"/>
          </a:ln>
        </p:spPr>
      </p:sp>
      <p:sp>
        <p:nvSpPr>
          <p:cNvPr id="62" name="s2-outcome-list-text-3">
            <a:extLst xmlns:a="http://schemas.openxmlformats.org/drawingml/2006/main">
              <a:ext uri="{FF2B5EF4-FFF2-40B4-BE49-F238E27FC236}">
                <a16:creationId xmlns:a16="http://schemas.microsoft.com/office/drawing/2014/main" id="{35ACB297-1B4E-4569-B38F-5C10A24E3AF8}"/>
              </a:ext>
            </a:extLst>
          </p:cNvPr>
          <p:cNvSpPr>
            <a:spLocks xmlns:a="http://schemas.openxmlformats.org/drawingml/2006/main" noGrp="1"/>
          </p:cNvSpPr>
          <p:nvPr/>
        </p:nvSpPr>
        <p:spPr>
          <a:xfrm xmlns:a="http://schemas.openxmlformats.org/drawingml/2006/main">
            <a:off x="6743700" y="4305300"/>
            <a:ext cx="445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40" b="0">
                <a:solidFill>
                  <a:srgbClr val="17324A"/>
                </a:solidFill>
                <a:latin typeface="Aptos"/>
                <a:ea typeface="Aptos"/>
                <a:cs typeface="Aptos"/>
              </a:defRPr>
            </a:pPr>
            <a:r>
              <a:rPr sz="1140" b="0">
                <a:solidFill>
                  <a:srgbClr val="17324A"/>
                </a:solidFill>
                <a:latin typeface="Aptos"/>
                <a:ea typeface="Aptos"/>
                <a:cs typeface="Aptos"/>
              </a:rPr>
              <a:t>Read the SDI and limiter plots and name every unsupported claim</a:t>
            </a:r>
          </a:p>
        </p:txBody>
      </p:sp>
      <p:sp>
        <p:nvSpPr>
          <p:cNvPr id="63" name="s2-boundary">
            <a:extLst xmlns:a="http://schemas.openxmlformats.org/drawingml/2006/main">
              <a:ext uri="{FF2B5EF4-FFF2-40B4-BE49-F238E27FC236}">
                <a16:creationId xmlns:a16="http://schemas.microsoft.com/office/drawing/2014/main" id="{581F41A5-4B9C-4CFC-BA6E-F5F8EB82A40F}"/>
              </a:ext>
            </a:extLst>
          </p:cNvPr>
          <p:cNvSpPr>
            <a:spLocks xmlns:a="http://schemas.openxmlformats.org/drawingml/2006/main" noGrp="1"/>
          </p:cNvSpPr>
          <p:nvPr/>
        </p:nvSpPr>
        <p:spPr>
          <a:xfrm xmlns:a="http://schemas.openxmlformats.org/drawingml/2006/main">
            <a:off x="685800" y="531495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BOUNDARY  •  desktop training evidence only  •  executable built, not run  •  no SIL/PIL/HIL, Model Advisor result, Polyspace result, RCF, or certification approval</a:t>
            </a:r>
          </a:p>
        </p:txBody>
      </p:sp>
    </p:spTree>
    <p:extLst>
      <p:ext uri="{BB962C8B-B14F-4D97-AF65-F5344CB8AC3E}">
        <p14:creationId xmlns:p14="http://schemas.microsoft.com/office/powerpoint/2010/main" val="140704512"/>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00 • ORIENTATION</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FFFFFF"/>
                </a:solidFill>
                <a:latin typeface="Aptos"/>
                <a:ea typeface="Aptos"/>
                <a:cs typeface="Aptos"/>
              </a:defRPr>
            </a:pPr>
            <a:r>
              <a:rPr sz="2550" b="1" i="0">
                <a:solidFill>
                  <a:srgbClr val="FFFFFF"/>
                </a:solidFill>
                <a:latin typeface="Aptos"/>
                <a:ea typeface="Aptos"/>
                <a:cs typeface="Aptos"/>
              </a:rPr>
              <a:t>Completion means baseline evidence, learner demonstration, and owned open gates</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03</a:t>
            </a:r>
          </a:p>
        </p:txBody>
      </p:sp>
      <p:sp>
        <p:nvSpPr>
          <p:cNvPr id="20" name="s3-rule">
            <a:extLst xmlns:a="http://schemas.openxmlformats.org/drawingml/2006/main">
              <a:ext uri="{FF2B5EF4-FFF2-40B4-BE49-F238E27FC236}">
                <a16:creationId xmlns:a16="http://schemas.microsoft.com/office/drawing/2014/main" id="{0C6B4512-74A7-40B2-A816-42FE1FAE907D}"/>
              </a:ext>
            </a:extLst>
          </p:cNvPr>
          <p:cNvSpPr>
            <a:spLocks xmlns:a="http://schemas.openxmlformats.org/drawingml/2006/main" noGrp="1"/>
          </p:cNvSpPr>
          <p:nvPr/>
        </p:nvSpPr>
        <p:spPr>
          <a:xfrm xmlns:a="http://schemas.openxmlformats.org/drawingml/2006/main">
            <a:off x="685800" y="1438275"/>
            <a:ext cx="10820400" cy="381000"/>
          </a:xfrm>
          <a:prstGeom xmlns:a="http://schemas.openxmlformats.org/drawingml/2006/main" prst="roundRect">
            <a:avLst>
              <a:gd name="adj" fmla="val 30000"/>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STATUS WORDS ARE PART OF THE EVIDENCE: VERIFIED ≠ EXPLAINED ≠ FUTURE</a:t>
            </a:r>
          </a:p>
        </p:txBody>
      </p:sp>
      <p:sp>
        <p:nvSpPr>
          <p:cNvPr id="21" name="s3-col-0">
            <a:extLst xmlns:a="http://schemas.openxmlformats.org/drawingml/2006/main">
              <a:ext uri="{FF2B5EF4-FFF2-40B4-BE49-F238E27FC236}">
                <a16:creationId xmlns:a16="http://schemas.microsoft.com/office/drawing/2014/main" id="{89695B76-CBD5-43C1-AD41-BD7572A6D279}"/>
              </a:ext>
            </a:extLst>
          </p:cNvPr>
          <p:cNvSpPr>
            <a:spLocks xmlns:a="http://schemas.openxmlformats.org/drawingml/2006/main" noGrp="1"/>
          </p:cNvSpPr>
          <p:nvPr/>
        </p:nvSpPr>
        <p:spPr>
          <a:xfrm xmlns:a="http://schemas.openxmlformats.org/drawingml/2006/main">
            <a:off x="6858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2CA56F"/>
            </a:solidFill>
            <a:prstDash val="solid"/>
          </a:ln>
        </p:spPr>
      </p:sp>
      <p:sp>
        <p:nvSpPr>
          <p:cNvPr id="22" name="s3-col-title-0">
            <a:extLst xmlns:a="http://schemas.openxmlformats.org/drawingml/2006/main">
              <a:ext uri="{FF2B5EF4-FFF2-40B4-BE49-F238E27FC236}">
                <a16:creationId xmlns:a16="http://schemas.microsoft.com/office/drawing/2014/main" id="{283E03D1-EC08-4039-94FC-801DB6D5D2E1}"/>
              </a:ext>
            </a:extLst>
          </p:cNvPr>
          <p:cNvSpPr>
            <a:spLocks xmlns:a="http://schemas.openxmlformats.org/drawingml/2006/main" noGrp="1"/>
          </p:cNvSpPr>
          <p:nvPr/>
        </p:nvSpPr>
        <p:spPr>
          <a:xfrm xmlns:a="http://schemas.openxmlformats.org/drawingml/2006/main">
            <a:off x="8572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RETAINED / PRESENT</a:t>
            </a:r>
          </a:p>
        </p:txBody>
      </p:sp>
      <p:sp>
        <p:nvSpPr>
          <p:cNvPr id="23" name="s3-col-body-0">
            <a:extLst xmlns:a="http://schemas.openxmlformats.org/drawingml/2006/main">
              <a:ext uri="{FF2B5EF4-FFF2-40B4-BE49-F238E27FC236}">
                <a16:creationId xmlns:a16="http://schemas.microsoft.com/office/drawing/2014/main" id="{EAEEAB14-6F09-4B19-93F5-6BAF4586E0B5}"/>
              </a:ext>
            </a:extLst>
          </p:cNvPr>
          <p:cNvSpPr>
            <a:spLocks xmlns:a="http://schemas.openxmlformats.org/drawingml/2006/main" noGrp="1"/>
          </p:cNvSpPr>
          <p:nvPr/>
        </p:nvSpPr>
        <p:spPr>
          <a:xfrm xmlns:a="http://schemas.openxmlformats.org/drawingml/2006/main">
            <a:off x="9144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20" b="0">
                <a:solidFill>
                  <a:srgbClr val="FFFFFF"/>
                </a:solidFill>
                <a:latin typeface="Aptos"/>
                <a:ea typeface="Aptos"/>
                <a:cs typeface="Aptos"/>
              </a:defRPr>
            </a:pPr>
            <a:r>
              <a:rPr sz="1020" b="0">
                <a:solidFill>
                  <a:srgbClr val="FFFFFF"/>
                </a:solidFill>
                <a:latin typeface="Aptos"/>
                <a:ea typeface="Aptos"/>
                <a:cs typeface="Aptos"/>
              </a:rPr>
              <a:t>✓ 8/8 model updates</a:t>
            </a:r>
          </a:p>
          <a:p xmlns:a="http://schemas.openxmlformats.org/drawingml/2006/main">
            <a:r>
              <a:t/>
            </a:r>
          </a:p>
          <a:p xmlns:a="http://schemas.openxmlformats.org/drawingml/2006/main">
            <a:pPr algn="l">
              <a:buNone/>
              <a:defRPr sz="1020" b="0">
                <a:solidFill>
                  <a:srgbClr val="FFFFFF"/>
                </a:solidFill>
                <a:latin typeface="Aptos"/>
                <a:ea typeface="Aptos"/>
                <a:cs typeface="Aptos"/>
              </a:defRPr>
            </a:pPr>
            <a:r>
              <a:rPr sz="1020" b="0">
                <a:solidFill>
                  <a:srgbClr val="FFFFFF"/>
                </a:solidFill>
                <a:latin typeface="Aptos"/>
                <a:ea typeface="Aptos"/>
                <a:cs typeface="Aptos"/>
              </a:rPr>
              <a:t>✓ 19/19 assessment rows</a:t>
            </a:r>
          </a:p>
          <a:p xmlns:a="http://schemas.openxmlformats.org/drawingml/2006/main">
            <a:r>
              <a:t/>
            </a:r>
          </a:p>
          <a:p xmlns:a="http://schemas.openxmlformats.org/drawingml/2006/main">
            <a:pPr algn="l">
              <a:buNone/>
              <a:defRPr sz="1020" b="0">
                <a:solidFill>
                  <a:srgbClr val="FFFFFF"/>
                </a:solidFill>
                <a:latin typeface="Aptos"/>
                <a:ea typeface="Aptos"/>
                <a:cs typeface="Aptos"/>
              </a:defRPr>
            </a:pPr>
            <a:r>
              <a:rPr sz="1020" b="0">
                <a:solidFill>
                  <a:srgbClr val="FFFFFF"/>
                </a:solidFill>
                <a:latin typeface="Aptos"/>
                <a:ea typeface="Aptos"/>
                <a:cs typeface="Aptos"/>
              </a:rPr>
              <a:t>✓ 24/24 named exports present</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(presence-only check)</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a:r>
          </a:p>
          <a:p xmlns:a="http://schemas.openxmlformats.org/drawingml/2006/main">
            <a:pPr algn="l">
              <a:defRPr sz="1020" b="0">
                <a:solidFill>
                  <a:srgbClr val="FFFFFF"/>
                </a:solidFill>
                <a:latin typeface="Aptos"/>
                <a:ea typeface="Aptos"/>
                <a:cs typeface="Aptos"/>
              </a:defRPr>
            </a:pPr>
            <a:r>
              <a:rPr sz="1020" b="0">
                <a:solidFill>
                  <a:srgbClr val="FFFFFF"/>
                </a:solidFill>
                <a:latin typeface="Aptos"/>
                <a:ea typeface="Aptos"/>
                <a:cs typeface="Aptos"/>
              </a:rPr>
              <a:t>✓ SDI view + session present</a:t>
            </a:r>
          </a:p>
          <a:p xmlns:a="http://schemas.openxmlformats.org/drawingml/2006/main">
            <a:pPr algn="l">
              <a:buNone/>
              <a:defRPr sz="1020" b="0">
                <a:solidFill>
                  <a:srgbClr val="FFFFFF"/>
                </a:solidFill>
                <a:latin typeface="Aptos"/>
                <a:ea typeface="Aptos"/>
                <a:cs typeface="Aptos"/>
              </a:defRPr>
            </a:pPr>
            <a:r>
              <a:rPr sz="1020" b="0">
                <a:solidFill>
                  <a:srgbClr val="FFFFFF"/>
                </a:solidFill>
                <a:latin typeface="Aptos"/>
                <a:ea typeface="Aptos"/>
                <a:cs typeface="Aptos"/>
              </a:rPr>
              <a:t>   (freshness not established)</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a:r>
          </a:p>
          <a:p xmlns:a="http://schemas.openxmlformats.org/drawingml/2006/main">
            <a:pPr algn="l">
              <a:buNone/>
              <a:defRPr sz="1020" b="0">
                <a:solidFill>
                  <a:srgbClr val="FFFFFF"/>
                </a:solidFill>
                <a:latin typeface="Aptos"/>
                <a:ea typeface="Aptos"/>
                <a:cs typeface="Aptos"/>
              </a:defRPr>
            </a:pPr>
            <a:r>
              <a:rPr sz="1020" b="0">
                <a:solidFill>
                  <a:srgbClr val="FFFFFF"/>
                </a:solidFill>
                <a:latin typeface="Aptos"/>
                <a:ea typeface="Aptos"/>
                <a:cs typeface="Aptos"/>
              </a:rPr>
              <a:t>✓ 5/5 GRT models built</a:t>
            </a:r>
          </a:p>
        </p:txBody>
      </p:sp>
      <p:sp>
        <p:nvSpPr>
          <p:cNvPr id="24" name="s3-col-1">
            <a:extLst xmlns:a="http://schemas.openxmlformats.org/drawingml/2006/main">
              <a:ext uri="{FF2B5EF4-FFF2-40B4-BE49-F238E27FC236}">
                <a16:creationId xmlns:a16="http://schemas.microsoft.com/office/drawing/2014/main" id="{1CB4C672-D54D-4C67-BDE3-F4D10EBDC1CC}"/>
              </a:ext>
            </a:extLst>
          </p:cNvPr>
          <p:cNvSpPr>
            <a:spLocks xmlns:a="http://schemas.openxmlformats.org/drawingml/2006/main" noGrp="1"/>
          </p:cNvSpPr>
          <p:nvPr/>
        </p:nvSpPr>
        <p:spPr>
          <a:xfrm xmlns:a="http://schemas.openxmlformats.org/drawingml/2006/main">
            <a:off x="43434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20B7C5"/>
            </a:solidFill>
            <a:prstDash val="solid"/>
          </a:ln>
        </p:spPr>
      </p:sp>
      <p:sp>
        <p:nvSpPr>
          <p:cNvPr id="25" name="s3-col-title-1">
            <a:extLst xmlns:a="http://schemas.openxmlformats.org/drawingml/2006/main">
              <a:ext uri="{FF2B5EF4-FFF2-40B4-BE49-F238E27FC236}">
                <a16:creationId xmlns:a16="http://schemas.microsoft.com/office/drawing/2014/main" id="{2E1847B4-50E3-4B1C-950C-E596C2DE9095}"/>
              </a:ext>
            </a:extLst>
          </p:cNvPr>
          <p:cNvSpPr>
            <a:spLocks xmlns:a="http://schemas.openxmlformats.org/drawingml/2006/main" noGrp="1"/>
          </p:cNvSpPr>
          <p:nvPr/>
        </p:nvSpPr>
        <p:spPr>
          <a:xfrm xmlns:a="http://schemas.openxmlformats.org/drawingml/2006/main">
            <a:off x="45148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0B7C5"/>
                </a:solidFill>
                <a:latin typeface="Aptos"/>
                <a:ea typeface="Aptos"/>
                <a:cs typeface="Aptos"/>
              </a:defRPr>
            </a:pPr>
            <a:r>
              <a:rPr sz="1425" b="1">
                <a:solidFill>
                  <a:srgbClr val="20B7C5"/>
                </a:solidFill>
                <a:latin typeface="Aptos"/>
                <a:ea typeface="Aptos"/>
                <a:cs typeface="Aptos"/>
              </a:rPr>
              <a:t>EXPLAINED / DEMO</a:t>
            </a:r>
          </a:p>
        </p:txBody>
      </p:sp>
      <p:sp>
        <p:nvSpPr>
          <p:cNvPr id="26" name="s3-col-body-1">
            <a:extLst xmlns:a="http://schemas.openxmlformats.org/drawingml/2006/main">
              <a:ext uri="{FF2B5EF4-FFF2-40B4-BE49-F238E27FC236}">
                <a16:creationId xmlns:a16="http://schemas.microsoft.com/office/drawing/2014/main" id="{1B38E1EA-4E7A-499A-9268-0BA3A80A79AA}"/>
              </a:ext>
            </a:extLst>
          </p:cNvPr>
          <p:cNvSpPr>
            <a:spLocks xmlns:a="http://schemas.openxmlformats.org/drawingml/2006/main" noGrp="1"/>
          </p:cNvSpPr>
          <p:nvPr/>
        </p:nvSpPr>
        <p:spPr>
          <a:xfrm xmlns:a="http://schemas.openxmlformats.org/drawingml/2006/main">
            <a:off x="45720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logging vs test points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model settings review</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Ctrl+D vs Run vs Ctrl+B</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harness input provenance</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SDI + result-plot reading</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dictionary + bus access</a:t>
            </a:r>
          </a:p>
        </p:txBody>
      </p:sp>
      <p:sp>
        <p:nvSpPr>
          <p:cNvPr id="27" name="s3-col-2">
            <a:extLst xmlns:a="http://schemas.openxmlformats.org/drawingml/2006/main">
              <a:ext uri="{FF2B5EF4-FFF2-40B4-BE49-F238E27FC236}">
                <a16:creationId xmlns:a16="http://schemas.microsoft.com/office/drawing/2014/main" id="{DACBC2AA-55BC-41AF-B1D4-68D43471461B}"/>
              </a:ext>
            </a:extLst>
          </p:cNvPr>
          <p:cNvSpPr>
            <a:spLocks xmlns:a="http://schemas.openxmlformats.org/drawingml/2006/main" noGrp="1"/>
          </p:cNvSpPr>
          <p:nvPr/>
        </p:nvSpPr>
        <p:spPr>
          <a:xfrm xmlns:a="http://schemas.openxmlformats.org/drawingml/2006/main">
            <a:off x="80010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E9A23B"/>
            </a:solidFill>
            <a:prstDash val="solid"/>
          </a:ln>
        </p:spPr>
      </p:sp>
      <p:sp>
        <p:nvSpPr>
          <p:cNvPr id="28" name="s3-col-title-2">
            <a:extLst xmlns:a="http://schemas.openxmlformats.org/drawingml/2006/main">
              <a:ext uri="{FF2B5EF4-FFF2-40B4-BE49-F238E27FC236}">
                <a16:creationId xmlns:a16="http://schemas.microsoft.com/office/drawing/2014/main" id="{6DCF56F1-8A1D-4AB3-AC3C-7F58450D3376}"/>
              </a:ext>
            </a:extLst>
          </p:cNvPr>
          <p:cNvSpPr>
            <a:spLocks xmlns:a="http://schemas.openxmlformats.org/drawingml/2006/main" noGrp="1"/>
          </p:cNvSpPr>
          <p:nvPr/>
        </p:nvSpPr>
        <p:spPr>
          <a:xfrm xmlns:a="http://schemas.openxmlformats.org/drawingml/2006/main">
            <a:off x="81724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E9A23B"/>
                </a:solidFill>
                <a:latin typeface="Aptos"/>
                <a:ea typeface="Aptos"/>
                <a:cs typeface="Aptos"/>
              </a:defRPr>
            </a:pPr>
            <a:r>
              <a:rPr sz="1425" b="1">
                <a:solidFill>
                  <a:srgbClr val="E9A23B"/>
                </a:solidFill>
                <a:latin typeface="Aptos"/>
                <a:ea typeface="Aptos"/>
                <a:cs typeface="Aptos"/>
              </a:rPr>
              <a:t>FUTURE / OPEN</a:t>
            </a:r>
          </a:p>
        </p:txBody>
      </p:sp>
      <p:sp>
        <p:nvSpPr>
          <p:cNvPr id="29" name="s3-col-body-2">
            <a:extLst xmlns:a="http://schemas.openxmlformats.org/drawingml/2006/main">
              <a:ext uri="{FF2B5EF4-FFF2-40B4-BE49-F238E27FC236}">
                <a16:creationId xmlns:a16="http://schemas.microsoft.com/office/drawing/2014/main" id="{050E7101-7DFE-4417-9C89-E2B5DD4032ED}"/>
              </a:ext>
            </a:extLst>
          </p:cNvPr>
          <p:cNvSpPr>
            <a:spLocks xmlns:a="http://schemas.openxmlformats.org/drawingml/2006/main" noGrp="1"/>
          </p:cNvSpPr>
          <p:nvPr/>
        </p:nvSpPr>
        <p:spPr>
          <a:xfrm xmlns:a="http://schemas.openxmlformats.org/drawingml/2006/main">
            <a:off x="82296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retained Model Advisor report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Bug Finder result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Code Prover result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project-defined RCF / required sign-off</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SIL / PIL / HIL evidence</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production-code approval</a:t>
            </a:r>
          </a:p>
        </p:txBody>
      </p:sp>
      <p:sp>
        <p:nvSpPr>
          <p:cNvPr id="30" name="s3-close">
            <a:extLst xmlns:a="http://schemas.openxmlformats.org/drawingml/2006/main">
              <a:ext uri="{FF2B5EF4-FFF2-40B4-BE49-F238E27FC236}">
                <a16:creationId xmlns:a16="http://schemas.microsoft.com/office/drawing/2014/main" id="{509C4E1C-8DA0-4C34-960A-48D8C0F4D9D6}"/>
              </a:ext>
            </a:extLst>
          </p:cNvPr>
          <p:cNvSpPr>
            <a:spLocks xmlns:a="http://schemas.openxmlformats.org/drawingml/2006/main" noGrp="1"/>
          </p:cNvSpPr>
          <p:nvPr/>
        </p:nvSpPr>
        <p:spPr>
          <a:xfrm xmlns:a="http://schemas.openxmlformats.org/drawingml/2006/main">
            <a:off x="685800" y="5581650"/>
            <a:ext cx="1082040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OVERALL COMPLETION = retained objective result + explainable workflow + explicitly owned open gate</a:t>
            </a:r>
          </a:p>
        </p:txBody>
      </p:sp>
    </p:spTree>
    <p:extLst>
      <p:ext uri="{BB962C8B-B14F-4D97-AF65-F5344CB8AC3E}">
        <p14:creationId xmlns:p14="http://schemas.microsoft.com/office/powerpoint/2010/main" val="392848478"/>
      </p:ext>
    </p:extLst>
  </p:cSld>
</p:sld>
</file>

<file path=ppt/slides/slide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00 • 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Three learning routes + reference appendix</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04</a:t>
            </a:r>
          </a:p>
        </p:txBody>
      </p:sp>
      <p:sp>
        <p:nvSpPr>
          <p:cNvPr id="14" name="s4-route-0">
            <a:extLst xmlns:a="http://schemas.openxmlformats.org/drawingml/2006/main">
              <a:ext uri="{FF2B5EF4-FFF2-40B4-BE49-F238E27FC236}">
                <a16:creationId xmlns:a16="http://schemas.microsoft.com/office/drawing/2014/main" id="{E8AD994A-B5FA-4175-9582-964731A90C9B}"/>
              </a:ext>
            </a:extLst>
          </p:cNvPr>
          <p:cNvSpPr>
            <a:spLocks xmlns:a="http://schemas.openxmlformats.org/drawingml/2006/main" noGrp="1"/>
          </p:cNvSpPr>
          <p:nvPr/>
        </p:nvSpPr>
        <p:spPr>
          <a:xfrm xmlns:a="http://schemas.openxmlformats.org/drawingml/2006/main">
            <a:off x="685800" y="1619250"/>
            <a:ext cx="2514600" cy="2724150"/>
          </a:xfrm>
          <a:prstGeom xmlns:a="http://schemas.openxmlformats.org/drawingml/2006/main" prst="roundRect">
            <a:avLst>
              <a:gd name="adj" fmla="val 4545"/>
            </a:avLst>
          </a:prstGeom>
          <a:solidFill xmlns:a="http://schemas.openxmlformats.org/drawingml/2006/main">
            <a:srgbClr val="0C2133"/>
          </a:solidFill>
          <a:ln xmlns:a="http://schemas.openxmlformats.org/drawingml/2006/main" w="16193">
            <a:solidFill>
              <a:srgbClr val="20B7C5"/>
            </a:solidFill>
            <a:prstDash val="solid"/>
          </a:ln>
        </p:spPr>
      </p:sp>
      <p:sp>
        <p:nvSpPr>
          <p:cNvPr id="15" name="s4-num-0">
            <a:extLst xmlns:a="http://schemas.openxmlformats.org/drawingml/2006/main">
              <a:ext uri="{FF2B5EF4-FFF2-40B4-BE49-F238E27FC236}">
                <a16:creationId xmlns:a16="http://schemas.microsoft.com/office/drawing/2014/main" id="{FFAA3348-B3BB-4466-A8CF-BB1CF16A7594}"/>
              </a:ext>
            </a:extLst>
          </p:cNvPr>
          <p:cNvSpPr>
            <a:spLocks xmlns:a="http://schemas.openxmlformats.org/drawingml/2006/main" noGrp="1"/>
          </p:cNvSpPr>
          <p:nvPr/>
        </p:nvSpPr>
        <p:spPr>
          <a:xfrm xmlns:a="http://schemas.openxmlformats.org/drawingml/2006/main">
            <a:off x="857250" y="1790700"/>
            <a:ext cx="4953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01</a:t>
            </a:r>
          </a:p>
        </p:txBody>
      </p:sp>
      <p:sp>
        <p:nvSpPr>
          <p:cNvPr id="16" name="s4-title-0">
            <a:extLst xmlns:a="http://schemas.openxmlformats.org/drawingml/2006/main">
              <a:ext uri="{FF2B5EF4-FFF2-40B4-BE49-F238E27FC236}">
                <a16:creationId xmlns:a16="http://schemas.microsoft.com/office/drawing/2014/main" id="{FB0CD6BB-B085-455A-9158-B98BDF047A15}"/>
              </a:ext>
            </a:extLst>
          </p:cNvPr>
          <p:cNvSpPr>
            <a:spLocks xmlns:a="http://schemas.openxmlformats.org/drawingml/2006/main" noGrp="1"/>
          </p:cNvSpPr>
          <p:nvPr/>
        </p:nvSpPr>
        <p:spPr>
          <a:xfrm xmlns:a="http://schemas.openxmlformats.org/drawingml/2006/main">
            <a:off x="857250" y="220980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INSTRUCTOR ONBOARDING</a:t>
            </a:r>
          </a:p>
        </p:txBody>
      </p:sp>
      <p:sp>
        <p:nvSpPr>
          <p:cNvPr id="17" name="s4-range-0">
            <a:extLst xmlns:a="http://schemas.openxmlformats.org/drawingml/2006/main">
              <a:ext uri="{FF2B5EF4-FFF2-40B4-BE49-F238E27FC236}">
                <a16:creationId xmlns:a16="http://schemas.microsoft.com/office/drawing/2014/main" id="{A01DF93B-6F1A-40EF-8D29-13477A4539CE}"/>
              </a:ext>
            </a:extLst>
          </p:cNvPr>
          <p:cNvSpPr>
            <a:spLocks xmlns:a="http://schemas.openxmlformats.org/drawingml/2006/main" noGrp="1"/>
          </p:cNvSpPr>
          <p:nvPr/>
        </p:nvSpPr>
        <p:spPr>
          <a:xfrm xmlns:a="http://schemas.openxmlformats.org/drawingml/2006/main">
            <a:off x="857250" y="2971800"/>
            <a:ext cx="217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1">
                <a:solidFill>
                  <a:srgbClr val="70DCE5"/>
                </a:solidFill>
                <a:latin typeface="Aptos"/>
                <a:ea typeface="Aptos"/>
                <a:cs typeface="Aptos"/>
              </a:defRPr>
            </a:pPr>
            <a:r>
              <a:rPr sz="1065" b="1">
                <a:solidFill>
                  <a:srgbClr val="70DCE5"/>
                </a:solidFill>
                <a:latin typeface="Aptos"/>
                <a:ea typeface="Aptos"/>
                <a:cs typeface="Aptos"/>
              </a:rPr>
              <a:t>Slides 1–12, 20–34, 47–48</a:t>
            </a:r>
          </a:p>
        </p:txBody>
      </p:sp>
      <p:sp>
        <p:nvSpPr>
          <p:cNvPr id="18" name="s4-desc-0">
            <a:extLst xmlns:a="http://schemas.openxmlformats.org/drawingml/2006/main">
              <a:ext uri="{FF2B5EF4-FFF2-40B4-BE49-F238E27FC236}">
                <a16:creationId xmlns:a16="http://schemas.microsoft.com/office/drawing/2014/main" id="{61646ED3-260B-4F2A-AECD-4103DC52E8E8}"/>
              </a:ext>
            </a:extLst>
          </p:cNvPr>
          <p:cNvSpPr>
            <a:spLocks xmlns:a="http://schemas.openxmlformats.org/drawingml/2006/main" noGrp="1"/>
          </p:cNvSpPr>
          <p:nvPr/>
        </p:nvSpPr>
        <p:spPr>
          <a:xfrm xmlns:a="http://schemas.openxmlformats.org/drawingml/2006/main">
            <a:off x="857250" y="3476625"/>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88" b="0">
                <a:solidFill>
                  <a:srgbClr val="FFFFFF"/>
                </a:solidFill>
                <a:latin typeface="Aptos"/>
                <a:ea typeface="Aptos"/>
                <a:cs typeface="Aptos"/>
              </a:defRPr>
            </a:pPr>
            <a:r>
              <a:rPr sz="1088" b="0">
                <a:solidFill>
                  <a:srgbClr val="FFFFFF"/>
                </a:solidFill>
                <a:latin typeface="Aptos"/>
                <a:ea typeface="Aptos"/>
                <a:cs typeface="Aptos"/>
              </a:rPr>
              <a:t>Orient, operate, interpret, and close</a:t>
            </a:r>
          </a:p>
        </p:txBody>
      </p:sp>
      <p:sp>
        <p:nvSpPr>
          <p:cNvPr id="19" name="s4-route-1">
            <a:extLst xmlns:a="http://schemas.openxmlformats.org/drawingml/2006/main">
              <a:ext uri="{FF2B5EF4-FFF2-40B4-BE49-F238E27FC236}">
                <a16:creationId xmlns:a16="http://schemas.microsoft.com/office/drawing/2014/main" id="{3C676826-01B6-4825-B825-1155D65C35E4}"/>
              </a:ext>
            </a:extLst>
          </p:cNvPr>
          <p:cNvSpPr>
            <a:spLocks xmlns:a="http://schemas.openxmlformats.org/drawingml/2006/main" noGrp="1"/>
          </p:cNvSpPr>
          <p:nvPr/>
        </p:nvSpPr>
        <p:spPr>
          <a:xfrm xmlns:a="http://schemas.openxmlformats.org/drawingml/2006/main">
            <a:off x="3429000" y="1619250"/>
            <a:ext cx="2514600" cy="2724150"/>
          </a:xfrm>
          <a:prstGeom xmlns:a="http://schemas.openxmlformats.org/drawingml/2006/main" prst="roundRect">
            <a:avLst>
              <a:gd name="adj" fmla="val 4545"/>
            </a:avLst>
          </a:prstGeom>
          <a:solidFill xmlns:a="http://schemas.openxmlformats.org/drawingml/2006/main">
            <a:srgbClr val="0C2133"/>
          </a:solidFill>
          <a:ln xmlns:a="http://schemas.openxmlformats.org/drawingml/2006/main" w="16193">
            <a:solidFill>
              <a:srgbClr val="E9A23B"/>
            </a:solidFill>
            <a:prstDash val="solid"/>
          </a:ln>
        </p:spPr>
      </p:sp>
      <p:sp>
        <p:nvSpPr>
          <p:cNvPr id="20" name="s4-num-1">
            <a:extLst xmlns:a="http://schemas.openxmlformats.org/drawingml/2006/main">
              <a:ext uri="{FF2B5EF4-FFF2-40B4-BE49-F238E27FC236}">
                <a16:creationId xmlns:a16="http://schemas.microsoft.com/office/drawing/2014/main" id="{8FB1E84F-CFBC-43C7-B636-A9218D36A271}"/>
              </a:ext>
            </a:extLst>
          </p:cNvPr>
          <p:cNvSpPr>
            <a:spLocks xmlns:a="http://schemas.openxmlformats.org/drawingml/2006/main" noGrp="1"/>
          </p:cNvSpPr>
          <p:nvPr/>
        </p:nvSpPr>
        <p:spPr>
          <a:xfrm xmlns:a="http://schemas.openxmlformats.org/drawingml/2006/main">
            <a:off x="3600450" y="1790700"/>
            <a:ext cx="495300" cy="285750"/>
          </a:xfrm>
          <a:prstGeom xmlns:a="http://schemas.openxmlformats.org/drawingml/2006/main" prst="roundRect">
            <a:avLst>
              <a:gd name="adj" fmla="val 40000"/>
            </a:avLst>
          </a:prstGeom>
          <a:solidFill xmlns:a="http://schemas.openxmlformats.org/drawingml/2006/main">
            <a:srgbClr val="E9A23B"/>
          </a:solidFill>
          <a:ln xmlns:a="http://schemas.openxmlformats.org/drawingml/2006/main" w="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02</a:t>
            </a:r>
          </a:p>
        </p:txBody>
      </p:sp>
      <p:sp>
        <p:nvSpPr>
          <p:cNvPr id="21" name="s4-title-1">
            <a:extLst xmlns:a="http://schemas.openxmlformats.org/drawingml/2006/main">
              <a:ext uri="{FF2B5EF4-FFF2-40B4-BE49-F238E27FC236}">
                <a16:creationId xmlns:a16="http://schemas.microsoft.com/office/drawing/2014/main" id="{1C1378A1-B4DA-413D-A753-986D54811AFA}"/>
              </a:ext>
            </a:extLst>
          </p:cNvPr>
          <p:cNvSpPr>
            <a:spLocks xmlns:a="http://schemas.openxmlformats.org/drawingml/2006/main" noGrp="1"/>
          </p:cNvSpPr>
          <p:nvPr/>
        </p:nvSpPr>
        <p:spPr>
          <a:xfrm xmlns:a="http://schemas.openxmlformats.org/drawingml/2006/main">
            <a:off x="3600450" y="220980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SELF-GUIDED CREATION LAB</a:t>
            </a:r>
          </a:p>
        </p:txBody>
      </p:sp>
      <p:sp>
        <p:nvSpPr>
          <p:cNvPr id="22" name="s4-range-1">
            <a:extLst xmlns:a="http://schemas.openxmlformats.org/drawingml/2006/main">
              <a:ext uri="{FF2B5EF4-FFF2-40B4-BE49-F238E27FC236}">
                <a16:creationId xmlns:a16="http://schemas.microsoft.com/office/drawing/2014/main" id="{C906F1A7-1961-4FDD-B748-43B3B04D4BAC}"/>
              </a:ext>
            </a:extLst>
          </p:cNvPr>
          <p:cNvSpPr>
            <a:spLocks xmlns:a="http://schemas.openxmlformats.org/drawingml/2006/main" noGrp="1"/>
          </p:cNvSpPr>
          <p:nvPr/>
        </p:nvSpPr>
        <p:spPr>
          <a:xfrm xmlns:a="http://schemas.openxmlformats.org/drawingml/2006/main">
            <a:off x="3600450" y="2971800"/>
            <a:ext cx="217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1">
                <a:solidFill>
                  <a:srgbClr val="E9A23B"/>
                </a:solidFill>
                <a:latin typeface="Aptos"/>
                <a:ea typeface="Aptos"/>
                <a:cs typeface="Aptos"/>
              </a:defRPr>
            </a:pPr>
            <a:r>
              <a:rPr sz="1065" b="1">
                <a:solidFill>
                  <a:srgbClr val="E9A23B"/>
                </a:solidFill>
                <a:latin typeface="Aptos"/>
                <a:ea typeface="Aptos"/>
                <a:cs typeface="Aptos"/>
              </a:rPr>
              <a:t>Slides 13–19</a:t>
            </a:r>
          </a:p>
        </p:txBody>
      </p:sp>
      <p:sp>
        <p:nvSpPr>
          <p:cNvPr id="23" name="s4-desc-1">
            <a:extLst xmlns:a="http://schemas.openxmlformats.org/drawingml/2006/main">
              <a:ext uri="{FF2B5EF4-FFF2-40B4-BE49-F238E27FC236}">
                <a16:creationId xmlns:a16="http://schemas.microsoft.com/office/drawing/2014/main" id="{07D134A6-F42F-4FA3-BF65-DD030903AC45}"/>
              </a:ext>
            </a:extLst>
          </p:cNvPr>
          <p:cNvSpPr>
            <a:spLocks xmlns:a="http://schemas.openxmlformats.org/drawingml/2006/main" noGrp="1"/>
          </p:cNvSpPr>
          <p:nvPr/>
        </p:nvSpPr>
        <p:spPr>
          <a:xfrm xmlns:a="http://schemas.openxmlformats.org/drawingml/2006/main">
            <a:off x="3600450" y="3476625"/>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88" b="0">
                <a:solidFill>
                  <a:srgbClr val="FFFFFF"/>
                </a:solidFill>
                <a:latin typeface="Aptos"/>
                <a:ea typeface="Aptos"/>
                <a:cs typeface="Aptos"/>
              </a:defRPr>
            </a:pPr>
            <a:r>
              <a:rPr sz="1088" b="0">
                <a:solidFill>
                  <a:srgbClr val="FFFFFF"/>
                </a:solidFill>
                <a:latin typeface="Aptos"/>
                <a:ea typeface="Aptos"/>
                <a:cs typeface="Aptos"/>
              </a:rPr>
              <a:t>Build the practice limiter safely</a:t>
            </a:r>
          </a:p>
        </p:txBody>
      </p:sp>
      <p:sp>
        <p:nvSpPr>
          <p:cNvPr id="24" name="s4-route-2">
            <a:extLst xmlns:a="http://schemas.openxmlformats.org/drawingml/2006/main">
              <a:ext uri="{FF2B5EF4-FFF2-40B4-BE49-F238E27FC236}">
                <a16:creationId xmlns:a16="http://schemas.microsoft.com/office/drawing/2014/main" id="{043ABDDF-5A37-4B2B-A241-A7AED8687044}"/>
              </a:ext>
            </a:extLst>
          </p:cNvPr>
          <p:cNvSpPr>
            <a:spLocks xmlns:a="http://schemas.openxmlformats.org/drawingml/2006/main" noGrp="1"/>
          </p:cNvSpPr>
          <p:nvPr/>
        </p:nvSpPr>
        <p:spPr>
          <a:xfrm xmlns:a="http://schemas.openxmlformats.org/drawingml/2006/main">
            <a:off x="6172200" y="1619250"/>
            <a:ext cx="2514600" cy="2724150"/>
          </a:xfrm>
          <a:prstGeom xmlns:a="http://schemas.openxmlformats.org/drawingml/2006/main" prst="roundRect">
            <a:avLst>
              <a:gd name="adj" fmla="val 4545"/>
            </a:avLst>
          </a:prstGeom>
          <a:solidFill xmlns:a="http://schemas.openxmlformats.org/drawingml/2006/main">
            <a:srgbClr val="0C2133"/>
          </a:solidFill>
          <a:ln xmlns:a="http://schemas.openxmlformats.org/drawingml/2006/main" w="16193">
            <a:solidFill>
              <a:srgbClr val="20B7C5"/>
            </a:solidFill>
            <a:prstDash val="solid"/>
          </a:ln>
        </p:spPr>
      </p:sp>
      <p:sp>
        <p:nvSpPr>
          <p:cNvPr id="25" name="s4-num-2">
            <a:extLst xmlns:a="http://schemas.openxmlformats.org/drawingml/2006/main">
              <a:ext uri="{FF2B5EF4-FFF2-40B4-BE49-F238E27FC236}">
                <a16:creationId xmlns:a16="http://schemas.microsoft.com/office/drawing/2014/main" id="{D30FCA85-CEEE-4412-984D-7F9C9ED9B2C8}"/>
              </a:ext>
            </a:extLst>
          </p:cNvPr>
          <p:cNvSpPr>
            <a:spLocks xmlns:a="http://schemas.openxmlformats.org/drawingml/2006/main" noGrp="1"/>
          </p:cNvSpPr>
          <p:nvPr/>
        </p:nvSpPr>
        <p:spPr>
          <a:xfrm xmlns:a="http://schemas.openxmlformats.org/drawingml/2006/main">
            <a:off x="6343650" y="1790700"/>
            <a:ext cx="4953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03</a:t>
            </a:r>
          </a:p>
        </p:txBody>
      </p:sp>
      <p:sp>
        <p:nvSpPr>
          <p:cNvPr id="26" name="s4-title-2">
            <a:extLst xmlns:a="http://schemas.openxmlformats.org/drawingml/2006/main">
              <a:ext uri="{FF2B5EF4-FFF2-40B4-BE49-F238E27FC236}">
                <a16:creationId xmlns:a16="http://schemas.microsoft.com/office/drawing/2014/main" id="{57D7498B-5B86-403A-A303-479788D038B7}"/>
              </a:ext>
            </a:extLst>
          </p:cNvPr>
          <p:cNvSpPr>
            <a:spLocks xmlns:a="http://schemas.openxmlformats.org/drawingml/2006/main" noGrp="1"/>
          </p:cNvSpPr>
          <p:nvPr/>
        </p:nvSpPr>
        <p:spPr>
          <a:xfrm xmlns:a="http://schemas.openxmlformats.org/drawingml/2006/main">
            <a:off x="6343650" y="220980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ASSURANCE WORKFLOW</a:t>
            </a:r>
          </a:p>
        </p:txBody>
      </p:sp>
      <p:sp>
        <p:nvSpPr>
          <p:cNvPr id="27" name="s4-range-2">
            <a:extLst xmlns:a="http://schemas.openxmlformats.org/drawingml/2006/main">
              <a:ext uri="{FF2B5EF4-FFF2-40B4-BE49-F238E27FC236}">
                <a16:creationId xmlns:a16="http://schemas.microsoft.com/office/drawing/2014/main" id="{CE85BD5F-9BF4-48F9-9116-A4DC72D35423}"/>
              </a:ext>
            </a:extLst>
          </p:cNvPr>
          <p:cNvSpPr>
            <a:spLocks xmlns:a="http://schemas.openxmlformats.org/drawingml/2006/main" noGrp="1"/>
          </p:cNvSpPr>
          <p:nvPr/>
        </p:nvSpPr>
        <p:spPr>
          <a:xfrm xmlns:a="http://schemas.openxmlformats.org/drawingml/2006/main">
            <a:off x="6343650" y="2971800"/>
            <a:ext cx="217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1">
                <a:solidFill>
                  <a:srgbClr val="70DCE5"/>
                </a:solidFill>
                <a:latin typeface="Aptos"/>
                <a:ea typeface="Aptos"/>
                <a:cs typeface="Aptos"/>
              </a:defRPr>
            </a:pPr>
            <a:r>
              <a:rPr sz="1065" b="1">
                <a:solidFill>
                  <a:srgbClr val="70DCE5"/>
                </a:solidFill>
                <a:latin typeface="Aptos"/>
                <a:ea typeface="Aptos"/>
                <a:cs typeface="Aptos"/>
              </a:rPr>
              <a:t>Slides 35–46</a:t>
            </a:r>
          </a:p>
        </p:txBody>
      </p:sp>
      <p:sp>
        <p:nvSpPr>
          <p:cNvPr id="28" name="s4-desc-2">
            <a:extLst xmlns:a="http://schemas.openxmlformats.org/drawingml/2006/main">
              <a:ext uri="{FF2B5EF4-FFF2-40B4-BE49-F238E27FC236}">
                <a16:creationId xmlns:a16="http://schemas.microsoft.com/office/drawing/2014/main" id="{72EAB4AD-0C4D-4E5C-AE33-AD184838E77E}"/>
              </a:ext>
            </a:extLst>
          </p:cNvPr>
          <p:cNvSpPr>
            <a:spLocks xmlns:a="http://schemas.openxmlformats.org/drawingml/2006/main" noGrp="1"/>
          </p:cNvSpPr>
          <p:nvPr/>
        </p:nvSpPr>
        <p:spPr>
          <a:xfrm xmlns:a="http://schemas.openxmlformats.org/drawingml/2006/main">
            <a:off x="6343650" y="3476625"/>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88" b="0">
                <a:solidFill>
                  <a:srgbClr val="FFFFFF"/>
                </a:solidFill>
                <a:latin typeface="Aptos"/>
                <a:ea typeface="Aptos"/>
                <a:cs typeface="Aptos"/>
              </a:defRPr>
            </a:pPr>
            <a:r>
              <a:rPr sz="1088" b="0">
                <a:solidFill>
                  <a:srgbClr val="FFFFFF"/>
                </a:solidFill>
                <a:latin typeface="Aptos"/>
                <a:ea typeface="Aptos"/>
                <a:cs typeface="Aptos"/>
              </a:rPr>
              <a:t>Advisor, traceability, CI, environments, sign-off</a:t>
            </a:r>
          </a:p>
        </p:txBody>
      </p:sp>
      <p:sp>
        <p:nvSpPr>
          <p:cNvPr id="29" name="s4-route-3">
            <a:extLst xmlns:a="http://schemas.openxmlformats.org/drawingml/2006/main">
              <a:ext uri="{FF2B5EF4-FFF2-40B4-BE49-F238E27FC236}">
                <a16:creationId xmlns:a16="http://schemas.microsoft.com/office/drawing/2014/main" id="{AFEE5224-6B3A-4727-A193-9F9DB8C57A2B}"/>
              </a:ext>
            </a:extLst>
          </p:cNvPr>
          <p:cNvSpPr>
            <a:spLocks xmlns:a="http://schemas.openxmlformats.org/drawingml/2006/main" noGrp="1"/>
          </p:cNvSpPr>
          <p:nvPr/>
        </p:nvSpPr>
        <p:spPr>
          <a:xfrm xmlns:a="http://schemas.openxmlformats.org/drawingml/2006/main">
            <a:off x="8915400" y="1619250"/>
            <a:ext cx="2514600" cy="2724150"/>
          </a:xfrm>
          <a:prstGeom xmlns:a="http://schemas.openxmlformats.org/drawingml/2006/main" prst="roundRect">
            <a:avLst>
              <a:gd name="adj" fmla="val 4545"/>
            </a:avLst>
          </a:prstGeom>
          <a:solidFill xmlns:a="http://schemas.openxmlformats.org/drawingml/2006/main">
            <a:srgbClr val="0C2133"/>
          </a:solidFill>
          <a:ln xmlns:a="http://schemas.openxmlformats.org/drawingml/2006/main" w="16193">
            <a:solidFill>
              <a:srgbClr val="20B7C5"/>
            </a:solidFill>
            <a:prstDash val="solid"/>
          </a:ln>
        </p:spPr>
      </p:sp>
      <p:sp>
        <p:nvSpPr>
          <p:cNvPr id="30" name="s4-num-3">
            <a:extLst xmlns:a="http://schemas.openxmlformats.org/drawingml/2006/main">
              <a:ext uri="{FF2B5EF4-FFF2-40B4-BE49-F238E27FC236}">
                <a16:creationId xmlns:a16="http://schemas.microsoft.com/office/drawing/2014/main" id="{B12B9510-A86E-4655-8129-4833B2F6CCF7}"/>
              </a:ext>
            </a:extLst>
          </p:cNvPr>
          <p:cNvSpPr>
            <a:spLocks xmlns:a="http://schemas.openxmlformats.org/drawingml/2006/main" noGrp="1"/>
          </p:cNvSpPr>
          <p:nvPr/>
        </p:nvSpPr>
        <p:spPr>
          <a:xfrm xmlns:a="http://schemas.openxmlformats.org/drawingml/2006/main">
            <a:off x="9086850" y="1790700"/>
            <a:ext cx="4953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04</a:t>
            </a:r>
          </a:p>
        </p:txBody>
      </p:sp>
      <p:sp>
        <p:nvSpPr>
          <p:cNvPr id="31" name="s4-title-3">
            <a:extLst xmlns:a="http://schemas.openxmlformats.org/drawingml/2006/main">
              <a:ext uri="{FF2B5EF4-FFF2-40B4-BE49-F238E27FC236}">
                <a16:creationId xmlns:a16="http://schemas.microsoft.com/office/drawing/2014/main" id="{E7F7F9BE-0379-4D25-999F-C7145B438AD2}"/>
              </a:ext>
            </a:extLst>
          </p:cNvPr>
          <p:cNvSpPr>
            <a:spLocks xmlns:a="http://schemas.openxmlformats.org/drawingml/2006/main" noGrp="1"/>
          </p:cNvSpPr>
          <p:nvPr/>
        </p:nvSpPr>
        <p:spPr>
          <a:xfrm xmlns:a="http://schemas.openxmlformats.org/drawingml/2006/main">
            <a:off x="9086850" y="220980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REFERENCE APPENDIX</a:t>
            </a:r>
          </a:p>
        </p:txBody>
      </p:sp>
      <p:sp>
        <p:nvSpPr>
          <p:cNvPr id="32" name="s4-range-3">
            <a:extLst xmlns:a="http://schemas.openxmlformats.org/drawingml/2006/main">
              <a:ext uri="{FF2B5EF4-FFF2-40B4-BE49-F238E27FC236}">
                <a16:creationId xmlns:a16="http://schemas.microsoft.com/office/drawing/2014/main" id="{880B690C-79AA-4177-9831-F8B5AD1F5EA5}"/>
              </a:ext>
            </a:extLst>
          </p:cNvPr>
          <p:cNvSpPr>
            <a:spLocks xmlns:a="http://schemas.openxmlformats.org/drawingml/2006/main" noGrp="1"/>
          </p:cNvSpPr>
          <p:nvPr/>
        </p:nvSpPr>
        <p:spPr>
          <a:xfrm xmlns:a="http://schemas.openxmlformats.org/drawingml/2006/main">
            <a:off x="9086850" y="2971800"/>
            <a:ext cx="217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1">
                <a:solidFill>
                  <a:srgbClr val="70DCE5"/>
                </a:solidFill>
                <a:latin typeface="Aptos"/>
                <a:ea typeface="Aptos"/>
                <a:cs typeface="Aptos"/>
              </a:defRPr>
            </a:pPr>
            <a:r>
              <a:rPr sz="1065" b="1">
                <a:solidFill>
                  <a:srgbClr val="70DCE5"/>
                </a:solidFill>
                <a:latin typeface="Aptos"/>
                <a:ea typeface="Aptos"/>
                <a:cs typeface="Aptos"/>
              </a:rPr>
              <a:t>Slides 49–55</a:t>
            </a:r>
          </a:p>
        </p:txBody>
      </p:sp>
      <p:sp>
        <p:nvSpPr>
          <p:cNvPr id="33" name="s4-desc-3">
            <a:extLst xmlns:a="http://schemas.openxmlformats.org/drawingml/2006/main">
              <a:ext uri="{FF2B5EF4-FFF2-40B4-BE49-F238E27FC236}">
                <a16:creationId xmlns:a16="http://schemas.microsoft.com/office/drawing/2014/main" id="{6E52D84E-2DE4-48AC-8619-118F9CF53B58}"/>
              </a:ext>
            </a:extLst>
          </p:cNvPr>
          <p:cNvSpPr>
            <a:spLocks xmlns:a="http://schemas.openxmlformats.org/drawingml/2006/main" noGrp="1"/>
          </p:cNvSpPr>
          <p:nvPr/>
        </p:nvSpPr>
        <p:spPr>
          <a:xfrm xmlns:a="http://schemas.openxmlformats.org/drawingml/2006/main">
            <a:off x="9086850" y="3476625"/>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88" b="0">
                <a:solidFill>
                  <a:srgbClr val="FFFFFF"/>
                </a:solidFill>
                <a:latin typeface="Aptos"/>
                <a:ea typeface="Aptos"/>
                <a:cs typeface="Aptos"/>
              </a:defRPr>
            </a:pPr>
            <a:r>
              <a:rPr sz="1088" b="0">
                <a:solidFill>
                  <a:srgbClr val="FFFFFF"/>
                </a:solidFill>
                <a:latin typeface="Aptos"/>
                <a:ea typeface="Aptos"/>
                <a:cs typeface="Aptos"/>
              </a:rPr>
              <a:t>Glossary, model gallery, overlays, callbacks</a:t>
            </a:r>
          </a:p>
        </p:txBody>
      </p:sp>
      <p:sp>
        <p:nvSpPr>
          <p:cNvPr id="34" name="s4-start">
            <a:extLst xmlns:a="http://schemas.openxmlformats.org/drawingml/2006/main">
              <a:ext uri="{FF2B5EF4-FFF2-40B4-BE49-F238E27FC236}">
                <a16:creationId xmlns:a16="http://schemas.microsoft.com/office/drawing/2014/main" id="{A69C5C57-9BE8-4798-8615-D486D548B724}"/>
              </a:ext>
            </a:extLst>
          </p:cNvPr>
          <p:cNvSpPr>
            <a:spLocks xmlns:a="http://schemas.openxmlformats.org/drawingml/2006/main" noGrp="1"/>
          </p:cNvSpPr>
          <p:nvPr/>
        </p:nvSpPr>
        <p:spPr>
          <a:xfrm xmlns:a="http://schemas.openxmlformats.org/drawingml/2006/main">
            <a:off x="685800" y="485775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RECOMMENDED NEW-HIRE ROUTE  •  1–12 → 13–19 → 20–34 → 35–48  •  use 49–55 when a reference view is needed</a:t>
            </a:r>
          </a:p>
        </p:txBody>
      </p:sp>
    </p:spTree>
    <p:extLst>
      <p:ext uri="{BB962C8B-B14F-4D97-AF65-F5344CB8AC3E}">
        <p14:creationId xmlns:p14="http://schemas.microsoft.com/office/powerpoint/2010/main" val="888420416"/>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00 • 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251"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52"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53"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54"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00 • 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Your mission is to build, execute, explain, and hand off one chain</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06</a:t>
            </a:r>
          </a:p>
        </p:txBody>
      </p:sp>
      <p:sp>
        <p:nvSpPr>
          <p:cNvPr id="14" name="s6-mission">
            <a:extLst xmlns:a="http://schemas.openxmlformats.org/drawingml/2006/main">
              <a:ext uri="{FF2B5EF4-FFF2-40B4-BE49-F238E27FC236}">
                <a16:creationId xmlns:a16="http://schemas.microsoft.com/office/drawing/2014/main" id="{ECB34EE1-31C0-483A-AABF-29DFED5890F9}"/>
              </a:ext>
            </a:extLst>
          </p:cNvPr>
          <p:cNvSpPr>
            <a:spLocks xmlns:a="http://schemas.openxmlformats.org/drawingml/2006/main" noGrp="1"/>
          </p:cNvSpPr>
          <p:nvPr/>
        </p:nvSpPr>
        <p:spPr>
          <a:xfrm xmlns:a="http://schemas.openxmlformats.org/drawingml/2006/main">
            <a:off x="685800" y="1485900"/>
            <a:ext cx="10820400" cy="685800"/>
          </a:xfrm>
          <a:prstGeom xmlns:a="http://schemas.openxmlformats.org/drawingml/2006/main" prst="roundRect">
            <a:avLst>
              <a:gd name="adj" fmla="val 16667"/>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MISSION  •  create a uniquely named limiter + matching practice harness, execute its learner-local evidence, and defend every claim</a:t>
            </a:r>
          </a:p>
        </p:txBody>
      </p:sp>
      <p:sp>
        <p:nvSpPr>
          <p:cNvPr id="15" name="s6-stage-0">
            <a:extLst xmlns:a="http://schemas.openxmlformats.org/drawingml/2006/main">
              <a:ext uri="{FF2B5EF4-FFF2-40B4-BE49-F238E27FC236}">
                <a16:creationId xmlns:a16="http://schemas.microsoft.com/office/drawing/2014/main" id="{D3ACC00E-ED8C-4175-85CE-CCFDF44EC6B1}"/>
              </a:ext>
            </a:extLst>
          </p:cNvPr>
          <p:cNvSpPr>
            <a:spLocks xmlns:a="http://schemas.openxmlformats.org/drawingml/2006/main" noGrp="1"/>
          </p:cNvSpPr>
          <p:nvPr/>
        </p:nvSpPr>
        <p:spPr>
          <a:xfrm xmlns:a="http://schemas.openxmlformats.org/drawingml/2006/main">
            <a:off x="685800" y="2476500"/>
            <a:ext cx="3352800" cy="1066800"/>
          </a:xfrm>
          <a:prstGeom xmlns:a="http://schemas.openxmlformats.org/drawingml/2006/main" prst="roundRect">
            <a:avLst>
              <a:gd name="adj" fmla="val 10714"/>
            </a:avLst>
          </a:prstGeom>
          <a:solidFill xmlns:a="http://schemas.openxmlformats.org/drawingml/2006/main">
            <a:srgbClr val="091A29"/>
          </a:solidFill>
          <a:ln xmlns:a="http://schemas.openxmlformats.org/drawingml/2006/main" w="11430">
            <a:solidFill>
              <a:srgbClr val="20B7C5"/>
            </a:solidFill>
            <a:prstDash val="solid"/>
          </a:ln>
        </p:spPr>
      </p:sp>
      <p:sp>
        <p:nvSpPr>
          <p:cNvPr id="16" name="s6-stage-num-0">
            <a:extLst xmlns:a="http://schemas.openxmlformats.org/drawingml/2006/main">
              <a:ext uri="{FF2B5EF4-FFF2-40B4-BE49-F238E27FC236}">
                <a16:creationId xmlns:a16="http://schemas.microsoft.com/office/drawing/2014/main" id="{B9F2E5C6-948D-4A1A-9827-947C2DF58BBB}"/>
              </a:ext>
            </a:extLst>
          </p:cNvPr>
          <p:cNvSpPr>
            <a:spLocks xmlns:a="http://schemas.openxmlformats.org/drawingml/2006/main" noGrp="1"/>
          </p:cNvSpPr>
          <p:nvPr/>
        </p:nvSpPr>
        <p:spPr>
          <a:xfrm xmlns:a="http://schemas.openxmlformats.org/drawingml/2006/main">
            <a:off x="838200" y="2647950"/>
            <a:ext cx="4000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1</a:t>
            </a:r>
          </a:p>
        </p:txBody>
      </p:sp>
      <p:sp>
        <p:nvSpPr>
          <p:cNvPr id="17" name="s6-stage-title-0">
            <a:extLst xmlns:a="http://schemas.openxmlformats.org/drawingml/2006/main">
              <a:ext uri="{FF2B5EF4-FFF2-40B4-BE49-F238E27FC236}">
                <a16:creationId xmlns:a16="http://schemas.microsoft.com/office/drawing/2014/main" id="{6A1857BB-8B70-40B4-906B-1C8927DF56A2}"/>
              </a:ext>
            </a:extLst>
          </p:cNvPr>
          <p:cNvSpPr>
            <a:spLocks xmlns:a="http://schemas.openxmlformats.org/drawingml/2006/main" noGrp="1"/>
          </p:cNvSpPr>
          <p:nvPr/>
        </p:nvSpPr>
        <p:spPr>
          <a:xfrm xmlns:a="http://schemas.openxmlformats.org/drawingml/2006/main">
            <a:off x="1371600" y="26193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CREATE</a:t>
            </a:r>
          </a:p>
        </p:txBody>
      </p:sp>
      <p:sp>
        <p:nvSpPr>
          <p:cNvPr id="18" name="s6-stage-body-0">
            <a:extLst xmlns:a="http://schemas.openxmlformats.org/drawingml/2006/main">
              <a:ext uri="{FF2B5EF4-FFF2-40B4-BE49-F238E27FC236}">
                <a16:creationId xmlns:a16="http://schemas.microsoft.com/office/drawing/2014/main" id="{33A50F5E-561B-45EE-B105-081E4C6720E8}"/>
              </a:ext>
            </a:extLst>
          </p:cNvPr>
          <p:cNvSpPr>
            <a:spLocks xmlns:a="http://schemas.openxmlformats.org/drawingml/2006/main" noGrp="1"/>
          </p:cNvSpPr>
          <p:nvPr/>
        </p:nvSpPr>
        <p:spPr>
          <a:xfrm xmlns:a="http://schemas.openxmlformats.org/drawingml/2006/main">
            <a:off x="1371600" y="29527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0">
                <a:solidFill>
                  <a:srgbClr val="7D91A0"/>
                </a:solidFill>
                <a:latin typeface="Aptos"/>
                <a:ea typeface="Aptos"/>
                <a:cs typeface="Aptos"/>
              </a:defRPr>
            </a:pPr>
            <a:r>
              <a:rPr sz="1065" b="0">
                <a:solidFill>
                  <a:srgbClr val="7D91A0"/>
                </a:solidFill>
                <a:latin typeface="Aptos"/>
                <a:ea typeface="Aptos"/>
                <a:cs typeface="Aptos"/>
              </a:rPr>
              <a:t>ports • parameters • logic</a:t>
            </a:r>
          </a:p>
        </p:txBody>
      </p:sp>
      <p:sp>
        <p:nvSpPr>
          <p:cNvPr id="19" name="s6-stage-1">
            <a:extLst xmlns:a="http://schemas.openxmlformats.org/drawingml/2006/main">
              <a:ext uri="{FF2B5EF4-FFF2-40B4-BE49-F238E27FC236}">
                <a16:creationId xmlns:a16="http://schemas.microsoft.com/office/drawing/2014/main" id="{B887693F-B893-4981-98AA-1BDFD56C22F2}"/>
              </a:ext>
            </a:extLst>
          </p:cNvPr>
          <p:cNvSpPr>
            <a:spLocks xmlns:a="http://schemas.openxmlformats.org/drawingml/2006/main" noGrp="1"/>
          </p:cNvSpPr>
          <p:nvPr/>
        </p:nvSpPr>
        <p:spPr>
          <a:xfrm xmlns:a="http://schemas.openxmlformats.org/drawingml/2006/main">
            <a:off x="4343400" y="2476500"/>
            <a:ext cx="3352800" cy="1066800"/>
          </a:xfrm>
          <a:prstGeom xmlns:a="http://schemas.openxmlformats.org/drawingml/2006/main" prst="roundRect">
            <a:avLst>
              <a:gd name="adj" fmla="val 10714"/>
            </a:avLst>
          </a:prstGeom>
          <a:solidFill xmlns:a="http://schemas.openxmlformats.org/drawingml/2006/main">
            <a:srgbClr val="091A29"/>
          </a:solidFill>
          <a:ln xmlns:a="http://schemas.openxmlformats.org/drawingml/2006/main" w="11430">
            <a:solidFill>
              <a:srgbClr val="20B7C5"/>
            </a:solidFill>
            <a:prstDash val="solid"/>
          </a:ln>
        </p:spPr>
      </p:sp>
      <p:sp>
        <p:nvSpPr>
          <p:cNvPr id="20" name="s6-stage-num-1">
            <a:extLst xmlns:a="http://schemas.openxmlformats.org/drawingml/2006/main">
              <a:ext uri="{FF2B5EF4-FFF2-40B4-BE49-F238E27FC236}">
                <a16:creationId xmlns:a16="http://schemas.microsoft.com/office/drawing/2014/main" id="{2A0F0DD8-F168-45DC-97E0-1764694D064D}"/>
              </a:ext>
            </a:extLst>
          </p:cNvPr>
          <p:cNvSpPr>
            <a:spLocks xmlns:a="http://schemas.openxmlformats.org/drawingml/2006/main" noGrp="1"/>
          </p:cNvSpPr>
          <p:nvPr/>
        </p:nvSpPr>
        <p:spPr>
          <a:xfrm xmlns:a="http://schemas.openxmlformats.org/drawingml/2006/main">
            <a:off x="4495800" y="2647950"/>
            <a:ext cx="4000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2</a:t>
            </a:r>
          </a:p>
        </p:txBody>
      </p:sp>
      <p:sp>
        <p:nvSpPr>
          <p:cNvPr id="21" name="s6-stage-title-1">
            <a:extLst xmlns:a="http://schemas.openxmlformats.org/drawingml/2006/main">
              <a:ext uri="{FF2B5EF4-FFF2-40B4-BE49-F238E27FC236}">
                <a16:creationId xmlns:a16="http://schemas.microsoft.com/office/drawing/2014/main" id="{469BA18C-4134-4287-9E04-D1F345088F56}"/>
              </a:ext>
            </a:extLst>
          </p:cNvPr>
          <p:cNvSpPr>
            <a:spLocks xmlns:a="http://schemas.openxmlformats.org/drawingml/2006/main" noGrp="1"/>
          </p:cNvSpPr>
          <p:nvPr/>
        </p:nvSpPr>
        <p:spPr>
          <a:xfrm xmlns:a="http://schemas.openxmlformats.org/drawingml/2006/main">
            <a:off x="5029200" y="26193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CONFIGURE</a:t>
            </a:r>
          </a:p>
        </p:txBody>
      </p:sp>
      <p:sp>
        <p:nvSpPr>
          <p:cNvPr id="22" name="s6-stage-body-1">
            <a:extLst xmlns:a="http://schemas.openxmlformats.org/drawingml/2006/main">
              <a:ext uri="{FF2B5EF4-FFF2-40B4-BE49-F238E27FC236}">
                <a16:creationId xmlns:a16="http://schemas.microsoft.com/office/drawing/2014/main" id="{C394304C-F0E6-4DC3-A2DF-B6E32BEE16C2}"/>
              </a:ext>
            </a:extLst>
          </p:cNvPr>
          <p:cNvSpPr>
            <a:spLocks xmlns:a="http://schemas.openxmlformats.org/drawingml/2006/main" noGrp="1"/>
          </p:cNvSpPr>
          <p:nvPr/>
        </p:nvSpPr>
        <p:spPr>
          <a:xfrm xmlns:a="http://schemas.openxmlformats.org/drawingml/2006/main">
            <a:off x="5029200" y="29527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0">
                <a:solidFill>
                  <a:srgbClr val="7D91A0"/>
                </a:solidFill>
                <a:latin typeface="Aptos"/>
                <a:ea typeface="Aptos"/>
                <a:cs typeface="Aptos"/>
              </a:defRPr>
            </a:pPr>
            <a:r>
              <a:rPr sz="1065" b="0">
                <a:solidFill>
                  <a:srgbClr val="7D91A0"/>
                </a:solidFill>
                <a:latin typeface="Aptos"/>
                <a:ea typeface="Aptos"/>
                <a:cs typeface="Aptos"/>
              </a:rPr>
              <a:t>dictionary • 50 Hz • logging</a:t>
            </a:r>
          </a:p>
        </p:txBody>
      </p:sp>
      <p:sp>
        <p:nvSpPr>
          <p:cNvPr id="23" name="s6-stage-2">
            <a:extLst xmlns:a="http://schemas.openxmlformats.org/drawingml/2006/main">
              <a:ext uri="{FF2B5EF4-FFF2-40B4-BE49-F238E27FC236}">
                <a16:creationId xmlns:a16="http://schemas.microsoft.com/office/drawing/2014/main" id="{5010E4BA-66B3-4949-BDB7-6CCD747D9854}"/>
              </a:ext>
            </a:extLst>
          </p:cNvPr>
          <p:cNvSpPr>
            <a:spLocks xmlns:a="http://schemas.openxmlformats.org/drawingml/2006/main" noGrp="1"/>
          </p:cNvSpPr>
          <p:nvPr/>
        </p:nvSpPr>
        <p:spPr>
          <a:xfrm xmlns:a="http://schemas.openxmlformats.org/drawingml/2006/main">
            <a:off x="8001000" y="2476500"/>
            <a:ext cx="3352800" cy="1066800"/>
          </a:xfrm>
          <a:prstGeom xmlns:a="http://schemas.openxmlformats.org/drawingml/2006/main" prst="roundRect">
            <a:avLst>
              <a:gd name="adj" fmla="val 10714"/>
            </a:avLst>
          </a:prstGeom>
          <a:solidFill xmlns:a="http://schemas.openxmlformats.org/drawingml/2006/main">
            <a:srgbClr val="091A29"/>
          </a:solidFill>
          <a:ln xmlns:a="http://schemas.openxmlformats.org/drawingml/2006/main" w="11430">
            <a:solidFill>
              <a:srgbClr val="20B7C5"/>
            </a:solidFill>
            <a:prstDash val="solid"/>
          </a:ln>
        </p:spPr>
      </p:sp>
      <p:sp>
        <p:nvSpPr>
          <p:cNvPr id="24" name="s6-stage-num-2">
            <a:extLst xmlns:a="http://schemas.openxmlformats.org/drawingml/2006/main">
              <a:ext uri="{FF2B5EF4-FFF2-40B4-BE49-F238E27FC236}">
                <a16:creationId xmlns:a16="http://schemas.microsoft.com/office/drawing/2014/main" id="{0C093750-A272-44B0-A052-C8CECF41B8B8}"/>
              </a:ext>
            </a:extLst>
          </p:cNvPr>
          <p:cNvSpPr>
            <a:spLocks xmlns:a="http://schemas.openxmlformats.org/drawingml/2006/main" noGrp="1"/>
          </p:cNvSpPr>
          <p:nvPr/>
        </p:nvSpPr>
        <p:spPr>
          <a:xfrm xmlns:a="http://schemas.openxmlformats.org/drawingml/2006/main">
            <a:off x="8153400" y="2647950"/>
            <a:ext cx="4000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3</a:t>
            </a:r>
          </a:p>
        </p:txBody>
      </p:sp>
      <p:sp>
        <p:nvSpPr>
          <p:cNvPr id="25" name="s6-stage-title-2">
            <a:extLst xmlns:a="http://schemas.openxmlformats.org/drawingml/2006/main">
              <a:ext uri="{FF2B5EF4-FFF2-40B4-BE49-F238E27FC236}">
                <a16:creationId xmlns:a16="http://schemas.microsoft.com/office/drawing/2014/main" id="{64E722CC-DEF5-4BD5-8443-F06C35C6E832}"/>
              </a:ext>
            </a:extLst>
          </p:cNvPr>
          <p:cNvSpPr>
            <a:spLocks xmlns:a="http://schemas.openxmlformats.org/drawingml/2006/main" noGrp="1"/>
          </p:cNvSpPr>
          <p:nvPr/>
        </p:nvSpPr>
        <p:spPr>
          <a:xfrm xmlns:a="http://schemas.openxmlformats.org/drawingml/2006/main">
            <a:off x="8686800" y="26193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UPDATE</a:t>
            </a:r>
          </a:p>
        </p:txBody>
      </p:sp>
      <p:sp>
        <p:nvSpPr>
          <p:cNvPr id="26" name="s6-stage-body-2">
            <a:extLst xmlns:a="http://schemas.openxmlformats.org/drawingml/2006/main">
              <a:ext uri="{FF2B5EF4-FFF2-40B4-BE49-F238E27FC236}">
                <a16:creationId xmlns:a16="http://schemas.microsoft.com/office/drawing/2014/main" id="{D1A3C667-D121-4DE4-809F-120EFAAF9560}"/>
              </a:ext>
            </a:extLst>
          </p:cNvPr>
          <p:cNvSpPr>
            <a:spLocks xmlns:a="http://schemas.openxmlformats.org/drawingml/2006/main" noGrp="1"/>
          </p:cNvSpPr>
          <p:nvPr/>
        </p:nvSpPr>
        <p:spPr>
          <a:xfrm xmlns:a="http://schemas.openxmlformats.org/drawingml/2006/main">
            <a:off x="8686800" y="29527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0">
                <a:solidFill>
                  <a:srgbClr val="7D91A0"/>
                </a:solidFill>
                <a:latin typeface="Aptos"/>
                <a:ea typeface="Aptos"/>
                <a:cs typeface="Aptos"/>
              </a:defRPr>
            </a:pPr>
            <a:r>
              <a:rPr sz="1065" b="0">
                <a:solidFill>
                  <a:srgbClr val="7D91A0"/>
                </a:solidFill>
                <a:latin typeface="Aptos"/>
                <a:ea typeface="Aptos"/>
                <a:cs typeface="Aptos"/>
              </a:rPr>
              <a:t>Ctrl+D • resolve semantics</a:t>
            </a:r>
          </a:p>
        </p:txBody>
      </p:sp>
      <p:sp>
        <p:nvSpPr>
          <p:cNvPr id="27" name="s6-stage-3">
            <a:extLst xmlns:a="http://schemas.openxmlformats.org/drawingml/2006/main">
              <a:ext uri="{FF2B5EF4-FFF2-40B4-BE49-F238E27FC236}">
                <a16:creationId xmlns:a16="http://schemas.microsoft.com/office/drawing/2014/main" id="{74A42780-BFC5-40D8-9F23-E6482E97C72D}"/>
              </a:ext>
            </a:extLst>
          </p:cNvPr>
          <p:cNvSpPr>
            <a:spLocks xmlns:a="http://schemas.openxmlformats.org/drawingml/2006/main" noGrp="1"/>
          </p:cNvSpPr>
          <p:nvPr/>
        </p:nvSpPr>
        <p:spPr>
          <a:xfrm xmlns:a="http://schemas.openxmlformats.org/drawingml/2006/main">
            <a:off x="685800" y="3829050"/>
            <a:ext cx="3352800" cy="1066800"/>
          </a:xfrm>
          <a:prstGeom xmlns:a="http://schemas.openxmlformats.org/drawingml/2006/main" prst="roundRect">
            <a:avLst>
              <a:gd name="adj" fmla="val 10714"/>
            </a:avLst>
          </a:prstGeom>
          <a:solidFill xmlns:a="http://schemas.openxmlformats.org/drawingml/2006/main">
            <a:srgbClr val="091A29"/>
          </a:solidFill>
          <a:ln xmlns:a="http://schemas.openxmlformats.org/drawingml/2006/main" w="11430">
            <a:solidFill>
              <a:srgbClr val="20B7C5"/>
            </a:solidFill>
            <a:prstDash val="solid"/>
          </a:ln>
        </p:spPr>
      </p:sp>
      <p:sp>
        <p:nvSpPr>
          <p:cNvPr id="28" name="s6-stage-num-3">
            <a:extLst xmlns:a="http://schemas.openxmlformats.org/drawingml/2006/main">
              <a:ext uri="{FF2B5EF4-FFF2-40B4-BE49-F238E27FC236}">
                <a16:creationId xmlns:a16="http://schemas.microsoft.com/office/drawing/2014/main" id="{95349FBE-07C2-472C-89F5-4372F4D5FC67}"/>
              </a:ext>
            </a:extLst>
          </p:cNvPr>
          <p:cNvSpPr>
            <a:spLocks xmlns:a="http://schemas.openxmlformats.org/drawingml/2006/main" noGrp="1"/>
          </p:cNvSpPr>
          <p:nvPr/>
        </p:nvSpPr>
        <p:spPr>
          <a:xfrm xmlns:a="http://schemas.openxmlformats.org/drawingml/2006/main">
            <a:off x="838200" y="4000500"/>
            <a:ext cx="4000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4</a:t>
            </a:r>
          </a:p>
        </p:txBody>
      </p:sp>
      <p:sp>
        <p:nvSpPr>
          <p:cNvPr id="29" name="s6-stage-title-3">
            <a:extLst xmlns:a="http://schemas.openxmlformats.org/drawingml/2006/main">
              <a:ext uri="{FF2B5EF4-FFF2-40B4-BE49-F238E27FC236}">
                <a16:creationId xmlns:a16="http://schemas.microsoft.com/office/drawing/2014/main" id="{4EE9FE19-0CE1-4457-9A11-5A3B18BEFB2E}"/>
              </a:ext>
            </a:extLst>
          </p:cNvPr>
          <p:cNvSpPr>
            <a:spLocks xmlns:a="http://schemas.openxmlformats.org/drawingml/2006/main" noGrp="1"/>
          </p:cNvSpPr>
          <p:nvPr/>
        </p:nvSpPr>
        <p:spPr>
          <a:xfrm xmlns:a="http://schemas.openxmlformats.org/drawingml/2006/main">
            <a:off x="1371600" y="39719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EXECUTE</a:t>
            </a:r>
          </a:p>
        </p:txBody>
      </p:sp>
      <p:sp>
        <p:nvSpPr>
          <p:cNvPr id="30" name="s6-stage-body-3">
            <a:extLst xmlns:a="http://schemas.openxmlformats.org/drawingml/2006/main">
              <a:ext uri="{FF2B5EF4-FFF2-40B4-BE49-F238E27FC236}">
                <a16:creationId xmlns:a16="http://schemas.microsoft.com/office/drawing/2014/main" id="{3754A3B9-B29D-4FB0-9B94-4901F40BC178}"/>
              </a:ext>
            </a:extLst>
          </p:cNvPr>
          <p:cNvSpPr>
            <a:spLocks xmlns:a="http://schemas.openxmlformats.org/drawingml/2006/main" noGrp="1"/>
          </p:cNvSpPr>
          <p:nvPr/>
        </p:nvSpPr>
        <p:spPr>
          <a:xfrm xmlns:a="http://schemas.openxmlformats.org/drawingml/2006/main">
            <a:off x="1371600" y="43053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0">
                <a:solidFill>
                  <a:srgbClr val="7D91A0"/>
                </a:solidFill>
                <a:latin typeface="Aptos"/>
                <a:ea typeface="Aptos"/>
                <a:cs typeface="Aptos"/>
              </a:defRPr>
            </a:pPr>
            <a:r>
              <a:rPr sz="1065" b="0">
                <a:solidFill>
                  <a:srgbClr val="7D91A0"/>
                </a:solidFill>
                <a:latin typeface="Aptos"/>
                <a:ea typeface="Aptos"/>
                <a:cs typeface="Aptos"/>
              </a:rPr>
              <a:t>practice driver • one 0.36 s MIL run</a:t>
            </a:r>
          </a:p>
        </p:txBody>
      </p:sp>
      <p:sp>
        <p:nvSpPr>
          <p:cNvPr id="31" name="s6-stage-4">
            <a:extLst xmlns:a="http://schemas.openxmlformats.org/drawingml/2006/main">
              <a:ext uri="{FF2B5EF4-FFF2-40B4-BE49-F238E27FC236}">
                <a16:creationId xmlns:a16="http://schemas.microsoft.com/office/drawing/2014/main" id="{CAEF0BDF-06A1-4368-92D7-562346ADCA83}"/>
              </a:ext>
            </a:extLst>
          </p:cNvPr>
          <p:cNvSpPr>
            <a:spLocks xmlns:a="http://schemas.openxmlformats.org/drawingml/2006/main" noGrp="1"/>
          </p:cNvSpPr>
          <p:nvPr/>
        </p:nvSpPr>
        <p:spPr>
          <a:xfrm xmlns:a="http://schemas.openxmlformats.org/drawingml/2006/main">
            <a:off x="4343400" y="3829050"/>
            <a:ext cx="3352800" cy="1066800"/>
          </a:xfrm>
          <a:prstGeom xmlns:a="http://schemas.openxmlformats.org/drawingml/2006/main" prst="roundRect">
            <a:avLst>
              <a:gd name="adj" fmla="val 10714"/>
            </a:avLst>
          </a:prstGeom>
          <a:solidFill xmlns:a="http://schemas.openxmlformats.org/drawingml/2006/main">
            <a:srgbClr val="091A29"/>
          </a:solidFill>
          <a:ln xmlns:a="http://schemas.openxmlformats.org/drawingml/2006/main" w="11430">
            <a:solidFill>
              <a:srgbClr val="20B7C5"/>
            </a:solidFill>
            <a:prstDash val="solid"/>
          </a:ln>
        </p:spPr>
      </p:sp>
      <p:sp>
        <p:nvSpPr>
          <p:cNvPr id="32" name="s6-stage-num-4">
            <a:extLst xmlns:a="http://schemas.openxmlformats.org/drawingml/2006/main">
              <a:ext uri="{FF2B5EF4-FFF2-40B4-BE49-F238E27FC236}">
                <a16:creationId xmlns:a16="http://schemas.microsoft.com/office/drawing/2014/main" id="{0403EBE4-556A-45E5-9439-C8F20C00DA9B}"/>
              </a:ext>
            </a:extLst>
          </p:cNvPr>
          <p:cNvSpPr>
            <a:spLocks xmlns:a="http://schemas.openxmlformats.org/drawingml/2006/main" noGrp="1"/>
          </p:cNvSpPr>
          <p:nvPr/>
        </p:nvSpPr>
        <p:spPr>
          <a:xfrm xmlns:a="http://schemas.openxmlformats.org/drawingml/2006/main">
            <a:off x="4495800" y="4000500"/>
            <a:ext cx="4000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5</a:t>
            </a:r>
          </a:p>
        </p:txBody>
      </p:sp>
      <p:sp>
        <p:nvSpPr>
          <p:cNvPr id="33" name="s6-stage-title-4">
            <a:extLst xmlns:a="http://schemas.openxmlformats.org/drawingml/2006/main">
              <a:ext uri="{FF2B5EF4-FFF2-40B4-BE49-F238E27FC236}">
                <a16:creationId xmlns:a16="http://schemas.microsoft.com/office/drawing/2014/main" id="{902714ED-713F-4C68-AB8E-18F182E28644}"/>
              </a:ext>
            </a:extLst>
          </p:cNvPr>
          <p:cNvSpPr>
            <a:spLocks xmlns:a="http://schemas.openxmlformats.org/drawingml/2006/main" noGrp="1"/>
          </p:cNvSpPr>
          <p:nvPr/>
        </p:nvSpPr>
        <p:spPr>
          <a:xfrm xmlns:a="http://schemas.openxmlformats.org/drawingml/2006/main">
            <a:off x="5029200" y="39719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EXPLAIN</a:t>
            </a:r>
          </a:p>
        </p:txBody>
      </p:sp>
      <p:sp>
        <p:nvSpPr>
          <p:cNvPr id="34" name="s6-stage-body-4">
            <a:extLst xmlns:a="http://schemas.openxmlformats.org/drawingml/2006/main">
              <a:ext uri="{FF2B5EF4-FFF2-40B4-BE49-F238E27FC236}">
                <a16:creationId xmlns:a16="http://schemas.microsoft.com/office/drawing/2014/main" id="{DB756667-5732-4156-A2A8-82EB14FFF148}"/>
              </a:ext>
            </a:extLst>
          </p:cNvPr>
          <p:cNvSpPr>
            <a:spLocks xmlns:a="http://schemas.openxmlformats.org/drawingml/2006/main" noGrp="1"/>
          </p:cNvSpPr>
          <p:nvPr/>
        </p:nvSpPr>
        <p:spPr>
          <a:xfrm xmlns:a="http://schemas.openxmlformats.org/drawingml/2006/main">
            <a:off x="5029200" y="43053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0">
                <a:solidFill>
                  <a:srgbClr val="7D91A0"/>
                </a:solidFill>
                <a:latin typeface="Aptos"/>
                <a:ea typeface="Aptos"/>
                <a:cs typeface="Aptos"/>
              </a:defRPr>
            </a:pPr>
            <a:r>
              <a:rPr sz="1065" b="0">
                <a:solidFill>
                  <a:srgbClr val="7D91A0"/>
                </a:solidFill>
                <a:latin typeface="Aptos"/>
                <a:ea typeface="Aptos"/>
                <a:cs typeface="Aptos"/>
              </a:rPr>
              <a:t>SDI • plots • traceability</a:t>
            </a:r>
          </a:p>
        </p:txBody>
      </p:sp>
      <p:sp>
        <p:nvSpPr>
          <p:cNvPr id="35" name="s6-stage-5">
            <a:extLst xmlns:a="http://schemas.openxmlformats.org/drawingml/2006/main">
              <a:ext uri="{FF2B5EF4-FFF2-40B4-BE49-F238E27FC236}">
                <a16:creationId xmlns:a16="http://schemas.microsoft.com/office/drawing/2014/main" id="{1B111C85-66DA-4CF0-9C6E-23538B7A7FBA}"/>
              </a:ext>
            </a:extLst>
          </p:cNvPr>
          <p:cNvSpPr>
            <a:spLocks xmlns:a="http://schemas.openxmlformats.org/drawingml/2006/main" noGrp="1"/>
          </p:cNvSpPr>
          <p:nvPr/>
        </p:nvSpPr>
        <p:spPr>
          <a:xfrm xmlns:a="http://schemas.openxmlformats.org/drawingml/2006/main">
            <a:off x="8001000" y="3829050"/>
            <a:ext cx="3352800" cy="1066800"/>
          </a:xfrm>
          <a:prstGeom xmlns:a="http://schemas.openxmlformats.org/drawingml/2006/main" prst="roundRect">
            <a:avLst>
              <a:gd name="adj" fmla="val 10714"/>
            </a:avLst>
          </a:prstGeom>
          <a:solidFill xmlns:a="http://schemas.openxmlformats.org/drawingml/2006/main">
            <a:srgbClr val="091A29"/>
          </a:solidFill>
          <a:ln xmlns:a="http://schemas.openxmlformats.org/drawingml/2006/main" w="11430">
            <a:solidFill>
              <a:srgbClr val="E9A23B"/>
            </a:solidFill>
            <a:prstDash val="solid"/>
          </a:ln>
        </p:spPr>
      </p:sp>
      <p:sp>
        <p:nvSpPr>
          <p:cNvPr id="36" name="s6-stage-num-5">
            <a:extLst xmlns:a="http://schemas.openxmlformats.org/drawingml/2006/main">
              <a:ext uri="{FF2B5EF4-FFF2-40B4-BE49-F238E27FC236}">
                <a16:creationId xmlns:a16="http://schemas.microsoft.com/office/drawing/2014/main" id="{791A6E0C-E1E8-4B62-A2D5-3C6D09C35753}"/>
              </a:ext>
            </a:extLst>
          </p:cNvPr>
          <p:cNvSpPr>
            <a:spLocks xmlns:a="http://schemas.openxmlformats.org/drawingml/2006/main" noGrp="1"/>
          </p:cNvSpPr>
          <p:nvPr/>
        </p:nvSpPr>
        <p:spPr>
          <a:xfrm xmlns:a="http://schemas.openxmlformats.org/drawingml/2006/main">
            <a:off x="8153400" y="4000500"/>
            <a:ext cx="400050" cy="285750"/>
          </a:xfrm>
          <a:prstGeom xmlns:a="http://schemas.openxmlformats.org/drawingml/2006/main" prst="roundRect">
            <a:avLst>
              <a:gd name="adj" fmla="val 40000"/>
            </a:avLst>
          </a:prstGeom>
          <a:solidFill xmlns:a="http://schemas.openxmlformats.org/drawingml/2006/main">
            <a:srgbClr val="E9A23B"/>
          </a:solidFill>
          <a:ln xmlns:a="http://schemas.openxmlformats.org/drawingml/2006/main" w="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6</a:t>
            </a:r>
          </a:p>
        </p:txBody>
      </p:sp>
      <p:sp>
        <p:nvSpPr>
          <p:cNvPr id="37" name="s6-stage-title-5">
            <a:extLst xmlns:a="http://schemas.openxmlformats.org/drawingml/2006/main">
              <a:ext uri="{FF2B5EF4-FFF2-40B4-BE49-F238E27FC236}">
                <a16:creationId xmlns:a16="http://schemas.microsoft.com/office/drawing/2014/main" id="{915A0453-4B9B-4D62-A850-BD82760A9462}"/>
              </a:ext>
            </a:extLst>
          </p:cNvPr>
          <p:cNvSpPr>
            <a:spLocks xmlns:a="http://schemas.openxmlformats.org/drawingml/2006/main" noGrp="1"/>
          </p:cNvSpPr>
          <p:nvPr/>
        </p:nvSpPr>
        <p:spPr>
          <a:xfrm xmlns:a="http://schemas.openxmlformats.org/drawingml/2006/main">
            <a:off x="8686800" y="39719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90" b="1">
                <a:solidFill>
                  <a:srgbClr val="FFFFFF"/>
                </a:solidFill>
                <a:latin typeface="Aptos"/>
                <a:ea typeface="Aptos"/>
                <a:cs typeface="Aptos"/>
              </a:defRPr>
            </a:pPr>
            <a:r>
              <a:rPr sz="1290" b="1">
                <a:solidFill>
                  <a:srgbClr val="FFFFFF"/>
                </a:solidFill>
                <a:latin typeface="Aptos"/>
                <a:ea typeface="Aptos"/>
                <a:cs typeface="Aptos"/>
              </a:rPr>
              <a:t>HAND OFF</a:t>
            </a:r>
          </a:p>
        </p:txBody>
      </p:sp>
      <p:sp>
        <p:nvSpPr>
          <p:cNvPr id="38" name="s6-stage-body-5">
            <a:extLst xmlns:a="http://schemas.openxmlformats.org/drawingml/2006/main">
              <a:ext uri="{FF2B5EF4-FFF2-40B4-BE49-F238E27FC236}">
                <a16:creationId xmlns:a16="http://schemas.microsoft.com/office/drawing/2014/main" id="{E6F42EC1-593E-475F-AE53-1F2822979951}"/>
              </a:ext>
            </a:extLst>
          </p:cNvPr>
          <p:cNvSpPr>
            <a:spLocks xmlns:a="http://schemas.openxmlformats.org/drawingml/2006/main" noGrp="1"/>
          </p:cNvSpPr>
          <p:nvPr/>
        </p:nvSpPr>
        <p:spPr>
          <a:xfrm xmlns:a="http://schemas.openxmlformats.org/drawingml/2006/main">
            <a:off x="8686800" y="43053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0">
                <a:solidFill>
                  <a:srgbClr val="7D91A0"/>
                </a:solidFill>
                <a:latin typeface="Aptos"/>
                <a:ea typeface="Aptos"/>
                <a:cs typeface="Aptos"/>
              </a:defRPr>
            </a:pPr>
            <a:r>
              <a:rPr sz="1065" b="0">
                <a:solidFill>
                  <a:srgbClr val="7D91A0"/>
                </a:solidFill>
                <a:latin typeface="Aptos"/>
                <a:ea typeface="Aptos"/>
                <a:cs typeface="Aptos"/>
              </a:rPr>
              <a:t>checklist • open gates</a:t>
            </a:r>
          </a:p>
        </p:txBody>
      </p:sp>
      <p:sp>
        <p:nvSpPr>
          <p:cNvPr id="39" name="s6-rule">
            <a:extLst xmlns:a="http://schemas.openxmlformats.org/drawingml/2006/main">
              <a:ext uri="{FF2B5EF4-FFF2-40B4-BE49-F238E27FC236}">
                <a16:creationId xmlns:a16="http://schemas.microsoft.com/office/drawing/2014/main" id="{E61FA1BA-5957-47A5-BD6E-77F2F0205FCD}"/>
              </a:ext>
            </a:extLst>
          </p:cNvPr>
          <p:cNvSpPr>
            <a:spLocks xmlns:a="http://schemas.openxmlformats.org/drawingml/2006/main" noGrp="1"/>
          </p:cNvSpPr>
          <p:nvPr/>
        </p:nvSpPr>
        <p:spPr>
          <a:xfrm xmlns:a="http://schemas.openxmlformats.org/drawingml/2006/main">
            <a:off x="685800" y="537210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PASS CONDITION  •  another new hire can repeat the chain from the repository root without relying on the author’s memory</a:t>
            </a:r>
          </a:p>
        </p:txBody>
      </p:sp>
    </p:spTree>
    <p:extLst>
      <p:ext uri="{BB962C8B-B14F-4D97-AF65-F5344CB8AC3E}">
        <p14:creationId xmlns:p14="http://schemas.microsoft.com/office/powerpoint/2010/main" val="888420416"/>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PREPARE &amp; ORIENT</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Pass the environment preflight before changing a model</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31" name="s7-col-0">
            <a:extLst xmlns:a="http://schemas.openxmlformats.org/drawingml/2006/main">
              <a:ext uri="{FF2B5EF4-FFF2-40B4-BE49-F238E27FC236}">
                <a16:creationId xmlns:a16="http://schemas.microsoft.com/office/drawing/2014/main" id="{0827A3F7-2D5C-4EC7-9155-55C5D78CB70A}"/>
              </a:ext>
            </a:extLst>
          </p:cNvPr>
          <p:cNvSpPr>
            <a:spLocks xmlns:a="http://schemas.openxmlformats.org/drawingml/2006/main" noGrp="1"/>
          </p:cNvSpPr>
          <p:nvPr/>
        </p:nvSpPr>
        <p:spPr>
          <a:xfrm xmlns:a="http://schemas.openxmlformats.org/drawingml/2006/main">
            <a:off x="685800" y="1562100"/>
            <a:ext cx="3352800" cy="3390900"/>
          </a:xfrm>
          <a:prstGeom xmlns:a="http://schemas.openxmlformats.org/drawingml/2006/main" prst="roundRect">
            <a:avLst>
              <a:gd name="adj" fmla="val 3409"/>
            </a:avLst>
          </a:prstGeom>
          <a:solidFill xmlns:a="http://schemas.openxmlformats.org/drawingml/2006/main">
            <a:srgbClr val="E2F4EA"/>
          </a:solidFill>
          <a:ln xmlns:a="http://schemas.openxmlformats.org/drawingml/2006/main" w="13335">
            <a:solidFill>
              <a:srgbClr val="2CA56F"/>
            </a:solidFill>
            <a:prstDash val="solid"/>
          </a:ln>
        </p:spPr>
      </p:sp>
      <p:sp>
        <p:nvSpPr>
          <p:cNvPr id="32" name="s7-title-0">
            <a:extLst xmlns:a="http://schemas.openxmlformats.org/drawingml/2006/main">
              <a:ext uri="{FF2B5EF4-FFF2-40B4-BE49-F238E27FC236}">
                <a16:creationId xmlns:a16="http://schemas.microsoft.com/office/drawing/2014/main" id="{C0CB8392-B54D-4ADB-91DA-323FA527D3ED}"/>
              </a:ext>
            </a:extLst>
          </p:cNvPr>
          <p:cNvSpPr>
            <a:spLocks xmlns:a="http://schemas.openxmlformats.org/drawingml/2006/main" noGrp="1"/>
          </p:cNvSpPr>
          <p:nvPr/>
        </p:nvSpPr>
        <p:spPr>
          <a:xfrm xmlns:a="http://schemas.openxmlformats.org/drawingml/2006/main">
            <a:off x="876300" y="1752600"/>
            <a:ext cx="297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CA56F"/>
                </a:solidFill>
                <a:latin typeface="Aptos"/>
                <a:ea typeface="Aptos"/>
                <a:cs typeface="Aptos"/>
              </a:defRPr>
            </a:pPr>
            <a:r>
              <a:rPr sz="1275" b="1">
                <a:solidFill>
                  <a:srgbClr val="2CA56F"/>
                </a:solidFill>
                <a:latin typeface="Aptos"/>
                <a:ea typeface="Aptos"/>
                <a:cs typeface="Aptos"/>
              </a:rPr>
              <a:t>READY</a:t>
            </a:r>
          </a:p>
        </p:txBody>
      </p:sp>
      <p:sp>
        <p:nvSpPr>
          <p:cNvPr id="33" name="s7-list-0-dot-0">
            <a:extLst xmlns:a="http://schemas.openxmlformats.org/drawingml/2006/main">
              <a:ext uri="{FF2B5EF4-FFF2-40B4-BE49-F238E27FC236}">
                <a16:creationId xmlns:a16="http://schemas.microsoft.com/office/drawing/2014/main" id="{D9D272D5-97EF-455F-A202-B36D25D6F9CA}"/>
              </a:ext>
            </a:extLst>
          </p:cNvPr>
          <p:cNvSpPr>
            <a:spLocks xmlns:a="http://schemas.openxmlformats.org/drawingml/2006/main" noGrp="1"/>
          </p:cNvSpPr>
          <p:nvPr/>
        </p:nvSpPr>
        <p:spPr>
          <a:xfrm xmlns:a="http://schemas.openxmlformats.org/drawingml/2006/main">
            <a:off x="952500" y="233362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34" name="s7-list-0-text-0">
            <a:extLst xmlns:a="http://schemas.openxmlformats.org/drawingml/2006/main">
              <a:ext uri="{FF2B5EF4-FFF2-40B4-BE49-F238E27FC236}">
                <a16:creationId xmlns:a16="http://schemas.microsoft.com/office/drawing/2014/main" id="{AFFEE8F4-838F-40F1-948A-4EF438E787E0}"/>
              </a:ext>
            </a:extLst>
          </p:cNvPr>
          <p:cNvSpPr>
            <a:spLocks xmlns:a="http://schemas.openxmlformats.org/drawingml/2006/main" noGrp="1"/>
          </p:cNvSpPr>
          <p:nvPr/>
        </p:nvSpPr>
        <p:spPr>
          <a:xfrm xmlns:a="http://schemas.openxmlformats.org/drawingml/2006/main">
            <a:off x="1143000" y="224790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Current Folder is the repository root</a:t>
            </a:r>
          </a:p>
        </p:txBody>
      </p:sp>
      <p:sp>
        <p:nvSpPr>
          <p:cNvPr id="35" name="s7-list-0-dot-1">
            <a:extLst xmlns:a="http://schemas.openxmlformats.org/drawingml/2006/main">
              <a:ext uri="{FF2B5EF4-FFF2-40B4-BE49-F238E27FC236}">
                <a16:creationId xmlns:a16="http://schemas.microsoft.com/office/drawing/2014/main" id="{AE74C005-7EF9-4C24-BEE6-C0466C20F1BE}"/>
              </a:ext>
            </a:extLst>
          </p:cNvPr>
          <p:cNvSpPr>
            <a:spLocks xmlns:a="http://schemas.openxmlformats.org/drawingml/2006/main" noGrp="1"/>
          </p:cNvSpPr>
          <p:nvPr/>
        </p:nvSpPr>
        <p:spPr>
          <a:xfrm xmlns:a="http://schemas.openxmlformats.org/drawingml/2006/main">
            <a:off x="952500" y="288607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36" name="s7-list-0-text-1">
            <a:extLst xmlns:a="http://schemas.openxmlformats.org/drawingml/2006/main">
              <a:ext uri="{FF2B5EF4-FFF2-40B4-BE49-F238E27FC236}">
                <a16:creationId xmlns:a16="http://schemas.microsoft.com/office/drawing/2014/main" id="{975D6044-F230-46DC-ACC5-AA1C0C1B762D}"/>
              </a:ext>
            </a:extLst>
          </p:cNvPr>
          <p:cNvSpPr>
            <a:spLocks xmlns:a="http://schemas.openxmlformats.org/drawingml/2006/main" noGrp="1"/>
          </p:cNvSpPr>
          <p:nvPr/>
        </p:nvSpPr>
        <p:spPr>
          <a:xfrm xmlns:a="http://schemas.openxmlformats.org/drawingml/2006/main">
            <a:off x="1143000" y="28003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MATLAB + Simulink available</a:t>
            </a:r>
          </a:p>
        </p:txBody>
      </p:sp>
      <p:sp>
        <p:nvSpPr>
          <p:cNvPr id="37" name="s7-list-0-dot-2">
            <a:extLst xmlns:a="http://schemas.openxmlformats.org/drawingml/2006/main">
              <a:ext uri="{FF2B5EF4-FFF2-40B4-BE49-F238E27FC236}">
                <a16:creationId xmlns:a16="http://schemas.microsoft.com/office/drawing/2014/main" id="{C720EF40-3031-4182-94C9-9D1BABDE87B6}"/>
              </a:ext>
            </a:extLst>
          </p:cNvPr>
          <p:cNvSpPr>
            <a:spLocks xmlns:a="http://schemas.openxmlformats.org/drawingml/2006/main" noGrp="1"/>
          </p:cNvSpPr>
          <p:nvPr/>
        </p:nvSpPr>
        <p:spPr>
          <a:xfrm xmlns:a="http://schemas.openxmlformats.org/drawingml/2006/main">
            <a:off x="952500" y="343852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38" name="s7-list-0-text-2">
            <a:extLst xmlns:a="http://schemas.openxmlformats.org/drawingml/2006/main">
              <a:ext uri="{FF2B5EF4-FFF2-40B4-BE49-F238E27FC236}">
                <a16:creationId xmlns:a16="http://schemas.microsoft.com/office/drawing/2014/main" id="{926E1209-E3EA-46EE-AE4C-B905EF875D0C}"/>
              </a:ext>
            </a:extLst>
          </p:cNvPr>
          <p:cNvSpPr>
            <a:spLocks xmlns:a="http://schemas.openxmlformats.org/drawingml/2006/main" noGrp="1"/>
          </p:cNvSpPr>
          <p:nvPr/>
        </p:nvSpPr>
        <p:spPr>
          <a:xfrm xmlns:a="http://schemas.openxmlformats.org/drawingml/2006/main">
            <a:off x="1143000" y="335280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Stateflow available for the full baseline</a:t>
            </a:r>
          </a:p>
        </p:txBody>
      </p:sp>
      <p:sp>
        <p:nvSpPr>
          <p:cNvPr id="39" name="s7-list-0-dot-3">
            <a:extLst xmlns:a="http://schemas.openxmlformats.org/drawingml/2006/main">
              <a:ext uri="{FF2B5EF4-FFF2-40B4-BE49-F238E27FC236}">
                <a16:creationId xmlns:a16="http://schemas.microsoft.com/office/drawing/2014/main" id="{884619E6-2213-4CE2-A922-AFB7F30EFA24}"/>
              </a:ext>
            </a:extLst>
          </p:cNvPr>
          <p:cNvSpPr>
            <a:spLocks xmlns:a="http://schemas.openxmlformats.org/drawingml/2006/main" noGrp="1"/>
          </p:cNvSpPr>
          <p:nvPr/>
        </p:nvSpPr>
        <p:spPr>
          <a:xfrm xmlns:a="http://schemas.openxmlformats.org/drawingml/2006/main">
            <a:off x="952500" y="399097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40" name="s7-list-0-text-3">
            <a:extLst xmlns:a="http://schemas.openxmlformats.org/drawingml/2006/main">
              <a:ext uri="{FF2B5EF4-FFF2-40B4-BE49-F238E27FC236}">
                <a16:creationId xmlns:a16="http://schemas.microsoft.com/office/drawing/2014/main" id="{9A8A1EC2-3B58-4F01-96C2-7F97C05209E4}"/>
              </a:ext>
            </a:extLst>
          </p:cNvPr>
          <p:cNvSpPr>
            <a:spLocks xmlns:a="http://schemas.openxmlformats.org/drawingml/2006/main" noGrp="1"/>
          </p:cNvSpPr>
          <p:nvPr/>
        </p:nvSpPr>
        <p:spPr>
          <a:xfrm xmlns:a="http://schemas.openxmlformats.org/drawingml/2006/main">
            <a:off x="1143000" y="39052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Authorized working copy; Notes + README open</a:t>
            </a:r>
          </a:p>
        </p:txBody>
      </p:sp>
      <p:sp>
        <p:nvSpPr>
          <p:cNvPr id="41" name="s7-col-1">
            <a:extLst xmlns:a="http://schemas.openxmlformats.org/drawingml/2006/main">
              <a:ext uri="{FF2B5EF4-FFF2-40B4-BE49-F238E27FC236}">
                <a16:creationId xmlns:a16="http://schemas.microsoft.com/office/drawing/2014/main" id="{6C305D02-CB34-46D4-9E8E-988F1D586FEF}"/>
              </a:ext>
            </a:extLst>
          </p:cNvPr>
          <p:cNvSpPr>
            <a:spLocks xmlns:a="http://schemas.openxmlformats.org/drawingml/2006/main" noGrp="1"/>
          </p:cNvSpPr>
          <p:nvPr/>
        </p:nvSpPr>
        <p:spPr>
          <a:xfrm xmlns:a="http://schemas.openxmlformats.org/drawingml/2006/main">
            <a:off x="4343400" y="1562100"/>
            <a:ext cx="3352800" cy="3390900"/>
          </a:xfrm>
          <a:prstGeom xmlns:a="http://schemas.openxmlformats.org/drawingml/2006/main" prst="roundRect">
            <a:avLst>
              <a:gd name="adj" fmla="val 3409"/>
            </a:avLst>
          </a:prstGeom>
          <a:solidFill xmlns:a="http://schemas.openxmlformats.org/drawingml/2006/main">
            <a:srgbClr val="E2ECFF"/>
          </a:solidFill>
          <a:ln xmlns:a="http://schemas.openxmlformats.org/drawingml/2006/main" w="13335">
            <a:solidFill>
              <a:srgbClr val="2D6CDF"/>
            </a:solidFill>
            <a:prstDash val="solid"/>
          </a:ln>
        </p:spPr>
      </p:sp>
      <p:sp>
        <p:nvSpPr>
          <p:cNvPr id="42" name="s7-title-1">
            <a:extLst xmlns:a="http://schemas.openxmlformats.org/drawingml/2006/main">
              <a:ext uri="{FF2B5EF4-FFF2-40B4-BE49-F238E27FC236}">
                <a16:creationId xmlns:a16="http://schemas.microsoft.com/office/drawing/2014/main" id="{780BA3B9-CE9B-41E0-9B23-53C294505019}"/>
              </a:ext>
            </a:extLst>
          </p:cNvPr>
          <p:cNvSpPr>
            <a:spLocks xmlns:a="http://schemas.openxmlformats.org/drawingml/2006/main" noGrp="1"/>
          </p:cNvSpPr>
          <p:nvPr/>
        </p:nvSpPr>
        <p:spPr>
          <a:xfrm xmlns:a="http://schemas.openxmlformats.org/drawingml/2006/main">
            <a:off x="4533900" y="1752600"/>
            <a:ext cx="297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BASELINE / BUILD</a:t>
            </a:r>
          </a:p>
        </p:txBody>
      </p:sp>
      <p:sp>
        <p:nvSpPr>
          <p:cNvPr id="43" name="s7-list-1-dot-0">
            <a:extLst xmlns:a="http://schemas.openxmlformats.org/drawingml/2006/main">
              <a:ext uri="{FF2B5EF4-FFF2-40B4-BE49-F238E27FC236}">
                <a16:creationId xmlns:a16="http://schemas.microsoft.com/office/drawing/2014/main" id="{BAD6BDAD-E30F-46CA-A943-A0BF180C1741}"/>
              </a:ext>
            </a:extLst>
          </p:cNvPr>
          <p:cNvSpPr>
            <a:spLocks xmlns:a="http://schemas.openxmlformats.org/drawingml/2006/main" noGrp="1"/>
          </p:cNvSpPr>
          <p:nvPr/>
        </p:nvSpPr>
        <p:spPr>
          <a:xfrm xmlns:a="http://schemas.openxmlformats.org/drawingml/2006/main">
            <a:off x="4610100" y="2333625"/>
            <a:ext cx="85725" cy="85725"/>
          </a:xfrm>
          <a:prstGeom xmlns:a="http://schemas.openxmlformats.org/drawingml/2006/main" prst="ellipse">
            <a:avLst/>
          </a:prstGeom>
          <a:solidFill xmlns:a="http://schemas.openxmlformats.org/drawingml/2006/main">
            <a:srgbClr val="2D6CDF"/>
          </a:solidFill>
          <a:ln xmlns:a="http://schemas.openxmlformats.org/drawingml/2006/main" w="0">
            <a:solidFill>
              <a:srgbClr val="2D6CDF"/>
            </a:solidFill>
            <a:prstDash val="solid"/>
          </a:ln>
        </p:spPr>
      </p:sp>
      <p:sp>
        <p:nvSpPr>
          <p:cNvPr id="44" name="s7-list-1-text-0">
            <a:extLst xmlns:a="http://schemas.openxmlformats.org/drawingml/2006/main">
              <a:ext uri="{FF2B5EF4-FFF2-40B4-BE49-F238E27FC236}">
                <a16:creationId xmlns:a16="http://schemas.microsoft.com/office/drawing/2014/main" id="{0A6B812C-8398-4C1E-8CC9-04AAE1A0FD52}"/>
              </a:ext>
            </a:extLst>
          </p:cNvPr>
          <p:cNvSpPr>
            <a:spLocks xmlns:a="http://schemas.openxmlformats.org/drawingml/2006/main" noGrp="1"/>
          </p:cNvSpPr>
          <p:nvPr/>
        </p:nvSpPr>
        <p:spPr>
          <a:xfrm xmlns:a="http://schemas.openxmlformats.org/drawingml/2006/main">
            <a:off x="4800600" y="224790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FCS_Data.sldd, models, and scripts exist</a:t>
            </a:r>
          </a:p>
        </p:txBody>
      </p:sp>
      <p:sp>
        <p:nvSpPr>
          <p:cNvPr id="45" name="s7-list-1-dot-1">
            <a:extLst xmlns:a="http://schemas.openxmlformats.org/drawingml/2006/main">
              <a:ext uri="{FF2B5EF4-FFF2-40B4-BE49-F238E27FC236}">
                <a16:creationId xmlns:a16="http://schemas.microsoft.com/office/drawing/2014/main" id="{BAE0D42D-3F9A-4317-87C5-E2F17FA16F2F}"/>
              </a:ext>
            </a:extLst>
          </p:cNvPr>
          <p:cNvSpPr>
            <a:spLocks xmlns:a="http://schemas.openxmlformats.org/drawingml/2006/main" noGrp="1"/>
          </p:cNvSpPr>
          <p:nvPr/>
        </p:nvSpPr>
        <p:spPr>
          <a:xfrm xmlns:a="http://schemas.openxmlformats.org/drawingml/2006/main">
            <a:off x="4610100" y="2886075"/>
            <a:ext cx="85725" cy="85725"/>
          </a:xfrm>
          <a:prstGeom xmlns:a="http://schemas.openxmlformats.org/drawingml/2006/main" prst="ellipse">
            <a:avLst/>
          </a:prstGeom>
          <a:solidFill xmlns:a="http://schemas.openxmlformats.org/drawingml/2006/main">
            <a:srgbClr val="2D6CDF"/>
          </a:solidFill>
          <a:ln xmlns:a="http://schemas.openxmlformats.org/drawingml/2006/main" w="0">
            <a:solidFill>
              <a:srgbClr val="2D6CDF"/>
            </a:solidFill>
            <a:prstDash val="solid"/>
          </a:ln>
        </p:spPr>
      </p:sp>
      <p:sp>
        <p:nvSpPr>
          <p:cNvPr id="46" name="s7-list-1-text-1">
            <a:extLst xmlns:a="http://schemas.openxmlformats.org/drawingml/2006/main">
              <a:ext uri="{FF2B5EF4-FFF2-40B4-BE49-F238E27FC236}">
                <a16:creationId xmlns:a16="http://schemas.microsoft.com/office/drawing/2014/main" id="{3B231B45-A19F-4B5B-BAD2-5DC6201B7882}"/>
              </a:ext>
            </a:extLst>
          </p:cNvPr>
          <p:cNvSpPr>
            <a:spLocks xmlns:a="http://schemas.openxmlformats.org/drawingml/2006/main" noGrp="1"/>
          </p:cNvSpPr>
          <p:nvPr/>
        </p:nvSpPr>
        <p:spPr>
          <a:xfrm xmlns:a="http://schemas.openxmlformats.org/drawingml/2006/main">
            <a:off x="4800600" y="28003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8/8, 19/19, and 24/24 retained</a:t>
            </a:r>
          </a:p>
        </p:txBody>
      </p:sp>
      <p:sp>
        <p:nvSpPr>
          <p:cNvPr id="47" name="s7-list-1-dot-2">
            <a:extLst xmlns:a="http://schemas.openxmlformats.org/drawingml/2006/main">
              <a:ext uri="{FF2B5EF4-FFF2-40B4-BE49-F238E27FC236}">
                <a16:creationId xmlns:a16="http://schemas.microsoft.com/office/drawing/2014/main" id="{14D60578-8050-4171-B3E6-EC118A306994}"/>
              </a:ext>
            </a:extLst>
          </p:cNvPr>
          <p:cNvSpPr>
            <a:spLocks xmlns:a="http://schemas.openxmlformats.org/drawingml/2006/main" noGrp="1"/>
          </p:cNvSpPr>
          <p:nvPr/>
        </p:nvSpPr>
        <p:spPr>
          <a:xfrm xmlns:a="http://schemas.openxmlformats.org/drawingml/2006/main">
            <a:off x="4610100" y="3438525"/>
            <a:ext cx="85725" cy="85725"/>
          </a:xfrm>
          <a:prstGeom xmlns:a="http://schemas.openxmlformats.org/drawingml/2006/main" prst="ellipse">
            <a:avLst/>
          </a:prstGeom>
          <a:solidFill xmlns:a="http://schemas.openxmlformats.org/drawingml/2006/main">
            <a:srgbClr val="2D6CDF"/>
          </a:solidFill>
          <a:ln xmlns:a="http://schemas.openxmlformats.org/drawingml/2006/main" w="0">
            <a:solidFill>
              <a:srgbClr val="2D6CDF"/>
            </a:solidFill>
            <a:prstDash val="solid"/>
          </a:ln>
        </p:spPr>
      </p:sp>
      <p:sp>
        <p:nvSpPr>
          <p:cNvPr id="48" name="s7-list-1-text-2">
            <a:extLst xmlns:a="http://schemas.openxmlformats.org/drawingml/2006/main">
              <a:ext uri="{FF2B5EF4-FFF2-40B4-BE49-F238E27FC236}">
                <a16:creationId xmlns:a16="http://schemas.microsoft.com/office/drawing/2014/main" id="{7F98E280-4397-4253-974C-AF9A53B7D4BA}"/>
              </a:ext>
            </a:extLst>
          </p:cNvPr>
          <p:cNvSpPr>
            <a:spLocks xmlns:a="http://schemas.openxmlformats.org/drawingml/2006/main" noGrp="1"/>
          </p:cNvSpPr>
          <p:nvPr/>
        </p:nvSpPr>
        <p:spPr>
          <a:xfrm xmlns:a="http://schemas.openxmlformats.org/drawingml/2006/main">
            <a:off x="4800600" y="335280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GRT build: Windows + Simulink Coder</a:t>
            </a:r>
          </a:p>
        </p:txBody>
      </p:sp>
      <p:sp>
        <p:nvSpPr>
          <p:cNvPr id="49" name="s7-list-1-dot-3">
            <a:extLst xmlns:a="http://schemas.openxmlformats.org/drawingml/2006/main">
              <a:ext uri="{FF2B5EF4-FFF2-40B4-BE49-F238E27FC236}">
                <a16:creationId xmlns:a16="http://schemas.microsoft.com/office/drawing/2014/main" id="{A53EB3E5-708A-4EFE-AC11-24EA2EC7EEF4}"/>
              </a:ext>
            </a:extLst>
          </p:cNvPr>
          <p:cNvSpPr>
            <a:spLocks xmlns:a="http://schemas.openxmlformats.org/drawingml/2006/main" noGrp="1"/>
          </p:cNvSpPr>
          <p:nvPr/>
        </p:nvSpPr>
        <p:spPr>
          <a:xfrm xmlns:a="http://schemas.openxmlformats.org/drawingml/2006/main">
            <a:off x="4610100" y="3990975"/>
            <a:ext cx="85725" cy="85725"/>
          </a:xfrm>
          <a:prstGeom xmlns:a="http://schemas.openxmlformats.org/drawingml/2006/main" prst="ellipse">
            <a:avLst/>
          </a:prstGeom>
          <a:solidFill xmlns:a="http://schemas.openxmlformats.org/drawingml/2006/main">
            <a:srgbClr val="2D6CDF"/>
          </a:solidFill>
          <a:ln xmlns:a="http://schemas.openxmlformats.org/drawingml/2006/main" w="0">
            <a:solidFill>
              <a:srgbClr val="2D6CDF"/>
            </a:solidFill>
            <a:prstDash val="solid"/>
          </a:ln>
        </p:spPr>
      </p:sp>
      <p:sp>
        <p:nvSpPr>
          <p:cNvPr id="50" name="s7-list-1-text-3">
            <a:extLst xmlns:a="http://schemas.openxmlformats.org/drawingml/2006/main">
              <a:ext uri="{FF2B5EF4-FFF2-40B4-BE49-F238E27FC236}">
                <a16:creationId xmlns:a16="http://schemas.microsoft.com/office/drawing/2014/main" id="{7952CA3D-64C7-45EF-B7DC-6B6672E7D116}"/>
              </a:ext>
            </a:extLst>
          </p:cNvPr>
          <p:cNvSpPr>
            <a:spLocks xmlns:a="http://schemas.openxmlformats.org/drawingml/2006/main" noGrp="1"/>
          </p:cNvSpPr>
          <p:nvPr/>
        </p:nvSpPr>
        <p:spPr>
          <a:xfrm xmlns:a="http://schemas.openxmlformats.org/drawingml/2006/main">
            <a:off x="4800600" y="39052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Supported C/C++ compiler is selected</a:t>
            </a:r>
          </a:p>
        </p:txBody>
      </p:sp>
      <p:sp>
        <p:nvSpPr>
          <p:cNvPr id="51" name="s7-col-2">
            <a:extLst xmlns:a="http://schemas.openxmlformats.org/drawingml/2006/main">
              <a:ext uri="{FF2B5EF4-FFF2-40B4-BE49-F238E27FC236}">
                <a16:creationId xmlns:a16="http://schemas.microsoft.com/office/drawing/2014/main" id="{06188C64-74FB-461B-BC29-09C938CE2840}"/>
              </a:ext>
            </a:extLst>
          </p:cNvPr>
          <p:cNvSpPr>
            <a:spLocks xmlns:a="http://schemas.openxmlformats.org/drawingml/2006/main" noGrp="1"/>
          </p:cNvSpPr>
          <p:nvPr/>
        </p:nvSpPr>
        <p:spPr>
          <a:xfrm xmlns:a="http://schemas.openxmlformats.org/drawingml/2006/main">
            <a:off x="8001000" y="1562100"/>
            <a:ext cx="3352800" cy="3390900"/>
          </a:xfrm>
          <a:prstGeom xmlns:a="http://schemas.openxmlformats.org/drawingml/2006/main" prst="roundRect">
            <a:avLst>
              <a:gd name="adj" fmla="val 3409"/>
            </a:avLst>
          </a:prstGeom>
          <a:solidFill xmlns:a="http://schemas.openxmlformats.org/drawingml/2006/main">
            <a:srgbClr val="FBE7E9"/>
          </a:solidFill>
          <a:ln xmlns:a="http://schemas.openxmlformats.org/drawingml/2006/main" w="13335">
            <a:solidFill>
              <a:srgbClr val="D75A64"/>
            </a:solidFill>
            <a:prstDash val="solid"/>
          </a:ln>
        </p:spPr>
      </p:sp>
      <p:sp>
        <p:nvSpPr>
          <p:cNvPr id="52" name="s7-title-2">
            <a:extLst xmlns:a="http://schemas.openxmlformats.org/drawingml/2006/main">
              <a:ext uri="{FF2B5EF4-FFF2-40B4-BE49-F238E27FC236}">
                <a16:creationId xmlns:a16="http://schemas.microsoft.com/office/drawing/2014/main" id="{D26D5652-DEF1-4ADE-A4C5-C3E661CFE043}"/>
              </a:ext>
            </a:extLst>
          </p:cNvPr>
          <p:cNvSpPr>
            <a:spLocks xmlns:a="http://schemas.openxmlformats.org/drawingml/2006/main" noGrp="1"/>
          </p:cNvSpPr>
          <p:nvPr/>
        </p:nvSpPr>
        <p:spPr>
          <a:xfrm xmlns:a="http://schemas.openxmlformats.org/drawingml/2006/main">
            <a:off x="8191500" y="1752600"/>
            <a:ext cx="297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D75A64"/>
                </a:solidFill>
                <a:latin typeface="Aptos"/>
                <a:ea typeface="Aptos"/>
                <a:cs typeface="Aptos"/>
              </a:defRPr>
            </a:pPr>
            <a:r>
              <a:rPr sz="1275" b="1">
                <a:solidFill>
                  <a:srgbClr val="D75A64"/>
                </a:solidFill>
                <a:latin typeface="Aptos"/>
                <a:ea typeface="Aptos"/>
                <a:cs typeface="Aptos"/>
              </a:rPr>
              <a:t>STOP &amp; RECOVER</a:t>
            </a:r>
          </a:p>
        </p:txBody>
      </p:sp>
      <p:sp>
        <p:nvSpPr>
          <p:cNvPr id="53" name="s7-list-2-dot-0">
            <a:extLst xmlns:a="http://schemas.openxmlformats.org/drawingml/2006/main">
              <a:ext uri="{FF2B5EF4-FFF2-40B4-BE49-F238E27FC236}">
                <a16:creationId xmlns:a16="http://schemas.microsoft.com/office/drawing/2014/main" id="{C85E230C-20A7-4E14-BCC7-5D40914B2A55}"/>
              </a:ext>
            </a:extLst>
          </p:cNvPr>
          <p:cNvSpPr>
            <a:spLocks xmlns:a="http://schemas.openxmlformats.org/drawingml/2006/main" noGrp="1"/>
          </p:cNvSpPr>
          <p:nvPr/>
        </p:nvSpPr>
        <p:spPr>
          <a:xfrm xmlns:a="http://schemas.openxmlformats.org/drawingml/2006/main">
            <a:off x="8267700" y="2333625"/>
            <a:ext cx="85725" cy="85725"/>
          </a:xfrm>
          <a:prstGeom xmlns:a="http://schemas.openxmlformats.org/drawingml/2006/main" prst="ellipse">
            <a:avLst/>
          </a:prstGeom>
          <a:solidFill xmlns:a="http://schemas.openxmlformats.org/drawingml/2006/main">
            <a:srgbClr val="D75A64"/>
          </a:solidFill>
          <a:ln xmlns:a="http://schemas.openxmlformats.org/drawingml/2006/main" w="0">
            <a:solidFill>
              <a:srgbClr val="D75A64"/>
            </a:solidFill>
            <a:prstDash val="solid"/>
          </a:ln>
        </p:spPr>
      </p:sp>
      <p:sp>
        <p:nvSpPr>
          <p:cNvPr id="54" name="s7-list-2-text-0">
            <a:extLst xmlns:a="http://schemas.openxmlformats.org/drawingml/2006/main">
              <a:ext uri="{FF2B5EF4-FFF2-40B4-BE49-F238E27FC236}">
                <a16:creationId xmlns:a16="http://schemas.microsoft.com/office/drawing/2014/main" id="{4D41788B-E976-4866-BD40-19D25C897F49}"/>
              </a:ext>
            </a:extLst>
          </p:cNvPr>
          <p:cNvSpPr>
            <a:spLocks xmlns:a="http://schemas.openxmlformats.org/drawingml/2006/main" noGrp="1"/>
          </p:cNvSpPr>
          <p:nvPr/>
        </p:nvSpPr>
        <p:spPr>
          <a:xfrm xmlns:a="http://schemas.openxmlformats.org/drawingml/2006/main">
            <a:off x="8458200" y="224790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Root/dictionary/product check fails</a:t>
            </a:r>
          </a:p>
        </p:txBody>
      </p:sp>
      <p:sp>
        <p:nvSpPr>
          <p:cNvPr id="55" name="s7-list-2-dot-1">
            <a:extLst xmlns:a="http://schemas.openxmlformats.org/drawingml/2006/main">
              <a:ext uri="{FF2B5EF4-FFF2-40B4-BE49-F238E27FC236}">
                <a16:creationId xmlns:a16="http://schemas.microsoft.com/office/drawing/2014/main" id="{456F08F8-EBDF-4B47-81E4-A8D92914343D}"/>
              </a:ext>
            </a:extLst>
          </p:cNvPr>
          <p:cNvSpPr>
            <a:spLocks xmlns:a="http://schemas.openxmlformats.org/drawingml/2006/main" noGrp="1"/>
          </p:cNvSpPr>
          <p:nvPr/>
        </p:nvSpPr>
        <p:spPr>
          <a:xfrm xmlns:a="http://schemas.openxmlformats.org/drawingml/2006/main">
            <a:off x="8267700" y="2886075"/>
            <a:ext cx="85725" cy="85725"/>
          </a:xfrm>
          <a:prstGeom xmlns:a="http://schemas.openxmlformats.org/drawingml/2006/main" prst="ellipse">
            <a:avLst/>
          </a:prstGeom>
          <a:solidFill xmlns:a="http://schemas.openxmlformats.org/drawingml/2006/main">
            <a:srgbClr val="D75A64"/>
          </a:solidFill>
          <a:ln xmlns:a="http://schemas.openxmlformats.org/drawingml/2006/main" w="0">
            <a:solidFill>
              <a:srgbClr val="D75A64"/>
            </a:solidFill>
            <a:prstDash val="solid"/>
          </a:ln>
        </p:spPr>
      </p:sp>
      <p:sp>
        <p:nvSpPr>
          <p:cNvPr id="56" name="s7-list-2-text-1">
            <a:extLst xmlns:a="http://schemas.openxmlformats.org/drawingml/2006/main">
              <a:ext uri="{FF2B5EF4-FFF2-40B4-BE49-F238E27FC236}">
                <a16:creationId xmlns:a16="http://schemas.microsoft.com/office/drawing/2014/main" id="{86185FCA-D465-4499-888A-8150C0068333}"/>
              </a:ext>
            </a:extLst>
          </p:cNvPr>
          <p:cNvSpPr>
            <a:spLocks xmlns:a="http://schemas.openxmlformats.org/drawingml/2006/main" noGrp="1"/>
          </p:cNvSpPr>
          <p:nvPr/>
        </p:nvSpPr>
        <p:spPr>
          <a:xfrm xmlns:a="http://schemas.openxmlformats.org/drawingml/2006/main">
            <a:off x="8458200" y="28003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Compiler is missing or not selected</a:t>
            </a:r>
          </a:p>
        </p:txBody>
      </p:sp>
      <p:sp>
        <p:nvSpPr>
          <p:cNvPr id="57" name="s7-list-2-dot-2">
            <a:extLst xmlns:a="http://schemas.openxmlformats.org/drawingml/2006/main">
              <a:ext uri="{FF2B5EF4-FFF2-40B4-BE49-F238E27FC236}">
                <a16:creationId xmlns:a16="http://schemas.microsoft.com/office/drawing/2014/main" id="{F9115C60-D305-46B9-8B55-092EA899EAFD}"/>
              </a:ext>
            </a:extLst>
          </p:cNvPr>
          <p:cNvSpPr>
            <a:spLocks xmlns:a="http://schemas.openxmlformats.org/drawingml/2006/main" noGrp="1"/>
          </p:cNvSpPr>
          <p:nvPr/>
        </p:nvSpPr>
        <p:spPr>
          <a:xfrm xmlns:a="http://schemas.openxmlformats.org/drawingml/2006/main">
            <a:off x="8267700" y="3438525"/>
            <a:ext cx="85725" cy="85725"/>
          </a:xfrm>
          <a:prstGeom xmlns:a="http://schemas.openxmlformats.org/drawingml/2006/main" prst="ellipse">
            <a:avLst/>
          </a:prstGeom>
          <a:solidFill xmlns:a="http://schemas.openxmlformats.org/drawingml/2006/main">
            <a:srgbClr val="D75A64"/>
          </a:solidFill>
          <a:ln xmlns:a="http://schemas.openxmlformats.org/drawingml/2006/main" w="0">
            <a:solidFill>
              <a:srgbClr val="D75A64"/>
            </a:solidFill>
            <a:prstDash val="solid"/>
          </a:ln>
        </p:spPr>
      </p:sp>
      <p:sp>
        <p:nvSpPr>
          <p:cNvPr id="58" name="s7-list-2-text-2">
            <a:extLst xmlns:a="http://schemas.openxmlformats.org/drawingml/2006/main">
              <a:ext uri="{FF2B5EF4-FFF2-40B4-BE49-F238E27FC236}">
                <a16:creationId xmlns:a16="http://schemas.microsoft.com/office/drawing/2014/main" id="{00D654F3-330A-483E-BF37-06F46D5D6E55}"/>
              </a:ext>
            </a:extLst>
          </p:cNvPr>
          <p:cNvSpPr>
            <a:spLocks xmlns:a="http://schemas.openxmlformats.org/drawingml/2006/main" noGrp="1"/>
          </p:cNvSpPr>
          <p:nvPr/>
        </p:nvSpPr>
        <p:spPr>
          <a:xfrm xmlns:a="http://schemas.openxmlformats.org/drawingml/2006/main">
            <a:off x="8458200" y="335280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Unexpected dirty/shared-data change appears</a:t>
            </a:r>
          </a:p>
        </p:txBody>
      </p:sp>
      <p:sp>
        <p:nvSpPr>
          <p:cNvPr id="59" name="s7-list-2-dot-3">
            <a:extLst xmlns:a="http://schemas.openxmlformats.org/drawingml/2006/main">
              <a:ext uri="{FF2B5EF4-FFF2-40B4-BE49-F238E27FC236}">
                <a16:creationId xmlns:a16="http://schemas.microsoft.com/office/drawing/2014/main" id="{AE8D8B09-41FE-4D93-8EB6-5151D5E81000}"/>
              </a:ext>
            </a:extLst>
          </p:cNvPr>
          <p:cNvSpPr>
            <a:spLocks xmlns:a="http://schemas.openxmlformats.org/drawingml/2006/main" noGrp="1"/>
          </p:cNvSpPr>
          <p:nvPr/>
        </p:nvSpPr>
        <p:spPr>
          <a:xfrm xmlns:a="http://schemas.openxmlformats.org/drawingml/2006/main">
            <a:off x="8267700" y="3990975"/>
            <a:ext cx="85725" cy="85725"/>
          </a:xfrm>
          <a:prstGeom xmlns:a="http://schemas.openxmlformats.org/drawingml/2006/main" prst="ellipse">
            <a:avLst/>
          </a:prstGeom>
          <a:solidFill xmlns:a="http://schemas.openxmlformats.org/drawingml/2006/main">
            <a:srgbClr val="D75A64"/>
          </a:solidFill>
          <a:ln xmlns:a="http://schemas.openxmlformats.org/drawingml/2006/main" w="0">
            <a:solidFill>
              <a:srgbClr val="D75A64"/>
            </a:solidFill>
            <a:prstDash val="solid"/>
          </a:ln>
        </p:spPr>
      </p:sp>
      <p:sp>
        <p:nvSpPr>
          <p:cNvPr id="60" name="s7-list-2-text-3">
            <a:extLst xmlns:a="http://schemas.openxmlformats.org/drawingml/2006/main">
              <a:ext uri="{FF2B5EF4-FFF2-40B4-BE49-F238E27FC236}">
                <a16:creationId xmlns:a16="http://schemas.microsoft.com/office/drawing/2014/main" id="{3C8EF607-9CB5-4CE4-BD12-21AD4C4867E5}"/>
              </a:ext>
            </a:extLst>
          </p:cNvPr>
          <p:cNvSpPr>
            <a:spLocks xmlns:a="http://schemas.openxmlformats.org/drawingml/2006/main" noGrp="1"/>
          </p:cNvSpPr>
          <p:nvPr/>
        </p:nvSpPr>
        <p:spPr>
          <a:xfrm xmlns:a="http://schemas.openxmlformats.org/drawingml/2006/main">
            <a:off x="8458200" y="3905250"/>
            <a:ext cx="262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17324A"/>
                </a:solidFill>
                <a:latin typeface="Aptos"/>
                <a:ea typeface="Aptos"/>
                <a:cs typeface="Aptos"/>
              </a:defRPr>
            </a:pPr>
            <a:r>
              <a:rPr sz="1065" b="0">
                <a:solidFill>
                  <a:srgbClr val="17324A"/>
                </a:solidFill>
                <a:latin typeface="Aptos"/>
                <a:ea typeface="Aptos"/>
                <a:cs typeface="Aptos"/>
              </a:rPr>
              <a:t>Do not run a writer during orientation-only review</a:t>
            </a:r>
          </a:p>
        </p:txBody>
      </p:sp>
      <p:sp>
        <p:nvSpPr>
          <p:cNvPr id="61" name="s7-copy">
            <a:extLst xmlns:a="http://schemas.openxmlformats.org/drawingml/2006/main">
              <a:ext uri="{FF2B5EF4-FFF2-40B4-BE49-F238E27FC236}">
                <a16:creationId xmlns:a16="http://schemas.microsoft.com/office/drawing/2014/main" id="{C9BBA97D-97BA-41EA-ACE9-9C6C781ACA3F}"/>
              </a:ext>
            </a:extLst>
          </p:cNvPr>
          <p:cNvSpPr>
            <a:spLocks xmlns:a="http://schemas.openxmlformats.org/drawingml/2006/main" noGrp="1"/>
          </p:cNvSpPr>
          <p:nvPr/>
        </p:nvSpPr>
        <p:spPr>
          <a:xfrm xmlns:a="http://schemas.openxmlformats.org/drawingml/2006/main">
            <a:off x="685800" y="529590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WRITE BOUNDARY  •  initialization saves FCS_Data.sldd; baseline drivers replace fixed evidence files. Orientation-only open/inspect steps do neither.</a:t>
            </a:r>
          </a:p>
        </p:txBody>
      </p:sp>
    </p:spTree>
    <p:extLst>
      <p:ext uri="{BB962C8B-B14F-4D97-AF65-F5344CB8AC3E}">
        <p14:creationId xmlns:p14="http://schemas.microsoft.com/office/powerpoint/2010/main" val="254232730"/>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PREPARE &amp; ORIENT</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0B1F33"/>
                </a:solidFill>
                <a:latin typeface="Aptos"/>
                <a:ea typeface="Aptos"/>
                <a:cs typeface="Aptos"/>
              </a:defRPr>
            </a:pPr>
            <a:r>
              <a:rPr sz="2550" b="1" i="0">
                <a:solidFill>
                  <a:srgbClr val="0B1F33"/>
                </a:solidFill>
                <a:latin typeface="Aptos"/>
                <a:ea typeface="Aptos"/>
                <a:cs typeface="Aptos"/>
              </a:rPr>
              <a:t>Initialize the repository with portable commands and refresh evidence deliberately</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08</a:t>
            </a:r>
          </a:p>
        </p:txBody>
      </p:sp>
      <p:sp>
        <p:nvSpPr>
          <p:cNvPr id="31" name="s8-write-warning">
            <a:extLst xmlns:a="http://schemas.openxmlformats.org/drawingml/2006/main">
              <a:ext uri="{FF2B5EF4-FFF2-40B4-BE49-F238E27FC236}">
                <a16:creationId xmlns:a16="http://schemas.microsoft.com/office/drawing/2014/main" id="{60ED4039-98DA-4977-8DE0-F3B7C5AB5EC1}"/>
              </a:ext>
            </a:extLst>
          </p:cNvPr>
          <p:cNvSpPr>
            <a:spLocks xmlns:a="http://schemas.openxmlformats.org/drawingml/2006/main" noGrp="1"/>
          </p:cNvSpPr>
          <p:nvPr/>
        </p:nvSpPr>
        <p:spPr>
          <a:xfrm xmlns:a="http://schemas.openxmlformats.org/drawingml/2006/main">
            <a:off x="685800" y="1390650"/>
            <a:ext cx="10820400" cy="457200"/>
          </a:xfrm>
          <a:prstGeom xmlns:a="http://schemas.openxmlformats.org/drawingml/2006/main" prst="roundRect">
            <a:avLst>
              <a:gd name="adj" fmla="val 25000"/>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65" b="1">
                <a:solidFill>
                  <a:srgbClr val="071521"/>
                </a:solidFill>
                <a:latin typeface="Aptos"/>
                <a:ea typeface="Aptos"/>
                <a:cs typeface="Aptos"/>
              </a:defRPr>
            </a:pPr>
            <a:r>
              <a:rPr sz="1065" b="1">
                <a:solidFill>
                  <a:srgbClr val="071521"/>
                </a:solidFill>
                <a:latin typeface="Aptos"/>
                <a:ea typeface="Aptos"/>
                <a:cs typeface="Aptos"/>
              </a:rPr>
              <a:t>WRITE-PRODUCING REFRESH  •  authorize dictionary and retained-evidence replacement before running this sequence</a:t>
            </a:r>
          </a:p>
        </p:txBody>
      </p:sp>
      <p:sp>
        <p:nvSpPr>
          <p:cNvPr id="32" name="s8-code-panel">
            <a:extLst xmlns:a="http://schemas.openxmlformats.org/drawingml/2006/main">
              <a:ext uri="{FF2B5EF4-FFF2-40B4-BE49-F238E27FC236}">
                <a16:creationId xmlns:a16="http://schemas.microsoft.com/office/drawing/2014/main" id="{6FB90B48-C5A6-4A83-B99C-D21C8852AFA5}"/>
              </a:ext>
            </a:extLst>
          </p:cNvPr>
          <p:cNvSpPr>
            <a:spLocks xmlns:a="http://schemas.openxmlformats.org/drawingml/2006/main" noGrp="1"/>
          </p:cNvSpPr>
          <p:nvPr/>
        </p:nvSpPr>
        <p:spPr>
          <a:xfrm xmlns:a="http://schemas.openxmlformats.org/drawingml/2006/main">
            <a:off x="685800" y="2000250"/>
            <a:ext cx="6819900" cy="3524250"/>
          </a:xfrm>
          <a:prstGeom xmlns:a="http://schemas.openxmlformats.org/drawingml/2006/main" prst="roundRect">
            <a:avLst>
              <a:gd name="adj" fmla="val 3243"/>
            </a:avLst>
          </a:prstGeom>
          <a:solidFill xmlns:a="http://schemas.openxmlformats.org/drawingml/2006/main">
            <a:srgbClr val="091A29"/>
          </a:solidFill>
          <a:ln xmlns:a="http://schemas.openxmlformats.org/drawingml/2006/main" w="12383">
            <a:solidFill>
              <a:srgbClr val="20B7C5"/>
            </a:solidFill>
            <a:prstDash val="solid"/>
          </a:ln>
        </p:spPr>
      </p:sp>
      <p:sp>
        <p:nvSpPr>
          <p:cNvPr id="33" name="s8-code">
            <a:extLst xmlns:a="http://schemas.openxmlformats.org/drawingml/2006/main">
              <a:ext uri="{FF2B5EF4-FFF2-40B4-BE49-F238E27FC236}">
                <a16:creationId xmlns:a16="http://schemas.microsoft.com/office/drawing/2014/main" id="{699D0B16-98AF-4E26-A55D-E9E481076450}"/>
              </a:ext>
            </a:extLst>
          </p:cNvPr>
          <p:cNvSpPr>
            <a:spLocks xmlns:a="http://schemas.openxmlformats.org/drawingml/2006/main" noGrp="1"/>
          </p:cNvSpPr>
          <p:nvPr/>
        </p:nvSpPr>
        <p:spPr>
          <a:xfrm xmlns:a="http://schemas.openxmlformats.org/drawingml/2006/main">
            <a:off x="914400" y="2133600"/>
            <a:ext cx="6362700" cy="3257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chor="t">
            <a:noAutofit/>
          </a:bodyPr>
          <a:lstStyle xmlns:a="http://schemas.openxmlformats.org/drawingml/2006/main"/>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projectRoot = pwd;</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assert(isfile(fullfile(projectRoot,'README.md')), ...</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    'Start MATLAB in the repository root.');</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addpath(fullfile(projectRoot,'scripts'), ...</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        fullfile(projectRoot,'models'), ...</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        fullfile(projectRoot,'data'));</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initialize_training_data(projectRoot);</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open_system(fullfile(projectRoot,'models', ...</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    'AircraftFeedbackControlLoop.slx'));</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set_param('AircraftFeedbackControlLoop', ...</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    'SimulationCommand','update');</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run_training_simulations(projectRoot);</a:t>
            </a:r>
          </a:p>
          <a:p xmlns:a="http://schemas.openxmlformats.org/drawingml/2006/main">
            <a:pPr algn="l">
              <a:defRPr sz="1035" b="0">
                <a:solidFill>
                  <a:srgbClr val="FFFFFF"/>
                </a:solidFill>
                <a:latin typeface="Consolas"/>
                <a:ea typeface="Consolas"/>
                <a:cs typeface="Consolas"/>
              </a:defRPr>
            </a:pPr>
            <a:r>
              <a:rPr sz="1035" b="0">
                <a:solidFill>
                  <a:srgbClr val="FFFFFF"/>
                </a:solidFill>
                <a:latin typeface="Consolas"/>
                <a:ea typeface="Consolas"/>
                <a:cs typeface="Consolas"/>
              </a:rPr>
              <a:t>run_pitch_rate_limiter_tests(projectRoot);</a:t>
            </a:r>
          </a:p>
        </p:txBody>
      </p:sp>
      <p:sp>
        <p:nvSpPr>
          <p:cNvPr id="34" name="s8-right-title">
            <a:extLst xmlns:a="http://schemas.openxmlformats.org/drawingml/2006/main">
              <a:ext uri="{FF2B5EF4-FFF2-40B4-BE49-F238E27FC236}">
                <a16:creationId xmlns:a16="http://schemas.microsoft.com/office/drawing/2014/main" id="{622FEE3D-4B7F-4796-9F07-74CD4A0A1AE5}"/>
              </a:ext>
            </a:extLst>
          </p:cNvPr>
          <p:cNvSpPr>
            <a:spLocks xmlns:a="http://schemas.openxmlformats.org/drawingml/2006/main" noGrp="1"/>
          </p:cNvSpPr>
          <p:nvPr/>
        </p:nvSpPr>
        <p:spPr>
          <a:xfrm xmlns:a="http://schemas.openxmlformats.org/drawingml/2006/main">
            <a:off x="7905750" y="2057400"/>
            <a:ext cx="331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20B7C5"/>
                </a:solidFill>
                <a:latin typeface="Aptos"/>
                <a:ea typeface="Aptos"/>
                <a:cs typeface="Aptos"/>
              </a:defRPr>
            </a:pPr>
            <a:r>
              <a:rPr sz="1275" b="1">
                <a:solidFill>
                  <a:srgbClr val="20B7C5"/>
                </a:solidFill>
                <a:latin typeface="Aptos"/>
                <a:ea typeface="Aptos"/>
                <a:cs typeface="Aptos"/>
              </a:rPr>
              <a:t>EXPECTED</a:t>
            </a:r>
          </a:p>
        </p:txBody>
      </p:sp>
      <p:sp>
        <p:nvSpPr>
          <p:cNvPr id="35" name="s8-expected-dot-0">
            <a:extLst xmlns:a="http://schemas.openxmlformats.org/drawingml/2006/main">
              <a:ext uri="{FF2B5EF4-FFF2-40B4-BE49-F238E27FC236}">
                <a16:creationId xmlns:a16="http://schemas.microsoft.com/office/drawing/2014/main" id="{214B09D5-E964-40C9-B9DC-F496B0743F7A}"/>
              </a:ext>
            </a:extLst>
          </p:cNvPr>
          <p:cNvSpPr>
            <a:spLocks xmlns:a="http://schemas.openxmlformats.org/drawingml/2006/main" noGrp="1"/>
          </p:cNvSpPr>
          <p:nvPr/>
        </p:nvSpPr>
        <p:spPr>
          <a:xfrm xmlns:a="http://schemas.openxmlformats.org/drawingml/2006/main">
            <a:off x="7981950" y="256222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36" name="s8-expected-text-0">
            <a:extLst xmlns:a="http://schemas.openxmlformats.org/drawingml/2006/main">
              <a:ext uri="{FF2B5EF4-FFF2-40B4-BE49-F238E27FC236}">
                <a16:creationId xmlns:a16="http://schemas.microsoft.com/office/drawing/2014/main" id="{659E7716-6186-4C76-A87F-CEF58FD4976A}"/>
              </a:ext>
            </a:extLst>
          </p:cNvPr>
          <p:cNvSpPr>
            <a:spLocks xmlns:a="http://schemas.openxmlformats.org/drawingml/2006/main" noGrp="1"/>
          </p:cNvSpPr>
          <p:nvPr/>
        </p:nvSpPr>
        <p:spPr>
          <a:xfrm xmlns:a="http://schemas.openxmlformats.org/drawingml/2006/main">
            <a:off x="8172450" y="24765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10" b="0">
                <a:solidFill>
                  <a:srgbClr val="17324A"/>
                </a:solidFill>
                <a:latin typeface="Aptos"/>
                <a:ea typeface="Aptos"/>
                <a:cs typeface="Aptos"/>
              </a:defRPr>
            </a:pPr>
            <a:r>
              <a:rPr sz="1110" b="0">
                <a:solidFill>
                  <a:srgbClr val="17324A"/>
                </a:solidFill>
                <a:latin typeface="Aptos"/>
                <a:ea typeface="Aptos"/>
                <a:cs typeface="Aptos"/>
              </a:rPr>
              <a:t>Managed dictionary entries refresh</a:t>
            </a:r>
          </a:p>
        </p:txBody>
      </p:sp>
      <p:sp>
        <p:nvSpPr>
          <p:cNvPr id="37" name="s8-expected-dot-1">
            <a:extLst xmlns:a="http://schemas.openxmlformats.org/drawingml/2006/main">
              <a:ext uri="{FF2B5EF4-FFF2-40B4-BE49-F238E27FC236}">
                <a16:creationId xmlns:a16="http://schemas.microsoft.com/office/drawing/2014/main" id="{9EC3C086-6D15-413B-B31D-86A80290477B}"/>
              </a:ext>
            </a:extLst>
          </p:cNvPr>
          <p:cNvSpPr>
            <a:spLocks xmlns:a="http://schemas.openxmlformats.org/drawingml/2006/main" noGrp="1"/>
          </p:cNvSpPr>
          <p:nvPr/>
        </p:nvSpPr>
        <p:spPr>
          <a:xfrm xmlns:a="http://schemas.openxmlformats.org/drawingml/2006/main">
            <a:off x="7981950" y="301942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38" name="s8-expected-text-1">
            <a:extLst xmlns:a="http://schemas.openxmlformats.org/drawingml/2006/main">
              <a:ext uri="{FF2B5EF4-FFF2-40B4-BE49-F238E27FC236}">
                <a16:creationId xmlns:a16="http://schemas.microsoft.com/office/drawing/2014/main" id="{3F72AFAB-6FD7-4B8E-A1A9-7F56A79451BD}"/>
              </a:ext>
            </a:extLst>
          </p:cNvPr>
          <p:cNvSpPr>
            <a:spLocks xmlns:a="http://schemas.openxmlformats.org/drawingml/2006/main" noGrp="1"/>
          </p:cNvSpPr>
          <p:nvPr/>
        </p:nvSpPr>
        <p:spPr>
          <a:xfrm xmlns:a="http://schemas.openxmlformats.org/drawingml/2006/main">
            <a:off x="8172450" y="29337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10" b="0">
                <a:solidFill>
                  <a:srgbClr val="17324A"/>
                </a:solidFill>
                <a:latin typeface="Aptos"/>
                <a:ea typeface="Aptos"/>
                <a:cs typeface="Aptos"/>
              </a:defRPr>
            </a:pPr>
            <a:r>
              <a:rPr sz="1110" b="0">
                <a:solidFill>
                  <a:srgbClr val="17324A"/>
                </a:solidFill>
                <a:latin typeface="Aptos"/>
                <a:ea typeface="Aptos"/>
                <a:cs typeface="Aptos"/>
              </a:rPr>
              <a:t>AircraftFeedbackControlLoop updates</a:t>
            </a:r>
          </a:p>
        </p:txBody>
      </p:sp>
      <p:sp>
        <p:nvSpPr>
          <p:cNvPr id="39" name="s8-expected-dot-2">
            <a:extLst xmlns:a="http://schemas.openxmlformats.org/drawingml/2006/main">
              <a:ext uri="{FF2B5EF4-FFF2-40B4-BE49-F238E27FC236}">
                <a16:creationId xmlns:a16="http://schemas.microsoft.com/office/drawing/2014/main" id="{BA4D2DC3-31DA-4254-ACC3-2A1491980E19}"/>
              </a:ext>
            </a:extLst>
          </p:cNvPr>
          <p:cNvSpPr>
            <a:spLocks xmlns:a="http://schemas.openxmlformats.org/drawingml/2006/main" noGrp="1"/>
          </p:cNvSpPr>
          <p:nvPr/>
        </p:nvSpPr>
        <p:spPr>
          <a:xfrm xmlns:a="http://schemas.openxmlformats.org/drawingml/2006/main">
            <a:off x="7981950" y="347662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40" name="s8-expected-text-2">
            <a:extLst xmlns:a="http://schemas.openxmlformats.org/drawingml/2006/main">
              <a:ext uri="{FF2B5EF4-FFF2-40B4-BE49-F238E27FC236}">
                <a16:creationId xmlns:a16="http://schemas.microsoft.com/office/drawing/2014/main" id="{01407119-9080-4205-99F9-1A77C6AEA9B8}"/>
              </a:ext>
            </a:extLst>
          </p:cNvPr>
          <p:cNvSpPr>
            <a:spLocks xmlns:a="http://schemas.openxmlformats.org/drawingml/2006/main" noGrp="1"/>
          </p:cNvSpPr>
          <p:nvPr/>
        </p:nvSpPr>
        <p:spPr>
          <a:xfrm xmlns:a="http://schemas.openxmlformats.org/drawingml/2006/main">
            <a:off x="8172450" y="33909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10" b="0">
                <a:solidFill>
                  <a:srgbClr val="17324A"/>
                </a:solidFill>
                <a:latin typeface="Aptos"/>
                <a:ea typeface="Aptos"/>
                <a:cs typeface="Aptos"/>
              </a:defRPr>
            </a:pPr>
            <a:r>
              <a:rPr sz="1110" b="0">
                <a:solidFill>
                  <a:srgbClr val="17324A"/>
                </a:solidFill>
                <a:latin typeface="Aptos"/>
                <a:ea typeface="Aptos"/>
                <a:cs typeface="Aptos"/>
              </a:rPr>
              <a:t>Baseline evidence files are replaced</a:t>
            </a:r>
          </a:p>
        </p:txBody>
      </p:sp>
      <p:sp>
        <p:nvSpPr>
          <p:cNvPr id="41" name="s8-recovery-title">
            <a:extLst xmlns:a="http://schemas.openxmlformats.org/drawingml/2006/main">
              <a:ext uri="{FF2B5EF4-FFF2-40B4-BE49-F238E27FC236}">
                <a16:creationId xmlns:a16="http://schemas.microsoft.com/office/drawing/2014/main" id="{8B5B5D13-E920-48F7-957A-35AA09EB20DA}"/>
              </a:ext>
            </a:extLst>
          </p:cNvPr>
          <p:cNvSpPr>
            <a:spLocks xmlns:a="http://schemas.openxmlformats.org/drawingml/2006/main" noGrp="1"/>
          </p:cNvSpPr>
          <p:nvPr/>
        </p:nvSpPr>
        <p:spPr>
          <a:xfrm xmlns:a="http://schemas.openxmlformats.org/drawingml/2006/main">
            <a:off x="7905750" y="4095750"/>
            <a:ext cx="331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E9A23B"/>
                </a:solidFill>
                <a:latin typeface="Aptos"/>
                <a:ea typeface="Aptos"/>
                <a:cs typeface="Aptos"/>
              </a:defRPr>
            </a:pPr>
            <a:r>
              <a:rPr sz="1275" b="1">
                <a:solidFill>
                  <a:srgbClr val="E9A23B"/>
                </a:solidFill>
                <a:latin typeface="Aptos"/>
                <a:ea typeface="Aptos"/>
                <a:cs typeface="Aptos"/>
              </a:rPr>
              <a:t>RECOVERY</a:t>
            </a:r>
          </a:p>
        </p:txBody>
      </p:sp>
      <p:sp>
        <p:nvSpPr>
          <p:cNvPr id="42" name="s8-recovery-dot-0">
            <a:extLst xmlns:a="http://schemas.openxmlformats.org/drawingml/2006/main">
              <a:ext uri="{FF2B5EF4-FFF2-40B4-BE49-F238E27FC236}">
                <a16:creationId xmlns:a16="http://schemas.microsoft.com/office/drawing/2014/main" id="{90032539-D5CB-429E-B350-0DBA7AFB9544}"/>
              </a:ext>
            </a:extLst>
          </p:cNvPr>
          <p:cNvSpPr>
            <a:spLocks xmlns:a="http://schemas.openxmlformats.org/drawingml/2006/main" noGrp="1"/>
          </p:cNvSpPr>
          <p:nvPr/>
        </p:nvSpPr>
        <p:spPr>
          <a:xfrm xmlns:a="http://schemas.openxmlformats.org/drawingml/2006/main">
            <a:off x="7981950" y="45624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43" name="s8-recovery-text-0">
            <a:extLst xmlns:a="http://schemas.openxmlformats.org/drawingml/2006/main">
              <a:ext uri="{FF2B5EF4-FFF2-40B4-BE49-F238E27FC236}">
                <a16:creationId xmlns:a16="http://schemas.microsoft.com/office/drawing/2014/main" id="{9C385B91-E96D-4D9A-A89A-284644FDBA39}"/>
              </a:ext>
            </a:extLst>
          </p:cNvPr>
          <p:cNvSpPr>
            <a:spLocks xmlns:a="http://schemas.openxmlformats.org/drawingml/2006/main" noGrp="1"/>
          </p:cNvSpPr>
          <p:nvPr/>
        </p:nvSpPr>
        <p:spPr>
          <a:xfrm xmlns:a="http://schemas.openxmlformats.org/drawingml/2006/main">
            <a:off x="8172450" y="44767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35" b="0">
                <a:solidFill>
                  <a:srgbClr val="17324A"/>
                </a:solidFill>
                <a:latin typeface="Aptos"/>
                <a:ea typeface="Aptos"/>
                <a:cs typeface="Aptos"/>
              </a:defRPr>
            </a:pPr>
            <a:r>
              <a:rPr sz="1035" b="0">
                <a:solidFill>
                  <a:srgbClr val="17324A"/>
                </a:solidFill>
                <a:latin typeface="Aptos"/>
                <a:ea typeface="Aptos"/>
                <a:cs typeface="Aptos"/>
              </a:rPr>
              <a:t>If the assertion fails, change Current Folder</a:t>
            </a:r>
          </a:p>
        </p:txBody>
      </p:sp>
      <p:sp>
        <p:nvSpPr>
          <p:cNvPr id="44" name="s8-recovery-dot-1">
            <a:extLst xmlns:a="http://schemas.openxmlformats.org/drawingml/2006/main">
              <a:ext uri="{FF2B5EF4-FFF2-40B4-BE49-F238E27FC236}">
                <a16:creationId xmlns:a16="http://schemas.microsoft.com/office/drawing/2014/main" id="{0E341411-6233-4DAE-9EF0-708F275D619F}"/>
              </a:ext>
            </a:extLst>
          </p:cNvPr>
          <p:cNvSpPr>
            <a:spLocks xmlns:a="http://schemas.openxmlformats.org/drawingml/2006/main" noGrp="1"/>
          </p:cNvSpPr>
          <p:nvPr/>
        </p:nvSpPr>
        <p:spPr>
          <a:xfrm xmlns:a="http://schemas.openxmlformats.org/drawingml/2006/main">
            <a:off x="7981950" y="50196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45" name="s8-recovery-text-1">
            <a:extLst xmlns:a="http://schemas.openxmlformats.org/drawingml/2006/main">
              <a:ext uri="{FF2B5EF4-FFF2-40B4-BE49-F238E27FC236}">
                <a16:creationId xmlns:a16="http://schemas.microsoft.com/office/drawing/2014/main" id="{0624453D-4971-4EBC-85A5-7A5815D5859A}"/>
              </a:ext>
            </a:extLst>
          </p:cNvPr>
          <p:cNvSpPr>
            <a:spLocks xmlns:a="http://schemas.openxmlformats.org/drawingml/2006/main" noGrp="1"/>
          </p:cNvSpPr>
          <p:nvPr/>
        </p:nvSpPr>
        <p:spPr>
          <a:xfrm xmlns:a="http://schemas.openxmlformats.org/drawingml/2006/main">
            <a:off x="8172450" y="49339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35" b="0">
                <a:solidFill>
                  <a:srgbClr val="17324A"/>
                </a:solidFill>
                <a:latin typeface="Aptos"/>
                <a:ea typeface="Aptos"/>
                <a:cs typeface="Aptos"/>
              </a:defRPr>
            </a:pPr>
            <a:r>
              <a:rPr sz="1035" b="0">
                <a:solidFill>
                  <a:srgbClr val="17324A"/>
                </a:solidFill>
                <a:latin typeface="Aptos"/>
                <a:ea typeface="Aptos"/>
                <a:cs typeface="Aptos"/>
              </a:rPr>
              <a:t>Use README orientation-only steps when writes are not authorized</a:t>
            </a:r>
          </a:p>
        </p:txBody>
      </p:sp>
      <p:sp>
        <p:nvSpPr>
          <p:cNvPr id="46" name="s8-scope">
            <a:extLst xmlns:a="http://schemas.openxmlformats.org/drawingml/2006/main">
              <a:ext uri="{FF2B5EF4-FFF2-40B4-BE49-F238E27FC236}">
                <a16:creationId xmlns:a16="http://schemas.microsoft.com/office/drawing/2014/main" id="{559BDE10-1352-43EC-B177-2ED4F8598B00}"/>
              </a:ext>
            </a:extLst>
          </p:cNvPr>
          <p:cNvSpPr>
            <a:spLocks xmlns:a="http://schemas.openxmlformats.org/drawingml/2006/main" noGrp="1"/>
          </p:cNvSpPr>
          <p:nvPr/>
        </p:nvSpPr>
        <p:spPr>
          <a:xfrm xmlns:a="http://schemas.openxmlformats.org/drawingml/2006/main">
            <a:off x="685800" y="567690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The drivers create the retained evidence. A raw Run button press does not recreate the scripted command, disturbance, oracle, or reports.</a:t>
            </a:r>
          </a:p>
        </p:txBody>
      </p:sp>
    </p:spTree>
    <p:extLst>
      <p:ext uri="{BB962C8B-B14F-4D97-AF65-F5344CB8AC3E}">
        <p14:creationId xmlns:p14="http://schemas.microsoft.com/office/powerpoint/2010/main" val="254232730"/>
      </p:ext>
    </p:extLst>
  </p:cSld>
</p:sld>
</file>

<file path=ppt/slides/slide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PREPARE &amp; ORIENT</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09</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PREPARE &amp; ORIENT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Choose the workflow before touching a generated model</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10</a:t>
            </a:r>
          </a:p>
        </p:txBody>
      </p:sp>
      <p:sp>
        <p:nvSpPr>
          <p:cNvPr id="13" name="s10-choice-0">
            <a:extLst xmlns:a="http://schemas.openxmlformats.org/drawingml/2006/main">
              <a:ext uri="{FF2B5EF4-FFF2-40B4-BE49-F238E27FC236}">
                <a16:creationId xmlns:a16="http://schemas.microsoft.com/office/drawing/2014/main" id="{E1DD18FC-8C74-47AB-8AA9-18E2DA6D7F29}"/>
              </a:ext>
            </a:extLst>
          </p:cNvPr>
          <p:cNvSpPr>
            <a:spLocks xmlns:a="http://schemas.openxmlformats.org/drawingml/2006/main" noGrp="1"/>
          </p:cNvSpPr>
          <p:nvPr/>
        </p:nvSpPr>
        <p:spPr>
          <a:xfrm xmlns:a="http://schemas.openxmlformats.org/drawingml/2006/main">
            <a:off x="685800" y="1657350"/>
            <a:ext cx="3352800" cy="2990850"/>
          </a:xfrm>
          <a:prstGeom xmlns:a="http://schemas.openxmlformats.org/drawingml/2006/main" prst="roundRect">
            <a:avLst>
              <a:gd name="adj" fmla="val 3822"/>
            </a:avLst>
          </a:prstGeom>
          <a:solidFill xmlns:a="http://schemas.openxmlformats.org/drawingml/2006/main">
            <a:srgbClr val="0C2133"/>
          </a:solidFill>
          <a:ln xmlns:a="http://schemas.openxmlformats.org/drawingml/2006/main" w="15240">
            <a:solidFill>
              <a:srgbClr val="20B7C5"/>
            </a:solidFill>
            <a:prstDash val="solid"/>
          </a:ln>
        </p:spPr>
      </p:sp>
      <p:sp>
        <p:nvSpPr>
          <p:cNvPr id="14" name="s10-letter-0">
            <a:extLst xmlns:a="http://schemas.openxmlformats.org/drawingml/2006/main">
              <a:ext uri="{FF2B5EF4-FFF2-40B4-BE49-F238E27FC236}">
                <a16:creationId xmlns:a16="http://schemas.microsoft.com/office/drawing/2014/main" id="{CA67BDDF-8822-4C2B-BED5-F4F4B3AEF9BD}"/>
              </a:ext>
            </a:extLst>
          </p:cNvPr>
          <p:cNvSpPr>
            <a:spLocks xmlns:a="http://schemas.openxmlformats.org/drawingml/2006/main" noGrp="1"/>
          </p:cNvSpPr>
          <p:nvPr/>
        </p:nvSpPr>
        <p:spPr>
          <a:xfrm xmlns:a="http://schemas.openxmlformats.org/drawingml/2006/main">
            <a:off x="876300" y="1828800"/>
            <a:ext cx="4381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A</a:t>
            </a:r>
          </a:p>
        </p:txBody>
      </p:sp>
      <p:sp>
        <p:nvSpPr>
          <p:cNvPr id="15" name="s10-title-0">
            <a:extLst xmlns:a="http://schemas.openxmlformats.org/drawingml/2006/main">
              <a:ext uri="{FF2B5EF4-FFF2-40B4-BE49-F238E27FC236}">
                <a16:creationId xmlns:a16="http://schemas.microsoft.com/office/drawing/2014/main" id="{416E284D-3BDB-4E5E-9C0F-C742DB8B2691}"/>
              </a:ext>
            </a:extLst>
          </p:cNvPr>
          <p:cNvSpPr>
            <a:spLocks xmlns:a="http://schemas.openxmlformats.org/drawingml/2006/main" noGrp="1"/>
          </p:cNvSpPr>
          <p:nvPr/>
        </p:nvSpPr>
        <p:spPr>
          <a:xfrm xmlns:a="http://schemas.openxmlformats.org/drawingml/2006/main">
            <a:off x="1428750" y="1809750"/>
            <a:ext cx="236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38" b="1">
                <a:solidFill>
                  <a:srgbClr val="FFFFFF"/>
                </a:solidFill>
                <a:latin typeface="Aptos"/>
                <a:ea typeface="Aptos"/>
                <a:cs typeface="Aptos"/>
              </a:defRPr>
            </a:pPr>
            <a:r>
              <a:rPr sz="1238" b="1">
                <a:solidFill>
                  <a:srgbClr val="FFFFFF"/>
                </a:solidFill>
                <a:latin typeface="Aptos"/>
                <a:ea typeface="Aptos"/>
                <a:cs typeface="Aptos"/>
              </a:rPr>
              <a:t>OPERATE DELIVERED BASELINE</a:t>
            </a:r>
          </a:p>
        </p:txBody>
      </p:sp>
      <p:sp>
        <p:nvSpPr>
          <p:cNvPr id="16" name="s10-flow-0">
            <a:extLst xmlns:a="http://schemas.openxmlformats.org/drawingml/2006/main">
              <a:ext uri="{FF2B5EF4-FFF2-40B4-BE49-F238E27FC236}">
                <a16:creationId xmlns:a16="http://schemas.microsoft.com/office/drawing/2014/main" id="{371A2DFA-88F9-4872-AB7A-B1551F10FEB0}"/>
              </a:ext>
            </a:extLst>
          </p:cNvPr>
          <p:cNvSpPr>
            <a:spLocks xmlns:a="http://schemas.openxmlformats.org/drawingml/2006/main" noGrp="1"/>
          </p:cNvSpPr>
          <p:nvPr/>
        </p:nvSpPr>
        <p:spPr>
          <a:xfrm xmlns:a="http://schemas.openxmlformats.org/drawingml/2006/main">
            <a:off x="895350" y="2609850"/>
            <a:ext cx="2933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25" b="0">
                <a:solidFill>
                  <a:srgbClr val="D9E6EE"/>
                </a:solidFill>
                <a:latin typeface="Aptos"/>
                <a:ea typeface="Aptos"/>
                <a:cs typeface="Aptos"/>
              </a:defRPr>
            </a:pPr>
            <a:r>
              <a:rPr sz="1125" b="0">
                <a:solidFill>
                  <a:srgbClr val="D9E6EE"/>
                </a:solidFill>
                <a:latin typeface="Aptos"/>
                <a:ea typeface="Aptos"/>
                <a:cs typeface="Aptos"/>
              </a:rPr>
              <a:t>initialize → open → Ctrl+D → run controlled drivers</a:t>
            </a:r>
          </a:p>
        </p:txBody>
      </p:sp>
      <p:sp>
        <p:nvSpPr>
          <p:cNvPr id="17" name="s10-use-0">
            <a:extLst xmlns:a="http://schemas.openxmlformats.org/drawingml/2006/main">
              <a:ext uri="{FF2B5EF4-FFF2-40B4-BE49-F238E27FC236}">
                <a16:creationId xmlns:a16="http://schemas.microsoft.com/office/drawing/2014/main" id="{124FAEAC-E2AD-4443-80BD-30B51A5F4D1E}"/>
              </a:ext>
            </a:extLst>
          </p:cNvPr>
          <p:cNvSpPr>
            <a:spLocks xmlns:a="http://schemas.openxmlformats.org/drawingml/2006/main" noGrp="1"/>
          </p:cNvSpPr>
          <p:nvPr/>
        </p:nvSpPr>
        <p:spPr>
          <a:xfrm xmlns:a="http://schemas.openxmlformats.org/drawingml/2006/main">
            <a:off x="895350" y="3733800"/>
            <a:ext cx="2933700" cy="666750"/>
          </a:xfrm>
          <a:prstGeom xmlns:a="http://schemas.openxmlformats.org/drawingml/2006/main" prst="roundRect">
            <a:avLst>
              <a:gd name="adj" fmla="val 17143"/>
            </a:avLst>
          </a:prstGeom>
          <a:solidFill xmlns:a="http://schemas.openxmlformats.org/drawingml/2006/main">
            <a:srgbClr val="091A29"/>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20" b="1">
                <a:solidFill>
                  <a:srgbClr val="20B7C5"/>
                </a:solidFill>
                <a:latin typeface="Aptos"/>
                <a:ea typeface="Aptos"/>
                <a:cs typeface="Aptos"/>
              </a:defRPr>
            </a:pPr>
            <a:r>
              <a:rPr sz="1020" b="1">
                <a:solidFill>
                  <a:srgbClr val="20B7C5"/>
                </a:solidFill>
                <a:latin typeface="Aptos"/>
                <a:ea typeface="Aptos"/>
                <a:cs typeface="Aptos"/>
              </a:rPr>
              <a:t>Default onboarding route</a:t>
            </a:r>
          </a:p>
        </p:txBody>
      </p:sp>
      <p:sp>
        <p:nvSpPr>
          <p:cNvPr id="18" name="s10-choice-1">
            <a:extLst xmlns:a="http://schemas.openxmlformats.org/drawingml/2006/main">
              <a:ext uri="{FF2B5EF4-FFF2-40B4-BE49-F238E27FC236}">
                <a16:creationId xmlns:a16="http://schemas.microsoft.com/office/drawing/2014/main" id="{DE0DA3F6-8AA9-42AF-A3F2-3994A5A3397D}"/>
              </a:ext>
            </a:extLst>
          </p:cNvPr>
          <p:cNvSpPr>
            <a:spLocks xmlns:a="http://schemas.openxmlformats.org/drawingml/2006/main" noGrp="1"/>
          </p:cNvSpPr>
          <p:nvPr/>
        </p:nvSpPr>
        <p:spPr>
          <a:xfrm xmlns:a="http://schemas.openxmlformats.org/drawingml/2006/main">
            <a:off x="4343400" y="1657350"/>
            <a:ext cx="3352800" cy="2990850"/>
          </a:xfrm>
          <a:prstGeom xmlns:a="http://schemas.openxmlformats.org/drawingml/2006/main" prst="roundRect">
            <a:avLst>
              <a:gd name="adj" fmla="val 3822"/>
            </a:avLst>
          </a:prstGeom>
          <a:solidFill xmlns:a="http://schemas.openxmlformats.org/drawingml/2006/main">
            <a:srgbClr val="0C2133"/>
          </a:solidFill>
          <a:ln xmlns:a="http://schemas.openxmlformats.org/drawingml/2006/main" w="15240">
            <a:solidFill>
              <a:srgbClr val="E9A23B"/>
            </a:solidFill>
            <a:prstDash val="solid"/>
          </a:ln>
        </p:spPr>
      </p:sp>
      <p:sp>
        <p:nvSpPr>
          <p:cNvPr id="19" name="s10-letter-1">
            <a:extLst xmlns:a="http://schemas.openxmlformats.org/drawingml/2006/main">
              <a:ext uri="{FF2B5EF4-FFF2-40B4-BE49-F238E27FC236}">
                <a16:creationId xmlns:a16="http://schemas.microsoft.com/office/drawing/2014/main" id="{670530F2-0661-409B-A6C0-47BF315DC377}"/>
              </a:ext>
            </a:extLst>
          </p:cNvPr>
          <p:cNvSpPr>
            <a:spLocks xmlns:a="http://schemas.openxmlformats.org/drawingml/2006/main" noGrp="1"/>
          </p:cNvSpPr>
          <p:nvPr/>
        </p:nvSpPr>
        <p:spPr>
          <a:xfrm xmlns:a="http://schemas.openxmlformats.org/drawingml/2006/main">
            <a:off x="4533900" y="1828800"/>
            <a:ext cx="438150" cy="285750"/>
          </a:xfrm>
          <a:prstGeom xmlns:a="http://schemas.openxmlformats.org/drawingml/2006/main" prst="roundRect">
            <a:avLst>
              <a:gd name="adj" fmla="val 40000"/>
            </a:avLst>
          </a:prstGeom>
          <a:solidFill xmlns:a="http://schemas.openxmlformats.org/drawingml/2006/main">
            <a:srgbClr val="E9A23B"/>
          </a:solidFill>
          <a:ln xmlns:a="http://schemas.openxmlformats.org/drawingml/2006/main" w="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B</a:t>
            </a:r>
          </a:p>
        </p:txBody>
      </p:sp>
      <p:sp>
        <p:nvSpPr>
          <p:cNvPr id="20" name="s10-title-1">
            <a:extLst xmlns:a="http://schemas.openxmlformats.org/drawingml/2006/main">
              <a:ext uri="{FF2B5EF4-FFF2-40B4-BE49-F238E27FC236}">
                <a16:creationId xmlns:a16="http://schemas.microsoft.com/office/drawing/2014/main" id="{61DB6DA9-D403-4C21-A79F-97FDA23E48C5}"/>
              </a:ext>
            </a:extLst>
          </p:cNvPr>
          <p:cNvSpPr>
            <a:spLocks xmlns:a="http://schemas.openxmlformats.org/drawingml/2006/main" noGrp="1"/>
          </p:cNvSpPr>
          <p:nvPr/>
        </p:nvSpPr>
        <p:spPr>
          <a:xfrm xmlns:a="http://schemas.openxmlformats.org/drawingml/2006/main">
            <a:off x="5086350" y="1809750"/>
            <a:ext cx="236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38" b="1">
                <a:solidFill>
                  <a:srgbClr val="FFFFFF"/>
                </a:solidFill>
                <a:latin typeface="Aptos"/>
                <a:ea typeface="Aptos"/>
                <a:cs typeface="Aptos"/>
              </a:defRPr>
            </a:pPr>
            <a:r>
              <a:rPr sz="1238" b="1">
                <a:solidFill>
                  <a:srgbClr val="FFFFFF"/>
                </a:solidFill>
                <a:latin typeface="Aptos"/>
                <a:ea typeface="Aptos"/>
                <a:cs typeface="Aptos"/>
              </a:rPr>
              <a:t>CREATE A PRACTICE COMPONENT</a:t>
            </a:r>
          </a:p>
        </p:txBody>
      </p:sp>
      <p:sp>
        <p:nvSpPr>
          <p:cNvPr id="21" name="s10-flow-1">
            <a:extLst xmlns:a="http://schemas.openxmlformats.org/drawingml/2006/main">
              <a:ext uri="{FF2B5EF4-FFF2-40B4-BE49-F238E27FC236}">
                <a16:creationId xmlns:a16="http://schemas.microsoft.com/office/drawing/2014/main" id="{394871A8-CB3E-42A9-B103-F873BEA11404}"/>
              </a:ext>
            </a:extLst>
          </p:cNvPr>
          <p:cNvSpPr>
            <a:spLocks xmlns:a="http://schemas.openxmlformats.org/drawingml/2006/main" noGrp="1"/>
          </p:cNvSpPr>
          <p:nvPr/>
        </p:nvSpPr>
        <p:spPr>
          <a:xfrm xmlns:a="http://schemas.openxmlformats.org/drawingml/2006/main">
            <a:off x="4552950" y="2609850"/>
            <a:ext cx="2933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25" b="0">
                <a:solidFill>
                  <a:srgbClr val="D9E6EE"/>
                </a:solidFill>
                <a:latin typeface="Aptos"/>
                <a:ea typeface="Aptos"/>
                <a:cs typeface="Aptos"/>
              </a:defRPr>
            </a:pPr>
            <a:r>
              <a:rPr sz="1125" b="0">
                <a:solidFill>
                  <a:srgbClr val="D9E6EE"/>
                </a:solidFill>
                <a:latin typeface="Aptos"/>
                <a:ea typeface="Aptos"/>
                <a:cs typeface="Aptos"/>
              </a:rPr>
              <a:t>new authorized copy → attach dictionary → build ports/logic → update</a:t>
            </a:r>
          </a:p>
        </p:txBody>
      </p:sp>
      <p:sp>
        <p:nvSpPr>
          <p:cNvPr id="22" name="s10-use-1">
            <a:extLst xmlns:a="http://schemas.openxmlformats.org/drawingml/2006/main">
              <a:ext uri="{FF2B5EF4-FFF2-40B4-BE49-F238E27FC236}">
                <a16:creationId xmlns:a16="http://schemas.microsoft.com/office/drawing/2014/main" id="{B75AB44F-0FBC-449A-86EE-72F94137078C}"/>
              </a:ext>
            </a:extLst>
          </p:cNvPr>
          <p:cNvSpPr>
            <a:spLocks xmlns:a="http://schemas.openxmlformats.org/drawingml/2006/main" noGrp="1"/>
          </p:cNvSpPr>
          <p:nvPr/>
        </p:nvSpPr>
        <p:spPr>
          <a:xfrm xmlns:a="http://schemas.openxmlformats.org/drawingml/2006/main">
            <a:off x="4552950" y="3733800"/>
            <a:ext cx="2933700" cy="666750"/>
          </a:xfrm>
          <a:prstGeom xmlns:a="http://schemas.openxmlformats.org/drawingml/2006/main" prst="roundRect">
            <a:avLst>
              <a:gd name="adj" fmla="val 17143"/>
            </a:avLst>
          </a:prstGeom>
          <a:solidFill xmlns:a="http://schemas.openxmlformats.org/drawingml/2006/main">
            <a:srgbClr val="091A29"/>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20" b="1">
                <a:solidFill>
                  <a:srgbClr val="E9A23B"/>
                </a:solidFill>
                <a:latin typeface="Aptos"/>
                <a:ea typeface="Aptos"/>
                <a:cs typeface="Aptos"/>
              </a:defRPr>
            </a:pPr>
            <a:r>
              <a:rPr sz="1020" b="1">
                <a:solidFill>
                  <a:srgbClr val="E9A23B"/>
                </a:solidFill>
                <a:latin typeface="Aptos"/>
                <a:ea typeface="Aptos"/>
                <a:cs typeface="Aptos"/>
              </a:rPr>
              <a:t>Slides 13–19</a:t>
            </a:r>
          </a:p>
        </p:txBody>
      </p:sp>
      <p:sp>
        <p:nvSpPr>
          <p:cNvPr id="23" name="s10-choice-2">
            <a:extLst xmlns:a="http://schemas.openxmlformats.org/drawingml/2006/main">
              <a:ext uri="{FF2B5EF4-FFF2-40B4-BE49-F238E27FC236}">
                <a16:creationId xmlns:a16="http://schemas.microsoft.com/office/drawing/2014/main" id="{1AB441EB-B935-40E7-9C48-980BDBF77B1A}"/>
              </a:ext>
            </a:extLst>
          </p:cNvPr>
          <p:cNvSpPr>
            <a:spLocks xmlns:a="http://schemas.openxmlformats.org/drawingml/2006/main" noGrp="1"/>
          </p:cNvSpPr>
          <p:nvPr/>
        </p:nvSpPr>
        <p:spPr>
          <a:xfrm xmlns:a="http://schemas.openxmlformats.org/drawingml/2006/main">
            <a:off x="8001000" y="1657350"/>
            <a:ext cx="3352800" cy="2990850"/>
          </a:xfrm>
          <a:prstGeom xmlns:a="http://schemas.openxmlformats.org/drawingml/2006/main" prst="roundRect">
            <a:avLst>
              <a:gd name="adj" fmla="val 3822"/>
            </a:avLst>
          </a:prstGeom>
          <a:solidFill xmlns:a="http://schemas.openxmlformats.org/drawingml/2006/main">
            <a:srgbClr val="0C2133"/>
          </a:solidFill>
          <a:ln xmlns:a="http://schemas.openxmlformats.org/drawingml/2006/main" w="15240">
            <a:solidFill>
              <a:srgbClr val="D75A64"/>
            </a:solidFill>
            <a:prstDash val="solid"/>
          </a:ln>
        </p:spPr>
      </p:sp>
      <p:sp>
        <p:nvSpPr>
          <p:cNvPr id="24" name="s10-letter-2">
            <a:extLst xmlns:a="http://schemas.openxmlformats.org/drawingml/2006/main">
              <a:ext uri="{FF2B5EF4-FFF2-40B4-BE49-F238E27FC236}">
                <a16:creationId xmlns:a16="http://schemas.microsoft.com/office/drawing/2014/main" id="{0B96D266-B6A7-4F33-8AEC-AFD2668F0883}"/>
              </a:ext>
            </a:extLst>
          </p:cNvPr>
          <p:cNvSpPr>
            <a:spLocks xmlns:a="http://schemas.openxmlformats.org/drawingml/2006/main" noGrp="1"/>
          </p:cNvSpPr>
          <p:nvPr/>
        </p:nvSpPr>
        <p:spPr>
          <a:xfrm xmlns:a="http://schemas.openxmlformats.org/drawingml/2006/main">
            <a:off x="8191500" y="1828800"/>
            <a:ext cx="438150" cy="285750"/>
          </a:xfrm>
          <a:prstGeom xmlns:a="http://schemas.openxmlformats.org/drawingml/2006/main" prst="roundRect">
            <a:avLst>
              <a:gd name="adj" fmla="val 40000"/>
            </a:avLst>
          </a:prstGeom>
          <a:solidFill xmlns:a="http://schemas.openxmlformats.org/drawingml/2006/main">
            <a:srgbClr val="D75A64"/>
          </a:solidFill>
          <a:ln xmlns:a="http://schemas.openxmlformats.org/drawingml/2006/main" w="0">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C</a:t>
            </a:r>
          </a:p>
        </p:txBody>
      </p:sp>
      <p:sp>
        <p:nvSpPr>
          <p:cNvPr id="25" name="s10-title-2">
            <a:extLst xmlns:a="http://schemas.openxmlformats.org/drawingml/2006/main">
              <a:ext uri="{FF2B5EF4-FFF2-40B4-BE49-F238E27FC236}">
                <a16:creationId xmlns:a16="http://schemas.microsoft.com/office/drawing/2014/main" id="{4AF38032-B66E-4C8F-9DDB-28D1E80AA744}"/>
              </a:ext>
            </a:extLst>
          </p:cNvPr>
          <p:cNvSpPr>
            <a:spLocks xmlns:a="http://schemas.openxmlformats.org/drawingml/2006/main" noGrp="1"/>
          </p:cNvSpPr>
          <p:nvPr/>
        </p:nvSpPr>
        <p:spPr>
          <a:xfrm xmlns:a="http://schemas.openxmlformats.org/drawingml/2006/main">
            <a:off x="8743950" y="1809750"/>
            <a:ext cx="236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38" b="1">
                <a:solidFill>
                  <a:srgbClr val="FFFFFF"/>
                </a:solidFill>
                <a:latin typeface="Aptos"/>
                <a:ea typeface="Aptos"/>
                <a:cs typeface="Aptos"/>
              </a:defRPr>
            </a:pPr>
            <a:r>
              <a:rPr sz="1238" b="1">
                <a:solidFill>
                  <a:srgbClr val="FFFFFF"/>
                </a:solidFill>
                <a:latin typeface="Aptos"/>
                <a:ea typeface="Aptos"/>
                <a:cs typeface="Aptos"/>
              </a:rPr>
              <a:t>REGENERATE TRAINING PACKAGE</a:t>
            </a:r>
          </a:p>
        </p:txBody>
      </p:sp>
      <p:sp>
        <p:nvSpPr>
          <p:cNvPr id="26" name="s10-flow-2">
            <a:extLst xmlns:a="http://schemas.openxmlformats.org/drawingml/2006/main">
              <a:ext uri="{FF2B5EF4-FFF2-40B4-BE49-F238E27FC236}">
                <a16:creationId xmlns:a16="http://schemas.microsoft.com/office/drawing/2014/main" id="{4302D4EC-6132-428C-98A2-FD3BAF24C231}"/>
              </a:ext>
            </a:extLst>
          </p:cNvPr>
          <p:cNvSpPr>
            <a:spLocks xmlns:a="http://schemas.openxmlformats.org/drawingml/2006/main" noGrp="1"/>
          </p:cNvSpPr>
          <p:nvPr/>
        </p:nvSpPr>
        <p:spPr>
          <a:xfrm xmlns:a="http://schemas.openxmlformats.org/drawingml/2006/main">
            <a:off x="8210550" y="2609850"/>
            <a:ext cx="2933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25" b="0">
                <a:solidFill>
                  <a:srgbClr val="D9E6EE"/>
                </a:solidFill>
                <a:latin typeface="Aptos"/>
                <a:ea typeface="Aptos"/>
                <a:cs typeface="Aptos"/>
              </a:defRPr>
            </a:pPr>
            <a:r>
              <a:rPr sz="1125" b="0">
                <a:solidFill>
                  <a:srgbClr val="D9E6EE"/>
                </a:solidFill>
                <a:latin typeface="Aptos"/>
                <a:ea typeface="Aptos"/>
                <a:cs typeface="Aptos"/>
              </a:rPr>
              <a:t>create_training_models / refresh scripts</a:t>
            </a:r>
          </a:p>
        </p:txBody>
      </p:sp>
      <p:sp>
        <p:nvSpPr>
          <p:cNvPr id="27" name="s10-use-2">
            <a:extLst xmlns:a="http://schemas.openxmlformats.org/drawingml/2006/main">
              <a:ext uri="{FF2B5EF4-FFF2-40B4-BE49-F238E27FC236}">
                <a16:creationId xmlns:a16="http://schemas.microsoft.com/office/drawing/2014/main" id="{33A9086A-973F-4C50-B6C4-4C7A0F866332}"/>
              </a:ext>
            </a:extLst>
          </p:cNvPr>
          <p:cNvSpPr>
            <a:spLocks xmlns:a="http://schemas.openxmlformats.org/drawingml/2006/main" noGrp="1"/>
          </p:cNvSpPr>
          <p:nvPr/>
        </p:nvSpPr>
        <p:spPr>
          <a:xfrm xmlns:a="http://schemas.openxmlformats.org/drawingml/2006/main">
            <a:off x="8210550" y="3733800"/>
            <a:ext cx="2933700" cy="666750"/>
          </a:xfrm>
          <a:prstGeom xmlns:a="http://schemas.openxmlformats.org/drawingml/2006/main" prst="roundRect">
            <a:avLst>
              <a:gd name="adj" fmla="val 17143"/>
            </a:avLst>
          </a:prstGeom>
          <a:solidFill xmlns:a="http://schemas.openxmlformats.org/drawingml/2006/main">
            <a:srgbClr val="091A2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20" b="1">
                <a:solidFill>
                  <a:srgbClr val="D75A64"/>
                </a:solidFill>
                <a:latin typeface="Aptos"/>
                <a:ea typeface="Aptos"/>
                <a:cs typeface="Aptos"/>
              </a:defRPr>
            </a:pPr>
            <a:r>
              <a:rPr sz="1020" b="1">
                <a:solidFill>
                  <a:srgbClr val="D75A64"/>
                </a:solidFill>
                <a:latin typeface="Aptos"/>
                <a:ea typeface="Aptos"/>
                <a:cs typeface="Aptos"/>
              </a:rPr>
              <a:t>Maintainer-only: replaces saved models and visuals</a:t>
            </a:r>
          </a:p>
        </p:txBody>
      </p:sp>
      <p:sp>
        <p:nvSpPr>
          <p:cNvPr id="28" name="s10-warning">
            <a:extLst xmlns:a="http://schemas.openxmlformats.org/drawingml/2006/main">
              <a:ext uri="{FF2B5EF4-FFF2-40B4-BE49-F238E27FC236}">
                <a16:creationId xmlns:a16="http://schemas.microsoft.com/office/drawing/2014/main" id="{D35AA140-5A7F-4B65-8577-EFD6BB8151C6}"/>
              </a:ext>
            </a:extLst>
          </p:cNvPr>
          <p:cNvSpPr>
            <a:spLocks xmlns:a="http://schemas.openxmlformats.org/drawingml/2006/main" noGrp="1"/>
          </p:cNvSpPr>
          <p:nvPr/>
        </p:nvSpPr>
        <p:spPr>
          <a:xfrm xmlns:a="http://schemas.openxmlformats.org/drawingml/2006/main">
            <a:off x="685800" y="510540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STOP BEFORE OPTION C  •  regeneration is intentionally broad and can replace layouts, baselines, and evidence; use only when that is the authorized task</a:t>
            </a:r>
          </a:p>
        </p:txBody>
      </p:sp>
    </p:spTree>
    <p:extLst>
      <p:ext uri="{BB962C8B-B14F-4D97-AF65-F5344CB8AC3E}">
        <p14:creationId xmlns:p14="http://schemas.microsoft.com/office/powerpoint/2010/main" val="1612514186"/>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PREPARE &amp; ORIENT</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12</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PREPARE &amp; ORIENT</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327b36503fa0481e"/>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1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CONTROLLED CREATION LAB</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FFFFFF"/>
                </a:solidFill>
                <a:latin typeface="Aptos"/>
                <a:ea typeface="Aptos"/>
                <a:cs typeface="Aptos"/>
              </a:defRPr>
            </a:pPr>
            <a:r>
              <a:rPr sz="2550" b="1" i="0">
                <a:solidFill>
                  <a:srgbClr val="FFFFFF"/>
                </a:solidFill>
                <a:latin typeface="Aptos"/>
                <a:ea typeface="Aptos"/>
                <a:cs typeface="Aptos"/>
              </a:rPr>
              <a:t>Build lab: recreate the pitch-rate limiter in an authorized working copy</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13</a:t>
            </a:r>
          </a:p>
        </p:txBody>
      </p:sp>
      <p:sp>
        <p:nvSpPr>
          <p:cNvPr id="20" name="s13-rule">
            <a:extLst xmlns:a="http://schemas.openxmlformats.org/drawingml/2006/main">
              <a:ext uri="{FF2B5EF4-FFF2-40B4-BE49-F238E27FC236}">
                <a16:creationId xmlns:a16="http://schemas.microsoft.com/office/drawing/2014/main" id="{57A8D0A7-3AE4-4F90-B553-E20A290D8E5C}"/>
              </a:ext>
            </a:extLst>
          </p:cNvPr>
          <p:cNvSpPr>
            <a:spLocks xmlns:a="http://schemas.openxmlformats.org/drawingml/2006/main" noGrp="1"/>
          </p:cNvSpPr>
          <p:nvPr/>
        </p:nvSpPr>
        <p:spPr>
          <a:xfrm xmlns:a="http://schemas.openxmlformats.org/drawingml/2006/main">
            <a:off x="685800" y="1390650"/>
            <a:ext cx="10820400" cy="609600"/>
          </a:xfrm>
          <a:prstGeom xmlns:a="http://schemas.openxmlformats.org/drawingml/2006/main" prst="roundRect">
            <a:avLst>
              <a:gd name="adj" fmla="val 18750"/>
            </a:avLst>
          </a:prstGeom>
          <a:solidFill xmlns:a="http://schemas.openxmlformats.org/drawingml/2006/main">
            <a:srgbClr val="0C2133"/>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Consolas"/>
                <a:ea typeface="Consolas"/>
                <a:cs typeface="Consolas"/>
              </a:defRPr>
            </a:pPr>
            <a:r>
              <a:rPr sz="1088" b="1">
                <a:solidFill>
                  <a:srgbClr val="FFFFFF"/>
                </a:solidFill>
                <a:latin typeface="Consolas"/>
                <a:ea typeface="Consolas"/>
                <a:cs typeface="Consolas"/>
              </a:rPr>
              <a:t>SAFE SANDBOX  •  create_pitch_rate_limiter_practice(projectRoot,'TLEE')</a:t>
            </a:r>
          </a:p>
          <a:p xmlns:a="http://schemas.openxmlformats.org/drawingml/2006/main">
            <a:pPr algn="ctr">
              <a:defRPr sz="1088" b="1">
                <a:solidFill>
                  <a:srgbClr val="FFFFFF"/>
                </a:solidFill>
                <a:latin typeface="Consolas"/>
                <a:ea typeface="Consolas"/>
                <a:cs typeface="Consolas"/>
              </a:defRPr>
            </a:pPr>
            <a:r>
              <a:rPr sz="1088" b="1">
                <a:solidFill>
                  <a:srgbClr val="FFFFFF"/>
                </a:solidFill>
                <a:latin typeface="Consolas"/>
                <a:ea typeface="Consolas"/>
                <a:cs typeface="Consolas"/>
              </a:rPr>
              <a:t>→ learner_workspace/TLEE/models/PitchRateLimiter_Practice_TLEE.slx + matching Harness.slx</a:t>
            </a:r>
          </a:p>
        </p:txBody>
      </p:sp>
      <p:sp>
        <p:nvSpPr>
          <p:cNvPr id="21" name="s13-stage-0">
            <a:extLst xmlns:a="http://schemas.openxmlformats.org/drawingml/2006/main">
              <a:ext uri="{FF2B5EF4-FFF2-40B4-BE49-F238E27FC236}">
                <a16:creationId xmlns:a16="http://schemas.microsoft.com/office/drawing/2014/main" id="{680DFF83-3388-44B2-8F87-4DC002AC17E7}"/>
              </a:ext>
            </a:extLst>
          </p:cNvPr>
          <p:cNvSpPr>
            <a:spLocks xmlns:a="http://schemas.openxmlformats.org/drawingml/2006/main" noGrp="1"/>
          </p:cNvSpPr>
          <p:nvPr/>
        </p:nvSpPr>
        <p:spPr>
          <a:xfrm xmlns:a="http://schemas.openxmlformats.org/drawingml/2006/main">
            <a:off x="685800" y="2209800"/>
            <a:ext cx="3352800" cy="1104900"/>
          </a:xfrm>
          <a:prstGeom xmlns:a="http://schemas.openxmlformats.org/drawingml/2006/main" prst="roundRect">
            <a:avLst>
              <a:gd name="adj" fmla="val 10345"/>
            </a:avLst>
          </a:prstGeom>
          <a:solidFill xmlns:a="http://schemas.openxmlformats.org/drawingml/2006/main">
            <a:srgbClr val="091A29"/>
          </a:solidFill>
          <a:ln xmlns:a="http://schemas.openxmlformats.org/drawingml/2006/main" w="11430">
            <a:solidFill>
              <a:srgbClr val="20B7C5"/>
            </a:solidFill>
            <a:prstDash val="solid"/>
          </a:ln>
        </p:spPr>
      </p:sp>
      <p:sp>
        <p:nvSpPr>
          <p:cNvPr id="22" name="s13-num-0">
            <a:extLst xmlns:a="http://schemas.openxmlformats.org/drawingml/2006/main">
              <a:ext uri="{FF2B5EF4-FFF2-40B4-BE49-F238E27FC236}">
                <a16:creationId xmlns:a16="http://schemas.microsoft.com/office/drawing/2014/main" id="{A35FC381-06FE-4041-9D32-7E45244A97CF}"/>
              </a:ext>
            </a:extLst>
          </p:cNvPr>
          <p:cNvSpPr>
            <a:spLocks xmlns:a="http://schemas.openxmlformats.org/drawingml/2006/main" noGrp="1"/>
          </p:cNvSpPr>
          <p:nvPr/>
        </p:nvSpPr>
        <p:spPr>
          <a:xfrm xmlns:a="http://schemas.openxmlformats.org/drawingml/2006/main">
            <a:off x="838200" y="2381250"/>
            <a:ext cx="4762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01</a:t>
            </a:r>
          </a:p>
        </p:txBody>
      </p:sp>
      <p:sp>
        <p:nvSpPr>
          <p:cNvPr id="23" name="s13-title-0">
            <a:extLst xmlns:a="http://schemas.openxmlformats.org/drawingml/2006/main">
              <a:ext uri="{FF2B5EF4-FFF2-40B4-BE49-F238E27FC236}">
                <a16:creationId xmlns:a16="http://schemas.microsoft.com/office/drawing/2014/main" id="{77DCDFDE-647C-47D1-A29E-527936EED52C}"/>
              </a:ext>
            </a:extLst>
          </p:cNvPr>
          <p:cNvSpPr>
            <a:spLocks xmlns:a="http://schemas.openxmlformats.org/drawingml/2006/main" noGrp="1"/>
          </p:cNvSpPr>
          <p:nvPr/>
        </p:nvSpPr>
        <p:spPr>
          <a:xfrm xmlns:a="http://schemas.openxmlformats.org/drawingml/2006/main">
            <a:off x="1447800" y="23622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SAFE CREATE</a:t>
            </a:r>
          </a:p>
        </p:txBody>
      </p:sp>
      <p:sp>
        <p:nvSpPr>
          <p:cNvPr id="24" name="s13-body-0">
            <a:extLst xmlns:a="http://schemas.openxmlformats.org/drawingml/2006/main">
              <a:ext uri="{FF2B5EF4-FFF2-40B4-BE49-F238E27FC236}">
                <a16:creationId xmlns:a16="http://schemas.microsoft.com/office/drawing/2014/main" id="{27A6A382-EF9A-44C8-B983-0E690DF7718C}"/>
              </a:ext>
            </a:extLst>
          </p:cNvPr>
          <p:cNvSpPr>
            <a:spLocks xmlns:a="http://schemas.openxmlformats.org/drawingml/2006/main" noGrp="1"/>
          </p:cNvSpPr>
          <p:nvPr/>
        </p:nvSpPr>
        <p:spPr>
          <a:xfrm xmlns:a="http://schemas.openxmlformats.org/drawingml/2006/main">
            <a:off x="1447800" y="27241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20" b="0">
                <a:solidFill>
                  <a:srgbClr val="7D91A0"/>
                </a:solidFill>
                <a:latin typeface="Aptos"/>
                <a:ea typeface="Aptos"/>
                <a:cs typeface="Aptos"/>
              </a:defRPr>
            </a:pPr>
            <a:r>
              <a:rPr sz="1020" b="0">
                <a:solidFill>
                  <a:srgbClr val="7D91A0"/>
                </a:solidFill>
                <a:latin typeface="Aptos"/>
                <a:ea typeface="Aptos"/>
                <a:cs typeface="Aptos"/>
              </a:rPr>
              <a:t>unique tag • no baseline overwrite</a:t>
            </a:r>
          </a:p>
        </p:txBody>
      </p:sp>
      <p:sp>
        <p:nvSpPr>
          <p:cNvPr id="25" name="s13-stage-1">
            <a:extLst xmlns:a="http://schemas.openxmlformats.org/drawingml/2006/main">
              <a:ext uri="{FF2B5EF4-FFF2-40B4-BE49-F238E27FC236}">
                <a16:creationId xmlns:a16="http://schemas.microsoft.com/office/drawing/2014/main" id="{70AB5690-77F5-48BA-80B0-2A364D224EDF}"/>
              </a:ext>
            </a:extLst>
          </p:cNvPr>
          <p:cNvSpPr>
            <a:spLocks xmlns:a="http://schemas.openxmlformats.org/drawingml/2006/main" noGrp="1"/>
          </p:cNvSpPr>
          <p:nvPr/>
        </p:nvSpPr>
        <p:spPr>
          <a:xfrm xmlns:a="http://schemas.openxmlformats.org/drawingml/2006/main">
            <a:off x="4343400" y="2209800"/>
            <a:ext cx="3352800" cy="1104900"/>
          </a:xfrm>
          <a:prstGeom xmlns:a="http://schemas.openxmlformats.org/drawingml/2006/main" prst="roundRect">
            <a:avLst>
              <a:gd name="adj" fmla="val 10345"/>
            </a:avLst>
          </a:prstGeom>
          <a:solidFill xmlns:a="http://schemas.openxmlformats.org/drawingml/2006/main">
            <a:srgbClr val="091A29"/>
          </a:solidFill>
          <a:ln xmlns:a="http://schemas.openxmlformats.org/drawingml/2006/main" w="11430">
            <a:solidFill>
              <a:srgbClr val="20B7C5"/>
            </a:solidFill>
            <a:prstDash val="solid"/>
          </a:ln>
        </p:spPr>
      </p:sp>
      <p:sp>
        <p:nvSpPr>
          <p:cNvPr id="26" name="s13-num-1">
            <a:extLst xmlns:a="http://schemas.openxmlformats.org/drawingml/2006/main">
              <a:ext uri="{FF2B5EF4-FFF2-40B4-BE49-F238E27FC236}">
                <a16:creationId xmlns:a16="http://schemas.microsoft.com/office/drawing/2014/main" id="{02AB1724-769F-464B-AAB8-0588CA49CFC8}"/>
              </a:ext>
            </a:extLst>
          </p:cNvPr>
          <p:cNvSpPr>
            <a:spLocks xmlns:a="http://schemas.openxmlformats.org/drawingml/2006/main" noGrp="1"/>
          </p:cNvSpPr>
          <p:nvPr/>
        </p:nvSpPr>
        <p:spPr>
          <a:xfrm xmlns:a="http://schemas.openxmlformats.org/drawingml/2006/main">
            <a:off x="4495800" y="2381250"/>
            <a:ext cx="4762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02</a:t>
            </a:r>
          </a:p>
        </p:txBody>
      </p:sp>
      <p:sp>
        <p:nvSpPr>
          <p:cNvPr id="27" name="s13-title-1">
            <a:extLst xmlns:a="http://schemas.openxmlformats.org/drawingml/2006/main">
              <a:ext uri="{FF2B5EF4-FFF2-40B4-BE49-F238E27FC236}">
                <a16:creationId xmlns:a16="http://schemas.microsoft.com/office/drawing/2014/main" id="{12A79B7D-DD3C-483D-A36D-C54A5C5FCA9D}"/>
              </a:ext>
            </a:extLst>
          </p:cNvPr>
          <p:cNvSpPr>
            <a:spLocks xmlns:a="http://schemas.openxmlformats.org/drawingml/2006/main" noGrp="1"/>
          </p:cNvSpPr>
          <p:nvPr/>
        </p:nvSpPr>
        <p:spPr>
          <a:xfrm xmlns:a="http://schemas.openxmlformats.org/drawingml/2006/main">
            <a:off x="5105400" y="23622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MODEL SHELL</a:t>
            </a:r>
          </a:p>
        </p:txBody>
      </p:sp>
      <p:sp>
        <p:nvSpPr>
          <p:cNvPr id="28" name="s13-body-1">
            <a:extLst xmlns:a="http://schemas.openxmlformats.org/drawingml/2006/main">
              <a:ext uri="{FF2B5EF4-FFF2-40B4-BE49-F238E27FC236}">
                <a16:creationId xmlns:a16="http://schemas.microsoft.com/office/drawing/2014/main" id="{26B3D921-3C67-4095-A46C-277A235F417E}"/>
              </a:ext>
            </a:extLst>
          </p:cNvPr>
          <p:cNvSpPr>
            <a:spLocks xmlns:a="http://schemas.openxmlformats.org/drawingml/2006/main" noGrp="1"/>
          </p:cNvSpPr>
          <p:nvPr/>
        </p:nvSpPr>
        <p:spPr>
          <a:xfrm xmlns:a="http://schemas.openxmlformats.org/drawingml/2006/main">
            <a:off x="5105400" y="27241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20" b="0">
                <a:solidFill>
                  <a:srgbClr val="7D91A0"/>
                </a:solidFill>
                <a:latin typeface="Aptos"/>
                <a:ea typeface="Aptos"/>
                <a:cs typeface="Aptos"/>
              </a:defRPr>
            </a:pPr>
            <a:r>
              <a:rPr sz="1020" b="0">
                <a:solidFill>
                  <a:srgbClr val="7D91A0"/>
                </a:solidFill>
                <a:latin typeface="Aptos"/>
                <a:ea typeface="Aptos"/>
                <a:cs typeface="Aptos"/>
              </a:rPr>
              <a:t>five exact ports + dictionary</a:t>
            </a:r>
          </a:p>
        </p:txBody>
      </p:sp>
      <p:sp>
        <p:nvSpPr>
          <p:cNvPr id="29" name="s13-stage-2">
            <a:extLst xmlns:a="http://schemas.openxmlformats.org/drawingml/2006/main">
              <a:ext uri="{FF2B5EF4-FFF2-40B4-BE49-F238E27FC236}">
                <a16:creationId xmlns:a16="http://schemas.microsoft.com/office/drawing/2014/main" id="{EAF61621-844F-47E0-8FF6-672C0B55B057}"/>
              </a:ext>
            </a:extLst>
          </p:cNvPr>
          <p:cNvSpPr>
            <a:spLocks xmlns:a="http://schemas.openxmlformats.org/drawingml/2006/main" noGrp="1"/>
          </p:cNvSpPr>
          <p:nvPr/>
        </p:nvSpPr>
        <p:spPr>
          <a:xfrm xmlns:a="http://schemas.openxmlformats.org/drawingml/2006/main">
            <a:off x="8001000" y="2209800"/>
            <a:ext cx="3352800" cy="1104900"/>
          </a:xfrm>
          <a:prstGeom xmlns:a="http://schemas.openxmlformats.org/drawingml/2006/main" prst="roundRect">
            <a:avLst>
              <a:gd name="adj" fmla="val 10345"/>
            </a:avLst>
          </a:prstGeom>
          <a:solidFill xmlns:a="http://schemas.openxmlformats.org/drawingml/2006/main">
            <a:srgbClr val="091A29"/>
          </a:solidFill>
          <a:ln xmlns:a="http://schemas.openxmlformats.org/drawingml/2006/main" w="11430">
            <a:solidFill>
              <a:srgbClr val="20B7C5"/>
            </a:solidFill>
            <a:prstDash val="solid"/>
          </a:ln>
        </p:spPr>
      </p:sp>
      <p:sp>
        <p:nvSpPr>
          <p:cNvPr id="30" name="s13-num-2">
            <a:extLst xmlns:a="http://schemas.openxmlformats.org/drawingml/2006/main">
              <a:ext uri="{FF2B5EF4-FFF2-40B4-BE49-F238E27FC236}">
                <a16:creationId xmlns:a16="http://schemas.microsoft.com/office/drawing/2014/main" id="{1B150ED2-7BCF-4401-80CB-DF0B56B75E6E}"/>
              </a:ext>
            </a:extLst>
          </p:cNvPr>
          <p:cNvSpPr>
            <a:spLocks xmlns:a="http://schemas.openxmlformats.org/drawingml/2006/main" noGrp="1"/>
          </p:cNvSpPr>
          <p:nvPr/>
        </p:nvSpPr>
        <p:spPr>
          <a:xfrm xmlns:a="http://schemas.openxmlformats.org/drawingml/2006/main">
            <a:off x="8153400" y="2381250"/>
            <a:ext cx="4762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03</a:t>
            </a:r>
          </a:p>
        </p:txBody>
      </p:sp>
      <p:sp>
        <p:nvSpPr>
          <p:cNvPr id="31" name="s13-title-2">
            <a:extLst xmlns:a="http://schemas.openxmlformats.org/drawingml/2006/main">
              <a:ext uri="{FF2B5EF4-FFF2-40B4-BE49-F238E27FC236}">
                <a16:creationId xmlns:a16="http://schemas.microsoft.com/office/drawing/2014/main" id="{33A9EA09-0C89-4D21-AA84-7633E7952DE2}"/>
              </a:ext>
            </a:extLst>
          </p:cNvPr>
          <p:cNvSpPr>
            <a:spLocks xmlns:a="http://schemas.openxmlformats.org/drawingml/2006/main" noGrp="1"/>
          </p:cNvSpPr>
          <p:nvPr/>
        </p:nvSpPr>
        <p:spPr>
          <a:xfrm xmlns:a="http://schemas.openxmlformats.org/drawingml/2006/main">
            <a:off x="8763000" y="23622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CONFIGURATION</a:t>
            </a:r>
          </a:p>
        </p:txBody>
      </p:sp>
      <p:sp>
        <p:nvSpPr>
          <p:cNvPr id="32" name="s13-body-2">
            <a:extLst xmlns:a="http://schemas.openxmlformats.org/drawingml/2006/main">
              <a:ext uri="{FF2B5EF4-FFF2-40B4-BE49-F238E27FC236}">
                <a16:creationId xmlns:a16="http://schemas.microsoft.com/office/drawing/2014/main" id="{72C6DCC6-17AD-4CC4-A0C2-79985197C52E}"/>
              </a:ext>
            </a:extLst>
          </p:cNvPr>
          <p:cNvSpPr>
            <a:spLocks xmlns:a="http://schemas.openxmlformats.org/drawingml/2006/main" noGrp="1"/>
          </p:cNvSpPr>
          <p:nvPr/>
        </p:nvSpPr>
        <p:spPr>
          <a:xfrm xmlns:a="http://schemas.openxmlformats.org/drawingml/2006/main">
            <a:off x="8763000" y="27241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20" b="0">
                <a:solidFill>
                  <a:srgbClr val="7D91A0"/>
                </a:solidFill>
                <a:latin typeface="Aptos"/>
                <a:ea typeface="Aptos"/>
                <a:cs typeface="Aptos"/>
              </a:defRPr>
            </a:pPr>
            <a:r>
              <a:rPr sz="1020" b="0">
                <a:solidFill>
                  <a:srgbClr val="7D91A0"/>
                </a:solidFill>
                <a:latin typeface="Aptos"/>
                <a:ea typeface="Aptos"/>
                <a:cs typeface="Aptos"/>
              </a:rPr>
              <a:t>fixed-step discrete • Sample_time</a:t>
            </a:r>
          </a:p>
        </p:txBody>
      </p:sp>
      <p:sp>
        <p:nvSpPr>
          <p:cNvPr id="33" name="s13-stage-3">
            <a:extLst xmlns:a="http://schemas.openxmlformats.org/drawingml/2006/main">
              <a:ext uri="{FF2B5EF4-FFF2-40B4-BE49-F238E27FC236}">
                <a16:creationId xmlns:a16="http://schemas.microsoft.com/office/drawing/2014/main" id="{B21D15E0-9E91-4C26-9EB0-86BE704D58C5}"/>
              </a:ext>
            </a:extLst>
          </p:cNvPr>
          <p:cNvSpPr>
            <a:spLocks xmlns:a="http://schemas.openxmlformats.org/drawingml/2006/main" noGrp="1"/>
          </p:cNvSpPr>
          <p:nvPr/>
        </p:nvSpPr>
        <p:spPr>
          <a:xfrm xmlns:a="http://schemas.openxmlformats.org/drawingml/2006/main">
            <a:off x="685800" y="3581400"/>
            <a:ext cx="3352800" cy="1104900"/>
          </a:xfrm>
          <a:prstGeom xmlns:a="http://schemas.openxmlformats.org/drawingml/2006/main" prst="roundRect">
            <a:avLst>
              <a:gd name="adj" fmla="val 10345"/>
            </a:avLst>
          </a:prstGeom>
          <a:solidFill xmlns:a="http://schemas.openxmlformats.org/drawingml/2006/main">
            <a:srgbClr val="091A29"/>
          </a:solidFill>
          <a:ln xmlns:a="http://schemas.openxmlformats.org/drawingml/2006/main" w="11430">
            <a:solidFill>
              <a:srgbClr val="20B7C5"/>
            </a:solidFill>
            <a:prstDash val="solid"/>
          </a:ln>
        </p:spPr>
      </p:sp>
      <p:sp>
        <p:nvSpPr>
          <p:cNvPr id="34" name="s13-num-3">
            <a:extLst xmlns:a="http://schemas.openxmlformats.org/drawingml/2006/main">
              <a:ext uri="{FF2B5EF4-FFF2-40B4-BE49-F238E27FC236}">
                <a16:creationId xmlns:a16="http://schemas.microsoft.com/office/drawing/2014/main" id="{401FC3EF-4E78-44DE-9543-6ACDD1DEDE13}"/>
              </a:ext>
            </a:extLst>
          </p:cNvPr>
          <p:cNvSpPr>
            <a:spLocks xmlns:a="http://schemas.openxmlformats.org/drawingml/2006/main" noGrp="1"/>
          </p:cNvSpPr>
          <p:nvPr/>
        </p:nvSpPr>
        <p:spPr>
          <a:xfrm xmlns:a="http://schemas.openxmlformats.org/drawingml/2006/main">
            <a:off x="838200" y="3752850"/>
            <a:ext cx="4762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04</a:t>
            </a:r>
          </a:p>
        </p:txBody>
      </p:sp>
      <p:sp>
        <p:nvSpPr>
          <p:cNvPr id="35" name="s13-title-3">
            <a:extLst xmlns:a="http://schemas.openxmlformats.org/drawingml/2006/main">
              <a:ext uri="{FF2B5EF4-FFF2-40B4-BE49-F238E27FC236}">
                <a16:creationId xmlns:a16="http://schemas.microsoft.com/office/drawing/2014/main" id="{6665A621-DDC5-43DD-B2E3-FFFFA52C5255}"/>
              </a:ext>
            </a:extLst>
          </p:cNvPr>
          <p:cNvSpPr>
            <a:spLocks xmlns:a="http://schemas.openxmlformats.org/drawingml/2006/main" noGrp="1"/>
          </p:cNvSpPr>
          <p:nvPr/>
        </p:nvSpPr>
        <p:spPr>
          <a:xfrm xmlns:a="http://schemas.openxmlformats.org/drawingml/2006/main">
            <a:off x="1447800" y="37338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LIMITER LOGIC</a:t>
            </a:r>
          </a:p>
        </p:txBody>
      </p:sp>
      <p:sp>
        <p:nvSpPr>
          <p:cNvPr id="36" name="s13-body-3">
            <a:extLst xmlns:a="http://schemas.openxmlformats.org/drawingml/2006/main">
              <a:ext uri="{FF2B5EF4-FFF2-40B4-BE49-F238E27FC236}">
                <a16:creationId xmlns:a16="http://schemas.microsoft.com/office/drawing/2014/main" id="{87B4AEC3-599D-4DBF-A23D-B5F823FBDC4F}"/>
              </a:ext>
            </a:extLst>
          </p:cNvPr>
          <p:cNvSpPr>
            <a:spLocks xmlns:a="http://schemas.openxmlformats.org/drawingml/2006/main" noGrp="1"/>
          </p:cNvSpPr>
          <p:nvPr/>
        </p:nvSpPr>
        <p:spPr>
          <a:xfrm xmlns:a="http://schemas.openxmlformats.org/drawingml/2006/main">
            <a:off x="1447800" y="40957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20" b="0">
                <a:solidFill>
                  <a:srgbClr val="7D91A0"/>
                </a:solidFill>
                <a:latin typeface="Aptos"/>
                <a:ea typeface="Aptos"/>
                <a:cs typeface="Aptos"/>
              </a:defRPr>
            </a:pPr>
            <a:r>
              <a:rPr sz="1020" b="0">
                <a:solidFill>
                  <a:srgbClr val="7D91A0"/>
                </a:solidFill>
                <a:latin typeface="Aptos"/>
                <a:ea typeface="Aptos"/>
                <a:cs typeface="Aptos"/>
              </a:rPr>
              <a:t>AND • clamp • switch • active</a:t>
            </a:r>
          </a:p>
        </p:txBody>
      </p:sp>
      <p:sp>
        <p:nvSpPr>
          <p:cNvPr id="37" name="s13-stage-4">
            <a:extLst xmlns:a="http://schemas.openxmlformats.org/drawingml/2006/main">
              <a:ext uri="{FF2B5EF4-FFF2-40B4-BE49-F238E27FC236}">
                <a16:creationId xmlns:a16="http://schemas.microsoft.com/office/drawing/2014/main" id="{FCAA57A3-1BFB-404E-9264-7304B779825E}"/>
              </a:ext>
            </a:extLst>
          </p:cNvPr>
          <p:cNvSpPr>
            <a:spLocks xmlns:a="http://schemas.openxmlformats.org/drawingml/2006/main" noGrp="1"/>
          </p:cNvSpPr>
          <p:nvPr/>
        </p:nvSpPr>
        <p:spPr>
          <a:xfrm xmlns:a="http://schemas.openxmlformats.org/drawingml/2006/main">
            <a:off x="4343400" y="3581400"/>
            <a:ext cx="3352800" cy="1104900"/>
          </a:xfrm>
          <a:prstGeom xmlns:a="http://schemas.openxmlformats.org/drawingml/2006/main" prst="roundRect">
            <a:avLst>
              <a:gd name="adj" fmla="val 10345"/>
            </a:avLst>
          </a:prstGeom>
          <a:solidFill xmlns:a="http://schemas.openxmlformats.org/drawingml/2006/main">
            <a:srgbClr val="091A29"/>
          </a:solidFill>
          <a:ln xmlns:a="http://schemas.openxmlformats.org/drawingml/2006/main" w="11430">
            <a:solidFill>
              <a:srgbClr val="20B7C5"/>
            </a:solidFill>
            <a:prstDash val="solid"/>
          </a:ln>
        </p:spPr>
      </p:sp>
      <p:sp>
        <p:nvSpPr>
          <p:cNvPr id="38" name="s13-num-4">
            <a:extLst xmlns:a="http://schemas.openxmlformats.org/drawingml/2006/main">
              <a:ext uri="{FF2B5EF4-FFF2-40B4-BE49-F238E27FC236}">
                <a16:creationId xmlns:a16="http://schemas.microsoft.com/office/drawing/2014/main" id="{93962543-C0E5-4617-BA3F-0FFC41908F07}"/>
              </a:ext>
            </a:extLst>
          </p:cNvPr>
          <p:cNvSpPr>
            <a:spLocks xmlns:a="http://schemas.openxmlformats.org/drawingml/2006/main" noGrp="1"/>
          </p:cNvSpPr>
          <p:nvPr/>
        </p:nvSpPr>
        <p:spPr>
          <a:xfrm xmlns:a="http://schemas.openxmlformats.org/drawingml/2006/main">
            <a:off x="4495800" y="3752850"/>
            <a:ext cx="4762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05</a:t>
            </a:r>
          </a:p>
        </p:txBody>
      </p:sp>
      <p:sp>
        <p:nvSpPr>
          <p:cNvPr id="39" name="s13-title-4">
            <a:extLst xmlns:a="http://schemas.openxmlformats.org/drawingml/2006/main">
              <a:ext uri="{FF2B5EF4-FFF2-40B4-BE49-F238E27FC236}">
                <a16:creationId xmlns:a16="http://schemas.microsoft.com/office/drawing/2014/main" id="{5E23B834-E375-45BD-9810-03C09E604B2D}"/>
              </a:ext>
            </a:extLst>
          </p:cNvPr>
          <p:cNvSpPr>
            <a:spLocks xmlns:a="http://schemas.openxmlformats.org/drawingml/2006/main" noGrp="1"/>
          </p:cNvSpPr>
          <p:nvPr/>
        </p:nvSpPr>
        <p:spPr>
          <a:xfrm xmlns:a="http://schemas.openxmlformats.org/drawingml/2006/main">
            <a:off x="5105400" y="37338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OBSERVABILITY</a:t>
            </a:r>
          </a:p>
        </p:txBody>
      </p:sp>
      <p:sp>
        <p:nvSpPr>
          <p:cNvPr id="40" name="s13-body-4">
            <a:extLst xmlns:a="http://schemas.openxmlformats.org/drawingml/2006/main">
              <a:ext uri="{FF2B5EF4-FFF2-40B4-BE49-F238E27FC236}">
                <a16:creationId xmlns:a16="http://schemas.microsoft.com/office/drawing/2014/main" id="{7045D0D7-E383-4806-87F4-068F7A57990D}"/>
              </a:ext>
            </a:extLst>
          </p:cNvPr>
          <p:cNvSpPr>
            <a:spLocks xmlns:a="http://schemas.openxmlformats.org/drawingml/2006/main" noGrp="1"/>
          </p:cNvSpPr>
          <p:nvPr/>
        </p:nvSpPr>
        <p:spPr>
          <a:xfrm xmlns:a="http://schemas.openxmlformats.org/drawingml/2006/main">
            <a:off x="5105400" y="40957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20" b="0">
                <a:solidFill>
                  <a:srgbClr val="7D91A0"/>
                </a:solidFill>
                <a:latin typeface="Aptos"/>
                <a:ea typeface="Aptos"/>
                <a:cs typeface="Aptos"/>
              </a:defRPr>
            </a:pPr>
            <a:r>
              <a:rPr sz="1020" b="0">
                <a:solidFill>
                  <a:srgbClr val="7D91A0"/>
                </a:solidFill>
                <a:latin typeface="Aptos"/>
                <a:ea typeface="Aptos"/>
                <a:cs typeface="Aptos"/>
              </a:rPr>
              <a:t>logging • test-point rationale</a:t>
            </a:r>
          </a:p>
        </p:txBody>
      </p:sp>
      <p:sp>
        <p:nvSpPr>
          <p:cNvPr id="41" name="s13-stage-5">
            <a:extLst xmlns:a="http://schemas.openxmlformats.org/drawingml/2006/main">
              <a:ext uri="{FF2B5EF4-FFF2-40B4-BE49-F238E27FC236}">
                <a16:creationId xmlns:a16="http://schemas.microsoft.com/office/drawing/2014/main" id="{6A7E0B28-0145-40A6-9B0F-AE214872012F}"/>
              </a:ext>
            </a:extLst>
          </p:cNvPr>
          <p:cNvSpPr>
            <a:spLocks xmlns:a="http://schemas.openxmlformats.org/drawingml/2006/main" noGrp="1"/>
          </p:cNvSpPr>
          <p:nvPr/>
        </p:nvSpPr>
        <p:spPr>
          <a:xfrm xmlns:a="http://schemas.openxmlformats.org/drawingml/2006/main">
            <a:off x="8001000" y="3581400"/>
            <a:ext cx="3352800" cy="1104900"/>
          </a:xfrm>
          <a:prstGeom xmlns:a="http://schemas.openxmlformats.org/drawingml/2006/main" prst="roundRect">
            <a:avLst>
              <a:gd name="adj" fmla="val 10345"/>
            </a:avLst>
          </a:prstGeom>
          <a:solidFill xmlns:a="http://schemas.openxmlformats.org/drawingml/2006/main">
            <a:srgbClr val="091A29"/>
          </a:solidFill>
          <a:ln xmlns:a="http://schemas.openxmlformats.org/drawingml/2006/main" w="11430">
            <a:solidFill>
              <a:srgbClr val="E9A23B"/>
            </a:solidFill>
            <a:prstDash val="solid"/>
          </a:ln>
        </p:spPr>
      </p:sp>
      <p:sp>
        <p:nvSpPr>
          <p:cNvPr id="42" name="s13-num-5">
            <a:extLst xmlns:a="http://schemas.openxmlformats.org/drawingml/2006/main">
              <a:ext uri="{FF2B5EF4-FFF2-40B4-BE49-F238E27FC236}">
                <a16:creationId xmlns:a16="http://schemas.microsoft.com/office/drawing/2014/main" id="{F4935F3D-1989-43D6-8C61-2B5B92A5B64B}"/>
              </a:ext>
            </a:extLst>
          </p:cNvPr>
          <p:cNvSpPr>
            <a:spLocks xmlns:a="http://schemas.openxmlformats.org/drawingml/2006/main" noGrp="1"/>
          </p:cNvSpPr>
          <p:nvPr/>
        </p:nvSpPr>
        <p:spPr>
          <a:xfrm xmlns:a="http://schemas.openxmlformats.org/drawingml/2006/main">
            <a:off x="8153400" y="3752850"/>
            <a:ext cx="476250" cy="285750"/>
          </a:xfrm>
          <a:prstGeom xmlns:a="http://schemas.openxmlformats.org/drawingml/2006/main" prst="roundRect">
            <a:avLst>
              <a:gd name="adj" fmla="val 40000"/>
            </a:avLst>
          </a:prstGeom>
          <a:solidFill xmlns:a="http://schemas.openxmlformats.org/drawingml/2006/main">
            <a:srgbClr val="E9A23B"/>
          </a:solidFill>
          <a:ln xmlns:a="http://schemas.openxmlformats.org/drawingml/2006/main" w="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06</a:t>
            </a:r>
          </a:p>
        </p:txBody>
      </p:sp>
      <p:sp>
        <p:nvSpPr>
          <p:cNvPr id="43" name="s13-title-5">
            <a:extLst xmlns:a="http://schemas.openxmlformats.org/drawingml/2006/main">
              <a:ext uri="{FF2B5EF4-FFF2-40B4-BE49-F238E27FC236}">
                <a16:creationId xmlns:a16="http://schemas.microsoft.com/office/drawing/2014/main" id="{CC93E1B3-9EE6-4F18-8972-68DCE2ED8BAF}"/>
              </a:ext>
            </a:extLst>
          </p:cNvPr>
          <p:cNvSpPr>
            <a:spLocks xmlns:a="http://schemas.openxmlformats.org/drawingml/2006/main" noGrp="1"/>
          </p:cNvSpPr>
          <p:nvPr/>
        </p:nvSpPr>
        <p:spPr>
          <a:xfrm xmlns:a="http://schemas.openxmlformats.org/drawingml/2006/main">
            <a:off x="8763000" y="37338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PRACTICE TEST</a:t>
            </a:r>
          </a:p>
        </p:txBody>
      </p:sp>
      <p:sp>
        <p:nvSpPr>
          <p:cNvPr id="44" name="s13-body-5">
            <a:extLst xmlns:a="http://schemas.openxmlformats.org/drawingml/2006/main">
              <a:ext uri="{FF2B5EF4-FFF2-40B4-BE49-F238E27FC236}">
                <a16:creationId xmlns:a16="http://schemas.microsoft.com/office/drawing/2014/main" id="{A9D6DA77-1DCD-4583-86A8-F1450AE5AE94}"/>
              </a:ext>
            </a:extLst>
          </p:cNvPr>
          <p:cNvSpPr>
            <a:spLocks xmlns:a="http://schemas.openxmlformats.org/drawingml/2006/main" noGrp="1"/>
          </p:cNvSpPr>
          <p:nvPr/>
        </p:nvSpPr>
        <p:spPr>
          <a:xfrm xmlns:a="http://schemas.openxmlformats.org/drawingml/2006/main">
            <a:off x="8763000" y="40957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20" b="0">
                <a:solidFill>
                  <a:srgbClr val="7D91A0"/>
                </a:solidFill>
                <a:latin typeface="Aptos"/>
                <a:ea typeface="Aptos"/>
                <a:cs typeface="Aptos"/>
              </a:defRPr>
            </a:pPr>
            <a:r>
              <a:rPr sz="1020" b="0">
                <a:solidFill>
                  <a:srgbClr val="7D91A0"/>
                </a:solidFill>
                <a:latin typeface="Aptos"/>
                <a:ea typeface="Aptos"/>
                <a:cs typeface="Aptos"/>
              </a:rPr>
              <a:t>matching harness • learner evidence</a:t>
            </a:r>
          </a:p>
        </p:txBody>
      </p:sp>
      <p:sp>
        <p:nvSpPr>
          <p:cNvPr id="45" name="s13-deliverable">
            <a:extLst xmlns:a="http://schemas.openxmlformats.org/drawingml/2006/main">
              <a:ext uri="{FF2B5EF4-FFF2-40B4-BE49-F238E27FC236}">
                <a16:creationId xmlns:a16="http://schemas.microsoft.com/office/drawing/2014/main" id="{3ECD62A7-AB8C-49F7-A3EA-BC4017B6EF89}"/>
              </a:ext>
            </a:extLst>
          </p:cNvPr>
          <p:cNvSpPr>
            <a:spLocks xmlns:a="http://schemas.openxmlformats.org/drawingml/2006/main" noGrp="1"/>
          </p:cNvSpPr>
          <p:nvPr/>
        </p:nvSpPr>
        <p:spPr>
          <a:xfrm xmlns:a="http://schemas.openxmlformats.org/drawingml/2006/main">
            <a:off x="685800" y="521970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SHADOWING GUARD  •  which -all PitchRateLimiter must resolve first to models/PitchRateLimiter.slx; never add learner_workspace/.../models to the permanent path</a:t>
            </a:r>
          </a:p>
        </p:txBody>
      </p:sp>
    </p:spTree>
    <p:extLst>
      <p:ext uri="{BB962C8B-B14F-4D97-AF65-F5344CB8AC3E}">
        <p14:creationId xmlns:p14="http://schemas.microsoft.com/office/powerpoint/2010/main" val="392848478"/>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CONTROLLED CREATION LAB</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Step 1 — create the model shell and attach the controlled dictionary</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bbc4b6e4dcb4e3c"/>
          <a:stretch xmlns:a="http://schemas.openxmlformats.org/drawingml/2006/main"/>
        </p:blipFill>
        <p:spPr>
          <a:xfrm xmlns:a="http://schemas.openxmlformats.org/drawingml/2006/main">
            <a:off x="5486400" y="1719501"/>
            <a:ext cx="5829300" cy="3133249"/>
          </a:xfrm>
          <a:prstGeom xmlns:a="http://schemas.openxmlformats.org/drawingml/2006/main" prst="rect">
            <a:avLst/>
          </a:prstGeom>
        </p:spPr>
      </p:pic>
      <p:sp>
        <p:nvSpPr>
          <p:cNvPr id="21" name="s14-step">
            <a:extLst xmlns:a="http://schemas.openxmlformats.org/drawingml/2006/main">
              <a:ext uri="{FF2B5EF4-FFF2-40B4-BE49-F238E27FC236}">
                <a16:creationId xmlns:a16="http://schemas.microsoft.com/office/drawing/2014/main" id="{606E3EF2-0C82-43A7-B63B-D3FDA7689868}"/>
              </a:ext>
            </a:extLst>
          </p:cNvPr>
          <p:cNvSpPr>
            <a:spLocks xmlns:a="http://schemas.openxmlformats.org/drawingml/2006/main" noGrp="1"/>
          </p:cNvSpPr>
          <p:nvPr/>
        </p:nvSpPr>
        <p:spPr>
          <a:xfrm xmlns:a="http://schemas.openxmlformats.org/drawingml/2006/main">
            <a:off x="685800" y="1504950"/>
            <a:ext cx="11239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STEP 1 OF 6</a:t>
            </a:r>
          </a:p>
        </p:txBody>
      </p:sp>
      <p:sp>
        <p:nvSpPr>
          <p:cNvPr id="22" name="s14-left-title">
            <a:extLst xmlns:a="http://schemas.openxmlformats.org/drawingml/2006/main">
              <a:ext uri="{FF2B5EF4-FFF2-40B4-BE49-F238E27FC236}">
                <a16:creationId xmlns:a16="http://schemas.microsoft.com/office/drawing/2014/main" id="{D3F1DAB7-6395-4767-9287-60085A460D06}"/>
              </a:ext>
            </a:extLst>
          </p:cNvPr>
          <p:cNvSpPr>
            <a:spLocks xmlns:a="http://schemas.openxmlformats.org/drawingml/2006/main" noGrp="1"/>
          </p:cNvSpPr>
          <p:nvPr/>
        </p:nvSpPr>
        <p:spPr>
          <a:xfrm xmlns:a="http://schemas.openxmlformats.org/drawingml/2006/main">
            <a:off x="685800" y="1962150"/>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575" b="1">
                <a:solidFill>
                  <a:srgbClr val="0B1F33"/>
                </a:solidFill>
                <a:latin typeface="Aptos"/>
                <a:ea typeface="Aptos"/>
                <a:cs typeface="Aptos"/>
              </a:defRPr>
            </a:pPr>
            <a:r>
              <a:rPr sz="1575" b="1">
                <a:solidFill>
                  <a:srgbClr val="0B1F33"/>
                </a:solidFill>
                <a:latin typeface="Aptos"/>
                <a:ea typeface="Aptos"/>
                <a:cs typeface="Aptos"/>
              </a:rPr>
              <a:t>Start from controlled data, then create the model shell</a:t>
            </a:r>
          </a:p>
        </p:txBody>
      </p:sp>
      <p:sp>
        <p:nvSpPr>
          <p:cNvPr id="23" name="s14-actions-dot-0">
            <a:extLst xmlns:a="http://schemas.openxmlformats.org/drawingml/2006/main">
              <a:ext uri="{FF2B5EF4-FFF2-40B4-BE49-F238E27FC236}">
                <a16:creationId xmlns:a16="http://schemas.microsoft.com/office/drawing/2014/main" id="{3F2448BD-43C8-4FDE-AFEC-7B2CAA86BC25}"/>
              </a:ext>
            </a:extLst>
          </p:cNvPr>
          <p:cNvSpPr>
            <a:spLocks xmlns:a="http://schemas.openxmlformats.org/drawingml/2006/main" noGrp="1"/>
          </p:cNvSpPr>
          <p:nvPr/>
        </p:nvSpPr>
        <p:spPr>
          <a:xfrm xmlns:a="http://schemas.openxmlformats.org/drawingml/2006/main">
            <a:off x="781050" y="28098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24" name="s14-actions-text-0">
            <a:extLst xmlns:a="http://schemas.openxmlformats.org/drawingml/2006/main">
              <a:ext uri="{FF2B5EF4-FFF2-40B4-BE49-F238E27FC236}">
                <a16:creationId xmlns:a16="http://schemas.microsoft.com/office/drawing/2014/main" id="{C68DB360-EADA-47A8-A12D-449BAD6D2D21}"/>
              </a:ext>
            </a:extLst>
          </p:cNvPr>
          <p:cNvSpPr>
            <a:spLocks xmlns:a="http://schemas.openxmlformats.org/drawingml/2006/main" noGrp="1"/>
          </p:cNvSpPr>
          <p:nvPr/>
        </p:nvSpPr>
        <p:spPr>
          <a:xfrm xmlns:a="http://schemas.openxmlformats.org/drawingml/2006/main">
            <a:off x="971550" y="27241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70" b="0">
                <a:solidFill>
                  <a:srgbClr val="17324A"/>
                </a:solidFill>
                <a:latin typeface="Aptos"/>
                <a:ea typeface="Aptos"/>
                <a:cs typeface="Aptos"/>
              </a:defRPr>
            </a:pPr>
            <a:r>
              <a:rPr sz="1170" b="0">
                <a:solidFill>
                  <a:srgbClr val="17324A"/>
                </a:solidFill>
                <a:latin typeface="Aptos"/>
                <a:ea typeface="Aptos"/>
                <a:cs typeface="Aptos"/>
              </a:rPr>
              <a:t>Run create_pitch_rate_limiter_practice(projectRoot,'TLEE')</a:t>
            </a:r>
          </a:p>
        </p:txBody>
      </p:sp>
      <p:sp>
        <p:nvSpPr>
          <p:cNvPr id="25" name="s14-actions-dot-1">
            <a:extLst xmlns:a="http://schemas.openxmlformats.org/drawingml/2006/main">
              <a:ext uri="{FF2B5EF4-FFF2-40B4-BE49-F238E27FC236}">
                <a16:creationId xmlns:a16="http://schemas.microsoft.com/office/drawing/2014/main" id="{370AE3BF-1C08-4121-B9D4-03883473DCAB}"/>
              </a:ext>
            </a:extLst>
          </p:cNvPr>
          <p:cNvSpPr>
            <a:spLocks xmlns:a="http://schemas.openxmlformats.org/drawingml/2006/main" noGrp="1"/>
          </p:cNvSpPr>
          <p:nvPr/>
        </p:nvSpPr>
        <p:spPr>
          <a:xfrm xmlns:a="http://schemas.openxmlformats.org/drawingml/2006/main">
            <a:off x="781050" y="33051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26" name="s14-actions-text-1">
            <a:extLst xmlns:a="http://schemas.openxmlformats.org/drawingml/2006/main">
              <a:ext uri="{FF2B5EF4-FFF2-40B4-BE49-F238E27FC236}">
                <a16:creationId xmlns:a16="http://schemas.microsoft.com/office/drawing/2014/main" id="{C9AC787E-AB39-4CFA-893A-F0E6D1943447}"/>
              </a:ext>
            </a:extLst>
          </p:cNvPr>
          <p:cNvSpPr>
            <a:spLocks xmlns:a="http://schemas.openxmlformats.org/drawingml/2006/main" noGrp="1"/>
          </p:cNvSpPr>
          <p:nvPr/>
        </p:nvSpPr>
        <p:spPr>
          <a:xfrm xmlns:a="http://schemas.openxmlformats.org/drawingml/2006/main">
            <a:off x="971550" y="32194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70" b="0">
                <a:solidFill>
                  <a:srgbClr val="17324A"/>
                </a:solidFill>
                <a:latin typeface="Aptos"/>
                <a:ea typeface="Aptos"/>
                <a:cs typeface="Aptos"/>
              </a:defRPr>
            </a:pPr>
            <a:r>
              <a:rPr sz="1170" b="0">
                <a:solidFill>
                  <a:srgbClr val="17324A"/>
                </a:solidFill>
                <a:latin typeface="Aptos"/>
                <a:ea typeface="Aptos"/>
                <a:cs typeface="Aptos"/>
              </a:rPr>
              <a:t>Open practiceSummary.ModelFile—not the delivered baseline</a:t>
            </a:r>
          </a:p>
        </p:txBody>
      </p:sp>
      <p:sp>
        <p:nvSpPr>
          <p:cNvPr id="27" name="s14-actions-dot-2">
            <a:extLst xmlns:a="http://schemas.openxmlformats.org/drawingml/2006/main">
              <a:ext uri="{FF2B5EF4-FFF2-40B4-BE49-F238E27FC236}">
                <a16:creationId xmlns:a16="http://schemas.microsoft.com/office/drawing/2014/main" id="{80D6DB87-01A1-4D34-A3D9-ABD89D3ECCBE}"/>
              </a:ext>
            </a:extLst>
          </p:cNvPr>
          <p:cNvSpPr>
            <a:spLocks xmlns:a="http://schemas.openxmlformats.org/drawingml/2006/main" noGrp="1"/>
          </p:cNvSpPr>
          <p:nvPr/>
        </p:nvSpPr>
        <p:spPr>
          <a:xfrm xmlns:a="http://schemas.openxmlformats.org/drawingml/2006/main">
            <a:off x="781050" y="38004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28" name="s14-actions-text-2">
            <a:extLst xmlns:a="http://schemas.openxmlformats.org/drawingml/2006/main">
              <a:ext uri="{FF2B5EF4-FFF2-40B4-BE49-F238E27FC236}">
                <a16:creationId xmlns:a16="http://schemas.microsoft.com/office/drawing/2014/main" id="{98FDE736-CA61-4D48-9C7C-77997DD8F9A2}"/>
              </a:ext>
            </a:extLst>
          </p:cNvPr>
          <p:cNvSpPr>
            <a:spLocks xmlns:a="http://schemas.openxmlformats.org/drawingml/2006/main" noGrp="1"/>
          </p:cNvSpPr>
          <p:nvPr/>
        </p:nvSpPr>
        <p:spPr>
          <a:xfrm xmlns:a="http://schemas.openxmlformats.org/drawingml/2006/main">
            <a:off x="971550" y="37147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70" b="0">
                <a:solidFill>
                  <a:srgbClr val="17324A"/>
                </a:solidFill>
                <a:latin typeface="Aptos"/>
                <a:ea typeface="Aptos"/>
                <a:cs typeface="Aptos"/>
              </a:defRPr>
            </a:pPr>
            <a:r>
              <a:rPr sz="1170" b="0">
                <a:solidFill>
                  <a:srgbClr val="17324A"/>
                </a:solidFill>
                <a:latin typeface="Aptos"/>
                <a:ea typeface="Aptos"/>
                <a:cs typeface="Aptos"/>
              </a:rPr>
              <a:t>Inspect its FCS_Data.sldd attachment and five-port shell</a:t>
            </a:r>
          </a:p>
        </p:txBody>
      </p:sp>
      <p:sp>
        <p:nvSpPr>
          <p:cNvPr id="29" name="s14-actions-dot-3">
            <a:extLst xmlns:a="http://schemas.openxmlformats.org/drawingml/2006/main">
              <a:ext uri="{FF2B5EF4-FFF2-40B4-BE49-F238E27FC236}">
                <a16:creationId xmlns:a16="http://schemas.microsoft.com/office/drawing/2014/main" id="{AAFA610A-E9D6-4658-A9D0-1200AB60B21D}"/>
              </a:ext>
            </a:extLst>
          </p:cNvPr>
          <p:cNvSpPr>
            <a:spLocks xmlns:a="http://schemas.openxmlformats.org/drawingml/2006/main" noGrp="1"/>
          </p:cNvSpPr>
          <p:nvPr/>
        </p:nvSpPr>
        <p:spPr>
          <a:xfrm xmlns:a="http://schemas.openxmlformats.org/drawingml/2006/main">
            <a:off x="781050" y="42957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30" name="s14-actions-text-3">
            <a:extLst xmlns:a="http://schemas.openxmlformats.org/drawingml/2006/main">
              <a:ext uri="{FF2B5EF4-FFF2-40B4-BE49-F238E27FC236}">
                <a16:creationId xmlns:a16="http://schemas.microsoft.com/office/drawing/2014/main" id="{28E7D5CB-EF18-4E6A-AAE5-104B4D1E3969}"/>
              </a:ext>
            </a:extLst>
          </p:cNvPr>
          <p:cNvSpPr>
            <a:spLocks xmlns:a="http://schemas.openxmlformats.org/drawingml/2006/main" noGrp="1"/>
          </p:cNvSpPr>
          <p:nvPr/>
        </p:nvSpPr>
        <p:spPr>
          <a:xfrm xmlns:a="http://schemas.openxmlformats.org/drawingml/2006/main">
            <a:off x="971550" y="42100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70" b="0">
                <a:solidFill>
                  <a:srgbClr val="17324A"/>
                </a:solidFill>
                <a:latin typeface="Aptos"/>
                <a:ea typeface="Aptos"/>
                <a:cs typeface="Aptos"/>
              </a:defRPr>
            </a:pPr>
            <a:r>
              <a:rPr sz="1170" b="0">
                <a:solidFill>
                  <a:srgbClr val="17324A"/>
                </a:solidFill>
                <a:latin typeface="Aptos"/>
                <a:ea typeface="Aptos"/>
                <a:cs typeface="Aptos"/>
              </a:rPr>
              <a:t>Confirm Fixed-step / discrete and FixedStep = Sample_time</a:t>
            </a:r>
          </a:p>
        </p:txBody>
      </p:sp>
      <p:sp>
        <p:nvSpPr>
          <p:cNvPr id="31" name="s14-expected">
            <a:extLst xmlns:a="http://schemas.openxmlformats.org/drawingml/2006/main">
              <a:ext uri="{FF2B5EF4-FFF2-40B4-BE49-F238E27FC236}">
                <a16:creationId xmlns:a16="http://schemas.microsoft.com/office/drawing/2014/main" id="{53EDEA12-AD9C-4DF8-B2E1-AD43F9B36BD6}"/>
              </a:ext>
            </a:extLst>
          </p:cNvPr>
          <p:cNvSpPr>
            <a:spLocks xmlns:a="http://schemas.openxmlformats.org/drawingml/2006/main" noGrp="1"/>
          </p:cNvSpPr>
          <p:nvPr/>
        </p:nvSpPr>
        <p:spPr>
          <a:xfrm xmlns:a="http://schemas.openxmlformats.org/drawingml/2006/main">
            <a:off x="685800" y="5010150"/>
            <a:ext cx="4762500" cy="704850"/>
          </a:xfrm>
          <a:prstGeom xmlns:a="http://schemas.openxmlformats.org/drawingml/2006/main" prst="roundRect">
            <a:avLst>
              <a:gd name="adj" fmla="val 16216"/>
            </a:avLst>
          </a:prstGeom>
          <a:solidFill xmlns:a="http://schemas.openxmlformats.org/drawingml/2006/main">
            <a:srgbClr val="E2F4EA"/>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EXPECTED  •  Sample_time, q_limit_normal, and q_fallback_command resolve from the dictionary</a:t>
            </a:r>
          </a:p>
        </p:txBody>
      </p:sp>
      <p:sp>
        <p:nvSpPr>
          <p:cNvPr id="32" name="s14-recovery">
            <a:extLst xmlns:a="http://schemas.openxmlformats.org/drawingml/2006/main">
              <a:ext uri="{FF2B5EF4-FFF2-40B4-BE49-F238E27FC236}">
                <a16:creationId xmlns:a16="http://schemas.microsoft.com/office/drawing/2014/main" id="{42A2F2A8-92FD-499E-94FD-96A7D88E14B0}"/>
              </a:ext>
            </a:extLst>
          </p:cNvPr>
          <p:cNvSpPr>
            <a:spLocks xmlns:a="http://schemas.openxmlformats.org/drawingml/2006/main" noGrp="1"/>
          </p:cNvSpPr>
          <p:nvPr/>
        </p:nvSpPr>
        <p:spPr>
          <a:xfrm xmlns:a="http://schemas.openxmlformats.org/drawingml/2006/main">
            <a:off x="5676900" y="5200650"/>
            <a:ext cx="56388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65" b="1">
                <a:solidFill>
                  <a:srgbClr val="071521"/>
                </a:solidFill>
                <a:latin typeface="Aptos"/>
                <a:ea typeface="Aptos"/>
                <a:cs typeface="Aptos"/>
              </a:defRPr>
            </a:pPr>
            <a:r>
              <a:rPr sz="1065" b="1">
                <a:solidFill>
                  <a:srgbClr val="071521"/>
                </a:solidFill>
                <a:latin typeface="Aptos"/>
                <a:ea typeface="Aptos"/>
                <a:cs typeface="Aptos"/>
              </a:rPr>
              <a:t>RECOVERY  •  verify the repository root, dictionary attachment, and path—do not hard-code a user path</a:t>
            </a:r>
          </a:p>
        </p:txBody>
      </p:sp>
    </p:spTree>
    <p:extLst>
      <p:ext uri="{BB962C8B-B14F-4D97-AF65-F5344CB8AC3E}">
        <p14:creationId xmlns:p14="http://schemas.microsoft.com/office/powerpoint/2010/main" val="28635293"/>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CONTROLLED CREATION LAB</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Step 2 — define the component boundary exactly</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8b5a0f46e6f4e89"/>
          <a:stretch xmlns:a="http://schemas.openxmlformats.org/drawingml/2006/main"/>
        </p:blipFill>
        <p:spPr>
          <a:xfrm xmlns:a="http://schemas.openxmlformats.org/drawingml/2006/main">
            <a:off x="1258866" y="1809750"/>
            <a:ext cx="6092867" cy="3676650"/>
          </a:xfrm>
          <a:prstGeom xmlns:a="http://schemas.openxmlformats.org/drawingml/2006/main" prst="rect">
            <a:avLst/>
          </a:prstGeom>
        </p:spPr>
      </p:pic>
      <p:sp>
        <p:nvSpPr>
          <p:cNvPr id="27" name="s15-step">
            <a:extLst xmlns:a="http://schemas.openxmlformats.org/drawingml/2006/main">
              <a:ext uri="{FF2B5EF4-FFF2-40B4-BE49-F238E27FC236}">
                <a16:creationId xmlns:a16="http://schemas.microsoft.com/office/drawing/2014/main" id="{FB3D4D86-0A75-46F9-8FBD-871C69051FF9}"/>
              </a:ext>
            </a:extLst>
          </p:cNvPr>
          <p:cNvSpPr>
            <a:spLocks xmlns:a="http://schemas.openxmlformats.org/drawingml/2006/main" noGrp="1"/>
          </p:cNvSpPr>
          <p:nvPr/>
        </p:nvSpPr>
        <p:spPr>
          <a:xfrm xmlns:a="http://schemas.openxmlformats.org/drawingml/2006/main">
            <a:off x="685800" y="1428750"/>
            <a:ext cx="11239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STEP 2 OF 6</a:t>
            </a:r>
          </a:p>
        </p:txBody>
      </p:sp>
      <p:sp>
        <p:nvSpPr>
          <p:cNvPr id="28" name="s15-contract">
            <a:extLst xmlns:a="http://schemas.openxmlformats.org/drawingml/2006/main">
              <a:ext uri="{FF2B5EF4-FFF2-40B4-BE49-F238E27FC236}">
                <a16:creationId xmlns:a16="http://schemas.microsoft.com/office/drawing/2014/main" id="{A8B70089-0BFD-4259-B5D2-60C5652C11BF}"/>
              </a:ext>
            </a:extLst>
          </p:cNvPr>
          <p:cNvSpPr>
            <a:spLocks xmlns:a="http://schemas.openxmlformats.org/drawingml/2006/main" noGrp="1"/>
          </p:cNvSpPr>
          <p:nvPr/>
        </p:nvSpPr>
        <p:spPr>
          <a:xfrm xmlns:a="http://schemas.openxmlformats.org/drawingml/2006/main">
            <a:off x="8172450" y="1524000"/>
            <a:ext cx="3143250" cy="39624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4288">
            <a:solidFill>
              <a:srgbClr val="2D6CDF"/>
            </a:solidFill>
            <a:prstDash val="solid"/>
          </a:ln>
        </p:spPr>
      </p:sp>
      <p:sp>
        <p:nvSpPr>
          <p:cNvPr id="29" name="s15-contract-title">
            <a:extLst xmlns:a="http://schemas.openxmlformats.org/drawingml/2006/main">
              <a:ext uri="{FF2B5EF4-FFF2-40B4-BE49-F238E27FC236}">
                <a16:creationId xmlns:a16="http://schemas.microsoft.com/office/drawing/2014/main" id="{4F358BCE-06D6-4356-A3D2-D937BF0EF326}"/>
              </a:ext>
            </a:extLst>
          </p:cNvPr>
          <p:cNvSpPr>
            <a:spLocks xmlns:a="http://schemas.openxmlformats.org/drawingml/2006/main" noGrp="1"/>
          </p:cNvSpPr>
          <p:nvPr/>
        </p:nvSpPr>
        <p:spPr>
          <a:xfrm xmlns:a="http://schemas.openxmlformats.org/drawingml/2006/main">
            <a:off x="836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PORT CONTRACT</a:t>
            </a:r>
          </a:p>
        </p:txBody>
      </p:sp>
      <p:sp>
        <p:nvSpPr>
          <p:cNvPr id="30" name="s15-port-0">
            <a:extLst xmlns:a="http://schemas.openxmlformats.org/drawingml/2006/main">
              <a:ext uri="{FF2B5EF4-FFF2-40B4-BE49-F238E27FC236}">
                <a16:creationId xmlns:a16="http://schemas.microsoft.com/office/drawing/2014/main" id="{8C5A2D58-4B24-40EB-9A38-26862BB3F110}"/>
              </a:ext>
            </a:extLst>
          </p:cNvPr>
          <p:cNvSpPr>
            <a:spLocks xmlns:a="http://schemas.openxmlformats.org/drawingml/2006/main" noGrp="1"/>
          </p:cNvSpPr>
          <p:nvPr/>
        </p:nvSpPr>
        <p:spPr>
          <a:xfrm xmlns:a="http://schemas.openxmlformats.org/drawingml/2006/main">
            <a:off x="8401050" y="2152650"/>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0B1F33"/>
                </a:solidFill>
                <a:latin typeface="Aptos"/>
                <a:ea typeface="Aptos"/>
                <a:cs typeface="Aptos"/>
              </a:defRPr>
            </a:pPr>
            <a:r>
              <a:rPr sz="1140" b="1">
                <a:solidFill>
                  <a:srgbClr val="0B1F33"/>
                </a:solidFill>
                <a:latin typeface="Aptos"/>
                <a:ea typeface="Aptos"/>
                <a:cs typeface="Aptos"/>
              </a:rPr>
              <a:t>q_cmd_in</a:t>
            </a:r>
          </a:p>
        </p:txBody>
      </p:sp>
      <p:sp>
        <p:nvSpPr>
          <p:cNvPr id="31" name="s15-port-meta-0">
            <a:extLst xmlns:a="http://schemas.openxmlformats.org/drawingml/2006/main">
              <a:ext uri="{FF2B5EF4-FFF2-40B4-BE49-F238E27FC236}">
                <a16:creationId xmlns:a16="http://schemas.microsoft.com/office/drawing/2014/main" id="{59B02B90-733A-416D-A542-F4C07E0B2D22}"/>
              </a:ext>
            </a:extLst>
          </p:cNvPr>
          <p:cNvSpPr>
            <a:spLocks xmlns:a="http://schemas.openxmlformats.org/drawingml/2006/main" noGrp="1"/>
          </p:cNvSpPr>
          <p:nvPr/>
        </p:nvSpPr>
        <p:spPr>
          <a:xfrm xmlns:a="http://schemas.openxmlformats.org/drawingml/2006/main">
            <a:off x="8401050" y="2371725"/>
            <a:ext cx="264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0">
                <a:solidFill>
                  <a:srgbClr val="5D7487"/>
                </a:solidFill>
                <a:latin typeface="Aptos"/>
                <a:ea typeface="Aptos"/>
                <a:cs typeface="Aptos"/>
              </a:defRPr>
            </a:pPr>
            <a:r>
              <a:rPr sz="960" b="0">
                <a:solidFill>
                  <a:srgbClr val="5D7487"/>
                </a:solidFill>
                <a:latin typeface="Aptos"/>
                <a:ea typeface="Aptos"/>
                <a:cs typeface="Aptos"/>
              </a:rPr>
              <a:t>double • deg/s  •  command</a:t>
            </a:r>
          </a:p>
        </p:txBody>
      </p:sp>
      <p:sp>
        <p:nvSpPr>
          <p:cNvPr id="32" name="s15-port-1">
            <a:extLst xmlns:a="http://schemas.openxmlformats.org/drawingml/2006/main">
              <a:ext uri="{FF2B5EF4-FFF2-40B4-BE49-F238E27FC236}">
                <a16:creationId xmlns:a16="http://schemas.microsoft.com/office/drawing/2014/main" id="{CADD00E1-C03C-421A-852A-BFCC2196B602}"/>
              </a:ext>
            </a:extLst>
          </p:cNvPr>
          <p:cNvSpPr>
            <a:spLocks xmlns:a="http://schemas.openxmlformats.org/drawingml/2006/main" noGrp="1"/>
          </p:cNvSpPr>
          <p:nvPr/>
        </p:nvSpPr>
        <p:spPr>
          <a:xfrm xmlns:a="http://schemas.openxmlformats.org/drawingml/2006/main">
            <a:off x="8401050" y="2762250"/>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0B1F33"/>
                </a:solidFill>
                <a:latin typeface="Aptos"/>
                <a:ea typeface="Aptos"/>
                <a:cs typeface="Aptos"/>
              </a:defRPr>
            </a:pPr>
            <a:r>
              <a:rPr sz="1140" b="1">
                <a:solidFill>
                  <a:srgbClr val="0B1F33"/>
                </a:solidFill>
                <a:latin typeface="Aptos"/>
                <a:ea typeface="Aptos"/>
                <a:cs typeface="Aptos"/>
              </a:rPr>
              <a:t>normal_mode</a:t>
            </a:r>
          </a:p>
        </p:txBody>
      </p:sp>
      <p:sp>
        <p:nvSpPr>
          <p:cNvPr id="33" name="s15-port-meta-1">
            <a:extLst xmlns:a="http://schemas.openxmlformats.org/drawingml/2006/main">
              <a:ext uri="{FF2B5EF4-FFF2-40B4-BE49-F238E27FC236}">
                <a16:creationId xmlns:a16="http://schemas.microsoft.com/office/drawing/2014/main" id="{7EBA51B1-2900-410D-B8A4-9053EF14B413}"/>
              </a:ext>
            </a:extLst>
          </p:cNvPr>
          <p:cNvSpPr>
            <a:spLocks xmlns:a="http://schemas.openxmlformats.org/drawingml/2006/main" noGrp="1"/>
          </p:cNvSpPr>
          <p:nvPr/>
        </p:nvSpPr>
        <p:spPr>
          <a:xfrm xmlns:a="http://schemas.openxmlformats.org/drawingml/2006/main">
            <a:off x="8401050" y="2981325"/>
            <a:ext cx="264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0">
                <a:solidFill>
                  <a:srgbClr val="5D7487"/>
                </a:solidFill>
                <a:latin typeface="Aptos"/>
                <a:ea typeface="Aptos"/>
                <a:cs typeface="Aptos"/>
              </a:defRPr>
            </a:pPr>
            <a:r>
              <a:rPr sz="960" b="0">
                <a:solidFill>
                  <a:srgbClr val="5D7487"/>
                </a:solidFill>
                <a:latin typeface="Aptos"/>
                <a:ea typeface="Aptos"/>
                <a:cs typeface="Aptos"/>
              </a:rPr>
              <a:t>boolean • 1  •  enable</a:t>
            </a:r>
          </a:p>
        </p:txBody>
      </p:sp>
      <p:sp>
        <p:nvSpPr>
          <p:cNvPr id="34" name="s15-port-2">
            <a:extLst xmlns:a="http://schemas.openxmlformats.org/drawingml/2006/main">
              <a:ext uri="{FF2B5EF4-FFF2-40B4-BE49-F238E27FC236}">
                <a16:creationId xmlns:a16="http://schemas.microsoft.com/office/drawing/2014/main" id="{0438D292-5B28-4395-9FF5-97EA44D53C01}"/>
              </a:ext>
            </a:extLst>
          </p:cNvPr>
          <p:cNvSpPr>
            <a:spLocks xmlns:a="http://schemas.openxmlformats.org/drawingml/2006/main" noGrp="1"/>
          </p:cNvSpPr>
          <p:nvPr/>
        </p:nvSpPr>
        <p:spPr>
          <a:xfrm xmlns:a="http://schemas.openxmlformats.org/drawingml/2006/main">
            <a:off x="8401050" y="3371850"/>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0B1F33"/>
                </a:solidFill>
                <a:latin typeface="Aptos"/>
                <a:ea typeface="Aptos"/>
                <a:cs typeface="Aptos"/>
              </a:defRPr>
            </a:pPr>
            <a:r>
              <a:rPr sz="1140" b="1">
                <a:solidFill>
                  <a:srgbClr val="0B1F33"/>
                </a:solidFill>
                <a:latin typeface="Aptos"/>
                <a:ea typeface="Aptos"/>
                <a:cs typeface="Aptos"/>
              </a:rPr>
              <a:t>input_valid</a:t>
            </a:r>
          </a:p>
        </p:txBody>
      </p:sp>
      <p:sp>
        <p:nvSpPr>
          <p:cNvPr id="35" name="s15-port-meta-2">
            <a:extLst xmlns:a="http://schemas.openxmlformats.org/drawingml/2006/main">
              <a:ext uri="{FF2B5EF4-FFF2-40B4-BE49-F238E27FC236}">
                <a16:creationId xmlns:a16="http://schemas.microsoft.com/office/drawing/2014/main" id="{D9A42A81-FF31-4105-84C3-99AABBBE4663}"/>
              </a:ext>
            </a:extLst>
          </p:cNvPr>
          <p:cNvSpPr>
            <a:spLocks xmlns:a="http://schemas.openxmlformats.org/drawingml/2006/main" noGrp="1"/>
          </p:cNvSpPr>
          <p:nvPr/>
        </p:nvSpPr>
        <p:spPr>
          <a:xfrm xmlns:a="http://schemas.openxmlformats.org/drawingml/2006/main">
            <a:off x="8401050" y="3590925"/>
            <a:ext cx="264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0">
                <a:solidFill>
                  <a:srgbClr val="5D7487"/>
                </a:solidFill>
                <a:latin typeface="Aptos"/>
                <a:ea typeface="Aptos"/>
                <a:cs typeface="Aptos"/>
              </a:defRPr>
            </a:pPr>
            <a:r>
              <a:rPr sz="960" b="0">
                <a:solidFill>
                  <a:srgbClr val="5D7487"/>
                </a:solidFill>
                <a:latin typeface="Aptos"/>
                <a:ea typeface="Aptos"/>
                <a:cs typeface="Aptos"/>
              </a:rPr>
              <a:t>boolean • 1  •  validity</a:t>
            </a:r>
          </a:p>
        </p:txBody>
      </p:sp>
      <p:sp>
        <p:nvSpPr>
          <p:cNvPr id="36" name="s15-port-3">
            <a:extLst xmlns:a="http://schemas.openxmlformats.org/drawingml/2006/main">
              <a:ext uri="{FF2B5EF4-FFF2-40B4-BE49-F238E27FC236}">
                <a16:creationId xmlns:a16="http://schemas.microsoft.com/office/drawing/2014/main" id="{ACC2754A-3261-473C-B742-04214052015E}"/>
              </a:ext>
            </a:extLst>
          </p:cNvPr>
          <p:cNvSpPr>
            <a:spLocks xmlns:a="http://schemas.openxmlformats.org/drawingml/2006/main" noGrp="1"/>
          </p:cNvSpPr>
          <p:nvPr/>
        </p:nvSpPr>
        <p:spPr>
          <a:xfrm xmlns:a="http://schemas.openxmlformats.org/drawingml/2006/main">
            <a:off x="8401050" y="3981450"/>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0B1F33"/>
                </a:solidFill>
                <a:latin typeface="Aptos"/>
                <a:ea typeface="Aptos"/>
                <a:cs typeface="Aptos"/>
              </a:defRPr>
            </a:pPr>
            <a:r>
              <a:rPr sz="1140" b="1">
                <a:solidFill>
                  <a:srgbClr val="0B1F33"/>
                </a:solidFill>
                <a:latin typeface="Aptos"/>
                <a:ea typeface="Aptos"/>
                <a:cs typeface="Aptos"/>
              </a:rPr>
              <a:t>q_cmd_out</a:t>
            </a:r>
          </a:p>
        </p:txBody>
      </p:sp>
      <p:sp>
        <p:nvSpPr>
          <p:cNvPr id="37" name="s15-port-meta-3">
            <a:extLst xmlns:a="http://schemas.openxmlformats.org/drawingml/2006/main">
              <a:ext uri="{FF2B5EF4-FFF2-40B4-BE49-F238E27FC236}">
                <a16:creationId xmlns:a16="http://schemas.microsoft.com/office/drawing/2014/main" id="{55964306-F202-47B9-BABE-A295273F17A1}"/>
              </a:ext>
            </a:extLst>
          </p:cNvPr>
          <p:cNvSpPr>
            <a:spLocks xmlns:a="http://schemas.openxmlformats.org/drawingml/2006/main" noGrp="1"/>
          </p:cNvSpPr>
          <p:nvPr/>
        </p:nvSpPr>
        <p:spPr>
          <a:xfrm xmlns:a="http://schemas.openxmlformats.org/drawingml/2006/main">
            <a:off x="8401050" y="4200525"/>
            <a:ext cx="264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0">
                <a:solidFill>
                  <a:srgbClr val="5D7487"/>
                </a:solidFill>
                <a:latin typeface="Aptos"/>
                <a:ea typeface="Aptos"/>
                <a:cs typeface="Aptos"/>
              </a:defRPr>
            </a:pPr>
            <a:r>
              <a:rPr sz="960" b="0">
                <a:solidFill>
                  <a:srgbClr val="5D7487"/>
                </a:solidFill>
                <a:latin typeface="Aptos"/>
                <a:ea typeface="Aptos"/>
                <a:cs typeface="Aptos"/>
              </a:rPr>
              <a:t>double • deg/s  •  limited output</a:t>
            </a:r>
          </a:p>
        </p:txBody>
      </p:sp>
      <p:sp>
        <p:nvSpPr>
          <p:cNvPr id="38" name="s15-port-4">
            <a:extLst xmlns:a="http://schemas.openxmlformats.org/drawingml/2006/main">
              <a:ext uri="{FF2B5EF4-FFF2-40B4-BE49-F238E27FC236}">
                <a16:creationId xmlns:a16="http://schemas.microsoft.com/office/drawing/2014/main" id="{76E84AAA-A4D0-4257-821F-C16D951BDE15}"/>
              </a:ext>
            </a:extLst>
          </p:cNvPr>
          <p:cNvSpPr>
            <a:spLocks xmlns:a="http://schemas.openxmlformats.org/drawingml/2006/main" noGrp="1"/>
          </p:cNvSpPr>
          <p:nvPr/>
        </p:nvSpPr>
        <p:spPr>
          <a:xfrm xmlns:a="http://schemas.openxmlformats.org/drawingml/2006/main">
            <a:off x="8401050" y="4591050"/>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0B1F33"/>
                </a:solidFill>
                <a:latin typeface="Aptos"/>
                <a:ea typeface="Aptos"/>
                <a:cs typeface="Aptos"/>
              </a:defRPr>
            </a:pPr>
            <a:r>
              <a:rPr sz="1140" b="1">
                <a:solidFill>
                  <a:srgbClr val="0B1F33"/>
                </a:solidFill>
                <a:latin typeface="Aptos"/>
                <a:ea typeface="Aptos"/>
                <a:cs typeface="Aptos"/>
              </a:rPr>
              <a:t>limiter_active</a:t>
            </a:r>
          </a:p>
        </p:txBody>
      </p:sp>
      <p:sp>
        <p:nvSpPr>
          <p:cNvPr id="39" name="s15-port-meta-4">
            <a:extLst xmlns:a="http://schemas.openxmlformats.org/drawingml/2006/main">
              <a:ext uri="{FF2B5EF4-FFF2-40B4-BE49-F238E27FC236}">
                <a16:creationId xmlns:a16="http://schemas.microsoft.com/office/drawing/2014/main" id="{2F232B27-DCFF-48C8-9435-342F0C359840}"/>
              </a:ext>
            </a:extLst>
          </p:cNvPr>
          <p:cNvSpPr>
            <a:spLocks xmlns:a="http://schemas.openxmlformats.org/drawingml/2006/main" noGrp="1"/>
          </p:cNvSpPr>
          <p:nvPr/>
        </p:nvSpPr>
        <p:spPr>
          <a:xfrm xmlns:a="http://schemas.openxmlformats.org/drawingml/2006/main">
            <a:off x="8401050" y="4810125"/>
            <a:ext cx="2647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0">
                <a:solidFill>
                  <a:srgbClr val="5D7487"/>
                </a:solidFill>
                <a:latin typeface="Aptos"/>
                <a:ea typeface="Aptos"/>
                <a:cs typeface="Aptos"/>
              </a:defRPr>
            </a:pPr>
            <a:r>
              <a:rPr sz="960" b="0">
                <a:solidFill>
                  <a:srgbClr val="5D7487"/>
                </a:solidFill>
                <a:latin typeface="Aptos"/>
                <a:ea typeface="Aptos"/>
                <a:cs typeface="Aptos"/>
              </a:rPr>
              <a:t>boolean • 1  •  status</a:t>
            </a:r>
          </a:p>
        </p:txBody>
      </p:sp>
      <p:sp>
        <p:nvSpPr>
          <p:cNvPr id="40" name="s15-rule">
            <a:extLst xmlns:a="http://schemas.openxmlformats.org/drawingml/2006/main">
              <a:ext uri="{FF2B5EF4-FFF2-40B4-BE49-F238E27FC236}">
                <a16:creationId xmlns:a16="http://schemas.microsoft.com/office/drawing/2014/main" id="{CBAB3F1D-A59F-458D-AD06-F4AA25D5B1CB}"/>
              </a:ext>
            </a:extLst>
          </p:cNvPr>
          <p:cNvSpPr>
            <a:spLocks xmlns:a="http://schemas.openxmlformats.org/drawingml/2006/main" noGrp="1"/>
          </p:cNvSpPr>
          <p:nvPr/>
        </p:nvSpPr>
        <p:spPr>
          <a:xfrm xmlns:a="http://schemas.openxmlformats.org/drawingml/2006/main">
            <a:off x="685800" y="5676900"/>
            <a:ext cx="10820400" cy="514350"/>
          </a:xfrm>
          <a:prstGeom xmlns:a="http://schemas.openxmlformats.org/drawingml/2006/main" prst="roundRect">
            <a:avLst>
              <a:gd name="adj" fmla="val 22222"/>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B1F33"/>
                </a:solidFill>
                <a:latin typeface="Aptos"/>
                <a:ea typeface="Aptos"/>
                <a:cs typeface="Aptos"/>
              </a:defRPr>
            </a:pPr>
            <a:r>
              <a:rPr sz="1088" b="1">
                <a:solidFill>
                  <a:srgbClr val="0B1F33"/>
                </a:solidFill>
                <a:latin typeface="Aptos"/>
                <a:ea typeface="Aptos"/>
                <a:cs typeface="Aptos"/>
              </a:rPr>
              <a:t>CHECK BEFORE LOGIC  •  names, direction, types, dimensions, units, and status semantics are part of the interface—not decoration</a:t>
            </a:r>
          </a:p>
        </p:txBody>
      </p:sp>
    </p:spTree>
    <p:extLst>
      <p:ext uri="{BB962C8B-B14F-4D97-AF65-F5344CB8AC3E}">
        <p14:creationId xmlns:p14="http://schemas.microsoft.com/office/powerpoint/2010/main" val="112507120"/>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CONTROLLED CREATION LAB</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Step 3 — implement the clamp, fallback, and active-status logic</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16</a:t>
            </a:r>
          </a:p>
        </p:txBody>
      </p:sp>
      <p:sp>
        <p:nvSpPr>
          <p:cNvPr id="26" name="s16-rule">
            <a:extLst xmlns:a="http://schemas.openxmlformats.org/drawingml/2006/main">
              <a:ext uri="{FF2B5EF4-FFF2-40B4-BE49-F238E27FC236}">
                <a16:creationId xmlns:a16="http://schemas.microsoft.com/office/drawing/2014/main" id="{8E87BEE2-5C25-4EC9-9A4D-723557318123}"/>
              </a:ext>
            </a:extLst>
          </p:cNvPr>
          <p:cNvSpPr>
            <a:spLocks xmlns:a="http://schemas.openxmlformats.org/drawingml/2006/main" noGrp="1"/>
          </p:cNvSpPr>
          <p:nvPr/>
        </p:nvSpPr>
        <p:spPr>
          <a:xfrm xmlns:a="http://schemas.openxmlformats.org/drawingml/2006/main">
            <a:off x="685800" y="1390650"/>
            <a:ext cx="10820400" cy="457200"/>
          </a:xfrm>
          <a:prstGeom xmlns:a="http://schemas.openxmlformats.org/drawingml/2006/main" prst="roundRect">
            <a:avLst>
              <a:gd name="adj" fmla="val 25000"/>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0" b="1">
                <a:solidFill>
                  <a:srgbClr val="FFFFFF"/>
                </a:solidFill>
                <a:latin typeface="Aptos"/>
                <a:ea typeface="Aptos"/>
                <a:cs typeface="Aptos"/>
              </a:defRPr>
            </a:pPr>
            <a:r>
              <a:rPr sz="1080" b="1">
                <a:solidFill>
                  <a:srgbClr val="FFFFFF"/>
                </a:solidFill>
                <a:latin typeface="Aptos"/>
                <a:ea typeface="Aptos"/>
                <a:cs typeface="Aptos"/>
              </a:rPr>
              <a:t>MANUAL EQUIVALENT  •  these settings are the executable contract created by the safe helper; inspect every value before Ctrl+D</a:t>
            </a:r>
          </a:p>
        </p:txBody>
      </p:sp>
      <p:sp>
        <p:nvSpPr>
          <p:cNvPr id="27" name="s16-head-0">
            <a:extLst xmlns:a="http://schemas.openxmlformats.org/drawingml/2006/main">
              <a:ext uri="{FF2B5EF4-FFF2-40B4-BE49-F238E27FC236}">
                <a16:creationId xmlns:a16="http://schemas.microsoft.com/office/drawing/2014/main" id="{F2CAC3F8-A08E-4FAB-AA89-C4495D61FA54}"/>
              </a:ext>
            </a:extLst>
          </p:cNvPr>
          <p:cNvSpPr>
            <a:spLocks xmlns:a="http://schemas.openxmlformats.org/drawingml/2006/main" noGrp="1"/>
          </p:cNvSpPr>
          <p:nvPr/>
        </p:nvSpPr>
        <p:spPr>
          <a:xfrm xmlns:a="http://schemas.openxmlformats.org/drawingml/2006/main">
            <a:off x="685800" y="2057400"/>
            <a:ext cx="2381250" cy="400050"/>
          </a:xfrm>
          <a:prstGeom xmlns:a="http://schemas.openxmlformats.org/drawingml/2006/main" prst="roundRect">
            <a:avLst>
              <a:gd name="adj" fmla="val 28571"/>
            </a:avLst>
          </a:prstGeom>
          <a:solidFill xmlns:a="http://schemas.openxmlformats.org/drawingml/2006/main">
            <a:srgbClr val="0B2438"/>
          </a:solidFill>
          <a:ln xmlns:a="http://schemas.openxmlformats.org/drawingml/2006/main" w="7620">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15" b="1">
                <a:solidFill>
                  <a:srgbClr val="FFFFFF"/>
                </a:solidFill>
                <a:latin typeface="Aptos"/>
                <a:ea typeface="Aptos"/>
                <a:cs typeface="Aptos"/>
              </a:defRPr>
            </a:pPr>
            <a:r>
              <a:rPr sz="915" b="1">
                <a:solidFill>
                  <a:srgbClr val="FFFFFF"/>
                </a:solidFill>
                <a:latin typeface="Aptos"/>
                <a:ea typeface="Aptos"/>
                <a:cs typeface="Aptos"/>
              </a:rPr>
              <a:t>BLOCK</a:t>
            </a:r>
          </a:p>
        </p:txBody>
      </p:sp>
      <p:sp>
        <p:nvSpPr>
          <p:cNvPr id="28" name="s16-head-1">
            <a:extLst xmlns:a="http://schemas.openxmlformats.org/drawingml/2006/main">
              <a:ext uri="{FF2B5EF4-FFF2-40B4-BE49-F238E27FC236}">
                <a16:creationId xmlns:a16="http://schemas.microsoft.com/office/drawing/2014/main" id="{AD1E4D7F-52DB-4DEB-B7F0-36AFFEFE568A}"/>
              </a:ext>
            </a:extLst>
          </p:cNvPr>
          <p:cNvSpPr>
            <a:spLocks xmlns:a="http://schemas.openxmlformats.org/drawingml/2006/main" noGrp="1"/>
          </p:cNvSpPr>
          <p:nvPr/>
        </p:nvSpPr>
        <p:spPr>
          <a:xfrm xmlns:a="http://schemas.openxmlformats.org/drawingml/2006/main">
            <a:off x="3067050" y="2057400"/>
            <a:ext cx="1847850" cy="400050"/>
          </a:xfrm>
          <a:prstGeom xmlns:a="http://schemas.openxmlformats.org/drawingml/2006/main" prst="roundRect">
            <a:avLst>
              <a:gd name="adj" fmla="val 28571"/>
            </a:avLst>
          </a:prstGeom>
          <a:solidFill xmlns:a="http://schemas.openxmlformats.org/drawingml/2006/main">
            <a:srgbClr val="0B2438"/>
          </a:solidFill>
          <a:ln xmlns:a="http://schemas.openxmlformats.org/drawingml/2006/main" w="7620">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15" b="1">
                <a:solidFill>
                  <a:srgbClr val="FFFFFF"/>
                </a:solidFill>
                <a:latin typeface="Aptos"/>
                <a:ea typeface="Aptos"/>
                <a:cs typeface="Aptos"/>
              </a:defRPr>
            </a:pPr>
            <a:r>
              <a:rPr sz="915" b="1">
                <a:solidFill>
                  <a:srgbClr val="FFFFFF"/>
                </a:solidFill>
                <a:latin typeface="Aptos"/>
                <a:ea typeface="Aptos"/>
                <a:cs typeface="Aptos"/>
              </a:rPr>
              <a:t>TYPE</a:t>
            </a:r>
          </a:p>
        </p:txBody>
      </p:sp>
      <p:sp>
        <p:nvSpPr>
          <p:cNvPr id="29" name="s16-head-2">
            <a:extLst xmlns:a="http://schemas.openxmlformats.org/drawingml/2006/main">
              <a:ext uri="{FF2B5EF4-FFF2-40B4-BE49-F238E27FC236}">
                <a16:creationId xmlns:a16="http://schemas.microsoft.com/office/drawing/2014/main" id="{AEAA7531-B6D7-455C-82B8-B5744497AB3E}"/>
              </a:ext>
            </a:extLst>
          </p:cNvPr>
          <p:cNvSpPr>
            <a:spLocks xmlns:a="http://schemas.openxmlformats.org/drawingml/2006/main" noGrp="1"/>
          </p:cNvSpPr>
          <p:nvPr/>
        </p:nvSpPr>
        <p:spPr>
          <a:xfrm xmlns:a="http://schemas.openxmlformats.org/drawingml/2006/main">
            <a:off x="4914900" y="2057400"/>
            <a:ext cx="3905250" cy="400050"/>
          </a:xfrm>
          <a:prstGeom xmlns:a="http://schemas.openxmlformats.org/drawingml/2006/main" prst="roundRect">
            <a:avLst>
              <a:gd name="adj" fmla="val 28571"/>
            </a:avLst>
          </a:prstGeom>
          <a:solidFill xmlns:a="http://schemas.openxmlformats.org/drawingml/2006/main">
            <a:srgbClr val="0B2438"/>
          </a:solidFill>
          <a:ln xmlns:a="http://schemas.openxmlformats.org/drawingml/2006/main" w="7620">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15" b="1">
                <a:solidFill>
                  <a:srgbClr val="FFFFFF"/>
                </a:solidFill>
                <a:latin typeface="Aptos"/>
                <a:ea typeface="Aptos"/>
                <a:cs typeface="Aptos"/>
              </a:defRPr>
            </a:pPr>
            <a:r>
              <a:rPr sz="915" b="1">
                <a:solidFill>
                  <a:srgbClr val="FFFFFF"/>
                </a:solidFill>
                <a:latin typeface="Aptos"/>
                <a:ea typeface="Aptos"/>
                <a:cs typeface="Aptos"/>
              </a:rPr>
              <a:t>EXACT PARAMETERS</a:t>
            </a:r>
          </a:p>
        </p:txBody>
      </p:sp>
      <p:sp>
        <p:nvSpPr>
          <p:cNvPr id="30" name="s16-head-3">
            <a:extLst xmlns:a="http://schemas.openxmlformats.org/drawingml/2006/main">
              <a:ext uri="{FF2B5EF4-FFF2-40B4-BE49-F238E27FC236}">
                <a16:creationId xmlns:a16="http://schemas.microsoft.com/office/drawing/2014/main" id="{5F8E7DB6-8A61-4E20-8DD0-F109B8BB2DF7}"/>
              </a:ext>
            </a:extLst>
          </p:cNvPr>
          <p:cNvSpPr>
            <a:spLocks xmlns:a="http://schemas.openxmlformats.org/drawingml/2006/main" noGrp="1"/>
          </p:cNvSpPr>
          <p:nvPr/>
        </p:nvSpPr>
        <p:spPr>
          <a:xfrm xmlns:a="http://schemas.openxmlformats.org/drawingml/2006/main">
            <a:off x="8820150" y="2057400"/>
            <a:ext cx="2686050" cy="400050"/>
          </a:xfrm>
          <a:prstGeom xmlns:a="http://schemas.openxmlformats.org/drawingml/2006/main" prst="roundRect">
            <a:avLst>
              <a:gd name="adj" fmla="val 28571"/>
            </a:avLst>
          </a:prstGeom>
          <a:solidFill xmlns:a="http://schemas.openxmlformats.org/drawingml/2006/main">
            <a:srgbClr val="0B2438"/>
          </a:solidFill>
          <a:ln xmlns:a="http://schemas.openxmlformats.org/drawingml/2006/main" w="7620">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15" b="1">
                <a:solidFill>
                  <a:srgbClr val="FFFFFF"/>
                </a:solidFill>
                <a:latin typeface="Aptos"/>
                <a:ea typeface="Aptos"/>
                <a:cs typeface="Aptos"/>
              </a:defRPr>
            </a:pPr>
            <a:r>
              <a:rPr sz="915" b="1">
                <a:solidFill>
                  <a:srgbClr val="FFFFFF"/>
                </a:solidFill>
                <a:latin typeface="Aptos"/>
                <a:ea typeface="Aptos"/>
                <a:cs typeface="Aptos"/>
              </a:rPr>
              <a:t>CONNECTION / PURPOSE</a:t>
            </a:r>
          </a:p>
        </p:txBody>
      </p:sp>
      <p:sp>
        <p:nvSpPr>
          <p:cNvPr id="31" name="s16-cell-0-0">
            <a:extLst xmlns:a="http://schemas.openxmlformats.org/drawingml/2006/main">
              <a:ext uri="{FF2B5EF4-FFF2-40B4-BE49-F238E27FC236}">
                <a16:creationId xmlns:a16="http://schemas.microsoft.com/office/drawing/2014/main" id="{06AF4D5B-162D-4729-A27C-4FFD5EFCB8BD}"/>
              </a:ext>
            </a:extLst>
          </p:cNvPr>
          <p:cNvSpPr>
            <a:spLocks xmlns:a="http://schemas.openxmlformats.org/drawingml/2006/main" noGrp="1"/>
          </p:cNvSpPr>
          <p:nvPr/>
        </p:nvSpPr>
        <p:spPr>
          <a:xfrm xmlns:a="http://schemas.openxmlformats.org/drawingml/2006/main">
            <a:off x="685800" y="2457450"/>
            <a:ext cx="23812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1">
                <a:solidFill>
                  <a:srgbClr val="17324A"/>
                </a:solidFill>
                <a:latin typeface="Aptos"/>
                <a:ea typeface="Aptos"/>
                <a:cs typeface="Aptos"/>
              </a:defRPr>
            </a:pPr>
            <a:r>
              <a:rPr sz="915" b="1">
                <a:solidFill>
                  <a:srgbClr val="17324A"/>
                </a:solidFill>
                <a:latin typeface="Aptos"/>
                <a:ea typeface="Aptos"/>
                <a:cs typeface="Aptos"/>
              </a:rPr>
              <a:t>Normal AND Valid</a:t>
            </a:r>
          </a:p>
        </p:txBody>
      </p:sp>
      <p:sp>
        <p:nvSpPr>
          <p:cNvPr id="32" name="s16-cell-0-1">
            <a:extLst xmlns:a="http://schemas.openxmlformats.org/drawingml/2006/main">
              <a:ext uri="{FF2B5EF4-FFF2-40B4-BE49-F238E27FC236}">
                <a16:creationId xmlns:a16="http://schemas.microsoft.com/office/drawing/2014/main" id="{C799521C-2F26-44B6-9F02-8913814F5AF2}"/>
              </a:ext>
            </a:extLst>
          </p:cNvPr>
          <p:cNvSpPr>
            <a:spLocks xmlns:a="http://schemas.openxmlformats.org/drawingml/2006/main" noGrp="1"/>
          </p:cNvSpPr>
          <p:nvPr/>
        </p:nvSpPr>
        <p:spPr>
          <a:xfrm xmlns:a="http://schemas.openxmlformats.org/drawingml/2006/main">
            <a:off x="3067050" y="2457450"/>
            <a:ext cx="18478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Logical Operator</a:t>
            </a:r>
          </a:p>
        </p:txBody>
      </p:sp>
      <p:sp>
        <p:nvSpPr>
          <p:cNvPr id="33" name="s16-cell-0-2">
            <a:extLst xmlns:a="http://schemas.openxmlformats.org/drawingml/2006/main">
              <a:ext uri="{FF2B5EF4-FFF2-40B4-BE49-F238E27FC236}">
                <a16:creationId xmlns:a16="http://schemas.microsoft.com/office/drawing/2014/main" id="{CBF3E419-5624-47FA-8266-4E910C91F3F7}"/>
              </a:ext>
            </a:extLst>
          </p:cNvPr>
          <p:cNvSpPr>
            <a:spLocks xmlns:a="http://schemas.openxmlformats.org/drawingml/2006/main" noGrp="1"/>
          </p:cNvSpPr>
          <p:nvPr/>
        </p:nvSpPr>
        <p:spPr>
          <a:xfrm xmlns:a="http://schemas.openxmlformats.org/drawingml/2006/main">
            <a:off x="4914900" y="2457450"/>
            <a:ext cx="39052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878" b="0">
                <a:solidFill>
                  <a:srgbClr val="17324A"/>
                </a:solidFill>
                <a:latin typeface="Aptos"/>
                <a:ea typeface="Aptos"/>
                <a:cs typeface="Aptos"/>
              </a:defRPr>
            </a:pPr>
            <a:r>
              <a:rPr sz="878" b="0">
                <a:solidFill>
                  <a:srgbClr val="17324A"/>
                </a:solidFill>
                <a:latin typeface="Aptos"/>
                <a:ea typeface="Aptos"/>
                <a:cs typeface="Aptos"/>
              </a:rPr>
              <a:t>AND • 2 inputs</a:t>
            </a:r>
          </a:p>
        </p:txBody>
      </p:sp>
      <p:sp>
        <p:nvSpPr>
          <p:cNvPr id="34" name="s16-cell-0-3">
            <a:extLst xmlns:a="http://schemas.openxmlformats.org/drawingml/2006/main">
              <a:ext uri="{FF2B5EF4-FFF2-40B4-BE49-F238E27FC236}">
                <a16:creationId xmlns:a16="http://schemas.microsoft.com/office/drawing/2014/main" id="{37EA5D0F-6C49-4515-A3EF-4C399B117202}"/>
              </a:ext>
            </a:extLst>
          </p:cNvPr>
          <p:cNvSpPr>
            <a:spLocks xmlns:a="http://schemas.openxmlformats.org/drawingml/2006/main" noGrp="1"/>
          </p:cNvSpPr>
          <p:nvPr/>
        </p:nvSpPr>
        <p:spPr>
          <a:xfrm xmlns:a="http://schemas.openxmlformats.org/drawingml/2006/main">
            <a:off x="8820150" y="2457450"/>
            <a:ext cx="26860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normal_mode + input_valid</a:t>
            </a:r>
          </a:p>
        </p:txBody>
      </p:sp>
      <p:sp>
        <p:nvSpPr>
          <p:cNvPr id="35" name="s16-cell-1-0">
            <a:extLst xmlns:a="http://schemas.openxmlformats.org/drawingml/2006/main">
              <a:ext uri="{FF2B5EF4-FFF2-40B4-BE49-F238E27FC236}">
                <a16:creationId xmlns:a16="http://schemas.microsoft.com/office/drawing/2014/main" id="{CB1469BE-8BA2-4112-BF6D-7F8C43E9E919}"/>
              </a:ext>
            </a:extLst>
          </p:cNvPr>
          <p:cNvSpPr>
            <a:spLocks xmlns:a="http://schemas.openxmlformats.org/drawingml/2006/main" noGrp="1"/>
          </p:cNvSpPr>
          <p:nvPr/>
        </p:nvSpPr>
        <p:spPr>
          <a:xfrm xmlns:a="http://schemas.openxmlformats.org/drawingml/2006/main">
            <a:off x="685800" y="2933700"/>
            <a:ext cx="23812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1">
                <a:solidFill>
                  <a:srgbClr val="17324A"/>
                </a:solidFill>
                <a:latin typeface="Aptos"/>
                <a:ea typeface="Aptos"/>
                <a:cs typeface="Aptos"/>
              </a:defRPr>
            </a:pPr>
            <a:r>
              <a:rPr sz="915" b="1">
                <a:solidFill>
                  <a:srgbClr val="17324A"/>
                </a:solidFill>
                <a:latin typeface="Aptos"/>
                <a:ea typeface="Aptos"/>
                <a:cs typeface="Aptos"/>
              </a:rPr>
              <a:t>Magnitude Clamp</a:t>
            </a:r>
          </a:p>
        </p:txBody>
      </p:sp>
      <p:sp>
        <p:nvSpPr>
          <p:cNvPr id="36" name="s16-cell-1-1">
            <a:extLst xmlns:a="http://schemas.openxmlformats.org/drawingml/2006/main">
              <a:ext uri="{FF2B5EF4-FFF2-40B4-BE49-F238E27FC236}">
                <a16:creationId xmlns:a16="http://schemas.microsoft.com/office/drawing/2014/main" id="{B1D07AD9-464B-40A2-9CE4-BF549BC88439}"/>
              </a:ext>
            </a:extLst>
          </p:cNvPr>
          <p:cNvSpPr>
            <a:spLocks xmlns:a="http://schemas.openxmlformats.org/drawingml/2006/main" noGrp="1"/>
          </p:cNvSpPr>
          <p:nvPr/>
        </p:nvSpPr>
        <p:spPr>
          <a:xfrm xmlns:a="http://schemas.openxmlformats.org/drawingml/2006/main">
            <a:off x="3067050" y="2933700"/>
            <a:ext cx="18478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Saturation</a:t>
            </a:r>
          </a:p>
        </p:txBody>
      </p:sp>
      <p:sp>
        <p:nvSpPr>
          <p:cNvPr id="37" name="s16-cell-1-2">
            <a:extLst xmlns:a="http://schemas.openxmlformats.org/drawingml/2006/main">
              <a:ext uri="{FF2B5EF4-FFF2-40B4-BE49-F238E27FC236}">
                <a16:creationId xmlns:a16="http://schemas.microsoft.com/office/drawing/2014/main" id="{CEE3251C-EB91-47E4-96A2-4D59E3A7D847}"/>
              </a:ext>
            </a:extLst>
          </p:cNvPr>
          <p:cNvSpPr>
            <a:spLocks xmlns:a="http://schemas.openxmlformats.org/drawingml/2006/main" noGrp="1"/>
          </p:cNvSpPr>
          <p:nvPr/>
        </p:nvSpPr>
        <p:spPr>
          <a:xfrm xmlns:a="http://schemas.openxmlformats.org/drawingml/2006/main">
            <a:off x="4914900" y="2933700"/>
            <a:ext cx="39052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878" b="0">
                <a:solidFill>
                  <a:srgbClr val="17324A"/>
                </a:solidFill>
                <a:latin typeface="Aptos"/>
                <a:ea typeface="Aptos"/>
                <a:cs typeface="Aptos"/>
              </a:defRPr>
            </a:pPr>
            <a:r>
              <a:rPr sz="878" b="0">
                <a:solidFill>
                  <a:srgbClr val="17324A"/>
                </a:solidFill>
                <a:latin typeface="Aptos"/>
                <a:ea typeface="Aptos"/>
                <a:cs typeface="Aptos"/>
              </a:rPr>
              <a:t>Upper q_limit_normal • Lower -q_limit_normal</a:t>
            </a:r>
          </a:p>
        </p:txBody>
      </p:sp>
      <p:sp>
        <p:nvSpPr>
          <p:cNvPr id="38" name="s16-cell-1-3">
            <a:extLst xmlns:a="http://schemas.openxmlformats.org/drawingml/2006/main">
              <a:ext uri="{FF2B5EF4-FFF2-40B4-BE49-F238E27FC236}">
                <a16:creationId xmlns:a16="http://schemas.microsoft.com/office/drawing/2014/main" id="{C89615F0-EC42-4C50-9EF8-E4FB9368BA77}"/>
              </a:ext>
            </a:extLst>
          </p:cNvPr>
          <p:cNvSpPr>
            <a:spLocks xmlns:a="http://schemas.openxmlformats.org/drawingml/2006/main" noGrp="1"/>
          </p:cNvSpPr>
          <p:nvPr/>
        </p:nvSpPr>
        <p:spPr>
          <a:xfrm xmlns:a="http://schemas.openxmlformats.org/drawingml/2006/main">
            <a:off x="8820150" y="2933700"/>
            <a:ext cx="26860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q_cmd_in → clamped command</a:t>
            </a:r>
          </a:p>
        </p:txBody>
      </p:sp>
      <p:sp>
        <p:nvSpPr>
          <p:cNvPr id="39" name="s16-cell-2-0">
            <a:extLst xmlns:a="http://schemas.openxmlformats.org/drawingml/2006/main">
              <a:ext uri="{FF2B5EF4-FFF2-40B4-BE49-F238E27FC236}">
                <a16:creationId xmlns:a16="http://schemas.microsoft.com/office/drawing/2014/main" id="{8D3F5D91-1B30-47D8-ACE7-C4C300C04B59}"/>
              </a:ext>
            </a:extLst>
          </p:cNvPr>
          <p:cNvSpPr>
            <a:spLocks xmlns:a="http://schemas.openxmlformats.org/drawingml/2006/main" noGrp="1"/>
          </p:cNvSpPr>
          <p:nvPr/>
        </p:nvSpPr>
        <p:spPr>
          <a:xfrm xmlns:a="http://schemas.openxmlformats.org/drawingml/2006/main">
            <a:off x="685800" y="3409950"/>
            <a:ext cx="23812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1">
                <a:solidFill>
                  <a:srgbClr val="17324A"/>
                </a:solidFill>
                <a:latin typeface="Aptos"/>
                <a:ea typeface="Aptos"/>
                <a:cs typeface="Aptos"/>
              </a:defRPr>
            </a:pPr>
            <a:r>
              <a:rPr sz="915" b="1">
                <a:solidFill>
                  <a:srgbClr val="17324A"/>
                </a:solidFill>
                <a:latin typeface="Aptos"/>
                <a:ea typeface="Aptos"/>
                <a:cs typeface="Aptos"/>
              </a:rPr>
              <a:t>Training Fallback Command</a:t>
            </a:r>
          </a:p>
        </p:txBody>
      </p:sp>
      <p:sp>
        <p:nvSpPr>
          <p:cNvPr id="40" name="s16-cell-2-1">
            <a:extLst xmlns:a="http://schemas.openxmlformats.org/drawingml/2006/main">
              <a:ext uri="{FF2B5EF4-FFF2-40B4-BE49-F238E27FC236}">
                <a16:creationId xmlns:a16="http://schemas.microsoft.com/office/drawing/2014/main" id="{229BAA91-73EB-4D8D-9157-CE818BDB1591}"/>
              </a:ext>
            </a:extLst>
          </p:cNvPr>
          <p:cNvSpPr>
            <a:spLocks xmlns:a="http://schemas.openxmlformats.org/drawingml/2006/main" noGrp="1"/>
          </p:cNvSpPr>
          <p:nvPr/>
        </p:nvSpPr>
        <p:spPr>
          <a:xfrm xmlns:a="http://schemas.openxmlformats.org/drawingml/2006/main">
            <a:off x="3067050" y="3409950"/>
            <a:ext cx="18478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Constant</a:t>
            </a:r>
          </a:p>
        </p:txBody>
      </p:sp>
      <p:sp>
        <p:nvSpPr>
          <p:cNvPr id="41" name="s16-cell-2-2">
            <a:extLst xmlns:a="http://schemas.openxmlformats.org/drawingml/2006/main">
              <a:ext uri="{FF2B5EF4-FFF2-40B4-BE49-F238E27FC236}">
                <a16:creationId xmlns:a16="http://schemas.microsoft.com/office/drawing/2014/main" id="{2D892218-3D6B-4B2C-B4D2-03FD8FB8ABB5}"/>
              </a:ext>
            </a:extLst>
          </p:cNvPr>
          <p:cNvSpPr>
            <a:spLocks xmlns:a="http://schemas.openxmlformats.org/drawingml/2006/main" noGrp="1"/>
          </p:cNvSpPr>
          <p:nvPr/>
        </p:nvSpPr>
        <p:spPr>
          <a:xfrm xmlns:a="http://schemas.openxmlformats.org/drawingml/2006/main">
            <a:off x="4914900" y="3409950"/>
            <a:ext cx="39052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878" b="0">
                <a:solidFill>
                  <a:srgbClr val="17324A"/>
                </a:solidFill>
                <a:latin typeface="Aptos"/>
                <a:ea typeface="Aptos"/>
                <a:cs typeface="Aptos"/>
              </a:defRPr>
            </a:pPr>
            <a:r>
              <a:rPr sz="878" b="0">
                <a:solidFill>
                  <a:srgbClr val="17324A"/>
                </a:solidFill>
                <a:latin typeface="Aptos"/>
                <a:ea typeface="Aptos"/>
                <a:cs typeface="Aptos"/>
              </a:rPr>
              <a:t>Value q_fallback_command • Ts Sample_time</a:t>
            </a:r>
          </a:p>
        </p:txBody>
      </p:sp>
      <p:sp>
        <p:nvSpPr>
          <p:cNvPr id="42" name="s16-cell-2-3">
            <a:extLst xmlns:a="http://schemas.openxmlformats.org/drawingml/2006/main">
              <a:ext uri="{FF2B5EF4-FFF2-40B4-BE49-F238E27FC236}">
                <a16:creationId xmlns:a16="http://schemas.microsoft.com/office/drawing/2014/main" id="{2BE1A59B-3495-4951-972D-945C6F5F5FE1}"/>
              </a:ext>
            </a:extLst>
          </p:cNvPr>
          <p:cNvSpPr>
            <a:spLocks xmlns:a="http://schemas.openxmlformats.org/drawingml/2006/main" noGrp="1"/>
          </p:cNvSpPr>
          <p:nvPr/>
        </p:nvSpPr>
        <p:spPr>
          <a:xfrm xmlns:a="http://schemas.openxmlformats.org/drawingml/2006/main">
            <a:off x="8820150" y="3409950"/>
            <a:ext cx="26860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fallback data input</a:t>
            </a:r>
          </a:p>
        </p:txBody>
      </p:sp>
      <p:sp>
        <p:nvSpPr>
          <p:cNvPr id="43" name="s16-cell-3-0">
            <a:extLst xmlns:a="http://schemas.openxmlformats.org/drawingml/2006/main">
              <a:ext uri="{FF2B5EF4-FFF2-40B4-BE49-F238E27FC236}">
                <a16:creationId xmlns:a16="http://schemas.microsoft.com/office/drawing/2014/main" id="{9F801D2C-DF0D-414D-AB70-C0A04FE2B366}"/>
              </a:ext>
            </a:extLst>
          </p:cNvPr>
          <p:cNvSpPr>
            <a:spLocks xmlns:a="http://schemas.openxmlformats.org/drawingml/2006/main" noGrp="1"/>
          </p:cNvSpPr>
          <p:nvPr/>
        </p:nvSpPr>
        <p:spPr>
          <a:xfrm xmlns:a="http://schemas.openxmlformats.org/drawingml/2006/main">
            <a:off x="685800" y="3886200"/>
            <a:ext cx="23812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1">
                <a:solidFill>
                  <a:srgbClr val="17324A"/>
                </a:solidFill>
                <a:latin typeface="Aptos"/>
                <a:ea typeface="Aptos"/>
                <a:cs typeface="Aptos"/>
              </a:defRPr>
            </a:pPr>
            <a:r>
              <a:rPr sz="915" b="1">
                <a:solidFill>
                  <a:srgbClr val="17324A"/>
                </a:solidFill>
                <a:latin typeface="Aptos"/>
                <a:ea typeface="Aptos"/>
                <a:cs typeface="Aptos"/>
              </a:rPr>
              <a:t>Select Valid Command</a:t>
            </a:r>
          </a:p>
        </p:txBody>
      </p:sp>
      <p:sp>
        <p:nvSpPr>
          <p:cNvPr id="44" name="s16-cell-3-1">
            <a:extLst xmlns:a="http://schemas.openxmlformats.org/drawingml/2006/main">
              <a:ext uri="{FF2B5EF4-FFF2-40B4-BE49-F238E27FC236}">
                <a16:creationId xmlns:a16="http://schemas.microsoft.com/office/drawing/2014/main" id="{2418985C-6055-43AE-B9F6-9B9E6F52D52C}"/>
              </a:ext>
            </a:extLst>
          </p:cNvPr>
          <p:cNvSpPr>
            <a:spLocks xmlns:a="http://schemas.openxmlformats.org/drawingml/2006/main" noGrp="1"/>
          </p:cNvSpPr>
          <p:nvPr/>
        </p:nvSpPr>
        <p:spPr>
          <a:xfrm xmlns:a="http://schemas.openxmlformats.org/drawingml/2006/main">
            <a:off x="3067050" y="3886200"/>
            <a:ext cx="18478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Switch</a:t>
            </a:r>
          </a:p>
        </p:txBody>
      </p:sp>
      <p:sp>
        <p:nvSpPr>
          <p:cNvPr id="45" name="s16-cell-3-2">
            <a:extLst xmlns:a="http://schemas.openxmlformats.org/drawingml/2006/main">
              <a:ext uri="{FF2B5EF4-FFF2-40B4-BE49-F238E27FC236}">
                <a16:creationId xmlns:a16="http://schemas.microsoft.com/office/drawing/2014/main" id="{E975AB4B-3FE9-48B3-A738-FDF0F14A9EBA}"/>
              </a:ext>
            </a:extLst>
          </p:cNvPr>
          <p:cNvSpPr>
            <a:spLocks xmlns:a="http://schemas.openxmlformats.org/drawingml/2006/main" noGrp="1"/>
          </p:cNvSpPr>
          <p:nvPr/>
        </p:nvSpPr>
        <p:spPr>
          <a:xfrm xmlns:a="http://schemas.openxmlformats.org/drawingml/2006/main">
            <a:off x="4914900" y="3886200"/>
            <a:ext cx="39052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878" b="0">
                <a:solidFill>
                  <a:srgbClr val="17324A"/>
                </a:solidFill>
                <a:latin typeface="Aptos"/>
                <a:ea typeface="Aptos"/>
                <a:cs typeface="Aptos"/>
              </a:defRPr>
            </a:pPr>
            <a:r>
              <a:rPr sz="878" b="0">
                <a:solidFill>
                  <a:srgbClr val="17324A"/>
                </a:solidFill>
                <a:latin typeface="Aptos"/>
                <a:ea typeface="Aptos"/>
                <a:cs typeface="Aptos"/>
              </a:rPr>
              <a:t>Criteria u2 ~= 0 • Threshold 0.5</a:t>
            </a:r>
          </a:p>
        </p:txBody>
      </p:sp>
      <p:sp>
        <p:nvSpPr>
          <p:cNvPr id="46" name="s16-cell-3-3">
            <a:extLst xmlns:a="http://schemas.openxmlformats.org/drawingml/2006/main">
              <a:ext uri="{FF2B5EF4-FFF2-40B4-BE49-F238E27FC236}">
                <a16:creationId xmlns:a16="http://schemas.microsoft.com/office/drawing/2014/main" id="{9FAF875E-E05D-420D-BACA-0FE5CC626614}"/>
              </a:ext>
            </a:extLst>
          </p:cNvPr>
          <p:cNvSpPr>
            <a:spLocks xmlns:a="http://schemas.openxmlformats.org/drawingml/2006/main" noGrp="1"/>
          </p:cNvSpPr>
          <p:nvPr/>
        </p:nvSpPr>
        <p:spPr>
          <a:xfrm xmlns:a="http://schemas.openxmlformats.org/drawingml/2006/main">
            <a:off x="8820150" y="3886200"/>
            <a:ext cx="26860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clamp / valid / fallback</a:t>
            </a:r>
          </a:p>
        </p:txBody>
      </p:sp>
      <p:sp>
        <p:nvSpPr>
          <p:cNvPr id="47" name="s16-cell-4-0">
            <a:extLst xmlns:a="http://schemas.openxmlformats.org/drawingml/2006/main">
              <a:ext uri="{FF2B5EF4-FFF2-40B4-BE49-F238E27FC236}">
                <a16:creationId xmlns:a16="http://schemas.microsoft.com/office/drawing/2014/main" id="{7D8E0D8A-7AF5-4145-9D24-BEF40DCE5216}"/>
              </a:ext>
            </a:extLst>
          </p:cNvPr>
          <p:cNvSpPr>
            <a:spLocks xmlns:a="http://schemas.openxmlformats.org/drawingml/2006/main" noGrp="1"/>
          </p:cNvSpPr>
          <p:nvPr/>
        </p:nvSpPr>
        <p:spPr>
          <a:xfrm xmlns:a="http://schemas.openxmlformats.org/drawingml/2006/main">
            <a:off x="685800" y="4362450"/>
            <a:ext cx="23812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1">
                <a:solidFill>
                  <a:srgbClr val="17324A"/>
                </a:solidFill>
                <a:latin typeface="Aptos"/>
                <a:ea typeface="Aptos"/>
                <a:cs typeface="Aptos"/>
              </a:defRPr>
            </a:pPr>
            <a:r>
              <a:rPr sz="915" b="1">
                <a:solidFill>
                  <a:srgbClr val="17324A"/>
                </a:solidFill>
                <a:latin typeface="Aptos"/>
                <a:ea typeface="Aptos"/>
                <a:cs typeface="Aptos"/>
              </a:rPr>
              <a:t>Above / Below Limit</a:t>
            </a:r>
          </a:p>
        </p:txBody>
      </p:sp>
      <p:sp>
        <p:nvSpPr>
          <p:cNvPr id="48" name="s16-cell-4-1">
            <a:extLst xmlns:a="http://schemas.openxmlformats.org/drawingml/2006/main">
              <a:ext uri="{FF2B5EF4-FFF2-40B4-BE49-F238E27FC236}">
                <a16:creationId xmlns:a16="http://schemas.microsoft.com/office/drawing/2014/main" id="{EED74AAB-6C75-40DE-991E-94C82850471B}"/>
              </a:ext>
            </a:extLst>
          </p:cNvPr>
          <p:cNvSpPr>
            <a:spLocks xmlns:a="http://schemas.openxmlformats.org/drawingml/2006/main" noGrp="1"/>
          </p:cNvSpPr>
          <p:nvPr/>
        </p:nvSpPr>
        <p:spPr>
          <a:xfrm xmlns:a="http://schemas.openxmlformats.org/drawingml/2006/main">
            <a:off x="3067050" y="4362450"/>
            <a:ext cx="18478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Relational Operator</a:t>
            </a:r>
          </a:p>
        </p:txBody>
      </p:sp>
      <p:sp>
        <p:nvSpPr>
          <p:cNvPr id="49" name="s16-cell-4-2">
            <a:extLst xmlns:a="http://schemas.openxmlformats.org/drawingml/2006/main">
              <a:ext uri="{FF2B5EF4-FFF2-40B4-BE49-F238E27FC236}">
                <a16:creationId xmlns:a16="http://schemas.microsoft.com/office/drawing/2014/main" id="{F5E71202-3824-463B-803C-C1F7F77CF981}"/>
              </a:ext>
            </a:extLst>
          </p:cNvPr>
          <p:cNvSpPr>
            <a:spLocks xmlns:a="http://schemas.openxmlformats.org/drawingml/2006/main" noGrp="1"/>
          </p:cNvSpPr>
          <p:nvPr/>
        </p:nvSpPr>
        <p:spPr>
          <a:xfrm xmlns:a="http://schemas.openxmlformats.org/drawingml/2006/main">
            <a:off x="4914900" y="4362450"/>
            <a:ext cx="39052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878" b="0">
                <a:solidFill>
                  <a:srgbClr val="17324A"/>
                </a:solidFill>
                <a:latin typeface="Aptos"/>
                <a:ea typeface="Aptos"/>
                <a:cs typeface="Aptos"/>
              </a:defRPr>
            </a:pPr>
            <a:r>
              <a:rPr sz="878" b="0">
                <a:solidFill>
                  <a:srgbClr val="17324A"/>
                </a:solidFill>
                <a:latin typeface="Aptos"/>
                <a:ea typeface="Aptos"/>
                <a:cs typeface="Aptos"/>
              </a:rPr>
              <a:t>&gt; positive • &lt; negative</a:t>
            </a:r>
          </a:p>
        </p:txBody>
      </p:sp>
      <p:sp>
        <p:nvSpPr>
          <p:cNvPr id="50" name="s16-cell-4-3">
            <a:extLst xmlns:a="http://schemas.openxmlformats.org/drawingml/2006/main">
              <a:ext uri="{FF2B5EF4-FFF2-40B4-BE49-F238E27FC236}">
                <a16:creationId xmlns:a16="http://schemas.microsoft.com/office/drawing/2014/main" id="{14A3E406-4D67-4B24-978E-3F03A6FD9037}"/>
              </a:ext>
            </a:extLst>
          </p:cNvPr>
          <p:cNvSpPr>
            <a:spLocks xmlns:a="http://schemas.openxmlformats.org/drawingml/2006/main" noGrp="1"/>
          </p:cNvSpPr>
          <p:nvPr/>
        </p:nvSpPr>
        <p:spPr>
          <a:xfrm xmlns:a="http://schemas.openxmlformats.org/drawingml/2006/main">
            <a:off x="8820150" y="4362450"/>
            <a:ext cx="26860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strictly outside ± limit</a:t>
            </a:r>
          </a:p>
        </p:txBody>
      </p:sp>
      <p:sp>
        <p:nvSpPr>
          <p:cNvPr id="51" name="s16-cell-5-0">
            <a:extLst xmlns:a="http://schemas.openxmlformats.org/drawingml/2006/main">
              <a:ext uri="{FF2B5EF4-FFF2-40B4-BE49-F238E27FC236}">
                <a16:creationId xmlns:a16="http://schemas.microsoft.com/office/drawing/2014/main" id="{B66C2368-FD43-4F5A-AAFC-52F6264B0EDA}"/>
              </a:ext>
            </a:extLst>
          </p:cNvPr>
          <p:cNvSpPr>
            <a:spLocks xmlns:a="http://schemas.openxmlformats.org/drawingml/2006/main" noGrp="1"/>
          </p:cNvSpPr>
          <p:nvPr/>
        </p:nvSpPr>
        <p:spPr>
          <a:xfrm xmlns:a="http://schemas.openxmlformats.org/drawingml/2006/main">
            <a:off x="685800" y="4838700"/>
            <a:ext cx="23812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1">
                <a:solidFill>
                  <a:srgbClr val="17324A"/>
                </a:solidFill>
                <a:latin typeface="Aptos"/>
                <a:ea typeface="Aptos"/>
                <a:cs typeface="Aptos"/>
              </a:defRPr>
            </a:pPr>
            <a:r>
              <a:rPr sz="915" b="1">
                <a:solidFill>
                  <a:srgbClr val="17324A"/>
                </a:solidFill>
                <a:latin typeface="Aptos"/>
                <a:ea typeface="Aptos"/>
                <a:cs typeface="Aptos"/>
              </a:rPr>
              <a:t>Outside Range / Valid Active</a:t>
            </a:r>
          </a:p>
        </p:txBody>
      </p:sp>
      <p:sp>
        <p:nvSpPr>
          <p:cNvPr id="52" name="s16-cell-5-1">
            <a:extLst xmlns:a="http://schemas.openxmlformats.org/drawingml/2006/main">
              <a:ext uri="{FF2B5EF4-FFF2-40B4-BE49-F238E27FC236}">
                <a16:creationId xmlns:a16="http://schemas.microsoft.com/office/drawing/2014/main" id="{6D493470-A356-4D70-BA93-DB3F63A91F7D}"/>
              </a:ext>
            </a:extLst>
          </p:cNvPr>
          <p:cNvSpPr>
            <a:spLocks xmlns:a="http://schemas.openxmlformats.org/drawingml/2006/main" noGrp="1"/>
          </p:cNvSpPr>
          <p:nvPr/>
        </p:nvSpPr>
        <p:spPr>
          <a:xfrm xmlns:a="http://schemas.openxmlformats.org/drawingml/2006/main">
            <a:off x="3067050" y="4838700"/>
            <a:ext cx="18478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Logical Operator</a:t>
            </a:r>
          </a:p>
        </p:txBody>
      </p:sp>
      <p:sp>
        <p:nvSpPr>
          <p:cNvPr id="53" name="s16-cell-5-2">
            <a:extLst xmlns:a="http://schemas.openxmlformats.org/drawingml/2006/main">
              <a:ext uri="{FF2B5EF4-FFF2-40B4-BE49-F238E27FC236}">
                <a16:creationId xmlns:a16="http://schemas.microsoft.com/office/drawing/2014/main" id="{32F65EE8-57EE-4496-BEF4-7B29FCDD2F4B}"/>
              </a:ext>
            </a:extLst>
          </p:cNvPr>
          <p:cNvSpPr>
            <a:spLocks xmlns:a="http://schemas.openxmlformats.org/drawingml/2006/main" noGrp="1"/>
          </p:cNvSpPr>
          <p:nvPr/>
        </p:nvSpPr>
        <p:spPr>
          <a:xfrm xmlns:a="http://schemas.openxmlformats.org/drawingml/2006/main">
            <a:off x="4914900" y="4838700"/>
            <a:ext cx="39052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878" b="0">
                <a:solidFill>
                  <a:srgbClr val="17324A"/>
                </a:solidFill>
                <a:latin typeface="Aptos"/>
                <a:ea typeface="Aptos"/>
                <a:cs typeface="Aptos"/>
              </a:defRPr>
            </a:pPr>
            <a:r>
              <a:rPr sz="878" b="0">
                <a:solidFill>
                  <a:srgbClr val="17324A"/>
                </a:solidFill>
                <a:latin typeface="Aptos"/>
                <a:ea typeface="Aptos"/>
                <a:cs typeface="Aptos"/>
              </a:rPr>
              <a:t>OR • then AND with normal_and_valid</a:t>
            </a:r>
          </a:p>
        </p:txBody>
      </p:sp>
      <p:sp>
        <p:nvSpPr>
          <p:cNvPr id="54" name="s16-cell-5-3">
            <a:extLst xmlns:a="http://schemas.openxmlformats.org/drawingml/2006/main">
              <a:ext uri="{FF2B5EF4-FFF2-40B4-BE49-F238E27FC236}">
                <a16:creationId xmlns:a16="http://schemas.microsoft.com/office/drawing/2014/main" id="{51FCBF76-FD1D-4B55-851F-2EAA0B43C5CF}"/>
              </a:ext>
            </a:extLst>
          </p:cNvPr>
          <p:cNvSpPr>
            <a:spLocks xmlns:a="http://schemas.openxmlformats.org/drawingml/2006/main" noGrp="1"/>
          </p:cNvSpPr>
          <p:nvPr/>
        </p:nvSpPr>
        <p:spPr>
          <a:xfrm xmlns:a="http://schemas.openxmlformats.org/drawingml/2006/main">
            <a:off x="8820150" y="4838700"/>
            <a:ext cx="26860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15" b="0">
                <a:solidFill>
                  <a:srgbClr val="17324A"/>
                </a:solidFill>
                <a:latin typeface="Aptos"/>
                <a:ea typeface="Aptos"/>
                <a:cs typeface="Aptos"/>
              </a:defRPr>
            </a:pPr>
            <a:r>
              <a:rPr sz="915" b="0">
                <a:solidFill>
                  <a:srgbClr val="17324A"/>
                </a:solidFill>
                <a:latin typeface="Aptos"/>
                <a:ea typeface="Aptos"/>
                <a:cs typeface="Aptos"/>
              </a:rPr>
              <a:t>limiter_active status</a:t>
            </a:r>
          </a:p>
        </p:txBody>
      </p:sp>
      <p:sp>
        <p:nvSpPr>
          <p:cNvPr id="55" name="s16-boundary">
            <a:extLst xmlns:a="http://schemas.openxmlformats.org/drawingml/2006/main">
              <a:ext uri="{FF2B5EF4-FFF2-40B4-BE49-F238E27FC236}">
                <a16:creationId xmlns:a16="http://schemas.microsoft.com/office/drawing/2014/main" id="{A2824F9C-6B9E-4FF9-82C4-5E2ED830F404}"/>
              </a:ext>
            </a:extLst>
          </p:cNvPr>
          <p:cNvSpPr>
            <a:spLocks xmlns:a="http://schemas.openxmlformats.org/drawingml/2006/main" noGrp="1"/>
          </p:cNvSpPr>
          <p:nvPr/>
        </p:nvSpPr>
        <p:spPr>
          <a:xfrm xmlns:a="http://schemas.openxmlformats.org/drawingml/2006/main">
            <a:off x="685800" y="552450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50" b="1">
                <a:solidFill>
                  <a:srgbClr val="071521"/>
                </a:solidFill>
                <a:latin typeface="Aptos"/>
                <a:ea typeface="Aptos"/>
                <a:cs typeface="Aptos"/>
              </a:defRPr>
            </a:pPr>
            <a:r>
              <a:rPr sz="1050" b="1">
                <a:solidFill>
                  <a:srgbClr val="071521"/>
                </a:solidFill>
                <a:latin typeface="Aptos"/>
                <a:ea typeface="Aptos"/>
                <a:cs typeface="Aptos"/>
              </a:rPr>
              <a:t>BOUNDARY SEMANTICS  •  exactly ±q_limit_normal passes unchanged and limiter_active = false; invalid or non-normal input selects q_fallback_command</a:t>
            </a:r>
          </a:p>
        </p:txBody>
      </p:sp>
    </p:spTree>
    <p:extLst>
      <p:ext uri="{BB962C8B-B14F-4D97-AF65-F5344CB8AC3E}">
        <p14:creationId xmlns:p14="http://schemas.microsoft.com/office/powerpoint/2010/main" val="112507120"/>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CONTROLLED CREATION LAB</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0B1F33"/>
                </a:solidFill>
                <a:latin typeface="Aptos"/>
                <a:ea typeface="Aptos"/>
                <a:cs typeface="Aptos"/>
              </a:defRPr>
            </a:pPr>
            <a:r>
              <a:rPr sz="2550" b="1" i="0">
                <a:solidFill>
                  <a:srgbClr val="0B1F33"/>
                </a:solidFill>
                <a:latin typeface="Aptos"/>
                <a:ea typeface="Aptos"/>
                <a:cs typeface="Aptos"/>
              </a:rPr>
              <a:t>Step 4 — log evidence signals; reserve test points for required observability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35" name="s8-image-frame">
            <a:extLst xmlns:a="http://schemas.openxmlformats.org/drawingml/2006/main">
              <a:ext uri="{FF2B5EF4-FFF2-40B4-BE49-F238E27FC236}">
                <a16:creationId xmlns:a16="http://schemas.microsoft.com/office/drawing/2014/main" id="{DA9F56B5-A1E4-491A-B701-3A73BB1CE4ED}"/>
              </a:ext>
            </a:extLst>
          </p:cNvPr>
          <p:cNvSpPr>
            <a:spLocks xmlns:a="http://schemas.openxmlformats.org/drawingml/2006/main" noGrp="1"/>
          </p:cNvSpPr>
          <p:nvPr/>
        </p:nvSpPr>
        <p:spPr>
          <a:xfrm xmlns:a="http://schemas.openxmlformats.org/drawingml/2006/main">
            <a:off x="609600" y="1428750"/>
            <a:ext cx="7696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64a59c468c484e24"/>
          <a:stretch xmlns:a="http://schemas.openxmlformats.org/drawingml/2006/main"/>
        </p:blipFill>
        <p:spPr>
          <a:xfrm xmlns:a="http://schemas.openxmlformats.org/drawingml/2006/main">
            <a:off x="685800" y="1573054"/>
            <a:ext cx="7543800" cy="4054793"/>
          </a:xfrm>
          <a:prstGeom xmlns:a="http://schemas.openxmlformats.org/drawingml/2006/main" prst="rect">
            <a:avLst/>
          </a:prstGeom>
        </p:spPr>
      </p:pic>
      <p:sp>
        <p:nvSpPr>
          <p:cNvPr id="37" name="s8-demo-tag">
            <a:extLst xmlns:a="http://schemas.openxmlformats.org/drawingml/2006/main">
              <a:ext uri="{FF2B5EF4-FFF2-40B4-BE49-F238E27FC236}">
                <a16:creationId xmlns:a16="http://schemas.microsoft.com/office/drawing/2014/main" id="{1EB05C8A-CA53-4110-A86D-CDA05E30BA85}"/>
              </a:ext>
            </a:extLst>
          </p:cNvPr>
          <p:cNvSpPr>
            <a:spLocks xmlns:a="http://schemas.openxmlformats.org/drawingml/2006/main" noGrp="1"/>
          </p:cNvSpPr>
          <p:nvPr/>
        </p:nvSpPr>
        <p:spPr>
          <a:xfrm xmlns:a="http://schemas.openxmlformats.org/drawingml/2006/main">
            <a:off x="8515350" y="1438275"/>
            <a:ext cx="299085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DO THIS LIVE</a:t>
            </a:r>
          </a:p>
        </p:txBody>
      </p:sp>
      <p:sp>
        <p:nvSpPr>
          <p:cNvPr id="38" name="s8-demo-steps">
            <a:extLst xmlns:a="http://schemas.openxmlformats.org/drawingml/2006/main">
              <a:ext uri="{FF2B5EF4-FFF2-40B4-BE49-F238E27FC236}">
                <a16:creationId xmlns:a16="http://schemas.microsoft.com/office/drawing/2014/main" id="{6938BAE5-563A-4C56-970D-4A1E62F4F0F5}"/>
              </a:ext>
            </a:extLst>
          </p:cNvPr>
          <p:cNvSpPr>
            <a:spLocks xmlns:a="http://schemas.openxmlformats.org/drawingml/2006/main" noGrp="1"/>
          </p:cNvSpPr>
          <p:nvPr/>
        </p:nvSpPr>
        <p:spPr>
          <a:xfrm xmlns:a="http://schemas.openxmlformats.org/drawingml/2006/main">
            <a:off x="8515350" y="1809750"/>
            <a:ext cx="2990850" cy="1314450"/>
          </a:xfrm>
          <a:prstGeom xmlns:a="http://schemas.openxmlformats.org/drawingml/2006/main" prst="roundRect">
            <a:avLst>
              <a:gd name="adj" fmla="val 8696"/>
            </a:avLst>
          </a:prstGeom>
          <a:solidFill xmlns:a="http://schemas.openxmlformats.org/drawingml/2006/main">
            <a:srgbClr val="DFF6F8"/>
          </a:solidFill>
          <a:ln xmlns:a="http://schemas.openxmlformats.org/drawingml/2006/main" w="13335">
            <a:solidFill>
              <a:srgbClr val="20B7C5"/>
            </a:solidFill>
            <a:prstDash val="solid"/>
          </a:ln>
        </p:spPr>
      </p:sp>
      <p:sp>
        <p:nvSpPr>
          <p:cNvPr id="39" name="s8-demo-steps-title">
            <a:extLst xmlns:a="http://schemas.openxmlformats.org/drawingml/2006/main">
              <a:ext uri="{FF2B5EF4-FFF2-40B4-BE49-F238E27FC236}">
                <a16:creationId xmlns:a16="http://schemas.microsoft.com/office/drawing/2014/main" id="{61E3BD55-EE6A-47CD-97EB-68EEB413E0D4}"/>
              </a:ext>
            </a:extLst>
          </p:cNvPr>
          <p:cNvSpPr>
            <a:spLocks xmlns:a="http://schemas.openxmlformats.org/drawingml/2006/main" noGrp="1"/>
          </p:cNvSpPr>
          <p:nvPr/>
        </p:nvSpPr>
        <p:spPr>
          <a:xfrm xmlns:a="http://schemas.openxmlformats.org/drawingml/2006/main">
            <a:off x="8667750" y="19050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LOG A SIGNAL</a:t>
            </a:r>
          </a:p>
        </p:txBody>
      </p:sp>
      <p:sp>
        <p:nvSpPr>
          <p:cNvPr id="40" name="s8-demo-steps-body">
            <a:extLst xmlns:a="http://schemas.openxmlformats.org/drawingml/2006/main">
              <a:ext uri="{FF2B5EF4-FFF2-40B4-BE49-F238E27FC236}">
                <a16:creationId xmlns:a16="http://schemas.microsoft.com/office/drawing/2014/main" id="{B1199EBB-0643-4541-BC8D-65F74353B337}"/>
              </a:ext>
            </a:extLst>
          </p:cNvPr>
          <p:cNvSpPr>
            <a:spLocks xmlns:a="http://schemas.openxmlformats.org/drawingml/2006/main" noGrp="1"/>
          </p:cNvSpPr>
          <p:nvPr/>
        </p:nvSpPr>
        <p:spPr>
          <a:xfrm xmlns:a="http://schemas.openxmlformats.org/drawingml/2006/main">
            <a:off x="8667750" y="2181225"/>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1  Select the signal line</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2  Signal tab &gt; Log Signals</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3  Run the model</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4  View in Data Inspector</a:t>
            </a:r>
          </a:p>
        </p:txBody>
      </p:sp>
      <p:sp>
        <p:nvSpPr>
          <p:cNvPr id="41" name="s8-log-card">
            <a:extLst xmlns:a="http://schemas.openxmlformats.org/drawingml/2006/main">
              <a:ext uri="{FF2B5EF4-FFF2-40B4-BE49-F238E27FC236}">
                <a16:creationId xmlns:a16="http://schemas.microsoft.com/office/drawing/2014/main" id="{DD37B0CD-C903-4607-9872-4D33D4697FC4}"/>
              </a:ext>
            </a:extLst>
          </p:cNvPr>
          <p:cNvSpPr>
            <a:spLocks xmlns:a="http://schemas.openxmlformats.org/drawingml/2006/main" noGrp="1"/>
          </p:cNvSpPr>
          <p:nvPr/>
        </p:nvSpPr>
        <p:spPr>
          <a:xfrm xmlns:a="http://schemas.openxmlformats.org/drawingml/2006/main">
            <a:off x="8515350" y="3238500"/>
            <a:ext cx="2990850" cy="1200150"/>
          </a:xfrm>
          <a:prstGeom xmlns:a="http://schemas.openxmlformats.org/drawingml/2006/main" prst="roundRect">
            <a:avLst>
              <a:gd name="adj" fmla="val 9524"/>
            </a:avLst>
          </a:prstGeom>
          <a:solidFill xmlns:a="http://schemas.openxmlformats.org/drawingml/2006/main">
            <a:srgbClr val="E2ECFF"/>
          </a:solidFill>
          <a:ln xmlns:a="http://schemas.openxmlformats.org/drawingml/2006/main" w="13335">
            <a:solidFill>
              <a:srgbClr val="2D6CDF"/>
            </a:solidFill>
            <a:prstDash val="solid"/>
          </a:ln>
        </p:spPr>
      </p:sp>
      <p:sp>
        <p:nvSpPr>
          <p:cNvPr id="42" name="s8-log-title">
            <a:extLst xmlns:a="http://schemas.openxmlformats.org/drawingml/2006/main">
              <a:ext uri="{FF2B5EF4-FFF2-40B4-BE49-F238E27FC236}">
                <a16:creationId xmlns:a16="http://schemas.microsoft.com/office/drawing/2014/main" id="{443A1A20-0996-4B6C-82EC-9B80C07AD709}"/>
              </a:ext>
            </a:extLst>
          </p:cNvPr>
          <p:cNvSpPr>
            <a:spLocks xmlns:a="http://schemas.openxmlformats.org/drawingml/2006/main" noGrp="1"/>
          </p:cNvSpPr>
          <p:nvPr/>
        </p:nvSpPr>
        <p:spPr>
          <a:xfrm xmlns:a="http://schemas.openxmlformats.org/drawingml/2006/main">
            <a:off x="8648700" y="33337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D6CDF"/>
                </a:solidFill>
                <a:latin typeface="Aptos"/>
                <a:ea typeface="Aptos"/>
                <a:cs typeface="Aptos"/>
              </a:defRPr>
            </a:pPr>
            <a:r>
              <a:rPr sz="1200" b="1">
                <a:solidFill>
                  <a:srgbClr val="2D6CDF"/>
                </a:solidFill>
                <a:latin typeface="Aptos"/>
                <a:ea typeface="Aptos"/>
                <a:cs typeface="Aptos"/>
              </a:rPr>
              <a:t>LOGGED SIGNAL</a:t>
            </a:r>
          </a:p>
        </p:txBody>
      </p:sp>
      <p:sp>
        <p:nvSpPr>
          <p:cNvPr id="43" name="s8-log-body">
            <a:extLst xmlns:a="http://schemas.openxmlformats.org/drawingml/2006/main">
              <a:ext uri="{FF2B5EF4-FFF2-40B4-BE49-F238E27FC236}">
                <a16:creationId xmlns:a16="http://schemas.microsoft.com/office/drawing/2014/main" id="{F88A98C5-1D8F-4FCB-B132-D077CC9B1DE3}"/>
              </a:ext>
            </a:extLst>
          </p:cNvPr>
          <p:cNvSpPr>
            <a:spLocks xmlns:a="http://schemas.openxmlformats.org/drawingml/2006/main" noGrp="1"/>
          </p:cNvSpPr>
          <p:nvPr/>
        </p:nvSpPr>
        <p:spPr>
          <a:xfrm xmlns:a="http://schemas.openxmlformats.org/drawingml/2006/main">
            <a:off x="8648700" y="3609975"/>
            <a:ext cx="2724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for time history, SDI comparisons, regression plots, and retained simulation evidence. Dataset data commonly appears in logsout.</a:t>
            </a:r>
          </a:p>
        </p:txBody>
      </p:sp>
      <p:sp>
        <p:nvSpPr>
          <p:cNvPr id="44" name="s8-test-card">
            <a:extLst xmlns:a="http://schemas.openxmlformats.org/drawingml/2006/main">
              <a:ext uri="{FF2B5EF4-FFF2-40B4-BE49-F238E27FC236}">
                <a16:creationId xmlns:a16="http://schemas.microsoft.com/office/drawing/2014/main" id="{26A95B58-C514-46CA-AAD1-CC2BE6CFA4B6}"/>
              </a:ext>
            </a:extLst>
          </p:cNvPr>
          <p:cNvSpPr>
            <a:spLocks xmlns:a="http://schemas.openxmlformats.org/drawingml/2006/main" noGrp="1"/>
          </p:cNvSpPr>
          <p:nvPr/>
        </p:nvSpPr>
        <p:spPr>
          <a:xfrm xmlns:a="http://schemas.openxmlformats.org/drawingml/2006/main">
            <a:off x="8515350" y="4552950"/>
            <a:ext cx="2990850" cy="1219200"/>
          </a:xfrm>
          <a:prstGeom xmlns:a="http://schemas.openxmlformats.org/drawingml/2006/main" prst="roundRect">
            <a:avLst>
              <a:gd name="adj" fmla="val 9375"/>
            </a:avLst>
          </a:prstGeom>
          <a:solidFill xmlns:a="http://schemas.openxmlformats.org/drawingml/2006/main">
            <a:srgbClr val="FFF0D7"/>
          </a:solidFill>
          <a:ln xmlns:a="http://schemas.openxmlformats.org/drawingml/2006/main" w="13335">
            <a:solidFill>
              <a:srgbClr val="E9A23B"/>
            </a:solidFill>
            <a:prstDash val="solid"/>
          </a:ln>
        </p:spPr>
      </p:sp>
      <p:sp>
        <p:nvSpPr>
          <p:cNvPr id="45" name="s8-test-title">
            <a:extLst xmlns:a="http://schemas.openxmlformats.org/drawingml/2006/main">
              <a:ext uri="{FF2B5EF4-FFF2-40B4-BE49-F238E27FC236}">
                <a16:creationId xmlns:a16="http://schemas.microsoft.com/office/drawing/2014/main" id="{8F188412-529A-497F-A40A-4404C32A9577}"/>
              </a:ext>
            </a:extLst>
          </p:cNvPr>
          <p:cNvSpPr>
            <a:spLocks xmlns:a="http://schemas.openxmlformats.org/drawingml/2006/main" noGrp="1"/>
          </p:cNvSpPr>
          <p:nvPr/>
        </p:nvSpPr>
        <p:spPr>
          <a:xfrm xmlns:a="http://schemas.openxmlformats.org/drawingml/2006/main">
            <a:off x="8648700" y="464820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E9A23B"/>
                </a:solidFill>
                <a:latin typeface="Aptos"/>
                <a:ea typeface="Aptos"/>
                <a:cs typeface="Aptos"/>
              </a:defRPr>
            </a:pPr>
            <a:r>
              <a:rPr sz="1200" b="1">
                <a:solidFill>
                  <a:srgbClr val="E9A23B"/>
                </a:solidFill>
                <a:latin typeface="Aptos"/>
                <a:ea typeface="Aptos"/>
                <a:cs typeface="Aptos"/>
              </a:rPr>
              <a:t>TEST POINT</a:t>
            </a:r>
          </a:p>
        </p:txBody>
      </p:sp>
      <p:sp>
        <p:nvSpPr>
          <p:cNvPr id="46" name="s8-test-body">
            <a:extLst xmlns:a="http://schemas.openxmlformats.org/drawingml/2006/main">
              <a:ext uri="{FF2B5EF4-FFF2-40B4-BE49-F238E27FC236}">
                <a16:creationId xmlns:a16="http://schemas.microsoft.com/office/drawing/2014/main" id="{F5095E78-1E12-468A-BD85-F0B4813E7907}"/>
              </a:ext>
            </a:extLst>
          </p:cNvPr>
          <p:cNvSpPr>
            <a:spLocks xmlns:a="http://schemas.openxmlformats.org/drawingml/2006/main" noGrp="1"/>
          </p:cNvSpPr>
          <p:nvPr/>
        </p:nvSpPr>
        <p:spPr>
          <a:xfrm xmlns:a="http://schemas.openxmlformats.org/drawingml/2006/main">
            <a:off x="8648700" y="4924425"/>
            <a:ext cx="2724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when an internal signal must remain observable despite optimization. It does not enable signal logging; control and review it separately.</a:t>
            </a:r>
          </a:p>
        </p:txBody>
      </p:sp>
      <p:sp>
        <p:nvSpPr>
          <p:cNvPr id="47" name="s8-status">
            <a:extLst xmlns:a="http://schemas.openxmlformats.org/drawingml/2006/main">
              <a:ext uri="{FF2B5EF4-FFF2-40B4-BE49-F238E27FC236}">
                <a16:creationId xmlns:a16="http://schemas.microsoft.com/office/drawing/2014/main" id="{EEDD13F5-33B6-41A6-A791-EAFA59CAB91A}"/>
              </a:ext>
            </a:extLst>
          </p:cNvPr>
          <p:cNvSpPr>
            <a:spLocks xmlns:a="http://schemas.openxmlformats.org/drawingml/2006/main" noGrp="1"/>
          </p:cNvSpPr>
          <p:nvPr/>
        </p:nvSpPr>
        <p:spPr>
          <a:xfrm xmlns:a="http://schemas.openxmlformats.org/drawingml/2006/main">
            <a:off x="685800" y="5886450"/>
            <a:ext cx="1082040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SAVED PACKAGE  •  signal logging ON in 8/8 models  •  52 logged ports  •  0 test points</a:t>
            </a:r>
          </a:p>
        </p:txBody>
      </p:sp>
    </p:spTree>
    <p:extLst>
      <p:ext uri="{BB962C8B-B14F-4D97-AF65-F5344CB8AC3E}">
        <p14:creationId xmlns:p14="http://schemas.microsoft.com/office/powerpoint/2010/main" val="354341949"/>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CONTROLLED CREATION LAB</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Step 5 — distinguish saved settings from run-time overrides</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f76b0ea44b3f42a6"/>
          <a:stretch xmlns:a="http://schemas.openxmlformats.org/drawingml/2006/main"/>
        </p:blipFill>
        <p:spPr>
          <a:xfrm xmlns:a="http://schemas.openxmlformats.org/drawingml/2006/main">
            <a:off x="1221749" y="1524000"/>
            <a:ext cx="5119352" cy="4038600"/>
          </a:xfrm>
          <a:prstGeom xmlns:a="http://schemas.openxmlformats.org/drawingml/2006/main" prst="rect">
            <a:avLst/>
          </a:prstGeom>
        </p:spPr>
      </p:pic>
      <p:sp>
        <p:nvSpPr>
          <p:cNvPr id="36" name="s18-matrix">
            <a:extLst xmlns:a="http://schemas.openxmlformats.org/drawingml/2006/main">
              <a:ext uri="{FF2B5EF4-FFF2-40B4-BE49-F238E27FC236}">
                <a16:creationId xmlns:a16="http://schemas.microsoft.com/office/drawing/2014/main" id="{AD4B51A7-396C-41D2-8DBF-3654C5CAE1B9}"/>
              </a:ext>
            </a:extLst>
          </p:cNvPr>
          <p:cNvSpPr>
            <a:spLocks xmlns:a="http://schemas.openxmlformats.org/drawingml/2006/main" noGrp="1"/>
          </p:cNvSpPr>
          <p:nvPr/>
        </p:nvSpPr>
        <p:spPr>
          <a:xfrm xmlns:a="http://schemas.openxmlformats.org/drawingml/2006/main">
            <a:off x="7181850" y="1524000"/>
            <a:ext cx="4133850" cy="3009900"/>
          </a:xfrm>
          <a:prstGeom xmlns:a="http://schemas.openxmlformats.org/drawingml/2006/main" prst="roundRect">
            <a:avLst>
              <a:gd name="adj" fmla="val 3797"/>
            </a:avLst>
          </a:prstGeom>
          <a:solidFill xmlns:a="http://schemas.openxmlformats.org/drawingml/2006/main">
            <a:srgbClr val="FFFFFF"/>
          </a:solidFill>
          <a:ln xmlns:a="http://schemas.openxmlformats.org/drawingml/2006/main" w="13335">
            <a:solidFill>
              <a:srgbClr val="2D6CDF"/>
            </a:solidFill>
            <a:prstDash val="solid"/>
          </a:ln>
        </p:spPr>
      </p:sp>
      <p:sp>
        <p:nvSpPr>
          <p:cNvPr id="37" name="s18-matrix-title">
            <a:extLst xmlns:a="http://schemas.openxmlformats.org/drawingml/2006/main">
              <a:ext uri="{FF2B5EF4-FFF2-40B4-BE49-F238E27FC236}">
                <a16:creationId xmlns:a16="http://schemas.microsoft.com/office/drawing/2014/main" id="{220A3C7D-8170-4B7F-B9CD-B7A33F96DE14}"/>
              </a:ext>
            </a:extLst>
          </p:cNvPr>
          <p:cNvSpPr>
            <a:spLocks xmlns:a="http://schemas.openxmlformats.org/drawingml/2006/main" noGrp="1"/>
          </p:cNvSpPr>
          <p:nvPr/>
        </p:nvSpPr>
        <p:spPr>
          <a:xfrm xmlns:a="http://schemas.openxmlformats.org/drawingml/2006/main">
            <a:off x="7353300" y="1695450"/>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50" b="1">
                <a:solidFill>
                  <a:srgbClr val="2D6CDF"/>
                </a:solidFill>
                <a:latin typeface="Aptos"/>
                <a:ea typeface="Aptos"/>
                <a:cs typeface="Aptos"/>
              </a:defRPr>
            </a:pPr>
            <a:r>
              <a:rPr sz="1350" b="1">
                <a:solidFill>
                  <a:srgbClr val="2D6CDF"/>
                </a:solidFill>
                <a:latin typeface="Aptos"/>
                <a:ea typeface="Aptos"/>
                <a:cs typeface="Aptos"/>
              </a:rPr>
              <a:t>SAVED ≠ EFFECTIVE</a:t>
            </a:r>
          </a:p>
        </p:txBody>
      </p:sp>
      <p:sp>
        <p:nvSpPr>
          <p:cNvPr id="38" name="s18-cell-0-0">
            <a:extLst xmlns:a="http://schemas.openxmlformats.org/drawingml/2006/main">
              <a:ext uri="{FF2B5EF4-FFF2-40B4-BE49-F238E27FC236}">
                <a16:creationId xmlns:a16="http://schemas.microsoft.com/office/drawing/2014/main" id="{DEDFF2E7-77C1-48A1-A946-ECA152817080}"/>
              </a:ext>
            </a:extLst>
          </p:cNvPr>
          <p:cNvSpPr>
            <a:spLocks xmlns:a="http://schemas.openxmlformats.org/drawingml/2006/main" noGrp="1"/>
          </p:cNvSpPr>
          <p:nvPr/>
        </p:nvSpPr>
        <p:spPr>
          <a:xfrm xmlns:a="http://schemas.openxmlformats.org/drawingml/2006/main">
            <a:off x="7372350" y="2171700"/>
            <a:ext cx="1885950" cy="438150"/>
          </a:xfrm>
          <a:prstGeom xmlns:a="http://schemas.openxmlformats.org/drawingml/2006/main" prst="roundRect">
            <a:avLst>
              <a:gd name="adj" fmla="val 26087"/>
            </a:avLst>
          </a:prstGeom>
          <a:solidFill xmlns:a="http://schemas.openxmlformats.org/drawingml/2006/main">
            <a:srgbClr val="0B243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863" b="1">
                <a:solidFill>
                  <a:srgbClr val="FFFFFF"/>
                </a:solidFill>
                <a:latin typeface="Aptos"/>
                <a:ea typeface="Aptos"/>
                <a:cs typeface="Aptos"/>
              </a:defRPr>
            </a:pPr>
            <a:r>
              <a:rPr sz="863" b="1">
                <a:solidFill>
                  <a:srgbClr val="FFFFFF"/>
                </a:solidFill>
                <a:latin typeface="Aptos"/>
                <a:ea typeface="Aptos"/>
                <a:cs typeface="Aptos"/>
              </a:rPr>
              <a:t>MODEL</a:t>
            </a:r>
          </a:p>
        </p:txBody>
      </p:sp>
      <p:sp>
        <p:nvSpPr>
          <p:cNvPr id="39" name="s18-cell-0-1">
            <a:extLst xmlns:a="http://schemas.openxmlformats.org/drawingml/2006/main">
              <a:ext uri="{FF2B5EF4-FFF2-40B4-BE49-F238E27FC236}">
                <a16:creationId xmlns:a16="http://schemas.microsoft.com/office/drawing/2014/main" id="{77337BA9-4A6B-4EC5-8704-5C68EC87206D}"/>
              </a:ext>
            </a:extLst>
          </p:cNvPr>
          <p:cNvSpPr>
            <a:spLocks xmlns:a="http://schemas.openxmlformats.org/drawingml/2006/main" noGrp="1"/>
          </p:cNvSpPr>
          <p:nvPr/>
        </p:nvSpPr>
        <p:spPr>
          <a:xfrm xmlns:a="http://schemas.openxmlformats.org/drawingml/2006/main">
            <a:off x="9258300" y="2171700"/>
            <a:ext cx="952500" cy="438150"/>
          </a:xfrm>
          <a:prstGeom xmlns:a="http://schemas.openxmlformats.org/drawingml/2006/main" prst="roundRect">
            <a:avLst>
              <a:gd name="adj" fmla="val 26087"/>
            </a:avLst>
          </a:prstGeom>
          <a:solidFill xmlns:a="http://schemas.openxmlformats.org/drawingml/2006/main">
            <a:srgbClr val="0B243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SAVED STOP</a:t>
            </a:r>
          </a:p>
        </p:txBody>
      </p:sp>
      <p:sp>
        <p:nvSpPr>
          <p:cNvPr id="40" name="s18-cell-0-2">
            <a:extLst xmlns:a="http://schemas.openxmlformats.org/drawingml/2006/main">
              <a:ext uri="{FF2B5EF4-FFF2-40B4-BE49-F238E27FC236}">
                <a16:creationId xmlns:a16="http://schemas.microsoft.com/office/drawing/2014/main" id="{315BAD8A-E403-4DD8-B36E-1850C660C849}"/>
              </a:ext>
            </a:extLst>
          </p:cNvPr>
          <p:cNvSpPr>
            <a:spLocks xmlns:a="http://schemas.openxmlformats.org/drawingml/2006/main" noGrp="1"/>
          </p:cNvSpPr>
          <p:nvPr/>
        </p:nvSpPr>
        <p:spPr>
          <a:xfrm xmlns:a="http://schemas.openxmlformats.org/drawingml/2006/main">
            <a:off x="10210800" y="2171700"/>
            <a:ext cx="857250" cy="438150"/>
          </a:xfrm>
          <a:prstGeom xmlns:a="http://schemas.openxmlformats.org/drawingml/2006/main" prst="roundRect">
            <a:avLst>
              <a:gd name="adj" fmla="val 26087"/>
            </a:avLst>
          </a:prstGeom>
          <a:solidFill xmlns:a="http://schemas.openxmlformats.org/drawingml/2006/main">
            <a:srgbClr val="0B243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DRIVER STOP</a:t>
            </a:r>
          </a:p>
        </p:txBody>
      </p:sp>
      <p:sp>
        <p:nvSpPr>
          <p:cNvPr id="41" name="s18-cell-1-0">
            <a:extLst xmlns:a="http://schemas.openxmlformats.org/drawingml/2006/main">
              <a:ext uri="{FF2B5EF4-FFF2-40B4-BE49-F238E27FC236}">
                <a16:creationId xmlns:a16="http://schemas.microsoft.com/office/drawing/2014/main" id="{4B75E5DB-61B9-477C-A716-AE9118D60BC4}"/>
              </a:ext>
            </a:extLst>
          </p:cNvPr>
          <p:cNvSpPr>
            <a:spLocks xmlns:a="http://schemas.openxmlformats.org/drawingml/2006/main" noGrp="1"/>
          </p:cNvSpPr>
          <p:nvPr/>
        </p:nvSpPr>
        <p:spPr>
          <a:xfrm xmlns:a="http://schemas.openxmlformats.org/drawingml/2006/main">
            <a:off x="7372350" y="2686050"/>
            <a:ext cx="18859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60" b="1">
                <a:solidFill>
                  <a:srgbClr val="17324A"/>
                </a:solidFill>
                <a:latin typeface="Aptos"/>
                <a:ea typeface="Aptos"/>
                <a:cs typeface="Aptos"/>
              </a:defRPr>
            </a:pPr>
            <a:r>
              <a:rPr sz="960" b="1">
                <a:solidFill>
                  <a:srgbClr val="17324A"/>
                </a:solidFill>
                <a:latin typeface="Aptos"/>
                <a:ea typeface="Aptos"/>
                <a:cs typeface="Aptos"/>
              </a:rPr>
              <a:t>AircraftFeedbackControlLoop</a:t>
            </a:r>
          </a:p>
        </p:txBody>
      </p:sp>
      <p:sp>
        <p:nvSpPr>
          <p:cNvPr id="42" name="s18-cell-1-1">
            <a:extLst xmlns:a="http://schemas.openxmlformats.org/drawingml/2006/main">
              <a:ext uri="{FF2B5EF4-FFF2-40B4-BE49-F238E27FC236}">
                <a16:creationId xmlns:a16="http://schemas.microsoft.com/office/drawing/2014/main" id="{07B0ACF8-91FA-4671-B78E-F72A36EBC4E8}"/>
              </a:ext>
            </a:extLst>
          </p:cNvPr>
          <p:cNvSpPr>
            <a:spLocks xmlns:a="http://schemas.openxmlformats.org/drawingml/2006/main" noGrp="1"/>
          </p:cNvSpPr>
          <p:nvPr/>
        </p:nvSpPr>
        <p:spPr>
          <a:xfrm xmlns:a="http://schemas.openxmlformats.org/drawingml/2006/main">
            <a:off x="9258300" y="2686050"/>
            <a:ext cx="95250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ctr">
              <a:defRPr sz="960" b="0">
                <a:solidFill>
                  <a:srgbClr val="17324A"/>
                </a:solidFill>
                <a:latin typeface="Aptos"/>
                <a:ea typeface="Aptos"/>
                <a:cs typeface="Aptos"/>
              </a:defRPr>
            </a:pPr>
            <a:r>
              <a:rPr sz="960" b="0">
                <a:solidFill>
                  <a:srgbClr val="17324A"/>
                </a:solidFill>
                <a:latin typeface="Aptos"/>
                <a:ea typeface="Aptos"/>
                <a:cs typeface="Aptos"/>
              </a:rPr>
              <a:t>12 s</a:t>
            </a:r>
          </a:p>
        </p:txBody>
      </p:sp>
      <p:sp>
        <p:nvSpPr>
          <p:cNvPr id="43" name="s18-cell-1-2">
            <a:extLst xmlns:a="http://schemas.openxmlformats.org/drawingml/2006/main">
              <a:ext uri="{FF2B5EF4-FFF2-40B4-BE49-F238E27FC236}">
                <a16:creationId xmlns:a16="http://schemas.microsoft.com/office/drawing/2014/main" id="{E4E23A8A-B329-4A0F-8EDB-B95D52D3EB1E}"/>
              </a:ext>
            </a:extLst>
          </p:cNvPr>
          <p:cNvSpPr>
            <a:spLocks xmlns:a="http://schemas.openxmlformats.org/drawingml/2006/main" noGrp="1"/>
          </p:cNvSpPr>
          <p:nvPr/>
        </p:nvSpPr>
        <p:spPr>
          <a:xfrm xmlns:a="http://schemas.openxmlformats.org/drawingml/2006/main">
            <a:off x="10210800" y="2686050"/>
            <a:ext cx="8572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ctr">
              <a:defRPr sz="960" b="0">
                <a:solidFill>
                  <a:srgbClr val="17324A"/>
                </a:solidFill>
                <a:latin typeface="Aptos"/>
                <a:ea typeface="Aptos"/>
                <a:cs typeface="Aptos"/>
              </a:defRPr>
            </a:pPr>
            <a:r>
              <a:rPr sz="960" b="0">
                <a:solidFill>
                  <a:srgbClr val="17324A"/>
                </a:solidFill>
                <a:latin typeface="Aptos"/>
                <a:ea typeface="Aptos"/>
                <a:cs typeface="Aptos"/>
              </a:rPr>
              <a:t>20 s</a:t>
            </a:r>
          </a:p>
        </p:txBody>
      </p:sp>
      <p:sp>
        <p:nvSpPr>
          <p:cNvPr id="44" name="s18-cell-2-0">
            <a:extLst xmlns:a="http://schemas.openxmlformats.org/drawingml/2006/main">
              <a:ext uri="{FF2B5EF4-FFF2-40B4-BE49-F238E27FC236}">
                <a16:creationId xmlns:a16="http://schemas.microsoft.com/office/drawing/2014/main" id="{FBA8BA28-5A81-437E-99E9-F5B040BD22DC}"/>
              </a:ext>
            </a:extLst>
          </p:cNvPr>
          <p:cNvSpPr>
            <a:spLocks xmlns:a="http://schemas.openxmlformats.org/drawingml/2006/main" noGrp="1"/>
          </p:cNvSpPr>
          <p:nvPr/>
        </p:nvSpPr>
        <p:spPr>
          <a:xfrm xmlns:a="http://schemas.openxmlformats.org/drawingml/2006/main">
            <a:off x="7372350" y="3200400"/>
            <a:ext cx="18859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60" b="1">
                <a:solidFill>
                  <a:srgbClr val="17324A"/>
                </a:solidFill>
                <a:latin typeface="Aptos"/>
                <a:ea typeface="Aptos"/>
                <a:cs typeface="Aptos"/>
              </a:defRPr>
            </a:pPr>
            <a:r>
              <a:rPr sz="960" b="1">
                <a:solidFill>
                  <a:srgbClr val="17324A"/>
                </a:solidFill>
                <a:latin typeface="Aptos"/>
                <a:ea typeface="Aptos"/>
                <a:cs typeface="Aptos"/>
              </a:rPr>
              <a:t>PitchRateLimiter_Harness</a:t>
            </a:r>
          </a:p>
        </p:txBody>
      </p:sp>
      <p:sp>
        <p:nvSpPr>
          <p:cNvPr id="45" name="s18-cell-2-1">
            <a:extLst xmlns:a="http://schemas.openxmlformats.org/drawingml/2006/main">
              <a:ext uri="{FF2B5EF4-FFF2-40B4-BE49-F238E27FC236}">
                <a16:creationId xmlns:a16="http://schemas.microsoft.com/office/drawing/2014/main" id="{04682356-AD72-446B-9883-744C1E899666}"/>
              </a:ext>
            </a:extLst>
          </p:cNvPr>
          <p:cNvSpPr>
            <a:spLocks xmlns:a="http://schemas.openxmlformats.org/drawingml/2006/main" noGrp="1"/>
          </p:cNvSpPr>
          <p:nvPr/>
        </p:nvSpPr>
        <p:spPr>
          <a:xfrm xmlns:a="http://schemas.openxmlformats.org/drawingml/2006/main">
            <a:off x="9258300" y="3200400"/>
            <a:ext cx="9525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ctr">
              <a:defRPr sz="960" b="0">
                <a:solidFill>
                  <a:srgbClr val="17324A"/>
                </a:solidFill>
                <a:latin typeface="Aptos"/>
                <a:ea typeface="Aptos"/>
                <a:cs typeface="Aptos"/>
              </a:defRPr>
            </a:pPr>
            <a:r>
              <a:rPr sz="960" b="0">
                <a:solidFill>
                  <a:srgbClr val="17324A"/>
                </a:solidFill>
                <a:latin typeface="Aptos"/>
                <a:ea typeface="Aptos"/>
                <a:cs typeface="Aptos"/>
              </a:rPr>
              <a:t>2 s</a:t>
            </a:r>
          </a:p>
        </p:txBody>
      </p:sp>
      <p:sp>
        <p:nvSpPr>
          <p:cNvPr id="46" name="s18-cell-2-2">
            <a:extLst xmlns:a="http://schemas.openxmlformats.org/drawingml/2006/main">
              <a:ext uri="{FF2B5EF4-FFF2-40B4-BE49-F238E27FC236}">
                <a16:creationId xmlns:a16="http://schemas.microsoft.com/office/drawing/2014/main" id="{CFF5906F-687C-4BE6-9958-A4009F3C9C34}"/>
              </a:ext>
            </a:extLst>
          </p:cNvPr>
          <p:cNvSpPr>
            <a:spLocks xmlns:a="http://schemas.openxmlformats.org/drawingml/2006/main" noGrp="1"/>
          </p:cNvSpPr>
          <p:nvPr/>
        </p:nvSpPr>
        <p:spPr>
          <a:xfrm xmlns:a="http://schemas.openxmlformats.org/drawingml/2006/main">
            <a:off x="10210800" y="3200400"/>
            <a:ext cx="85725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ctr">
              <a:defRPr sz="960" b="0">
                <a:solidFill>
                  <a:srgbClr val="17324A"/>
                </a:solidFill>
                <a:latin typeface="Aptos"/>
                <a:ea typeface="Aptos"/>
                <a:cs typeface="Aptos"/>
              </a:defRPr>
            </a:pPr>
            <a:r>
              <a:rPr sz="960" b="0">
                <a:solidFill>
                  <a:srgbClr val="17324A"/>
                </a:solidFill>
                <a:latin typeface="Aptos"/>
                <a:ea typeface="Aptos"/>
                <a:cs typeface="Aptos"/>
              </a:rPr>
              <a:t>0.36 s</a:t>
            </a:r>
          </a:p>
        </p:txBody>
      </p:sp>
      <p:sp>
        <p:nvSpPr>
          <p:cNvPr id="47" name="s18-cell-3-0">
            <a:extLst xmlns:a="http://schemas.openxmlformats.org/drawingml/2006/main">
              <a:ext uri="{FF2B5EF4-FFF2-40B4-BE49-F238E27FC236}">
                <a16:creationId xmlns:a16="http://schemas.microsoft.com/office/drawing/2014/main" id="{E751C916-D5BE-4945-B667-F58EF322B9C9}"/>
              </a:ext>
            </a:extLst>
          </p:cNvPr>
          <p:cNvSpPr>
            <a:spLocks xmlns:a="http://schemas.openxmlformats.org/drawingml/2006/main" noGrp="1"/>
          </p:cNvSpPr>
          <p:nvPr/>
        </p:nvSpPr>
        <p:spPr>
          <a:xfrm xmlns:a="http://schemas.openxmlformats.org/drawingml/2006/main">
            <a:off x="7372350" y="3714750"/>
            <a:ext cx="18859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l">
              <a:defRPr sz="960" b="1">
                <a:solidFill>
                  <a:srgbClr val="17324A"/>
                </a:solidFill>
                <a:latin typeface="Aptos"/>
                <a:ea typeface="Aptos"/>
                <a:cs typeface="Aptos"/>
              </a:defRPr>
            </a:pPr>
            <a:r>
              <a:rPr sz="960" b="1">
                <a:solidFill>
                  <a:srgbClr val="17324A"/>
                </a:solidFill>
                <a:latin typeface="Aptos"/>
                <a:ea typeface="Aptos"/>
                <a:cs typeface="Aptos"/>
              </a:rPr>
              <a:t>Fixed step</a:t>
            </a:r>
          </a:p>
        </p:txBody>
      </p:sp>
      <p:sp>
        <p:nvSpPr>
          <p:cNvPr id="48" name="s18-cell-3-1">
            <a:extLst xmlns:a="http://schemas.openxmlformats.org/drawingml/2006/main">
              <a:ext uri="{FF2B5EF4-FFF2-40B4-BE49-F238E27FC236}">
                <a16:creationId xmlns:a16="http://schemas.microsoft.com/office/drawing/2014/main" id="{57A64411-F110-4E18-AC6E-5029298E7267}"/>
              </a:ext>
            </a:extLst>
          </p:cNvPr>
          <p:cNvSpPr>
            <a:spLocks xmlns:a="http://schemas.openxmlformats.org/drawingml/2006/main" noGrp="1"/>
          </p:cNvSpPr>
          <p:nvPr/>
        </p:nvSpPr>
        <p:spPr>
          <a:xfrm xmlns:a="http://schemas.openxmlformats.org/drawingml/2006/main">
            <a:off x="9258300" y="3714750"/>
            <a:ext cx="95250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ctr">
              <a:defRPr sz="960" b="0">
                <a:solidFill>
                  <a:srgbClr val="17324A"/>
                </a:solidFill>
                <a:latin typeface="Aptos"/>
                <a:ea typeface="Aptos"/>
                <a:cs typeface="Aptos"/>
              </a:defRPr>
            </a:pPr>
            <a:r>
              <a:rPr sz="960" b="0">
                <a:solidFill>
                  <a:srgbClr val="17324A"/>
                </a:solidFill>
                <a:latin typeface="Aptos"/>
                <a:ea typeface="Aptos"/>
                <a:cs typeface="Aptos"/>
              </a:rPr>
              <a:t>Sample_time</a:t>
            </a:r>
          </a:p>
        </p:txBody>
      </p:sp>
      <p:sp>
        <p:nvSpPr>
          <p:cNvPr id="49" name="s18-cell-3-2">
            <a:extLst xmlns:a="http://schemas.openxmlformats.org/drawingml/2006/main">
              <a:ext uri="{FF2B5EF4-FFF2-40B4-BE49-F238E27FC236}">
                <a16:creationId xmlns:a16="http://schemas.microsoft.com/office/drawing/2014/main" id="{04E65E09-F4AC-4774-8C1D-4769650B071A}"/>
              </a:ext>
            </a:extLst>
          </p:cNvPr>
          <p:cNvSpPr>
            <a:spLocks xmlns:a="http://schemas.openxmlformats.org/drawingml/2006/main" noGrp="1"/>
          </p:cNvSpPr>
          <p:nvPr/>
        </p:nvSpPr>
        <p:spPr>
          <a:xfrm xmlns:a="http://schemas.openxmlformats.org/drawingml/2006/main">
            <a:off x="10210800" y="3714750"/>
            <a:ext cx="857250" cy="438150"/>
          </a:xfrm>
          <a:prstGeom xmlns:a="http://schemas.openxmlformats.org/drawingml/2006/main" prst="roundRect">
            <a:avLst>
              <a:gd name="adj" fmla="val 26087"/>
            </a:avLst>
          </a:prstGeom>
          <a:solidFill xmlns:a="http://schemas.openxmlformats.org/drawingml/2006/main">
            <a:srgbClr val="EEF4F8"/>
          </a:solidFill>
          <a:ln xmlns:a="http://schemas.openxmlformats.org/drawingml/2006/main" w="7620">
            <a:solidFill>
              <a:srgbClr val="C9D8E3"/>
            </a:solidFill>
            <a:prstDash val="solid"/>
          </a:ln>
        </p:spPr>
        <p:txBody>
          <a:bodyPr xmlns:a="http://schemas.openxmlformats.org/drawingml/2006/main" wrap="square" lIns="57150" tIns="28575" rIns="47625" bIns="28575" anchor="ctr">
            <a:noAutofit/>
          </a:bodyPr>
          <a:lstStyle xmlns:a="http://schemas.openxmlformats.org/drawingml/2006/main"/>
          <a:p xmlns:a="http://schemas.openxmlformats.org/drawingml/2006/main">
            <a:pPr algn="ctr">
              <a:defRPr sz="960" b="0">
                <a:solidFill>
                  <a:srgbClr val="17324A"/>
                </a:solidFill>
                <a:latin typeface="Aptos"/>
                <a:ea typeface="Aptos"/>
                <a:cs typeface="Aptos"/>
              </a:defRPr>
            </a:pPr>
            <a:r>
              <a:rPr sz="960" b="0">
                <a:solidFill>
                  <a:srgbClr val="17324A"/>
                </a:solidFill>
                <a:latin typeface="Aptos"/>
                <a:ea typeface="Aptos"/>
                <a:cs typeface="Aptos"/>
              </a:rPr>
              <a:t>0.02 s</a:t>
            </a:r>
          </a:p>
        </p:txBody>
      </p:sp>
      <p:sp>
        <p:nvSpPr>
          <p:cNvPr id="50" name="s18-review">
            <a:extLst xmlns:a="http://schemas.openxmlformats.org/drawingml/2006/main">
              <a:ext uri="{FF2B5EF4-FFF2-40B4-BE49-F238E27FC236}">
                <a16:creationId xmlns:a16="http://schemas.microsoft.com/office/drawing/2014/main" id="{45AD89F8-2D59-4C24-88B5-40143473F265}"/>
              </a:ext>
            </a:extLst>
          </p:cNvPr>
          <p:cNvSpPr>
            <a:spLocks xmlns:a="http://schemas.openxmlformats.org/drawingml/2006/main" noGrp="1"/>
          </p:cNvSpPr>
          <p:nvPr/>
        </p:nvSpPr>
        <p:spPr>
          <a:xfrm xmlns:a="http://schemas.openxmlformats.org/drawingml/2006/main">
            <a:off x="7181850" y="4743450"/>
            <a:ext cx="4133850" cy="819150"/>
          </a:xfrm>
          <a:prstGeom xmlns:a="http://schemas.openxmlformats.org/drawingml/2006/main" prst="roundRect">
            <a:avLst>
              <a:gd name="adj" fmla="val 13953"/>
            </a:avLst>
          </a:prstGeom>
          <a:solidFill xmlns:a="http://schemas.openxmlformats.org/drawingml/2006/main">
            <a:srgbClr val="DFF6F8"/>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35" b="1">
                <a:solidFill>
                  <a:srgbClr val="071521"/>
                </a:solidFill>
                <a:latin typeface="Aptos"/>
                <a:ea typeface="Aptos"/>
                <a:cs typeface="Aptos"/>
              </a:defRPr>
            </a:pPr>
            <a:r>
              <a:rPr sz="1035" b="1">
                <a:solidFill>
                  <a:srgbClr val="071521"/>
                </a:solidFill>
                <a:latin typeface="Aptos"/>
                <a:ea typeface="Aptos"/>
                <a:cs typeface="Aptos"/>
              </a:rPr>
              <a:t>REVIEW  •  Solver • Data Import/Export • Diagnostics • Hardware Implementation • Model Referencing • Code Generation</a:t>
            </a:r>
          </a:p>
        </p:txBody>
      </p:sp>
      <p:sp>
        <p:nvSpPr>
          <p:cNvPr id="51" name="s18-boundary">
            <a:extLst xmlns:a="http://schemas.openxmlformats.org/drawingml/2006/main">
              <a:ext uri="{FF2B5EF4-FFF2-40B4-BE49-F238E27FC236}">
                <a16:creationId xmlns:a16="http://schemas.microsoft.com/office/drawing/2014/main" id="{703C28E9-51A6-4D69-A3A5-FA4E31790824}"/>
              </a:ext>
            </a:extLst>
          </p:cNvPr>
          <p:cNvSpPr>
            <a:spLocks xmlns:a="http://schemas.openxmlformats.org/drawingml/2006/main" noGrp="1"/>
          </p:cNvSpPr>
          <p:nvPr/>
        </p:nvSpPr>
        <p:spPr>
          <a:xfrm xmlns:a="http://schemas.openxmlformats.org/drawingml/2006/main">
            <a:off x="685800" y="575310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Opening Model Settings is inspection—not a verification result. Record the exact saved configuration and any SimulationInput override.</a:t>
            </a:r>
          </a:p>
        </p:txBody>
      </p:sp>
    </p:spTree>
    <p:extLst>
      <p:ext uri="{BB962C8B-B14F-4D97-AF65-F5344CB8AC3E}">
        <p14:creationId xmlns:p14="http://schemas.microsoft.com/office/powerpoint/2010/main" val="354341949"/>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CONTROLLED CREATION LAB</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Ctrl+D is the first acceptance gate—and the safest recovery point</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17" name="s19-command">
            <a:extLst xmlns:a="http://schemas.openxmlformats.org/drawingml/2006/main">
              <a:ext uri="{FF2B5EF4-FFF2-40B4-BE49-F238E27FC236}">
                <a16:creationId xmlns:a16="http://schemas.microsoft.com/office/drawing/2014/main" id="{9D174983-5D76-4924-9420-B94DFF5D316D}"/>
              </a:ext>
            </a:extLst>
          </p:cNvPr>
          <p:cNvSpPr>
            <a:spLocks xmlns:a="http://schemas.openxmlformats.org/drawingml/2006/main" noGrp="1"/>
          </p:cNvSpPr>
          <p:nvPr/>
        </p:nvSpPr>
        <p:spPr>
          <a:xfrm xmlns:a="http://schemas.openxmlformats.org/drawingml/2006/main">
            <a:off x="685800" y="1428750"/>
            <a:ext cx="1082040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500" b="1">
                <a:solidFill>
                  <a:srgbClr val="2D6CDF"/>
                </a:solidFill>
                <a:latin typeface="Consolas"/>
                <a:ea typeface="Consolas"/>
                <a:cs typeface="Consolas"/>
              </a:defRPr>
            </a:pPr>
            <a:r>
              <a:rPr sz="1500" b="1">
                <a:solidFill>
                  <a:srgbClr val="2D6CDF"/>
                </a:solidFill>
                <a:latin typeface="Consolas"/>
                <a:ea typeface="Consolas"/>
                <a:cs typeface="Consolas"/>
              </a:rPr>
              <a:t>Ctrl+D  ≡  set_param(model,'SimulationCommand','update')</a:t>
            </a:r>
          </a:p>
        </p:txBody>
      </p:sp>
      <p:sp>
        <p:nvSpPr>
          <p:cNvPr id="18" name="s19-check-0">
            <a:extLst xmlns:a="http://schemas.openxmlformats.org/drawingml/2006/main">
              <a:ext uri="{FF2B5EF4-FFF2-40B4-BE49-F238E27FC236}">
                <a16:creationId xmlns:a16="http://schemas.microsoft.com/office/drawing/2014/main" id="{DB01469D-7B9C-48A0-9FCD-7873A15E20E4}"/>
              </a:ext>
            </a:extLst>
          </p:cNvPr>
          <p:cNvSpPr>
            <a:spLocks xmlns:a="http://schemas.openxmlformats.org/drawingml/2006/main" noGrp="1"/>
          </p:cNvSpPr>
          <p:nvPr/>
        </p:nvSpPr>
        <p:spPr>
          <a:xfrm xmlns:a="http://schemas.openxmlformats.org/drawingml/2006/main">
            <a:off x="685800" y="2286000"/>
            <a:ext cx="20002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1430">
            <a:solidFill>
              <a:srgbClr val="20B7C5"/>
            </a:solidFill>
            <a:prstDash val="solid"/>
          </a:ln>
        </p:spPr>
      </p:sp>
      <p:sp>
        <p:nvSpPr>
          <p:cNvPr id="19" name="s19-check-title-0">
            <a:extLst xmlns:a="http://schemas.openxmlformats.org/drawingml/2006/main">
              <a:ext uri="{FF2B5EF4-FFF2-40B4-BE49-F238E27FC236}">
                <a16:creationId xmlns:a16="http://schemas.microsoft.com/office/drawing/2014/main" id="{DF9E3C68-1505-4A0B-86C3-39D6FD38C888}"/>
              </a:ext>
            </a:extLst>
          </p:cNvPr>
          <p:cNvSpPr>
            <a:spLocks xmlns:a="http://schemas.openxmlformats.org/drawingml/2006/main" noGrp="1"/>
          </p:cNvSpPr>
          <p:nvPr/>
        </p:nvSpPr>
        <p:spPr>
          <a:xfrm xmlns:a="http://schemas.openxmlformats.org/drawingml/2006/main">
            <a:off x="781050" y="24384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0B7C5"/>
                </a:solidFill>
                <a:latin typeface="Aptos"/>
                <a:ea typeface="Aptos"/>
                <a:cs typeface="Aptos"/>
              </a:defRPr>
            </a:pPr>
            <a:r>
              <a:rPr sz="1065" b="1">
                <a:solidFill>
                  <a:srgbClr val="20B7C5"/>
                </a:solidFill>
                <a:latin typeface="Aptos"/>
                <a:ea typeface="Aptos"/>
                <a:cs typeface="Aptos"/>
              </a:rPr>
              <a:t>PARAMETERS</a:t>
            </a:r>
          </a:p>
        </p:txBody>
      </p:sp>
      <p:sp>
        <p:nvSpPr>
          <p:cNvPr id="20" name="s19-check-body-0">
            <a:extLst xmlns:a="http://schemas.openxmlformats.org/drawingml/2006/main">
              <a:ext uri="{FF2B5EF4-FFF2-40B4-BE49-F238E27FC236}">
                <a16:creationId xmlns:a16="http://schemas.microsoft.com/office/drawing/2014/main" id="{463F6A3E-4CE6-41FB-AC5D-F70F3444847E}"/>
              </a:ext>
            </a:extLst>
          </p:cNvPr>
          <p:cNvSpPr>
            <a:spLocks xmlns:a="http://schemas.openxmlformats.org/drawingml/2006/main" noGrp="1"/>
          </p:cNvSpPr>
          <p:nvPr/>
        </p:nvSpPr>
        <p:spPr>
          <a:xfrm xmlns:a="http://schemas.openxmlformats.org/drawingml/2006/main">
            <a:off x="819150" y="2857500"/>
            <a:ext cx="1733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17324A"/>
                </a:solidFill>
                <a:latin typeface="Aptos"/>
                <a:ea typeface="Aptos"/>
                <a:cs typeface="Aptos"/>
              </a:defRPr>
            </a:pPr>
            <a:r>
              <a:rPr sz="1013" b="0">
                <a:solidFill>
                  <a:srgbClr val="17324A"/>
                </a:solidFill>
                <a:latin typeface="Aptos"/>
                <a:ea typeface="Aptos"/>
                <a:cs typeface="Aptos"/>
              </a:rPr>
              <a:t>dictionary entries resolve</a:t>
            </a:r>
          </a:p>
        </p:txBody>
      </p:sp>
      <p:sp>
        <p:nvSpPr>
          <p:cNvPr id="21" name="s19-check-1">
            <a:extLst xmlns:a="http://schemas.openxmlformats.org/drawingml/2006/main">
              <a:ext uri="{FF2B5EF4-FFF2-40B4-BE49-F238E27FC236}">
                <a16:creationId xmlns:a16="http://schemas.microsoft.com/office/drawing/2014/main" id="{D90B5412-01A3-440F-9906-D92071130EA5}"/>
              </a:ext>
            </a:extLst>
          </p:cNvPr>
          <p:cNvSpPr>
            <a:spLocks xmlns:a="http://schemas.openxmlformats.org/drawingml/2006/main" noGrp="1"/>
          </p:cNvSpPr>
          <p:nvPr/>
        </p:nvSpPr>
        <p:spPr>
          <a:xfrm xmlns:a="http://schemas.openxmlformats.org/drawingml/2006/main">
            <a:off x="2876550" y="2286000"/>
            <a:ext cx="20002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1430">
            <a:solidFill>
              <a:srgbClr val="20B7C5"/>
            </a:solidFill>
            <a:prstDash val="solid"/>
          </a:ln>
        </p:spPr>
      </p:sp>
      <p:sp>
        <p:nvSpPr>
          <p:cNvPr id="22" name="s19-check-title-1">
            <a:extLst xmlns:a="http://schemas.openxmlformats.org/drawingml/2006/main">
              <a:ext uri="{FF2B5EF4-FFF2-40B4-BE49-F238E27FC236}">
                <a16:creationId xmlns:a16="http://schemas.microsoft.com/office/drawing/2014/main" id="{8F97B137-FE65-4DB1-94B6-EC323FCBD512}"/>
              </a:ext>
            </a:extLst>
          </p:cNvPr>
          <p:cNvSpPr>
            <a:spLocks xmlns:a="http://schemas.openxmlformats.org/drawingml/2006/main" noGrp="1"/>
          </p:cNvSpPr>
          <p:nvPr/>
        </p:nvSpPr>
        <p:spPr>
          <a:xfrm xmlns:a="http://schemas.openxmlformats.org/drawingml/2006/main">
            <a:off x="2971800" y="24384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0B7C5"/>
                </a:solidFill>
                <a:latin typeface="Aptos"/>
                <a:ea typeface="Aptos"/>
                <a:cs typeface="Aptos"/>
              </a:defRPr>
            </a:pPr>
            <a:r>
              <a:rPr sz="1065" b="1">
                <a:solidFill>
                  <a:srgbClr val="20B7C5"/>
                </a:solidFill>
                <a:latin typeface="Aptos"/>
                <a:ea typeface="Aptos"/>
                <a:cs typeface="Aptos"/>
              </a:rPr>
              <a:t>INTERFACES</a:t>
            </a:r>
          </a:p>
        </p:txBody>
      </p:sp>
      <p:sp>
        <p:nvSpPr>
          <p:cNvPr id="23" name="s19-check-body-1">
            <a:extLst xmlns:a="http://schemas.openxmlformats.org/drawingml/2006/main">
              <a:ext uri="{FF2B5EF4-FFF2-40B4-BE49-F238E27FC236}">
                <a16:creationId xmlns:a16="http://schemas.microsoft.com/office/drawing/2014/main" id="{CCA0E079-A8EF-489C-8922-2EB237270621}"/>
              </a:ext>
            </a:extLst>
          </p:cNvPr>
          <p:cNvSpPr>
            <a:spLocks xmlns:a="http://schemas.openxmlformats.org/drawingml/2006/main" noGrp="1"/>
          </p:cNvSpPr>
          <p:nvPr/>
        </p:nvSpPr>
        <p:spPr>
          <a:xfrm xmlns:a="http://schemas.openxmlformats.org/drawingml/2006/main">
            <a:off x="3009900" y="2857500"/>
            <a:ext cx="1733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17324A"/>
                </a:solidFill>
                <a:latin typeface="Aptos"/>
                <a:ea typeface="Aptos"/>
                <a:cs typeface="Aptos"/>
              </a:defRPr>
            </a:pPr>
            <a:r>
              <a:rPr sz="1013" b="0">
                <a:solidFill>
                  <a:srgbClr val="17324A"/>
                </a:solidFill>
                <a:latin typeface="Aptos"/>
                <a:ea typeface="Aptos"/>
                <a:cs typeface="Aptos"/>
              </a:rPr>
              <a:t>types, dimensions, and units propagate</a:t>
            </a:r>
          </a:p>
        </p:txBody>
      </p:sp>
      <p:sp>
        <p:nvSpPr>
          <p:cNvPr id="24" name="s19-check-2">
            <a:extLst xmlns:a="http://schemas.openxmlformats.org/drawingml/2006/main">
              <a:ext uri="{FF2B5EF4-FFF2-40B4-BE49-F238E27FC236}">
                <a16:creationId xmlns:a16="http://schemas.microsoft.com/office/drawing/2014/main" id="{E16589FE-CA90-4EE4-980C-9475336C6485}"/>
              </a:ext>
            </a:extLst>
          </p:cNvPr>
          <p:cNvSpPr>
            <a:spLocks xmlns:a="http://schemas.openxmlformats.org/drawingml/2006/main" noGrp="1"/>
          </p:cNvSpPr>
          <p:nvPr/>
        </p:nvSpPr>
        <p:spPr>
          <a:xfrm xmlns:a="http://schemas.openxmlformats.org/drawingml/2006/main">
            <a:off x="5067300" y="2286000"/>
            <a:ext cx="20002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1430">
            <a:solidFill>
              <a:srgbClr val="20B7C5"/>
            </a:solidFill>
            <a:prstDash val="solid"/>
          </a:ln>
        </p:spPr>
      </p:sp>
      <p:sp>
        <p:nvSpPr>
          <p:cNvPr id="25" name="s19-check-title-2">
            <a:extLst xmlns:a="http://schemas.openxmlformats.org/drawingml/2006/main">
              <a:ext uri="{FF2B5EF4-FFF2-40B4-BE49-F238E27FC236}">
                <a16:creationId xmlns:a16="http://schemas.microsoft.com/office/drawing/2014/main" id="{D51828FF-E6F6-414C-80DE-8459047E71D4}"/>
              </a:ext>
            </a:extLst>
          </p:cNvPr>
          <p:cNvSpPr>
            <a:spLocks xmlns:a="http://schemas.openxmlformats.org/drawingml/2006/main" noGrp="1"/>
          </p:cNvSpPr>
          <p:nvPr/>
        </p:nvSpPr>
        <p:spPr>
          <a:xfrm xmlns:a="http://schemas.openxmlformats.org/drawingml/2006/main">
            <a:off x="5162550" y="24384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0B7C5"/>
                </a:solidFill>
                <a:latin typeface="Aptos"/>
                <a:ea typeface="Aptos"/>
                <a:cs typeface="Aptos"/>
              </a:defRPr>
            </a:pPr>
            <a:r>
              <a:rPr sz="1065" b="1">
                <a:solidFill>
                  <a:srgbClr val="20B7C5"/>
                </a:solidFill>
                <a:latin typeface="Aptos"/>
                <a:ea typeface="Aptos"/>
                <a:cs typeface="Aptos"/>
              </a:rPr>
              <a:t>TIMING</a:t>
            </a:r>
          </a:p>
        </p:txBody>
      </p:sp>
      <p:sp>
        <p:nvSpPr>
          <p:cNvPr id="26" name="s19-check-body-2">
            <a:extLst xmlns:a="http://schemas.openxmlformats.org/drawingml/2006/main">
              <a:ext uri="{FF2B5EF4-FFF2-40B4-BE49-F238E27FC236}">
                <a16:creationId xmlns:a16="http://schemas.microsoft.com/office/drawing/2014/main" id="{C6AB0A1D-6585-4732-B928-06A6B69A27D9}"/>
              </a:ext>
            </a:extLst>
          </p:cNvPr>
          <p:cNvSpPr>
            <a:spLocks xmlns:a="http://schemas.openxmlformats.org/drawingml/2006/main" noGrp="1"/>
          </p:cNvSpPr>
          <p:nvPr/>
        </p:nvSpPr>
        <p:spPr>
          <a:xfrm xmlns:a="http://schemas.openxmlformats.org/drawingml/2006/main">
            <a:off x="5200650" y="2857500"/>
            <a:ext cx="1733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17324A"/>
                </a:solidFill>
                <a:latin typeface="Aptos"/>
                <a:ea typeface="Aptos"/>
                <a:cs typeface="Aptos"/>
              </a:defRPr>
            </a:pPr>
            <a:r>
              <a:rPr sz="1013" b="0">
                <a:solidFill>
                  <a:srgbClr val="17324A"/>
                </a:solidFill>
                <a:latin typeface="Aptos"/>
                <a:ea typeface="Aptos"/>
                <a:cs typeface="Aptos"/>
              </a:rPr>
              <a:t>sample times compile at 0.02 s</a:t>
            </a:r>
          </a:p>
        </p:txBody>
      </p:sp>
      <p:sp>
        <p:nvSpPr>
          <p:cNvPr id="27" name="s19-check-3">
            <a:extLst xmlns:a="http://schemas.openxmlformats.org/drawingml/2006/main">
              <a:ext uri="{FF2B5EF4-FFF2-40B4-BE49-F238E27FC236}">
                <a16:creationId xmlns:a16="http://schemas.microsoft.com/office/drawing/2014/main" id="{A975E155-2592-4C0A-87BA-171FE4C433D4}"/>
              </a:ext>
            </a:extLst>
          </p:cNvPr>
          <p:cNvSpPr>
            <a:spLocks xmlns:a="http://schemas.openxmlformats.org/drawingml/2006/main" noGrp="1"/>
          </p:cNvSpPr>
          <p:nvPr/>
        </p:nvSpPr>
        <p:spPr>
          <a:xfrm xmlns:a="http://schemas.openxmlformats.org/drawingml/2006/main">
            <a:off x="7258050" y="2286000"/>
            <a:ext cx="20002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1430">
            <a:solidFill>
              <a:srgbClr val="20B7C5"/>
            </a:solidFill>
            <a:prstDash val="solid"/>
          </a:ln>
        </p:spPr>
      </p:sp>
      <p:sp>
        <p:nvSpPr>
          <p:cNvPr id="28" name="s19-check-title-3">
            <a:extLst xmlns:a="http://schemas.openxmlformats.org/drawingml/2006/main">
              <a:ext uri="{FF2B5EF4-FFF2-40B4-BE49-F238E27FC236}">
                <a16:creationId xmlns:a16="http://schemas.microsoft.com/office/drawing/2014/main" id="{AB18569A-395F-470D-8CA4-2511FD580059}"/>
              </a:ext>
            </a:extLst>
          </p:cNvPr>
          <p:cNvSpPr>
            <a:spLocks xmlns:a="http://schemas.openxmlformats.org/drawingml/2006/main" noGrp="1"/>
          </p:cNvSpPr>
          <p:nvPr/>
        </p:nvSpPr>
        <p:spPr>
          <a:xfrm xmlns:a="http://schemas.openxmlformats.org/drawingml/2006/main">
            <a:off x="7353300" y="24384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0B7C5"/>
                </a:solidFill>
                <a:latin typeface="Aptos"/>
                <a:ea typeface="Aptos"/>
                <a:cs typeface="Aptos"/>
              </a:defRPr>
            </a:pPr>
            <a:r>
              <a:rPr sz="1065" b="1">
                <a:solidFill>
                  <a:srgbClr val="20B7C5"/>
                </a:solidFill>
                <a:latin typeface="Aptos"/>
                <a:ea typeface="Aptos"/>
                <a:cs typeface="Aptos"/>
              </a:rPr>
              <a:t>REFERENCES</a:t>
            </a:r>
          </a:p>
        </p:txBody>
      </p:sp>
      <p:sp>
        <p:nvSpPr>
          <p:cNvPr id="29" name="s19-check-body-3">
            <a:extLst xmlns:a="http://schemas.openxmlformats.org/drawingml/2006/main">
              <a:ext uri="{FF2B5EF4-FFF2-40B4-BE49-F238E27FC236}">
                <a16:creationId xmlns:a16="http://schemas.microsoft.com/office/drawing/2014/main" id="{3B7FB2FF-F77C-4BAB-B3FC-1ACF64583A69}"/>
              </a:ext>
            </a:extLst>
          </p:cNvPr>
          <p:cNvSpPr>
            <a:spLocks xmlns:a="http://schemas.openxmlformats.org/drawingml/2006/main" noGrp="1"/>
          </p:cNvSpPr>
          <p:nvPr/>
        </p:nvSpPr>
        <p:spPr>
          <a:xfrm xmlns:a="http://schemas.openxmlformats.org/drawingml/2006/main">
            <a:off x="7391400" y="2857500"/>
            <a:ext cx="1733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17324A"/>
                </a:solidFill>
                <a:latin typeface="Aptos"/>
                <a:ea typeface="Aptos"/>
                <a:cs typeface="Aptos"/>
              </a:defRPr>
            </a:pPr>
            <a:r>
              <a:rPr sz="1013" b="0">
                <a:solidFill>
                  <a:srgbClr val="17324A"/>
                </a:solidFill>
                <a:latin typeface="Aptos"/>
                <a:ea typeface="Aptos"/>
                <a:cs typeface="Aptos"/>
              </a:rPr>
              <a:t>Model blocks resolve in saved Normal mode</a:t>
            </a:r>
          </a:p>
        </p:txBody>
      </p:sp>
      <p:sp>
        <p:nvSpPr>
          <p:cNvPr id="30" name="s19-check-4">
            <a:extLst xmlns:a="http://schemas.openxmlformats.org/drawingml/2006/main">
              <a:ext uri="{FF2B5EF4-FFF2-40B4-BE49-F238E27FC236}">
                <a16:creationId xmlns:a16="http://schemas.microsoft.com/office/drawing/2014/main" id="{DC41521B-AEF1-4F1E-BAE6-95ECE7EC88B2}"/>
              </a:ext>
            </a:extLst>
          </p:cNvPr>
          <p:cNvSpPr>
            <a:spLocks xmlns:a="http://schemas.openxmlformats.org/drawingml/2006/main" noGrp="1"/>
          </p:cNvSpPr>
          <p:nvPr/>
        </p:nvSpPr>
        <p:spPr>
          <a:xfrm xmlns:a="http://schemas.openxmlformats.org/drawingml/2006/main">
            <a:off x="9448800" y="2286000"/>
            <a:ext cx="20002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1430">
            <a:solidFill>
              <a:srgbClr val="20B7C5"/>
            </a:solidFill>
            <a:prstDash val="solid"/>
          </a:ln>
        </p:spPr>
      </p:sp>
      <p:sp>
        <p:nvSpPr>
          <p:cNvPr id="31" name="s19-check-title-4">
            <a:extLst xmlns:a="http://schemas.openxmlformats.org/drawingml/2006/main">
              <a:ext uri="{FF2B5EF4-FFF2-40B4-BE49-F238E27FC236}">
                <a16:creationId xmlns:a16="http://schemas.microsoft.com/office/drawing/2014/main" id="{91717B8C-86B8-41AC-9484-8BCFE5BFBE69}"/>
              </a:ext>
            </a:extLst>
          </p:cNvPr>
          <p:cNvSpPr>
            <a:spLocks xmlns:a="http://schemas.openxmlformats.org/drawingml/2006/main" noGrp="1"/>
          </p:cNvSpPr>
          <p:nvPr/>
        </p:nvSpPr>
        <p:spPr>
          <a:xfrm xmlns:a="http://schemas.openxmlformats.org/drawingml/2006/main">
            <a:off x="9544050" y="24384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0B7C5"/>
                </a:solidFill>
                <a:latin typeface="Aptos"/>
                <a:ea typeface="Aptos"/>
                <a:cs typeface="Aptos"/>
              </a:defRPr>
            </a:pPr>
            <a:r>
              <a:rPr sz="1065" b="1">
                <a:solidFill>
                  <a:srgbClr val="20B7C5"/>
                </a:solidFill>
                <a:latin typeface="Aptos"/>
                <a:ea typeface="Aptos"/>
                <a:cs typeface="Aptos"/>
              </a:rPr>
              <a:t>DIAGNOSTICS</a:t>
            </a:r>
          </a:p>
        </p:txBody>
      </p:sp>
      <p:sp>
        <p:nvSpPr>
          <p:cNvPr id="32" name="s19-check-body-4">
            <a:extLst xmlns:a="http://schemas.openxmlformats.org/drawingml/2006/main">
              <a:ext uri="{FF2B5EF4-FFF2-40B4-BE49-F238E27FC236}">
                <a16:creationId xmlns:a16="http://schemas.microsoft.com/office/drawing/2014/main" id="{B9812F35-9020-4EAA-8635-5FA6F0107250}"/>
              </a:ext>
            </a:extLst>
          </p:cNvPr>
          <p:cNvSpPr>
            <a:spLocks xmlns:a="http://schemas.openxmlformats.org/drawingml/2006/main" noGrp="1"/>
          </p:cNvSpPr>
          <p:nvPr/>
        </p:nvSpPr>
        <p:spPr>
          <a:xfrm xmlns:a="http://schemas.openxmlformats.org/drawingml/2006/main">
            <a:off x="9582150" y="2857500"/>
            <a:ext cx="1733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17324A"/>
                </a:solidFill>
                <a:latin typeface="Aptos"/>
                <a:ea typeface="Aptos"/>
                <a:cs typeface="Aptos"/>
              </a:defRPr>
            </a:pPr>
            <a:r>
              <a:rPr sz="1013" b="0">
                <a:solidFill>
                  <a:srgbClr val="17324A"/>
                </a:solidFill>
                <a:latin typeface="Aptos"/>
                <a:ea typeface="Aptos"/>
                <a:cs typeface="Aptos"/>
              </a:rPr>
              <a:t>no unexpected warning or error remains</a:t>
            </a:r>
          </a:p>
        </p:txBody>
      </p:sp>
      <p:sp>
        <p:nvSpPr>
          <p:cNvPr id="33" name="s19-recovery-title">
            <a:extLst xmlns:a="http://schemas.openxmlformats.org/drawingml/2006/main">
              <a:ext uri="{FF2B5EF4-FFF2-40B4-BE49-F238E27FC236}">
                <a16:creationId xmlns:a16="http://schemas.microsoft.com/office/drawing/2014/main" id="{035852CE-06D1-45EF-9C8F-9F61AAA5487B}"/>
              </a:ext>
            </a:extLst>
          </p:cNvPr>
          <p:cNvSpPr>
            <a:spLocks xmlns:a="http://schemas.openxmlformats.org/drawingml/2006/main" noGrp="1"/>
          </p:cNvSpPr>
          <p:nvPr/>
        </p:nvSpPr>
        <p:spPr>
          <a:xfrm xmlns:a="http://schemas.openxmlformats.org/drawingml/2006/main">
            <a:off x="685800" y="40576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D75A64"/>
                </a:solidFill>
                <a:latin typeface="Aptos"/>
                <a:ea typeface="Aptos"/>
                <a:cs typeface="Aptos"/>
              </a:defRPr>
            </a:pPr>
            <a:r>
              <a:rPr sz="1275" b="1">
                <a:solidFill>
                  <a:srgbClr val="D75A64"/>
                </a:solidFill>
                <a:latin typeface="Aptos"/>
                <a:ea typeface="Aptos"/>
                <a:cs typeface="Aptos"/>
              </a:rPr>
              <a:t>IF UPDATE FAILS</a:t>
            </a:r>
          </a:p>
        </p:txBody>
      </p:sp>
      <p:sp>
        <p:nvSpPr>
          <p:cNvPr id="34" name="s19-recovery">
            <a:extLst xmlns:a="http://schemas.openxmlformats.org/drawingml/2006/main">
              <a:ext uri="{FF2B5EF4-FFF2-40B4-BE49-F238E27FC236}">
                <a16:creationId xmlns:a16="http://schemas.microsoft.com/office/drawing/2014/main" id="{76A007E9-DADB-4208-BFE7-D4963B53C746}"/>
              </a:ext>
            </a:extLst>
          </p:cNvPr>
          <p:cNvSpPr>
            <a:spLocks xmlns:a="http://schemas.openxmlformats.org/drawingml/2006/main" noGrp="1"/>
          </p:cNvSpPr>
          <p:nvPr/>
        </p:nvSpPr>
        <p:spPr>
          <a:xfrm xmlns:a="http://schemas.openxmlformats.org/drawingml/2006/main">
            <a:off x="685800" y="4457700"/>
            <a:ext cx="10820400" cy="1047750"/>
          </a:xfrm>
          <a:prstGeom xmlns:a="http://schemas.openxmlformats.org/drawingml/2006/main" prst="roundRect">
            <a:avLst>
              <a:gd name="adj" fmla="val 10909"/>
            </a:avLst>
          </a:prstGeom>
          <a:solidFill xmlns:a="http://schemas.openxmlformats.org/drawingml/2006/main">
            <a:srgbClr val="FBE7E9"/>
          </a:solidFill>
          <a:ln xmlns:a="http://schemas.openxmlformats.org/drawingml/2006/main" w="12383">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75" b="1">
                <a:solidFill>
                  <a:srgbClr val="071521"/>
                </a:solidFill>
                <a:latin typeface="Aptos"/>
                <a:ea typeface="Aptos"/>
                <a:cs typeface="Aptos"/>
              </a:defRPr>
            </a:pPr>
            <a:r>
              <a:rPr sz="1275" b="1">
                <a:solidFill>
                  <a:srgbClr val="071521"/>
                </a:solidFill>
                <a:latin typeface="Aptos"/>
                <a:ea typeface="Aptos"/>
                <a:cs typeface="Aptos"/>
              </a:rPr>
              <a:t>1  read the first diagnostic  →  2  classify path/data/interface/timing/reference  →  3  correct the root cause  →  4  Ctrl+D again  →  5  only then simulate or build</a:t>
            </a:r>
          </a:p>
        </p:txBody>
      </p:sp>
      <p:sp>
        <p:nvSpPr>
          <p:cNvPr id="35" name="s19-boundary">
            <a:extLst xmlns:a="http://schemas.openxmlformats.org/drawingml/2006/main">
              <a:ext uri="{FF2B5EF4-FFF2-40B4-BE49-F238E27FC236}">
                <a16:creationId xmlns:a16="http://schemas.microsoft.com/office/drawing/2014/main" id="{091E584A-7884-4574-91C3-909EA621E793}"/>
              </a:ext>
            </a:extLst>
          </p:cNvPr>
          <p:cNvSpPr>
            <a:spLocks xmlns:a="http://schemas.openxmlformats.org/drawingml/2006/main" noGrp="1"/>
          </p:cNvSpPr>
          <p:nvPr/>
        </p:nvSpPr>
        <p:spPr>
          <a:xfrm xmlns:a="http://schemas.openxmlformats.org/drawingml/2006/main">
            <a:off x="685800" y="573405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Update evaluates and compiles the diagram without advancing simulation time and without generating code.</a:t>
            </a:r>
          </a:p>
        </p:txBody>
      </p:sp>
    </p:spTree>
    <p:extLst>
      <p:ext uri="{BB962C8B-B14F-4D97-AF65-F5344CB8AC3E}">
        <p14:creationId xmlns:p14="http://schemas.microsoft.com/office/powerpoint/2010/main" val="64423345"/>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HARNESS &amp; BUILD</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The delivered and learner harnesses isolate different UUTs</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20" name="s29-frame">
            <a:extLst xmlns:a="http://schemas.openxmlformats.org/drawingml/2006/main">
              <a:ext uri="{FF2B5EF4-FFF2-40B4-BE49-F238E27FC236}">
                <a16:creationId xmlns:a16="http://schemas.microsoft.com/office/drawing/2014/main" id="{7BB86507-AC25-4E37-A3F3-4D8B1E8F8F09}"/>
              </a:ext>
            </a:extLst>
          </p:cNvPr>
          <p:cNvSpPr>
            <a:spLocks xmlns:a="http://schemas.openxmlformats.org/drawingml/2006/main" noGrp="1"/>
          </p:cNvSpPr>
          <p:nvPr/>
        </p:nvSpPr>
        <p:spPr>
          <a:xfrm xmlns:a="http://schemas.openxmlformats.org/drawingml/2006/main">
            <a:off x="609600" y="1352550"/>
            <a:ext cx="109728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13335">
            <a:solidFill>
              <a:srgbClr val="C9D8E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f417f4f9c624297"/>
          <a:stretch xmlns:a="http://schemas.openxmlformats.org/drawingml/2006/main"/>
        </p:blipFill>
        <p:spPr>
          <a:xfrm xmlns:a="http://schemas.openxmlformats.org/drawingml/2006/main">
            <a:off x="2552507" y="1438275"/>
            <a:ext cx="7086986" cy="4152900"/>
          </a:xfrm>
          <a:prstGeom xmlns:a="http://schemas.openxmlformats.org/drawingml/2006/main" prst="rect">
            <a:avLst/>
          </a:prstGeom>
        </p:spPr>
      </p:pic>
      <p:sp>
        <p:nvSpPr>
          <p:cNvPr id="22" name="s29-caption">
            <a:extLst xmlns:a="http://schemas.openxmlformats.org/drawingml/2006/main">
              <a:ext uri="{FF2B5EF4-FFF2-40B4-BE49-F238E27FC236}">
                <a16:creationId xmlns:a16="http://schemas.microsoft.com/office/drawing/2014/main" id="{6EE37C57-387D-4BE0-B1CD-781A408B1A52}"/>
              </a:ext>
            </a:extLst>
          </p:cNvPr>
          <p:cNvSpPr>
            <a:spLocks xmlns:a="http://schemas.openxmlformats.org/drawingml/2006/main" noGrp="1"/>
          </p:cNvSpPr>
          <p:nvPr/>
        </p:nvSpPr>
        <p:spPr>
          <a:xfrm xmlns:a="http://schemas.openxmlformats.org/drawingml/2006/main">
            <a:off x="685800" y="5772150"/>
            <a:ext cx="10820400" cy="419100"/>
          </a:xfrm>
          <a:prstGeom xmlns:a="http://schemas.openxmlformats.org/drawingml/2006/main" prst="roundRect">
            <a:avLst>
              <a:gd name="adj" fmla="val 27273"/>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75" b="1">
                <a:solidFill>
                  <a:srgbClr val="071521"/>
                </a:solidFill>
                <a:latin typeface="Aptos"/>
                <a:ea typeface="Aptos"/>
                <a:cs typeface="Aptos"/>
              </a:defRPr>
            </a:pPr>
            <a:r>
              <a:rPr sz="975" b="1">
                <a:solidFill>
                  <a:srgbClr val="071521"/>
                </a:solidFill>
                <a:latin typeface="Aptos"/>
                <a:ea typeface="Aptos"/>
                <a:cs typeface="Aptos"/>
              </a:rPr>
              <a:t>DELIVERED BASELINE SHOWN  •  run_pitch_rate_limiter_tests.m → PitchRateLimiter_Harness → delivered PitchRateLimiter</a:t>
            </a:r>
          </a:p>
          <a:p xmlns:a="http://schemas.openxmlformats.org/drawingml/2006/main">
            <a:pPr algn="ctr">
              <a:buNone/>
              <a:defRPr sz="975" b="1">
                <a:solidFill>
                  <a:srgbClr val="071521"/>
                </a:solidFill>
                <a:latin typeface="Aptos"/>
                <a:ea typeface="Aptos"/>
                <a:cs typeface="Aptos"/>
              </a:defRPr>
            </a:pPr>
            <a:r>
              <a:rPr sz="975" b="1">
                <a:solidFill>
                  <a:srgbClr val="071521"/>
                </a:solidFill>
                <a:latin typeface="Aptos"/>
                <a:ea typeface="Aptos"/>
                <a:cs typeface="Aptos"/>
              </a:rPr>
              <a:t>LEARNER PATH  •  create_pitch_rate_limiter_practice generates a uniquely named matching harness beside the practice UUT</a:t>
            </a:r>
          </a:p>
        </p:txBody>
      </p:sp>
    </p:spTree>
    <p:extLst>
      <p:ext uri="{BB962C8B-B14F-4D97-AF65-F5344CB8AC3E}">
        <p14:creationId xmlns:p14="http://schemas.microsoft.com/office/powerpoint/2010/main" val="1234053405"/>
      </p:ext>
    </p:extLst>
  </p:cSld>
</p:sld>
</file>

<file path=ppt/slides/slide2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HARNESS &amp; BUILD</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FFFFFF"/>
                </a:solidFill>
                <a:latin typeface="Aptos"/>
                <a:ea typeface="Aptos"/>
                <a:cs typeface="Aptos"/>
              </a:defRPr>
            </a:pPr>
            <a:r>
              <a:rPr sz="2550" b="1" i="0">
                <a:solidFill>
                  <a:srgbClr val="FFFFFF"/>
                </a:solidFill>
                <a:latin typeface="Aptos"/>
                <a:ea typeface="Aptos"/>
                <a:cs typeface="Aptos"/>
              </a:rPr>
              <a:t>The driver creates three timeseries and overrides the saved placeholders</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21</a:t>
            </a:r>
          </a:p>
        </p:txBody>
      </p:sp>
      <p:sp>
        <p:nvSpPr>
          <p:cNvPr id="25" name="s30-source-title">
            <a:extLst xmlns:a="http://schemas.openxmlformats.org/drawingml/2006/main">
              <a:ext uri="{FF2B5EF4-FFF2-40B4-BE49-F238E27FC236}">
                <a16:creationId xmlns:a16="http://schemas.microsoft.com/office/drawing/2014/main" id="{A3FB0793-28A5-4D60-804B-68AF3000B005}"/>
              </a:ext>
            </a:extLst>
          </p:cNvPr>
          <p:cNvSpPr>
            <a:spLocks xmlns:a="http://schemas.openxmlformats.org/drawingml/2006/main" noGrp="1"/>
          </p:cNvSpPr>
          <p:nvPr/>
        </p:nvSpPr>
        <p:spPr>
          <a:xfrm xmlns:a="http://schemas.openxmlformats.org/drawingml/2006/main">
            <a:off x="685800" y="1428750"/>
            <a:ext cx="49530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28" b="1">
                <a:solidFill>
                  <a:srgbClr val="FFFFFF"/>
                </a:solidFill>
                <a:latin typeface="Aptos"/>
                <a:ea typeface="Aptos"/>
                <a:cs typeface="Aptos"/>
              </a:defRPr>
            </a:pPr>
            <a:r>
              <a:rPr sz="1028" b="1">
                <a:solidFill>
                  <a:srgbClr val="FFFFFF"/>
                </a:solidFill>
                <a:latin typeface="Aptos"/>
                <a:ea typeface="Aptos"/>
                <a:cs typeface="Aptos"/>
              </a:rPr>
              <a:t>THREE PRIMARY ARTIFACTS IN THE HARNESS EXECUTION PATH</a:t>
            </a:r>
          </a:p>
        </p:txBody>
      </p:sp>
      <p:sp>
        <p:nvSpPr>
          <p:cNvPr id="26" name="s30-source-0">
            <a:extLst xmlns:a="http://schemas.openxmlformats.org/drawingml/2006/main">
              <a:ext uri="{FF2B5EF4-FFF2-40B4-BE49-F238E27FC236}">
                <a16:creationId xmlns:a16="http://schemas.microsoft.com/office/drawing/2014/main" id="{EAF92DFE-9FF4-4A18-ABAB-CFEABEC916A6}"/>
              </a:ext>
            </a:extLst>
          </p:cNvPr>
          <p:cNvSpPr>
            <a:spLocks xmlns:a="http://schemas.openxmlformats.org/drawingml/2006/main" noGrp="1"/>
          </p:cNvSpPr>
          <p:nvPr/>
        </p:nvSpPr>
        <p:spPr>
          <a:xfrm xmlns:a="http://schemas.openxmlformats.org/drawingml/2006/main">
            <a:off x="685800" y="188595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20B7C5"/>
            </a:solidFill>
            <a:prstDash val="solid"/>
          </a:ln>
        </p:spPr>
      </p:sp>
      <p:sp>
        <p:nvSpPr>
          <p:cNvPr id="27" name="s30-source-num-0">
            <a:extLst xmlns:a="http://schemas.openxmlformats.org/drawingml/2006/main">
              <a:ext uri="{FF2B5EF4-FFF2-40B4-BE49-F238E27FC236}">
                <a16:creationId xmlns:a16="http://schemas.microsoft.com/office/drawing/2014/main" id="{E44A596D-C3B9-4DFD-9C08-1670E77CB5E1}"/>
              </a:ext>
            </a:extLst>
          </p:cNvPr>
          <p:cNvSpPr>
            <a:spLocks xmlns:a="http://schemas.openxmlformats.org/drawingml/2006/main" noGrp="1"/>
          </p:cNvSpPr>
          <p:nvPr/>
        </p:nvSpPr>
        <p:spPr>
          <a:xfrm xmlns:a="http://schemas.openxmlformats.org/drawingml/2006/main">
            <a:off x="819150" y="20574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1</a:t>
            </a:r>
          </a:p>
        </p:txBody>
      </p:sp>
      <p:sp>
        <p:nvSpPr>
          <p:cNvPr id="28" name="s30-source-name-0">
            <a:extLst xmlns:a="http://schemas.openxmlformats.org/drawingml/2006/main">
              <a:ext uri="{FF2B5EF4-FFF2-40B4-BE49-F238E27FC236}">
                <a16:creationId xmlns:a16="http://schemas.microsoft.com/office/drawing/2014/main" id="{E981D0EE-A991-4893-91A6-DB2F1F4CF366}"/>
              </a:ext>
            </a:extLst>
          </p:cNvPr>
          <p:cNvSpPr>
            <a:spLocks xmlns:a="http://schemas.openxmlformats.org/drawingml/2006/main" noGrp="1"/>
          </p:cNvSpPr>
          <p:nvPr/>
        </p:nvSpPr>
        <p:spPr>
          <a:xfrm xmlns:a="http://schemas.openxmlformats.org/drawingml/2006/main">
            <a:off x="1314450" y="199072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data/FCS_Data.sldd</a:t>
            </a:r>
          </a:p>
        </p:txBody>
      </p:sp>
      <p:sp>
        <p:nvSpPr>
          <p:cNvPr id="29" name="s30-source-body-0">
            <a:extLst xmlns:a="http://schemas.openxmlformats.org/drawingml/2006/main">
              <a:ext uri="{FF2B5EF4-FFF2-40B4-BE49-F238E27FC236}">
                <a16:creationId xmlns:a16="http://schemas.microsoft.com/office/drawing/2014/main" id="{E3E1F259-0523-4BA2-BBD2-2B93A51C6D33}"/>
              </a:ext>
            </a:extLst>
          </p:cNvPr>
          <p:cNvSpPr>
            <a:spLocks xmlns:a="http://schemas.openxmlformats.org/drawingml/2006/main" noGrp="1"/>
          </p:cNvSpPr>
          <p:nvPr/>
        </p:nvSpPr>
        <p:spPr>
          <a:xfrm xmlns:a="http://schemas.openxmlformats.org/drawingml/2006/main">
            <a:off x="1314450" y="226695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Sample_time = 0.02 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q_limit_normal = 12 deg/s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fallback = 0</a:t>
            </a:r>
          </a:p>
        </p:txBody>
      </p:sp>
      <p:sp>
        <p:nvSpPr>
          <p:cNvPr id="30" name="s30-source-1">
            <a:extLst xmlns:a="http://schemas.openxmlformats.org/drawingml/2006/main">
              <a:ext uri="{FF2B5EF4-FFF2-40B4-BE49-F238E27FC236}">
                <a16:creationId xmlns:a16="http://schemas.microsoft.com/office/drawing/2014/main" id="{EDE73799-48F0-4B17-90E4-C938CC59434C}"/>
              </a:ext>
            </a:extLst>
          </p:cNvPr>
          <p:cNvSpPr>
            <a:spLocks xmlns:a="http://schemas.openxmlformats.org/drawingml/2006/main" noGrp="1"/>
          </p:cNvSpPr>
          <p:nvPr/>
        </p:nvSpPr>
        <p:spPr>
          <a:xfrm xmlns:a="http://schemas.openxmlformats.org/drawingml/2006/main">
            <a:off x="685800" y="312420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E9A23B"/>
            </a:solidFill>
            <a:prstDash val="solid"/>
          </a:ln>
        </p:spPr>
      </p:sp>
      <p:sp>
        <p:nvSpPr>
          <p:cNvPr id="31" name="s30-source-num-1">
            <a:extLst xmlns:a="http://schemas.openxmlformats.org/drawingml/2006/main">
              <a:ext uri="{FF2B5EF4-FFF2-40B4-BE49-F238E27FC236}">
                <a16:creationId xmlns:a16="http://schemas.microsoft.com/office/drawing/2014/main" id="{E94C5242-AB7A-48E2-909B-0457250E5E02}"/>
              </a:ext>
            </a:extLst>
          </p:cNvPr>
          <p:cNvSpPr>
            <a:spLocks xmlns:a="http://schemas.openxmlformats.org/drawingml/2006/main" noGrp="1"/>
          </p:cNvSpPr>
          <p:nvPr/>
        </p:nvSpPr>
        <p:spPr>
          <a:xfrm xmlns:a="http://schemas.openxmlformats.org/drawingml/2006/main">
            <a:off x="819150" y="32956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E9A23B"/>
                </a:solidFill>
                <a:latin typeface="Aptos"/>
                <a:ea typeface="Aptos"/>
                <a:cs typeface="Aptos"/>
              </a:defRPr>
            </a:pPr>
            <a:r>
              <a:rPr sz="1725" b="1">
                <a:solidFill>
                  <a:srgbClr val="E9A23B"/>
                </a:solidFill>
                <a:latin typeface="Aptos"/>
                <a:ea typeface="Aptos"/>
                <a:cs typeface="Aptos"/>
              </a:rPr>
              <a:t>2</a:t>
            </a:r>
          </a:p>
        </p:txBody>
      </p:sp>
      <p:sp>
        <p:nvSpPr>
          <p:cNvPr id="32" name="s30-source-name-1">
            <a:extLst xmlns:a="http://schemas.openxmlformats.org/drawingml/2006/main">
              <a:ext uri="{FF2B5EF4-FFF2-40B4-BE49-F238E27FC236}">
                <a16:creationId xmlns:a16="http://schemas.microsoft.com/office/drawing/2014/main" id="{7CE03741-0A3C-459C-B176-FA9DCAA056E2}"/>
              </a:ext>
            </a:extLst>
          </p:cNvPr>
          <p:cNvSpPr>
            <a:spLocks xmlns:a="http://schemas.openxmlformats.org/drawingml/2006/main" noGrp="1"/>
          </p:cNvSpPr>
          <p:nvPr/>
        </p:nvSpPr>
        <p:spPr>
          <a:xfrm xmlns:a="http://schemas.openxmlformats.org/drawingml/2006/main">
            <a:off x="1314450" y="322897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scripts/run_pitch_rate_limiter_tests.m</a:t>
            </a:r>
          </a:p>
        </p:txBody>
      </p:sp>
      <p:sp>
        <p:nvSpPr>
          <p:cNvPr id="33" name="s30-source-body-1">
            <a:extLst xmlns:a="http://schemas.openxmlformats.org/drawingml/2006/main">
              <a:ext uri="{FF2B5EF4-FFF2-40B4-BE49-F238E27FC236}">
                <a16:creationId xmlns:a16="http://schemas.microsoft.com/office/drawing/2014/main" id="{97A50B65-4498-40DF-9DF0-3698F3564513}"/>
              </a:ext>
            </a:extLst>
          </p:cNvPr>
          <p:cNvSpPr>
            <a:spLocks xmlns:a="http://schemas.openxmlformats.org/drawingml/2006/main" noGrp="1"/>
          </p:cNvSpPr>
          <p:nvPr/>
        </p:nvSpPr>
        <p:spPr>
          <a:xfrm xmlns:a="http://schemas.openxmlformats.org/drawingml/2006/main">
            <a:off x="1314450" y="350520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defines 19 rows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creates 3 timeseries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owns expected values + oracle</a:t>
            </a:r>
          </a:p>
        </p:txBody>
      </p:sp>
      <p:sp>
        <p:nvSpPr>
          <p:cNvPr id="34" name="s30-source-2">
            <a:extLst xmlns:a="http://schemas.openxmlformats.org/drawingml/2006/main">
              <a:ext uri="{FF2B5EF4-FFF2-40B4-BE49-F238E27FC236}">
                <a16:creationId xmlns:a16="http://schemas.microsoft.com/office/drawing/2014/main" id="{0D8BF06D-DDC4-4623-95D1-1F46A1B1138D}"/>
              </a:ext>
            </a:extLst>
          </p:cNvPr>
          <p:cNvSpPr>
            <a:spLocks xmlns:a="http://schemas.openxmlformats.org/drawingml/2006/main" noGrp="1"/>
          </p:cNvSpPr>
          <p:nvPr/>
        </p:nvSpPr>
        <p:spPr>
          <a:xfrm xmlns:a="http://schemas.openxmlformats.org/drawingml/2006/main">
            <a:off x="685800" y="436245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20B7C5"/>
            </a:solidFill>
            <a:prstDash val="solid"/>
          </a:ln>
        </p:spPr>
      </p:sp>
      <p:sp>
        <p:nvSpPr>
          <p:cNvPr id="35" name="s30-source-num-2">
            <a:extLst xmlns:a="http://schemas.openxmlformats.org/drawingml/2006/main">
              <a:ext uri="{FF2B5EF4-FFF2-40B4-BE49-F238E27FC236}">
                <a16:creationId xmlns:a16="http://schemas.microsoft.com/office/drawing/2014/main" id="{25251111-B0CF-4953-910B-6B759641E5D7}"/>
              </a:ext>
            </a:extLst>
          </p:cNvPr>
          <p:cNvSpPr>
            <a:spLocks xmlns:a="http://schemas.openxmlformats.org/drawingml/2006/main" noGrp="1"/>
          </p:cNvSpPr>
          <p:nvPr/>
        </p:nvSpPr>
        <p:spPr>
          <a:xfrm xmlns:a="http://schemas.openxmlformats.org/drawingml/2006/main">
            <a:off x="819150" y="4533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3</a:t>
            </a:r>
          </a:p>
        </p:txBody>
      </p:sp>
      <p:sp>
        <p:nvSpPr>
          <p:cNvPr id="36" name="s30-source-name-2">
            <a:extLst xmlns:a="http://schemas.openxmlformats.org/drawingml/2006/main">
              <a:ext uri="{FF2B5EF4-FFF2-40B4-BE49-F238E27FC236}">
                <a16:creationId xmlns:a16="http://schemas.microsoft.com/office/drawing/2014/main" id="{3E604A8A-9993-4F48-9BA5-25769D4A1746}"/>
              </a:ext>
            </a:extLst>
          </p:cNvPr>
          <p:cNvSpPr>
            <a:spLocks xmlns:a="http://schemas.openxmlformats.org/drawingml/2006/main" noGrp="1"/>
          </p:cNvSpPr>
          <p:nvPr/>
        </p:nvSpPr>
        <p:spPr>
          <a:xfrm xmlns:a="http://schemas.openxmlformats.org/drawingml/2006/main">
            <a:off x="1314450" y="446722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models/PitchRateLimiter_Harness.slx</a:t>
            </a:r>
          </a:p>
        </p:txBody>
      </p:sp>
      <p:sp>
        <p:nvSpPr>
          <p:cNvPr id="37" name="s30-source-body-2">
            <a:extLst xmlns:a="http://schemas.openxmlformats.org/drawingml/2006/main">
              <a:ext uri="{FF2B5EF4-FFF2-40B4-BE49-F238E27FC236}">
                <a16:creationId xmlns:a16="http://schemas.microsoft.com/office/drawing/2014/main" id="{17B16590-F4E6-48F8-9787-F4507414F7D9}"/>
              </a:ext>
            </a:extLst>
          </p:cNvPr>
          <p:cNvSpPr>
            <a:spLocks xmlns:a="http://schemas.openxmlformats.org/drawingml/2006/main" noGrp="1"/>
          </p:cNvSpPr>
          <p:nvPr/>
        </p:nvSpPr>
        <p:spPr>
          <a:xfrm xmlns:a="http://schemas.openxmlformats.org/drawingml/2006/main">
            <a:off x="1314450" y="474345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From Workspace → UUT</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Model block in Normal simulation mode</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To Workspace captures</a:t>
            </a:r>
          </a:p>
        </p:txBody>
      </p:sp>
      <p:sp>
        <p:nvSpPr>
          <p:cNvPr id="38" name="s30-vars">
            <a:extLst xmlns:a="http://schemas.openxmlformats.org/drawingml/2006/main">
              <a:ext uri="{FF2B5EF4-FFF2-40B4-BE49-F238E27FC236}">
                <a16:creationId xmlns:a16="http://schemas.microsoft.com/office/drawing/2014/main" id="{7A566F0D-43DC-40EB-9103-F21CDFC7C44B}"/>
              </a:ext>
            </a:extLst>
          </p:cNvPr>
          <p:cNvSpPr>
            <a:spLocks xmlns:a="http://schemas.openxmlformats.org/drawingml/2006/main" noGrp="1"/>
          </p:cNvSpPr>
          <p:nvPr/>
        </p:nvSpPr>
        <p:spPr>
          <a:xfrm xmlns:a="http://schemas.openxmlformats.org/drawingml/2006/main">
            <a:off x="5924550" y="1428750"/>
            <a:ext cx="5581650" cy="1028700"/>
          </a:xfrm>
          <a:prstGeom xmlns:a="http://schemas.openxmlformats.org/drawingml/2006/main" prst="roundRect">
            <a:avLst>
              <a:gd name="adj" fmla="val 11111"/>
            </a:avLst>
          </a:prstGeom>
          <a:solidFill xmlns:a="http://schemas.openxmlformats.org/drawingml/2006/main">
            <a:srgbClr val="DFF6F8"/>
          </a:solidFill>
          <a:ln xmlns:a="http://schemas.openxmlformats.org/drawingml/2006/main" w="14288">
            <a:solidFill>
              <a:srgbClr val="20B7C5"/>
            </a:solidFill>
            <a:prstDash val="solid"/>
          </a:ln>
        </p:spPr>
      </p:sp>
      <p:sp>
        <p:nvSpPr>
          <p:cNvPr id="39" name="s30-vars-title">
            <a:extLst xmlns:a="http://schemas.openxmlformats.org/drawingml/2006/main">
              <a:ext uri="{FF2B5EF4-FFF2-40B4-BE49-F238E27FC236}">
                <a16:creationId xmlns:a16="http://schemas.microsoft.com/office/drawing/2014/main" id="{3E5BCCB7-9D5A-42C0-9EC2-F5FA999C69D6}"/>
              </a:ext>
            </a:extLst>
          </p:cNvPr>
          <p:cNvSpPr>
            <a:spLocks xmlns:a="http://schemas.openxmlformats.org/drawingml/2006/main" noGrp="1"/>
          </p:cNvSpPr>
          <p:nvPr/>
        </p:nvSpPr>
        <p:spPr>
          <a:xfrm xmlns:a="http://schemas.openxmlformats.org/drawingml/2006/main">
            <a:off x="6115050" y="1543050"/>
            <a:ext cx="5200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INJECTED INTO THE HARNESS MODEL WORKSPACE</a:t>
            </a:r>
          </a:p>
        </p:txBody>
      </p:sp>
      <p:sp>
        <p:nvSpPr>
          <p:cNvPr id="40" name="s30-vars-body">
            <a:extLst xmlns:a="http://schemas.openxmlformats.org/drawingml/2006/main">
              <a:ext uri="{FF2B5EF4-FFF2-40B4-BE49-F238E27FC236}">
                <a16:creationId xmlns:a16="http://schemas.microsoft.com/office/drawing/2014/main" id="{DA1A7FCB-4778-4F51-9F3D-52E2B7647556}"/>
              </a:ext>
            </a:extLst>
          </p:cNvPr>
          <p:cNvSpPr>
            <a:spLocks xmlns:a="http://schemas.openxmlformats.org/drawingml/2006/main" noGrp="1"/>
          </p:cNvSpPr>
          <p:nvPr/>
        </p:nvSpPr>
        <p:spPr>
          <a:xfrm xmlns:a="http://schemas.openxmlformats.org/drawingml/2006/main">
            <a:off x="6115050" y="1857375"/>
            <a:ext cx="520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71521"/>
                </a:solidFill>
                <a:latin typeface="Consolas"/>
                <a:ea typeface="Consolas"/>
                <a:cs typeface="Consolas"/>
              </a:defRPr>
            </a:pPr>
            <a:r>
              <a:rPr sz="1200" b="1">
                <a:solidFill>
                  <a:srgbClr val="071521"/>
                </a:solidFill>
                <a:latin typeface="Consolas"/>
                <a:ea typeface="Consolas"/>
                <a:cs typeface="Consolas"/>
              </a:rPr>
              <a:t>q_cmd_test  •  normal_mode_test  •  input_valid_test</a:t>
            </a:r>
          </a:p>
        </p:txBody>
      </p:sp>
      <p:sp>
        <p:nvSpPr>
          <p:cNvPr id="41" name="s30-table">
            <a:extLst xmlns:a="http://schemas.openxmlformats.org/drawingml/2006/main">
              <a:ext uri="{FF2B5EF4-FFF2-40B4-BE49-F238E27FC236}">
                <a16:creationId xmlns:a16="http://schemas.microsoft.com/office/drawing/2014/main" id="{DC2D50CB-6EB2-42A9-BD51-47057157A44D}"/>
              </a:ext>
            </a:extLst>
          </p:cNvPr>
          <p:cNvSpPr>
            <a:spLocks xmlns:a="http://schemas.openxmlformats.org/drawingml/2006/main" noGrp="1"/>
          </p:cNvSpPr>
          <p:nvPr/>
        </p:nvSpPr>
        <p:spPr>
          <a:xfrm xmlns:a="http://schemas.openxmlformats.org/drawingml/2006/main">
            <a:off x="5924550" y="2647950"/>
            <a:ext cx="5581650" cy="2571750"/>
          </a:xfrm>
          <a:prstGeom xmlns:a="http://schemas.openxmlformats.org/drawingml/2006/main" prst="roundRect">
            <a:avLst>
              <a:gd name="adj" fmla="val 4444"/>
            </a:avLst>
          </a:prstGeom>
          <a:solidFill xmlns:a="http://schemas.openxmlformats.org/drawingml/2006/main">
            <a:srgbClr val="0C2133"/>
          </a:solidFill>
          <a:ln xmlns:a="http://schemas.openxmlformats.org/drawingml/2006/main" w="14288">
            <a:solidFill>
              <a:srgbClr val="E9A23B"/>
            </a:solidFill>
            <a:prstDash val="solid"/>
          </a:ln>
        </p:spPr>
      </p:sp>
      <p:sp>
        <p:nvSpPr>
          <p:cNvPr id="42" name="s30-table-title">
            <a:extLst xmlns:a="http://schemas.openxmlformats.org/drawingml/2006/main">
              <a:ext uri="{FF2B5EF4-FFF2-40B4-BE49-F238E27FC236}">
                <a16:creationId xmlns:a16="http://schemas.microsoft.com/office/drawing/2014/main" id="{975B3F24-5AA0-49CF-832D-426BC48F99A1}"/>
              </a:ext>
            </a:extLst>
          </p:cNvPr>
          <p:cNvSpPr>
            <a:spLocks xmlns:a="http://schemas.openxmlformats.org/drawingml/2006/main" noGrp="1"/>
          </p:cNvSpPr>
          <p:nvPr/>
        </p:nvSpPr>
        <p:spPr>
          <a:xfrm xmlns:a="http://schemas.openxmlformats.org/drawingml/2006/main">
            <a:off x="6115050" y="2771775"/>
            <a:ext cx="5200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E9A23B"/>
                </a:solidFill>
                <a:latin typeface="Aptos"/>
                <a:ea typeface="Aptos"/>
                <a:cs typeface="Aptos"/>
              </a:defRPr>
            </a:pPr>
            <a:r>
              <a:rPr sz="1065" b="1">
                <a:solidFill>
                  <a:srgbClr val="E9A23B"/>
                </a:solidFill>
                <a:latin typeface="Aptos"/>
                <a:ea typeface="Aptos"/>
                <a:cs typeface="Aptos"/>
              </a:rPr>
              <a:t>THREE REPRESENTATIVE ROWS FROM THE 19-POINT SEQUENCE</a:t>
            </a:r>
          </a:p>
        </p:txBody>
      </p:sp>
      <p:sp>
        <p:nvSpPr>
          <p:cNvPr id="43" name="s30-table-head">
            <a:extLst xmlns:a="http://schemas.openxmlformats.org/drawingml/2006/main">
              <a:ext uri="{FF2B5EF4-FFF2-40B4-BE49-F238E27FC236}">
                <a16:creationId xmlns:a16="http://schemas.microsoft.com/office/drawing/2014/main" id="{7F917978-66A6-4FD4-A119-9D72D61D9A75}"/>
              </a:ext>
            </a:extLst>
          </p:cNvPr>
          <p:cNvSpPr>
            <a:spLocks xmlns:a="http://schemas.openxmlformats.org/drawingml/2006/main" noGrp="1"/>
          </p:cNvSpPr>
          <p:nvPr/>
        </p:nvSpPr>
        <p:spPr>
          <a:xfrm xmlns:a="http://schemas.openxmlformats.org/drawingml/2006/main">
            <a:off x="6153150" y="3114675"/>
            <a:ext cx="512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65" b="1">
                <a:solidFill>
                  <a:srgbClr val="20B7C5"/>
                </a:solidFill>
                <a:latin typeface="Consolas"/>
                <a:ea typeface="Consolas"/>
                <a:cs typeface="Consolas"/>
              </a:defRPr>
            </a:pPr>
            <a:r>
              <a:rPr sz="1065" b="1">
                <a:solidFill>
                  <a:srgbClr val="20B7C5"/>
                </a:solidFill>
                <a:latin typeface="Consolas"/>
                <a:ea typeface="Consolas"/>
                <a:cs typeface="Consolas"/>
              </a:rPr>
              <a:t>t(s)   q_cmd   N   V   expected   active</a:t>
            </a:r>
          </a:p>
        </p:txBody>
      </p:sp>
      <p:sp>
        <p:nvSpPr>
          <p:cNvPr id="44" name="s30-table-line">
            <a:extLst xmlns:a="http://schemas.openxmlformats.org/drawingml/2006/main">
              <a:ext uri="{FF2B5EF4-FFF2-40B4-BE49-F238E27FC236}">
                <a16:creationId xmlns:a16="http://schemas.microsoft.com/office/drawing/2014/main" id="{8FDBF8AC-5806-47EC-86E6-E5FB8B3458F0}"/>
              </a:ext>
            </a:extLst>
          </p:cNvPr>
          <p:cNvSpPr>
            <a:spLocks xmlns:a="http://schemas.openxmlformats.org/drawingml/2006/main" noGrp="1"/>
          </p:cNvSpPr>
          <p:nvPr/>
        </p:nvSpPr>
        <p:spPr>
          <a:xfrm xmlns:a="http://schemas.openxmlformats.org/drawingml/2006/main">
            <a:off x="6153150" y="3409950"/>
            <a:ext cx="5124450" cy="0"/>
          </a:xfrm>
          <a:prstGeom xmlns:a="http://schemas.openxmlformats.org/drawingml/2006/main" prst="line">
            <a:avLst/>
          </a:prstGeom>
          <a:noFill xmlns:a="http://schemas.openxmlformats.org/drawingml/2006/main"/>
          <a:ln xmlns:a="http://schemas.openxmlformats.org/drawingml/2006/main" w="9525">
            <a:solidFill>
              <a:srgbClr val="7D91A0"/>
            </a:solidFill>
            <a:prstDash val="solid"/>
          </a:ln>
        </p:spPr>
      </p:sp>
      <p:sp>
        <p:nvSpPr>
          <p:cNvPr id="45" name="s30-table-rows">
            <a:extLst xmlns:a="http://schemas.openxmlformats.org/drawingml/2006/main">
              <a:ext uri="{FF2B5EF4-FFF2-40B4-BE49-F238E27FC236}">
                <a16:creationId xmlns:a16="http://schemas.microsoft.com/office/drawing/2014/main" id="{AEE5F2E5-CDC6-4E82-AA0A-A3EAD4D50B65}"/>
              </a:ext>
            </a:extLst>
          </p:cNvPr>
          <p:cNvSpPr>
            <a:spLocks xmlns:a="http://schemas.openxmlformats.org/drawingml/2006/main" noGrp="1"/>
          </p:cNvSpPr>
          <p:nvPr/>
        </p:nvSpPr>
        <p:spPr>
          <a:xfrm xmlns:a="http://schemas.openxmlformats.org/drawingml/2006/main">
            <a:off x="6153150" y="3505200"/>
            <a:ext cx="51244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0.12   +12.0   1   1     +12.0      0</a:t>
            </a:r>
          </a:p>
          <a:p xmlns:a="http://schemas.openxmlformats.org/drawingml/2006/main">
            <a:r>
              <a:t/>
            </a:r>
          </a:p>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0.14   +12.1   1   1     +12.0      1</a:t>
            </a:r>
          </a:p>
          <a:p xmlns:a="http://schemas.openxmlformats.org/drawingml/2006/main">
            <a:r>
              <a:t/>
            </a:r>
          </a:p>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0.20    +8.0   1   0       0.0      0</a:t>
            </a:r>
          </a:p>
        </p:txBody>
      </p:sp>
      <p:sp>
        <p:nvSpPr>
          <p:cNvPr id="46" name="s30-table-key">
            <a:extLst xmlns:a="http://schemas.openxmlformats.org/drawingml/2006/main">
              <a:ext uri="{FF2B5EF4-FFF2-40B4-BE49-F238E27FC236}">
                <a16:creationId xmlns:a16="http://schemas.microsoft.com/office/drawing/2014/main" id="{230C983B-A728-4E6D-BBFC-DB8A78CBDBF8}"/>
              </a:ext>
            </a:extLst>
          </p:cNvPr>
          <p:cNvSpPr>
            <a:spLocks xmlns:a="http://schemas.openxmlformats.org/drawingml/2006/main" noGrp="1"/>
          </p:cNvSpPr>
          <p:nvPr/>
        </p:nvSpPr>
        <p:spPr>
          <a:xfrm xmlns:a="http://schemas.openxmlformats.org/drawingml/2006/main">
            <a:off x="6153150" y="4762500"/>
            <a:ext cx="512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7D91A0"/>
                </a:solidFill>
                <a:latin typeface="Aptos"/>
                <a:ea typeface="Aptos"/>
                <a:cs typeface="Aptos"/>
              </a:defRPr>
            </a:pPr>
            <a:r>
              <a:rPr sz="960" b="1">
                <a:solidFill>
                  <a:srgbClr val="7D91A0"/>
                </a:solidFill>
                <a:latin typeface="Aptos"/>
                <a:ea typeface="Aptos"/>
                <a:cs typeface="Aptos"/>
              </a:rPr>
              <a:t>N = Normal mode  •  V = Input valid</a:t>
            </a:r>
          </a:p>
        </p:txBody>
      </p:sp>
      <p:sp>
        <p:nvSpPr>
          <p:cNvPr id="47" name="s30-boundary">
            <a:extLst xmlns:a="http://schemas.openxmlformats.org/drawingml/2006/main">
              <a:ext uri="{FF2B5EF4-FFF2-40B4-BE49-F238E27FC236}">
                <a16:creationId xmlns:a16="http://schemas.microsoft.com/office/drawing/2014/main" id="{D6C56D79-A050-414A-8353-6D3C9AF6150E}"/>
              </a:ext>
            </a:extLst>
          </p:cNvPr>
          <p:cNvSpPr>
            <a:spLocks xmlns:a="http://schemas.openxmlformats.org/drawingml/2006/main" noGrp="1"/>
          </p:cNvSpPr>
          <p:nvPr/>
        </p:nvSpPr>
        <p:spPr>
          <a:xfrm xmlns:a="http://schemas.openxmlformats.org/drawingml/2006/main">
            <a:off x="685800" y="5448300"/>
            <a:ext cx="10820400" cy="647700"/>
          </a:xfrm>
          <a:prstGeom xmlns:a="http://schemas.openxmlformats.org/drawingml/2006/main" prst="roundRect">
            <a:avLst>
              <a:gd name="adj" fmla="val 17647"/>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8" b="1">
                <a:solidFill>
                  <a:srgbClr val="FFFFFF"/>
                </a:solidFill>
                <a:latin typeface="Aptos"/>
                <a:ea typeface="Aptos"/>
                <a:cs typeface="Aptos"/>
              </a:defRPr>
            </a:pPr>
            <a:r>
              <a:rPr sz="998" b="1">
                <a:solidFill>
                  <a:srgbClr val="FFFFFF"/>
                </a:solidFill>
                <a:latin typeface="Aptos"/>
                <a:ea typeface="Aptos"/>
                <a:cs typeface="Aptos"/>
              </a:rPr>
              <a:t>ONE 0.36 s DESKTOP-MIL RUN  •  19 ASSESSMENT POINTS  •  BASELINE DRIVER TARGETS DELIVERED UUT  •  PRACTICE WRAPPER TARGETS LEARNER UUT</a:t>
            </a:r>
          </a:p>
        </p:txBody>
      </p:sp>
    </p:spTree>
    <p:extLst>
      <p:ext uri="{BB962C8B-B14F-4D97-AF65-F5344CB8AC3E}">
        <p14:creationId xmlns:p14="http://schemas.microsoft.com/office/powerpoint/2010/main" val="445827379"/>
      </p:ext>
    </p:extLst>
  </p:cSld>
</p:sld>
</file>

<file path=ppt/slides/slide2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HARNESS &amp; BUILD</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Choose the driver that matches the UUT you intend to assess</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22</a:t>
            </a:r>
          </a:p>
        </p:txBody>
      </p:sp>
      <p:sp>
        <p:nvSpPr>
          <p:cNvPr id="25" name="s22-baseline">
            <a:extLst xmlns:a="http://schemas.openxmlformats.org/drawingml/2006/main">
              <a:ext uri="{FF2B5EF4-FFF2-40B4-BE49-F238E27FC236}">
                <a16:creationId xmlns:a16="http://schemas.microsoft.com/office/drawing/2014/main" id="{FF87398E-5869-4740-8A4D-F34E9A01DDF0}"/>
              </a:ext>
            </a:extLst>
          </p:cNvPr>
          <p:cNvSpPr>
            <a:spLocks xmlns:a="http://schemas.openxmlformats.org/drawingml/2006/main" noGrp="1"/>
          </p:cNvSpPr>
          <p:nvPr/>
        </p:nvSpPr>
        <p:spPr>
          <a:xfrm xmlns:a="http://schemas.openxmlformats.org/drawingml/2006/main">
            <a:off x="685800" y="1581150"/>
            <a:ext cx="5219700" cy="2590800"/>
          </a:xfrm>
          <a:prstGeom xmlns:a="http://schemas.openxmlformats.org/drawingml/2006/main" prst="roundRect">
            <a:avLst>
              <a:gd name="adj" fmla="val 4412"/>
            </a:avLst>
          </a:prstGeom>
          <a:solidFill xmlns:a="http://schemas.openxmlformats.org/drawingml/2006/main">
            <a:srgbClr val="0C2133"/>
          </a:solidFill>
          <a:ln xmlns:a="http://schemas.openxmlformats.org/drawingml/2006/main" w="14288">
            <a:solidFill>
              <a:srgbClr val="20B7C5"/>
            </a:solidFill>
            <a:prstDash val="solid"/>
          </a:ln>
        </p:spPr>
      </p:sp>
      <p:sp>
        <p:nvSpPr>
          <p:cNvPr id="26" name="s22-baseline-title">
            <a:extLst xmlns:a="http://schemas.openxmlformats.org/drawingml/2006/main">
              <a:ext uri="{FF2B5EF4-FFF2-40B4-BE49-F238E27FC236}">
                <a16:creationId xmlns:a16="http://schemas.microsoft.com/office/drawing/2014/main" id="{9DE4D5FF-5F7E-4275-84FD-B861353698D1}"/>
              </a:ext>
            </a:extLst>
          </p:cNvPr>
          <p:cNvSpPr>
            <a:spLocks xmlns:a="http://schemas.openxmlformats.org/drawingml/2006/main" noGrp="1"/>
          </p:cNvSpPr>
          <p:nvPr/>
        </p:nvSpPr>
        <p:spPr>
          <a:xfrm xmlns:a="http://schemas.openxmlformats.org/drawingml/2006/main">
            <a:off x="895350" y="1752600"/>
            <a:ext cx="480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0B7C5"/>
                </a:solidFill>
                <a:latin typeface="Aptos"/>
                <a:ea typeface="Aptos"/>
                <a:cs typeface="Aptos"/>
              </a:defRPr>
            </a:pPr>
            <a:r>
              <a:rPr sz="1275" b="1">
                <a:solidFill>
                  <a:srgbClr val="20B7C5"/>
                </a:solidFill>
                <a:latin typeface="Aptos"/>
                <a:ea typeface="Aptos"/>
                <a:cs typeface="Aptos"/>
              </a:rPr>
              <a:t>DELIVERED BASELINE DRIVER</a:t>
            </a:r>
          </a:p>
        </p:txBody>
      </p:sp>
      <p:sp>
        <p:nvSpPr>
          <p:cNvPr id="27" name="s22-baseline-code">
            <a:extLst xmlns:a="http://schemas.openxmlformats.org/drawingml/2006/main">
              <a:ext uri="{FF2B5EF4-FFF2-40B4-BE49-F238E27FC236}">
                <a16:creationId xmlns:a16="http://schemas.microsoft.com/office/drawing/2014/main" id="{F6B5091F-EE08-43C6-968E-8CC048A78027}"/>
              </a:ext>
            </a:extLst>
          </p:cNvPr>
          <p:cNvSpPr>
            <a:spLocks xmlns:a="http://schemas.openxmlformats.org/drawingml/2006/main" noGrp="1"/>
          </p:cNvSpPr>
          <p:nvPr/>
        </p:nvSpPr>
        <p:spPr>
          <a:xfrm xmlns:a="http://schemas.openxmlformats.org/drawingml/2006/main">
            <a:off x="895350" y="2209800"/>
            <a:ext cx="4800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FFFFFF"/>
                </a:solidFill>
                <a:latin typeface="Consolas"/>
                <a:ea typeface="Consolas"/>
                <a:cs typeface="Consolas"/>
              </a:defRPr>
            </a:pPr>
            <a:r>
              <a:rPr sz="1065" b="1">
                <a:solidFill>
                  <a:srgbClr val="FFFFFF"/>
                </a:solidFill>
                <a:latin typeface="Consolas"/>
                <a:ea typeface="Consolas"/>
                <a:cs typeface="Consolas"/>
              </a:rPr>
              <a:t>run_pitch_rate_limiter_tests(projectRoot)</a:t>
            </a:r>
          </a:p>
        </p:txBody>
      </p:sp>
      <p:sp>
        <p:nvSpPr>
          <p:cNvPr id="28" name="s22-baseline-list-dot-0">
            <a:extLst xmlns:a="http://schemas.openxmlformats.org/drawingml/2006/main">
              <a:ext uri="{FF2B5EF4-FFF2-40B4-BE49-F238E27FC236}">
                <a16:creationId xmlns:a16="http://schemas.microsoft.com/office/drawing/2014/main" id="{CC3A1DA4-DE40-465D-97CA-A7A7961C0895}"/>
              </a:ext>
            </a:extLst>
          </p:cNvPr>
          <p:cNvSpPr>
            <a:spLocks xmlns:a="http://schemas.openxmlformats.org/drawingml/2006/main" noGrp="1"/>
          </p:cNvSpPr>
          <p:nvPr/>
        </p:nvSpPr>
        <p:spPr>
          <a:xfrm xmlns:a="http://schemas.openxmlformats.org/drawingml/2006/main">
            <a:off x="971550" y="29241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29" name="s22-baseline-list-text-0">
            <a:extLst xmlns:a="http://schemas.openxmlformats.org/drawingml/2006/main">
              <a:ext uri="{FF2B5EF4-FFF2-40B4-BE49-F238E27FC236}">
                <a16:creationId xmlns:a16="http://schemas.microsoft.com/office/drawing/2014/main" id="{8D256B34-0910-4A61-873A-7BE633E4C2BD}"/>
              </a:ext>
            </a:extLst>
          </p:cNvPr>
          <p:cNvSpPr>
            <a:spLocks xmlns:a="http://schemas.openxmlformats.org/drawingml/2006/main" noGrp="1"/>
          </p:cNvSpPr>
          <p:nvPr/>
        </p:nvSpPr>
        <p:spPr>
          <a:xfrm xmlns:a="http://schemas.openxmlformats.org/drawingml/2006/main">
            <a:off x="1162050" y="28384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FFFFFF"/>
                </a:solidFill>
                <a:latin typeface="Aptos"/>
                <a:ea typeface="Aptos"/>
                <a:cs typeface="Aptos"/>
              </a:defRPr>
            </a:pPr>
            <a:r>
              <a:rPr sz="1065" b="0">
                <a:solidFill>
                  <a:srgbClr val="FFFFFF"/>
                </a:solidFill>
                <a:latin typeface="Aptos"/>
                <a:ea typeface="Aptos"/>
                <a:cs typeface="Aptos"/>
              </a:rPr>
              <a:t>Targets delivered PitchRateLimiter_Harness</a:t>
            </a:r>
          </a:p>
        </p:txBody>
      </p:sp>
      <p:sp>
        <p:nvSpPr>
          <p:cNvPr id="30" name="s22-baseline-list-dot-1">
            <a:extLst xmlns:a="http://schemas.openxmlformats.org/drawingml/2006/main">
              <a:ext uri="{FF2B5EF4-FFF2-40B4-BE49-F238E27FC236}">
                <a16:creationId xmlns:a16="http://schemas.microsoft.com/office/drawing/2014/main" id="{D4E378D2-3EB7-4EFB-93FE-E933A12BEA94}"/>
              </a:ext>
            </a:extLst>
          </p:cNvPr>
          <p:cNvSpPr>
            <a:spLocks xmlns:a="http://schemas.openxmlformats.org/drawingml/2006/main" noGrp="1"/>
          </p:cNvSpPr>
          <p:nvPr/>
        </p:nvSpPr>
        <p:spPr>
          <a:xfrm xmlns:a="http://schemas.openxmlformats.org/drawingml/2006/main">
            <a:off x="971550" y="33051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31" name="s22-baseline-list-text-1">
            <a:extLst xmlns:a="http://schemas.openxmlformats.org/drawingml/2006/main">
              <a:ext uri="{FF2B5EF4-FFF2-40B4-BE49-F238E27FC236}">
                <a16:creationId xmlns:a16="http://schemas.microsoft.com/office/drawing/2014/main" id="{26FA58F0-3126-4685-BDE1-32C7D55F145A}"/>
              </a:ext>
            </a:extLst>
          </p:cNvPr>
          <p:cNvSpPr>
            <a:spLocks xmlns:a="http://schemas.openxmlformats.org/drawingml/2006/main" noGrp="1"/>
          </p:cNvSpPr>
          <p:nvPr/>
        </p:nvSpPr>
        <p:spPr>
          <a:xfrm xmlns:a="http://schemas.openxmlformats.org/drawingml/2006/main">
            <a:off x="1162050" y="32194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FFFFFF"/>
                </a:solidFill>
                <a:latin typeface="Aptos"/>
                <a:ea typeface="Aptos"/>
                <a:cs typeface="Aptos"/>
              </a:defRPr>
            </a:pPr>
            <a:r>
              <a:rPr sz="1065" b="0">
                <a:solidFill>
                  <a:srgbClr val="FFFFFF"/>
                </a:solidFill>
                <a:latin typeface="Aptos"/>
                <a:ea typeface="Aptos"/>
                <a:cs typeface="Aptos"/>
              </a:rPr>
              <a:t>Replaces fixed results/ and reports/ files</a:t>
            </a:r>
          </a:p>
        </p:txBody>
      </p:sp>
      <p:sp>
        <p:nvSpPr>
          <p:cNvPr id="32" name="s22-baseline-list-dot-2">
            <a:extLst xmlns:a="http://schemas.openxmlformats.org/drawingml/2006/main">
              <a:ext uri="{FF2B5EF4-FFF2-40B4-BE49-F238E27FC236}">
                <a16:creationId xmlns:a16="http://schemas.microsoft.com/office/drawing/2014/main" id="{4909E759-C067-4CAB-A933-6A2B6B6B6757}"/>
              </a:ext>
            </a:extLst>
          </p:cNvPr>
          <p:cNvSpPr>
            <a:spLocks xmlns:a="http://schemas.openxmlformats.org/drawingml/2006/main" noGrp="1"/>
          </p:cNvSpPr>
          <p:nvPr/>
        </p:nvSpPr>
        <p:spPr>
          <a:xfrm xmlns:a="http://schemas.openxmlformats.org/drawingml/2006/main">
            <a:off x="971550" y="36861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33" name="s22-baseline-list-text-2">
            <a:extLst xmlns:a="http://schemas.openxmlformats.org/drawingml/2006/main">
              <a:ext uri="{FF2B5EF4-FFF2-40B4-BE49-F238E27FC236}">
                <a16:creationId xmlns:a16="http://schemas.microsoft.com/office/drawing/2014/main" id="{516F92A5-8751-4035-9610-276712D6A871}"/>
              </a:ext>
            </a:extLst>
          </p:cNvPr>
          <p:cNvSpPr>
            <a:spLocks xmlns:a="http://schemas.openxmlformats.org/drawingml/2006/main" noGrp="1"/>
          </p:cNvSpPr>
          <p:nvPr/>
        </p:nvSpPr>
        <p:spPr>
          <a:xfrm xmlns:a="http://schemas.openxmlformats.org/drawingml/2006/main">
            <a:off x="1162050" y="36004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FFFFFF"/>
                </a:solidFill>
                <a:latin typeface="Aptos"/>
                <a:ea typeface="Aptos"/>
                <a:cs typeface="Aptos"/>
              </a:defRPr>
            </a:pPr>
            <a:r>
              <a:rPr sz="1065" b="0">
                <a:solidFill>
                  <a:srgbClr val="FFFFFF"/>
                </a:solidFill>
                <a:latin typeface="Aptos"/>
                <a:ea typeface="Aptos"/>
                <a:cs typeface="Aptos"/>
              </a:rPr>
              <a:t>Use to reproduce the retained baseline</a:t>
            </a:r>
          </a:p>
        </p:txBody>
      </p:sp>
      <p:sp>
        <p:nvSpPr>
          <p:cNvPr id="34" name="s22-practice">
            <a:extLst xmlns:a="http://schemas.openxmlformats.org/drawingml/2006/main">
              <a:ext uri="{FF2B5EF4-FFF2-40B4-BE49-F238E27FC236}">
                <a16:creationId xmlns:a16="http://schemas.microsoft.com/office/drawing/2014/main" id="{F56EDA53-0C69-4D9F-AAF4-33A701620DCA}"/>
              </a:ext>
            </a:extLst>
          </p:cNvPr>
          <p:cNvSpPr>
            <a:spLocks xmlns:a="http://schemas.openxmlformats.org/drawingml/2006/main" noGrp="1"/>
          </p:cNvSpPr>
          <p:nvPr/>
        </p:nvSpPr>
        <p:spPr>
          <a:xfrm xmlns:a="http://schemas.openxmlformats.org/drawingml/2006/main">
            <a:off x="6286500" y="1581150"/>
            <a:ext cx="5219700" cy="2590800"/>
          </a:xfrm>
          <a:prstGeom xmlns:a="http://schemas.openxmlformats.org/drawingml/2006/main" prst="roundRect">
            <a:avLst>
              <a:gd name="adj" fmla="val 4412"/>
            </a:avLst>
          </a:prstGeom>
          <a:solidFill xmlns:a="http://schemas.openxmlformats.org/drawingml/2006/main">
            <a:srgbClr val="0C2133"/>
          </a:solidFill>
          <a:ln xmlns:a="http://schemas.openxmlformats.org/drawingml/2006/main" w="14288">
            <a:solidFill>
              <a:srgbClr val="E9A23B"/>
            </a:solidFill>
            <a:prstDash val="solid"/>
          </a:ln>
        </p:spPr>
      </p:sp>
      <p:sp>
        <p:nvSpPr>
          <p:cNvPr id="35" name="s22-practice-title">
            <a:extLst xmlns:a="http://schemas.openxmlformats.org/drawingml/2006/main">
              <a:ext uri="{FF2B5EF4-FFF2-40B4-BE49-F238E27FC236}">
                <a16:creationId xmlns:a16="http://schemas.microsoft.com/office/drawing/2014/main" id="{A65BC673-D0E6-4E38-A41D-821701BE01E0}"/>
              </a:ext>
            </a:extLst>
          </p:cNvPr>
          <p:cNvSpPr>
            <a:spLocks xmlns:a="http://schemas.openxmlformats.org/drawingml/2006/main" noGrp="1"/>
          </p:cNvSpPr>
          <p:nvPr/>
        </p:nvSpPr>
        <p:spPr>
          <a:xfrm xmlns:a="http://schemas.openxmlformats.org/drawingml/2006/main">
            <a:off x="6496050" y="1752600"/>
            <a:ext cx="480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E9A23B"/>
                </a:solidFill>
                <a:latin typeface="Aptos"/>
                <a:ea typeface="Aptos"/>
                <a:cs typeface="Aptos"/>
              </a:defRPr>
            </a:pPr>
            <a:r>
              <a:rPr sz="1275" b="1">
                <a:solidFill>
                  <a:srgbClr val="E9A23B"/>
                </a:solidFill>
                <a:latin typeface="Aptos"/>
                <a:ea typeface="Aptos"/>
                <a:cs typeface="Aptos"/>
              </a:rPr>
              <a:t>LEARNER PRACTICE DRIVER</a:t>
            </a:r>
          </a:p>
        </p:txBody>
      </p:sp>
      <p:sp>
        <p:nvSpPr>
          <p:cNvPr id="36" name="s22-practice-code">
            <a:extLst xmlns:a="http://schemas.openxmlformats.org/drawingml/2006/main">
              <a:ext uri="{FF2B5EF4-FFF2-40B4-BE49-F238E27FC236}">
                <a16:creationId xmlns:a16="http://schemas.microsoft.com/office/drawing/2014/main" id="{0FFE01E4-87EE-487C-A57E-22CEB432BF69}"/>
              </a:ext>
            </a:extLst>
          </p:cNvPr>
          <p:cNvSpPr>
            <a:spLocks xmlns:a="http://schemas.openxmlformats.org/drawingml/2006/main" noGrp="1"/>
          </p:cNvSpPr>
          <p:nvPr/>
        </p:nvSpPr>
        <p:spPr>
          <a:xfrm xmlns:a="http://schemas.openxmlformats.org/drawingml/2006/main">
            <a:off x="6496050" y="2152650"/>
            <a:ext cx="4800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FFFFFF"/>
                </a:solidFill>
                <a:latin typeface="Consolas"/>
                <a:ea typeface="Consolas"/>
                <a:cs typeface="Consolas"/>
              </a:defRPr>
            </a:pPr>
            <a:r>
              <a:rPr sz="1005" b="1">
                <a:solidFill>
                  <a:srgbClr val="FFFFFF"/>
                </a:solidFill>
                <a:latin typeface="Consolas"/>
                <a:ea typeface="Consolas"/>
                <a:cs typeface="Consolas"/>
              </a:rPr>
              <a:t>run_pitch_rate_limiter_practice_tests( ...</a:t>
            </a:r>
          </a:p>
          <a:p xmlns:a="http://schemas.openxmlformats.org/drawingml/2006/main">
            <a:pPr algn="ctr">
              <a:defRPr sz="1005" b="1">
                <a:solidFill>
                  <a:srgbClr val="FFFFFF"/>
                </a:solidFill>
                <a:latin typeface="Consolas"/>
                <a:ea typeface="Consolas"/>
                <a:cs typeface="Consolas"/>
              </a:defRPr>
            </a:pPr>
            <a:r>
              <a:rPr sz="1005" b="1">
                <a:solidFill>
                  <a:srgbClr val="FFFFFF"/>
                </a:solidFill>
                <a:latin typeface="Consolas"/>
                <a:ea typeface="Consolas"/>
                <a:cs typeface="Consolas"/>
              </a:rPr>
              <a:t>    projectRoot,'TLEE')</a:t>
            </a:r>
          </a:p>
        </p:txBody>
      </p:sp>
      <p:sp>
        <p:nvSpPr>
          <p:cNvPr id="37" name="s22-practice-list-dot-0">
            <a:extLst xmlns:a="http://schemas.openxmlformats.org/drawingml/2006/main">
              <a:ext uri="{FF2B5EF4-FFF2-40B4-BE49-F238E27FC236}">
                <a16:creationId xmlns:a16="http://schemas.microsoft.com/office/drawing/2014/main" id="{4FB45049-CAED-4973-83D3-A93A75B45AE9}"/>
              </a:ext>
            </a:extLst>
          </p:cNvPr>
          <p:cNvSpPr>
            <a:spLocks xmlns:a="http://schemas.openxmlformats.org/drawingml/2006/main" noGrp="1"/>
          </p:cNvSpPr>
          <p:nvPr/>
        </p:nvSpPr>
        <p:spPr>
          <a:xfrm xmlns:a="http://schemas.openxmlformats.org/drawingml/2006/main">
            <a:off x="6572250" y="29241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38" name="s22-practice-list-text-0">
            <a:extLst xmlns:a="http://schemas.openxmlformats.org/drawingml/2006/main">
              <a:ext uri="{FF2B5EF4-FFF2-40B4-BE49-F238E27FC236}">
                <a16:creationId xmlns:a16="http://schemas.microsoft.com/office/drawing/2014/main" id="{5BD2A610-BF0C-460C-8306-F240BFA11F81}"/>
              </a:ext>
            </a:extLst>
          </p:cNvPr>
          <p:cNvSpPr>
            <a:spLocks xmlns:a="http://schemas.openxmlformats.org/drawingml/2006/main" noGrp="1"/>
          </p:cNvSpPr>
          <p:nvPr/>
        </p:nvSpPr>
        <p:spPr>
          <a:xfrm xmlns:a="http://schemas.openxmlformats.org/drawingml/2006/main">
            <a:off x="6762750" y="28384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FFFFFF"/>
                </a:solidFill>
                <a:latin typeface="Aptos"/>
                <a:ea typeface="Aptos"/>
                <a:cs typeface="Aptos"/>
              </a:defRPr>
            </a:pPr>
            <a:r>
              <a:rPr sz="1065" b="0">
                <a:solidFill>
                  <a:srgbClr val="FFFFFF"/>
                </a:solidFill>
                <a:latin typeface="Aptos"/>
                <a:ea typeface="Aptos"/>
                <a:cs typeface="Aptos"/>
              </a:rPr>
              <a:t>Targets matching uniquely named practice harness</a:t>
            </a:r>
          </a:p>
        </p:txBody>
      </p:sp>
      <p:sp>
        <p:nvSpPr>
          <p:cNvPr id="39" name="s22-practice-list-dot-1">
            <a:extLst xmlns:a="http://schemas.openxmlformats.org/drawingml/2006/main">
              <a:ext uri="{FF2B5EF4-FFF2-40B4-BE49-F238E27FC236}">
                <a16:creationId xmlns:a16="http://schemas.microsoft.com/office/drawing/2014/main" id="{8CC140DD-5B43-4F84-85BB-4B146F72FE2A}"/>
              </a:ext>
            </a:extLst>
          </p:cNvPr>
          <p:cNvSpPr>
            <a:spLocks xmlns:a="http://schemas.openxmlformats.org/drawingml/2006/main" noGrp="1"/>
          </p:cNvSpPr>
          <p:nvPr/>
        </p:nvSpPr>
        <p:spPr>
          <a:xfrm xmlns:a="http://schemas.openxmlformats.org/drawingml/2006/main">
            <a:off x="6572250" y="33051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40" name="s22-practice-list-text-1">
            <a:extLst xmlns:a="http://schemas.openxmlformats.org/drawingml/2006/main">
              <a:ext uri="{FF2B5EF4-FFF2-40B4-BE49-F238E27FC236}">
                <a16:creationId xmlns:a16="http://schemas.microsoft.com/office/drawing/2014/main" id="{11D85FCA-80CA-4C0B-90C2-109605B2C344}"/>
              </a:ext>
            </a:extLst>
          </p:cNvPr>
          <p:cNvSpPr>
            <a:spLocks xmlns:a="http://schemas.openxmlformats.org/drawingml/2006/main" noGrp="1"/>
          </p:cNvSpPr>
          <p:nvPr/>
        </p:nvSpPr>
        <p:spPr>
          <a:xfrm xmlns:a="http://schemas.openxmlformats.org/drawingml/2006/main">
            <a:off x="6762750" y="32194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FFFFFF"/>
                </a:solidFill>
                <a:latin typeface="Aptos"/>
                <a:ea typeface="Aptos"/>
                <a:cs typeface="Aptos"/>
              </a:defRPr>
            </a:pPr>
            <a:r>
              <a:rPr sz="1065" b="0">
                <a:solidFill>
                  <a:srgbClr val="FFFFFF"/>
                </a:solidFill>
                <a:latin typeface="Aptos"/>
                <a:ea typeface="Aptos"/>
                <a:cs typeface="Aptos"/>
              </a:rPr>
              <a:t>Writes learner_workspace/TLEE/evidence/</a:t>
            </a:r>
          </a:p>
        </p:txBody>
      </p:sp>
      <p:sp>
        <p:nvSpPr>
          <p:cNvPr id="41" name="s22-practice-list-dot-2">
            <a:extLst xmlns:a="http://schemas.openxmlformats.org/drawingml/2006/main">
              <a:ext uri="{FF2B5EF4-FFF2-40B4-BE49-F238E27FC236}">
                <a16:creationId xmlns:a16="http://schemas.microsoft.com/office/drawing/2014/main" id="{DAD0F748-B3D2-4747-9C4C-B101A40BB3AC}"/>
              </a:ext>
            </a:extLst>
          </p:cNvPr>
          <p:cNvSpPr>
            <a:spLocks xmlns:a="http://schemas.openxmlformats.org/drawingml/2006/main" noGrp="1"/>
          </p:cNvSpPr>
          <p:nvPr/>
        </p:nvSpPr>
        <p:spPr>
          <a:xfrm xmlns:a="http://schemas.openxmlformats.org/drawingml/2006/main">
            <a:off x="6572250" y="36861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42" name="s22-practice-list-text-2">
            <a:extLst xmlns:a="http://schemas.openxmlformats.org/drawingml/2006/main">
              <a:ext uri="{FF2B5EF4-FFF2-40B4-BE49-F238E27FC236}">
                <a16:creationId xmlns:a16="http://schemas.microsoft.com/office/drawing/2014/main" id="{34582B80-D5DF-4B7F-A01C-3CB2DA6D5FB2}"/>
              </a:ext>
            </a:extLst>
          </p:cNvPr>
          <p:cNvSpPr>
            <a:spLocks xmlns:a="http://schemas.openxmlformats.org/drawingml/2006/main" noGrp="1"/>
          </p:cNvSpPr>
          <p:nvPr/>
        </p:nvSpPr>
        <p:spPr>
          <a:xfrm xmlns:a="http://schemas.openxmlformats.org/drawingml/2006/main">
            <a:off x="6762750" y="36004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65" b="0">
                <a:solidFill>
                  <a:srgbClr val="FFFFFF"/>
                </a:solidFill>
                <a:latin typeface="Aptos"/>
                <a:ea typeface="Aptos"/>
                <a:cs typeface="Aptos"/>
              </a:defRPr>
            </a:pPr>
            <a:r>
              <a:rPr sz="1065" b="0">
                <a:solidFill>
                  <a:srgbClr val="FFFFFF"/>
                </a:solidFill>
                <a:latin typeface="Aptos"/>
                <a:ea typeface="Aptos"/>
                <a:cs typeface="Aptos"/>
              </a:rPr>
              <a:t>Does not replace controlled baseline results</a:t>
            </a:r>
          </a:p>
        </p:txBody>
      </p:sp>
      <p:sp>
        <p:nvSpPr>
          <p:cNvPr id="43" name="s22-shared">
            <a:extLst xmlns:a="http://schemas.openxmlformats.org/drawingml/2006/main">
              <a:ext uri="{FF2B5EF4-FFF2-40B4-BE49-F238E27FC236}">
                <a16:creationId xmlns:a16="http://schemas.microsoft.com/office/drawing/2014/main" id="{916BF917-3132-4D64-AC11-0D8C09F3935D}"/>
              </a:ext>
            </a:extLst>
          </p:cNvPr>
          <p:cNvSpPr>
            <a:spLocks xmlns:a="http://schemas.openxmlformats.org/drawingml/2006/main" noGrp="1"/>
          </p:cNvSpPr>
          <p:nvPr/>
        </p:nvSpPr>
        <p:spPr>
          <a:xfrm xmlns:a="http://schemas.openxmlformats.org/drawingml/2006/main">
            <a:off x="685800" y="4438650"/>
            <a:ext cx="10820400" cy="895350"/>
          </a:xfrm>
          <a:prstGeom xmlns:a="http://schemas.openxmlformats.org/drawingml/2006/main" prst="roundRect">
            <a:avLst>
              <a:gd name="adj" fmla="val 12766"/>
            </a:avLst>
          </a:prstGeom>
          <a:solidFill xmlns:a="http://schemas.openxmlformats.org/drawingml/2006/main">
            <a:srgbClr val="091A29"/>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65" b="1">
                <a:solidFill>
                  <a:srgbClr val="FFFFFF"/>
                </a:solidFill>
                <a:latin typeface="Aptos"/>
                <a:ea typeface="Aptos"/>
                <a:cs typeface="Aptos"/>
              </a:defRPr>
            </a:pPr>
            <a:r>
              <a:rPr sz="1065" b="1">
                <a:solidFill>
                  <a:srgbClr val="FFFFFF"/>
                </a:solidFill>
                <a:latin typeface="Aptos"/>
                <a:ea typeface="Aptos"/>
                <a:cs typeface="Aptos"/>
              </a:rPr>
              <a:t>SHARED EXECUTABLE ASSESSMENT  •  three injected timeseries  •  one 0.36 s simulation  •  19 assessment rows  •  numeric / active / timestamp checks + suite-level 50 Hz spacing  •  CSV / MAT / HTML / PNG</a:t>
            </a:r>
          </a:p>
        </p:txBody>
      </p:sp>
      <p:sp>
        <p:nvSpPr>
          <p:cNvPr id="44" name="s22-scope">
            <a:extLst xmlns:a="http://schemas.openxmlformats.org/drawingml/2006/main">
              <a:ext uri="{FF2B5EF4-FFF2-40B4-BE49-F238E27FC236}">
                <a16:creationId xmlns:a16="http://schemas.microsoft.com/office/drawing/2014/main" id="{677413E1-052D-4E8D-A364-7D6EA2DAC034}"/>
              </a:ext>
            </a:extLst>
          </p:cNvPr>
          <p:cNvSpPr>
            <a:spLocks xmlns:a="http://schemas.openxmlformats.org/drawingml/2006/main" noGrp="1"/>
          </p:cNvSpPr>
          <p:nvPr/>
        </p:nvSpPr>
        <p:spPr>
          <a:xfrm xmlns:a="http://schemas.openxmlformats.org/drawingml/2006/main">
            <a:off x="685800" y="556260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SAVED HARNESS RUN = BENIGN PLACEHOLDERS  •  execute the matching driver for assessed evidence  •  no Test Manager suite</a:t>
            </a:r>
          </a:p>
        </p:txBody>
      </p:sp>
    </p:spTree>
    <p:extLst>
      <p:ext uri="{BB962C8B-B14F-4D97-AF65-F5344CB8AC3E}">
        <p14:creationId xmlns:p14="http://schemas.microsoft.com/office/powerpoint/2010/main" val="445827379"/>
      </p:ext>
    </p:extLst>
  </p:cSld>
</p:sld>
</file>

<file path=ppt/slides/slide2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HARNESS &amp; BUILD</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Ctrl+D, Run, and Ctrl+B answer different questions</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23</a:t>
            </a:r>
          </a:p>
        </p:txBody>
      </p:sp>
      <p:sp>
        <p:nvSpPr>
          <p:cNvPr id="13" name="s23-col-0">
            <a:extLst xmlns:a="http://schemas.openxmlformats.org/drawingml/2006/main">
              <a:ext uri="{FF2B5EF4-FFF2-40B4-BE49-F238E27FC236}">
                <a16:creationId xmlns:a16="http://schemas.microsoft.com/office/drawing/2014/main" id="{AD273AB0-C07B-47DD-A165-BC6B752E561E}"/>
              </a:ext>
            </a:extLst>
          </p:cNvPr>
          <p:cNvSpPr>
            <a:spLocks xmlns:a="http://schemas.openxmlformats.org/drawingml/2006/main" noGrp="1"/>
          </p:cNvSpPr>
          <p:nvPr/>
        </p:nvSpPr>
        <p:spPr>
          <a:xfrm xmlns:a="http://schemas.openxmlformats.org/drawingml/2006/main">
            <a:off x="685800" y="1619250"/>
            <a:ext cx="3352800" cy="35242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5240">
            <a:solidFill>
              <a:srgbClr val="20B7C5"/>
            </a:solidFill>
            <a:prstDash val="solid"/>
          </a:ln>
        </p:spPr>
      </p:sp>
      <p:sp>
        <p:nvSpPr>
          <p:cNvPr id="14" name="s23-key-0">
            <a:extLst xmlns:a="http://schemas.openxmlformats.org/drawingml/2006/main">
              <a:ext uri="{FF2B5EF4-FFF2-40B4-BE49-F238E27FC236}">
                <a16:creationId xmlns:a16="http://schemas.microsoft.com/office/drawing/2014/main" id="{A9D8DB67-7C85-41A3-9131-99084E3E100F}"/>
              </a:ext>
            </a:extLst>
          </p:cNvPr>
          <p:cNvSpPr>
            <a:spLocks xmlns:a="http://schemas.openxmlformats.org/drawingml/2006/main" noGrp="1"/>
          </p:cNvSpPr>
          <p:nvPr/>
        </p:nvSpPr>
        <p:spPr>
          <a:xfrm xmlns:a="http://schemas.openxmlformats.org/drawingml/2006/main">
            <a:off x="857250" y="18097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75" b="1">
                <a:solidFill>
                  <a:srgbClr val="20B7C5"/>
                </a:solidFill>
                <a:latin typeface="Aptos"/>
                <a:ea typeface="Aptos"/>
                <a:cs typeface="Aptos"/>
              </a:defRPr>
            </a:pPr>
            <a:r>
              <a:rPr sz="1875" b="1">
                <a:solidFill>
                  <a:srgbClr val="20B7C5"/>
                </a:solidFill>
                <a:latin typeface="Aptos"/>
                <a:ea typeface="Aptos"/>
                <a:cs typeface="Aptos"/>
              </a:rPr>
              <a:t>Ctrl+D</a:t>
            </a:r>
          </a:p>
        </p:txBody>
      </p:sp>
      <p:sp>
        <p:nvSpPr>
          <p:cNvPr id="15" name="s23-title-0">
            <a:extLst xmlns:a="http://schemas.openxmlformats.org/drawingml/2006/main">
              <a:ext uri="{FF2B5EF4-FFF2-40B4-BE49-F238E27FC236}">
                <a16:creationId xmlns:a16="http://schemas.microsoft.com/office/drawing/2014/main" id="{0CEAA721-30BE-49AF-97B6-BB6054B5DF09}"/>
              </a:ext>
            </a:extLst>
          </p:cNvPr>
          <p:cNvSpPr>
            <a:spLocks xmlns:a="http://schemas.openxmlformats.org/drawingml/2006/main" noGrp="1"/>
          </p:cNvSpPr>
          <p:nvPr/>
        </p:nvSpPr>
        <p:spPr>
          <a:xfrm xmlns:a="http://schemas.openxmlformats.org/drawingml/2006/main">
            <a:off x="857250" y="22669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UPDATE MODEL</a:t>
            </a:r>
          </a:p>
        </p:txBody>
      </p:sp>
      <p:sp>
        <p:nvSpPr>
          <p:cNvPr id="16" name="s23-list-0-dot-0">
            <a:extLst xmlns:a="http://schemas.openxmlformats.org/drawingml/2006/main">
              <a:ext uri="{FF2B5EF4-FFF2-40B4-BE49-F238E27FC236}">
                <a16:creationId xmlns:a16="http://schemas.microsoft.com/office/drawing/2014/main" id="{B2F3A071-26F7-4C47-93AA-2DF25A327997}"/>
              </a:ext>
            </a:extLst>
          </p:cNvPr>
          <p:cNvSpPr>
            <a:spLocks xmlns:a="http://schemas.openxmlformats.org/drawingml/2006/main" noGrp="1"/>
          </p:cNvSpPr>
          <p:nvPr/>
        </p:nvSpPr>
        <p:spPr>
          <a:xfrm xmlns:a="http://schemas.openxmlformats.org/drawingml/2006/main">
            <a:off x="952500" y="286702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17" name="s23-list-0-text-0">
            <a:extLst xmlns:a="http://schemas.openxmlformats.org/drawingml/2006/main">
              <a:ext uri="{FF2B5EF4-FFF2-40B4-BE49-F238E27FC236}">
                <a16:creationId xmlns:a16="http://schemas.microsoft.com/office/drawing/2014/main" id="{917F8322-18C1-4162-89A7-6D3C677E9BC4}"/>
              </a:ext>
            </a:extLst>
          </p:cNvPr>
          <p:cNvSpPr>
            <a:spLocks xmlns:a="http://schemas.openxmlformats.org/drawingml/2006/main" noGrp="1"/>
          </p:cNvSpPr>
          <p:nvPr/>
        </p:nvSpPr>
        <p:spPr>
          <a:xfrm xmlns:a="http://schemas.openxmlformats.org/drawingml/2006/main">
            <a:off x="1143000" y="278130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Evaluates parameters</a:t>
            </a:r>
          </a:p>
        </p:txBody>
      </p:sp>
      <p:sp>
        <p:nvSpPr>
          <p:cNvPr id="18" name="s23-list-0-dot-1">
            <a:extLst xmlns:a="http://schemas.openxmlformats.org/drawingml/2006/main">
              <a:ext uri="{FF2B5EF4-FFF2-40B4-BE49-F238E27FC236}">
                <a16:creationId xmlns:a16="http://schemas.microsoft.com/office/drawing/2014/main" id="{621D1E16-0C1C-4D1A-A740-024FE5AC2393}"/>
              </a:ext>
            </a:extLst>
          </p:cNvPr>
          <p:cNvSpPr>
            <a:spLocks xmlns:a="http://schemas.openxmlformats.org/drawingml/2006/main" noGrp="1"/>
          </p:cNvSpPr>
          <p:nvPr/>
        </p:nvSpPr>
        <p:spPr>
          <a:xfrm xmlns:a="http://schemas.openxmlformats.org/drawingml/2006/main">
            <a:off x="952500" y="33051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19" name="s23-list-0-text-1">
            <a:extLst xmlns:a="http://schemas.openxmlformats.org/drawingml/2006/main">
              <a:ext uri="{FF2B5EF4-FFF2-40B4-BE49-F238E27FC236}">
                <a16:creationId xmlns:a16="http://schemas.microsoft.com/office/drawing/2014/main" id="{D4BA7E45-FE36-4A94-914B-1A1EBB2F5F34}"/>
              </a:ext>
            </a:extLst>
          </p:cNvPr>
          <p:cNvSpPr>
            <a:spLocks xmlns:a="http://schemas.openxmlformats.org/drawingml/2006/main" noGrp="1"/>
          </p:cNvSpPr>
          <p:nvPr/>
        </p:nvSpPr>
        <p:spPr>
          <a:xfrm xmlns:a="http://schemas.openxmlformats.org/drawingml/2006/main">
            <a:off x="1143000" y="321945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Propagates interfaces/sample times</a:t>
            </a:r>
          </a:p>
        </p:txBody>
      </p:sp>
      <p:sp>
        <p:nvSpPr>
          <p:cNvPr id="20" name="s23-list-0-dot-2">
            <a:extLst xmlns:a="http://schemas.openxmlformats.org/drawingml/2006/main">
              <a:ext uri="{FF2B5EF4-FFF2-40B4-BE49-F238E27FC236}">
                <a16:creationId xmlns:a16="http://schemas.microsoft.com/office/drawing/2014/main" id="{C0DDC42B-880D-4780-9D18-2EA0BEDFEE55}"/>
              </a:ext>
            </a:extLst>
          </p:cNvPr>
          <p:cNvSpPr>
            <a:spLocks xmlns:a="http://schemas.openxmlformats.org/drawingml/2006/main" noGrp="1"/>
          </p:cNvSpPr>
          <p:nvPr/>
        </p:nvSpPr>
        <p:spPr>
          <a:xfrm xmlns:a="http://schemas.openxmlformats.org/drawingml/2006/main">
            <a:off x="952500" y="374332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21" name="s23-list-0-text-2">
            <a:extLst xmlns:a="http://schemas.openxmlformats.org/drawingml/2006/main">
              <a:ext uri="{FF2B5EF4-FFF2-40B4-BE49-F238E27FC236}">
                <a16:creationId xmlns:a16="http://schemas.microsoft.com/office/drawing/2014/main" id="{C35DDA71-E074-46B6-AA58-F32ACC9E793B}"/>
              </a:ext>
            </a:extLst>
          </p:cNvPr>
          <p:cNvSpPr>
            <a:spLocks xmlns:a="http://schemas.openxmlformats.org/drawingml/2006/main" noGrp="1"/>
          </p:cNvSpPr>
          <p:nvPr/>
        </p:nvSpPr>
        <p:spPr>
          <a:xfrm xmlns:a="http://schemas.openxmlformats.org/drawingml/2006/main">
            <a:off x="1143000" y="365760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Checks diagram compatibility</a:t>
            </a:r>
          </a:p>
        </p:txBody>
      </p:sp>
      <p:sp>
        <p:nvSpPr>
          <p:cNvPr id="22" name="s23-result-0">
            <a:extLst xmlns:a="http://schemas.openxmlformats.org/drawingml/2006/main">
              <a:ext uri="{FF2B5EF4-FFF2-40B4-BE49-F238E27FC236}">
                <a16:creationId xmlns:a16="http://schemas.microsoft.com/office/drawing/2014/main" id="{064313BE-701D-4D40-9700-BA5A644814F6}"/>
              </a:ext>
            </a:extLst>
          </p:cNvPr>
          <p:cNvSpPr>
            <a:spLocks xmlns:a="http://schemas.openxmlformats.org/drawingml/2006/main" noGrp="1"/>
          </p:cNvSpPr>
          <p:nvPr/>
        </p:nvSpPr>
        <p:spPr>
          <a:xfrm xmlns:a="http://schemas.openxmlformats.org/drawingml/2006/main">
            <a:off x="876300" y="4343400"/>
            <a:ext cx="2971800" cy="571500"/>
          </a:xfrm>
          <a:prstGeom xmlns:a="http://schemas.openxmlformats.org/drawingml/2006/main" prst="roundRect">
            <a:avLst>
              <a:gd name="adj" fmla="val 20000"/>
            </a:avLst>
          </a:prstGeom>
          <a:solidFill xmlns:a="http://schemas.openxmlformats.org/drawingml/2006/main">
            <a:srgbClr val="091A29"/>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FFFFFF"/>
                </a:solidFill>
                <a:latin typeface="Aptos"/>
                <a:ea typeface="Aptos"/>
                <a:cs typeface="Aptos"/>
              </a:defRPr>
            </a:pPr>
            <a:r>
              <a:rPr sz="1005" b="1">
                <a:solidFill>
                  <a:srgbClr val="FFFFFF"/>
                </a:solidFill>
                <a:latin typeface="Aptos"/>
                <a:ea typeface="Aptos"/>
                <a:cs typeface="Aptos"/>
              </a:rPr>
              <a:t>RESULT: compiled diagram; no time advances</a:t>
            </a:r>
          </a:p>
        </p:txBody>
      </p:sp>
      <p:sp>
        <p:nvSpPr>
          <p:cNvPr id="23" name="s23-col-1">
            <a:extLst xmlns:a="http://schemas.openxmlformats.org/drawingml/2006/main">
              <a:ext uri="{FF2B5EF4-FFF2-40B4-BE49-F238E27FC236}">
                <a16:creationId xmlns:a16="http://schemas.microsoft.com/office/drawing/2014/main" id="{C4A27215-57B2-4131-B6A3-09833C89AC37}"/>
              </a:ext>
            </a:extLst>
          </p:cNvPr>
          <p:cNvSpPr>
            <a:spLocks xmlns:a="http://schemas.openxmlformats.org/drawingml/2006/main" noGrp="1"/>
          </p:cNvSpPr>
          <p:nvPr/>
        </p:nvSpPr>
        <p:spPr>
          <a:xfrm xmlns:a="http://schemas.openxmlformats.org/drawingml/2006/main">
            <a:off x="4343400" y="1619250"/>
            <a:ext cx="3352800" cy="35242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5240">
            <a:solidFill>
              <a:srgbClr val="2CA56F"/>
            </a:solidFill>
            <a:prstDash val="solid"/>
          </a:ln>
        </p:spPr>
      </p:sp>
      <p:sp>
        <p:nvSpPr>
          <p:cNvPr id="24" name="s23-key-1">
            <a:extLst xmlns:a="http://schemas.openxmlformats.org/drawingml/2006/main">
              <a:ext uri="{FF2B5EF4-FFF2-40B4-BE49-F238E27FC236}">
                <a16:creationId xmlns:a16="http://schemas.microsoft.com/office/drawing/2014/main" id="{0824DDB6-6606-4032-8D35-BBA5FD4D70F2}"/>
              </a:ext>
            </a:extLst>
          </p:cNvPr>
          <p:cNvSpPr>
            <a:spLocks xmlns:a="http://schemas.openxmlformats.org/drawingml/2006/main" noGrp="1"/>
          </p:cNvSpPr>
          <p:nvPr/>
        </p:nvSpPr>
        <p:spPr>
          <a:xfrm xmlns:a="http://schemas.openxmlformats.org/drawingml/2006/main">
            <a:off x="4514850" y="18097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75" b="1">
                <a:solidFill>
                  <a:srgbClr val="2CA56F"/>
                </a:solidFill>
                <a:latin typeface="Aptos"/>
                <a:ea typeface="Aptos"/>
                <a:cs typeface="Aptos"/>
              </a:defRPr>
            </a:pPr>
            <a:r>
              <a:rPr sz="1875" b="1">
                <a:solidFill>
                  <a:srgbClr val="2CA56F"/>
                </a:solidFill>
                <a:latin typeface="Aptos"/>
                <a:ea typeface="Aptos"/>
                <a:cs typeface="Aptos"/>
              </a:rPr>
              <a:t>Run / sim</a:t>
            </a:r>
          </a:p>
        </p:txBody>
      </p:sp>
      <p:sp>
        <p:nvSpPr>
          <p:cNvPr id="25" name="s23-title-1">
            <a:extLst xmlns:a="http://schemas.openxmlformats.org/drawingml/2006/main">
              <a:ext uri="{FF2B5EF4-FFF2-40B4-BE49-F238E27FC236}">
                <a16:creationId xmlns:a16="http://schemas.microsoft.com/office/drawing/2014/main" id="{D0E6E414-78A0-4887-AD43-FB7A579CC649}"/>
              </a:ext>
            </a:extLst>
          </p:cNvPr>
          <p:cNvSpPr>
            <a:spLocks xmlns:a="http://schemas.openxmlformats.org/drawingml/2006/main" noGrp="1"/>
          </p:cNvSpPr>
          <p:nvPr/>
        </p:nvSpPr>
        <p:spPr>
          <a:xfrm xmlns:a="http://schemas.openxmlformats.org/drawingml/2006/main">
            <a:off x="4514850" y="22669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EXECUTE MODEL</a:t>
            </a:r>
          </a:p>
        </p:txBody>
      </p:sp>
      <p:sp>
        <p:nvSpPr>
          <p:cNvPr id="26" name="s23-list-1-dot-0">
            <a:extLst xmlns:a="http://schemas.openxmlformats.org/drawingml/2006/main">
              <a:ext uri="{FF2B5EF4-FFF2-40B4-BE49-F238E27FC236}">
                <a16:creationId xmlns:a16="http://schemas.microsoft.com/office/drawing/2014/main" id="{2C41EA72-EFE6-4A66-AAD2-1C95FF6CBF4F}"/>
              </a:ext>
            </a:extLst>
          </p:cNvPr>
          <p:cNvSpPr>
            <a:spLocks xmlns:a="http://schemas.openxmlformats.org/drawingml/2006/main" noGrp="1"/>
          </p:cNvSpPr>
          <p:nvPr/>
        </p:nvSpPr>
        <p:spPr>
          <a:xfrm xmlns:a="http://schemas.openxmlformats.org/drawingml/2006/main">
            <a:off x="4610100" y="286702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27" name="s23-list-1-text-0">
            <a:extLst xmlns:a="http://schemas.openxmlformats.org/drawingml/2006/main">
              <a:ext uri="{FF2B5EF4-FFF2-40B4-BE49-F238E27FC236}">
                <a16:creationId xmlns:a16="http://schemas.microsoft.com/office/drawing/2014/main" id="{FFDF3363-6E67-4665-BB10-7359328CDA4C}"/>
              </a:ext>
            </a:extLst>
          </p:cNvPr>
          <p:cNvSpPr>
            <a:spLocks xmlns:a="http://schemas.openxmlformats.org/drawingml/2006/main" noGrp="1"/>
          </p:cNvSpPr>
          <p:nvPr/>
        </p:nvSpPr>
        <p:spPr>
          <a:xfrm xmlns:a="http://schemas.openxmlformats.org/drawingml/2006/main">
            <a:off x="4800600" y="278130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Uses current inputs/settings</a:t>
            </a:r>
          </a:p>
        </p:txBody>
      </p:sp>
      <p:sp>
        <p:nvSpPr>
          <p:cNvPr id="28" name="s23-list-1-dot-1">
            <a:extLst xmlns:a="http://schemas.openxmlformats.org/drawingml/2006/main">
              <a:ext uri="{FF2B5EF4-FFF2-40B4-BE49-F238E27FC236}">
                <a16:creationId xmlns:a16="http://schemas.microsoft.com/office/drawing/2014/main" id="{D18A105F-7B53-447E-ADAC-50D0DFC7E56E}"/>
              </a:ext>
            </a:extLst>
          </p:cNvPr>
          <p:cNvSpPr>
            <a:spLocks xmlns:a="http://schemas.openxmlformats.org/drawingml/2006/main" noGrp="1"/>
          </p:cNvSpPr>
          <p:nvPr/>
        </p:nvSpPr>
        <p:spPr>
          <a:xfrm xmlns:a="http://schemas.openxmlformats.org/drawingml/2006/main">
            <a:off x="4610100" y="330517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29" name="s23-list-1-text-1">
            <a:extLst xmlns:a="http://schemas.openxmlformats.org/drawingml/2006/main">
              <a:ext uri="{FF2B5EF4-FFF2-40B4-BE49-F238E27FC236}">
                <a16:creationId xmlns:a16="http://schemas.microsoft.com/office/drawing/2014/main" id="{2DA20078-CAB8-40D5-BB34-AFACFE51B89B}"/>
              </a:ext>
            </a:extLst>
          </p:cNvPr>
          <p:cNvSpPr>
            <a:spLocks xmlns:a="http://schemas.openxmlformats.org/drawingml/2006/main" noGrp="1"/>
          </p:cNvSpPr>
          <p:nvPr/>
        </p:nvSpPr>
        <p:spPr>
          <a:xfrm xmlns:a="http://schemas.openxmlformats.org/drawingml/2006/main">
            <a:off x="4800600" y="321945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Scripted sim may inject overrides</a:t>
            </a:r>
          </a:p>
        </p:txBody>
      </p:sp>
      <p:sp>
        <p:nvSpPr>
          <p:cNvPr id="30" name="s23-list-1-dot-2">
            <a:extLst xmlns:a="http://schemas.openxmlformats.org/drawingml/2006/main">
              <a:ext uri="{FF2B5EF4-FFF2-40B4-BE49-F238E27FC236}">
                <a16:creationId xmlns:a16="http://schemas.microsoft.com/office/drawing/2014/main" id="{677CEF70-AF1F-4F92-BEDB-D676E07FE8C4}"/>
              </a:ext>
            </a:extLst>
          </p:cNvPr>
          <p:cNvSpPr>
            <a:spLocks xmlns:a="http://schemas.openxmlformats.org/drawingml/2006/main" noGrp="1"/>
          </p:cNvSpPr>
          <p:nvPr/>
        </p:nvSpPr>
        <p:spPr>
          <a:xfrm xmlns:a="http://schemas.openxmlformats.org/drawingml/2006/main">
            <a:off x="4610100" y="374332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31" name="s23-list-1-text-2">
            <a:extLst xmlns:a="http://schemas.openxmlformats.org/drawingml/2006/main">
              <a:ext uri="{FF2B5EF4-FFF2-40B4-BE49-F238E27FC236}">
                <a16:creationId xmlns:a16="http://schemas.microsoft.com/office/drawing/2014/main" id="{1261E40B-9690-4A20-B52D-643FA08FD079}"/>
              </a:ext>
            </a:extLst>
          </p:cNvPr>
          <p:cNvSpPr>
            <a:spLocks xmlns:a="http://schemas.openxmlformats.org/drawingml/2006/main" noGrp="1"/>
          </p:cNvSpPr>
          <p:nvPr/>
        </p:nvSpPr>
        <p:spPr>
          <a:xfrm xmlns:a="http://schemas.openxmlformats.org/drawingml/2006/main">
            <a:off x="4800600" y="365760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Advances time; captures signals</a:t>
            </a:r>
          </a:p>
        </p:txBody>
      </p:sp>
      <p:sp>
        <p:nvSpPr>
          <p:cNvPr id="32" name="s23-result-1">
            <a:extLst xmlns:a="http://schemas.openxmlformats.org/drawingml/2006/main">
              <a:ext uri="{FF2B5EF4-FFF2-40B4-BE49-F238E27FC236}">
                <a16:creationId xmlns:a16="http://schemas.microsoft.com/office/drawing/2014/main" id="{D5C55007-27C3-4969-9FE6-287F255A0360}"/>
              </a:ext>
            </a:extLst>
          </p:cNvPr>
          <p:cNvSpPr>
            <a:spLocks xmlns:a="http://schemas.openxmlformats.org/drawingml/2006/main" noGrp="1"/>
          </p:cNvSpPr>
          <p:nvPr/>
        </p:nvSpPr>
        <p:spPr>
          <a:xfrm xmlns:a="http://schemas.openxmlformats.org/drawingml/2006/main">
            <a:off x="4533900" y="4343400"/>
            <a:ext cx="2971800" cy="571500"/>
          </a:xfrm>
          <a:prstGeom xmlns:a="http://schemas.openxmlformats.org/drawingml/2006/main" prst="roundRect">
            <a:avLst>
              <a:gd name="adj" fmla="val 20000"/>
            </a:avLst>
          </a:prstGeom>
          <a:solidFill xmlns:a="http://schemas.openxmlformats.org/drawingml/2006/main">
            <a:srgbClr val="091A29"/>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FFFFFF"/>
                </a:solidFill>
                <a:latin typeface="Aptos"/>
                <a:ea typeface="Aptos"/>
                <a:cs typeface="Aptos"/>
              </a:defRPr>
            </a:pPr>
            <a:r>
              <a:rPr sz="1005" b="1">
                <a:solidFill>
                  <a:srgbClr val="FFFFFF"/>
                </a:solidFill>
                <a:latin typeface="Aptos"/>
                <a:ea typeface="Aptos"/>
                <a:cs typeface="Aptos"/>
              </a:rPr>
              <a:t>RESULT: MIL outputs/logs; assessed only when driver + oracle run</a:t>
            </a:r>
          </a:p>
        </p:txBody>
      </p:sp>
      <p:sp>
        <p:nvSpPr>
          <p:cNvPr id="33" name="s23-col-2">
            <a:extLst xmlns:a="http://schemas.openxmlformats.org/drawingml/2006/main">
              <a:ext uri="{FF2B5EF4-FFF2-40B4-BE49-F238E27FC236}">
                <a16:creationId xmlns:a16="http://schemas.microsoft.com/office/drawing/2014/main" id="{CE975EA7-5442-4FBB-AD19-7D1ACAD63C2E}"/>
              </a:ext>
            </a:extLst>
          </p:cNvPr>
          <p:cNvSpPr>
            <a:spLocks xmlns:a="http://schemas.openxmlformats.org/drawingml/2006/main" noGrp="1"/>
          </p:cNvSpPr>
          <p:nvPr/>
        </p:nvSpPr>
        <p:spPr>
          <a:xfrm xmlns:a="http://schemas.openxmlformats.org/drawingml/2006/main">
            <a:off x="8001000" y="1619250"/>
            <a:ext cx="3352800" cy="35242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5240">
            <a:solidFill>
              <a:srgbClr val="E9A23B"/>
            </a:solidFill>
            <a:prstDash val="solid"/>
          </a:ln>
        </p:spPr>
      </p:sp>
      <p:sp>
        <p:nvSpPr>
          <p:cNvPr id="34" name="s23-key-2">
            <a:extLst xmlns:a="http://schemas.openxmlformats.org/drawingml/2006/main">
              <a:ext uri="{FF2B5EF4-FFF2-40B4-BE49-F238E27FC236}">
                <a16:creationId xmlns:a16="http://schemas.microsoft.com/office/drawing/2014/main" id="{9C4EAED3-330D-4673-AA7D-45DB6AA87105}"/>
              </a:ext>
            </a:extLst>
          </p:cNvPr>
          <p:cNvSpPr>
            <a:spLocks xmlns:a="http://schemas.openxmlformats.org/drawingml/2006/main" noGrp="1"/>
          </p:cNvSpPr>
          <p:nvPr/>
        </p:nvSpPr>
        <p:spPr>
          <a:xfrm xmlns:a="http://schemas.openxmlformats.org/drawingml/2006/main">
            <a:off x="8172450" y="18097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75" b="1">
                <a:solidFill>
                  <a:srgbClr val="E9A23B"/>
                </a:solidFill>
                <a:latin typeface="Aptos"/>
                <a:ea typeface="Aptos"/>
                <a:cs typeface="Aptos"/>
              </a:defRPr>
            </a:pPr>
            <a:r>
              <a:rPr sz="1875" b="1">
                <a:solidFill>
                  <a:srgbClr val="E9A23B"/>
                </a:solidFill>
                <a:latin typeface="Aptos"/>
                <a:ea typeface="Aptos"/>
                <a:cs typeface="Aptos"/>
              </a:rPr>
              <a:t>Ctrl+B / slbuild</a:t>
            </a:r>
          </a:p>
        </p:txBody>
      </p:sp>
      <p:sp>
        <p:nvSpPr>
          <p:cNvPr id="35" name="s23-title-2">
            <a:extLst xmlns:a="http://schemas.openxmlformats.org/drawingml/2006/main">
              <a:ext uri="{FF2B5EF4-FFF2-40B4-BE49-F238E27FC236}">
                <a16:creationId xmlns:a16="http://schemas.microsoft.com/office/drawing/2014/main" id="{834DD9CF-74C8-48A0-B95A-778BF4F109D8}"/>
              </a:ext>
            </a:extLst>
          </p:cNvPr>
          <p:cNvSpPr>
            <a:spLocks xmlns:a="http://schemas.openxmlformats.org/drawingml/2006/main" noGrp="1"/>
          </p:cNvSpPr>
          <p:nvPr/>
        </p:nvSpPr>
        <p:spPr>
          <a:xfrm xmlns:a="http://schemas.openxmlformats.org/drawingml/2006/main">
            <a:off x="8172450" y="22669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GENERATE + COMPILE</a:t>
            </a:r>
          </a:p>
        </p:txBody>
      </p:sp>
      <p:sp>
        <p:nvSpPr>
          <p:cNvPr id="36" name="s23-list-2-dot-0">
            <a:extLst xmlns:a="http://schemas.openxmlformats.org/drawingml/2006/main">
              <a:ext uri="{FF2B5EF4-FFF2-40B4-BE49-F238E27FC236}">
                <a16:creationId xmlns:a16="http://schemas.microsoft.com/office/drawing/2014/main" id="{9B5EFF39-DCD3-498F-942A-9B57E09F1381}"/>
              </a:ext>
            </a:extLst>
          </p:cNvPr>
          <p:cNvSpPr>
            <a:spLocks xmlns:a="http://schemas.openxmlformats.org/drawingml/2006/main" noGrp="1"/>
          </p:cNvSpPr>
          <p:nvPr/>
        </p:nvSpPr>
        <p:spPr>
          <a:xfrm xmlns:a="http://schemas.openxmlformats.org/drawingml/2006/main">
            <a:off x="8267700" y="286702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37" name="s23-list-2-text-0">
            <a:extLst xmlns:a="http://schemas.openxmlformats.org/drawingml/2006/main">
              <a:ext uri="{FF2B5EF4-FFF2-40B4-BE49-F238E27FC236}">
                <a16:creationId xmlns:a16="http://schemas.microsoft.com/office/drawing/2014/main" id="{4C8BBA4E-A1CB-4C3B-BD55-79EB5CC01C2B}"/>
              </a:ext>
            </a:extLst>
          </p:cNvPr>
          <p:cNvSpPr>
            <a:spLocks xmlns:a="http://schemas.openxmlformats.org/drawingml/2006/main" noGrp="1"/>
          </p:cNvSpPr>
          <p:nvPr/>
        </p:nvSpPr>
        <p:spPr>
          <a:xfrm xmlns:a="http://schemas.openxmlformats.org/drawingml/2006/main">
            <a:off x="8458200" y="278130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Uses active target/configuration</a:t>
            </a:r>
          </a:p>
        </p:txBody>
      </p:sp>
      <p:sp>
        <p:nvSpPr>
          <p:cNvPr id="38" name="s23-list-2-dot-1">
            <a:extLst xmlns:a="http://schemas.openxmlformats.org/drawingml/2006/main">
              <a:ext uri="{FF2B5EF4-FFF2-40B4-BE49-F238E27FC236}">
                <a16:creationId xmlns:a16="http://schemas.microsoft.com/office/drawing/2014/main" id="{745AB4B3-2606-4114-AEAB-BE71081BE4F6}"/>
              </a:ext>
            </a:extLst>
          </p:cNvPr>
          <p:cNvSpPr>
            <a:spLocks xmlns:a="http://schemas.openxmlformats.org/drawingml/2006/main" noGrp="1"/>
          </p:cNvSpPr>
          <p:nvPr/>
        </p:nvSpPr>
        <p:spPr>
          <a:xfrm xmlns:a="http://schemas.openxmlformats.org/drawingml/2006/main">
            <a:off x="8267700" y="33051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39" name="s23-list-2-text-1">
            <a:extLst xmlns:a="http://schemas.openxmlformats.org/drawingml/2006/main">
              <a:ext uri="{FF2B5EF4-FFF2-40B4-BE49-F238E27FC236}">
                <a16:creationId xmlns:a16="http://schemas.microsoft.com/office/drawing/2014/main" id="{1412ABDA-2B25-453B-8D14-74B0680884FA}"/>
              </a:ext>
            </a:extLst>
          </p:cNvPr>
          <p:cNvSpPr>
            <a:spLocks xmlns:a="http://schemas.openxmlformats.org/drawingml/2006/main" noGrp="1"/>
          </p:cNvSpPr>
          <p:nvPr/>
        </p:nvSpPr>
        <p:spPr>
          <a:xfrm xmlns:a="http://schemas.openxmlformats.org/drawingml/2006/main">
            <a:off x="8458200" y="321945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Generates C/build files</a:t>
            </a:r>
          </a:p>
        </p:txBody>
      </p:sp>
      <p:sp>
        <p:nvSpPr>
          <p:cNvPr id="40" name="s23-list-2-dot-2">
            <a:extLst xmlns:a="http://schemas.openxmlformats.org/drawingml/2006/main">
              <a:ext uri="{FF2B5EF4-FFF2-40B4-BE49-F238E27FC236}">
                <a16:creationId xmlns:a16="http://schemas.microsoft.com/office/drawing/2014/main" id="{BA9FBFED-8FDA-4E97-B9FF-8E5C4E73708D}"/>
              </a:ext>
            </a:extLst>
          </p:cNvPr>
          <p:cNvSpPr>
            <a:spLocks xmlns:a="http://schemas.openxmlformats.org/drawingml/2006/main" noGrp="1"/>
          </p:cNvSpPr>
          <p:nvPr/>
        </p:nvSpPr>
        <p:spPr>
          <a:xfrm xmlns:a="http://schemas.openxmlformats.org/drawingml/2006/main">
            <a:off x="8267700" y="374332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41" name="s23-list-2-text-2">
            <a:extLst xmlns:a="http://schemas.openxmlformats.org/drawingml/2006/main">
              <a:ext uri="{FF2B5EF4-FFF2-40B4-BE49-F238E27FC236}">
                <a16:creationId xmlns:a16="http://schemas.microsoft.com/office/drawing/2014/main" id="{80AE64BE-4865-49E8-B9A0-2AA17ECCB189}"/>
              </a:ext>
            </a:extLst>
          </p:cNvPr>
          <p:cNvSpPr>
            <a:spLocks xmlns:a="http://schemas.openxmlformats.org/drawingml/2006/main" noGrp="1"/>
          </p:cNvSpPr>
          <p:nvPr/>
        </p:nvSpPr>
        <p:spPr>
          <a:xfrm xmlns:a="http://schemas.openxmlformats.org/drawingml/2006/main">
            <a:off x="8458200" y="365760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073" b="0">
                <a:solidFill>
                  <a:srgbClr val="FFFFFF"/>
                </a:solidFill>
                <a:latin typeface="Aptos"/>
                <a:ea typeface="Aptos"/>
                <a:cs typeface="Aptos"/>
              </a:defRPr>
            </a:pPr>
            <a:r>
              <a:rPr sz="1073" b="0">
                <a:solidFill>
                  <a:srgbClr val="FFFFFF"/>
                </a:solidFill>
                <a:latin typeface="Aptos"/>
                <a:ea typeface="Aptos"/>
                <a:cs typeface="Aptos"/>
              </a:rPr>
              <a:t>Links a target-dependent product</a:t>
            </a:r>
          </a:p>
        </p:txBody>
      </p:sp>
      <p:sp>
        <p:nvSpPr>
          <p:cNvPr id="42" name="s23-result-2">
            <a:extLst xmlns:a="http://schemas.openxmlformats.org/drawingml/2006/main">
              <a:ext uri="{FF2B5EF4-FFF2-40B4-BE49-F238E27FC236}">
                <a16:creationId xmlns:a16="http://schemas.microsoft.com/office/drawing/2014/main" id="{2C8553EE-07E0-427D-AED3-423DA65E4F35}"/>
              </a:ext>
            </a:extLst>
          </p:cNvPr>
          <p:cNvSpPr>
            <a:spLocks xmlns:a="http://schemas.openxmlformats.org/drawingml/2006/main" noGrp="1"/>
          </p:cNvSpPr>
          <p:nvPr/>
        </p:nvSpPr>
        <p:spPr>
          <a:xfrm xmlns:a="http://schemas.openxmlformats.org/drawingml/2006/main">
            <a:off x="8191500" y="4343400"/>
            <a:ext cx="2971800" cy="571500"/>
          </a:xfrm>
          <a:prstGeom xmlns:a="http://schemas.openxmlformats.org/drawingml/2006/main" prst="roundRect">
            <a:avLst>
              <a:gd name="adj" fmla="val 20000"/>
            </a:avLst>
          </a:prstGeom>
          <a:solidFill xmlns:a="http://schemas.openxmlformats.org/drawingml/2006/main">
            <a:srgbClr val="091A29"/>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FFFFFF"/>
                </a:solidFill>
                <a:latin typeface="Aptos"/>
                <a:ea typeface="Aptos"/>
                <a:cs typeface="Aptos"/>
              </a:defRPr>
            </a:pPr>
            <a:r>
              <a:rPr sz="1005" b="1">
                <a:solidFill>
                  <a:srgbClr val="FFFFFF"/>
                </a:solidFill>
                <a:latin typeface="Aptos"/>
                <a:ea typeface="Aptos"/>
                <a:cs typeface="Aptos"/>
              </a:rPr>
              <a:t>RESULT: build tree; not executed code evidence</a:t>
            </a:r>
          </a:p>
        </p:txBody>
      </p:sp>
      <p:sp>
        <p:nvSpPr>
          <p:cNvPr id="43" name="s23-order">
            <a:extLst xmlns:a="http://schemas.openxmlformats.org/drawingml/2006/main">
              <a:ext uri="{FF2B5EF4-FFF2-40B4-BE49-F238E27FC236}">
                <a16:creationId xmlns:a16="http://schemas.microsoft.com/office/drawing/2014/main" id="{A3E87014-F30F-4191-A75C-D9DE59730313}"/>
              </a:ext>
            </a:extLst>
          </p:cNvPr>
          <p:cNvSpPr>
            <a:spLocks xmlns:a="http://schemas.openxmlformats.org/drawingml/2006/main" noGrp="1"/>
          </p:cNvSpPr>
          <p:nvPr/>
        </p:nvSpPr>
        <p:spPr>
          <a:xfrm xmlns:a="http://schemas.openxmlformats.org/drawingml/2006/main">
            <a:off x="685800" y="546735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SAFE ORDER  •  update first  →  run when behavior is the question  →  build when generated artifacts are the question</a:t>
            </a:r>
          </a:p>
        </p:txBody>
      </p:sp>
    </p:spTree>
    <p:extLst>
      <p:ext uri="{BB962C8B-B14F-4D97-AF65-F5344CB8AC3E}">
        <p14:creationId xmlns:p14="http://schemas.microsoft.com/office/powerpoint/2010/main" val="1612514186"/>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HARNESS &amp; BUILD</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The scripted top-level build retains outputs—and a provenance boundary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35" name="s24-tree-panel">
            <a:extLst xmlns:a="http://schemas.openxmlformats.org/drawingml/2006/main">
              <a:ext uri="{FF2B5EF4-FFF2-40B4-BE49-F238E27FC236}">
                <a16:creationId xmlns:a16="http://schemas.microsoft.com/office/drawing/2014/main" id="{6A89F991-B182-4FA1-BD66-06B7F11A4513}"/>
              </a:ext>
            </a:extLst>
          </p:cNvPr>
          <p:cNvSpPr>
            <a:spLocks xmlns:a="http://schemas.openxmlformats.org/drawingml/2006/main" noGrp="1"/>
          </p:cNvSpPr>
          <p:nvPr/>
        </p:nvSpPr>
        <p:spPr>
          <a:xfrm xmlns:a="http://schemas.openxmlformats.org/drawingml/2006/main">
            <a:off x="685800" y="1466850"/>
            <a:ext cx="4572000" cy="3790950"/>
          </a:xfrm>
          <a:prstGeom xmlns:a="http://schemas.openxmlformats.org/drawingml/2006/main" prst="roundRect">
            <a:avLst>
              <a:gd name="adj" fmla="val 3015"/>
            </a:avLst>
          </a:prstGeom>
          <a:solidFill xmlns:a="http://schemas.openxmlformats.org/drawingml/2006/main">
            <a:srgbClr val="FFFFFF"/>
          </a:solidFill>
          <a:ln xmlns:a="http://schemas.openxmlformats.org/drawingml/2006/main" w="12383">
            <a:solidFill>
              <a:srgbClr val="2D6CDF"/>
            </a:solidFill>
            <a:prstDash val="solid"/>
          </a:ln>
        </p:spPr>
      </p:sp>
      <p:sp>
        <p:nvSpPr>
          <p:cNvPr id="36" name="s24-tree-title">
            <a:extLst xmlns:a="http://schemas.openxmlformats.org/drawingml/2006/main">
              <a:ext uri="{FF2B5EF4-FFF2-40B4-BE49-F238E27FC236}">
                <a16:creationId xmlns:a16="http://schemas.microsoft.com/office/drawing/2014/main" id="{FEF962AD-0725-4F4C-BED6-9323890EDD0C}"/>
              </a:ext>
            </a:extLst>
          </p:cNvPr>
          <p:cNvSpPr>
            <a:spLocks xmlns:a="http://schemas.openxmlformats.org/drawingml/2006/main" noGrp="1"/>
          </p:cNvSpPr>
          <p:nvPr/>
        </p:nvSpPr>
        <p:spPr>
          <a:xfrm xmlns:a="http://schemas.openxmlformats.org/drawingml/2006/main">
            <a:off x="876300" y="15621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870" b="1">
                <a:solidFill>
                  <a:srgbClr val="2D6CDF"/>
                </a:solidFill>
                <a:latin typeface="Consolas"/>
                <a:ea typeface="Consolas"/>
                <a:cs typeface="Consolas"/>
              </a:defRPr>
            </a:pPr>
            <a:r>
              <a:rPr sz="870" b="1">
                <a:solidFill>
                  <a:srgbClr val="2D6CDF"/>
                </a:solidFill>
                <a:latin typeface="Consolas"/>
                <a:ea typeface="Consolas"/>
                <a:cs typeface="Consolas"/>
              </a:rPr>
              <a:t>SCRIPTED slbuild OUTPUT | build_top_level_grt_evidence(projectRoot,'RunLabel','v8_evidence')</a:t>
            </a:r>
          </a:p>
        </p:txBody>
      </p:sp>
      <p:sp>
        <p:nvSpPr>
          <p:cNvPr id="37" name="s24-tree">
            <a:extLst xmlns:a="http://schemas.openxmlformats.org/drawingml/2006/main">
              <a:ext uri="{FF2B5EF4-FFF2-40B4-BE49-F238E27FC236}">
                <a16:creationId xmlns:a16="http://schemas.microsoft.com/office/drawing/2014/main" id="{F7178FFC-D1C9-4EB0-A7E6-738FBD68A937}"/>
              </a:ext>
            </a:extLst>
          </p:cNvPr>
          <p:cNvSpPr>
            <a:spLocks xmlns:a="http://schemas.openxmlformats.org/drawingml/2006/main" noGrp="1"/>
          </p:cNvSpPr>
          <p:nvPr/>
        </p:nvSpPr>
        <p:spPr>
          <a:xfrm xmlns:a="http://schemas.openxmlformats.org/drawingml/2006/main">
            <a:off x="876300" y="2057400"/>
            <a:ext cx="417195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results/top_level_codegen_v8_evidence/</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Build_Evidence_Manifest.txt</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ReferencedFlightControlArchitecture_slbuild.log</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codegen/</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ReferencedFlightControlArchitecture.exe</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ReferencedFlightControlArchitecture_grt_rtw/</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 ReferencedFlightControlArchitecture.c</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 html/index.html</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slprj/grt/</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SensorProcessingRef/</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PitchRateLimiter/</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PitchControllerRef/</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 ActuatorCommandRef/</a:t>
            </a:r>
          </a:p>
          <a:p xmlns:a="http://schemas.openxmlformats.org/drawingml/2006/main">
            <a:pPr algn="l">
              <a:defRPr sz="907" b="0">
                <a:solidFill>
                  <a:srgbClr val="17324A"/>
                </a:solidFill>
                <a:latin typeface="Consolas"/>
                <a:ea typeface="Consolas"/>
                <a:cs typeface="Consolas"/>
              </a:defRPr>
            </a:pPr>
            <a:r>
              <a:rPr sz="907" b="0">
                <a:solidFill>
                  <a:srgbClr val="17324A"/>
                </a:solidFill>
                <a:latin typeface="Consolas"/>
                <a:ea typeface="Consolas"/>
                <a:cs typeface="Consolas"/>
              </a:rPr>
              <a:t>└─ cache/ReferencedFlightControlArchitecture.slxc</a:t>
            </a:r>
          </a:p>
        </p:txBody>
      </p:sp>
      <p:sp>
        <p:nvSpPr>
          <p:cNvPr id="38" name="s24-code-panel">
            <a:extLst xmlns:a="http://schemas.openxmlformats.org/drawingml/2006/main">
              <a:ext uri="{FF2B5EF4-FFF2-40B4-BE49-F238E27FC236}">
                <a16:creationId xmlns:a16="http://schemas.microsoft.com/office/drawing/2014/main" id="{B515D239-47F3-4101-93D8-38EC4EE491A5}"/>
              </a:ext>
            </a:extLst>
          </p:cNvPr>
          <p:cNvSpPr>
            <a:spLocks xmlns:a="http://schemas.openxmlformats.org/drawingml/2006/main" noGrp="1"/>
          </p:cNvSpPr>
          <p:nvPr/>
        </p:nvSpPr>
        <p:spPr>
          <a:xfrm xmlns:a="http://schemas.openxmlformats.org/drawingml/2006/main">
            <a:off x="5524500" y="1466850"/>
            <a:ext cx="5981700" cy="3790950"/>
          </a:xfrm>
          <a:prstGeom xmlns:a="http://schemas.openxmlformats.org/drawingml/2006/main" prst="roundRect">
            <a:avLst>
              <a:gd name="adj" fmla="val 3015"/>
            </a:avLst>
          </a:prstGeom>
          <a:solidFill xmlns:a="http://schemas.openxmlformats.org/drawingml/2006/main">
            <a:srgbClr val="091A29"/>
          </a:solidFill>
          <a:ln xmlns:a="http://schemas.openxmlformats.org/drawingml/2006/main" w="12383">
            <a:solidFill>
              <a:srgbClr val="20B7C5"/>
            </a:solidFill>
            <a:prstDash val="solid"/>
          </a:ln>
        </p:spPr>
      </p:sp>
      <p:sp>
        <p:nvSpPr>
          <p:cNvPr id="39" name="s24-code-title">
            <a:extLst xmlns:a="http://schemas.openxmlformats.org/drawingml/2006/main">
              <a:ext uri="{FF2B5EF4-FFF2-40B4-BE49-F238E27FC236}">
                <a16:creationId xmlns:a16="http://schemas.microsoft.com/office/drawing/2014/main" id="{5F36E562-E22C-4297-8447-87BD2B157463}"/>
              </a:ext>
            </a:extLst>
          </p:cNvPr>
          <p:cNvSpPr>
            <a:spLocks xmlns:a="http://schemas.openxmlformats.org/drawingml/2006/main" noGrp="1"/>
          </p:cNvSpPr>
          <p:nvPr/>
        </p:nvSpPr>
        <p:spPr>
          <a:xfrm xmlns:a="http://schemas.openxmlformats.org/drawingml/2006/main">
            <a:off x="5734050" y="1600200"/>
            <a:ext cx="556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20B7C5"/>
                </a:solidFill>
                <a:latin typeface="Aptos"/>
                <a:ea typeface="Aptos"/>
                <a:cs typeface="Aptos"/>
              </a:defRPr>
            </a:pPr>
            <a:r>
              <a:rPr sz="1163" b="1">
                <a:solidFill>
                  <a:srgbClr val="20B7C5"/>
                </a:solidFill>
                <a:latin typeface="Aptos"/>
                <a:ea typeface="Aptos"/>
                <a:cs typeface="Aptos"/>
              </a:rPr>
              <a:t>VERBATIM GENERATED C  •  LINES 8–19 + 25–28</a:t>
            </a:r>
          </a:p>
        </p:txBody>
      </p:sp>
      <p:sp>
        <p:nvSpPr>
          <p:cNvPr id="40" name="s24-code">
            <a:extLst xmlns:a="http://schemas.openxmlformats.org/drawingml/2006/main">
              <a:ext uri="{FF2B5EF4-FFF2-40B4-BE49-F238E27FC236}">
                <a16:creationId xmlns:a16="http://schemas.microsoft.com/office/drawing/2014/main" id="{A7EC590A-50A8-4D7C-8C8D-DB009030D65F}"/>
              </a:ext>
            </a:extLst>
          </p:cNvPr>
          <p:cNvSpPr>
            <a:spLocks xmlns:a="http://schemas.openxmlformats.org/drawingml/2006/main" noGrp="1"/>
          </p:cNvSpPr>
          <p:nvPr/>
        </p:nvSpPr>
        <p:spPr>
          <a:xfrm xmlns:a="http://schemas.openxmlformats.org/drawingml/2006/main">
            <a:off x="5734050" y="1962150"/>
            <a:ext cx="554355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Code generation for model "ReferencedFlightControlArchitecture".</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Model version              : 1.9</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Simulink Coder version : 23.2 (R2023b) 01-Aug-2023</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C source code generated on : Thu Aug 27 11:40:47 2026</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Target selection: grt.tlc</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Note: GRT includes extra infrastructure and instrumentation for prototyping</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Embedded hardware selection: Intel-&gt;x86-64 (Windows64)</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Code generation objectives: Unspecified</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 Validation result: Not run</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a:t>
            </a:r>
          </a:p>
          <a:p xmlns:a="http://schemas.openxmlformats.org/drawingml/2006/main">
            <a:r>
              <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  lines 20–24 omitted</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#include "ActuatorCommandRef.h"</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#include "PitchControllerRef.h"</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#include "PitchRateLimiter.h"</a:t>
            </a:r>
          </a:p>
          <a:p xmlns:a="http://schemas.openxmlformats.org/drawingml/2006/main">
            <a:pPr algn="l">
              <a:defRPr sz="818" b="0">
                <a:solidFill>
                  <a:srgbClr val="FFFFFF"/>
                </a:solidFill>
                <a:latin typeface="Consolas"/>
                <a:ea typeface="Consolas"/>
                <a:cs typeface="Consolas"/>
              </a:defRPr>
            </a:pPr>
            <a:r>
              <a:rPr sz="818" b="0">
                <a:solidFill>
                  <a:srgbClr val="FFFFFF"/>
                </a:solidFill>
                <a:latin typeface="Consolas"/>
                <a:ea typeface="Consolas"/>
                <a:cs typeface="Consolas"/>
              </a:rPr>
              <a:t>#include "SensorProcessingRef.h"</a:t>
            </a:r>
          </a:p>
        </p:txBody>
      </p:sp>
      <p:sp>
        <p:nvSpPr>
          <p:cNvPr id="41" name="s24-pass">
            <a:extLst xmlns:a="http://schemas.openxmlformats.org/drawingml/2006/main">
              <a:ext uri="{FF2B5EF4-FFF2-40B4-BE49-F238E27FC236}">
                <a16:creationId xmlns:a16="http://schemas.microsoft.com/office/drawing/2014/main" id="{077CB771-F397-4FF6-8CDF-65B9DEBB662F}"/>
              </a:ext>
            </a:extLst>
          </p:cNvPr>
          <p:cNvSpPr>
            <a:spLocks xmlns:a="http://schemas.openxmlformats.org/drawingml/2006/main" noGrp="1"/>
          </p:cNvSpPr>
          <p:nvPr/>
        </p:nvSpPr>
        <p:spPr>
          <a:xfrm xmlns:a="http://schemas.openxmlformats.org/drawingml/2006/main">
            <a:off x="685800" y="5429250"/>
            <a:ext cx="10820400" cy="400050"/>
          </a:xfrm>
          <a:prstGeom xmlns:a="http://schemas.openxmlformats.org/drawingml/2006/main" prst="roundRect">
            <a:avLst>
              <a:gd name="adj" fmla="val 28571"/>
            </a:avLst>
          </a:prstGeom>
          <a:solidFill xmlns:a="http://schemas.openxmlformats.org/drawingml/2006/main">
            <a:srgbClr val="E2F4EA"/>
          </a:solidFill>
          <a:ln xmlns:a="http://schemas.openxmlformats.org/drawingml/2006/main" w="12383">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BUILD_STATUS=PASS  •  5/5 models built  •  0 already up to date  •  1:27.572  •  executable 196,608 bytes</a:t>
            </a:r>
          </a:p>
        </p:txBody>
      </p:sp>
      <p:sp>
        <p:nvSpPr>
          <p:cNvPr id="42" name="s24-caveat">
            <a:extLst xmlns:a="http://schemas.openxmlformats.org/drawingml/2006/main">
              <a:ext uri="{FF2B5EF4-FFF2-40B4-BE49-F238E27FC236}">
                <a16:creationId xmlns:a16="http://schemas.microsoft.com/office/drawing/2014/main" id="{9A58423B-CE7C-4A68-8563-7C677F24F2F8}"/>
              </a:ext>
            </a:extLst>
          </p:cNvPr>
          <p:cNvSpPr>
            <a:spLocks xmlns:a="http://schemas.openxmlformats.org/drawingml/2006/main" noGrp="1"/>
          </p:cNvSpPr>
          <p:nvPr/>
        </p:nvSpPr>
        <p:spPr>
          <a:xfrm xmlns:a="http://schemas.openxmlformats.org/drawingml/2006/main">
            <a:off x="685800" y="5895975"/>
            <a:ext cx="10820400" cy="333375"/>
          </a:xfrm>
          <a:prstGeom xmlns:a="http://schemas.openxmlformats.org/drawingml/2006/main" prst="roundRect">
            <a:avLst>
              <a:gd name="adj" fmla="val 34286"/>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38" b="1">
                <a:solidFill>
                  <a:srgbClr val="071521"/>
                </a:solidFill>
                <a:latin typeface="Aptos"/>
                <a:ea typeface="Aptos"/>
                <a:cs typeface="Aptos"/>
              </a:defRPr>
            </a:pPr>
            <a:r>
              <a:rPr sz="938" b="1">
                <a:solidFill>
                  <a:srgbClr val="071521"/>
                </a:solidFill>
                <a:latin typeface="Aptos"/>
                <a:ea typeface="Aptos"/>
                <a:cs typeface="Aptos"/>
              </a:rPr>
              <a:t>Git dirty=1; exact dirty-source snapshot was not retained. Ctrl+B may use other active settings/paths. Executable built—not run; no validation, SIL, or PIL.</a:t>
            </a:r>
          </a:p>
        </p:txBody>
      </p:sp>
    </p:spTree>
    <p:extLst>
      <p:ext uri="{BB962C8B-B14F-4D97-AF65-F5344CB8AC3E}">
        <p14:creationId xmlns:p14="http://schemas.microsoft.com/office/powerpoint/2010/main" val="354341949"/>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Open the saved SDI reference without losing current work</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sp>
        <p:nvSpPr>
          <p:cNvPr id="35" name="s33-frame">
            <a:extLst xmlns:a="http://schemas.openxmlformats.org/drawingml/2006/main">
              <a:ext uri="{FF2B5EF4-FFF2-40B4-BE49-F238E27FC236}">
                <a16:creationId xmlns:a16="http://schemas.microsoft.com/office/drawing/2014/main" id="{C205B5F8-CA73-49C2-B9A7-398EAB6B0816}"/>
              </a:ext>
            </a:extLst>
          </p:cNvPr>
          <p:cNvSpPr>
            <a:spLocks xmlns:a="http://schemas.openxmlformats.org/drawingml/2006/main" noGrp="1"/>
          </p:cNvSpPr>
          <p:nvPr/>
        </p:nvSpPr>
        <p:spPr>
          <a:xfrm xmlns:a="http://schemas.openxmlformats.org/drawingml/2006/main">
            <a:off x="609600" y="1400175"/>
            <a:ext cx="786765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3335">
            <a:solidFill>
              <a:srgbClr val="C9D8E3"/>
            </a:solidFill>
            <a:prstDash val="solid"/>
          </a:ln>
        </p:spPr>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a2437027ebe240d9"/>
          <a:stretch xmlns:a="http://schemas.openxmlformats.org/drawingml/2006/main"/>
        </p:blipFill>
        <p:spPr>
          <a:xfrm xmlns:a="http://schemas.openxmlformats.org/drawingml/2006/main">
            <a:off x="685800" y="1584127"/>
            <a:ext cx="7715250" cy="4146947"/>
          </a:xfrm>
          <a:prstGeom xmlns:a="http://schemas.openxmlformats.org/drawingml/2006/main" prst="rect">
            <a:avLst/>
          </a:prstGeom>
        </p:spPr>
      </p:pic>
      <p:sp>
        <p:nvSpPr>
          <p:cNvPr id="37" name="s33-card">
            <a:extLst xmlns:a="http://schemas.openxmlformats.org/drawingml/2006/main">
              <a:ext uri="{FF2B5EF4-FFF2-40B4-BE49-F238E27FC236}">
                <a16:creationId xmlns:a16="http://schemas.microsoft.com/office/drawing/2014/main" id="{50858869-FE31-46BF-B9D0-ACEE663855AA}"/>
              </a:ext>
            </a:extLst>
          </p:cNvPr>
          <p:cNvSpPr>
            <a:spLocks xmlns:a="http://schemas.openxmlformats.org/drawingml/2006/main" noGrp="1"/>
          </p:cNvSpPr>
          <p:nvPr/>
        </p:nvSpPr>
        <p:spPr>
          <a:xfrm xmlns:a="http://schemas.openxmlformats.org/drawingml/2006/main">
            <a:off x="8705850" y="1409700"/>
            <a:ext cx="2800350" cy="4514850"/>
          </a:xfrm>
          <a:prstGeom xmlns:a="http://schemas.openxmlformats.org/drawingml/2006/main" prst="roundRect">
            <a:avLst>
              <a:gd name="adj" fmla="val 4082"/>
            </a:avLst>
          </a:prstGeom>
          <a:solidFill xmlns:a="http://schemas.openxmlformats.org/drawingml/2006/main">
            <a:srgbClr val="DFF6F8"/>
          </a:solidFill>
          <a:ln xmlns:a="http://schemas.openxmlformats.org/drawingml/2006/main" w="15240">
            <a:solidFill>
              <a:srgbClr val="20B7C5"/>
            </a:solidFill>
            <a:prstDash val="solid"/>
          </a:ln>
        </p:spPr>
      </p:sp>
      <p:sp>
        <p:nvSpPr>
          <p:cNvPr id="38" name="s33-card-title">
            <a:extLst xmlns:a="http://schemas.openxmlformats.org/drawingml/2006/main">
              <a:ext uri="{FF2B5EF4-FFF2-40B4-BE49-F238E27FC236}">
                <a16:creationId xmlns:a16="http://schemas.microsoft.com/office/drawing/2014/main" id="{3CCF9634-B611-4070-8586-9835A17421D1}"/>
              </a:ext>
            </a:extLst>
          </p:cNvPr>
          <p:cNvSpPr>
            <a:spLocks xmlns:a="http://schemas.openxmlformats.org/drawingml/2006/main" noGrp="1"/>
          </p:cNvSpPr>
          <p:nvPr/>
        </p:nvSpPr>
        <p:spPr>
          <a:xfrm xmlns:a="http://schemas.openxmlformats.org/drawingml/2006/main">
            <a:off x="8896350" y="158115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SAVED REFERENCE</a:t>
            </a:r>
          </a:p>
        </p:txBody>
      </p:sp>
      <p:sp>
        <p:nvSpPr>
          <p:cNvPr id="39" name="s33-card-kpi">
            <a:extLst xmlns:a="http://schemas.openxmlformats.org/drawingml/2006/main">
              <a:ext uri="{FF2B5EF4-FFF2-40B4-BE49-F238E27FC236}">
                <a16:creationId xmlns:a16="http://schemas.microsoft.com/office/drawing/2014/main" id="{69556A3B-25C5-40C7-BD32-C06E72044515}"/>
              </a:ext>
            </a:extLst>
          </p:cNvPr>
          <p:cNvSpPr>
            <a:spLocks xmlns:a="http://schemas.openxmlformats.org/drawingml/2006/main" noGrp="1"/>
          </p:cNvSpPr>
          <p:nvPr/>
        </p:nvSpPr>
        <p:spPr>
          <a:xfrm xmlns:a="http://schemas.openxmlformats.org/drawingml/2006/main">
            <a:off x="8896350" y="2057400"/>
            <a:ext cx="24193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1 RUN</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5 SIGNALS</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3 PLOTS</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1001 POINTS / SIGNAL</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0.02 s SPACING</a:t>
            </a:r>
          </a:p>
        </p:txBody>
      </p:sp>
      <p:sp>
        <p:nvSpPr>
          <p:cNvPr id="40" name="s33-rule">
            <a:extLst xmlns:a="http://schemas.openxmlformats.org/drawingml/2006/main">
              <a:ext uri="{FF2B5EF4-FFF2-40B4-BE49-F238E27FC236}">
                <a16:creationId xmlns:a16="http://schemas.microsoft.com/office/drawing/2014/main" id="{A9CC027A-8FAE-403F-9054-8BE13D1CE126}"/>
              </a:ext>
            </a:extLst>
          </p:cNvPr>
          <p:cNvSpPr>
            <a:spLocks xmlns:a="http://schemas.openxmlformats.org/drawingml/2006/main" noGrp="1"/>
          </p:cNvSpPr>
          <p:nvPr/>
        </p:nvSpPr>
        <p:spPr>
          <a:xfrm xmlns:a="http://schemas.openxmlformats.org/drawingml/2006/main">
            <a:off x="8972550" y="3676650"/>
            <a:ext cx="2266950" cy="0"/>
          </a:xfrm>
          <a:prstGeom xmlns:a="http://schemas.openxmlformats.org/drawingml/2006/main" prst="line">
            <a:avLst/>
          </a:prstGeom>
          <a:noFill xmlns:a="http://schemas.openxmlformats.org/drawingml/2006/main"/>
          <a:ln xmlns:a="http://schemas.openxmlformats.org/drawingml/2006/main" w="11430">
            <a:solidFill>
              <a:srgbClr val="20B7C5"/>
            </a:solidFill>
            <a:prstDash val="solid"/>
          </a:ln>
        </p:spPr>
      </p:sp>
      <p:sp>
        <p:nvSpPr>
          <p:cNvPr id="41" name="s33-card-body">
            <a:extLst xmlns:a="http://schemas.openxmlformats.org/drawingml/2006/main">
              <a:ext uri="{FF2B5EF4-FFF2-40B4-BE49-F238E27FC236}">
                <a16:creationId xmlns:a16="http://schemas.microsoft.com/office/drawing/2014/main" id="{8D0571EA-2B38-46E3-80DA-0E8DB47D6B3D}"/>
              </a:ext>
            </a:extLst>
          </p:cNvPr>
          <p:cNvSpPr>
            <a:spLocks xmlns:a="http://schemas.openxmlformats.org/drawingml/2006/main" noGrp="1"/>
          </p:cNvSpPr>
          <p:nvPr/>
        </p:nvSpPr>
        <p:spPr>
          <a:xfrm xmlns:a="http://schemas.openxmlformats.org/drawingml/2006/main">
            <a:off x="8896350" y="3838575"/>
            <a:ext cx="2419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View = layout / styling</a:t>
            </a:r>
          </a:p>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Session = retained signal data</a:t>
            </a:r>
          </a:p>
          <a:p xmlns:a="http://schemas.openxmlformats.org/drawingml/2006/main">
            <a:r>
              <a:t/>
            </a:r>
          </a:p>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Both .mldatx files are SDI artifacts.</a:t>
            </a:r>
          </a:p>
        </p:txBody>
      </p:sp>
      <p:sp>
        <p:nvSpPr>
          <p:cNvPr id="42" name="s33-next">
            <a:extLst xmlns:a="http://schemas.openxmlformats.org/drawingml/2006/main">
              <a:ext uri="{FF2B5EF4-FFF2-40B4-BE49-F238E27FC236}">
                <a16:creationId xmlns:a16="http://schemas.microsoft.com/office/drawing/2014/main" id="{3878013E-7B2C-4FCE-B5CE-5DE6966C6787}"/>
              </a:ext>
            </a:extLst>
          </p:cNvPr>
          <p:cNvSpPr>
            <a:spLocks xmlns:a="http://schemas.openxmlformats.org/drawingml/2006/main" noGrp="1"/>
          </p:cNvSpPr>
          <p:nvPr/>
        </p:nvSpPr>
        <p:spPr>
          <a:xfrm xmlns:a="http://schemas.openxmlformats.org/drawingml/2006/main">
            <a:off x="8896350" y="5143500"/>
            <a:ext cx="24193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FFFFFF"/>
                </a:solidFill>
                <a:latin typeface="Aptos"/>
                <a:ea typeface="Aptos"/>
                <a:cs typeface="Aptos"/>
              </a:defRPr>
            </a:pPr>
            <a:r>
              <a:rPr sz="1065" b="1">
                <a:solidFill>
                  <a:srgbClr val="FFFFFF"/>
                </a:solidFill>
                <a:latin typeface="Aptos"/>
                <a:ea typeface="Aptos"/>
                <a:cs typeface="Aptos"/>
              </a:rPr>
              <a:t>NEXT  →  READ THE CAUSAL STORY</a:t>
            </a:r>
          </a:p>
        </p:txBody>
      </p:sp>
    </p:spTree>
    <p:extLst>
      <p:ext uri="{BB962C8B-B14F-4D97-AF65-F5344CB8AC3E}">
        <p14:creationId xmlns:p14="http://schemas.microsoft.com/office/powerpoint/2010/main" val="354341949"/>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Read the SDI run as one causal story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35" name="s34-frame">
            <a:extLst xmlns:a="http://schemas.openxmlformats.org/drawingml/2006/main">
              <a:ext uri="{FF2B5EF4-FFF2-40B4-BE49-F238E27FC236}">
                <a16:creationId xmlns:a16="http://schemas.microsoft.com/office/drawing/2014/main" id="{584E10A5-E611-401A-AFEA-BF4A4500BF01}"/>
              </a:ext>
            </a:extLst>
          </p:cNvPr>
          <p:cNvSpPr>
            <a:spLocks xmlns:a="http://schemas.openxmlformats.org/drawingml/2006/main" noGrp="1"/>
          </p:cNvSpPr>
          <p:nvPr/>
        </p:nvSpPr>
        <p:spPr>
          <a:xfrm xmlns:a="http://schemas.openxmlformats.org/drawingml/2006/main">
            <a:off x="609600" y="1428750"/>
            <a:ext cx="752475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13335">
            <a:solidFill>
              <a:srgbClr val="C9D8E3"/>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11911789415842bf"/>
          <a:stretch xmlns:a="http://schemas.openxmlformats.org/drawingml/2006/main"/>
        </p:blipFill>
        <p:spPr>
          <a:xfrm xmlns:a="http://schemas.openxmlformats.org/drawingml/2006/main">
            <a:off x="685800" y="1533406"/>
            <a:ext cx="7372350" cy="3962638"/>
          </a:xfrm>
          <a:prstGeom xmlns:a="http://schemas.openxmlformats.org/drawingml/2006/main" prst="rect">
            <a:avLst/>
          </a:prstGeom>
        </p:spPr>
      </p:pic>
      <p:sp>
        <p:nvSpPr>
          <p:cNvPr id="37" name="s34-card-0">
            <a:extLst xmlns:a="http://schemas.openxmlformats.org/drawingml/2006/main">
              <a:ext uri="{FF2B5EF4-FFF2-40B4-BE49-F238E27FC236}">
                <a16:creationId xmlns:a16="http://schemas.microsoft.com/office/drawing/2014/main" id="{992AACAE-7A97-4C08-A22E-CA5B93086668}"/>
              </a:ext>
            </a:extLst>
          </p:cNvPr>
          <p:cNvSpPr>
            <a:spLocks xmlns:a="http://schemas.openxmlformats.org/drawingml/2006/main" noGrp="1"/>
          </p:cNvSpPr>
          <p:nvPr/>
        </p:nvSpPr>
        <p:spPr>
          <a:xfrm xmlns:a="http://schemas.openxmlformats.org/drawingml/2006/main">
            <a:off x="8362950" y="1428750"/>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2D6CDF"/>
            </a:solidFill>
            <a:prstDash val="solid"/>
          </a:ln>
        </p:spPr>
      </p:sp>
      <p:sp>
        <p:nvSpPr>
          <p:cNvPr id="38" name="s34-label-0">
            <a:extLst xmlns:a="http://schemas.openxmlformats.org/drawingml/2006/main">
              <a:ext uri="{FF2B5EF4-FFF2-40B4-BE49-F238E27FC236}">
                <a16:creationId xmlns:a16="http://schemas.microsoft.com/office/drawing/2014/main" id="{5C7BAB40-4442-4E64-A9C6-78B746D9EF0E}"/>
              </a:ext>
            </a:extLst>
          </p:cNvPr>
          <p:cNvSpPr>
            <a:spLocks xmlns:a="http://schemas.openxmlformats.org/drawingml/2006/main" noGrp="1"/>
          </p:cNvSpPr>
          <p:nvPr/>
        </p:nvSpPr>
        <p:spPr>
          <a:xfrm xmlns:a="http://schemas.openxmlformats.org/drawingml/2006/main">
            <a:off x="8515350" y="15430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D6CDF"/>
                </a:solidFill>
                <a:latin typeface="Aptos"/>
                <a:ea typeface="Aptos"/>
                <a:cs typeface="Aptos"/>
              </a:defRPr>
            </a:pPr>
            <a:r>
              <a:rPr sz="1163" b="1">
                <a:solidFill>
                  <a:srgbClr val="2D6CDF"/>
                </a:solidFill>
                <a:latin typeface="Aptos"/>
                <a:ea typeface="Aptos"/>
                <a:cs typeface="Aptos"/>
              </a:rPr>
              <a:t>TOP</a:t>
            </a:r>
          </a:p>
        </p:txBody>
      </p:sp>
      <p:sp>
        <p:nvSpPr>
          <p:cNvPr id="39" name="s34-body-0">
            <a:extLst xmlns:a="http://schemas.openxmlformats.org/drawingml/2006/main">
              <a:ext uri="{FF2B5EF4-FFF2-40B4-BE49-F238E27FC236}">
                <a16:creationId xmlns:a16="http://schemas.microsoft.com/office/drawing/2014/main" id="{B591E75B-E241-4CFA-AFE8-4B96B7D0ADD0}"/>
              </a:ext>
            </a:extLst>
          </p:cNvPr>
          <p:cNvSpPr>
            <a:spLocks xmlns:a="http://schemas.openxmlformats.org/drawingml/2006/main" noGrp="1"/>
          </p:cNvSpPr>
          <p:nvPr/>
        </p:nvSpPr>
        <p:spPr>
          <a:xfrm xmlns:a="http://schemas.openxmlformats.org/drawingml/2006/main">
            <a:off x="8515350" y="180975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command steps + dynamic response + model-logged tracking error</a:t>
            </a:r>
          </a:p>
        </p:txBody>
      </p:sp>
      <p:sp>
        <p:nvSpPr>
          <p:cNvPr id="40" name="s34-card-1">
            <a:extLst xmlns:a="http://schemas.openxmlformats.org/drawingml/2006/main">
              <a:ext uri="{FF2B5EF4-FFF2-40B4-BE49-F238E27FC236}">
                <a16:creationId xmlns:a16="http://schemas.microsoft.com/office/drawing/2014/main" id="{D14CA6E7-D5B5-4A62-A5DD-A1D2C19E994C}"/>
              </a:ext>
            </a:extLst>
          </p:cNvPr>
          <p:cNvSpPr>
            <a:spLocks xmlns:a="http://schemas.openxmlformats.org/drawingml/2006/main" noGrp="1"/>
          </p:cNvSpPr>
          <p:nvPr/>
        </p:nvSpPr>
        <p:spPr>
          <a:xfrm xmlns:a="http://schemas.openxmlformats.org/drawingml/2006/main">
            <a:off x="8362950" y="2733675"/>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20B7C5"/>
            </a:solidFill>
            <a:prstDash val="solid"/>
          </a:ln>
        </p:spPr>
      </p:sp>
      <p:sp>
        <p:nvSpPr>
          <p:cNvPr id="41" name="s34-label-1">
            <a:extLst xmlns:a="http://schemas.openxmlformats.org/drawingml/2006/main">
              <a:ext uri="{FF2B5EF4-FFF2-40B4-BE49-F238E27FC236}">
                <a16:creationId xmlns:a16="http://schemas.microsoft.com/office/drawing/2014/main" id="{40E63104-E3F0-492F-8574-29E68CC9C7E1}"/>
              </a:ext>
            </a:extLst>
          </p:cNvPr>
          <p:cNvSpPr>
            <a:spLocks xmlns:a="http://schemas.openxmlformats.org/drawingml/2006/main" noGrp="1"/>
          </p:cNvSpPr>
          <p:nvPr/>
        </p:nvSpPr>
        <p:spPr>
          <a:xfrm xmlns:a="http://schemas.openxmlformats.org/drawingml/2006/main">
            <a:off x="8515350" y="2847975"/>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MIDDLE</a:t>
            </a:r>
          </a:p>
        </p:txBody>
      </p:sp>
      <p:sp>
        <p:nvSpPr>
          <p:cNvPr id="42" name="s34-body-1">
            <a:extLst xmlns:a="http://schemas.openxmlformats.org/drawingml/2006/main">
              <a:ext uri="{FF2B5EF4-FFF2-40B4-BE49-F238E27FC236}">
                <a16:creationId xmlns:a16="http://schemas.microsoft.com/office/drawing/2014/main" id="{4DCB5626-53AA-49B0-BA09-1FF12BE05CFA}"/>
              </a:ext>
            </a:extLst>
          </p:cNvPr>
          <p:cNvSpPr>
            <a:spLocks xmlns:a="http://schemas.openxmlformats.org/drawingml/2006/main" noGrp="1"/>
          </p:cNvSpPr>
          <p:nvPr/>
        </p:nvSpPr>
        <p:spPr>
          <a:xfrm xmlns:a="http://schemas.openxmlformats.org/drawingml/2006/main">
            <a:off x="8515350" y="3114675"/>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logged error alone: jumps, decay, and overshoot become legible</a:t>
            </a:r>
          </a:p>
        </p:txBody>
      </p:sp>
      <p:sp>
        <p:nvSpPr>
          <p:cNvPr id="43" name="s34-card-2">
            <a:extLst xmlns:a="http://schemas.openxmlformats.org/drawingml/2006/main">
              <a:ext uri="{FF2B5EF4-FFF2-40B4-BE49-F238E27FC236}">
                <a16:creationId xmlns:a16="http://schemas.microsoft.com/office/drawing/2014/main" id="{0681AF6B-F714-4551-9F40-3A780452D6B5}"/>
              </a:ext>
            </a:extLst>
          </p:cNvPr>
          <p:cNvSpPr>
            <a:spLocks xmlns:a="http://schemas.openxmlformats.org/drawingml/2006/main" noGrp="1"/>
          </p:cNvSpPr>
          <p:nvPr/>
        </p:nvSpPr>
        <p:spPr>
          <a:xfrm xmlns:a="http://schemas.openxmlformats.org/drawingml/2006/main">
            <a:off x="8362950" y="4038600"/>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E9A23B"/>
            </a:solidFill>
            <a:prstDash val="solid"/>
          </a:ln>
        </p:spPr>
      </p:sp>
      <p:sp>
        <p:nvSpPr>
          <p:cNvPr id="44" name="s34-label-2">
            <a:extLst xmlns:a="http://schemas.openxmlformats.org/drawingml/2006/main">
              <a:ext uri="{FF2B5EF4-FFF2-40B4-BE49-F238E27FC236}">
                <a16:creationId xmlns:a16="http://schemas.microsoft.com/office/drawing/2014/main" id="{DE6427F0-B6D1-424C-9B64-9F3D4E4A9594}"/>
              </a:ext>
            </a:extLst>
          </p:cNvPr>
          <p:cNvSpPr>
            <a:spLocks xmlns:a="http://schemas.openxmlformats.org/drawingml/2006/main" noGrp="1"/>
          </p:cNvSpPr>
          <p:nvPr/>
        </p:nvSpPr>
        <p:spPr>
          <a:xfrm xmlns:a="http://schemas.openxmlformats.org/drawingml/2006/main">
            <a:off x="8515350" y="41529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E9A23B"/>
                </a:solidFill>
                <a:latin typeface="Aptos"/>
                <a:ea typeface="Aptos"/>
                <a:cs typeface="Aptos"/>
              </a:defRPr>
            </a:pPr>
            <a:r>
              <a:rPr sz="1163" b="1">
                <a:solidFill>
                  <a:srgbClr val="E9A23B"/>
                </a:solidFill>
                <a:latin typeface="Aptos"/>
                <a:ea typeface="Aptos"/>
                <a:cs typeface="Aptos"/>
              </a:rPr>
              <a:t>BOTTOM</a:t>
            </a:r>
          </a:p>
        </p:txBody>
      </p:sp>
      <p:sp>
        <p:nvSpPr>
          <p:cNvPr id="45" name="s34-body-2">
            <a:extLst xmlns:a="http://schemas.openxmlformats.org/drawingml/2006/main">
              <a:ext uri="{FF2B5EF4-FFF2-40B4-BE49-F238E27FC236}">
                <a16:creationId xmlns:a16="http://schemas.microsoft.com/office/drawing/2014/main" id="{907244CD-FCEE-4D08-A0D5-A85AE7512C04}"/>
              </a:ext>
            </a:extLst>
          </p:cNvPr>
          <p:cNvSpPr>
            <a:spLocks xmlns:a="http://schemas.openxmlformats.org/drawingml/2006/main" noGrp="1"/>
          </p:cNvSpPr>
          <p:nvPr/>
        </p:nvSpPr>
        <p:spPr>
          <a:xfrm xmlns:a="http://schemas.openxmlformats.org/drawingml/2006/main">
            <a:off x="8515350" y="441960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actuator effort beside disturbance timing: correlate cause and response</a:t>
            </a:r>
          </a:p>
        </p:txBody>
      </p:sp>
      <p:sp>
        <p:nvSpPr>
          <p:cNvPr id="46" name="s34-footer">
            <a:extLst xmlns:a="http://schemas.openxmlformats.org/drawingml/2006/main">
              <a:ext uri="{FF2B5EF4-FFF2-40B4-BE49-F238E27FC236}">
                <a16:creationId xmlns:a16="http://schemas.microsoft.com/office/drawing/2014/main" id="{5F9E8FCA-B72B-46F7-A398-49EB83568BA1}"/>
              </a:ext>
            </a:extLst>
          </p:cNvPr>
          <p:cNvSpPr>
            <a:spLocks xmlns:a="http://schemas.openxmlformats.org/drawingml/2006/main" noGrp="1"/>
          </p:cNvSpPr>
          <p:nvPr/>
        </p:nvSpPr>
        <p:spPr>
          <a:xfrm xmlns:a="http://schemas.openxmlformats.org/drawingml/2006/main">
            <a:off x="685800" y="5772150"/>
            <a:ext cx="10820400" cy="419100"/>
          </a:xfrm>
          <a:prstGeom xmlns:a="http://schemas.openxmlformats.org/drawingml/2006/main" prst="roundRect">
            <a:avLst>
              <a:gd name="adj" fmla="val 27273"/>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20" b="1">
                <a:solidFill>
                  <a:srgbClr val="071521"/>
                </a:solidFill>
                <a:latin typeface="Aptos"/>
                <a:ea typeface="Aptos"/>
                <a:cs typeface="Aptos"/>
              </a:defRPr>
            </a:pPr>
            <a:r>
              <a:rPr sz="1020" b="1">
                <a:solidFill>
                  <a:srgbClr val="071521"/>
                </a:solidFill>
                <a:latin typeface="Aptos"/>
                <a:ea typeface="Aptos"/>
                <a:cs typeface="Aptos"/>
              </a:rPr>
              <a:t>BOTTOM PLOT MIXES UNITS  •  actuator: deg  •  disturbance: deg/s²  •  compare timing/trend, not vertical magnitude</a:t>
            </a:r>
          </a:p>
        </p:txBody>
      </p:sp>
    </p:spTree>
    <p:extLst>
      <p:ext uri="{BB962C8B-B14F-4D97-AF65-F5344CB8AC3E}">
        <p14:creationId xmlns:p14="http://schemas.microsoft.com/office/powerpoint/2010/main" val="354341949"/>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VERIFICATION &amp; DATA</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The suite checks functional behavior and timestamp spacing—not WCET</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
        <p:nvSpPr>
          <p:cNvPr id="31" name="s27-col-0">
            <a:extLst xmlns:a="http://schemas.openxmlformats.org/drawingml/2006/main">
              <a:ext uri="{FF2B5EF4-FFF2-40B4-BE49-F238E27FC236}">
                <a16:creationId xmlns:a16="http://schemas.microsoft.com/office/drawing/2014/main" id="{11371F88-E76A-4741-96AD-B021E4C620F2}"/>
              </a:ext>
            </a:extLst>
          </p:cNvPr>
          <p:cNvSpPr>
            <a:spLocks xmlns:a="http://schemas.openxmlformats.org/drawingml/2006/main" noGrp="1"/>
          </p:cNvSpPr>
          <p:nvPr/>
        </p:nvSpPr>
        <p:spPr>
          <a:xfrm xmlns:a="http://schemas.openxmlformats.org/drawingml/2006/main">
            <a:off x="685800" y="1619250"/>
            <a:ext cx="3352800" cy="3200400"/>
          </a:xfrm>
          <a:prstGeom xmlns:a="http://schemas.openxmlformats.org/drawingml/2006/main" prst="roundRect">
            <a:avLst>
              <a:gd name="adj" fmla="val 3571"/>
            </a:avLst>
          </a:prstGeom>
          <a:solidFill xmlns:a="http://schemas.openxmlformats.org/drawingml/2006/main">
            <a:srgbClr val="0C2133"/>
          </a:solidFill>
          <a:ln xmlns:a="http://schemas.openxmlformats.org/drawingml/2006/main" w="14288">
            <a:solidFill>
              <a:srgbClr val="20B7C5"/>
            </a:solidFill>
            <a:prstDash val="solid"/>
          </a:ln>
        </p:spPr>
      </p:sp>
      <p:sp>
        <p:nvSpPr>
          <p:cNvPr id="32" name="s27-title-0">
            <a:extLst xmlns:a="http://schemas.openxmlformats.org/drawingml/2006/main">
              <a:ext uri="{FF2B5EF4-FFF2-40B4-BE49-F238E27FC236}">
                <a16:creationId xmlns:a16="http://schemas.microsoft.com/office/drawing/2014/main" id="{E1675285-E760-4DF3-86B7-FB27D9AA6E09}"/>
              </a:ext>
            </a:extLst>
          </p:cNvPr>
          <p:cNvSpPr>
            <a:spLocks xmlns:a="http://schemas.openxmlformats.org/drawingml/2006/main" noGrp="1"/>
          </p:cNvSpPr>
          <p:nvPr/>
        </p:nvSpPr>
        <p:spPr>
          <a:xfrm xmlns:a="http://schemas.openxmlformats.org/drawingml/2006/main">
            <a:off x="876300" y="1809750"/>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60" b="1">
                <a:solidFill>
                  <a:srgbClr val="20B7C5"/>
                </a:solidFill>
                <a:latin typeface="Aptos"/>
                <a:ea typeface="Aptos"/>
                <a:cs typeface="Aptos"/>
              </a:defRPr>
            </a:pPr>
            <a:r>
              <a:rPr sz="1260" b="1">
                <a:solidFill>
                  <a:srgbClr val="20B7C5"/>
                </a:solidFill>
                <a:latin typeface="Aptos"/>
                <a:ea typeface="Aptos"/>
                <a:cs typeface="Aptos"/>
              </a:rPr>
              <a:t>ROW-SPECIFIC</a:t>
            </a:r>
          </a:p>
        </p:txBody>
      </p:sp>
      <p:sp>
        <p:nvSpPr>
          <p:cNvPr id="33" name="s27-list-0-dot-0">
            <a:extLst xmlns:a="http://schemas.openxmlformats.org/drawingml/2006/main">
              <a:ext uri="{FF2B5EF4-FFF2-40B4-BE49-F238E27FC236}">
                <a16:creationId xmlns:a16="http://schemas.microsoft.com/office/drawing/2014/main" id="{39DB4E5B-AEFA-4EDA-82B6-1A5F5B8F95E5}"/>
              </a:ext>
            </a:extLst>
          </p:cNvPr>
          <p:cNvSpPr>
            <a:spLocks xmlns:a="http://schemas.openxmlformats.org/drawingml/2006/main" noGrp="1"/>
          </p:cNvSpPr>
          <p:nvPr/>
        </p:nvSpPr>
        <p:spPr>
          <a:xfrm xmlns:a="http://schemas.openxmlformats.org/drawingml/2006/main">
            <a:off x="971550" y="25050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34" name="s27-list-0-text-0">
            <a:extLst xmlns:a="http://schemas.openxmlformats.org/drawingml/2006/main">
              <a:ext uri="{FF2B5EF4-FFF2-40B4-BE49-F238E27FC236}">
                <a16:creationId xmlns:a16="http://schemas.microsoft.com/office/drawing/2014/main" id="{30B1B8DE-0898-4664-BD1C-2FB5CEC0AC54}"/>
              </a:ext>
            </a:extLst>
          </p:cNvPr>
          <p:cNvSpPr>
            <a:spLocks xmlns:a="http://schemas.openxmlformats.org/drawingml/2006/main" noGrp="1"/>
          </p:cNvSpPr>
          <p:nvPr/>
        </p:nvSpPr>
        <p:spPr>
          <a:xfrm xmlns:a="http://schemas.openxmlformats.org/drawingml/2006/main">
            <a:off x="1162050" y="24193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NumericPass</a:t>
            </a:r>
          </a:p>
        </p:txBody>
      </p:sp>
      <p:sp>
        <p:nvSpPr>
          <p:cNvPr id="35" name="s27-list-0-dot-1">
            <a:extLst xmlns:a="http://schemas.openxmlformats.org/drawingml/2006/main">
              <a:ext uri="{FF2B5EF4-FFF2-40B4-BE49-F238E27FC236}">
                <a16:creationId xmlns:a16="http://schemas.microsoft.com/office/drawing/2014/main" id="{95BEAF89-479B-4B82-88D1-9F4881AF0F7A}"/>
              </a:ext>
            </a:extLst>
          </p:cNvPr>
          <p:cNvSpPr>
            <a:spLocks xmlns:a="http://schemas.openxmlformats.org/drawingml/2006/main" noGrp="1"/>
          </p:cNvSpPr>
          <p:nvPr/>
        </p:nvSpPr>
        <p:spPr>
          <a:xfrm xmlns:a="http://schemas.openxmlformats.org/drawingml/2006/main">
            <a:off x="971550" y="31146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36" name="s27-list-0-text-1">
            <a:extLst xmlns:a="http://schemas.openxmlformats.org/drawingml/2006/main">
              <a:ext uri="{FF2B5EF4-FFF2-40B4-BE49-F238E27FC236}">
                <a16:creationId xmlns:a16="http://schemas.microsoft.com/office/drawing/2014/main" id="{20A46502-7910-4B28-BD14-3FFA6C29A719}"/>
              </a:ext>
            </a:extLst>
          </p:cNvPr>
          <p:cNvSpPr>
            <a:spLocks xmlns:a="http://schemas.openxmlformats.org/drawingml/2006/main" noGrp="1"/>
          </p:cNvSpPr>
          <p:nvPr/>
        </p:nvSpPr>
        <p:spPr>
          <a:xfrm xmlns:a="http://schemas.openxmlformats.org/drawingml/2006/main">
            <a:off x="1162050" y="30289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LimiterActivePass</a:t>
            </a:r>
          </a:p>
        </p:txBody>
      </p:sp>
      <p:sp>
        <p:nvSpPr>
          <p:cNvPr id="37" name="s27-list-0-dot-2">
            <a:extLst xmlns:a="http://schemas.openxmlformats.org/drawingml/2006/main">
              <a:ext uri="{FF2B5EF4-FFF2-40B4-BE49-F238E27FC236}">
                <a16:creationId xmlns:a16="http://schemas.microsoft.com/office/drawing/2014/main" id="{550EE754-5088-490E-B161-AA6B47DBC1D8}"/>
              </a:ext>
            </a:extLst>
          </p:cNvPr>
          <p:cNvSpPr>
            <a:spLocks xmlns:a="http://schemas.openxmlformats.org/drawingml/2006/main" noGrp="1"/>
          </p:cNvSpPr>
          <p:nvPr/>
        </p:nvSpPr>
        <p:spPr>
          <a:xfrm xmlns:a="http://schemas.openxmlformats.org/drawingml/2006/main">
            <a:off x="971550" y="3724275"/>
            <a:ext cx="85725" cy="85725"/>
          </a:xfrm>
          <a:prstGeom xmlns:a="http://schemas.openxmlformats.org/drawingml/2006/main" prst="ellipse">
            <a:avLst/>
          </a:prstGeom>
          <a:solidFill xmlns:a="http://schemas.openxmlformats.org/drawingml/2006/main">
            <a:srgbClr val="20B7C5"/>
          </a:solidFill>
          <a:ln xmlns:a="http://schemas.openxmlformats.org/drawingml/2006/main" w="0">
            <a:solidFill>
              <a:srgbClr val="20B7C5"/>
            </a:solidFill>
            <a:prstDash val="solid"/>
          </a:ln>
        </p:spPr>
      </p:sp>
      <p:sp>
        <p:nvSpPr>
          <p:cNvPr id="38" name="s27-list-0-text-2">
            <a:extLst xmlns:a="http://schemas.openxmlformats.org/drawingml/2006/main">
              <a:ext uri="{FF2B5EF4-FFF2-40B4-BE49-F238E27FC236}">
                <a16:creationId xmlns:a16="http://schemas.microsoft.com/office/drawing/2014/main" id="{C5439A87-5DBB-4BB6-8B9E-DD5E7EA12020}"/>
              </a:ext>
            </a:extLst>
          </p:cNvPr>
          <p:cNvSpPr>
            <a:spLocks xmlns:a="http://schemas.openxmlformats.org/drawingml/2006/main" noGrp="1"/>
          </p:cNvSpPr>
          <p:nvPr/>
        </p:nvSpPr>
        <p:spPr>
          <a:xfrm xmlns:a="http://schemas.openxmlformats.org/drawingml/2006/main">
            <a:off x="1162050" y="36385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TimestampPass</a:t>
            </a:r>
          </a:p>
        </p:txBody>
      </p:sp>
      <p:sp>
        <p:nvSpPr>
          <p:cNvPr id="39" name="s27-col-1">
            <a:extLst xmlns:a="http://schemas.openxmlformats.org/drawingml/2006/main">
              <a:ext uri="{FF2B5EF4-FFF2-40B4-BE49-F238E27FC236}">
                <a16:creationId xmlns:a16="http://schemas.microsoft.com/office/drawing/2014/main" id="{43DC9033-6BCB-4E37-AE8C-ADF482EE99DF}"/>
              </a:ext>
            </a:extLst>
          </p:cNvPr>
          <p:cNvSpPr>
            <a:spLocks xmlns:a="http://schemas.openxmlformats.org/drawingml/2006/main" noGrp="1"/>
          </p:cNvSpPr>
          <p:nvPr/>
        </p:nvSpPr>
        <p:spPr>
          <a:xfrm xmlns:a="http://schemas.openxmlformats.org/drawingml/2006/main">
            <a:off x="4343400" y="1619250"/>
            <a:ext cx="3352800" cy="3200400"/>
          </a:xfrm>
          <a:prstGeom xmlns:a="http://schemas.openxmlformats.org/drawingml/2006/main" prst="roundRect">
            <a:avLst>
              <a:gd name="adj" fmla="val 3571"/>
            </a:avLst>
          </a:prstGeom>
          <a:solidFill xmlns:a="http://schemas.openxmlformats.org/drawingml/2006/main">
            <a:srgbClr val="0C2133"/>
          </a:solidFill>
          <a:ln xmlns:a="http://schemas.openxmlformats.org/drawingml/2006/main" w="14288">
            <a:solidFill>
              <a:srgbClr val="2CA56F"/>
            </a:solidFill>
            <a:prstDash val="solid"/>
          </a:ln>
        </p:spPr>
      </p:sp>
      <p:sp>
        <p:nvSpPr>
          <p:cNvPr id="40" name="s27-title-1">
            <a:extLst xmlns:a="http://schemas.openxmlformats.org/drawingml/2006/main">
              <a:ext uri="{FF2B5EF4-FFF2-40B4-BE49-F238E27FC236}">
                <a16:creationId xmlns:a16="http://schemas.microsoft.com/office/drawing/2014/main" id="{6B4667C0-2DA2-4603-8A97-58676D7BA4B4}"/>
              </a:ext>
            </a:extLst>
          </p:cNvPr>
          <p:cNvSpPr>
            <a:spLocks xmlns:a="http://schemas.openxmlformats.org/drawingml/2006/main" noGrp="1"/>
          </p:cNvSpPr>
          <p:nvPr/>
        </p:nvSpPr>
        <p:spPr>
          <a:xfrm xmlns:a="http://schemas.openxmlformats.org/drawingml/2006/main">
            <a:off x="4533900" y="1809750"/>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60" b="1">
                <a:solidFill>
                  <a:srgbClr val="2CA56F"/>
                </a:solidFill>
                <a:latin typeface="Aptos"/>
                <a:ea typeface="Aptos"/>
                <a:cs typeface="Aptos"/>
              </a:defRPr>
            </a:pPr>
            <a:r>
              <a:rPr sz="1260" b="1">
                <a:solidFill>
                  <a:srgbClr val="2CA56F"/>
                </a:solidFill>
                <a:latin typeface="Aptos"/>
                <a:ea typeface="Aptos"/>
                <a:cs typeface="Aptos"/>
              </a:rPr>
              <a:t>SUITE-LEVEL</a:t>
            </a:r>
          </a:p>
        </p:txBody>
      </p:sp>
      <p:sp>
        <p:nvSpPr>
          <p:cNvPr id="41" name="s27-list-1-dot-0">
            <a:extLst xmlns:a="http://schemas.openxmlformats.org/drawingml/2006/main">
              <a:ext uri="{FF2B5EF4-FFF2-40B4-BE49-F238E27FC236}">
                <a16:creationId xmlns:a16="http://schemas.microsoft.com/office/drawing/2014/main" id="{0D658413-08DA-4BFF-9BCF-4DFBC53546DC}"/>
              </a:ext>
            </a:extLst>
          </p:cNvPr>
          <p:cNvSpPr>
            <a:spLocks xmlns:a="http://schemas.openxmlformats.org/drawingml/2006/main" noGrp="1"/>
          </p:cNvSpPr>
          <p:nvPr/>
        </p:nvSpPr>
        <p:spPr>
          <a:xfrm xmlns:a="http://schemas.openxmlformats.org/drawingml/2006/main">
            <a:off x="4629150" y="250507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42" name="s27-list-1-text-0">
            <a:extLst xmlns:a="http://schemas.openxmlformats.org/drawingml/2006/main">
              <a:ext uri="{FF2B5EF4-FFF2-40B4-BE49-F238E27FC236}">
                <a16:creationId xmlns:a16="http://schemas.microsoft.com/office/drawing/2014/main" id="{F7F0059B-C68C-4BE6-82F3-DB97423763AF}"/>
              </a:ext>
            </a:extLst>
          </p:cNvPr>
          <p:cNvSpPr>
            <a:spLocks xmlns:a="http://schemas.openxmlformats.org/drawingml/2006/main" noGrp="1"/>
          </p:cNvSpPr>
          <p:nvPr/>
        </p:nvSpPr>
        <p:spPr>
          <a:xfrm xmlns:a="http://schemas.openxmlformats.org/drawingml/2006/main">
            <a:off x="4819650" y="24193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Required sample time = 0.02 s</a:t>
            </a:r>
          </a:p>
        </p:txBody>
      </p:sp>
      <p:sp>
        <p:nvSpPr>
          <p:cNvPr id="43" name="s27-list-1-dot-1">
            <a:extLst xmlns:a="http://schemas.openxmlformats.org/drawingml/2006/main">
              <a:ext uri="{FF2B5EF4-FFF2-40B4-BE49-F238E27FC236}">
                <a16:creationId xmlns:a16="http://schemas.microsoft.com/office/drawing/2014/main" id="{CB052B33-4ACC-4449-AECC-728445068988}"/>
              </a:ext>
            </a:extLst>
          </p:cNvPr>
          <p:cNvSpPr>
            <a:spLocks xmlns:a="http://schemas.openxmlformats.org/drawingml/2006/main" noGrp="1"/>
          </p:cNvSpPr>
          <p:nvPr/>
        </p:nvSpPr>
        <p:spPr>
          <a:xfrm xmlns:a="http://schemas.openxmlformats.org/drawingml/2006/main">
            <a:off x="4629150" y="311467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44" name="s27-list-1-text-1">
            <a:extLst xmlns:a="http://schemas.openxmlformats.org/drawingml/2006/main">
              <a:ext uri="{FF2B5EF4-FFF2-40B4-BE49-F238E27FC236}">
                <a16:creationId xmlns:a16="http://schemas.microsoft.com/office/drawing/2014/main" id="{7036B171-D728-4A7F-BC67-E173C12FB42B}"/>
              </a:ext>
            </a:extLst>
          </p:cNvPr>
          <p:cNvSpPr>
            <a:spLocks xmlns:a="http://schemas.openxmlformats.org/drawingml/2006/main" noGrp="1"/>
          </p:cNvSpPr>
          <p:nvPr/>
        </p:nvSpPr>
        <p:spPr>
          <a:xfrm xmlns:a="http://schemas.openxmlformats.org/drawingml/2006/main">
            <a:off x="4819650" y="30289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Observed spacing = 0.02 s</a:t>
            </a:r>
          </a:p>
        </p:txBody>
      </p:sp>
      <p:sp>
        <p:nvSpPr>
          <p:cNvPr id="45" name="s27-list-1-dot-2">
            <a:extLst xmlns:a="http://schemas.openxmlformats.org/drawingml/2006/main">
              <a:ext uri="{FF2B5EF4-FFF2-40B4-BE49-F238E27FC236}">
                <a16:creationId xmlns:a16="http://schemas.microsoft.com/office/drawing/2014/main" id="{054EF1FA-7649-49DF-ABE6-542074F9CE27}"/>
              </a:ext>
            </a:extLst>
          </p:cNvPr>
          <p:cNvSpPr>
            <a:spLocks xmlns:a="http://schemas.openxmlformats.org/drawingml/2006/main" noGrp="1"/>
          </p:cNvSpPr>
          <p:nvPr/>
        </p:nvSpPr>
        <p:spPr>
          <a:xfrm xmlns:a="http://schemas.openxmlformats.org/drawingml/2006/main">
            <a:off x="4629150" y="3724275"/>
            <a:ext cx="85725" cy="85725"/>
          </a:xfrm>
          <a:prstGeom xmlns:a="http://schemas.openxmlformats.org/drawingml/2006/main" prst="ellipse">
            <a:avLst/>
          </a:prstGeom>
          <a:solidFill xmlns:a="http://schemas.openxmlformats.org/drawingml/2006/main">
            <a:srgbClr val="2CA56F"/>
          </a:solidFill>
          <a:ln xmlns:a="http://schemas.openxmlformats.org/drawingml/2006/main" w="0">
            <a:solidFill>
              <a:srgbClr val="2CA56F"/>
            </a:solidFill>
            <a:prstDash val="solid"/>
          </a:ln>
        </p:spPr>
      </p:sp>
      <p:sp>
        <p:nvSpPr>
          <p:cNvPr id="46" name="s27-list-1-text-2">
            <a:extLst xmlns:a="http://schemas.openxmlformats.org/drawingml/2006/main">
              <a:ext uri="{FF2B5EF4-FFF2-40B4-BE49-F238E27FC236}">
                <a16:creationId xmlns:a16="http://schemas.microsoft.com/office/drawing/2014/main" id="{FB2B0039-F4BA-49FE-A7D0-E7DF06EDC72F}"/>
              </a:ext>
            </a:extLst>
          </p:cNvPr>
          <p:cNvSpPr>
            <a:spLocks xmlns:a="http://schemas.openxmlformats.org/drawingml/2006/main" noGrp="1"/>
          </p:cNvSpPr>
          <p:nvPr/>
        </p:nvSpPr>
        <p:spPr>
          <a:xfrm xmlns:a="http://schemas.openxmlformats.org/drawingml/2006/main">
            <a:off x="4819650" y="36385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Timing50HzPass repeated on 19 rows</a:t>
            </a:r>
          </a:p>
        </p:txBody>
      </p:sp>
      <p:sp>
        <p:nvSpPr>
          <p:cNvPr id="47" name="s27-col-2">
            <a:extLst xmlns:a="http://schemas.openxmlformats.org/drawingml/2006/main">
              <a:ext uri="{FF2B5EF4-FFF2-40B4-BE49-F238E27FC236}">
                <a16:creationId xmlns:a16="http://schemas.microsoft.com/office/drawing/2014/main" id="{D7DE08E1-9F9A-45EB-83A0-DB49E84A187D}"/>
              </a:ext>
            </a:extLst>
          </p:cNvPr>
          <p:cNvSpPr>
            <a:spLocks xmlns:a="http://schemas.openxmlformats.org/drawingml/2006/main" noGrp="1"/>
          </p:cNvSpPr>
          <p:nvPr/>
        </p:nvSpPr>
        <p:spPr>
          <a:xfrm xmlns:a="http://schemas.openxmlformats.org/drawingml/2006/main">
            <a:off x="8001000" y="1619250"/>
            <a:ext cx="3352800" cy="3200400"/>
          </a:xfrm>
          <a:prstGeom xmlns:a="http://schemas.openxmlformats.org/drawingml/2006/main" prst="roundRect">
            <a:avLst>
              <a:gd name="adj" fmla="val 3571"/>
            </a:avLst>
          </a:prstGeom>
          <a:solidFill xmlns:a="http://schemas.openxmlformats.org/drawingml/2006/main">
            <a:srgbClr val="0C2133"/>
          </a:solidFill>
          <a:ln xmlns:a="http://schemas.openxmlformats.org/drawingml/2006/main" w="14288">
            <a:solidFill>
              <a:srgbClr val="E9A23B"/>
            </a:solidFill>
            <a:prstDash val="solid"/>
          </a:ln>
        </p:spPr>
      </p:sp>
      <p:sp>
        <p:nvSpPr>
          <p:cNvPr id="48" name="s27-title-2">
            <a:extLst xmlns:a="http://schemas.openxmlformats.org/drawingml/2006/main">
              <a:ext uri="{FF2B5EF4-FFF2-40B4-BE49-F238E27FC236}">
                <a16:creationId xmlns:a16="http://schemas.microsoft.com/office/drawing/2014/main" id="{E967CBDC-C5B8-451E-8E79-9AEF61B302D8}"/>
              </a:ext>
            </a:extLst>
          </p:cNvPr>
          <p:cNvSpPr>
            <a:spLocks xmlns:a="http://schemas.openxmlformats.org/drawingml/2006/main" noGrp="1"/>
          </p:cNvSpPr>
          <p:nvPr/>
        </p:nvSpPr>
        <p:spPr>
          <a:xfrm xmlns:a="http://schemas.openxmlformats.org/drawingml/2006/main">
            <a:off x="8191500" y="1809750"/>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60" b="1">
                <a:solidFill>
                  <a:srgbClr val="E9A23B"/>
                </a:solidFill>
                <a:latin typeface="Aptos"/>
                <a:ea typeface="Aptos"/>
                <a:cs typeface="Aptos"/>
              </a:defRPr>
            </a:pPr>
            <a:r>
              <a:rPr sz="1260" b="1">
                <a:solidFill>
                  <a:srgbClr val="E9A23B"/>
                </a:solidFill>
                <a:latin typeface="Aptos"/>
                <a:ea typeface="Aptos"/>
                <a:cs typeface="Aptos"/>
              </a:rPr>
              <a:t>NOT MEASURED</a:t>
            </a:r>
          </a:p>
        </p:txBody>
      </p:sp>
      <p:sp>
        <p:nvSpPr>
          <p:cNvPr id="49" name="s27-list-2-dot-0">
            <a:extLst xmlns:a="http://schemas.openxmlformats.org/drawingml/2006/main">
              <a:ext uri="{FF2B5EF4-FFF2-40B4-BE49-F238E27FC236}">
                <a16:creationId xmlns:a16="http://schemas.microsoft.com/office/drawing/2014/main" id="{C1FDF716-8D75-4650-847F-7CBCDF5E95F7}"/>
              </a:ext>
            </a:extLst>
          </p:cNvPr>
          <p:cNvSpPr>
            <a:spLocks xmlns:a="http://schemas.openxmlformats.org/drawingml/2006/main" noGrp="1"/>
          </p:cNvSpPr>
          <p:nvPr/>
        </p:nvSpPr>
        <p:spPr>
          <a:xfrm xmlns:a="http://schemas.openxmlformats.org/drawingml/2006/main">
            <a:off x="8286750" y="25050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50" name="s27-list-2-text-0">
            <a:extLst xmlns:a="http://schemas.openxmlformats.org/drawingml/2006/main">
              <a:ext uri="{FF2B5EF4-FFF2-40B4-BE49-F238E27FC236}">
                <a16:creationId xmlns:a16="http://schemas.microsoft.com/office/drawing/2014/main" id="{045EDF26-AC9A-43B0-AF80-5F2C48DEB30E}"/>
              </a:ext>
            </a:extLst>
          </p:cNvPr>
          <p:cNvSpPr>
            <a:spLocks xmlns:a="http://schemas.openxmlformats.org/drawingml/2006/main" noGrp="1"/>
          </p:cNvSpPr>
          <p:nvPr/>
        </p:nvSpPr>
        <p:spPr>
          <a:xfrm xmlns:a="http://schemas.openxmlformats.org/drawingml/2006/main">
            <a:off x="8477250" y="24193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Worst-case execution time</a:t>
            </a:r>
          </a:p>
        </p:txBody>
      </p:sp>
      <p:sp>
        <p:nvSpPr>
          <p:cNvPr id="51" name="s27-list-2-dot-1">
            <a:extLst xmlns:a="http://schemas.openxmlformats.org/drawingml/2006/main">
              <a:ext uri="{FF2B5EF4-FFF2-40B4-BE49-F238E27FC236}">
                <a16:creationId xmlns:a16="http://schemas.microsoft.com/office/drawing/2014/main" id="{FA2B150C-A00A-4B5B-9803-CF324A02C744}"/>
              </a:ext>
            </a:extLst>
          </p:cNvPr>
          <p:cNvSpPr>
            <a:spLocks xmlns:a="http://schemas.openxmlformats.org/drawingml/2006/main" noGrp="1"/>
          </p:cNvSpPr>
          <p:nvPr/>
        </p:nvSpPr>
        <p:spPr>
          <a:xfrm xmlns:a="http://schemas.openxmlformats.org/drawingml/2006/main">
            <a:off x="8286750" y="31146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52" name="s27-list-2-text-1">
            <a:extLst xmlns:a="http://schemas.openxmlformats.org/drawingml/2006/main">
              <a:ext uri="{FF2B5EF4-FFF2-40B4-BE49-F238E27FC236}">
                <a16:creationId xmlns:a16="http://schemas.microsoft.com/office/drawing/2014/main" id="{8B268FAF-4C59-46E8-92E3-41352215B293}"/>
              </a:ext>
            </a:extLst>
          </p:cNvPr>
          <p:cNvSpPr>
            <a:spLocks xmlns:a="http://schemas.openxmlformats.org/drawingml/2006/main" noGrp="1"/>
          </p:cNvSpPr>
          <p:nvPr/>
        </p:nvSpPr>
        <p:spPr>
          <a:xfrm xmlns:a="http://schemas.openxmlformats.org/drawingml/2006/main">
            <a:off x="8477250" y="30289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Scheduler latency or deadline margin</a:t>
            </a:r>
          </a:p>
        </p:txBody>
      </p:sp>
      <p:sp>
        <p:nvSpPr>
          <p:cNvPr id="53" name="s27-list-2-dot-2">
            <a:extLst xmlns:a="http://schemas.openxmlformats.org/drawingml/2006/main">
              <a:ext uri="{FF2B5EF4-FFF2-40B4-BE49-F238E27FC236}">
                <a16:creationId xmlns:a16="http://schemas.microsoft.com/office/drawing/2014/main" id="{EFB4E81F-5785-41E1-974D-BB754BCB2D5C}"/>
              </a:ext>
            </a:extLst>
          </p:cNvPr>
          <p:cNvSpPr>
            <a:spLocks xmlns:a="http://schemas.openxmlformats.org/drawingml/2006/main" noGrp="1"/>
          </p:cNvSpPr>
          <p:nvPr/>
        </p:nvSpPr>
        <p:spPr>
          <a:xfrm xmlns:a="http://schemas.openxmlformats.org/drawingml/2006/main">
            <a:off x="8286750" y="37242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54" name="s27-list-2-text-2">
            <a:extLst xmlns:a="http://schemas.openxmlformats.org/drawingml/2006/main">
              <a:ext uri="{FF2B5EF4-FFF2-40B4-BE49-F238E27FC236}">
                <a16:creationId xmlns:a16="http://schemas.microsoft.com/office/drawing/2014/main" id="{14DB5F95-5BE0-41D9-8ED5-9569606D8821}"/>
              </a:ext>
            </a:extLst>
          </p:cNvPr>
          <p:cNvSpPr>
            <a:spLocks xmlns:a="http://schemas.openxmlformats.org/drawingml/2006/main" noGrp="1"/>
          </p:cNvSpPr>
          <p:nvPr/>
        </p:nvSpPr>
        <p:spPr>
          <a:xfrm xmlns:a="http://schemas.openxmlformats.org/drawingml/2006/main">
            <a:off x="8477250" y="3638550"/>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Target overrun / processor utilization</a:t>
            </a:r>
          </a:p>
        </p:txBody>
      </p:sp>
      <p:sp>
        <p:nvSpPr>
          <p:cNvPr id="55" name="s27-tolerance">
            <a:extLst xmlns:a="http://schemas.openxmlformats.org/drawingml/2006/main">
              <a:ext uri="{FF2B5EF4-FFF2-40B4-BE49-F238E27FC236}">
                <a16:creationId xmlns:a16="http://schemas.microsoft.com/office/drawing/2014/main" id="{5C32BD7A-9FCC-4137-AFD6-F2954AF0ED37}"/>
              </a:ext>
            </a:extLst>
          </p:cNvPr>
          <p:cNvSpPr>
            <a:spLocks xmlns:a="http://schemas.openxmlformats.org/drawingml/2006/main" noGrp="1"/>
          </p:cNvSpPr>
          <p:nvPr/>
        </p:nvSpPr>
        <p:spPr>
          <a:xfrm xmlns:a="http://schemas.openxmlformats.org/drawingml/2006/main">
            <a:off x="685800" y="5105400"/>
            <a:ext cx="10820400" cy="533400"/>
          </a:xfrm>
          <a:prstGeom xmlns:a="http://schemas.openxmlformats.org/drawingml/2006/main" prst="roundRect">
            <a:avLst>
              <a:gd name="adj" fmla="val 21429"/>
            </a:avLst>
          </a:prstGeom>
          <a:solidFill xmlns:a="http://schemas.openxmlformats.org/drawingml/2006/main">
            <a:srgbClr val="091A29"/>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EXECUTABLE ACCEPTANCE  •  |dictionary Sample_time − 0.02| ≤ 2e−11 s  AND  every retained point spacing is 0.02 s within the same tolerance</a:t>
            </a:r>
          </a:p>
        </p:txBody>
      </p:sp>
      <p:sp>
        <p:nvSpPr>
          <p:cNvPr id="56" name="s27-boundary">
            <a:extLst xmlns:a="http://schemas.openxmlformats.org/drawingml/2006/main">
              <a:ext uri="{FF2B5EF4-FFF2-40B4-BE49-F238E27FC236}">
                <a16:creationId xmlns:a16="http://schemas.microsoft.com/office/drawing/2014/main" id="{48B517A6-FB9A-481B-B494-3FBD327BA192}"/>
              </a:ext>
            </a:extLst>
          </p:cNvPr>
          <p:cNvSpPr>
            <a:spLocks xmlns:a="http://schemas.openxmlformats.org/drawingml/2006/main" noGrp="1"/>
          </p:cNvSpPr>
          <p:nvPr/>
        </p:nvSpPr>
        <p:spPr>
          <a:xfrm xmlns:a="http://schemas.openxmlformats.org/drawingml/2006/main">
            <a:off x="685800" y="575310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Say “50 Hz configuration and retained timestamp spacing passed”—not “the design meets a real-time deadline.”</a:t>
            </a:r>
          </a:p>
        </p:txBody>
      </p:sp>
    </p:spTree>
    <p:extLst>
      <p:ext uri="{BB962C8B-B14F-4D97-AF65-F5344CB8AC3E}">
        <p14:creationId xmlns:p14="http://schemas.microsoft.com/office/powerpoint/2010/main" val="415732081"/>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VERIFICATION &amp; DATA</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FFFFFF"/>
                </a:solidFill>
                <a:latin typeface="Aptos"/>
                <a:ea typeface="Aptos"/>
                <a:cs typeface="Aptos"/>
              </a:defRPr>
            </a:pPr>
            <a:r>
              <a:rPr sz="2550" b="1" i="0">
                <a:solidFill>
                  <a:srgbClr val="FFFFFF"/>
                </a:solidFill>
                <a:latin typeface="Aptos"/>
                <a:ea typeface="Aptos"/>
                <a:cs typeface="Aptos"/>
              </a:rPr>
              <a:t>One controlled flow creates the inputs, oracle, and retained result views</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
        <p:nvSpPr>
          <p:cNvPr id="25" name="s28-stage-0">
            <a:extLst xmlns:a="http://schemas.openxmlformats.org/drawingml/2006/main">
              <a:ext uri="{FF2B5EF4-FFF2-40B4-BE49-F238E27FC236}">
                <a16:creationId xmlns:a16="http://schemas.microsoft.com/office/drawing/2014/main" id="{4724490B-CA96-47F0-A98F-CCF0E0446ADA}"/>
              </a:ext>
            </a:extLst>
          </p:cNvPr>
          <p:cNvSpPr>
            <a:spLocks xmlns:a="http://schemas.openxmlformats.org/drawingml/2006/main" noGrp="1"/>
          </p:cNvSpPr>
          <p:nvPr/>
        </p:nvSpPr>
        <p:spPr>
          <a:xfrm xmlns:a="http://schemas.openxmlformats.org/drawingml/2006/main">
            <a:off x="685800" y="1847850"/>
            <a:ext cx="1600200" cy="1866900"/>
          </a:xfrm>
          <a:prstGeom xmlns:a="http://schemas.openxmlformats.org/drawingml/2006/main" prst="roundRect">
            <a:avLst>
              <a:gd name="adj" fmla="val 7143"/>
            </a:avLst>
          </a:prstGeom>
          <a:solidFill xmlns:a="http://schemas.openxmlformats.org/drawingml/2006/main">
            <a:srgbClr val="0C2133"/>
          </a:solidFill>
          <a:ln xmlns:a="http://schemas.openxmlformats.org/drawingml/2006/main" w="12383">
            <a:solidFill>
              <a:srgbClr val="20B7C5"/>
            </a:solidFill>
            <a:prstDash val="solid"/>
          </a:ln>
        </p:spPr>
      </p:sp>
      <p:sp>
        <p:nvSpPr>
          <p:cNvPr id="26" name="s28-num-0">
            <a:extLst xmlns:a="http://schemas.openxmlformats.org/drawingml/2006/main">
              <a:ext uri="{FF2B5EF4-FFF2-40B4-BE49-F238E27FC236}">
                <a16:creationId xmlns:a16="http://schemas.microsoft.com/office/drawing/2014/main" id="{8A58C418-1FB4-48C3-9AC2-8602D622CB25}"/>
              </a:ext>
            </a:extLst>
          </p:cNvPr>
          <p:cNvSpPr>
            <a:spLocks xmlns:a="http://schemas.openxmlformats.org/drawingml/2006/main" noGrp="1"/>
          </p:cNvSpPr>
          <p:nvPr/>
        </p:nvSpPr>
        <p:spPr>
          <a:xfrm xmlns:a="http://schemas.openxmlformats.org/drawingml/2006/main">
            <a:off x="819150" y="2000250"/>
            <a:ext cx="3619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1</a:t>
            </a:r>
          </a:p>
        </p:txBody>
      </p:sp>
      <p:sp>
        <p:nvSpPr>
          <p:cNvPr id="27" name="s28-title-0">
            <a:extLst xmlns:a="http://schemas.openxmlformats.org/drawingml/2006/main">
              <a:ext uri="{FF2B5EF4-FFF2-40B4-BE49-F238E27FC236}">
                <a16:creationId xmlns:a16="http://schemas.microsoft.com/office/drawing/2014/main" id="{70DAA9B6-5E65-4E39-A1ED-669888476791}"/>
              </a:ext>
            </a:extLst>
          </p:cNvPr>
          <p:cNvSpPr>
            <a:spLocks xmlns:a="http://schemas.openxmlformats.org/drawingml/2006/main" noGrp="1"/>
          </p:cNvSpPr>
          <p:nvPr/>
        </p:nvSpPr>
        <p:spPr>
          <a:xfrm xmlns:a="http://schemas.openxmlformats.org/drawingml/2006/main">
            <a:off x="1219200" y="198120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INITIALIZE</a:t>
            </a:r>
          </a:p>
        </p:txBody>
      </p:sp>
      <p:sp>
        <p:nvSpPr>
          <p:cNvPr id="28" name="s28-body-0">
            <a:extLst xmlns:a="http://schemas.openxmlformats.org/drawingml/2006/main">
              <a:ext uri="{FF2B5EF4-FFF2-40B4-BE49-F238E27FC236}">
                <a16:creationId xmlns:a16="http://schemas.microsoft.com/office/drawing/2014/main" id="{0D2D81E8-0526-4967-A475-3ADBC4180A65}"/>
              </a:ext>
            </a:extLst>
          </p:cNvPr>
          <p:cNvSpPr>
            <a:spLocks xmlns:a="http://schemas.openxmlformats.org/drawingml/2006/main" noGrp="1"/>
          </p:cNvSpPr>
          <p:nvPr/>
        </p:nvSpPr>
        <p:spPr>
          <a:xfrm xmlns:a="http://schemas.openxmlformats.org/drawingml/2006/main">
            <a:off x="819150" y="2514600"/>
            <a:ext cx="133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restore managed</a:t>
            </a:r>
          </a:p>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classroom data</a:t>
            </a:r>
          </a:p>
        </p:txBody>
      </p:sp>
      <p:sp>
        <p:nvSpPr>
          <p:cNvPr id="29" name="s28-arrow-0">
            <a:extLst xmlns:a="http://schemas.openxmlformats.org/drawingml/2006/main">
              <a:ext uri="{FF2B5EF4-FFF2-40B4-BE49-F238E27FC236}">
                <a16:creationId xmlns:a16="http://schemas.microsoft.com/office/drawing/2014/main" id="{F2024CFF-EC55-4877-A102-361DBFDD2D90}"/>
              </a:ext>
            </a:extLst>
          </p:cNvPr>
          <p:cNvSpPr>
            <a:spLocks xmlns:a="http://schemas.openxmlformats.org/drawingml/2006/main" noGrp="1"/>
          </p:cNvSpPr>
          <p:nvPr/>
        </p:nvSpPr>
        <p:spPr>
          <a:xfrm xmlns:a="http://schemas.openxmlformats.org/drawingml/2006/main">
            <a:off x="2286000" y="25431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30" name="s28-stage-1">
            <a:extLst xmlns:a="http://schemas.openxmlformats.org/drawingml/2006/main">
              <a:ext uri="{FF2B5EF4-FFF2-40B4-BE49-F238E27FC236}">
                <a16:creationId xmlns:a16="http://schemas.microsoft.com/office/drawing/2014/main" id="{93666225-ACA8-41A0-A335-7DCBDD581C0E}"/>
              </a:ext>
            </a:extLst>
          </p:cNvPr>
          <p:cNvSpPr>
            <a:spLocks xmlns:a="http://schemas.openxmlformats.org/drawingml/2006/main" noGrp="1"/>
          </p:cNvSpPr>
          <p:nvPr/>
        </p:nvSpPr>
        <p:spPr>
          <a:xfrm xmlns:a="http://schemas.openxmlformats.org/drawingml/2006/main">
            <a:off x="2514600" y="1847850"/>
            <a:ext cx="1600200" cy="1866900"/>
          </a:xfrm>
          <a:prstGeom xmlns:a="http://schemas.openxmlformats.org/drawingml/2006/main" prst="roundRect">
            <a:avLst>
              <a:gd name="adj" fmla="val 7143"/>
            </a:avLst>
          </a:prstGeom>
          <a:solidFill xmlns:a="http://schemas.openxmlformats.org/drawingml/2006/main">
            <a:srgbClr val="0C2133"/>
          </a:solidFill>
          <a:ln xmlns:a="http://schemas.openxmlformats.org/drawingml/2006/main" w="12383">
            <a:solidFill>
              <a:srgbClr val="20B7C5"/>
            </a:solidFill>
            <a:prstDash val="solid"/>
          </a:ln>
        </p:spPr>
      </p:sp>
      <p:sp>
        <p:nvSpPr>
          <p:cNvPr id="31" name="s28-num-1">
            <a:extLst xmlns:a="http://schemas.openxmlformats.org/drawingml/2006/main">
              <a:ext uri="{FF2B5EF4-FFF2-40B4-BE49-F238E27FC236}">
                <a16:creationId xmlns:a16="http://schemas.microsoft.com/office/drawing/2014/main" id="{2E471896-10EF-4515-B540-33BB2F37D1CF}"/>
              </a:ext>
            </a:extLst>
          </p:cNvPr>
          <p:cNvSpPr>
            <a:spLocks xmlns:a="http://schemas.openxmlformats.org/drawingml/2006/main" noGrp="1"/>
          </p:cNvSpPr>
          <p:nvPr/>
        </p:nvSpPr>
        <p:spPr>
          <a:xfrm xmlns:a="http://schemas.openxmlformats.org/drawingml/2006/main">
            <a:off x="2647950" y="2000250"/>
            <a:ext cx="3619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2</a:t>
            </a:r>
          </a:p>
        </p:txBody>
      </p:sp>
      <p:sp>
        <p:nvSpPr>
          <p:cNvPr id="32" name="s28-title-1">
            <a:extLst xmlns:a="http://schemas.openxmlformats.org/drawingml/2006/main">
              <a:ext uri="{FF2B5EF4-FFF2-40B4-BE49-F238E27FC236}">
                <a16:creationId xmlns:a16="http://schemas.microsoft.com/office/drawing/2014/main" id="{537D58B7-53F0-4884-8A0A-3ED625A4FBF3}"/>
              </a:ext>
            </a:extLst>
          </p:cNvPr>
          <p:cNvSpPr>
            <a:spLocks xmlns:a="http://schemas.openxmlformats.org/drawingml/2006/main" noGrp="1"/>
          </p:cNvSpPr>
          <p:nvPr/>
        </p:nvSpPr>
        <p:spPr>
          <a:xfrm xmlns:a="http://schemas.openxmlformats.org/drawingml/2006/main">
            <a:off x="3048000" y="198120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PRODUCE</a:t>
            </a:r>
          </a:p>
        </p:txBody>
      </p:sp>
      <p:sp>
        <p:nvSpPr>
          <p:cNvPr id="33" name="s28-body-1">
            <a:extLst xmlns:a="http://schemas.openxmlformats.org/drawingml/2006/main">
              <a:ext uri="{FF2B5EF4-FFF2-40B4-BE49-F238E27FC236}">
                <a16:creationId xmlns:a16="http://schemas.microsoft.com/office/drawing/2014/main" id="{8D7B5B8B-B5BE-4F71-8B77-74A8A9BD422D}"/>
              </a:ext>
            </a:extLst>
          </p:cNvPr>
          <p:cNvSpPr>
            <a:spLocks xmlns:a="http://schemas.openxmlformats.org/drawingml/2006/main" noGrp="1"/>
          </p:cNvSpPr>
          <p:nvPr/>
        </p:nvSpPr>
        <p:spPr>
          <a:xfrm xmlns:a="http://schemas.openxmlformats.org/drawingml/2006/main">
            <a:off x="2647950" y="2514600"/>
            <a:ext cx="133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19 rows + three</a:t>
            </a:r>
          </a:p>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input timeseries</a:t>
            </a:r>
          </a:p>
        </p:txBody>
      </p:sp>
      <p:sp>
        <p:nvSpPr>
          <p:cNvPr id="34" name="s28-arrow-1">
            <a:extLst xmlns:a="http://schemas.openxmlformats.org/drawingml/2006/main">
              <a:ext uri="{FF2B5EF4-FFF2-40B4-BE49-F238E27FC236}">
                <a16:creationId xmlns:a16="http://schemas.microsoft.com/office/drawing/2014/main" id="{ADB5603D-08ED-4AB6-AD9C-D38F640B77D3}"/>
              </a:ext>
            </a:extLst>
          </p:cNvPr>
          <p:cNvSpPr>
            <a:spLocks xmlns:a="http://schemas.openxmlformats.org/drawingml/2006/main" noGrp="1"/>
          </p:cNvSpPr>
          <p:nvPr/>
        </p:nvSpPr>
        <p:spPr>
          <a:xfrm xmlns:a="http://schemas.openxmlformats.org/drawingml/2006/main">
            <a:off x="4114800" y="25431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35" name="s28-stage-2">
            <a:extLst xmlns:a="http://schemas.openxmlformats.org/drawingml/2006/main">
              <a:ext uri="{FF2B5EF4-FFF2-40B4-BE49-F238E27FC236}">
                <a16:creationId xmlns:a16="http://schemas.microsoft.com/office/drawing/2014/main" id="{F6130417-0BFB-4D67-8D4C-236CD277E6AF}"/>
              </a:ext>
            </a:extLst>
          </p:cNvPr>
          <p:cNvSpPr>
            <a:spLocks xmlns:a="http://schemas.openxmlformats.org/drawingml/2006/main" noGrp="1"/>
          </p:cNvSpPr>
          <p:nvPr/>
        </p:nvSpPr>
        <p:spPr>
          <a:xfrm xmlns:a="http://schemas.openxmlformats.org/drawingml/2006/main">
            <a:off x="4343400" y="1847850"/>
            <a:ext cx="1600200" cy="1866900"/>
          </a:xfrm>
          <a:prstGeom xmlns:a="http://schemas.openxmlformats.org/drawingml/2006/main" prst="roundRect">
            <a:avLst>
              <a:gd name="adj" fmla="val 7143"/>
            </a:avLst>
          </a:prstGeom>
          <a:solidFill xmlns:a="http://schemas.openxmlformats.org/drawingml/2006/main">
            <a:srgbClr val="0C2133"/>
          </a:solidFill>
          <a:ln xmlns:a="http://schemas.openxmlformats.org/drawingml/2006/main" w="12383">
            <a:solidFill>
              <a:srgbClr val="20B7C5"/>
            </a:solidFill>
            <a:prstDash val="solid"/>
          </a:ln>
        </p:spPr>
      </p:sp>
      <p:sp>
        <p:nvSpPr>
          <p:cNvPr id="36" name="s28-num-2">
            <a:extLst xmlns:a="http://schemas.openxmlformats.org/drawingml/2006/main">
              <a:ext uri="{FF2B5EF4-FFF2-40B4-BE49-F238E27FC236}">
                <a16:creationId xmlns:a16="http://schemas.microsoft.com/office/drawing/2014/main" id="{97CE9493-F745-4A2F-9801-1596B81EDC46}"/>
              </a:ext>
            </a:extLst>
          </p:cNvPr>
          <p:cNvSpPr>
            <a:spLocks xmlns:a="http://schemas.openxmlformats.org/drawingml/2006/main" noGrp="1"/>
          </p:cNvSpPr>
          <p:nvPr/>
        </p:nvSpPr>
        <p:spPr>
          <a:xfrm xmlns:a="http://schemas.openxmlformats.org/drawingml/2006/main">
            <a:off x="4476750" y="2000250"/>
            <a:ext cx="3619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3</a:t>
            </a:r>
          </a:p>
        </p:txBody>
      </p:sp>
      <p:sp>
        <p:nvSpPr>
          <p:cNvPr id="37" name="s28-title-2">
            <a:extLst xmlns:a="http://schemas.openxmlformats.org/drawingml/2006/main">
              <a:ext uri="{FF2B5EF4-FFF2-40B4-BE49-F238E27FC236}">
                <a16:creationId xmlns:a16="http://schemas.microsoft.com/office/drawing/2014/main" id="{5048BBDF-9E74-40DC-97C9-4B7B768DDA57}"/>
              </a:ext>
            </a:extLst>
          </p:cNvPr>
          <p:cNvSpPr>
            <a:spLocks xmlns:a="http://schemas.openxmlformats.org/drawingml/2006/main" noGrp="1"/>
          </p:cNvSpPr>
          <p:nvPr/>
        </p:nvSpPr>
        <p:spPr>
          <a:xfrm xmlns:a="http://schemas.openxmlformats.org/drawingml/2006/main">
            <a:off x="4876800" y="198120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EXECUTE</a:t>
            </a:r>
          </a:p>
        </p:txBody>
      </p:sp>
      <p:sp>
        <p:nvSpPr>
          <p:cNvPr id="38" name="s28-body-2">
            <a:extLst xmlns:a="http://schemas.openxmlformats.org/drawingml/2006/main">
              <a:ext uri="{FF2B5EF4-FFF2-40B4-BE49-F238E27FC236}">
                <a16:creationId xmlns:a16="http://schemas.microsoft.com/office/drawing/2014/main" id="{3F3E45EA-1655-4A8A-809A-418DC2EF41E5}"/>
              </a:ext>
            </a:extLst>
          </p:cNvPr>
          <p:cNvSpPr>
            <a:spLocks xmlns:a="http://schemas.openxmlformats.org/drawingml/2006/main" noGrp="1"/>
          </p:cNvSpPr>
          <p:nvPr/>
        </p:nvSpPr>
        <p:spPr>
          <a:xfrm xmlns:a="http://schemas.openxmlformats.org/drawingml/2006/main">
            <a:off x="4476750" y="2514600"/>
            <a:ext cx="133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one harness</a:t>
            </a:r>
          </a:p>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MIL simulation</a:t>
            </a:r>
          </a:p>
        </p:txBody>
      </p:sp>
      <p:sp>
        <p:nvSpPr>
          <p:cNvPr id="39" name="s28-arrow-2">
            <a:extLst xmlns:a="http://schemas.openxmlformats.org/drawingml/2006/main">
              <a:ext uri="{FF2B5EF4-FFF2-40B4-BE49-F238E27FC236}">
                <a16:creationId xmlns:a16="http://schemas.microsoft.com/office/drawing/2014/main" id="{4F4B7981-9020-4227-B27C-A672A0CAA0FB}"/>
              </a:ext>
            </a:extLst>
          </p:cNvPr>
          <p:cNvSpPr>
            <a:spLocks xmlns:a="http://schemas.openxmlformats.org/drawingml/2006/main" noGrp="1"/>
          </p:cNvSpPr>
          <p:nvPr/>
        </p:nvSpPr>
        <p:spPr>
          <a:xfrm xmlns:a="http://schemas.openxmlformats.org/drawingml/2006/main">
            <a:off x="5943600" y="25431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40" name="s28-stage-3">
            <a:extLst xmlns:a="http://schemas.openxmlformats.org/drawingml/2006/main">
              <a:ext uri="{FF2B5EF4-FFF2-40B4-BE49-F238E27FC236}">
                <a16:creationId xmlns:a16="http://schemas.microsoft.com/office/drawing/2014/main" id="{1B66ECFC-8BB4-49D9-B783-70761DE7EE85}"/>
              </a:ext>
            </a:extLst>
          </p:cNvPr>
          <p:cNvSpPr>
            <a:spLocks xmlns:a="http://schemas.openxmlformats.org/drawingml/2006/main" noGrp="1"/>
          </p:cNvSpPr>
          <p:nvPr/>
        </p:nvSpPr>
        <p:spPr>
          <a:xfrm xmlns:a="http://schemas.openxmlformats.org/drawingml/2006/main">
            <a:off x="6172200" y="1847850"/>
            <a:ext cx="1600200" cy="1866900"/>
          </a:xfrm>
          <a:prstGeom xmlns:a="http://schemas.openxmlformats.org/drawingml/2006/main" prst="roundRect">
            <a:avLst>
              <a:gd name="adj" fmla="val 7143"/>
            </a:avLst>
          </a:prstGeom>
          <a:solidFill xmlns:a="http://schemas.openxmlformats.org/drawingml/2006/main">
            <a:srgbClr val="0C2133"/>
          </a:solidFill>
          <a:ln xmlns:a="http://schemas.openxmlformats.org/drawingml/2006/main" w="12383">
            <a:solidFill>
              <a:srgbClr val="20B7C5"/>
            </a:solidFill>
            <a:prstDash val="solid"/>
          </a:ln>
        </p:spPr>
      </p:sp>
      <p:sp>
        <p:nvSpPr>
          <p:cNvPr id="41" name="s28-num-3">
            <a:extLst xmlns:a="http://schemas.openxmlformats.org/drawingml/2006/main">
              <a:ext uri="{FF2B5EF4-FFF2-40B4-BE49-F238E27FC236}">
                <a16:creationId xmlns:a16="http://schemas.microsoft.com/office/drawing/2014/main" id="{BD01AA02-545B-4C17-B004-C950DC9FA783}"/>
              </a:ext>
            </a:extLst>
          </p:cNvPr>
          <p:cNvSpPr>
            <a:spLocks xmlns:a="http://schemas.openxmlformats.org/drawingml/2006/main" noGrp="1"/>
          </p:cNvSpPr>
          <p:nvPr/>
        </p:nvSpPr>
        <p:spPr>
          <a:xfrm xmlns:a="http://schemas.openxmlformats.org/drawingml/2006/main">
            <a:off x="6305550" y="2000250"/>
            <a:ext cx="3619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4</a:t>
            </a:r>
          </a:p>
        </p:txBody>
      </p:sp>
      <p:sp>
        <p:nvSpPr>
          <p:cNvPr id="42" name="s28-title-3">
            <a:extLst xmlns:a="http://schemas.openxmlformats.org/drawingml/2006/main">
              <a:ext uri="{FF2B5EF4-FFF2-40B4-BE49-F238E27FC236}">
                <a16:creationId xmlns:a16="http://schemas.microsoft.com/office/drawing/2014/main" id="{0CAFCA13-E9FB-4883-B1FB-F960D972B7C4}"/>
              </a:ext>
            </a:extLst>
          </p:cNvPr>
          <p:cNvSpPr>
            <a:spLocks xmlns:a="http://schemas.openxmlformats.org/drawingml/2006/main" noGrp="1"/>
          </p:cNvSpPr>
          <p:nvPr/>
        </p:nvSpPr>
        <p:spPr>
          <a:xfrm xmlns:a="http://schemas.openxmlformats.org/drawingml/2006/main">
            <a:off x="6705600" y="198120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ASSESS</a:t>
            </a:r>
          </a:p>
        </p:txBody>
      </p:sp>
      <p:sp>
        <p:nvSpPr>
          <p:cNvPr id="43" name="s28-body-3">
            <a:extLst xmlns:a="http://schemas.openxmlformats.org/drawingml/2006/main">
              <a:ext uri="{FF2B5EF4-FFF2-40B4-BE49-F238E27FC236}">
                <a16:creationId xmlns:a16="http://schemas.microsoft.com/office/drawing/2014/main" id="{51BCDE72-DB9C-44FD-A543-A3CF6424A4EA}"/>
              </a:ext>
            </a:extLst>
          </p:cNvPr>
          <p:cNvSpPr>
            <a:spLocks xmlns:a="http://schemas.openxmlformats.org/drawingml/2006/main" noGrp="1"/>
          </p:cNvSpPr>
          <p:nvPr/>
        </p:nvSpPr>
        <p:spPr>
          <a:xfrm xmlns:a="http://schemas.openxmlformats.org/drawingml/2006/main">
            <a:off x="6305550" y="2514600"/>
            <a:ext cx="133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oracle + four</a:t>
            </a:r>
          </a:p>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stored pass fields</a:t>
            </a:r>
          </a:p>
        </p:txBody>
      </p:sp>
      <p:sp>
        <p:nvSpPr>
          <p:cNvPr id="44" name="s28-arrow-3">
            <a:extLst xmlns:a="http://schemas.openxmlformats.org/drawingml/2006/main">
              <a:ext uri="{FF2B5EF4-FFF2-40B4-BE49-F238E27FC236}">
                <a16:creationId xmlns:a16="http://schemas.microsoft.com/office/drawing/2014/main" id="{3A9CB769-9802-443F-8DCD-288E5DAF29EC}"/>
              </a:ext>
            </a:extLst>
          </p:cNvPr>
          <p:cNvSpPr>
            <a:spLocks xmlns:a="http://schemas.openxmlformats.org/drawingml/2006/main" noGrp="1"/>
          </p:cNvSpPr>
          <p:nvPr/>
        </p:nvSpPr>
        <p:spPr>
          <a:xfrm xmlns:a="http://schemas.openxmlformats.org/drawingml/2006/main">
            <a:off x="7772400" y="25431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45" name="s28-stage-4">
            <a:extLst xmlns:a="http://schemas.openxmlformats.org/drawingml/2006/main">
              <a:ext uri="{FF2B5EF4-FFF2-40B4-BE49-F238E27FC236}">
                <a16:creationId xmlns:a16="http://schemas.microsoft.com/office/drawing/2014/main" id="{BF4739AE-AB6D-4370-A6A7-EF58B2972718}"/>
              </a:ext>
            </a:extLst>
          </p:cNvPr>
          <p:cNvSpPr>
            <a:spLocks xmlns:a="http://schemas.openxmlformats.org/drawingml/2006/main" noGrp="1"/>
          </p:cNvSpPr>
          <p:nvPr/>
        </p:nvSpPr>
        <p:spPr>
          <a:xfrm xmlns:a="http://schemas.openxmlformats.org/drawingml/2006/main">
            <a:off x="8001000" y="1847850"/>
            <a:ext cx="1600200" cy="1866900"/>
          </a:xfrm>
          <a:prstGeom xmlns:a="http://schemas.openxmlformats.org/drawingml/2006/main" prst="roundRect">
            <a:avLst>
              <a:gd name="adj" fmla="val 7143"/>
            </a:avLst>
          </a:prstGeom>
          <a:solidFill xmlns:a="http://schemas.openxmlformats.org/drawingml/2006/main">
            <a:srgbClr val="0C2133"/>
          </a:solidFill>
          <a:ln xmlns:a="http://schemas.openxmlformats.org/drawingml/2006/main" w="12383">
            <a:solidFill>
              <a:srgbClr val="20B7C5"/>
            </a:solidFill>
            <a:prstDash val="solid"/>
          </a:ln>
        </p:spPr>
      </p:sp>
      <p:sp>
        <p:nvSpPr>
          <p:cNvPr id="46" name="s28-num-4">
            <a:extLst xmlns:a="http://schemas.openxmlformats.org/drawingml/2006/main">
              <a:ext uri="{FF2B5EF4-FFF2-40B4-BE49-F238E27FC236}">
                <a16:creationId xmlns:a16="http://schemas.microsoft.com/office/drawing/2014/main" id="{A9A33D94-8A98-4A74-8695-5F0A29AD056D}"/>
              </a:ext>
            </a:extLst>
          </p:cNvPr>
          <p:cNvSpPr>
            <a:spLocks xmlns:a="http://schemas.openxmlformats.org/drawingml/2006/main" noGrp="1"/>
          </p:cNvSpPr>
          <p:nvPr/>
        </p:nvSpPr>
        <p:spPr>
          <a:xfrm xmlns:a="http://schemas.openxmlformats.org/drawingml/2006/main">
            <a:off x="8134350" y="2000250"/>
            <a:ext cx="36195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5</a:t>
            </a:r>
          </a:p>
        </p:txBody>
      </p:sp>
      <p:sp>
        <p:nvSpPr>
          <p:cNvPr id="47" name="s28-title-4">
            <a:extLst xmlns:a="http://schemas.openxmlformats.org/drawingml/2006/main">
              <a:ext uri="{FF2B5EF4-FFF2-40B4-BE49-F238E27FC236}">
                <a16:creationId xmlns:a16="http://schemas.microsoft.com/office/drawing/2014/main" id="{F28F95AC-E53B-4440-93D3-EA97F656DCFC}"/>
              </a:ext>
            </a:extLst>
          </p:cNvPr>
          <p:cNvSpPr>
            <a:spLocks xmlns:a="http://schemas.openxmlformats.org/drawingml/2006/main" noGrp="1"/>
          </p:cNvSpPr>
          <p:nvPr/>
        </p:nvSpPr>
        <p:spPr>
          <a:xfrm xmlns:a="http://schemas.openxmlformats.org/drawingml/2006/main">
            <a:off x="8534400" y="198120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RETAIN</a:t>
            </a:r>
          </a:p>
        </p:txBody>
      </p:sp>
      <p:sp>
        <p:nvSpPr>
          <p:cNvPr id="48" name="s28-body-4">
            <a:extLst xmlns:a="http://schemas.openxmlformats.org/drawingml/2006/main">
              <a:ext uri="{FF2B5EF4-FFF2-40B4-BE49-F238E27FC236}">
                <a16:creationId xmlns:a16="http://schemas.microsoft.com/office/drawing/2014/main" id="{07528F6F-943C-4C8E-B8A1-C6F6E480130B}"/>
              </a:ext>
            </a:extLst>
          </p:cNvPr>
          <p:cNvSpPr>
            <a:spLocks xmlns:a="http://schemas.openxmlformats.org/drawingml/2006/main" noGrp="1"/>
          </p:cNvSpPr>
          <p:nvPr/>
        </p:nvSpPr>
        <p:spPr>
          <a:xfrm xmlns:a="http://schemas.openxmlformats.org/drawingml/2006/main">
            <a:off x="8134350" y="2514600"/>
            <a:ext cx="133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CSV • MAT</a:t>
            </a:r>
          </a:p>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HTML • PNG</a:t>
            </a:r>
          </a:p>
        </p:txBody>
      </p:sp>
      <p:sp>
        <p:nvSpPr>
          <p:cNvPr id="49" name="s28-arrow-4">
            <a:extLst xmlns:a="http://schemas.openxmlformats.org/drawingml/2006/main">
              <a:ext uri="{FF2B5EF4-FFF2-40B4-BE49-F238E27FC236}">
                <a16:creationId xmlns:a16="http://schemas.microsoft.com/office/drawing/2014/main" id="{5B8DE8C5-33D2-4CD4-8407-C9BB53FA5EA9}"/>
              </a:ext>
            </a:extLst>
          </p:cNvPr>
          <p:cNvSpPr>
            <a:spLocks xmlns:a="http://schemas.openxmlformats.org/drawingml/2006/main" noGrp="1"/>
          </p:cNvSpPr>
          <p:nvPr/>
        </p:nvSpPr>
        <p:spPr>
          <a:xfrm xmlns:a="http://schemas.openxmlformats.org/drawingml/2006/main">
            <a:off x="9601200" y="25431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0" name="s28-stage-5">
            <a:extLst xmlns:a="http://schemas.openxmlformats.org/drawingml/2006/main">
              <a:ext uri="{FF2B5EF4-FFF2-40B4-BE49-F238E27FC236}">
                <a16:creationId xmlns:a16="http://schemas.microsoft.com/office/drawing/2014/main" id="{985DF3B6-1635-4997-92C6-BD54A89F14D8}"/>
              </a:ext>
            </a:extLst>
          </p:cNvPr>
          <p:cNvSpPr>
            <a:spLocks xmlns:a="http://schemas.openxmlformats.org/drawingml/2006/main" noGrp="1"/>
          </p:cNvSpPr>
          <p:nvPr/>
        </p:nvSpPr>
        <p:spPr>
          <a:xfrm xmlns:a="http://schemas.openxmlformats.org/drawingml/2006/main">
            <a:off x="9829800" y="1847850"/>
            <a:ext cx="1600200" cy="1866900"/>
          </a:xfrm>
          <a:prstGeom xmlns:a="http://schemas.openxmlformats.org/drawingml/2006/main" prst="roundRect">
            <a:avLst>
              <a:gd name="adj" fmla="val 7143"/>
            </a:avLst>
          </a:prstGeom>
          <a:solidFill xmlns:a="http://schemas.openxmlformats.org/drawingml/2006/main">
            <a:srgbClr val="0C2133"/>
          </a:solidFill>
          <a:ln xmlns:a="http://schemas.openxmlformats.org/drawingml/2006/main" w="12383">
            <a:solidFill>
              <a:srgbClr val="E9A23B"/>
            </a:solidFill>
            <a:prstDash val="solid"/>
          </a:ln>
        </p:spPr>
      </p:sp>
      <p:sp>
        <p:nvSpPr>
          <p:cNvPr id="51" name="s28-num-5">
            <a:extLst xmlns:a="http://schemas.openxmlformats.org/drawingml/2006/main">
              <a:ext uri="{FF2B5EF4-FFF2-40B4-BE49-F238E27FC236}">
                <a16:creationId xmlns:a16="http://schemas.microsoft.com/office/drawing/2014/main" id="{617F3E81-AE17-4087-B1C9-79DC0DE21C44}"/>
              </a:ext>
            </a:extLst>
          </p:cNvPr>
          <p:cNvSpPr>
            <a:spLocks xmlns:a="http://schemas.openxmlformats.org/drawingml/2006/main" noGrp="1"/>
          </p:cNvSpPr>
          <p:nvPr/>
        </p:nvSpPr>
        <p:spPr>
          <a:xfrm xmlns:a="http://schemas.openxmlformats.org/drawingml/2006/main">
            <a:off x="9963150" y="2000250"/>
            <a:ext cx="361950" cy="285750"/>
          </a:xfrm>
          <a:prstGeom xmlns:a="http://schemas.openxmlformats.org/drawingml/2006/main" prst="roundRect">
            <a:avLst>
              <a:gd name="adj" fmla="val 40000"/>
            </a:avLst>
          </a:prstGeom>
          <a:solidFill xmlns:a="http://schemas.openxmlformats.org/drawingml/2006/main">
            <a:srgbClr val="E9A23B"/>
          </a:solidFill>
          <a:ln xmlns:a="http://schemas.openxmlformats.org/drawingml/2006/main" w="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6</a:t>
            </a:r>
          </a:p>
        </p:txBody>
      </p:sp>
      <p:sp>
        <p:nvSpPr>
          <p:cNvPr id="52" name="s28-title-5">
            <a:extLst xmlns:a="http://schemas.openxmlformats.org/drawingml/2006/main">
              <a:ext uri="{FF2B5EF4-FFF2-40B4-BE49-F238E27FC236}">
                <a16:creationId xmlns:a16="http://schemas.microsoft.com/office/drawing/2014/main" id="{4DC351EA-EF3A-4319-8885-D3510386BA26}"/>
              </a:ext>
            </a:extLst>
          </p:cNvPr>
          <p:cNvSpPr>
            <a:spLocks xmlns:a="http://schemas.openxmlformats.org/drawingml/2006/main" noGrp="1"/>
          </p:cNvSpPr>
          <p:nvPr/>
        </p:nvSpPr>
        <p:spPr>
          <a:xfrm xmlns:a="http://schemas.openxmlformats.org/drawingml/2006/main">
            <a:off x="10363200" y="198120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VALIDATE</a:t>
            </a:r>
          </a:p>
        </p:txBody>
      </p:sp>
      <p:sp>
        <p:nvSpPr>
          <p:cNvPr id="53" name="s28-body-5">
            <a:extLst xmlns:a="http://schemas.openxmlformats.org/drawingml/2006/main">
              <a:ext uri="{FF2B5EF4-FFF2-40B4-BE49-F238E27FC236}">
                <a16:creationId xmlns:a16="http://schemas.microsoft.com/office/drawing/2014/main" id="{F1DBFF26-9D0C-4F7F-95F2-67BA22EEA35C}"/>
              </a:ext>
            </a:extLst>
          </p:cNvPr>
          <p:cNvSpPr>
            <a:spLocks xmlns:a="http://schemas.openxmlformats.org/drawingml/2006/main" noGrp="1"/>
          </p:cNvSpPr>
          <p:nvPr/>
        </p:nvSpPr>
        <p:spPr>
          <a:xfrm xmlns:a="http://schemas.openxmlformats.org/drawingml/2006/main">
            <a:off x="9963150" y="2514600"/>
            <a:ext cx="133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read CSV + check</a:t>
            </a:r>
          </a:p>
          <a:p xmlns:a="http://schemas.openxmlformats.org/drawingml/2006/main">
            <a:pPr algn="ctr">
              <a:defRPr sz="1013" b="0">
                <a:solidFill>
                  <a:srgbClr val="FFFFFF"/>
                </a:solidFill>
                <a:latin typeface="Aptos"/>
                <a:ea typeface="Aptos"/>
                <a:cs typeface="Aptos"/>
              </a:defRPr>
            </a:pPr>
            <a:r>
              <a:rPr sz="1013" b="0">
                <a:solidFill>
                  <a:srgbClr val="FFFFFF"/>
                </a:solidFill>
                <a:latin typeface="Aptos"/>
                <a:ea typeface="Aptos"/>
                <a:cs typeface="Aptos"/>
              </a:rPr>
              <a:t>required file presence</a:t>
            </a:r>
          </a:p>
        </p:txBody>
      </p:sp>
      <p:sp>
        <p:nvSpPr>
          <p:cNvPr id="54" name="s28-freshness">
            <a:extLst xmlns:a="http://schemas.openxmlformats.org/drawingml/2006/main">
              <a:ext uri="{FF2B5EF4-FFF2-40B4-BE49-F238E27FC236}">
                <a16:creationId xmlns:a16="http://schemas.microsoft.com/office/drawing/2014/main" id="{AF45EB58-EA2A-4208-94B1-53154EE3A1AD}"/>
              </a:ext>
            </a:extLst>
          </p:cNvPr>
          <p:cNvSpPr>
            <a:spLocks xmlns:a="http://schemas.openxmlformats.org/drawingml/2006/main" noGrp="1"/>
          </p:cNvSpPr>
          <p:nvPr/>
        </p:nvSpPr>
        <p:spPr>
          <a:xfrm xmlns:a="http://schemas.openxmlformats.org/drawingml/2006/main">
            <a:off x="685800" y="4152900"/>
            <a:ext cx="10820400" cy="1104900"/>
          </a:xfrm>
          <a:prstGeom xmlns:a="http://schemas.openxmlformats.org/drawingml/2006/main" prst="roundRect">
            <a:avLst>
              <a:gd name="adj" fmla="val 10345"/>
            </a:avLst>
          </a:prstGeom>
          <a:solidFill xmlns:a="http://schemas.openxmlformats.org/drawingml/2006/main">
            <a:srgbClr val="091A29"/>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FRESHNESS BOUNDARY</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validate_training_project.m updates the eight delivered models, reads the retained limiter-results CSV, and checks named artifact presence. It does not rerun the limiter suite, recompute the reports, or hash every artifact.</a:t>
            </a:r>
          </a:p>
        </p:txBody>
      </p:sp>
      <p:sp>
        <p:nvSpPr>
          <p:cNvPr id="55" name="s28-rule">
            <a:extLst xmlns:a="http://schemas.openxmlformats.org/drawingml/2006/main">
              <a:ext uri="{FF2B5EF4-FFF2-40B4-BE49-F238E27FC236}">
                <a16:creationId xmlns:a16="http://schemas.microsoft.com/office/drawing/2014/main" id="{48574F3A-55C8-441C-9E1D-139D318C5DD5}"/>
              </a:ext>
            </a:extLst>
          </p:cNvPr>
          <p:cNvSpPr>
            <a:spLocks xmlns:a="http://schemas.openxmlformats.org/drawingml/2006/main" noGrp="1"/>
          </p:cNvSpPr>
          <p:nvPr/>
        </p:nvSpPr>
        <p:spPr>
          <a:xfrm xmlns:a="http://schemas.openxmlformats.org/drawingml/2006/main">
            <a:off x="685800" y="556260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For a release decision, run the producer and executor first; then run the validator against the newly generated evidence.</a:t>
            </a:r>
          </a:p>
        </p:txBody>
      </p:sp>
    </p:spTree>
    <p:extLst>
      <p:ext uri="{BB962C8B-B14F-4D97-AF65-F5344CB8AC3E}">
        <p14:creationId xmlns:p14="http://schemas.microsoft.com/office/powerpoint/2010/main" val="445827379"/>
      </p:ext>
    </p:extLst>
  </p:cSld>
</p:sld>
</file>

<file path=ppt/slides/slide2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VERIFICATION &amp; DATA</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retained suite assesses 19 rows in one MIL run</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29</a:t>
            </a:r>
          </a:p>
        </p:txBody>
      </p:sp>
      <p:sp>
        <p:nvSpPr>
          <p:cNvPr id="27" name="s43-frame">
            <a:extLst xmlns:a="http://schemas.openxmlformats.org/drawingml/2006/main">
              <a:ext uri="{FF2B5EF4-FFF2-40B4-BE49-F238E27FC236}">
                <a16:creationId xmlns:a16="http://schemas.microsoft.com/office/drawing/2014/main" id="{EA3E4B37-D34D-432C-8390-C57CAF57B300}"/>
              </a:ext>
            </a:extLst>
          </p:cNvPr>
          <p:cNvSpPr>
            <a:spLocks xmlns:a="http://schemas.openxmlformats.org/drawingml/2006/main" noGrp="1"/>
          </p:cNvSpPr>
          <p:nvPr/>
        </p:nvSpPr>
        <p:spPr>
          <a:xfrm xmlns:a="http://schemas.openxmlformats.org/drawingml/2006/main">
            <a:off x="609600" y="1409700"/>
            <a:ext cx="7715250" cy="428625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4d8a5328252c4c57"/>
          <a:stretch xmlns:a="http://schemas.openxmlformats.org/drawingml/2006/main"/>
        </p:blipFill>
        <p:spPr>
          <a:xfrm xmlns:a="http://schemas.openxmlformats.org/drawingml/2006/main">
            <a:off x="822674" y="1485900"/>
            <a:ext cx="7289102" cy="4133850"/>
          </a:xfrm>
          <a:prstGeom xmlns:a="http://schemas.openxmlformats.org/drawingml/2006/main" prst="rect">
            <a:avLst/>
          </a:prstGeom>
        </p:spPr>
      </p:pic>
      <p:sp>
        <p:nvSpPr>
          <p:cNvPr id="29" name="s43-kpi">
            <a:extLst xmlns:a="http://schemas.openxmlformats.org/drawingml/2006/main">
              <a:ext uri="{FF2B5EF4-FFF2-40B4-BE49-F238E27FC236}">
                <a16:creationId xmlns:a16="http://schemas.microsoft.com/office/drawing/2014/main" id="{1DF9ACE0-AC0B-4320-AEEA-D695E32C7BBB}"/>
              </a:ext>
            </a:extLst>
          </p:cNvPr>
          <p:cNvSpPr>
            <a:spLocks xmlns:a="http://schemas.openxmlformats.org/drawingml/2006/main" noGrp="1"/>
          </p:cNvSpPr>
          <p:nvPr/>
        </p:nvSpPr>
        <p:spPr>
          <a:xfrm xmlns:a="http://schemas.openxmlformats.org/drawingml/2006/main">
            <a:off x="8553450" y="1409700"/>
            <a:ext cx="2952750" cy="4286250"/>
          </a:xfrm>
          <a:prstGeom xmlns:a="http://schemas.openxmlformats.org/drawingml/2006/main" prst="roundRect">
            <a:avLst>
              <a:gd name="adj" fmla="val 3871"/>
            </a:avLst>
          </a:prstGeom>
          <a:solidFill xmlns:a="http://schemas.openxmlformats.org/drawingml/2006/main">
            <a:srgbClr val="0C2133"/>
          </a:solidFill>
          <a:ln xmlns:a="http://schemas.openxmlformats.org/drawingml/2006/main" w="17145">
            <a:solidFill>
              <a:srgbClr val="2CA56F"/>
            </a:solidFill>
            <a:prstDash val="solid"/>
          </a:ln>
        </p:spPr>
      </p:sp>
      <p:sp>
        <p:nvSpPr>
          <p:cNvPr id="30" name="s43-value">
            <a:extLst xmlns:a="http://schemas.openxmlformats.org/drawingml/2006/main">
              <a:ext uri="{FF2B5EF4-FFF2-40B4-BE49-F238E27FC236}">
                <a16:creationId xmlns:a16="http://schemas.microsoft.com/office/drawing/2014/main" id="{ACCE1316-2961-4882-ACE7-BADB1B42BF8E}"/>
              </a:ext>
            </a:extLst>
          </p:cNvPr>
          <p:cNvSpPr>
            <a:spLocks xmlns:a="http://schemas.openxmlformats.org/drawingml/2006/main" noGrp="1"/>
          </p:cNvSpPr>
          <p:nvPr/>
        </p:nvSpPr>
        <p:spPr>
          <a:xfrm xmlns:a="http://schemas.openxmlformats.org/drawingml/2006/main">
            <a:off x="8763000" y="1619250"/>
            <a:ext cx="2533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850" b="1">
                <a:solidFill>
                  <a:srgbClr val="2CA56F"/>
                </a:solidFill>
                <a:latin typeface="Aptos"/>
                <a:ea typeface="Aptos"/>
                <a:cs typeface="Aptos"/>
              </a:defRPr>
            </a:pPr>
            <a:r>
              <a:rPr sz="2850" b="1">
                <a:solidFill>
                  <a:srgbClr val="2CA56F"/>
                </a:solidFill>
                <a:latin typeface="Aptos"/>
                <a:ea typeface="Aptos"/>
                <a:cs typeface="Aptos"/>
              </a:rPr>
              <a:t>19 / 19</a:t>
            </a:r>
          </a:p>
        </p:txBody>
      </p:sp>
      <p:sp>
        <p:nvSpPr>
          <p:cNvPr id="31" name="s43-label">
            <a:extLst xmlns:a="http://schemas.openxmlformats.org/drawingml/2006/main">
              <a:ext uri="{FF2B5EF4-FFF2-40B4-BE49-F238E27FC236}">
                <a16:creationId xmlns:a16="http://schemas.microsoft.com/office/drawing/2014/main" id="{DE3B79B4-4A04-405B-AEA9-6C0ED6C40A35}"/>
              </a:ext>
            </a:extLst>
          </p:cNvPr>
          <p:cNvSpPr>
            <a:spLocks xmlns:a="http://schemas.openxmlformats.org/drawingml/2006/main" noGrp="1"/>
          </p:cNvSpPr>
          <p:nvPr/>
        </p:nvSpPr>
        <p:spPr>
          <a:xfrm xmlns:a="http://schemas.openxmlformats.org/drawingml/2006/main">
            <a:off x="8763000" y="2343150"/>
            <a:ext cx="2533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8" b="1">
                <a:solidFill>
                  <a:srgbClr val="2CA56F"/>
                </a:solidFill>
                <a:latin typeface="Aptos"/>
                <a:ea typeface="Aptos"/>
                <a:cs typeface="Aptos"/>
              </a:defRPr>
            </a:pPr>
            <a:r>
              <a:rPr sz="1088" b="1">
                <a:solidFill>
                  <a:srgbClr val="2CA56F"/>
                </a:solidFill>
                <a:latin typeface="Aptos"/>
                <a:ea typeface="Aptos"/>
                <a:cs typeface="Aptos"/>
              </a:rPr>
              <a:t>ASSESSMENT ROWS</a:t>
            </a:r>
          </a:p>
          <a:p xmlns:a="http://schemas.openxmlformats.org/drawingml/2006/main">
            <a:pPr algn="ctr">
              <a:buNone/>
              <a:defRPr sz="1088" b="1">
                <a:solidFill>
                  <a:srgbClr val="2CA56F"/>
                </a:solidFill>
                <a:latin typeface="Aptos"/>
                <a:ea typeface="Aptos"/>
                <a:cs typeface="Aptos"/>
              </a:defRPr>
            </a:pPr>
            <a:r>
              <a:rPr sz="1088" b="1">
                <a:solidFill>
                  <a:srgbClr val="2CA56F"/>
                </a:solidFill>
                <a:latin typeface="Aptos"/>
                <a:ea typeface="Aptos"/>
                <a:cs typeface="Aptos"/>
              </a:rPr>
              <a:t>PASSED</a:t>
            </a:r>
          </a:p>
        </p:txBody>
      </p:sp>
      <p:sp>
        <p:nvSpPr>
          <p:cNvPr id="32" name="s43-facts">
            <a:extLst xmlns:a="http://schemas.openxmlformats.org/drawingml/2006/main">
              <a:ext uri="{FF2B5EF4-FFF2-40B4-BE49-F238E27FC236}">
                <a16:creationId xmlns:a16="http://schemas.microsoft.com/office/drawing/2014/main" id="{38855473-5F69-41DF-A1FA-F4A96B6B18DC}"/>
              </a:ext>
            </a:extLst>
          </p:cNvPr>
          <p:cNvSpPr>
            <a:spLocks xmlns:a="http://schemas.openxmlformats.org/drawingml/2006/main" noGrp="1"/>
          </p:cNvSpPr>
          <p:nvPr/>
        </p:nvSpPr>
        <p:spPr>
          <a:xfrm xmlns:a="http://schemas.openxmlformats.org/drawingml/2006/main">
            <a:off x="8858250" y="3000375"/>
            <a:ext cx="234315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one 0.36 s MIL run</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0.02 s point spacing</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0 failed rows</a:t>
            </a:r>
          </a:p>
          <a:p xmlns:a="http://schemas.openxmlformats.org/drawingml/2006/main">
            <a:r>
              <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3 row checks:</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numeric • active • timestamp</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 suite timing copied to rows</a:t>
            </a:r>
          </a:p>
        </p:txBody>
      </p:sp>
      <p:sp>
        <p:nvSpPr>
          <p:cNvPr id="33" name="s43-next">
            <a:extLst xmlns:a="http://schemas.openxmlformats.org/drawingml/2006/main">
              <a:ext uri="{FF2B5EF4-FFF2-40B4-BE49-F238E27FC236}">
                <a16:creationId xmlns:a16="http://schemas.microsoft.com/office/drawing/2014/main" id="{1051C0C8-D748-401C-B4C8-5D824A88BB0D}"/>
              </a:ext>
            </a:extLst>
          </p:cNvPr>
          <p:cNvSpPr>
            <a:spLocks xmlns:a="http://schemas.openxmlformats.org/drawingml/2006/main" noGrp="1"/>
          </p:cNvSpPr>
          <p:nvPr/>
        </p:nvSpPr>
        <p:spPr>
          <a:xfrm xmlns:a="http://schemas.openxmlformats.org/drawingml/2006/main">
            <a:off x="8858250" y="4724400"/>
            <a:ext cx="234315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333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071521"/>
                </a:solidFill>
                <a:latin typeface="Aptos"/>
                <a:ea typeface="Aptos"/>
                <a:cs typeface="Aptos"/>
              </a:defRPr>
            </a:pPr>
            <a:r>
              <a:rPr sz="1088" b="1">
                <a:solidFill>
                  <a:srgbClr val="071521"/>
                </a:solidFill>
                <a:latin typeface="Aptos"/>
                <a:ea typeface="Aptos"/>
                <a:cs typeface="Aptos"/>
              </a:rPr>
              <a:t>NEXT  →  READ ALL THREE PANELS</a:t>
            </a:r>
          </a:p>
        </p:txBody>
      </p:sp>
      <p:sp>
        <p:nvSpPr>
          <p:cNvPr id="34" name="s43-footer">
            <a:extLst xmlns:a="http://schemas.openxmlformats.org/drawingml/2006/main">
              <a:ext uri="{FF2B5EF4-FFF2-40B4-BE49-F238E27FC236}">
                <a16:creationId xmlns:a16="http://schemas.microsoft.com/office/drawing/2014/main" id="{D1D6D757-BEB1-4900-8915-9A9771C7B88C}"/>
              </a:ext>
            </a:extLst>
          </p:cNvPr>
          <p:cNvSpPr>
            <a:spLocks xmlns:a="http://schemas.openxmlformats.org/drawingml/2006/main" noGrp="1"/>
          </p:cNvSpPr>
          <p:nvPr/>
        </p:nvSpPr>
        <p:spPr>
          <a:xfrm xmlns:a="http://schemas.openxmlformats.org/drawingml/2006/main">
            <a:off x="685800" y="5810250"/>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Executable MATLAB assessment of a standalone Simulink harness  •  not 19 independent simulations  •  not Test Manager</a:t>
            </a:r>
          </a:p>
        </p:txBody>
      </p:sp>
    </p:spTree>
    <p:extLst>
      <p:ext uri="{BB962C8B-B14F-4D97-AF65-F5344CB8AC3E}">
        <p14:creationId xmlns:p14="http://schemas.microsoft.com/office/powerpoint/2010/main" val="1092961568"/>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VERIFICATION &amp; DATA</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Read all three result panels before accepting the 19/19 badge</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b3c96f6b4e44e26"/>
          <a:stretch xmlns:a="http://schemas.openxmlformats.org/drawingml/2006/main"/>
        </p:blipFill>
        <p:spPr>
          <a:xfrm xmlns:a="http://schemas.openxmlformats.org/drawingml/2006/main">
            <a:off x="842735" y="1638300"/>
            <a:ext cx="7020379" cy="3981450"/>
          </a:xfrm>
          <a:prstGeom xmlns:a="http://schemas.openxmlformats.org/drawingml/2006/main" prst="rect">
            <a:avLst/>
          </a:prstGeom>
        </p:spPr>
      </p:pic>
      <p:sp>
        <p:nvSpPr>
          <p:cNvPr id="28" name="s30-callout-0">
            <a:extLst xmlns:a="http://schemas.openxmlformats.org/drawingml/2006/main">
              <a:ext uri="{FF2B5EF4-FFF2-40B4-BE49-F238E27FC236}">
                <a16:creationId xmlns:a16="http://schemas.microsoft.com/office/drawing/2014/main" id="{35CE8E0F-256C-42FC-ABAE-D61556833EC6}"/>
              </a:ext>
            </a:extLst>
          </p:cNvPr>
          <p:cNvSpPr>
            <a:spLocks xmlns:a="http://schemas.openxmlformats.org/drawingml/2006/main" noGrp="1"/>
          </p:cNvSpPr>
          <p:nvPr/>
        </p:nvSpPr>
        <p:spPr>
          <a:xfrm xmlns:a="http://schemas.openxmlformats.org/drawingml/2006/main">
            <a:off x="8286750" y="1657350"/>
            <a:ext cx="302895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2383">
            <a:solidFill>
              <a:srgbClr val="2D6CDF"/>
            </a:solidFill>
            <a:prstDash val="solid"/>
          </a:ln>
        </p:spPr>
      </p:sp>
      <p:sp>
        <p:nvSpPr>
          <p:cNvPr id="29" name="s30-label-0">
            <a:extLst xmlns:a="http://schemas.openxmlformats.org/drawingml/2006/main">
              <a:ext uri="{FF2B5EF4-FFF2-40B4-BE49-F238E27FC236}">
                <a16:creationId xmlns:a16="http://schemas.microsoft.com/office/drawing/2014/main" id="{85F9E7CC-7B36-47E4-9D1C-CFE0DFC5A5FD}"/>
              </a:ext>
            </a:extLst>
          </p:cNvPr>
          <p:cNvSpPr>
            <a:spLocks xmlns:a="http://schemas.openxmlformats.org/drawingml/2006/main" noGrp="1"/>
          </p:cNvSpPr>
          <p:nvPr/>
        </p:nvSpPr>
        <p:spPr>
          <a:xfrm xmlns:a="http://schemas.openxmlformats.org/drawingml/2006/main">
            <a:off x="8420100" y="1790700"/>
            <a:ext cx="781050" cy="285750"/>
          </a:xfrm>
          <a:prstGeom xmlns:a="http://schemas.openxmlformats.org/drawingml/2006/main" prst="roundRect">
            <a:avLst>
              <a:gd name="adj" fmla="val 40000"/>
            </a:avLst>
          </a:prstGeom>
          <a:solidFill xmlns:a="http://schemas.openxmlformats.org/drawingml/2006/main">
            <a:srgbClr val="2D6CDF"/>
          </a:solidFill>
          <a:ln xmlns:a="http://schemas.openxmlformats.org/drawingml/2006/main" w="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TOP</a:t>
            </a:r>
          </a:p>
        </p:txBody>
      </p:sp>
      <p:sp>
        <p:nvSpPr>
          <p:cNvPr id="30" name="s30-body-0">
            <a:extLst xmlns:a="http://schemas.openxmlformats.org/drawingml/2006/main">
              <a:ext uri="{FF2B5EF4-FFF2-40B4-BE49-F238E27FC236}">
                <a16:creationId xmlns:a16="http://schemas.microsoft.com/office/drawing/2014/main" id="{ABFAF92F-9AA1-4B60-958E-AB87ED92E2EB}"/>
              </a:ext>
            </a:extLst>
          </p:cNvPr>
          <p:cNvSpPr>
            <a:spLocks xmlns:a="http://schemas.openxmlformats.org/drawingml/2006/main" noGrp="1"/>
          </p:cNvSpPr>
          <p:nvPr/>
        </p:nvSpPr>
        <p:spPr>
          <a:xfrm xmlns:a="http://schemas.openxmlformats.org/drawingml/2006/main">
            <a:off x="8420100" y="2133600"/>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968" b="0">
                <a:solidFill>
                  <a:srgbClr val="FFFFFF"/>
                </a:solidFill>
                <a:latin typeface="Aptos"/>
                <a:ea typeface="Aptos"/>
                <a:cs typeface="Aptos"/>
              </a:defRPr>
            </a:pPr>
            <a:r>
              <a:rPr sz="968" b="0">
                <a:solidFill>
                  <a:srgbClr val="FFFFFF"/>
                </a:solidFill>
                <a:latin typeface="Aptos"/>
                <a:ea typeface="Aptos"/>
                <a:cs typeface="Aptos"/>
              </a:rPr>
              <a:t>Input is clipped only for display; expected and actual output overlap. ±12 is inclusive and inactive.</a:t>
            </a:r>
          </a:p>
        </p:txBody>
      </p:sp>
      <p:sp>
        <p:nvSpPr>
          <p:cNvPr id="31" name="s30-callout-1">
            <a:extLst xmlns:a="http://schemas.openxmlformats.org/drawingml/2006/main">
              <a:ext uri="{FF2B5EF4-FFF2-40B4-BE49-F238E27FC236}">
                <a16:creationId xmlns:a16="http://schemas.microsoft.com/office/drawing/2014/main" id="{C750249B-B388-4318-B1DE-E6D52F7CB57A}"/>
              </a:ext>
            </a:extLst>
          </p:cNvPr>
          <p:cNvSpPr>
            <a:spLocks xmlns:a="http://schemas.openxmlformats.org/drawingml/2006/main" noGrp="1"/>
          </p:cNvSpPr>
          <p:nvPr/>
        </p:nvSpPr>
        <p:spPr>
          <a:xfrm xmlns:a="http://schemas.openxmlformats.org/drawingml/2006/main">
            <a:off x="8286750" y="2914650"/>
            <a:ext cx="302895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2383">
            <a:solidFill>
              <a:srgbClr val="E9A23B"/>
            </a:solidFill>
            <a:prstDash val="solid"/>
          </a:ln>
        </p:spPr>
      </p:sp>
      <p:sp>
        <p:nvSpPr>
          <p:cNvPr id="32" name="s30-label-1">
            <a:extLst xmlns:a="http://schemas.openxmlformats.org/drawingml/2006/main">
              <a:ext uri="{FF2B5EF4-FFF2-40B4-BE49-F238E27FC236}">
                <a16:creationId xmlns:a16="http://schemas.microsoft.com/office/drawing/2014/main" id="{F5FE2138-99E0-49A8-A7F6-513A89AB9D77}"/>
              </a:ext>
            </a:extLst>
          </p:cNvPr>
          <p:cNvSpPr>
            <a:spLocks xmlns:a="http://schemas.openxmlformats.org/drawingml/2006/main" noGrp="1"/>
          </p:cNvSpPr>
          <p:nvPr/>
        </p:nvSpPr>
        <p:spPr>
          <a:xfrm xmlns:a="http://schemas.openxmlformats.org/drawingml/2006/main">
            <a:off x="8420100" y="3048000"/>
            <a:ext cx="781050" cy="285750"/>
          </a:xfrm>
          <a:prstGeom xmlns:a="http://schemas.openxmlformats.org/drawingml/2006/main" prst="roundRect">
            <a:avLst>
              <a:gd name="adj" fmla="val 40000"/>
            </a:avLst>
          </a:prstGeom>
          <a:solidFill xmlns:a="http://schemas.openxmlformats.org/drawingml/2006/main">
            <a:srgbClr val="E9A23B"/>
          </a:solidFill>
          <a:ln xmlns:a="http://schemas.openxmlformats.org/drawingml/2006/main" w="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MIDDLE</a:t>
            </a:r>
          </a:p>
        </p:txBody>
      </p:sp>
      <p:sp>
        <p:nvSpPr>
          <p:cNvPr id="33" name="s30-body-1">
            <a:extLst xmlns:a="http://schemas.openxmlformats.org/drawingml/2006/main">
              <a:ext uri="{FF2B5EF4-FFF2-40B4-BE49-F238E27FC236}">
                <a16:creationId xmlns:a16="http://schemas.microsoft.com/office/drawing/2014/main" id="{75FA1C7C-78F2-4FEF-9FA9-D5D5A5575D59}"/>
              </a:ext>
            </a:extLst>
          </p:cNvPr>
          <p:cNvSpPr>
            <a:spLocks xmlns:a="http://schemas.openxmlformats.org/drawingml/2006/main" noGrp="1"/>
          </p:cNvSpPr>
          <p:nvPr/>
        </p:nvSpPr>
        <p:spPr>
          <a:xfrm xmlns:a="http://schemas.openxmlformats.org/drawingml/2006/main">
            <a:off x="8420100" y="3390900"/>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968" b="0">
                <a:solidFill>
                  <a:srgbClr val="FFFFFF"/>
                </a:solidFill>
                <a:latin typeface="Aptos"/>
                <a:ea typeface="Aptos"/>
                <a:cs typeface="Aptos"/>
              </a:defRPr>
            </a:pPr>
            <a:r>
              <a:rPr sz="968" b="0">
                <a:solidFill>
                  <a:srgbClr val="FFFFFF"/>
                </a:solidFill>
                <a:latin typeface="Aptos"/>
                <a:ea typeface="Aptos"/>
                <a:cs typeface="Aptos"/>
              </a:rPr>
              <a:t>Expected and actual limiter_active overlap; active only when enabled and strictly outside the limit.</a:t>
            </a:r>
          </a:p>
        </p:txBody>
      </p:sp>
      <p:sp>
        <p:nvSpPr>
          <p:cNvPr id="34" name="s30-callout-2">
            <a:extLst xmlns:a="http://schemas.openxmlformats.org/drawingml/2006/main">
              <a:ext uri="{FF2B5EF4-FFF2-40B4-BE49-F238E27FC236}">
                <a16:creationId xmlns:a16="http://schemas.microsoft.com/office/drawing/2014/main" id="{F0398FC8-0029-45EE-9608-459FB441B7A2}"/>
              </a:ext>
            </a:extLst>
          </p:cNvPr>
          <p:cNvSpPr>
            <a:spLocks xmlns:a="http://schemas.openxmlformats.org/drawingml/2006/main" noGrp="1"/>
          </p:cNvSpPr>
          <p:nvPr/>
        </p:nvSpPr>
        <p:spPr>
          <a:xfrm xmlns:a="http://schemas.openxmlformats.org/drawingml/2006/main">
            <a:off x="8286750" y="4171950"/>
            <a:ext cx="302895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2383">
            <a:solidFill>
              <a:srgbClr val="2CA56F"/>
            </a:solidFill>
            <a:prstDash val="solid"/>
          </a:ln>
        </p:spPr>
      </p:sp>
      <p:sp>
        <p:nvSpPr>
          <p:cNvPr id="35" name="s30-label-2">
            <a:extLst xmlns:a="http://schemas.openxmlformats.org/drawingml/2006/main">
              <a:ext uri="{FF2B5EF4-FFF2-40B4-BE49-F238E27FC236}">
                <a16:creationId xmlns:a16="http://schemas.microsoft.com/office/drawing/2014/main" id="{4D0B5C18-D810-4FF5-A79F-21D3761DB16C}"/>
              </a:ext>
            </a:extLst>
          </p:cNvPr>
          <p:cNvSpPr>
            <a:spLocks xmlns:a="http://schemas.openxmlformats.org/drawingml/2006/main" noGrp="1"/>
          </p:cNvSpPr>
          <p:nvPr/>
        </p:nvSpPr>
        <p:spPr>
          <a:xfrm xmlns:a="http://schemas.openxmlformats.org/drawingml/2006/main">
            <a:off x="8420100" y="4305300"/>
            <a:ext cx="781050" cy="285750"/>
          </a:xfrm>
          <a:prstGeom xmlns:a="http://schemas.openxmlformats.org/drawingml/2006/main" prst="roundRect">
            <a:avLst>
              <a:gd name="adj" fmla="val 40000"/>
            </a:avLst>
          </a:prstGeom>
          <a:solidFill xmlns:a="http://schemas.openxmlformats.org/drawingml/2006/main">
            <a:srgbClr val="2CA56F"/>
          </a:solidFill>
          <a:ln xmlns:a="http://schemas.openxmlformats.org/drawingml/2006/main" w="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BOTTOM</a:t>
            </a:r>
          </a:p>
        </p:txBody>
      </p:sp>
      <p:sp>
        <p:nvSpPr>
          <p:cNvPr id="36" name="s30-body-2">
            <a:extLst xmlns:a="http://schemas.openxmlformats.org/drawingml/2006/main">
              <a:ext uri="{FF2B5EF4-FFF2-40B4-BE49-F238E27FC236}">
                <a16:creationId xmlns:a16="http://schemas.microsoft.com/office/drawing/2014/main" id="{367D2226-57A3-43A3-AA31-D83EF392DC96}"/>
              </a:ext>
            </a:extLst>
          </p:cNvPr>
          <p:cNvSpPr>
            <a:spLocks xmlns:a="http://schemas.openxmlformats.org/drawingml/2006/main" noGrp="1"/>
          </p:cNvSpPr>
          <p:nvPr/>
        </p:nvSpPr>
        <p:spPr>
          <a:xfrm xmlns:a="http://schemas.openxmlformats.org/drawingml/2006/main">
            <a:off x="8420100" y="4648200"/>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968" b="0">
                <a:solidFill>
                  <a:srgbClr val="FFFFFF"/>
                </a:solidFill>
                <a:latin typeface="Aptos"/>
                <a:ea typeface="Aptos"/>
                <a:cs typeface="Aptos"/>
              </a:defRPr>
            </a:pPr>
            <a:r>
              <a:rPr sz="968" b="0">
                <a:solidFill>
                  <a:srgbClr val="FFFFFF"/>
                </a:solidFill>
                <a:latin typeface="Aptos"/>
                <a:ea typeface="Aptos"/>
                <a:cs typeface="Aptos"/>
              </a:rPr>
              <a:t>Absolute numeric error uses a log axis. No positive trace appears because every retained error is exactly zero.</a:t>
            </a:r>
          </a:p>
        </p:txBody>
      </p:sp>
      <p:sp>
        <p:nvSpPr>
          <p:cNvPr id="37" name="s30-footer">
            <a:extLst xmlns:a="http://schemas.openxmlformats.org/drawingml/2006/main">
              <a:ext uri="{FF2B5EF4-FFF2-40B4-BE49-F238E27FC236}">
                <a16:creationId xmlns:a16="http://schemas.microsoft.com/office/drawing/2014/main" id="{99A96BAF-16C8-4C5A-99A7-ACFCB3413384}"/>
              </a:ext>
            </a:extLst>
          </p:cNvPr>
          <p:cNvSpPr>
            <a:spLocks xmlns:a="http://schemas.openxmlformats.org/drawingml/2006/main" noGrp="1"/>
          </p:cNvSpPr>
          <p:nvPr/>
        </p:nvSpPr>
        <p:spPr>
          <a:xfrm xmlns:a="http://schemas.openxmlformats.org/drawingml/2006/main">
            <a:off x="685800" y="579120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ONE 0.36 s DESKTOP-MIL RUN  •  19 assessment rows  •  required 0.02 s configuration/spacing passed  •  all numeric errors exactly zero</a:t>
            </a:r>
          </a:p>
        </p:txBody>
      </p:sp>
    </p:spTree>
    <p:extLst>
      <p:ext uri="{BB962C8B-B14F-4D97-AF65-F5344CB8AC3E}">
        <p14:creationId xmlns:p14="http://schemas.microsoft.com/office/powerpoint/2010/main" val="1092961568"/>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VERIFICATION &amp; DATA</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FFFFFF"/>
                </a:solidFill>
                <a:latin typeface="Aptos"/>
                <a:ea typeface="Aptos"/>
                <a:cs typeface="Aptos"/>
              </a:defRPr>
            </a:pPr>
            <a:r>
              <a:rPr sz="2550" b="1" i="0">
                <a:solidFill>
                  <a:srgbClr val="FFFFFF"/>
                </a:solidFill>
                <a:latin typeface="Aptos"/>
                <a:ea typeface="Aptos"/>
                <a:cs typeface="Aptos"/>
              </a:rPr>
              <a:t>Five limiter requirements trace to explicit model elements and retained results</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
        <p:nvSpPr>
          <p:cNvPr id="21" name="s31-id-0">
            <a:extLst xmlns:a="http://schemas.openxmlformats.org/drawingml/2006/main">
              <a:ext uri="{FF2B5EF4-FFF2-40B4-BE49-F238E27FC236}">
                <a16:creationId xmlns:a16="http://schemas.microsoft.com/office/drawing/2014/main" id="{6CE8EB9D-1045-453E-A513-EABBEEB0A8D9}"/>
              </a:ext>
            </a:extLst>
          </p:cNvPr>
          <p:cNvSpPr>
            <a:spLocks xmlns:a="http://schemas.openxmlformats.org/drawingml/2006/main" noGrp="1"/>
          </p:cNvSpPr>
          <p:nvPr/>
        </p:nvSpPr>
        <p:spPr>
          <a:xfrm xmlns:a="http://schemas.openxmlformats.org/drawingml/2006/main">
            <a:off x="685800" y="1562100"/>
            <a:ext cx="12573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PRL-001</a:t>
            </a:r>
          </a:p>
        </p:txBody>
      </p:sp>
      <p:sp>
        <p:nvSpPr>
          <p:cNvPr id="22" name="s31-intent-0">
            <a:extLst xmlns:a="http://schemas.openxmlformats.org/drawingml/2006/main">
              <a:ext uri="{FF2B5EF4-FFF2-40B4-BE49-F238E27FC236}">
                <a16:creationId xmlns:a16="http://schemas.microsoft.com/office/drawing/2014/main" id="{639E80DD-F41C-44E1-B65C-AC07D0B1C599}"/>
              </a:ext>
            </a:extLst>
          </p:cNvPr>
          <p:cNvSpPr>
            <a:spLocks xmlns:a="http://schemas.openxmlformats.org/drawingml/2006/main" noGrp="1"/>
          </p:cNvSpPr>
          <p:nvPr/>
        </p:nvSpPr>
        <p:spPr>
          <a:xfrm xmlns:a="http://schemas.openxmlformats.org/drawingml/2006/main">
            <a:off x="2095500" y="1562100"/>
            <a:ext cx="32385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magnitude clamp</a:t>
            </a:r>
          </a:p>
        </p:txBody>
      </p:sp>
      <p:sp>
        <p:nvSpPr>
          <p:cNvPr id="23" name="s31-trace-0">
            <a:extLst xmlns:a="http://schemas.openxmlformats.org/drawingml/2006/main">
              <a:ext uri="{FF2B5EF4-FFF2-40B4-BE49-F238E27FC236}">
                <a16:creationId xmlns:a16="http://schemas.microsoft.com/office/drawing/2014/main" id="{D83FA8B8-D955-47F5-B3C0-6AC2D961EBE1}"/>
              </a:ext>
            </a:extLst>
          </p:cNvPr>
          <p:cNvSpPr>
            <a:spLocks xmlns:a="http://schemas.openxmlformats.org/drawingml/2006/main" noGrp="1"/>
          </p:cNvSpPr>
          <p:nvPr/>
        </p:nvSpPr>
        <p:spPr>
          <a:xfrm xmlns:a="http://schemas.openxmlformats.org/drawingml/2006/main">
            <a:off x="5486400" y="1562100"/>
            <a:ext cx="60198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Magnitude Clamp block • associated rows 1–10 and 19</a:t>
            </a:r>
          </a:p>
        </p:txBody>
      </p:sp>
      <p:sp>
        <p:nvSpPr>
          <p:cNvPr id="24" name="s31-id-1">
            <a:extLst xmlns:a="http://schemas.openxmlformats.org/drawingml/2006/main">
              <a:ext uri="{FF2B5EF4-FFF2-40B4-BE49-F238E27FC236}">
                <a16:creationId xmlns:a16="http://schemas.microsoft.com/office/drawing/2014/main" id="{46204383-5A09-49F6-8E79-77365327DDD1}"/>
              </a:ext>
            </a:extLst>
          </p:cNvPr>
          <p:cNvSpPr>
            <a:spLocks xmlns:a="http://schemas.openxmlformats.org/drawingml/2006/main" noGrp="1"/>
          </p:cNvSpPr>
          <p:nvPr/>
        </p:nvSpPr>
        <p:spPr>
          <a:xfrm xmlns:a="http://schemas.openxmlformats.org/drawingml/2006/main">
            <a:off x="685800" y="2286000"/>
            <a:ext cx="12573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PRL-002</a:t>
            </a:r>
          </a:p>
        </p:txBody>
      </p:sp>
      <p:sp>
        <p:nvSpPr>
          <p:cNvPr id="25" name="s31-intent-1">
            <a:extLst xmlns:a="http://schemas.openxmlformats.org/drawingml/2006/main">
              <a:ext uri="{FF2B5EF4-FFF2-40B4-BE49-F238E27FC236}">
                <a16:creationId xmlns:a16="http://schemas.microsoft.com/office/drawing/2014/main" id="{51ED7EA1-992E-4FC6-9948-1B6B620B8CE3}"/>
              </a:ext>
            </a:extLst>
          </p:cNvPr>
          <p:cNvSpPr>
            <a:spLocks xmlns:a="http://schemas.openxmlformats.org/drawingml/2006/main" noGrp="1"/>
          </p:cNvSpPr>
          <p:nvPr/>
        </p:nvSpPr>
        <p:spPr>
          <a:xfrm xmlns:a="http://schemas.openxmlformats.org/drawingml/2006/main">
            <a:off x="2095500" y="2286000"/>
            <a:ext cx="32385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mode + validity fallback</a:t>
            </a:r>
          </a:p>
        </p:txBody>
      </p:sp>
      <p:sp>
        <p:nvSpPr>
          <p:cNvPr id="26" name="s31-trace-1">
            <a:extLst xmlns:a="http://schemas.openxmlformats.org/drawingml/2006/main">
              <a:ext uri="{FF2B5EF4-FFF2-40B4-BE49-F238E27FC236}">
                <a16:creationId xmlns:a16="http://schemas.microsoft.com/office/drawing/2014/main" id="{F1955304-0AC5-456D-A80B-F493857B1A8F}"/>
              </a:ext>
            </a:extLst>
          </p:cNvPr>
          <p:cNvSpPr>
            <a:spLocks xmlns:a="http://schemas.openxmlformats.org/drawingml/2006/main" noGrp="1"/>
          </p:cNvSpPr>
          <p:nvPr/>
        </p:nvSpPr>
        <p:spPr>
          <a:xfrm xmlns:a="http://schemas.openxmlformats.org/drawingml/2006/main">
            <a:off x="5486400" y="2286000"/>
            <a:ext cx="60198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Normal AND Valid / Select Valid Command • rows 11–18</a:t>
            </a:r>
          </a:p>
        </p:txBody>
      </p:sp>
      <p:sp>
        <p:nvSpPr>
          <p:cNvPr id="27" name="s31-id-2">
            <a:extLst xmlns:a="http://schemas.openxmlformats.org/drawingml/2006/main">
              <a:ext uri="{FF2B5EF4-FFF2-40B4-BE49-F238E27FC236}">
                <a16:creationId xmlns:a16="http://schemas.microsoft.com/office/drawing/2014/main" id="{57D593DE-5E3C-4FDA-BA9E-54CA1100F84F}"/>
              </a:ext>
            </a:extLst>
          </p:cNvPr>
          <p:cNvSpPr>
            <a:spLocks xmlns:a="http://schemas.openxmlformats.org/drawingml/2006/main" noGrp="1"/>
          </p:cNvSpPr>
          <p:nvPr/>
        </p:nvSpPr>
        <p:spPr>
          <a:xfrm xmlns:a="http://schemas.openxmlformats.org/drawingml/2006/main">
            <a:off x="685800" y="3009900"/>
            <a:ext cx="12573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PRL-003</a:t>
            </a:r>
          </a:p>
        </p:txBody>
      </p:sp>
      <p:sp>
        <p:nvSpPr>
          <p:cNvPr id="28" name="s31-intent-2">
            <a:extLst xmlns:a="http://schemas.openxmlformats.org/drawingml/2006/main">
              <a:ext uri="{FF2B5EF4-FFF2-40B4-BE49-F238E27FC236}">
                <a16:creationId xmlns:a16="http://schemas.microsoft.com/office/drawing/2014/main" id="{E110EE0F-9955-4B81-A182-A03D1FF4CA7E}"/>
              </a:ext>
            </a:extLst>
          </p:cNvPr>
          <p:cNvSpPr>
            <a:spLocks xmlns:a="http://schemas.openxmlformats.org/drawingml/2006/main" noGrp="1"/>
          </p:cNvSpPr>
          <p:nvPr/>
        </p:nvSpPr>
        <p:spPr>
          <a:xfrm xmlns:a="http://schemas.openxmlformats.org/drawingml/2006/main">
            <a:off x="2095500" y="3009900"/>
            <a:ext cx="32385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limiter status</a:t>
            </a:r>
          </a:p>
        </p:txBody>
      </p:sp>
      <p:sp>
        <p:nvSpPr>
          <p:cNvPr id="29" name="s31-trace-2">
            <a:extLst xmlns:a="http://schemas.openxmlformats.org/drawingml/2006/main">
              <a:ext uri="{FF2B5EF4-FFF2-40B4-BE49-F238E27FC236}">
                <a16:creationId xmlns:a16="http://schemas.microsoft.com/office/drawing/2014/main" id="{90AF7E58-5E33-4F58-B25C-C04F67715EB5}"/>
              </a:ext>
            </a:extLst>
          </p:cNvPr>
          <p:cNvSpPr>
            <a:spLocks xmlns:a="http://schemas.openxmlformats.org/drawingml/2006/main" noGrp="1"/>
          </p:cNvSpPr>
          <p:nvPr/>
        </p:nvSpPr>
        <p:spPr>
          <a:xfrm xmlns:a="http://schemas.openxmlformats.org/drawingml/2006/main">
            <a:off x="5486400" y="3009900"/>
            <a:ext cx="60198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Valid Clamp Active • every assessed row</a:t>
            </a:r>
          </a:p>
        </p:txBody>
      </p:sp>
      <p:sp>
        <p:nvSpPr>
          <p:cNvPr id="30" name="s31-id-3">
            <a:extLst xmlns:a="http://schemas.openxmlformats.org/drawingml/2006/main">
              <a:ext uri="{FF2B5EF4-FFF2-40B4-BE49-F238E27FC236}">
                <a16:creationId xmlns:a16="http://schemas.microsoft.com/office/drawing/2014/main" id="{840A5868-8945-42C8-8FDA-1910B1E0DDDB}"/>
              </a:ext>
            </a:extLst>
          </p:cNvPr>
          <p:cNvSpPr>
            <a:spLocks xmlns:a="http://schemas.openxmlformats.org/drawingml/2006/main" noGrp="1"/>
          </p:cNvSpPr>
          <p:nvPr/>
        </p:nvSpPr>
        <p:spPr>
          <a:xfrm xmlns:a="http://schemas.openxmlformats.org/drawingml/2006/main">
            <a:off x="685800" y="3733800"/>
            <a:ext cx="12573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PRL-004</a:t>
            </a:r>
          </a:p>
        </p:txBody>
      </p:sp>
      <p:sp>
        <p:nvSpPr>
          <p:cNvPr id="31" name="s31-intent-3">
            <a:extLst xmlns:a="http://schemas.openxmlformats.org/drawingml/2006/main">
              <a:ext uri="{FF2B5EF4-FFF2-40B4-BE49-F238E27FC236}">
                <a16:creationId xmlns:a16="http://schemas.microsoft.com/office/drawing/2014/main" id="{4EC91502-FAB7-45D9-BED2-205FA3524F18}"/>
              </a:ext>
            </a:extLst>
          </p:cNvPr>
          <p:cNvSpPr>
            <a:spLocks xmlns:a="http://schemas.openxmlformats.org/drawingml/2006/main" noGrp="1"/>
          </p:cNvSpPr>
          <p:nvPr/>
        </p:nvSpPr>
        <p:spPr>
          <a:xfrm xmlns:a="http://schemas.openxmlformats.org/drawingml/2006/main">
            <a:off x="2095500" y="3733800"/>
            <a:ext cx="32385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50 Hz execution</a:t>
            </a:r>
          </a:p>
        </p:txBody>
      </p:sp>
      <p:sp>
        <p:nvSpPr>
          <p:cNvPr id="32" name="s31-trace-3">
            <a:extLst xmlns:a="http://schemas.openxmlformats.org/drawingml/2006/main">
              <a:ext uri="{FF2B5EF4-FFF2-40B4-BE49-F238E27FC236}">
                <a16:creationId xmlns:a16="http://schemas.microsoft.com/office/drawing/2014/main" id="{3902BAE5-3255-4933-87A4-0F7506B21688}"/>
              </a:ext>
            </a:extLst>
          </p:cNvPr>
          <p:cNvSpPr>
            <a:spLocks xmlns:a="http://schemas.openxmlformats.org/drawingml/2006/main" noGrp="1"/>
          </p:cNvSpPr>
          <p:nvPr/>
        </p:nvSpPr>
        <p:spPr>
          <a:xfrm xmlns:a="http://schemas.openxmlformats.org/drawingml/2006/main">
            <a:off x="5486400" y="3733800"/>
            <a:ext cx="60198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required .02 s + retained spacing; tolerance 2e−11 s</a:t>
            </a:r>
          </a:p>
        </p:txBody>
      </p:sp>
      <p:sp>
        <p:nvSpPr>
          <p:cNvPr id="33" name="s31-id-4">
            <a:extLst xmlns:a="http://schemas.openxmlformats.org/drawingml/2006/main">
              <a:ext uri="{FF2B5EF4-FFF2-40B4-BE49-F238E27FC236}">
                <a16:creationId xmlns:a16="http://schemas.microsoft.com/office/drawing/2014/main" id="{B770EFBD-9BA2-4ECB-8E46-6D4292B8610C}"/>
              </a:ext>
            </a:extLst>
          </p:cNvPr>
          <p:cNvSpPr>
            <a:spLocks xmlns:a="http://schemas.openxmlformats.org/drawingml/2006/main" noGrp="1"/>
          </p:cNvSpPr>
          <p:nvPr/>
        </p:nvSpPr>
        <p:spPr>
          <a:xfrm xmlns:a="http://schemas.openxmlformats.org/drawingml/2006/main">
            <a:off x="685800" y="4457700"/>
            <a:ext cx="12573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PRL-005</a:t>
            </a:r>
          </a:p>
        </p:txBody>
      </p:sp>
      <p:sp>
        <p:nvSpPr>
          <p:cNvPr id="34" name="s31-intent-4">
            <a:extLst xmlns:a="http://schemas.openxmlformats.org/drawingml/2006/main">
              <a:ext uri="{FF2B5EF4-FFF2-40B4-BE49-F238E27FC236}">
                <a16:creationId xmlns:a16="http://schemas.microsoft.com/office/drawing/2014/main" id="{81807B9E-6C7C-40FD-90C3-40679BED036B}"/>
              </a:ext>
            </a:extLst>
          </p:cNvPr>
          <p:cNvSpPr>
            <a:spLocks xmlns:a="http://schemas.openxmlformats.org/drawingml/2006/main" noGrp="1"/>
          </p:cNvSpPr>
          <p:nvPr/>
        </p:nvSpPr>
        <p:spPr>
          <a:xfrm xmlns:a="http://schemas.openxmlformats.org/drawingml/2006/main">
            <a:off x="2095500" y="4457700"/>
            <a:ext cx="32385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same-frame magnitude response</a:t>
            </a:r>
          </a:p>
        </p:txBody>
      </p:sp>
      <p:sp>
        <p:nvSpPr>
          <p:cNvPr id="35" name="s31-trace-4">
            <a:extLst xmlns:a="http://schemas.openxmlformats.org/drawingml/2006/main">
              <a:ext uri="{FF2B5EF4-FFF2-40B4-BE49-F238E27FC236}">
                <a16:creationId xmlns:a16="http://schemas.microsoft.com/office/drawing/2014/main" id="{309DD15D-3249-48C9-A608-149BC6F6C53C}"/>
              </a:ext>
            </a:extLst>
          </p:cNvPr>
          <p:cNvSpPr>
            <a:spLocks xmlns:a="http://schemas.openxmlformats.org/drawingml/2006/main" noGrp="1"/>
          </p:cNvSpPr>
          <p:nvPr/>
        </p:nvSpPr>
        <p:spPr>
          <a:xfrm xmlns:a="http://schemas.openxmlformats.org/drawingml/2006/main">
            <a:off x="5486400" y="4457700"/>
            <a:ext cx="60198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047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row 10: +1000 → −1000; +12 → −12 next 50 Hz sample</a:t>
            </a:r>
          </a:p>
        </p:txBody>
      </p:sp>
      <p:sp>
        <p:nvSpPr>
          <p:cNvPr id="36" name="s31-correction">
            <a:extLst xmlns:a="http://schemas.openxmlformats.org/drawingml/2006/main">
              <a:ext uri="{FF2B5EF4-FFF2-40B4-BE49-F238E27FC236}">
                <a16:creationId xmlns:a16="http://schemas.microsoft.com/office/drawing/2014/main" id="{560D1C1A-0873-488A-A43C-0B238FAB214F}"/>
              </a:ext>
            </a:extLst>
          </p:cNvPr>
          <p:cNvSpPr>
            <a:spLocks xmlns:a="http://schemas.openxmlformats.org/drawingml/2006/main" noGrp="1"/>
          </p:cNvSpPr>
          <p:nvPr/>
        </p:nvSpPr>
        <p:spPr>
          <a:xfrm xmlns:a="http://schemas.openxmlformats.org/drawingml/2006/main">
            <a:off x="685800" y="5353050"/>
            <a:ext cx="10820400" cy="552450"/>
          </a:xfrm>
          <a:prstGeom xmlns:a="http://schemas.openxmlformats.org/drawingml/2006/main" prst="roundRect">
            <a:avLst>
              <a:gd name="adj" fmla="val 20690"/>
            </a:avLst>
          </a:prstGeom>
          <a:solidFill xmlns:a="http://schemas.openxmlformats.org/drawingml/2006/main">
            <a:srgbClr val="091A29"/>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CORRECTED ASSOCIATION  •  initialization row 1 maps to PRL-001 / PRL-003 / PRL-004; PRL-005 is attached to the real reversal case at row 10</a:t>
            </a:r>
          </a:p>
        </p:txBody>
      </p:sp>
    </p:spTree>
    <p:extLst>
      <p:ext uri="{BB962C8B-B14F-4D97-AF65-F5344CB8AC3E}">
        <p14:creationId xmlns:p14="http://schemas.microsoft.com/office/powerpoint/2010/main" val="204314486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VERIFICATION &amp; DATA</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17" name="s32-count-0">
            <a:extLst xmlns:a="http://schemas.openxmlformats.org/drawingml/2006/main">
              <a:ext uri="{FF2B5EF4-FFF2-40B4-BE49-F238E27FC236}">
                <a16:creationId xmlns:a16="http://schemas.microsoft.com/office/drawing/2014/main" id="{4D1211D1-1C54-46FA-BD5C-D163CD134421}"/>
              </a:ext>
            </a:extLst>
          </p:cNvPr>
          <p:cNvSpPr>
            <a:spLocks xmlns:a="http://schemas.openxmlformats.org/drawingml/2006/main" noGrp="1"/>
          </p:cNvSpPr>
          <p:nvPr/>
        </p:nvSpPr>
        <p:spPr>
          <a:xfrm xmlns:a="http://schemas.openxmlformats.org/drawingml/2006/main">
            <a:off x="685800" y="1504950"/>
            <a:ext cx="1676400" cy="838200"/>
          </a:xfrm>
          <a:prstGeom xmlns:a="http://schemas.openxmlformats.org/drawingml/2006/main" prst="roundRect">
            <a:avLst>
              <a:gd name="adj" fmla="val 13636"/>
            </a:avLst>
          </a:prstGeom>
          <a:solidFill xmlns:a="http://schemas.openxmlformats.org/drawingml/2006/main">
            <a:srgbClr val="DFF6F8"/>
          </a:solidFill>
          <a:ln xmlns:a="http://schemas.openxmlformats.org/drawingml/2006/main" w="11430">
            <a:solidFill>
              <a:srgbClr val="20B7C5"/>
            </a:solidFill>
            <a:prstDash val="solid"/>
          </a:ln>
        </p:spPr>
      </p:sp>
      <p:sp>
        <p:nvSpPr>
          <p:cNvPr id="18" name="s32-count-value-0">
            <a:extLst xmlns:a="http://schemas.openxmlformats.org/drawingml/2006/main">
              <a:ext uri="{FF2B5EF4-FFF2-40B4-BE49-F238E27FC236}">
                <a16:creationId xmlns:a16="http://schemas.microsoft.com/office/drawing/2014/main" id="{70F1A6B4-9C39-4C22-9034-B8FBFC46FE18}"/>
              </a:ext>
            </a:extLst>
          </p:cNvPr>
          <p:cNvSpPr>
            <a:spLocks xmlns:a="http://schemas.openxmlformats.org/drawingml/2006/main" noGrp="1"/>
          </p:cNvSpPr>
          <p:nvPr/>
        </p:nvSpPr>
        <p:spPr>
          <a:xfrm xmlns:a="http://schemas.openxmlformats.org/drawingml/2006/main">
            <a:off x="781050" y="16192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75" b="1">
                <a:solidFill>
                  <a:srgbClr val="20B7C5"/>
                </a:solidFill>
                <a:latin typeface="Aptos"/>
                <a:ea typeface="Aptos"/>
                <a:cs typeface="Aptos"/>
              </a:defRPr>
            </a:pPr>
            <a:r>
              <a:rPr sz="1875" b="1">
                <a:solidFill>
                  <a:srgbClr val="20B7C5"/>
                </a:solidFill>
                <a:latin typeface="Aptos"/>
                <a:ea typeface="Aptos"/>
                <a:cs typeface="Aptos"/>
              </a:rPr>
              <a:t>26</a:t>
            </a:r>
          </a:p>
        </p:txBody>
      </p:sp>
      <p:sp>
        <p:nvSpPr>
          <p:cNvPr id="19" name="s32-count-label-0">
            <a:extLst xmlns:a="http://schemas.openxmlformats.org/drawingml/2006/main">
              <a:ext uri="{FF2B5EF4-FFF2-40B4-BE49-F238E27FC236}">
                <a16:creationId xmlns:a16="http://schemas.microsoft.com/office/drawing/2014/main" id="{FDBAF758-DF57-4DA5-A160-5601B79971A3}"/>
              </a:ext>
            </a:extLst>
          </p:cNvPr>
          <p:cNvSpPr>
            <a:spLocks xmlns:a="http://schemas.openxmlformats.org/drawingml/2006/main" noGrp="1"/>
          </p:cNvSpPr>
          <p:nvPr/>
        </p:nvSpPr>
        <p:spPr>
          <a:xfrm xmlns:a="http://schemas.openxmlformats.org/drawingml/2006/main">
            <a:off x="781050" y="1971675"/>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45" b="1">
                <a:solidFill>
                  <a:srgbClr val="17324A"/>
                </a:solidFill>
                <a:latin typeface="Aptos"/>
                <a:ea typeface="Aptos"/>
                <a:cs typeface="Aptos"/>
              </a:defRPr>
            </a:pPr>
            <a:r>
              <a:rPr sz="945" b="1">
                <a:solidFill>
                  <a:srgbClr val="17324A"/>
                </a:solidFill>
                <a:latin typeface="Aptos"/>
                <a:ea typeface="Aptos"/>
                <a:cs typeface="Aptos"/>
              </a:rPr>
              <a:t>Simulink.Parameter</a:t>
            </a:r>
          </a:p>
        </p:txBody>
      </p:sp>
      <p:sp>
        <p:nvSpPr>
          <p:cNvPr id="20" name="s32-count-1">
            <a:extLst xmlns:a="http://schemas.openxmlformats.org/drawingml/2006/main">
              <a:ext uri="{FF2B5EF4-FFF2-40B4-BE49-F238E27FC236}">
                <a16:creationId xmlns:a16="http://schemas.microsoft.com/office/drawing/2014/main" id="{9EE158B1-17A4-4430-853B-57461FC8C731}"/>
              </a:ext>
            </a:extLst>
          </p:cNvPr>
          <p:cNvSpPr>
            <a:spLocks xmlns:a="http://schemas.openxmlformats.org/drawingml/2006/main" noGrp="1"/>
          </p:cNvSpPr>
          <p:nvPr/>
        </p:nvSpPr>
        <p:spPr>
          <a:xfrm xmlns:a="http://schemas.openxmlformats.org/drawingml/2006/main">
            <a:off x="2590800" y="1504950"/>
            <a:ext cx="1676400" cy="838200"/>
          </a:xfrm>
          <a:prstGeom xmlns:a="http://schemas.openxmlformats.org/drawingml/2006/main" prst="roundRect">
            <a:avLst>
              <a:gd name="adj" fmla="val 13636"/>
            </a:avLst>
          </a:prstGeom>
          <a:solidFill xmlns:a="http://schemas.openxmlformats.org/drawingml/2006/main">
            <a:srgbClr val="DFF6F8"/>
          </a:solidFill>
          <a:ln xmlns:a="http://schemas.openxmlformats.org/drawingml/2006/main" w="11430">
            <a:solidFill>
              <a:srgbClr val="20B7C5"/>
            </a:solidFill>
            <a:prstDash val="solid"/>
          </a:ln>
        </p:spPr>
      </p:sp>
      <p:sp>
        <p:nvSpPr>
          <p:cNvPr id="21" name="s32-count-value-1">
            <a:extLst xmlns:a="http://schemas.openxmlformats.org/drawingml/2006/main">
              <a:ext uri="{FF2B5EF4-FFF2-40B4-BE49-F238E27FC236}">
                <a16:creationId xmlns:a16="http://schemas.microsoft.com/office/drawing/2014/main" id="{E5E57B14-C25B-482B-81BA-F30540646479}"/>
              </a:ext>
            </a:extLst>
          </p:cNvPr>
          <p:cNvSpPr>
            <a:spLocks xmlns:a="http://schemas.openxmlformats.org/drawingml/2006/main" noGrp="1"/>
          </p:cNvSpPr>
          <p:nvPr/>
        </p:nvSpPr>
        <p:spPr>
          <a:xfrm xmlns:a="http://schemas.openxmlformats.org/drawingml/2006/main">
            <a:off x="2686050" y="16192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75" b="1">
                <a:solidFill>
                  <a:srgbClr val="20B7C5"/>
                </a:solidFill>
                <a:latin typeface="Aptos"/>
                <a:ea typeface="Aptos"/>
                <a:cs typeface="Aptos"/>
              </a:defRPr>
            </a:pPr>
            <a:r>
              <a:rPr sz="1875" b="1">
                <a:solidFill>
                  <a:srgbClr val="20B7C5"/>
                </a:solidFill>
                <a:latin typeface="Aptos"/>
                <a:ea typeface="Aptos"/>
                <a:cs typeface="Aptos"/>
              </a:rPr>
              <a:t>4</a:t>
            </a:r>
          </a:p>
        </p:txBody>
      </p:sp>
      <p:sp>
        <p:nvSpPr>
          <p:cNvPr id="22" name="s32-count-label-1">
            <a:extLst xmlns:a="http://schemas.openxmlformats.org/drawingml/2006/main">
              <a:ext uri="{FF2B5EF4-FFF2-40B4-BE49-F238E27FC236}">
                <a16:creationId xmlns:a16="http://schemas.microsoft.com/office/drawing/2014/main" id="{37183D1E-7731-40C4-80AC-1D071605F80C}"/>
              </a:ext>
            </a:extLst>
          </p:cNvPr>
          <p:cNvSpPr>
            <a:spLocks xmlns:a="http://schemas.openxmlformats.org/drawingml/2006/main" noGrp="1"/>
          </p:cNvSpPr>
          <p:nvPr/>
        </p:nvSpPr>
        <p:spPr>
          <a:xfrm xmlns:a="http://schemas.openxmlformats.org/drawingml/2006/main">
            <a:off x="2686050" y="1971675"/>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45" b="1">
                <a:solidFill>
                  <a:srgbClr val="17324A"/>
                </a:solidFill>
                <a:latin typeface="Aptos"/>
                <a:ea typeface="Aptos"/>
                <a:cs typeface="Aptos"/>
              </a:defRPr>
            </a:pPr>
            <a:r>
              <a:rPr sz="945" b="1">
                <a:solidFill>
                  <a:srgbClr val="17324A"/>
                </a:solidFill>
                <a:latin typeface="Aptos"/>
                <a:ea typeface="Aptos"/>
                <a:cs typeface="Aptos"/>
              </a:rPr>
              <a:t>Simulink.Signal</a:t>
            </a:r>
          </a:p>
        </p:txBody>
      </p:sp>
      <p:sp>
        <p:nvSpPr>
          <p:cNvPr id="23" name="s32-count-2">
            <a:extLst xmlns:a="http://schemas.openxmlformats.org/drawingml/2006/main">
              <a:ext uri="{FF2B5EF4-FFF2-40B4-BE49-F238E27FC236}">
                <a16:creationId xmlns:a16="http://schemas.microsoft.com/office/drawing/2014/main" id="{B7DA49A1-CCCE-4D20-AB58-67A08A26813D}"/>
              </a:ext>
            </a:extLst>
          </p:cNvPr>
          <p:cNvSpPr>
            <a:spLocks xmlns:a="http://schemas.openxmlformats.org/drawingml/2006/main" noGrp="1"/>
          </p:cNvSpPr>
          <p:nvPr/>
        </p:nvSpPr>
        <p:spPr>
          <a:xfrm xmlns:a="http://schemas.openxmlformats.org/drawingml/2006/main">
            <a:off x="4495800" y="1504950"/>
            <a:ext cx="1676400" cy="838200"/>
          </a:xfrm>
          <a:prstGeom xmlns:a="http://schemas.openxmlformats.org/drawingml/2006/main" prst="roundRect">
            <a:avLst>
              <a:gd name="adj" fmla="val 13636"/>
            </a:avLst>
          </a:prstGeom>
          <a:solidFill xmlns:a="http://schemas.openxmlformats.org/drawingml/2006/main">
            <a:srgbClr val="DFF6F8"/>
          </a:solidFill>
          <a:ln xmlns:a="http://schemas.openxmlformats.org/drawingml/2006/main" w="11430">
            <a:solidFill>
              <a:srgbClr val="20B7C5"/>
            </a:solidFill>
            <a:prstDash val="solid"/>
          </a:ln>
        </p:spPr>
      </p:sp>
      <p:sp>
        <p:nvSpPr>
          <p:cNvPr id="24" name="s32-count-value-2">
            <a:extLst xmlns:a="http://schemas.openxmlformats.org/drawingml/2006/main">
              <a:ext uri="{FF2B5EF4-FFF2-40B4-BE49-F238E27FC236}">
                <a16:creationId xmlns:a16="http://schemas.microsoft.com/office/drawing/2014/main" id="{06C686BC-5D1A-4F56-9F40-F64A0945DC6E}"/>
              </a:ext>
            </a:extLst>
          </p:cNvPr>
          <p:cNvSpPr>
            <a:spLocks xmlns:a="http://schemas.openxmlformats.org/drawingml/2006/main" noGrp="1"/>
          </p:cNvSpPr>
          <p:nvPr/>
        </p:nvSpPr>
        <p:spPr>
          <a:xfrm xmlns:a="http://schemas.openxmlformats.org/drawingml/2006/main">
            <a:off x="4591050" y="16192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75" b="1">
                <a:solidFill>
                  <a:srgbClr val="20B7C5"/>
                </a:solidFill>
                <a:latin typeface="Aptos"/>
                <a:ea typeface="Aptos"/>
                <a:cs typeface="Aptos"/>
              </a:defRPr>
            </a:pPr>
            <a:r>
              <a:rPr sz="1875" b="1">
                <a:solidFill>
                  <a:srgbClr val="20B7C5"/>
                </a:solidFill>
                <a:latin typeface="Aptos"/>
                <a:ea typeface="Aptos"/>
                <a:cs typeface="Aptos"/>
              </a:rPr>
              <a:t>1</a:t>
            </a:r>
          </a:p>
        </p:txBody>
      </p:sp>
      <p:sp>
        <p:nvSpPr>
          <p:cNvPr id="25" name="s32-count-label-2">
            <a:extLst xmlns:a="http://schemas.openxmlformats.org/drawingml/2006/main">
              <a:ext uri="{FF2B5EF4-FFF2-40B4-BE49-F238E27FC236}">
                <a16:creationId xmlns:a16="http://schemas.microsoft.com/office/drawing/2014/main" id="{33C90B6F-48F0-4AEA-B6A5-0CFA94BEE773}"/>
              </a:ext>
            </a:extLst>
          </p:cNvPr>
          <p:cNvSpPr>
            <a:spLocks xmlns:a="http://schemas.openxmlformats.org/drawingml/2006/main" noGrp="1"/>
          </p:cNvSpPr>
          <p:nvPr/>
        </p:nvSpPr>
        <p:spPr>
          <a:xfrm xmlns:a="http://schemas.openxmlformats.org/drawingml/2006/main">
            <a:off x="4591050" y="1971675"/>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45" b="1">
                <a:solidFill>
                  <a:srgbClr val="17324A"/>
                </a:solidFill>
                <a:latin typeface="Aptos"/>
                <a:ea typeface="Aptos"/>
                <a:cs typeface="Aptos"/>
              </a:defRPr>
            </a:pPr>
            <a:r>
              <a:rPr sz="945" b="1">
                <a:solidFill>
                  <a:srgbClr val="17324A"/>
                </a:solidFill>
                <a:latin typeface="Aptos"/>
                <a:ea typeface="Aptos"/>
                <a:cs typeface="Aptos"/>
              </a:rPr>
              <a:t>Simulink.Bus</a:t>
            </a:r>
          </a:p>
        </p:txBody>
      </p:sp>
      <p:sp>
        <p:nvSpPr>
          <p:cNvPr id="26" name="s32-params">
            <a:extLst xmlns:a="http://schemas.openxmlformats.org/drawingml/2006/main">
              <a:ext uri="{FF2B5EF4-FFF2-40B4-BE49-F238E27FC236}">
                <a16:creationId xmlns:a16="http://schemas.microsoft.com/office/drawing/2014/main" id="{A139363C-3CDF-4CA7-B819-9192DC730E5B}"/>
              </a:ext>
            </a:extLst>
          </p:cNvPr>
          <p:cNvSpPr>
            <a:spLocks xmlns:a="http://schemas.openxmlformats.org/drawingml/2006/main" noGrp="1"/>
          </p:cNvSpPr>
          <p:nvPr/>
        </p:nvSpPr>
        <p:spPr>
          <a:xfrm xmlns:a="http://schemas.openxmlformats.org/drawingml/2006/main">
            <a:off x="685800" y="2647950"/>
            <a:ext cx="5219700" cy="2495550"/>
          </a:xfrm>
          <a:prstGeom xmlns:a="http://schemas.openxmlformats.org/drawingml/2006/main" prst="roundRect">
            <a:avLst>
              <a:gd name="adj" fmla="val 4580"/>
            </a:avLst>
          </a:prstGeom>
          <a:solidFill xmlns:a="http://schemas.openxmlformats.org/drawingml/2006/main">
            <a:srgbClr val="FFFFFF"/>
          </a:solidFill>
          <a:ln xmlns:a="http://schemas.openxmlformats.org/drawingml/2006/main" w="12383">
            <a:solidFill>
              <a:srgbClr val="2D6CDF"/>
            </a:solidFill>
            <a:prstDash val="solid"/>
          </a:ln>
        </p:spPr>
      </p:sp>
      <p:sp>
        <p:nvSpPr>
          <p:cNvPr id="27" name="s32-params-title">
            <a:extLst xmlns:a="http://schemas.openxmlformats.org/drawingml/2006/main">
              <a:ext uri="{FF2B5EF4-FFF2-40B4-BE49-F238E27FC236}">
                <a16:creationId xmlns:a16="http://schemas.microsoft.com/office/drawing/2014/main" id="{DC061A23-858F-4621-9BFC-AF912D6BF091}"/>
              </a:ext>
            </a:extLst>
          </p:cNvPr>
          <p:cNvSpPr>
            <a:spLocks xmlns:a="http://schemas.openxmlformats.org/drawingml/2006/main" noGrp="1"/>
          </p:cNvSpPr>
          <p:nvPr/>
        </p:nvSpPr>
        <p:spPr>
          <a:xfrm xmlns:a="http://schemas.openxmlformats.org/drawingml/2006/main">
            <a:off x="876300" y="2800350"/>
            <a:ext cx="483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38" b="1">
                <a:solidFill>
                  <a:srgbClr val="2D6CDF"/>
                </a:solidFill>
                <a:latin typeface="Aptos"/>
                <a:ea typeface="Aptos"/>
                <a:cs typeface="Aptos"/>
              </a:defRPr>
            </a:pPr>
            <a:r>
              <a:rPr sz="1238" b="1">
                <a:solidFill>
                  <a:srgbClr val="2D6CDF"/>
                </a:solidFill>
                <a:latin typeface="Aptos"/>
                <a:ea typeface="Aptos"/>
                <a:cs typeface="Aptos"/>
              </a:rPr>
              <a:t>REPRESENTATIVE MANAGED PARAMETERS</a:t>
            </a:r>
          </a:p>
        </p:txBody>
      </p:sp>
      <p:sp>
        <p:nvSpPr>
          <p:cNvPr id="28" name="s32-params-body">
            <a:extLst xmlns:a="http://schemas.openxmlformats.org/drawingml/2006/main">
              <a:ext uri="{FF2B5EF4-FFF2-40B4-BE49-F238E27FC236}">
                <a16:creationId xmlns:a16="http://schemas.microsoft.com/office/drawing/2014/main" id="{42B4EB01-2478-48BA-9CDC-461F24F5D7FF}"/>
              </a:ext>
            </a:extLst>
          </p:cNvPr>
          <p:cNvSpPr>
            <a:spLocks xmlns:a="http://schemas.openxmlformats.org/drawingml/2006/main" noGrp="1"/>
          </p:cNvSpPr>
          <p:nvPr/>
        </p:nvSpPr>
        <p:spPr>
          <a:xfrm xmlns:a="http://schemas.openxmlformats.org/drawingml/2006/main">
            <a:off x="876300" y="3219450"/>
            <a:ext cx="48387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l">
              <a:defRPr sz="1148" b="0">
                <a:solidFill>
                  <a:srgbClr val="17324A"/>
                </a:solidFill>
                <a:latin typeface="Consolas"/>
                <a:ea typeface="Consolas"/>
                <a:cs typeface="Consolas"/>
              </a:defRPr>
            </a:pPr>
            <a:r>
              <a:rPr sz="1148" b="0">
                <a:solidFill>
                  <a:srgbClr val="17324A"/>
                </a:solidFill>
                <a:latin typeface="Consolas"/>
                <a:ea typeface="Consolas"/>
                <a:cs typeface="Consolas"/>
              </a:rPr>
              <a:t>Sample_time = 0.02 s</a:t>
            </a:r>
          </a:p>
          <a:p xmlns:a="http://schemas.openxmlformats.org/drawingml/2006/main">
            <a:pPr algn="l">
              <a:defRPr sz="1148" b="0">
                <a:solidFill>
                  <a:srgbClr val="17324A"/>
                </a:solidFill>
                <a:latin typeface="Consolas"/>
                <a:ea typeface="Consolas"/>
                <a:cs typeface="Consolas"/>
              </a:defRPr>
            </a:pPr>
            <a:r>
              <a:rPr sz="1148" b="0">
                <a:solidFill>
                  <a:srgbClr val="17324A"/>
                </a:solidFill>
                <a:latin typeface="Consolas"/>
                <a:ea typeface="Consolas"/>
                <a:cs typeface="Consolas"/>
              </a:rPr>
              <a:t>q_limit_normal = 12 deg/s</a:t>
            </a:r>
          </a:p>
          <a:p xmlns:a="http://schemas.openxmlformats.org/drawingml/2006/main">
            <a:pPr algn="l">
              <a:defRPr sz="1148" b="0">
                <a:solidFill>
                  <a:srgbClr val="17324A"/>
                </a:solidFill>
                <a:latin typeface="Consolas"/>
                <a:ea typeface="Consolas"/>
                <a:cs typeface="Consolas"/>
              </a:defRPr>
            </a:pPr>
            <a:r>
              <a:rPr sz="1148" b="0">
                <a:solidFill>
                  <a:srgbClr val="17324A"/>
                </a:solidFill>
                <a:latin typeface="Consolas"/>
                <a:ea typeface="Consolas"/>
                <a:cs typeface="Consolas"/>
              </a:rPr>
              <a:t>q_fallback_command = 0 deg/s</a:t>
            </a:r>
          </a:p>
          <a:p xmlns:a="http://schemas.openxmlformats.org/drawingml/2006/main">
            <a:pPr algn="l">
              <a:defRPr sz="1148" b="0">
                <a:solidFill>
                  <a:srgbClr val="17324A"/>
                </a:solidFill>
                <a:latin typeface="Consolas"/>
                <a:ea typeface="Consolas"/>
                <a:cs typeface="Consolas"/>
              </a:defRPr>
            </a:pPr>
            <a:r>
              <a:rPr sz="1148" b="0">
                <a:solidFill>
                  <a:srgbClr val="17324A"/>
                </a:solidFill>
                <a:latin typeface="Consolas"/>
                <a:ea typeface="Consolas"/>
                <a:cs typeface="Consolas"/>
              </a:rPr>
              <a:t>pitch_Kp = 0.6 (1)</a:t>
            </a:r>
          </a:p>
          <a:p xmlns:a="http://schemas.openxmlformats.org/drawingml/2006/main">
            <a:pPr algn="l">
              <a:defRPr sz="1148" b="0">
                <a:solidFill>
                  <a:srgbClr val="17324A"/>
                </a:solidFill>
                <a:latin typeface="Consolas"/>
                <a:ea typeface="Consolas"/>
                <a:cs typeface="Consolas"/>
              </a:defRPr>
            </a:pPr>
            <a:r>
              <a:rPr sz="1148" b="0">
                <a:solidFill>
                  <a:srgbClr val="17324A"/>
                </a:solidFill>
                <a:latin typeface="Consolas"/>
                <a:ea typeface="Consolas"/>
                <a:cs typeface="Consolas"/>
              </a:rPr>
              <a:t>pitch_Ki = 0.025 (1/s)</a:t>
            </a:r>
          </a:p>
          <a:p xmlns:a="http://schemas.openxmlformats.org/drawingml/2006/main">
            <a:pPr algn="l">
              <a:defRPr sz="1148" b="0">
                <a:solidFill>
                  <a:srgbClr val="17324A"/>
                </a:solidFill>
                <a:latin typeface="Consolas"/>
                <a:ea typeface="Consolas"/>
                <a:cs typeface="Consolas"/>
              </a:defRPr>
            </a:pPr>
            <a:r>
              <a:rPr sz="1148" b="0">
                <a:solidFill>
                  <a:srgbClr val="17324A"/>
                </a:solidFill>
                <a:latin typeface="Consolas"/>
                <a:ea typeface="Consolas"/>
                <a:cs typeface="Consolas"/>
              </a:rPr>
              <a:t>actuator_limit_deg = 20 deg</a:t>
            </a:r>
          </a:p>
        </p:txBody>
      </p:sp>
      <p:sp>
        <p:nvSpPr>
          <p:cNvPr id="29" name="s32-bus">
            <a:extLst xmlns:a="http://schemas.openxmlformats.org/drawingml/2006/main">
              <a:ext uri="{FF2B5EF4-FFF2-40B4-BE49-F238E27FC236}">
                <a16:creationId xmlns:a16="http://schemas.microsoft.com/office/drawing/2014/main" id="{94612A5A-6A2E-46CA-B5A4-7F19A705432D}"/>
              </a:ext>
            </a:extLst>
          </p:cNvPr>
          <p:cNvSpPr>
            <a:spLocks xmlns:a="http://schemas.openxmlformats.org/drawingml/2006/main" noGrp="1"/>
          </p:cNvSpPr>
          <p:nvPr/>
        </p:nvSpPr>
        <p:spPr>
          <a:xfrm xmlns:a="http://schemas.openxmlformats.org/drawingml/2006/main">
            <a:off x="6286500" y="1504950"/>
            <a:ext cx="5219700" cy="3638550"/>
          </a:xfrm>
          <a:prstGeom xmlns:a="http://schemas.openxmlformats.org/drawingml/2006/main" prst="roundRect">
            <a:avLst>
              <a:gd name="adj" fmla="val 3141"/>
            </a:avLst>
          </a:prstGeom>
          <a:solidFill xmlns:a="http://schemas.openxmlformats.org/drawingml/2006/main">
            <a:srgbClr val="FFFFFF"/>
          </a:solidFill>
          <a:ln xmlns:a="http://schemas.openxmlformats.org/drawingml/2006/main" w="12383">
            <a:solidFill>
              <a:srgbClr val="2CA56F"/>
            </a:solidFill>
            <a:prstDash val="solid"/>
          </a:ln>
        </p:spPr>
      </p:sp>
      <p:sp>
        <p:nvSpPr>
          <p:cNvPr id="30" name="s32-bus-title">
            <a:extLst xmlns:a="http://schemas.openxmlformats.org/drawingml/2006/main">
              <a:ext uri="{FF2B5EF4-FFF2-40B4-BE49-F238E27FC236}">
                <a16:creationId xmlns:a16="http://schemas.microsoft.com/office/drawing/2014/main" id="{0744B6EB-55D5-4B60-91FC-C9CC12F050D6}"/>
              </a:ext>
            </a:extLst>
          </p:cNvPr>
          <p:cNvSpPr>
            <a:spLocks xmlns:a="http://schemas.openxmlformats.org/drawingml/2006/main" noGrp="1"/>
          </p:cNvSpPr>
          <p:nvPr/>
        </p:nvSpPr>
        <p:spPr>
          <a:xfrm xmlns:a="http://schemas.openxmlformats.org/drawingml/2006/main">
            <a:off x="6477000" y="1676400"/>
            <a:ext cx="483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38" b="1">
                <a:solidFill>
                  <a:srgbClr val="2CA56F"/>
                </a:solidFill>
                <a:latin typeface="Aptos"/>
                <a:ea typeface="Aptos"/>
                <a:cs typeface="Aptos"/>
              </a:defRPr>
            </a:pPr>
            <a:r>
              <a:rPr sz="1238" b="1">
                <a:solidFill>
                  <a:srgbClr val="2CA56F"/>
                </a:solidFill>
                <a:latin typeface="Aptos"/>
                <a:ea typeface="Aptos"/>
                <a:cs typeface="Aptos"/>
              </a:rPr>
              <a:t>FlightControlBus  •  FIVE SCALAR ELEMENTS</a:t>
            </a:r>
          </a:p>
        </p:txBody>
      </p:sp>
      <p:sp>
        <p:nvSpPr>
          <p:cNvPr id="31" name="s32-bus-name-0">
            <a:extLst xmlns:a="http://schemas.openxmlformats.org/drawingml/2006/main">
              <a:ext uri="{FF2B5EF4-FFF2-40B4-BE49-F238E27FC236}">
                <a16:creationId xmlns:a16="http://schemas.microsoft.com/office/drawing/2014/main" id="{FE32772D-E075-404E-A56D-2B480B54CB75}"/>
              </a:ext>
            </a:extLst>
          </p:cNvPr>
          <p:cNvSpPr>
            <a:spLocks xmlns:a="http://schemas.openxmlformats.org/drawingml/2006/main" noGrp="1"/>
          </p:cNvSpPr>
          <p:nvPr/>
        </p:nvSpPr>
        <p:spPr>
          <a:xfrm xmlns:a="http://schemas.openxmlformats.org/drawingml/2006/main">
            <a:off x="6477000" y="2133600"/>
            <a:ext cx="2324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73" b="1">
                <a:solidFill>
                  <a:srgbClr val="17324A"/>
                </a:solidFill>
                <a:latin typeface="Aptos"/>
                <a:ea typeface="Aptos"/>
                <a:cs typeface="Aptos"/>
              </a:defRPr>
            </a:pPr>
            <a:r>
              <a:rPr sz="1073" b="1">
                <a:solidFill>
                  <a:srgbClr val="17324A"/>
                </a:solidFill>
                <a:latin typeface="Aptos"/>
                <a:ea typeface="Aptos"/>
                <a:cs typeface="Aptos"/>
              </a:rPr>
              <a:t>q_rate</a:t>
            </a:r>
          </a:p>
        </p:txBody>
      </p:sp>
      <p:sp>
        <p:nvSpPr>
          <p:cNvPr id="32" name="s32-bus-type-0">
            <a:extLst xmlns:a="http://schemas.openxmlformats.org/drawingml/2006/main">
              <a:ext uri="{FF2B5EF4-FFF2-40B4-BE49-F238E27FC236}">
                <a16:creationId xmlns:a16="http://schemas.microsoft.com/office/drawing/2014/main" id="{E529CE04-CA24-4976-9C41-A02733197064}"/>
              </a:ext>
            </a:extLst>
          </p:cNvPr>
          <p:cNvSpPr>
            <a:spLocks xmlns:a="http://schemas.openxmlformats.org/drawingml/2006/main" noGrp="1"/>
          </p:cNvSpPr>
          <p:nvPr/>
        </p:nvSpPr>
        <p:spPr>
          <a:xfrm xmlns:a="http://schemas.openxmlformats.org/drawingml/2006/main">
            <a:off x="8801100" y="2133600"/>
            <a:ext cx="13906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double</a:t>
            </a:r>
          </a:p>
        </p:txBody>
      </p:sp>
      <p:sp>
        <p:nvSpPr>
          <p:cNvPr id="33" name="s32-bus-unit-0">
            <a:extLst xmlns:a="http://schemas.openxmlformats.org/drawingml/2006/main">
              <a:ext uri="{FF2B5EF4-FFF2-40B4-BE49-F238E27FC236}">
                <a16:creationId xmlns:a16="http://schemas.microsoft.com/office/drawing/2014/main" id="{5A462547-72DB-4D2D-B6D0-1219843B9D35}"/>
              </a:ext>
            </a:extLst>
          </p:cNvPr>
          <p:cNvSpPr>
            <a:spLocks xmlns:a="http://schemas.openxmlformats.org/drawingml/2006/main" noGrp="1"/>
          </p:cNvSpPr>
          <p:nvPr/>
        </p:nvSpPr>
        <p:spPr>
          <a:xfrm xmlns:a="http://schemas.openxmlformats.org/drawingml/2006/main">
            <a:off x="10191750" y="2133600"/>
            <a:ext cx="9334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deg/s</a:t>
            </a:r>
          </a:p>
        </p:txBody>
      </p:sp>
      <p:sp>
        <p:nvSpPr>
          <p:cNvPr id="34" name="s32-bus-name-1">
            <a:extLst xmlns:a="http://schemas.openxmlformats.org/drawingml/2006/main">
              <a:ext uri="{FF2B5EF4-FFF2-40B4-BE49-F238E27FC236}">
                <a16:creationId xmlns:a16="http://schemas.microsoft.com/office/drawing/2014/main" id="{DD4E04A1-559F-4ADD-8058-BD5F736B646B}"/>
              </a:ext>
            </a:extLst>
          </p:cNvPr>
          <p:cNvSpPr>
            <a:spLocks xmlns:a="http://schemas.openxmlformats.org/drawingml/2006/main" noGrp="1"/>
          </p:cNvSpPr>
          <p:nvPr/>
        </p:nvSpPr>
        <p:spPr>
          <a:xfrm xmlns:a="http://schemas.openxmlformats.org/drawingml/2006/main">
            <a:off x="6477000" y="2647950"/>
            <a:ext cx="23241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73" b="1">
                <a:solidFill>
                  <a:srgbClr val="17324A"/>
                </a:solidFill>
                <a:latin typeface="Aptos"/>
                <a:ea typeface="Aptos"/>
                <a:cs typeface="Aptos"/>
              </a:defRPr>
            </a:pPr>
            <a:r>
              <a:rPr sz="1073" b="1">
                <a:solidFill>
                  <a:srgbClr val="17324A"/>
                </a:solidFill>
                <a:latin typeface="Aptos"/>
                <a:ea typeface="Aptos"/>
                <a:cs typeface="Aptos"/>
              </a:rPr>
              <a:t>pitch_angle</a:t>
            </a:r>
          </a:p>
        </p:txBody>
      </p:sp>
      <p:sp>
        <p:nvSpPr>
          <p:cNvPr id="35" name="s32-bus-type-1">
            <a:extLst xmlns:a="http://schemas.openxmlformats.org/drawingml/2006/main">
              <a:ext uri="{FF2B5EF4-FFF2-40B4-BE49-F238E27FC236}">
                <a16:creationId xmlns:a16="http://schemas.microsoft.com/office/drawing/2014/main" id="{779822A9-69C0-4998-8B47-DAB1EB4AA6D0}"/>
              </a:ext>
            </a:extLst>
          </p:cNvPr>
          <p:cNvSpPr>
            <a:spLocks xmlns:a="http://schemas.openxmlformats.org/drawingml/2006/main" noGrp="1"/>
          </p:cNvSpPr>
          <p:nvPr/>
        </p:nvSpPr>
        <p:spPr>
          <a:xfrm xmlns:a="http://schemas.openxmlformats.org/drawingml/2006/main">
            <a:off x="8801100" y="2647950"/>
            <a:ext cx="139065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double</a:t>
            </a:r>
          </a:p>
        </p:txBody>
      </p:sp>
      <p:sp>
        <p:nvSpPr>
          <p:cNvPr id="36" name="s32-bus-unit-1">
            <a:extLst xmlns:a="http://schemas.openxmlformats.org/drawingml/2006/main">
              <a:ext uri="{FF2B5EF4-FFF2-40B4-BE49-F238E27FC236}">
                <a16:creationId xmlns:a16="http://schemas.microsoft.com/office/drawing/2014/main" id="{4445CDD4-5FBB-408F-ACB0-17240C184852}"/>
              </a:ext>
            </a:extLst>
          </p:cNvPr>
          <p:cNvSpPr>
            <a:spLocks xmlns:a="http://schemas.openxmlformats.org/drawingml/2006/main" noGrp="1"/>
          </p:cNvSpPr>
          <p:nvPr/>
        </p:nvSpPr>
        <p:spPr>
          <a:xfrm xmlns:a="http://schemas.openxmlformats.org/drawingml/2006/main">
            <a:off x="10191750" y="2647950"/>
            <a:ext cx="93345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deg</a:t>
            </a:r>
          </a:p>
        </p:txBody>
      </p:sp>
      <p:sp>
        <p:nvSpPr>
          <p:cNvPr id="37" name="s32-bus-name-2">
            <a:extLst xmlns:a="http://schemas.openxmlformats.org/drawingml/2006/main">
              <a:ext uri="{FF2B5EF4-FFF2-40B4-BE49-F238E27FC236}">
                <a16:creationId xmlns:a16="http://schemas.microsoft.com/office/drawing/2014/main" id="{FAE37955-28BD-4860-962A-E0737F41294F}"/>
              </a:ext>
            </a:extLst>
          </p:cNvPr>
          <p:cNvSpPr>
            <a:spLocks xmlns:a="http://schemas.openxmlformats.org/drawingml/2006/main" noGrp="1"/>
          </p:cNvSpPr>
          <p:nvPr/>
        </p:nvSpPr>
        <p:spPr>
          <a:xfrm xmlns:a="http://schemas.openxmlformats.org/drawingml/2006/main">
            <a:off x="6477000" y="3162300"/>
            <a:ext cx="2324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73" b="1">
                <a:solidFill>
                  <a:srgbClr val="17324A"/>
                </a:solidFill>
                <a:latin typeface="Aptos"/>
                <a:ea typeface="Aptos"/>
                <a:cs typeface="Aptos"/>
              </a:defRPr>
            </a:pPr>
            <a:r>
              <a:rPr sz="1073" b="1">
                <a:solidFill>
                  <a:srgbClr val="17324A"/>
                </a:solidFill>
                <a:latin typeface="Aptos"/>
                <a:ea typeface="Aptos"/>
                <a:cs typeface="Aptos"/>
              </a:rPr>
              <a:t>mach</a:t>
            </a:r>
          </a:p>
        </p:txBody>
      </p:sp>
      <p:sp>
        <p:nvSpPr>
          <p:cNvPr id="38" name="s32-bus-type-2">
            <a:extLst xmlns:a="http://schemas.openxmlformats.org/drawingml/2006/main">
              <a:ext uri="{FF2B5EF4-FFF2-40B4-BE49-F238E27FC236}">
                <a16:creationId xmlns:a16="http://schemas.microsoft.com/office/drawing/2014/main" id="{2BA9E545-EBE1-42A3-A074-69DF7F10FF6A}"/>
              </a:ext>
            </a:extLst>
          </p:cNvPr>
          <p:cNvSpPr>
            <a:spLocks xmlns:a="http://schemas.openxmlformats.org/drawingml/2006/main" noGrp="1"/>
          </p:cNvSpPr>
          <p:nvPr/>
        </p:nvSpPr>
        <p:spPr>
          <a:xfrm xmlns:a="http://schemas.openxmlformats.org/drawingml/2006/main">
            <a:off x="8801100" y="3162300"/>
            <a:ext cx="13906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double</a:t>
            </a:r>
          </a:p>
        </p:txBody>
      </p:sp>
      <p:sp>
        <p:nvSpPr>
          <p:cNvPr id="39" name="s32-bus-unit-2">
            <a:extLst xmlns:a="http://schemas.openxmlformats.org/drawingml/2006/main">
              <a:ext uri="{FF2B5EF4-FFF2-40B4-BE49-F238E27FC236}">
                <a16:creationId xmlns:a16="http://schemas.microsoft.com/office/drawing/2014/main" id="{5C47B2A7-932B-4E29-AEA6-4B26987ECAC0}"/>
              </a:ext>
            </a:extLst>
          </p:cNvPr>
          <p:cNvSpPr>
            <a:spLocks xmlns:a="http://schemas.openxmlformats.org/drawingml/2006/main" noGrp="1"/>
          </p:cNvSpPr>
          <p:nvPr/>
        </p:nvSpPr>
        <p:spPr>
          <a:xfrm xmlns:a="http://schemas.openxmlformats.org/drawingml/2006/main">
            <a:off x="10191750" y="3162300"/>
            <a:ext cx="9334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1</a:t>
            </a:r>
          </a:p>
        </p:txBody>
      </p:sp>
      <p:sp>
        <p:nvSpPr>
          <p:cNvPr id="40" name="s32-bus-name-3">
            <a:extLst xmlns:a="http://schemas.openxmlformats.org/drawingml/2006/main">
              <a:ext uri="{FF2B5EF4-FFF2-40B4-BE49-F238E27FC236}">
                <a16:creationId xmlns:a16="http://schemas.microsoft.com/office/drawing/2014/main" id="{6F140030-DDC1-4CAD-B991-8F9394B9E1D6}"/>
              </a:ext>
            </a:extLst>
          </p:cNvPr>
          <p:cNvSpPr>
            <a:spLocks xmlns:a="http://schemas.openxmlformats.org/drawingml/2006/main" noGrp="1"/>
          </p:cNvSpPr>
          <p:nvPr/>
        </p:nvSpPr>
        <p:spPr>
          <a:xfrm xmlns:a="http://schemas.openxmlformats.org/drawingml/2006/main">
            <a:off x="6477000" y="3676650"/>
            <a:ext cx="23241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73" b="1">
                <a:solidFill>
                  <a:srgbClr val="17324A"/>
                </a:solidFill>
                <a:latin typeface="Aptos"/>
                <a:ea typeface="Aptos"/>
                <a:cs typeface="Aptos"/>
              </a:defRPr>
            </a:pPr>
            <a:r>
              <a:rPr sz="1073" b="1">
                <a:solidFill>
                  <a:srgbClr val="17324A"/>
                </a:solidFill>
                <a:latin typeface="Aptos"/>
                <a:ea typeface="Aptos"/>
                <a:cs typeface="Aptos"/>
              </a:rPr>
              <a:t>air_data_valid</a:t>
            </a:r>
          </a:p>
        </p:txBody>
      </p:sp>
      <p:sp>
        <p:nvSpPr>
          <p:cNvPr id="41" name="s32-bus-type-3">
            <a:extLst xmlns:a="http://schemas.openxmlformats.org/drawingml/2006/main">
              <a:ext uri="{FF2B5EF4-FFF2-40B4-BE49-F238E27FC236}">
                <a16:creationId xmlns:a16="http://schemas.microsoft.com/office/drawing/2014/main" id="{D03A15FD-EF1B-4366-AD75-E1AC417927E2}"/>
              </a:ext>
            </a:extLst>
          </p:cNvPr>
          <p:cNvSpPr>
            <a:spLocks xmlns:a="http://schemas.openxmlformats.org/drawingml/2006/main" noGrp="1"/>
          </p:cNvSpPr>
          <p:nvPr/>
        </p:nvSpPr>
        <p:spPr>
          <a:xfrm xmlns:a="http://schemas.openxmlformats.org/drawingml/2006/main">
            <a:off x="8801100" y="3676650"/>
            <a:ext cx="139065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boolean</a:t>
            </a:r>
          </a:p>
        </p:txBody>
      </p:sp>
      <p:sp>
        <p:nvSpPr>
          <p:cNvPr id="42" name="s32-bus-unit-3">
            <a:extLst xmlns:a="http://schemas.openxmlformats.org/drawingml/2006/main">
              <a:ext uri="{FF2B5EF4-FFF2-40B4-BE49-F238E27FC236}">
                <a16:creationId xmlns:a16="http://schemas.microsoft.com/office/drawing/2014/main" id="{7EC2F036-1850-4200-8840-FB42133FB8BA}"/>
              </a:ext>
            </a:extLst>
          </p:cNvPr>
          <p:cNvSpPr>
            <a:spLocks xmlns:a="http://schemas.openxmlformats.org/drawingml/2006/main" noGrp="1"/>
          </p:cNvSpPr>
          <p:nvPr/>
        </p:nvSpPr>
        <p:spPr>
          <a:xfrm xmlns:a="http://schemas.openxmlformats.org/drawingml/2006/main">
            <a:off x="10191750" y="3676650"/>
            <a:ext cx="93345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1</a:t>
            </a:r>
          </a:p>
        </p:txBody>
      </p:sp>
      <p:sp>
        <p:nvSpPr>
          <p:cNvPr id="43" name="s32-bus-name-4">
            <a:extLst xmlns:a="http://schemas.openxmlformats.org/drawingml/2006/main">
              <a:ext uri="{FF2B5EF4-FFF2-40B4-BE49-F238E27FC236}">
                <a16:creationId xmlns:a16="http://schemas.microsoft.com/office/drawing/2014/main" id="{C17712F9-AA9E-43A1-B298-7E5940741BC3}"/>
              </a:ext>
            </a:extLst>
          </p:cNvPr>
          <p:cNvSpPr>
            <a:spLocks xmlns:a="http://schemas.openxmlformats.org/drawingml/2006/main" noGrp="1"/>
          </p:cNvSpPr>
          <p:nvPr/>
        </p:nvSpPr>
        <p:spPr>
          <a:xfrm xmlns:a="http://schemas.openxmlformats.org/drawingml/2006/main">
            <a:off x="6477000" y="4191000"/>
            <a:ext cx="23241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073" b="1">
                <a:solidFill>
                  <a:srgbClr val="17324A"/>
                </a:solidFill>
                <a:latin typeface="Aptos"/>
                <a:ea typeface="Aptos"/>
                <a:cs typeface="Aptos"/>
              </a:defRPr>
            </a:pPr>
            <a:r>
              <a:rPr sz="1073" b="1">
                <a:solidFill>
                  <a:srgbClr val="17324A"/>
                </a:solidFill>
                <a:latin typeface="Aptos"/>
                <a:ea typeface="Aptos"/>
                <a:cs typeface="Aptos"/>
              </a:rPr>
              <a:t>mode</a:t>
            </a:r>
          </a:p>
        </p:txBody>
      </p:sp>
      <p:sp>
        <p:nvSpPr>
          <p:cNvPr id="44" name="s32-bus-type-4">
            <a:extLst xmlns:a="http://schemas.openxmlformats.org/drawingml/2006/main">
              <a:ext uri="{FF2B5EF4-FFF2-40B4-BE49-F238E27FC236}">
                <a16:creationId xmlns:a16="http://schemas.microsoft.com/office/drawing/2014/main" id="{D170529E-61DC-4F8B-AADE-F3A333EF29C2}"/>
              </a:ext>
            </a:extLst>
          </p:cNvPr>
          <p:cNvSpPr>
            <a:spLocks xmlns:a="http://schemas.openxmlformats.org/drawingml/2006/main" noGrp="1"/>
          </p:cNvSpPr>
          <p:nvPr/>
        </p:nvSpPr>
        <p:spPr>
          <a:xfrm xmlns:a="http://schemas.openxmlformats.org/drawingml/2006/main">
            <a:off x="8801100" y="4191000"/>
            <a:ext cx="13906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uint8</a:t>
            </a:r>
          </a:p>
        </p:txBody>
      </p:sp>
      <p:sp>
        <p:nvSpPr>
          <p:cNvPr id="45" name="s32-bus-unit-4">
            <a:extLst xmlns:a="http://schemas.openxmlformats.org/drawingml/2006/main">
              <a:ext uri="{FF2B5EF4-FFF2-40B4-BE49-F238E27FC236}">
                <a16:creationId xmlns:a16="http://schemas.microsoft.com/office/drawing/2014/main" id="{90096544-230B-467B-85D5-50F8C48DB38E}"/>
              </a:ext>
            </a:extLst>
          </p:cNvPr>
          <p:cNvSpPr>
            <a:spLocks xmlns:a="http://schemas.openxmlformats.org/drawingml/2006/main" noGrp="1"/>
          </p:cNvSpPr>
          <p:nvPr/>
        </p:nvSpPr>
        <p:spPr>
          <a:xfrm xmlns:a="http://schemas.openxmlformats.org/drawingml/2006/main">
            <a:off x="10191750" y="4191000"/>
            <a:ext cx="9334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666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17324A"/>
                </a:solidFill>
                <a:latin typeface="Aptos"/>
                <a:ea typeface="Aptos"/>
                <a:cs typeface="Aptos"/>
              </a:defRPr>
            </a:pPr>
            <a:r>
              <a:rPr sz="1005" b="1">
                <a:solidFill>
                  <a:srgbClr val="17324A"/>
                </a:solidFill>
                <a:latin typeface="Aptos"/>
                <a:ea typeface="Aptos"/>
                <a:cs typeface="Aptos"/>
              </a:rPr>
              <a:t>1</a:t>
            </a:r>
          </a:p>
        </p:txBody>
      </p:sp>
      <p:sp>
        <p:nvSpPr>
          <p:cNvPr id="46" name="s32-boundary">
            <a:extLst xmlns:a="http://schemas.openxmlformats.org/drawingml/2006/main">
              <a:ext uri="{FF2B5EF4-FFF2-40B4-BE49-F238E27FC236}">
                <a16:creationId xmlns:a16="http://schemas.microsoft.com/office/drawing/2014/main" id="{EC922B75-EFFB-4458-AF89-065FE9D0EB30}"/>
              </a:ext>
            </a:extLst>
          </p:cNvPr>
          <p:cNvSpPr>
            <a:spLocks xmlns:a="http://schemas.openxmlformats.org/drawingml/2006/main" noGrp="1"/>
          </p:cNvSpPr>
          <p:nvPr/>
        </p:nvSpPr>
        <p:spPr>
          <a:xfrm xmlns:a="http://schemas.openxmlformats.org/drawingml/2006/main">
            <a:off x="685800" y="546735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Initialization writes/restores managed classroom entries. Inspect or experiment only in an authorized copy.</a:t>
            </a:r>
          </a:p>
        </p:txBody>
      </p:sp>
    </p:spTree>
    <p:extLst>
      <p:ext uri="{BB962C8B-B14F-4D97-AF65-F5344CB8AC3E}">
        <p14:creationId xmlns:p14="http://schemas.microsoft.com/office/powerpoint/2010/main" val="786167458"/>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VERIFICATION &amp; DATA</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0B1F33"/>
                </a:solidFill>
                <a:latin typeface="Aptos"/>
                <a:ea typeface="Aptos"/>
                <a:cs typeface="Aptos"/>
              </a:defRPr>
            </a:pPr>
            <a:r>
              <a:rPr sz="2550" b="1" i="0">
                <a:solidFill>
                  <a:srgbClr val="0B1F33"/>
                </a:solidFill>
                <a:latin typeface="Aptos"/>
                <a:ea typeface="Aptos"/>
                <a:cs typeface="Aptos"/>
              </a:rPr>
              <a:t>Inspect FlightControlBus in Model Explorer or through the complete MATLAB API</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33</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56c51513acc4b5f"/>
          <a:stretch xmlns:a="http://schemas.openxmlformats.org/drawingml/2006/main"/>
        </p:blipFill>
        <p:spPr>
          <a:xfrm xmlns:a="http://schemas.openxmlformats.org/drawingml/2006/main">
            <a:off x="685800" y="1566863"/>
            <a:ext cx="6858000" cy="3686175"/>
          </a:xfrm>
          <a:prstGeom xmlns:a="http://schemas.openxmlformats.org/drawingml/2006/main" prst="rect">
            <a:avLst/>
          </a:prstGeom>
        </p:spPr>
      </p:pic>
      <p:sp>
        <p:nvSpPr>
          <p:cNvPr id="21" name="s33-steps">
            <a:extLst xmlns:a="http://schemas.openxmlformats.org/drawingml/2006/main">
              <a:ext uri="{FF2B5EF4-FFF2-40B4-BE49-F238E27FC236}">
                <a16:creationId xmlns:a16="http://schemas.microsoft.com/office/drawing/2014/main" id="{B3B1A27A-5BBD-4151-9DBB-3C789535282D}"/>
              </a:ext>
            </a:extLst>
          </p:cNvPr>
          <p:cNvSpPr>
            <a:spLocks xmlns:a="http://schemas.openxmlformats.org/drawingml/2006/main" noGrp="1"/>
          </p:cNvSpPr>
          <p:nvPr/>
        </p:nvSpPr>
        <p:spPr>
          <a:xfrm xmlns:a="http://schemas.openxmlformats.org/drawingml/2006/main">
            <a:off x="7810500" y="1562100"/>
            <a:ext cx="350520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12383">
            <a:solidFill>
              <a:srgbClr val="20B7C5"/>
            </a:solidFill>
            <a:prstDash val="solid"/>
          </a:ln>
        </p:spPr>
      </p:sp>
      <p:sp>
        <p:nvSpPr>
          <p:cNvPr id="22" name="s33-steps-title">
            <a:extLst xmlns:a="http://schemas.openxmlformats.org/drawingml/2006/main">
              <a:ext uri="{FF2B5EF4-FFF2-40B4-BE49-F238E27FC236}">
                <a16:creationId xmlns:a16="http://schemas.microsoft.com/office/drawing/2014/main" id="{D971ADF8-4DA6-48A5-BEF6-5EFA3778D8FA}"/>
              </a:ext>
            </a:extLst>
          </p:cNvPr>
          <p:cNvSpPr>
            <a:spLocks xmlns:a="http://schemas.openxmlformats.org/drawingml/2006/main" noGrp="1"/>
          </p:cNvSpPr>
          <p:nvPr/>
        </p:nvSpPr>
        <p:spPr>
          <a:xfrm xmlns:a="http://schemas.openxmlformats.org/drawingml/2006/main">
            <a:off x="8001000" y="171450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MODEL EXPLORER</a:t>
            </a:r>
          </a:p>
        </p:txBody>
      </p:sp>
      <p:sp>
        <p:nvSpPr>
          <p:cNvPr id="23" name="s33-steps-body">
            <a:extLst xmlns:a="http://schemas.openxmlformats.org/drawingml/2006/main">
              <a:ext uri="{FF2B5EF4-FFF2-40B4-BE49-F238E27FC236}">
                <a16:creationId xmlns:a16="http://schemas.microsoft.com/office/drawing/2014/main" id="{F4E005CC-EBEE-41D2-9E85-669D8B6D644B}"/>
              </a:ext>
            </a:extLst>
          </p:cNvPr>
          <p:cNvSpPr>
            <a:spLocks xmlns:a="http://schemas.openxmlformats.org/drawingml/2006/main" noGrp="1"/>
          </p:cNvSpPr>
          <p:nvPr/>
        </p:nvSpPr>
        <p:spPr>
          <a:xfrm xmlns:a="http://schemas.openxmlformats.org/drawingml/2006/main">
            <a:off x="8001000" y="2076450"/>
            <a:ext cx="312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80" b="0">
                <a:solidFill>
                  <a:srgbClr val="17324A"/>
                </a:solidFill>
                <a:latin typeface="Consolas"/>
                <a:ea typeface="Consolas"/>
                <a:cs typeface="Consolas"/>
              </a:defRPr>
            </a:pPr>
            <a:r>
              <a:rPr sz="1080" b="0">
                <a:solidFill>
                  <a:srgbClr val="17324A"/>
                </a:solidFill>
                <a:latin typeface="Consolas"/>
                <a:ea typeface="Consolas"/>
                <a:cs typeface="Consolas"/>
              </a:rPr>
              <a:t>1  run initialization</a:t>
            </a:r>
          </a:p>
          <a:p xmlns:a="http://schemas.openxmlformats.org/drawingml/2006/main">
            <a:pPr algn="l">
              <a:defRPr sz="1080" b="0">
                <a:solidFill>
                  <a:srgbClr val="17324A"/>
                </a:solidFill>
                <a:latin typeface="Consolas"/>
                <a:ea typeface="Consolas"/>
                <a:cs typeface="Consolas"/>
              </a:defRPr>
            </a:pPr>
            <a:r>
              <a:rPr sz="1080" b="0">
                <a:solidFill>
                  <a:srgbClr val="17324A"/>
                </a:solidFill>
                <a:latin typeface="Consolas"/>
                <a:ea typeface="Consolas"/>
                <a:cs typeface="Consolas"/>
              </a:rPr>
              <a:t>2  open data/FCS_Data.sldd</a:t>
            </a:r>
          </a:p>
          <a:p xmlns:a="http://schemas.openxmlformats.org/drawingml/2006/main">
            <a:pPr algn="l">
              <a:defRPr sz="1080" b="0">
                <a:solidFill>
                  <a:srgbClr val="17324A"/>
                </a:solidFill>
                <a:latin typeface="Consolas"/>
                <a:ea typeface="Consolas"/>
                <a:cs typeface="Consolas"/>
              </a:defRPr>
            </a:pPr>
            <a:r>
              <a:rPr sz="1080" b="0">
                <a:solidFill>
                  <a:srgbClr val="17324A"/>
                </a:solidFill>
                <a:latin typeface="Consolas"/>
                <a:ea typeface="Consolas"/>
                <a:cs typeface="Consolas"/>
              </a:rPr>
              <a:t>3  select Design Data</a:t>
            </a:r>
          </a:p>
          <a:p xmlns:a="http://schemas.openxmlformats.org/drawingml/2006/main">
            <a:pPr algn="l">
              <a:defRPr sz="1080" b="0">
                <a:solidFill>
                  <a:srgbClr val="17324A"/>
                </a:solidFill>
                <a:latin typeface="Consolas"/>
                <a:ea typeface="Consolas"/>
                <a:cs typeface="Consolas"/>
              </a:defRPr>
            </a:pPr>
            <a:r>
              <a:rPr sz="1080" b="0">
                <a:solidFill>
                  <a:srgbClr val="17324A"/>
                </a:solidFill>
                <a:latin typeface="Consolas"/>
                <a:ea typeface="Consolas"/>
                <a:cs typeface="Consolas"/>
              </a:rPr>
              <a:t>4  select FlightControlBus</a:t>
            </a:r>
          </a:p>
          <a:p xmlns:a="http://schemas.openxmlformats.org/drawingml/2006/main">
            <a:pPr algn="l">
              <a:defRPr sz="1080" b="0">
                <a:solidFill>
                  <a:srgbClr val="17324A"/>
                </a:solidFill>
                <a:latin typeface="Consolas"/>
                <a:ea typeface="Consolas"/>
                <a:cs typeface="Consolas"/>
              </a:defRPr>
            </a:pPr>
            <a:r>
              <a:rPr sz="1080" b="0">
                <a:solidFill>
                  <a:srgbClr val="17324A"/>
                </a:solidFill>
                <a:latin typeface="Consolas"/>
                <a:ea typeface="Consolas"/>
                <a:cs typeface="Consolas"/>
              </a:rPr>
              <a:t>5  expand Elements</a:t>
            </a:r>
          </a:p>
        </p:txBody>
      </p:sp>
      <p:sp>
        <p:nvSpPr>
          <p:cNvPr id="24" name="s33-code-panel">
            <a:extLst xmlns:a="http://schemas.openxmlformats.org/drawingml/2006/main">
              <a:ext uri="{FF2B5EF4-FFF2-40B4-BE49-F238E27FC236}">
                <a16:creationId xmlns:a16="http://schemas.microsoft.com/office/drawing/2014/main" id="{8C32DD18-1084-4CD2-B7E2-F32FFA7DDF29}"/>
              </a:ext>
            </a:extLst>
          </p:cNvPr>
          <p:cNvSpPr>
            <a:spLocks xmlns:a="http://schemas.openxmlformats.org/drawingml/2006/main" noGrp="1"/>
          </p:cNvSpPr>
          <p:nvPr/>
        </p:nvSpPr>
        <p:spPr>
          <a:xfrm xmlns:a="http://schemas.openxmlformats.org/drawingml/2006/main">
            <a:off x="7810500" y="3390900"/>
            <a:ext cx="3505200" cy="1866900"/>
          </a:xfrm>
          <a:prstGeom xmlns:a="http://schemas.openxmlformats.org/drawingml/2006/main" prst="roundRect">
            <a:avLst>
              <a:gd name="adj" fmla="val 6122"/>
            </a:avLst>
          </a:prstGeom>
          <a:solidFill xmlns:a="http://schemas.openxmlformats.org/drawingml/2006/main">
            <a:srgbClr val="091A29"/>
          </a:solidFill>
          <a:ln xmlns:a="http://schemas.openxmlformats.org/drawingml/2006/main" w="12383">
            <a:solidFill>
              <a:srgbClr val="2D6CDF"/>
            </a:solidFill>
            <a:prstDash val="solid"/>
          </a:ln>
        </p:spPr>
      </p:sp>
      <p:sp>
        <p:nvSpPr>
          <p:cNvPr id="25" name="s33-code">
            <a:extLst xmlns:a="http://schemas.openxmlformats.org/drawingml/2006/main">
              <a:ext uri="{FF2B5EF4-FFF2-40B4-BE49-F238E27FC236}">
                <a16:creationId xmlns:a16="http://schemas.microsoft.com/office/drawing/2014/main" id="{61F1FD76-9CD9-450E-926D-24C5F31C7A8C}"/>
              </a:ext>
            </a:extLst>
          </p:cNvPr>
          <p:cNvSpPr>
            <a:spLocks xmlns:a="http://schemas.openxmlformats.org/drawingml/2006/main" noGrp="1"/>
          </p:cNvSpPr>
          <p:nvPr/>
        </p:nvSpPr>
        <p:spPr>
          <a:xfrm xmlns:a="http://schemas.openxmlformats.org/drawingml/2006/main">
            <a:off x="7962900" y="3543300"/>
            <a:ext cx="32004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885" b="0">
                <a:solidFill>
                  <a:srgbClr val="FFFFFF"/>
                </a:solidFill>
                <a:latin typeface="Consolas"/>
                <a:ea typeface="Consolas"/>
                <a:cs typeface="Consolas"/>
              </a:defRPr>
            </a:pPr>
            <a:r>
              <a:rPr sz="885" b="0">
                <a:solidFill>
                  <a:srgbClr val="FFFFFF"/>
                </a:solidFill>
                <a:latin typeface="Consolas"/>
                <a:ea typeface="Consolas"/>
                <a:cs typeface="Consolas"/>
              </a:rPr>
              <a:t>dd = Simulink.data.dictionary.open( ...</a:t>
            </a:r>
          </a:p>
          <a:p xmlns:a="http://schemas.openxmlformats.org/drawingml/2006/main">
            <a:pPr algn="l">
              <a:defRPr sz="885" b="0">
                <a:solidFill>
                  <a:srgbClr val="FFFFFF"/>
                </a:solidFill>
                <a:latin typeface="Consolas"/>
                <a:ea typeface="Consolas"/>
                <a:cs typeface="Consolas"/>
              </a:defRPr>
            </a:pPr>
            <a:r>
              <a:rPr sz="885" b="0">
                <a:solidFill>
                  <a:srgbClr val="FFFFFF"/>
                </a:solidFill>
                <a:latin typeface="Consolas"/>
                <a:ea typeface="Consolas"/>
                <a:cs typeface="Consolas"/>
              </a:rPr>
              <a:t> fullfile(projectRoot,'data','FCS_Data.sldd'));</a:t>
            </a:r>
          </a:p>
          <a:p xmlns:a="http://schemas.openxmlformats.org/drawingml/2006/main">
            <a:pPr algn="l">
              <a:defRPr sz="885" b="0">
                <a:solidFill>
                  <a:srgbClr val="FFFFFF"/>
                </a:solidFill>
                <a:latin typeface="Consolas"/>
                <a:ea typeface="Consolas"/>
                <a:cs typeface="Consolas"/>
              </a:defRPr>
            </a:pPr>
            <a:r>
              <a:rPr sz="885" b="0">
                <a:solidFill>
                  <a:srgbClr val="FFFFFF"/>
                </a:solidFill>
                <a:latin typeface="Consolas"/>
                <a:ea typeface="Consolas"/>
                <a:cs typeface="Consolas"/>
              </a:rPr>
              <a:t>sec = getSection(dd,'Design Data');</a:t>
            </a:r>
          </a:p>
          <a:p xmlns:a="http://schemas.openxmlformats.org/drawingml/2006/main">
            <a:pPr algn="l">
              <a:defRPr sz="885" b="0">
                <a:solidFill>
                  <a:srgbClr val="FFFFFF"/>
                </a:solidFill>
                <a:latin typeface="Consolas"/>
                <a:ea typeface="Consolas"/>
                <a:cs typeface="Consolas"/>
              </a:defRPr>
            </a:pPr>
            <a:r>
              <a:rPr sz="885" b="0">
                <a:solidFill>
                  <a:srgbClr val="FFFFFF"/>
                </a:solidFill>
                <a:latin typeface="Consolas"/>
                <a:ea typeface="Consolas"/>
                <a:cs typeface="Consolas"/>
              </a:rPr>
              <a:t>e = getEntry(sec,'FlightControlBus');</a:t>
            </a:r>
          </a:p>
          <a:p xmlns:a="http://schemas.openxmlformats.org/drawingml/2006/main">
            <a:pPr algn="l">
              <a:defRPr sz="885" b="0">
                <a:solidFill>
                  <a:srgbClr val="FFFFFF"/>
                </a:solidFill>
                <a:latin typeface="Consolas"/>
                <a:ea typeface="Consolas"/>
                <a:cs typeface="Consolas"/>
              </a:defRPr>
            </a:pPr>
            <a:r>
              <a:rPr sz="885" b="0">
                <a:solidFill>
                  <a:srgbClr val="FFFFFF"/>
                </a:solidFill>
                <a:latin typeface="Consolas"/>
                <a:ea typeface="Consolas"/>
                <a:cs typeface="Consolas"/>
              </a:rPr>
              <a:t>bus = getValue(e);</a:t>
            </a:r>
          </a:p>
          <a:p xmlns:a="http://schemas.openxmlformats.org/drawingml/2006/main">
            <a:pPr algn="l">
              <a:defRPr sz="885" b="0">
                <a:solidFill>
                  <a:srgbClr val="FFFFFF"/>
                </a:solidFill>
                <a:latin typeface="Consolas"/>
                <a:ea typeface="Consolas"/>
                <a:cs typeface="Consolas"/>
              </a:defRPr>
            </a:pPr>
            <a:r>
              <a:rPr sz="885" b="0">
                <a:solidFill>
                  <a:srgbClr val="FFFFFF"/>
                </a:solidFill>
                <a:latin typeface="Consolas"/>
                <a:ea typeface="Consolas"/>
                <a:cs typeface="Consolas"/>
              </a:rPr>
              <a:t>{bus.Elements.Name}</a:t>
            </a:r>
          </a:p>
          <a:p xmlns:a="http://schemas.openxmlformats.org/drawingml/2006/main">
            <a:pPr algn="l">
              <a:defRPr sz="885" b="0">
                <a:solidFill>
                  <a:srgbClr val="FFFFFF"/>
                </a:solidFill>
                <a:latin typeface="Consolas"/>
                <a:ea typeface="Consolas"/>
                <a:cs typeface="Consolas"/>
              </a:defRPr>
            </a:pPr>
            <a:r>
              <a:rPr sz="885" b="0">
                <a:solidFill>
                  <a:srgbClr val="FFFFFF"/>
                </a:solidFill>
                <a:latin typeface="Consolas"/>
                <a:ea typeface="Consolas"/>
                <a:cs typeface="Consolas"/>
              </a:rPr>
              <a:t>close(dd);</a:t>
            </a:r>
          </a:p>
        </p:txBody>
      </p:sp>
      <p:sp>
        <p:nvSpPr>
          <p:cNvPr id="26" name="s33-caveat">
            <a:extLst xmlns:a="http://schemas.openxmlformats.org/drawingml/2006/main">
              <a:ext uri="{FF2B5EF4-FFF2-40B4-BE49-F238E27FC236}">
                <a16:creationId xmlns:a16="http://schemas.microsoft.com/office/drawing/2014/main" id="{8F37EDD3-B6F2-41BF-9D47-F45A5FA22F47}"/>
              </a:ext>
            </a:extLst>
          </p:cNvPr>
          <p:cNvSpPr>
            <a:spLocks xmlns:a="http://schemas.openxmlformats.org/drawingml/2006/main" noGrp="1"/>
          </p:cNvSpPr>
          <p:nvPr/>
        </p:nvSpPr>
        <p:spPr>
          <a:xfrm xmlns:a="http://schemas.openxmlformats.org/drawingml/2006/main">
            <a:off x="685800" y="5562600"/>
            <a:ext cx="10820400" cy="514350"/>
          </a:xfrm>
          <a:prstGeom xmlns:a="http://schemas.openxmlformats.org/drawingml/2006/main" prst="roundRect">
            <a:avLst>
              <a:gd name="adj" fmla="val 22222"/>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INSPECTION VIEW  •  initialize writes/restores managed entries; close the dictionary and follow change control before editing shared data</a:t>
            </a:r>
          </a:p>
        </p:txBody>
      </p:sp>
    </p:spTree>
    <p:extLst>
      <p:ext uri="{BB962C8B-B14F-4D97-AF65-F5344CB8AC3E}">
        <p14:creationId xmlns:p14="http://schemas.microsoft.com/office/powerpoint/2010/main" val="28635293"/>
      </p:ext>
    </p:extLst>
  </p:cSld>
</p:sld>
</file>

<file path=ppt/slides/slide3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VERIFICATION &amp; DATA</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34</a:t>
            </a:r>
          </a:p>
        </p:txBody>
      </p:sp>
      <p:sp>
        <p:nvSpPr>
          <p:cNvPr id="28" name="s34-check-0">
            <a:extLst xmlns:a="http://schemas.openxmlformats.org/drawingml/2006/main">
              <a:ext uri="{FF2B5EF4-FFF2-40B4-BE49-F238E27FC236}">
                <a16:creationId xmlns:a16="http://schemas.microsoft.com/office/drawing/2014/main" id="{7363D770-5C6F-4B23-873A-1ABDD85D86D6}"/>
              </a:ext>
            </a:extLst>
          </p:cNvPr>
          <p:cNvSpPr>
            <a:spLocks xmlns:a="http://schemas.openxmlformats.org/drawingml/2006/main" noGrp="1"/>
          </p:cNvSpPr>
          <p:nvPr/>
        </p:nvSpPr>
        <p:spPr>
          <a:xfrm xmlns:a="http://schemas.openxmlformats.org/drawingml/2006/main">
            <a:off x="685800" y="156210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01  Repository root and authorized working copy confirmed</a:t>
            </a:r>
          </a:p>
        </p:txBody>
      </p:sp>
      <p:sp>
        <p:nvSpPr>
          <p:cNvPr id="29" name="s34-check-1">
            <a:extLst xmlns:a="http://schemas.openxmlformats.org/drawingml/2006/main">
              <a:ext uri="{FF2B5EF4-FFF2-40B4-BE49-F238E27FC236}">
                <a16:creationId xmlns:a16="http://schemas.microsoft.com/office/drawing/2014/main" id="{4CD5CD84-8435-40AB-AC3A-37C7ECD20DD8}"/>
              </a:ext>
            </a:extLst>
          </p:cNvPr>
          <p:cNvSpPr>
            <a:spLocks xmlns:a="http://schemas.openxmlformats.org/drawingml/2006/main" noGrp="1"/>
          </p:cNvSpPr>
          <p:nvPr/>
        </p:nvSpPr>
        <p:spPr>
          <a:xfrm xmlns:a="http://schemas.openxmlformats.org/drawingml/2006/main">
            <a:off x="685800" y="230505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02  FCS_Data.sldd attached; managed names resolve</a:t>
            </a:r>
          </a:p>
        </p:txBody>
      </p:sp>
      <p:sp>
        <p:nvSpPr>
          <p:cNvPr id="30" name="s34-check-2">
            <a:extLst xmlns:a="http://schemas.openxmlformats.org/drawingml/2006/main">
              <a:ext uri="{FF2B5EF4-FFF2-40B4-BE49-F238E27FC236}">
                <a16:creationId xmlns:a16="http://schemas.microsoft.com/office/drawing/2014/main" id="{FB471C64-83BC-4B5A-BCC5-779FF20A1AA7}"/>
              </a:ext>
            </a:extLst>
          </p:cNvPr>
          <p:cNvSpPr>
            <a:spLocks xmlns:a="http://schemas.openxmlformats.org/drawingml/2006/main" noGrp="1"/>
          </p:cNvSpPr>
          <p:nvPr/>
        </p:nvSpPr>
        <p:spPr>
          <a:xfrm xmlns:a="http://schemas.openxmlformats.org/drawingml/2006/main">
            <a:off x="685800" y="304800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03  Five-port interface names, directions, types, and units match</a:t>
            </a:r>
          </a:p>
        </p:txBody>
      </p:sp>
      <p:sp>
        <p:nvSpPr>
          <p:cNvPr id="31" name="s34-check-3">
            <a:extLst xmlns:a="http://schemas.openxmlformats.org/drawingml/2006/main">
              <a:ext uri="{FF2B5EF4-FFF2-40B4-BE49-F238E27FC236}">
                <a16:creationId xmlns:a16="http://schemas.microsoft.com/office/drawing/2014/main" id="{FBEBF6F6-0F03-411B-A11E-155B45EA4C31}"/>
              </a:ext>
            </a:extLst>
          </p:cNvPr>
          <p:cNvSpPr>
            <a:spLocks xmlns:a="http://schemas.openxmlformats.org/drawingml/2006/main" noGrp="1"/>
          </p:cNvSpPr>
          <p:nvPr/>
        </p:nvSpPr>
        <p:spPr>
          <a:xfrm xmlns:a="http://schemas.openxmlformats.org/drawingml/2006/main">
            <a:off x="685800" y="379095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04  Fixed-step discrete configuration uses required 0.02 s</a:t>
            </a:r>
          </a:p>
        </p:txBody>
      </p:sp>
      <p:sp>
        <p:nvSpPr>
          <p:cNvPr id="32" name="s34-check-4">
            <a:extLst xmlns:a="http://schemas.openxmlformats.org/drawingml/2006/main">
              <a:ext uri="{FF2B5EF4-FFF2-40B4-BE49-F238E27FC236}">
                <a16:creationId xmlns:a16="http://schemas.microsoft.com/office/drawing/2014/main" id="{44BA7CD4-3FE1-4112-AE52-3C357A6DA8A5}"/>
              </a:ext>
            </a:extLst>
          </p:cNvPr>
          <p:cNvSpPr>
            <a:spLocks xmlns:a="http://schemas.openxmlformats.org/drawingml/2006/main" noGrp="1"/>
          </p:cNvSpPr>
          <p:nvPr/>
        </p:nvSpPr>
        <p:spPr>
          <a:xfrm xmlns:a="http://schemas.openxmlformats.org/drawingml/2006/main">
            <a:off x="685800" y="453390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05  Model-reference SimulationMode is saved Normal</a:t>
            </a:r>
          </a:p>
        </p:txBody>
      </p:sp>
      <p:sp>
        <p:nvSpPr>
          <p:cNvPr id="33" name="s34-check-5">
            <a:extLst xmlns:a="http://schemas.openxmlformats.org/drawingml/2006/main">
              <a:ext uri="{FF2B5EF4-FFF2-40B4-BE49-F238E27FC236}">
                <a16:creationId xmlns:a16="http://schemas.microsoft.com/office/drawing/2014/main" id="{5B77E85A-8F10-42C3-986F-25390F46B60E}"/>
              </a:ext>
            </a:extLst>
          </p:cNvPr>
          <p:cNvSpPr>
            <a:spLocks xmlns:a="http://schemas.openxmlformats.org/drawingml/2006/main" noGrp="1"/>
          </p:cNvSpPr>
          <p:nvPr/>
        </p:nvSpPr>
        <p:spPr>
          <a:xfrm xmlns:a="http://schemas.openxmlformats.org/drawingml/2006/main">
            <a:off x="6286500" y="156210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06  Logged-signal choices and any test-point need are explained</a:t>
            </a:r>
          </a:p>
        </p:txBody>
      </p:sp>
      <p:sp>
        <p:nvSpPr>
          <p:cNvPr id="34" name="s34-check-6">
            <a:extLst xmlns:a="http://schemas.openxmlformats.org/drawingml/2006/main">
              <a:ext uri="{FF2B5EF4-FFF2-40B4-BE49-F238E27FC236}">
                <a16:creationId xmlns:a16="http://schemas.microsoft.com/office/drawing/2014/main" id="{63B1ECB9-F527-4DF5-BCC6-B5F0AB847E3E}"/>
              </a:ext>
            </a:extLst>
          </p:cNvPr>
          <p:cNvSpPr>
            <a:spLocks xmlns:a="http://schemas.openxmlformats.org/drawingml/2006/main" noGrp="1"/>
          </p:cNvSpPr>
          <p:nvPr/>
        </p:nvSpPr>
        <p:spPr>
          <a:xfrm xmlns:a="http://schemas.openxmlformats.org/drawingml/2006/main">
            <a:off x="6286500" y="230505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07  Ctrl+D completes with no unexpected diagnostic</a:t>
            </a:r>
          </a:p>
        </p:txBody>
      </p:sp>
      <p:sp>
        <p:nvSpPr>
          <p:cNvPr id="35" name="s34-check-7">
            <a:extLst xmlns:a="http://schemas.openxmlformats.org/drawingml/2006/main">
              <a:ext uri="{FF2B5EF4-FFF2-40B4-BE49-F238E27FC236}">
                <a16:creationId xmlns:a16="http://schemas.microsoft.com/office/drawing/2014/main" id="{9CADEF42-D409-439F-9CDB-149DF4F23D0A}"/>
              </a:ext>
            </a:extLst>
          </p:cNvPr>
          <p:cNvSpPr>
            <a:spLocks xmlns:a="http://schemas.openxmlformats.org/drawingml/2006/main" noGrp="1"/>
          </p:cNvSpPr>
          <p:nvPr/>
        </p:nvSpPr>
        <p:spPr>
          <a:xfrm xmlns:a="http://schemas.openxmlformats.org/drawingml/2006/main">
            <a:off x="6286500" y="304800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20B7C5"/>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08  Matching practice driver—not saved placeholders—was executed</a:t>
            </a:r>
          </a:p>
        </p:txBody>
      </p:sp>
      <p:sp>
        <p:nvSpPr>
          <p:cNvPr id="36" name="s34-check-8">
            <a:extLst xmlns:a="http://schemas.openxmlformats.org/drawingml/2006/main">
              <a:ext uri="{FF2B5EF4-FFF2-40B4-BE49-F238E27FC236}">
                <a16:creationId xmlns:a16="http://schemas.microsoft.com/office/drawing/2014/main" id="{01FE256E-B77C-4F3F-90D2-0A70C706D190}"/>
              </a:ext>
            </a:extLst>
          </p:cNvPr>
          <p:cNvSpPr>
            <a:spLocks xmlns:a="http://schemas.openxmlformats.org/drawingml/2006/main" noGrp="1"/>
          </p:cNvSpPr>
          <p:nvPr/>
        </p:nvSpPr>
        <p:spPr>
          <a:xfrm xmlns:a="http://schemas.openxmlformats.org/drawingml/2006/main">
            <a:off x="6286500" y="379095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E9A23B"/>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09  Plots, row checks, trace links, and evidence files agree</a:t>
            </a:r>
          </a:p>
        </p:txBody>
      </p:sp>
      <p:sp>
        <p:nvSpPr>
          <p:cNvPr id="37" name="s34-check-9">
            <a:extLst xmlns:a="http://schemas.openxmlformats.org/drawingml/2006/main">
              <a:ext uri="{FF2B5EF4-FFF2-40B4-BE49-F238E27FC236}">
                <a16:creationId xmlns:a16="http://schemas.microsoft.com/office/drawing/2014/main" id="{BAA82F2E-BFC7-4F3D-9F3C-1C9E17A62D14}"/>
              </a:ext>
            </a:extLst>
          </p:cNvPr>
          <p:cNvSpPr>
            <a:spLocks xmlns:a="http://schemas.openxmlformats.org/drawingml/2006/main" noGrp="1"/>
          </p:cNvSpPr>
          <p:nvPr/>
        </p:nvSpPr>
        <p:spPr>
          <a:xfrm xmlns:a="http://schemas.openxmlformats.org/drawingml/2006/main">
            <a:off x="6286500" y="4533900"/>
            <a:ext cx="5219700" cy="590550"/>
          </a:xfrm>
          <a:prstGeom xmlns:a="http://schemas.openxmlformats.org/drawingml/2006/main" prst="roundRect">
            <a:avLst>
              <a:gd name="adj" fmla="val 19355"/>
            </a:avLst>
          </a:prstGeom>
          <a:solidFill xmlns:a="http://schemas.openxmlformats.org/drawingml/2006/main">
            <a:srgbClr val="0C2133"/>
          </a:solidFill>
          <a:ln xmlns:a="http://schemas.openxmlformats.org/drawingml/2006/main" w="10478">
            <a:solidFill>
              <a:srgbClr val="E9A23B"/>
            </a:solidFill>
            <a:prstDash val="solid"/>
          </a:ln>
        </p:spPr>
        <p:txBody>
          <a:bodyPr xmlns:a="http://schemas.openxmlformats.org/drawingml/2006/main" wrap="square" lIns="114300" tIns="47625" rIns="95250" bIns="47625" anchor="ctr">
            <a:noAutofit/>
          </a:bodyPr>
          <a:lstStyle xmlns:a="http://schemas.openxmlformats.org/drawingml/2006/main"/>
          <a:p xmlns:a="http://schemas.openxmlformats.org/drawingml/2006/main">
            <a:pPr algn="l">
              <a:defRPr sz="1065" b="1">
                <a:solidFill>
                  <a:srgbClr val="FFFFFF"/>
                </a:solidFill>
                <a:latin typeface="Aptos"/>
                <a:ea typeface="Aptos"/>
                <a:cs typeface="Aptos"/>
              </a:defRPr>
            </a:pPr>
            <a:r>
              <a:rPr sz="1065" b="1">
                <a:solidFill>
                  <a:srgbClr val="FFFFFF"/>
                </a:solidFill>
                <a:latin typeface="Aptos"/>
                <a:ea typeface="Aptos"/>
                <a:cs typeface="Aptos"/>
              </a:rPr>
              <a:t>☐  10  Unsupported claims and future assurance gates are named</a:t>
            </a:r>
          </a:p>
        </p:txBody>
      </p:sp>
      <p:sp>
        <p:nvSpPr>
          <p:cNvPr id="38" name="s34-exit">
            <a:extLst xmlns:a="http://schemas.openxmlformats.org/drawingml/2006/main">
              <a:ext uri="{FF2B5EF4-FFF2-40B4-BE49-F238E27FC236}">
                <a16:creationId xmlns:a16="http://schemas.microsoft.com/office/drawing/2014/main" id="{23F23B82-EFC1-4DEF-8CC7-0B420287F0A4}"/>
              </a:ext>
            </a:extLst>
          </p:cNvPr>
          <p:cNvSpPr>
            <a:spLocks xmlns:a="http://schemas.openxmlformats.org/drawingml/2006/main" noGrp="1"/>
          </p:cNvSpPr>
          <p:nvPr/>
        </p:nvSpPr>
        <p:spPr>
          <a:xfrm xmlns:a="http://schemas.openxmlformats.org/drawingml/2006/main">
            <a:off x="685800" y="548640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EXIT CONDITION  •  a reviewer can repeat the learner’s path from the repository root and reach the same bounded conclusion</a:t>
            </a:r>
          </a:p>
        </p:txBody>
      </p:sp>
    </p:spTree>
    <p:extLst>
      <p:ext uri="{BB962C8B-B14F-4D97-AF65-F5344CB8AC3E}">
        <p14:creationId xmlns:p14="http://schemas.microsoft.com/office/powerpoint/2010/main" val="1772874882"/>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ASSURANCE &amp; TRACEABILITY</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FFFFFF"/>
                </a:solidFill>
                <a:latin typeface="Aptos"/>
                <a:ea typeface="Aptos"/>
                <a:cs typeface="Aptos"/>
              </a:defRPr>
            </a:pPr>
            <a:r>
              <a:rPr sz="2550" b="1" i="0">
                <a:solidFill>
                  <a:srgbClr val="FFFFFF"/>
                </a:solidFill>
                <a:latin typeface="Aptos"/>
                <a:ea typeface="Aptos"/>
                <a:cs typeface="Aptos"/>
              </a:rPr>
              <a:t>Run the program-selected Model Advisor profile on the intended component</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35</a:t>
            </a:r>
          </a:p>
        </p:txBody>
      </p:sp>
      <p:sp>
        <p:nvSpPr>
          <p:cNvPr id="28" name="s10-banner">
            <a:extLst xmlns:a="http://schemas.openxmlformats.org/drawingml/2006/main">
              <a:ext uri="{FF2B5EF4-FFF2-40B4-BE49-F238E27FC236}">
                <a16:creationId xmlns:a16="http://schemas.microsoft.com/office/drawing/2014/main" id="{4E12A085-1887-4540-85C7-763DA2DB7D1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OPEN GATE • NO RETAINED RESULT  •  PROFILE / CHECK IDs: TBD  •  OWNER: TBD  •  REPORT PATH: TBD</a:t>
            </a:r>
          </a:p>
        </p:txBody>
      </p:sp>
      <p:sp>
        <p:nvSpPr>
          <p:cNvPr id="29" name="s10-step-0">
            <a:extLst xmlns:a="http://schemas.openxmlformats.org/drawingml/2006/main">
              <a:ext uri="{FF2B5EF4-FFF2-40B4-BE49-F238E27FC236}">
                <a16:creationId xmlns:a16="http://schemas.microsoft.com/office/drawing/2014/main" id="{BC779C8E-9964-46A9-86D9-1406336A4699}"/>
              </a:ext>
            </a:extLst>
          </p:cNvPr>
          <p:cNvSpPr>
            <a:spLocks xmlns:a="http://schemas.openxmlformats.org/drawingml/2006/main" noGrp="1"/>
          </p:cNvSpPr>
          <p:nvPr/>
        </p:nvSpPr>
        <p:spPr>
          <a:xfrm xmlns:a="http://schemas.openxmlformats.org/drawingml/2006/main">
            <a:off x="6858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0" name="s10-step-num-0">
            <a:extLst xmlns:a="http://schemas.openxmlformats.org/drawingml/2006/main">
              <a:ext uri="{FF2B5EF4-FFF2-40B4-BE49-F238E27FC236}">
                <a16:creationId xmlns:a16="http://schemas.microsoft.com/office/drawing/2014/main" id="{41E0D853-C1BE-4254-85E4-3F7B60257312}"/>
              </a:ext>
            </a:extLst>
          </p:cNvPr>
          <p:cNvSpPr>
            <a:spLocks xmlns:a="http://schemas.openxmlformats.org/drawingml/2006/main" noGrp="1"/>
          </p:cNvSpPr>
          <p:nvPr/>
        </p:nvSpPr>
        <p:spPr>
          <a:xfrm xmlns:a="http://schemas.openxmlformats.org/drawingml/2006/main">
            <a:off x="8001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01</a:t>
            </a:r>
          </a:p>
        </p:txBody>
      </p:sp>
      <p:sp>
        <p:nvSpPr>
          <p:cNvPr id="31" name="s10-step-title-0">
            <a:extLst xmlns:a="http://schemas.openxmlformats.org/drawingml/2006/main">
              <a:ext uri="{FF2B5EF4-FFF2-40B4-BE49-F238E27FC236}">
                <a16:creationId xmlns:a16="http://schemas.microsoft.com/office/drawing/2014/main" id="{DD72D93D-6D20-434E-B1DA-D9B02F3B5E19}"/>
              </a:ext>
            </a:extLst>
          </p:cNvPr>
          <p:cNvSpPr>
            <a:spLocks xmlns:a="http://schemas.openxmlformats.org/drawingml/2006/main" noGrp="1"/>
          </p:cNvSpPr>
          <p:nvPr/>
        </p:nvSpPr>
        <p:spPr>
          <a:xfrm xmlns:a="http://schemas.openxmlformats.org/drawingml/2006/main">
            <a:off x="8763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SCOPE</a:t>
            </a:r>
          </a:p>
        </p:txBody>
      </p:sp>
      <p:sp>
        <p:nvSpPr>
          <p:cNvPr id="32" name="s10-step-body-0">
            <a:extLst xmlns:a="http://schemas.openxmlformats.org/drawingml/2006/main">
              <a:ext uri="{FF2B5EF4-FFF2-40B4-BE49-F238E27FC236}">
                <a16:creationId xmlns:a16="http://schemas.microsoft.com/office/drawing/2014/main" id="{0EB34A5B-B819-4EC7-9B80-ED1EECF3D02B}"/>
              </a:ext>
            </a:extLst>
          </p:cNvPr>
          <p:cNvSpPr>
            <a:spLocks xmlns:a="http://schemas.openxmlformats.org/drawingml/2006/main" noGrp="1"/>
          </p:cNvSpPr>
          <p:nvPr/>
        </p:nvSpPr>
        <p:spPr>
          <a:xfrm xmlns:a="http://schemas.openxmlformats.org/drawingml/2006/main">
            <a:off x="8382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Modeling &gt; Model Advisor</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Select the exact model or subsystem</a:t>
            </a:r>
          </a:p>
        </p:txBody>
      </p:sp>
      <p:sp>
        <p:nvSpPr>
          <p:cNvPr id="33" name="s10-link-0">
            <a:extLst xmlns:a="http://schemas.openxmlformats.org/drawingml/2006/main">
              <a:ext uri="{FF2B5EF4-FFF2-40B4-BE49-F238E27FC236}">
                <a16:creationId xmlns:a16="http://schemas.microsoft.com/office/drawing/2014/main" id="{277FB47A-A356-4AE8-953C-E91B27B05D5B}"/>
              </a:ext>
            </a:extLst>
          </p:cNvPr>
          <p:cNvSpPr>
            <a:spLocks xmlns:a="http://schemas.openxmlformats.org/drawingml/2006/main" noGrp="1"/>
          </p:cNvSpPr>
          <p:nvPr/>
        </p:nvSpPr>
        <p:spPr>
          <a:xfrm xmlns:a="http://schemas.openxmlformats.org/drawingml/2006/main">
            <a:off x="25908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4" name="s10-step-1">
            <a:extLst xmlns:a="http://schemas.openxmlformats.org/drawingml/2006/main">
              <a:ext uri="{FF2B5EF4-FFF2-40B4-BE49-F238E27FC236}">
                <a16:creationId xmlns:a16="http://schemas.microsoft.com/office/drawing/2014/main" id="{8803BD59-560C-4824-A588-16035823A232}"/>
              </a:ext>
            </a:extLst>
          </p:cNvPr>
          <p:cNvSpPr>
            <a:spLocks xmlns:a="http://schemas.openxmlformats.org/drawingml/2006/main" noGrp="1"/>
          </p:cNvSpPr>
          <p:nvPr/>
        </p:nvSpPr>
        <p:spPr>
          <a:xfrm xmlns:a="http://schemas.openxmlformats.org/drawingml/2006/main">
            <a:off x="29146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5" name="s10-step-num-1">
            <a:extLst xmlns:a="http://schemas.openxmlformats.org/drawingml/2006/main">
              <a:ext uri="{FF2B5EF4-FFF2-40B4-BE49-F238E27FC236}">
                <a16:creationId xmlns:a16="http://schemas.microsoft.com/office/drawing/2014/main" id="{293BE512-AE45-4881-A549-D0C6AD67A32F}"/>
              </a:ext>
            </a:extLst>
          </p:cNvPr>
          <p:cNvSpPr>
            <a:spLocks xmlns:a="http://schemas.openxmlformats.org/drawingml/2006/main" noGrp="1"/>
          </p:cNvSpPr>
          <p:nvPr/>
        </p:nvSpPr>
        <p:spPr>
          <a:xfrm xmlns:a="http://schemas.openxmlformats.org/drawingml/2006/main">
            <a:off x="30289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02</a:t>
            </a:r>
          </a:p>
        </p:txBody>
      </p:sp>
      <p:sp>
        <p:nvSpPr>
          <p:cNvPr id="36" name="s10-step-title-1">
            <a:extLst xmlns:a="http://schemas.openxmlformats.org/drawingml/2006/main">
              <a:ext uri="{FF2B5EF4-FFF2-40B4-BE49-F238E27FC236}">
                <a16:creationId xmlns:a16="http://schemas.microsoft.com/office/drawing/2014/main" id="{D5456776-418A-427C-B054-3D0FA86C672E}"/>
              </a:ext>
            </a:extLst>
          </p:cNvPr>
          <p:cNvSpPr>
            <a:spLocks xmlns:a="http://schemas.openxmlformats.org/drawingml/2006/main" noGrp="1"/>
          </p:cNvSpPr>
          <p:nvPr/>
        </p:nvSpPr>
        <p:spPr>
          <a:xfrm xmlns:a="http://schemas.openxmlformats.org/drawingml/2006/main">
            <a:off x="31051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SELECT</a:t>
            </a:r>
          </a:p>
        </p:txBody>
      </p:sp>
      <p:sp>
        <p:nvSpPr>
          <p:cNvPr id="37" name="s10-step-body-1">
            <a:extLst xmlns:a="http://schemas.openxmlformats.org/drawingml/2006/main">
              <a:ext uri="{FF2B5EF4-FFF2-40B4-BE49-F238E27FC236}">
                <a16:creationId xmlns:a16="http://schemas.microsoft.com/office/drawing/2014/main" id="{97CC7BA2-BC89-4511-BC56-A622692548A6}"/>
              </a:ext>
            </a:extLst>
          </p:cNvPr>
          <p:cNvSpPr>
            <a:spLocks xmlns:a="http://schemas.openxmlformats.org/drawingml/2006/main" noGrp="1"/>
          </p:cNvSpPr>
          <p:nvPr/>
        </p:nvSpPr>
        <p:spPr>
          <a:xfrm xmlns:a="http://schemas.openxmlformats.org/drawingml/2006/main">
            <a:off x="30670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Choose a named check set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By Product or By Task</a:t>
            </a:r>
          </a:p>
        </p:txBody>
      </p:sp>
      <p:sp>
        <p:nvSpPr>
          <p:cNvPr id="38" name="s10-link-1">
            <a:extLst xmlns:a="http://schemas.openxmlformats.org/drawingml/2006/main">
              <a:ext uri="{FF2B5EF4-FFF2-40B4-BE49-F238E27FC236}">
                <a16:creationId xmlns:a16="http://schemas.microsoft.com/office/drawing/2014/main" id="{B4B97C81-746D-4B3D-94D2-834771043BE4}"/>
              </a:ext>
            </a:extLst>
          </p:cNvPr>
          <p:cNvSpPr>
            <a:spLocks xmlns:a="http://schemas.openxmlformats.org/drawingml/2006/main" noGrp="1"/>
          </p:cNvSpPr>
          <p:nvPr/>
        </p:nvSpPr>
        <p:spPr>
          <a:xfrm xmlns:a="http://schemas.openxmlformats.org/drawingml/2006/main">
            <a:off x="48196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9" name="s10-step-2">
            <a:extLst xmlns:a="http://schemas.openxmlformats.org/drawingml/2006/main">
              <a:ext uri="{FF2B5EF4-FFF2-40B4-BE49-F238E27FC236}">
                <a16:creationId xmlns:a16="http://schemas.microsoft.com/office/drawing/2014/main" id="{9B01EEE6-9E19-4DD2-A7E6-B78A4CF0BF40}"/>
              </a:ext>
            </a:extLst>
          </p:cNvPr>
          <p:cNvSpPr>
            <a:spLocks xmlns:a="http://schemas.openxmlformats.org/drawingml/2006/main" noGrp="1"/>
          </p:cNvSpPr>
          <p:nvPr/>
        </p:nvSpPr>
        <p:spPr>
          <a:xfrm xmlns:a="http://schemas.openxmlformats.org/drawingml/2006/main">
            <a:off x="51435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0" name="s10-step-num-2">
            <a:extLst xmlns:a="http://schemas.openxmlformats.org/drawingml/2006/main">
              <a:ext uri="{FF2B5EF4-FFF2-40B4-BE49-F238E27FC236}">
                <a16:creationId xmlns:a16="http://schemas.microsoft.com/office/drawing/2014/main" id="{75A86E01-5C7A-42E4-B0BC-19A882B120E9}"/>
              </a:ext>
            </a:extLst>
          </p:cNvPr>
          <p:cNvSpPr>
            <a:spLocks xmlns:a="http://schemas.openxmlformats.org/drawingml/2006/main" noGrp="1"/>
          </p:cNvSpPr>
          <p:nvPr/>
        </p:nvSpPr>
        <p:spPr>
          <a:xfrm xmlns:a="http://schemas.openxmlformats.org/drawingml/2006/main">
            <a:off x="52578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03</a:t>
            </a:r>
          </a:p>
        </p:txBody>
      </p:sp>
      <p:sp>
        <p:nvSpPr>
          <p:cNvPr id="41" name="s10-step-title-2">
            <a:extLst xmlns:a="http://schemas.openxmlformats.org/drawingml/2006/main">
              <a:ext uri="{FF2B5EF4-FFF2-40B4-BE49-F238E27FC236}">
                <a16:creationId xmlns:a16="http://schemas.microsoft.com/office/drawing/2014/main" id="{B6BA8334-C08F-4655-9BB8-7B2EBE124029}"/>
              </a:ext>
            </a:extLst>
          </p:cNvPr>
          <p:cNvSpPr>
            <a:spLocks xmlns:a="http://schemas.openxmlformats.org/drawingml/2006/main" noGrp="1"/>
          </p:cNvSpPr>
          <p:nvPr/>
        </p:nvSpPr>
        <p:spPr>
          <a:xfrm xmlns:a="http://schemas.openxmlformats.org/drawingml/2006/main">
            <a:off x="53340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RUN</a:t>
            </a:r>
          </a:p>
        </p:txBody>
      </p:sp>
      <p:sp>
        <p:nvSpPr>
          <p:cNvPr id="42" name="s10-step-body-2">
            <a:extLst xmlns:a="http://schemas.openxmlformats.org/drawingml/2006/main">
              <a:ext uri="{FF2B5EF4-FFF2-40B4-BE49-F238E27FC236}">
                <a16:creationId xmlns:a16="http://schemas.microsoft.com/office/drawing/2014/main" id="{1F2B464A-3063-4A72-A5E4-4BFF3FD4746A}"/>
              </a:ext>
            </a:extLst>
          </p:cNvPr>
          <p:cNvSpPr>
            <a:spLocks xmlns:a="http://schemas.openxmlformats.org/drawingml/2006/main" noGrp="1"/>
          </p:cNvSpPr>
          <p:nvPr/>
        </p:nvSpPr>
        <p:spPr>
          <a:xfrm xmlns:a="http://schemas.openxmlformats.org/drawingml/2006/main">
            <a:off x="52959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Run Checks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Honor license and update requirements</a:t>
            </a:r>
          </a:p>
        </p:txBody>
      </p:sp>
      <p:sp>
        <p:nvSpPr>
          <p:cNvPr id="43" name="s10-link-2">
            <a:extLst xmlns:a="http://schemas.openxmlformats.org/drawingml/2006/main">
              <a:ext uri="{FF2B5EF4-FFF2-40B4-BE49-F238E27FC236}">
                <a16:creationId xmlns:a16="http://schemas.microsoft.com/office/drawing/2014/main" id="{7CF7B086-E66E-4F44-8D40-B7E3E6AE2E8D}"/>
              </a:ext>
            </a:extLst>
          </p:cNvPr>
          <p:cNvSpPr>
            <a:spLocks xmlns:a="http://schemas.openxmlformats.org/drawingml/2006/main" noGrp="1"/>
          </p:cNvSpPr>
          <p:nvPr/>
        </p:nvSpPr>
        <p:spPr>
          <a:xfrm xmlns:a="http://schemas.openxmlformats.org/drawingml/2006/main">
            <a:off x="70485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4" name="s10-step-3">
            <a:extLst xmlns:a="http://schemas.openxmlformats.org/drawingml/2006/main">
              <a:ext uri="{FF2B5EF4-FFF2-40B4-BE49-F238E27FC236}">
                <a16:creationId xmlns:a16="http://schemas.microsoft.com/office/drawing/2014/main" id="{EDEF3F91-FA32-4BD5-A343-49AB52CEBEC4}"/>
              </a:ext>
            </a:extLst>
          </p:cNvPr>
          <p:cNvSpPr>
            <a:spLocks xmlns:a="http://schemas.openxmlformats.org/drawingml/2006/main" noGrp="1"/>
          </p:cNvSpPr>
          <p:nvPr/>
        </p:nvSpPr>
        <p:spPr>
          <a:xfrm xmlns:a="http://schemas.openxmlformats.org/drawingml/2006/main">
            <a:off x="73723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5" name="s10-step-num-3">
            <a:extLst xmlns:a="http://schemas.openxmlformats.org/drawingml/2006/main">
              <a:ext uri="{FF2B5EF4-FFF2-40B4-BE49-F238E27FC236}">
                <a16:creationId xmlns:a16="http://schemas.microsoft.com/office/drawing/2014/main" id="{8E5D3174-7EE6-4E06-B2F0-A7B97D5C58F2}"/>
              </a:ext>
            </a:extLst>
          </p:cNvPr>
          <p:cNvSpPr>
            <a:spLocks xmlns:a="http://schemas.openxmlformats.org/drawingml/2006/main" noGrp="1"/>
          </p:cNvSpPr>
          <p:nvPr/>
        </p:nvSpPr>
        <p:spPr>
          <a:xfrm xmlns:a="http://schemas.openxmlformats.org/drawingml/2006/main">
            <a:off x="74866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04</a:t>
            </a:r>
          </a:p>
        </p:txBody>
      </p:sp>
      <p:sp>
        <p:nvSpPr>
          <p:cNvPr id="46" name="s10-step-title-3">
            <a:extLst xmlns:a="http://schemas.openxmlformats.org/drawingml/2006/main">
              <a:ext uri="{FF2B5EF4-FFF2-40B4-BE49-F238E27FC236}">
                <a16:creationId xmlns:a16="http://schemas.microsoft.com/office/drawing/2014/main" id="{F4C8C595-10C3-4D79-99D0-6D33DE47C031}"/>
              </a:ext>
            </a:extLst>
          </p:cNvPr>
          <p:cNvSpPr>
            <a:spLocks xmlns:a="http://schemas.openxmlformats.org/drawingml/2006/main" noGrp="1"/>
          </p:cNvSpPr>
          <p:nvPr/>
        </p:nvSpPr>
        <p:spPr>
          <a:xfrm xmlns:a="http://schemas.openxmlformats.org/drawingml/2006/main">
            <a:off x="75628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REVIEW</a:t>
            </a:r>
          </a:p>
        </p:txBody>
      </p:sp>
      <p:sp>
        <p:nvSpPr>
          <p:cNvPr id="47" name="s10-step-body-3">
            <a:extLst xmlns:a="http://schemas.openxmlformats.org/drawingml/2006/main">
              <a:ext uri="{FF2B5EF4-FFF2-40B4-BE49-F238E27FC236}">
                <a16:creationId xmlns:a16="http://schemas.microsoft.com/office/drawing/2014/main" id="{90FFE05D-F21F-4C04-8998-743FDF2E5CB0}"/>
              </a:ext>
            </a:extLst>
          </p:cNvPr>
          <p:cNvSpPr>
            <a:spLocks xmlns:a="http://schemas.openxmlformats.org/drawingml/2006/main" noGrp="1"/>
          </p:cNvSpPr>
          <p:nvPr/>
        </p:nvSpPr>
        <p:spPr>
          <a:xfrm xmlns:a="http://schemas.openxmlformats.org/drawingml/2006/main">
            <a:off x="75247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Read every status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Address findings and exclusions</a:t>
            </a:r>
          </a:p>
        </p:txBody>
      </p:sp>
      <p:sp>
        <p:nvSpPr>
          <p:cNvPr id="48" name="s10-link-3">
            <a:extLst xmlns:a="http://schemas.openxmlformats.org/drawingml/2006/main">
              <a:ext uri="{FF2B5EF4-FFF2-40B4-BE49-F238E27FC236}">
                <a16:creationId xmlns:a16="http://schemas.microsoft.com/office/drawing/2014/main" id="{C72E6027-0F4E-4A33-880D-458558466FC4}"/>
              </a:ext>
            </a:extLst>
          </p:cNvPr>
          <p:cNvSpPr>
            <a:spLocks xmlns:a="http://schemas.openxmlformats.org/drawingml/2006/main" noGrp="1"/>
          </p:cNvSpPr>
          <p:nvPr/>
        </p:nvSpPr>
        <p:spPr>
          <a:xfrm xmlns:a="http://schemas.openxmlformats.org/drawingml/2006/main">
            <a:off x="92773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9" name="s10-step-4">
            <a:extLst xmlns:a="http://schemas.openxmlformats.org/drawingml/2006/main">
              <a:ext uri="{FF2B5EF4-FFF2-40B4-BE49-F238E27FC236}">
                <a16:creationId xmlns:a16="http://schemas.microsoft.com/office/drawing/2014/main" id="{FD82C81B-FBB5-4971-AE50-4D9601F34EEE}"/>
              </a:ext>
            </a:extLst>
          </p:cNvPr>
          <p:cNvSpPr>
            <a:spLocks xmlns:a="http://schemas.openxmlformats.org/drawingml/2006/main" noGrp="1"/>
          </p:cNvSpPr>
          <p:nvPr/>
        </p:nvSpPr>
        <p:spPr>
          <a:xfrm xmlns:a="http://schemas.openxmlformats.org/drawingml/2006/main">
            <a:off x="96012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CA56F"/>
            </a:solidFill>
            <a:prstDash val="solid"/>
          </a:ln>
        </p:spPr>
      </p:sp>
      <p:sp>
        <p:nvSpPr>
          <p:cNvPr id="50" name="s10-step-num-4">
            <a:extLst xmlns:a="http://schemas.openxmlformats.org/drawingml/2006/main">
              <a:ext uri="{FF2B5EF4-FFF2-40B4-BE49-F238E27FC236}">
                <a16:creationId xmlns:a16="http://schemas.microsoft.com/office/drawing/2014/main" id="{C17CCA45-CDAF-4018-B243-154602659AF9}"/>
              </a:ext>
            </a:extLst>
          </p:cNvPr>
          <p:cNvSpPr>
            <a:spLocks xmlns:a="http://schemas.openxmlformats.org/drawingml/2006/main" noGrp="1"/>
          </p:cNvSpPr>
          <p:nvPr/>
        </p:nvSpPr>
        <p:spPr>
          <a:xfrm xmlns:a="http://schemas.openxmlformats.org/drawingml/2006/main">
            <a:off x="97155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05</a:t>
            </a:r>
          </a:p>
        </p:txBody>
      </p:sp>
      <p:sp>
        <p:nvSpPr>
          <p:cNvPr id="51" name="s10-step-title-4">
            <a:extLst xmlns:a="http://schemas.openxmlformats.org/drawingml/2006/main">
              <a:ext uri="{FF2B5EF4-FFF2-40B4-BE49-F238E27FC236}">
                <a16:creationId xmlns:a16="http://schemas.microsoft.com/office/drawing/2014/main" id="{27C54826-0E88-4427-8873-5AFF0DE6DFF4}"/>
              </a:ext>
            </a:extLst>
          </p:cNvPr>
          <p:cNvSpPr>
            <a:spLocks xmlns:a="http://schemas.openxmlformats.org/drawingml/2006/main" noGrp="1"/>
          </p:cNvSpPr>
          <p:nvPr/>
        </p:nvSpPr>
        <p:spPr>
          <a:xfrm xmlns:a="http://schemas.openxmlformats.org/drawingml/2006/main">
            <a:off x="97917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225F76AC-D8B8-48DA-93BB-7C7BB2D8BC62}"/>
              </a:ext>
            </a:extLst>
          </p:cNvPr>
          <p:cNvSpPr>
            <a:spLocks xmlns:a="http://schemas.openxmlformats.org/drawingml/2006/main" noGrp="1"/>
          </p:cNvSpPr>
          <p:nvPr/>
        </p:nvSpPr>
        <p:spPr>
          <a:xfrm xmlns:a="http://schemas.openxmlformats.org/drawingml/2006/main">
            <a:off x="97536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Rerun and save report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Baseline + check IDs + results</a:t>
            </a:r>
          </a:p>
        </p:txBody>
      </p:sp>
      <p:sp>
        <p:nvSpPr>
          <p:cNvPr id="53" name="s10-retain">
            <a:extLst xmlns:a="http://schemas.openxmlformats.org/drawingml/2006/main">
              <a:ext uri="{FF2B5EF4-FFF2-40B4-BE49-F238E27FC236}">
                <a16:creationId xmlns:a16="http://schemas.microsoft.com/office/drawing/2014/main" id="{7C3B3F34-97D6-4EC2-90DF-36438154981A}"/>
              </a:ext>
            </a:extLst>
          </p:cNvPr>
          <p:cNvSpPr>
            <a:spLocks xmlns:a="http://schemas.openxmlformats.org/drawingml/2006/main" noGrp="1"/>
          </p:cNvSpPr>
          <p:nvPr/>
        </p:nvSpPr>
        <p:spPr>
          <a:xfrm xmlns:a="http://schemas.openxmlformats.org/drawingml/2006/main">
            <a:off x="6858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2CA56F"/>
            </a:solidFill>
            <a:prstDash val="solid"/>
          </a:ln>
        </p:spPr>
      </p:sp>
      <p:sp>
        <p:nvSpPr>
          <p:cNvPr id="54" name="s10-retain-title">
            <a:extLst xmlns:a="http://schemas.openxmlformats.org/drawingml/2006/main">
              <a:ext uri="{FF2B5EF4-FFF2-40B4-BE49-F238E27FC236}">
                <a16:creationId xmlns:a16="http://schemas.microsoft.com/office/drawing/2014/main" id="{E29EFDE3-7FE3-4090-8381-CD1E510F60B4}"/>
              </a:ext>
            </a:extLst>
          </p:cNvPr>
          <p:cNvSpPr>
            <a:spLocks xmlns:a="http://schemas.openxmlformats.org/drawingml/2006/main" noGrp="1"/>
          </p:cNvSpPr>
          <p:nvPr/>
        </p:nvSpPr>
        <p:spPr>
          <a:xfrm xmlns:a="http://schemas.openxmlformats.org/drawingml/2006/main">
            <a:off x="8763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RETAIN AS CONTROLLED EVIDENCE</a:t>
            </a:r>
          </a:p>
        </p:txBody>
      </p:sp>
      <p:sp>
        <p:nvSpPr>
          <p:cNvPr id="55" name="s10-retain-body">
            <a:extLst xmlns:a="http://schemas.openxmlformats.org/drawingml/2006/main">
              <a:ext uri="{FF2B5EF4-FFF2-40B4-BE49-F238E27FC236}">
                <a16:creationId xmlns:a16="http://schemas.microsoft.com/office/drawing/2014/main" id="{38D5F917-E44D-4E10-A02C-101EF4CC9E00}"/>
              </a:ext>
            </a:extLst>
          </p:cNvPr>
          <p:cNvSpPr>
            <a:spLocks xmlns:a="http://schemas.openxmlformats.org/drawingml/2006/main" noGrp="1"/>
          </p:cNvSpPr>
          <p:nvPr/>
        </p:nvSpPr>
        <p:spPr>
          <a:xfrm xmlns:a="http://schemas.openxmlformats.org/drawingml/2006/main">
            <a:off x="9334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model / subsystem and version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selected check configuration and IDs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Passed / Failed / Warning / Incomplete results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exclusions, fixes, dispositions, and rerun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saved report tied to the reviewed baseline</a:t>
            </a:r>
          </a:p>
        </p:txBody>
      </p:sp>
      <p:sp>
        <p:nvSpPr>
          <p:cNvPr id="56" name="s10-limit">
            <a:extLst xmlns:a="http://schemas.openxmlformats.org/drawingml/2006/main">
              <a:ext uri="{FF2B5EF4-FFF2-40B4-BE49-F238E27FC236}">
                <a16:creationId xmlns:a16="http://schemas.microsoft.com/office/drawing/2014/main" id="{9EFF2FD1-6E27-4977-AD52-2B788AA677D6}"/>
              </a:ext>
            </a:extLst>
          </p:cNvPr>
          <p:cNvSpPr>
            <a:spLocks xmlns:a="http://schemas.openxmlformats.org/drawingml/2006/main" noGrp="1"/>
          </p:cNvSpPr>
          <p:nvPr/>
        </p:nvSpPr>
        <p:spPr>
          <a:xfrm xmlns:a="http://schemas.openxmlformats.org/drawingml/2006/main">
            <a:off x="62865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D75A64"/>
            </a:solidFill>
            <a:prstDash val="solid"/>
          </a:ln>
        </p:spPr>
      </p:sp>
      <p:sp>
        <p:nvSpPr>
          <p:cNvPr id="57" name="s10-limit-title">
            <a:extLst xmlns:a="http://schemas.openxmlformats.org/drawingml/2006/main">
              <a:ext uri="{FF2B5EF4-FFF2-40B4-BE49-F238E27FC236}">
                <a16:creationId xmlns:a16="http://schemas.microsoft.com/office/drawing/2014/main" id="{B0DD6F5D-83E2-4DF2-8263-DD5608712810}"/>
              </a:ext>
            </a:extLst>
          </p:cNvPr>
          <p:cNvSpPr>
            <a:spLocks xmlns:a="http://schemas.openxmlformats.org/drawingml/2006/main" noGrp="1"/>
          </p:cNvSpPr>
          <p:nvPr/>
        </p:nvSpPr>
        <p:spPr>
          <a:xfrm xmlns:a="http://schemas.openxmlformats.org/drawingml/2006/main">
            <a:off x="64770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D75A64"/>
                </a:solidFill>
                <a:latin typeface="Aptos"/>
                <a:ea typeface="Aptos"/>
                <a:cs typeface="Aptos"/>
              </a:defRPr>
            </a:pPr>
            <a:r>
              <a:rPr sz="1275" b="1">
                <a:solidFill>
                  <a:srgbClr val="D75A64"/>
                </a:solidFill>
                <a:latin typeface="Aptos"/>
                <a:ea typeface="Aptos"/>
                <a:cs typeface="Aptos"/>
              </a:rPr>
              <a:t>DOES NOT, BY ITSELF, PROVE</a:t>
            </a:r>
          </a:p>
        </p:txBody>
      </p:sp>
      <p:sp>
        <p:nvSpPr>
          <p:cNvPr id="58" name="s10-limit-body">
            <a:extLst xmlns:a="http://schemas.openxmlformats.org/drawingml/2006/main">
              <a:ext uri="{FF2B5EF4-FFF2-40B4-BE49-F238E27FC236}">
                <a16:creationId xmlns:a16="http://schemas.microsoft.com/office/drawing/2014/main" id="{3FB01813-27BE-4109-BF83-41F77F99570B}"/>
              </a:ext>
            </a:extLst>
          </p:cNvPr>
          <p:cNvSpPr>
            <a:spLocks xmlns:a="http://schemas.openxmlformats.org/drawingml/2006/main" noGrp="1"/>
          </p:cNvSpPr>
          <p:nvPr/>
        </p:nvSpPr>
        <p:spPr>
          <a:xfrm xmlns:a="http://schemas.openxmlformats.org/drawingml/2006/main">
            <a:off x="65341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requirements are correct and complete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all referenced models were analyzed</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tests and coverage are adequate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findings received independent disposition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certification or final design approval</a:t>
            </a:r>
          </a:p>
        </p:txBody>
      </p:sp>
      <p:sp>
        <p:nvSpPr>
          <p:cNvPr id="59" name="s10-hierarchy">
            <a:extLst xmlns:a="http://schemas.openxmlformats.org/drawingml/2006/main">
              <a:ext uri="{FF2B5EF4-FFF2-40B4-BE49-F238E27FC236}">
                <a16:creationId xmlns:a16="http://schemas.microsoft.com/office/drawing/2014/main" id="{20A242FB-0B43-4D53-A101-6561F4C5332B}"/>
              </a:ext>
            </a:extLst>
          </p:cNvPr>
          <p:cNvSpPr>
            <a:spLocks xmlns:a="http://schemas.openxmlformats.org/drawingml/2006/main" noGrp="1"/>
          </p:cNvSpPr>
          <p:nvPr/>
        </p:nvSpPr>
        <p:spPr>
          <a:xfrm xmlns:a="http://schemas.openxmlformats.org/drawingml/2006/main">
            <a:off x="685800" y="5657850"/>
            <a:ext cx="108204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MODEL REFERENCE NOTE  •  run the intended checks on referenced models explicitly; do not assume the top-model scan enters every Model block.</a:t>
            </a:r>
          </a:p>
        </p:txBody>
      </p:sp>
    </p:spTree>
    <p:extLst>
      <p:ext uri="{BB962C8B-B14F-4D97-AF65-F5344CB8AC3E}">
        <p14:creationId xmlns:p14="http://schemas.microsoft.com/office/powerpoint/2010/main" val="92477978"/>
      </p:ext>
    </p:extLst>
  </p:cSld>
</p:sld>
</file>

<file path=ppt/slides/slide3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ASSURANCE &amp; TRACEABILITY</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Bug Finder and Code Prover remain future code-analysis gates</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36</a:t>
            </a:r>
          </a:p>
        </p:txBody>
      </p:sp>
      <p:sp>
        <p:nvSpPr>
          <p:cNvPr id="13" name="s11-banner">
            <a:extLst xmlns:a="http://schemas.openxmlformats.org/drawingml/2006/main">
              <a:ext uri="{FF2B5EF4-FFF2-40B4-BE49-F238E27FC236}">
                <a16:creationId xmlns:a16="http://schemas.microsoft.com/office/drawing/2014/main" id="{26BE4AD9-8CF9-4BF3-A0C1-D596DACEA7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BE7E9"/>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FUTURE PLACEHOLDERS  •  NOT EXECUTED  •  NO POLYSPACE PRODUCT OR REPORT IN THIS PACKAGE</a:t>
            </a:r>
          </a:p>
        </p:txBody>
      </p:sp>
      <p:sp>
        <p:nvSpPr>
          <p:cNvPr id="14" name="s11-panel-0">
            <a:extLst xmlns:a="http://schemas.openxmlformats.org/drawingml/2006/main">
              <a:ext uri="{FF2B5EF4-FFF2-40B4-BE49-F238E27FC236}">
                <a16:creationId xmlns:a16="http://schemas.microsoft.com/office/drawing/2014/main" id="{14D925DA-0280-4CA8-BC60-AF19B0E71B31}"/>
              </a:ext>
            </a:extLst>
          </p:cNvPr>
          <p:cNvSpPr>
            <a:spLocks xmlns:a="http://schemas.openxmlformats.org/drawingml/2006/main" noGrp="1"/>
          </p:cNvSpPr>
          <p:nvPr/>
        </p:nvSpPr>
        <p:spPr>
          <a:xfrm xmlns:a="http://schemas.openxmlformats.org/drawingml/2006/main">
            <a:off x="685800" y="2000250"/>
            <a:ext cx="5219700" cy="3143250"/>
          </a:xfrm>
          <a:prstGeom xmlns:a="http://schemas.openxmlformats.org/drawingml/2006/main" prst="roundRect">
            <a:avLst>
              <a:gd name="adj" fmla="val 3636"/>
            </a:avLst>
          </a:prstGeom>
          <a:solidFill xmlns:a="http://schemas.openxmlformats.org/drawingml/2006/main">
            <a:srgbClr val="E2ECFF"/>
          </a:solidFill>
          <a:ln xmlns:a="http://schemas.openxmlformats.org/drawingml/2006/main" w="17145">
            <a:solidFill>
              <a:srgbClr val="2D6CDF"/>
            </a:solidFill>
            <a:prstDash val="solid"/>
          </a:ln>
        </p:spPr>
      </p:sp>
      <p:sp>
        <p:nvSpPr>
          <p:cNvPr id="15" name="s11-title-0">
            <a:extLst xmlns:a="http://schemas.openxmlformats.org/drawingml/2006/main">
              <a:ext uri="{FF2B5EF4-FFF2-40B4-BE49-F238E27FC236}">
                <a16:creationId xmlns:a16="http://schemas.microsoft.com/office/drawing/2014/main" id="{B493FBD8-3DC4-4ECA-9B49-A57DCF133325}"/>
              </a:ext>
            </a:extLst>
          </p:cNvPr>
          <p:cNvSpPr>
            <a:spLocks xmlns:a="http://schemas.openxmlformats.org/drawingml/2006/main" noGrp="1"/>
          </p:cNvSpPr>
          <p:nvPr/>
        </p:nvSpPr>
        <p:spPr>
          <a:xfrm xmlns:a="http://schemas.openxmlformats.org/drawingml/2006/main">
            <a:off x="9144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D6CDF"/>
                </a:solidFill>
                <a:latin typeface="Aptos"/>
                <a:ea typeface="Aptos"/>
                <a:cs typeface="Aptos"/>
              </a:defRPr>
            </a:pPr>
            <a:r>
              <a:rPr sz="1500" b="1">
                <a:solidFill>
                  <a:srgbClr val="2D6CDF"/>
                </a:solidFill>
                <a:latin typeface="Aptos"/>
                <a:ea typeface="Aptos"/>
                <a:cs typeface="Aptos"/>
              </a:rPr>
              <a:t>POLYSPACE BUG FINDER</a:t>
            </a:r>
          </a:p>
        </p:txBody>
      </p:sp>
      <p:sp>
        <p:nvSpPr>
          <p:cNvPr id="16" name="s11-sub-0">
            <a:extLst xmlns:a="http://schemas.openxmlformats.org/drawingml/2006/main">
              <a:ext uri="{FF2B5EF4-FFF2-40B4-BE49-F238E27FC236}">
                <a16:creationId xmlns:a16="http://schemas.microsoft.com/office/drawing/2014/main" id="{41A92F47-928E-47D6-97EE-D3AED38133C0}"/>
              </a:ext>
            </a:extLst>
          </p:cNvPr>
          <p:cNvSpPr>
            <a:spLocks xmlns:a="http://schemas.openxmlformats.org/drawingml/2006/main" noGrp="1"/>
          </p:cNvSpPr>
          <p:nvPr/>
        </p:nvSpPr>
        <p:spPr>
          <a:xfrm xmlns:a="http://schemas.openxmlformats.org/drawingml/2006/main">
            <a:off x="9715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Fast static scan for reported defects and rule deviations</a:t>
            </a:r>
          </a:p>
        </p:txBody>
      </p:sp>
      <p:sp>
        <p:nvSpPr>
          <p:cNvPr id="17" name="s11-body-0">
            <a:extLst xmlns:a="http://schemas.openxmlformats.org/drawingml/2006/main">
              <a:ext uri="{FF2B5EF4-FFF2-40B4-BE49-F238E27FC236}">
                <a16:creationId xmlns:a16="http://schemas.microsoft.com/office/drawing/2014/main" id="{6370D591-1214-4900-86D3-D864FC044091}"/>
              </a:ext>
            </a:extLst>
          </p:cNvPr>
          <p:cNvSpPr>
            <a:spLocks xmlns:a="http://schemas.openxmlformats.org/drawingml/2006/main" noGrp="1"/>
          </p:cNvSpPr>
          <p:nvPr/>
        </p:nvSpPr>
        <p:spPr>
          <a:xfrm xmlns:a="http://schemas.openxmlformats.org/drawingml/2006/main">
            <a:off x="9906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probable coding defects and security issues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MISRA / CERT / CWE and project-rule findings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code metrics and early developer triage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review, fix, justify, and retain dispositions</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finding-oriented; it does not prove that all defects are absent.</a:t>
            </a:r>
          </a:p>
        </p:txBody>
      </p:sp>
      <p:sp>
        <p:nvSpPr>
          <p:cNvPr id="18" name="s11-placeholder-0">
            <a:extLst xmlns:a="http://schemas.openxmlformats.org/drawingml/2006/main">
              <a:ext uri="{FF2B5EF4-FFF2-40B4-BE49-F238E27FC236}">
                <a16:creationId xmlns:a16="http://schemas.microsoft.com/office/drawing/2014/main" id="{BD889767-C9B8-4651-B84F-30975F93D144}"/>
              </a:ext>
            </a:extLst>
          </p:cNvPr>
          <p:cNvSpPr>
            <a:spLocks xmlns:a="http://schemas.openxmlformats.org/drawingml/2006/main" noGrp="1"/>
          </p:cNvSpPr>
          <p:nvPr/>
        </p:nvSpPr>
        <p:spPr>
          <a:xfrm xmlns:a="http://schemas.openxmlformats.org/drawingml/2006/main">
            <a:off x="9906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2D6CDF"/>
                </a:solidFill>
                <a:latin typeface="Aptos"/>
                <a:ea typeface="Aptos"/>
                <a:cs typeface="Aptos"/>
              </a:defRPr>
            </a:pPr>
            <a:r>
              <a:rPr sz="990" b="1">
                <a:solidFill>
                  <a:srgbClr val="2D6CDF"/>
                </a:solidFill>
                <a:latin typeface="Aptos"/>
                <a:ea typeface="Aptos"/>
                <a:cs typeface="Aptos"/>
              </a:rPr>
              <a:t>FUTURE INSERT  •  BUG FINDER RESULT / REPORT</a:t>
            </a:r>
          </a:p>
        </p:txBody>
      </p:sp>
      <p:sp>
        <p:nvSpPr>
          <p:cNvPr id="19" name="s11-panel-1">
            <a:extLst xmlns:a="http://schemas.openxmlformats.org/drawingml/2006/main">
              <a:ext uri="{FF2B5EF4-FFF2-40B4-BE49-F238E27FC236}">
                <a16:creationId xmlns:a16="http://schemas.microsoft.com/office/drawing/2014/main" id="{2E2BA123-B9B3-4D60-A61B-EC2D272AFCD6}"/>
              </a:ext>
            </a:extLst>
          </p:cNvPr>
          <p:cNvSpPr>
            <a:spLocks xmlns:a="http://schemas.openxmlformats.org/drawingml/2006/main" noGrp="1"/>
          </p:cNvSpPr>
          <p:nvPr/>
        </p:nvSpPr>
        <p:spPr>
          <a:xfrm xmlns:a="http://schemas.openxmlformats.org/drawingml/2006/main">
            <a:off x="6286500" y="2000250"/>
            <a:ext cx="5219700" cy="3143250"/>
          </a:xfrm>
          <a:prstGeom xmlns:a="http://schemas.openxmlformats.org/drawingml/2006/main" prst="roundRect">
            <a:avLst>
              <a:gd name="adj" fmla="val 3636"/>
            </a:avLst>
          </a:prstGeom>
          <a:solidFill xmlns:a="http://schemas.openxmlformats.org/drawingml/2006/main">
            <a:srgbClr val="E2F4EA"/>
          </a:solidFill>
          <a:ln xmlns:a="http://schemas.openxmlformats.org/drawingml/2006/main" w="17145">
            <a:solidFill>
              <a:srgbClr val="2CA56F"/>
            </a:solidFill>
            <a:prstDash val="solid"/>
          </a:ln>
        </p:spPr>
      </p:sp>
      <p:sp>
        <p:nvSpPr>
          <p:cNvPr id="20" name="s11-title-1">
            <a:extLst xmlns:a="http://schemas.openxmlformats.org/drawingml/2006/main">
              <a:ext uri="{FF2B5EF4-FFF2-40B4-BE49-F238E27FC236}">
                <a16:creationId xmlns:a16="http://schemas.microsoft.com/office/drawing/2014/main" id="{69157C0E-942E-4750-8064-B1B28515C27C}"/>
              </a:ext>
            </a:extLst>
          </p:cNvPr>
          <p:cNvSpPr>
            <a:spLocks xmlns:a="http://schemas.openxmlformats.org/drawingml/2006/main" noGrp="1"/>
          </p:cNvSpPr>
          <p:nvPr/>
        </p:nvSpPr>
        <p:spPr>
          <a:xfrm xmlns:a="http://schemas.openxmlformats.org/drawingml/2006/main">
            <a:off x="65151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CA56F"/>
                </a:solidFill>
                <a:latin typeface="Aptos"/>
                <a:ea typeface="Aptos"/>
                <a:cs typeface="Aptos"/>
              </a:defRPr>
            </a:pPr>
            <a:r>
              <a:rPr sz="1500" b="1">
                <a:solidFill>
                  <a:srgbClr val="2CA56F"/>
                </a:solidFill>
                <a:latin typeface="Aptos"/>
                <a:ea typeface="Aptos"/>
                <a:cs typeface="Aptos"/>
              </a:rPr>
              <a:t>POLYSPACE CODE PROVER</a:t>
            </a:r>
          </a:p>
        </p:txBody>
      </p:sp>
      <p:sp>
        <p:nvSpPr>
          <p:cNvPr id="21" name="s11-sub-1">
            <a:extLst xmlns:a="http://schemas.openxmlformats.org/drawingml/2006/main">
              <a:ext uri="{FF2B5EF4-FFF2-40B4-BE49-F238E27FC236}">
                <a16:creationId xmlns:a16="http://schemas.microsoft.com/office/drawing/2014/main" id="{B136D6D9-D0A9-451C-A3A7-620937ECA246}"/>
              </a:ext>
            </a:extLst>
          </p:cNvPr>
          <p:cNvSpPr>
            <a:spLocks xmlns:a="http://schemas.openxmlformats.org/drawingml/2006/main" noGrp="1"/>
          </p:cNvSpPr>
          <p:nvPr/>
        </p:nvSpPr>
        <p:spPr>
          <a:xfrm xmlns:a="http://schemas.openxmlformats.org/drawingml/2006/main">
            <a:off x="65722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Deeper formal analysis for selected run-time error checks</a:t>
            </a:r>
          </a:p>
        </p:txBody>
      </p:sp>
      <p:sp>
        <p:nvSpPr>
          <p:cNvPr id="22" name="s11-body-1">
            <a:extLst xmlns:a="http://schemas.openxmlformats.org/drawingml/2006/main">
              <a:ext uri="{FF2B5EF4-FFF2-40B4-BE49-F238E27FC236}">
                <a16:creationId xmlns:a16="http://schemas.microsoft.com/office/drawing/2014/main" id="{3D4758F0-DE5E-42F2-B114-180C11FA2940}"/>
              </a:ext>
            </a:extLst>
          </p:cNvPr>
          <p:cNvSpPr>
            <a:spLocks xmlns:a="http://schemas.openxmlformats.org/drawingml/2006/main" noGrp="1"/>
          </p:cNvSpPr>
          <p:nvPr/>
        </p:nvSpPr>
        <p:spPr>
          <a:xfrm xmlns:a="http://schemas.openxmlformats.org/drawingml/2006/main">
            <a:off x="65913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analyzes control and data flow without executing code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attempts proof over the analyzed code and paths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green = proven for that check and scope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orange = possible / unproven; red = definite</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conclusions depend on controlled code, configuration, and assumptions.</a:t>
            </a:r>
          </a:p>
        </p:txBody>
      </p:sp>
      <p:sp>
        <p:nvSpPr>
          <p:cNvPr id="23" name="s11-placeholder-1">
            <a:extLst xmlns:a="http://schemas.openxmlformats.org/drawingml/2006/main">
              <a:ext uri="{FF2B5EF4-FFF2-40B4-BE49-F238E27FC236}">
                <a16:creationId xmlns:a16="http://schemas.microsoft.com/office/drawing/2014/main" id="{5EDE43D7-D6AE-4815-8835-36A387D0C91A}"/>
              </a:ext>
            </a:extLst>
          </p:cNvPr>
          <p:cNvSpPr>
            <a:spLocks xmlns:a="http://schemas.openxmlformats.org/drawingml/2006/main" noGrp="1"/>
          </p:cNvSpPr>
          <p:nvPr/>
        </p:nvSpPr>
        <p:spPr>
          <a:xfrm xmlns:a="http://schemas.openxmlformats.org/drawingml/2006/main">
            <a:off x="65913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2CA56F"/>
                </a:solidFill>
                <a:latin typeface="Aptos"/>
                <a:ea typeface="Aptos"/>
                <a:cs typeface="Aptos"/>
              </a:defRPr>
            </a:pPr>
            <a:r>
              <a:rPr sz="990" b="1">
                <a:solidFill>
                  <a:srgbClr val="2CA56F"/>
                </a:solidFill>
                <a:latin typeface="Aptos"/>
                <a:ea typeface="Aptos"/>
                <a:cs typeface="Aptos"/>
              </a:rPr>
              <a:t>FUTURE INSERT  •  CODE PROVER RESULT / REPORT</a:t>
            </a:r>
          </a:p>
        </p:txBody>
      </p:sp>
      <p:sp>
        <p:nvSpPr>
          <p:cNvPr id="24" name="s11-gate">
            <a:extLst xmlns:a="http://schemas.openxmlformats.org/drawingml/2006/main">
              <a:ext uri="{FF2B5EF4-FFF2-40B4-BE49-F238E27FC236}">
                <a16:creationId xmlns:a16="http://schemas.microsoft.com/office/drawing/2014/main" id="{636CCA95-8F82-4BF8-A6C5-A5130F240C96}"/>
              </a:ext>
            </a:extLst>
          </p:cNvPr>
          <p:cNvSpPr>
            <a:spLocks xmlns:a="http://schemas.openxmlformats.org/drawingml/2006/main" noGrp="1"/>
          </p:cNvSpPr>
          <p:nvPr/>
        </p:nvSpPr>
        <p:spPr>
          <a:xfrm xmlns:a="http://schemas.openxmlformats.org/drawingml/2006/main">
            <a:off x="685800" y="5314950"/>
            <a:ext cx="10820400" cy="80010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13335">
            <a:solidFill>
              <a:srgbClr val="20B7C5"/>
            </a:solidFill>
            <a:prstDash val="solid"/>
          </a:ln>
        </p:spPr>
      </p:sp>
      <p:sp>
        <p:nvSpPr>
          <p:cNvPr id="25" name="s11-gate-title">
            <a:extLst xmlns:a="http://schemas.openxmlformats.org/drawingml/2006/main">
              <a:ext uri="{FF2B5EF4-FFF2-40B4-BE49-F238E27FC236}">
                <a16:creationId xmlns:a16="http://schemas.microsoft.com/office/drawing/2014/main" id="{3FA66FE9-44C7-40D2-9126-6808962B0817}"/>
              </a:ext>
            </a:extLst>
          </p:cNvPr>
          <p:cNvSpPr>
            <a:spLocks xmlns:a="http://schemas.openxmlformats.org/drawingml/2006/main" noGrp="1"/>
          </p:cNvSpPr>
          <p:nvPr/>
        </p:nvSpPr>
        <p:spPr>
          <a:xfrm xmlns:a="http://schemas.openxmlformats.org/drawingml/2006/main">
            <a:off x="895350" y="54102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25" b="1">
                <a:solidFill>
                  <a:srgbClr val="70DCE5"/>
                </a:solidFill>
                <a:latin typeface="Aptos"/>
                <a:ea typeface="Aptos"/>
                <a:cs typeface="Aptos"/>
              </a:defRPr>
            </a:pPr>
            <a:r>
              <a:rPr sz="1125" b="1">
                <a:solidFill>
                  <a:srgbClr val="70DCE5"/>
                </a:solidFill>
                <a:latin typeface="Aptos"/>
                <a:ea typeface="Aptos"/>
                <a:cs typeface="Aptos"/>
              </a:rPr>
              <a:t>GATE PREREQUISITES</a:t>
            </a:r>
          </a:p>
        </p:txBody>
      </p:sp>
      <p:sp>
        <p:nvSpPr>
          <p:cNvPr id="26" name="s11-gate-body">
            <a:extLst xmlns:a="http://schemas.openxmlformats.org/drawingml/2006/main">
              <a:ext uri="{FF2B5EF4-FFF2-40B4-BE49-F238E27FC236}">
                <a16:creationId xmlns:a16="http://schemas.microsoft.com/office/drawing/2014/main" id="{1748BC03-EEED-41CE-A3E7-C31B079575E3}"/>
              </a:ext>
            </a:extLst>
          </p:cNvPr>
          <p:cNvSpPr>
            <a:spLocks xmlns:a="http://schemas.openxmlformats.org/drawingml/2006/main" noGrp="1"/>
          </p:cNvSpPr>
          <p:nvPr/>
        </p:nvSpPr>
        <p:spPr>
          <a:xfrm xmlns:a="http://schemas.openxmlformats.org/drawingml/2006/main">
            <a:off x="895350" y="569595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controlled C/C++ baseline • target/compiler/options • assumptions/stubs • licensed tool/configuration • reviewed findings/report • traceability</a:t>
            </a:r>
          </a:p>
        </p:txBody>
      </p:sp>
    </p:spTree>
    <p:extLst>
      <p:ext uri="{BB962C8B-B14F-4D97-AF65-F5344CB8AC3E}">
        <p14:creationId xmlns:p14="http://schemas.microsoft.com/office/powerpoint/2010/main" val="1993218485"/>
      </p:ext>
    </p:extLst>
  </p:cSld>
</p:sld>
</file>

<file path=ppt/slides/slide3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ASSURANCE &amp; TRACEABILITY</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37</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ASSURANCE &amp; TRACEABILITY</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38</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ASSURANCE &amp; TRACEABILITY</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Traceability pairs every definition with verification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39</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518"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519"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520"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521"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522"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4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ASSURANCE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0B1F33"/>
                </a:solidFill>
                <a:latin typeface="Aptos"/>
                <a:ea typeface="Aptos"/>
                <a:cs typeface="Aptos"/>
              </a:defRPr>
            </a:pPr>
            <a:r>
              <a:rPr sz="2550" b="1" i="0">
                <a:solidFill>
                  <a:srgbClr val="0B1F33"/>
                </a:solidFill>
                <a:latin typeface="Aptos"/>
                <a:ea typeface="Aptos"/>
                <a:cs typeface="Aptos"/>
              </a:rPr>
              <a:t>The PSYS/SWHLR/SWLLR chain is a classroom mapping, not a live requirements database</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005" b="1">
                <a:solidFill>
                  <a:srgbClr val="071521"/>
                </a:solidFill>
                <a:latin typeface="Aptos"/>
                <a:ea typeface="Aptos"/>
                <a:cs typeface="Aptos"/>
              </a:defRPr>
            </a:pPr>
            <a:r>
              <a:rPr sz="1005" b="1">
                <a:solidFill>
                  <a:srgbClr val="071521"/>
                </a:solidFill>
                <a:latin typeface="Aptos"/>
                <a:ea typeface="Aptos"/>
                <a:cs typeface="Aptos"/>
              </a:rPr>
              <a:t>SYSTEM</a:t>
            </a:r>
          </a:p>
          <a:p xmlns:a="http://schemas.openxmlformats.org/drawingml/2006/main">
            <a:pPr algn="ctr">
              <a:lnSpc>
                <a:spcPct val="100000"/>
              </a:lnSpc>
              <a:buNone/>
              <a:defRPr sz="1005" b="1">
                <a:solidFill>
                  <a:srgbClr val="071521"/>
                </a:solidFill>
                <a:latin typeface="Aptos"/>
                <a:ea typeface="Aptos"/>
                <a:cs typeface="Aptos"/>
              </a:defRPr>
            </a:pPr>
            <a:r>
              <a:rPr sz="1005" b="1">
                <a:solidFill>
                  <a:srgbClr val="071521"/>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005" b="1">
                <a:solidFill>
                  <a:srgbClr val="071521"/>
                </a:solidFill>
                <a:latin typeface="Aptos"/>
                <a:ea typeface="Aptos"/>
                <a:cs typeface="Aptos"/>
              </a:defRPr>
            </a:pPr>
            <a:r>
              <a:rPr sz="1005" b="1">
                <a:solidFill>
                  <a:srgbClr val="071521"/>
                </a:solidFill>
                <a:latin typeface="Aptos"/>
                <a:ea typeface="Aptos"/>
                <a:cs typeface="Aptos"/>
              </a:rPr>
              <a:t>SOFTWARE HLR</a:t>
            </a:r>
          </a:p>
          <a:p xmlns:a="http://schemas.openxmlformats.org/drawingml/2006/main">
            <a:pPr algn="ctr">
              <a:lnSpc>
                <a:spcPct val="100000"/>
              </a:lnSpc>
              <a:buNone/>
              <a:defRPr sz="1005" b="1">
                <a:solidFill>
                  <a:srgbClr val="071521"/>
                </a:solidFill>
                <a:latin typeface="Aptos"/>
                <a:ea typeface="Aptos"/>
                <a:cs typeface="Aptos"/>
              </a:defRPr>
            </a:pPr>
            <a:r>
              <a:rPr sz="1005" b="1">
                <a:solidFill>
                  <a:srgbClr val="071521"/>
                </a:solidFill>
                <a:latin typeface="Aptos"/>
                <a:ea typeface="Aptos"/>
                <a:cs typeface="Aptos"/>
              </a:rPr>
              <a:t>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005" b="1">
                <a:solidFill>
                  <a:srgbClr val="071521"/>
                </a:solidFill>
                <a:latin typeface="Aptos"/>
                <a:ea typeface="Aptos"/>
                <a:cs typeface="Aptos"/>
              </a:defRPr>
            </a:pPr>
            <a:r>
              <a:rPr sz="1005" b="1">
                <a:solidFill>
                  <a:srgbClr val="071521"/>
                </a:solidFill>
                <a:latin typeface="Aptos"/>
                <a:ea typeface="Aptos"/>
                <a:cs typeface="Aptos"/>
              </a:rPr>
              <a:t>SOFTWARE LLR / DESIGN</a:t>
            </a:r>
          </a:p>
          <a:p xmlns:a="http://schemas.openxmlformats.org/drawingml/2006/main">
            <a:pPr algn="ctr">
              <a:lnSpc>
                <a:spcPct val="100000"/>
              </a:lnSpc>
              <a:buNone/>
              <a:defRPr sz="1005" b="1">
                <a:solidFill>
                  <a:srgbClr val="071521"/>
                </a:solidFill>
                <a:latin typeface="Aptos"/>
                <a:ea typeface="Aptos"/>
                <a:cs typeface="Aptos"/>
              </a:defRPr>
            </a:pPr>
            <a:r>
              <a:rPr sz="1005" b="1">
                <a:solidFill>
                  <a:srgbClr val="071521"/>
                </a:solidFill>
                <a:latin typeface="Aptos"/>
                <a:ea typeface="Aptos"/>
                <a:cs typeface="Aptos"/>
              </a:rPr>
              <a:t>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005" b="1">
                <a:solidFill>
                  <a:srgbClr val="071521"/>
                </a:solidFill>
                <a:latin typeface="Aptos"/>
                <a:ea typeface="Aptos"/>
                <a:cs typeface="Aptos"/>
              </a:defRPr>
            </a:pPr>
            <a:r>
              <a:rPr sz="1005" b="1">
                <a:solidFill>
                  <a:srgbClr val="071521"/>
                </a:solidFill>
                <a:latin typeface="Aptos"/>
                <a:ea typeface="Aptos"/>
                <a:cs typeface="Aptos"/>
              </a:rPr>
              <a:t>STATUS + TIMING</a:t>
            </a:r>
          </a:p>
          <a:p xmlns:a="http://schemas.openxmlformats.org/drawingml/2006/main">
            <a:pPr algn="ctr">
              <a:lnSpc>
                <a:spcPct val="100000"/>
              </a:lnSpc>
              <a:buNone/>
              <a:defRPr sz="1005" b="1">
                <a:solidFill>
                  <a:srgbClr val="071521"/>
                </a:solidFill>
                <a:latin typeface="Aptos"/>
                <a:ea typeface="Aptos"/>
                <a:cs typeface="Aptos"/>
              </a:defRPr>
            </a:pPr>
            <a:r>
              <a:rPr sz="1005" b="1">
                <a:solidFill>
                  <a:srgbClr val="071521"/>
                </a:solidFill>
                <a:latin typeface="Aptos"/>
                <a:ea typeface="Aptos"/>
                <a:cs typeface="Aptos"/>
              </a:rPr>
              <a:t>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40</a:t>
            </a:r>
          </a:p>
        </p:txBody>
      </p:sp>
    </p:spTree>
    <p:extLst>
      <p:ext uri="{BB962C8B-B14F-4D97-AF65-F5344CB8AC3E}">
        <p14:creationId xmlns:p14="http://schemas.microsoft.com/office/powerpoint/2010/main" val="125380021"/>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BOUNDARIES &amp; SIGN-OFF</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FFFFFF"/>
                </a:solidFill>
                <a:latin typeface="Aptos"/>
                <a:ea typeface="Aptos"/>
                <a:cs typeface="Aptos"/>
              </a:defRPr>
            </a:pPr>
            <a:r>
              <a:rPr sz="2550" b="1" i="0">
                <a:solidFill>
                  <a:srgbClr val="FFFFFF"/>
                </a:solidFill>
                <a:latin typeface="Aptos"/>
                <a:ea typeface="Aptos"/>
                <a:cs typeface="Aptos"/>
              </a:rPr>
              <a:t>The CI diagram is conceptual: automation produces evidence, 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294"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95"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96"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297"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98"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4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BOUNDARIES &amp; SIGN-OFF</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42</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250"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251"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252"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53"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4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BOUNDARIES &amp; SIGN-OFF</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43</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BOUNDARIES &amp; SIGN-OFF</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Status counts reconcile only when scope and freshness stay visible</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44</a:t>
            </a:r>
          </a:p>
        </p:txBody>
      </p:sp>
      <p:sp>
        <p:nvSpPr>
          <p:cNvPr id="24" name="s44-card-0">
            <a:extLst xmlns:a="http://schemas.openxmlformats.org/drawingml/2006/main">
              <a:ext uri="{FF2B5EF4-FFF2-40B4-BE49-F238E27FC236}">
                <a16:creationId xmlns:a16="http://schemas.microsoft.com/office/drawing/2014/main" id="{D3FA45F4-4548-4755-A867-96A5660A52A6}"/>
              </a:ext>
            </a:extLst>
          </p:cNvPr>
          <p:cNvSpPr>
            <a:spLocks xmlns:a="http://schemas.openxmlformats.org/drawingml/2006/main" noGrp="1"/>
          </p:cNvSpPr>
          <p:nvPr/>
        </p:nvSpPr>
        <p:spPr>
          <a:xfrm xmlns:a="http://schemas.openxmlformats.org/drawingml/2006/main">
            <a:off x="685800" y="1562100"/>
            <a:ext cx="2514600" cy="1657350"/>
          </a:xfrm>
          <a:prstGeom xmlns:a="http://schemas.openxmlformats.org/drawingml/2006/main" prst="roundRect">
            <a:avLst>
              <a:gd name="adj" fmla="val 6897"/>
            </a:avLst>
          </a:prstGeom>
          <a:solidFill xmlns:a="http://schemas.openxmlformats.org/drawingml/2006/main">
            <a:srgbClr val="0C2133"/>
          </a:solidFill>
          <a:ln xmlns:a="http://schemas.openxmlformats.org/drawingml/2006/main" w="14288">
            <a:solidFill>
              <a:srgbClr val="20B7C5"/>
            </a:solidFill>
            <a:prstDash val="solid"/>
          </a:ln>
        </p:spPr>
      </p:sp>
      <p:sp>
        <p:nvSpPr>
          <p:cNvPr id="25" name="s44-value-0">
            <a:extLst xmlns:a="http://schemas.openxmlformats.org/drawingml/2006/main">
              <a:ext uri="{FF2B5EF4-FFF2-40B4-BE49-F238E27FC236}">
                <a16:creationId xmlns:a16="http://schemas.microsoft.com/office/drawing/2014/main" id="{A1E0420F-45F9-4766-9D4C-3F2349AC94AC}"/>
              </a:ext>
            </a:extLst>
          </p:cNvPr>
          <p:cNvSpPr>
            <a:spLocks xmlns:a="http://schemas.openxmlformats.org/drawingml/2006/main" noGrp="1"/>
          </p:cNvSpPr>
          <p:nvPr/>
        </p:nvSpPr>
        <p:spPr>
          <a:xfrm xmlns:a="http://schemas.openxmlformats.org/drawingml/2006/main">
            <a:off x="819150" y="1714500"/>
            <a:ext cx="224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00" b="1">
                <a:solidFill>
                  <a:srgbClr val="20B7C5"/>
                </a:solidFill>
                <a:latin typeface="Aptos"/>
                <a:ea typeface="Aptos"/>
                <a:cs typeface="Aptos"/>
              </a:defRPr>
            </a:pPr>
            <a:r>
              <a:rPr sz="2100" b="1">
                <a:solidFill>
                  <a:srgbClr val="20B7C5"/>
                </a:solidFill>
                <a:latin typeface="Aptos"/>
                <a:ea typeface="Aptos"/>
                <a:cs typeface="Aptos"/>
              </a:rPr>
              <a:t>8 / 8</a:t>
            </a:r>
          </a:p>
        </p:txBody>
      </p:sp>
      <p:sp>
        <p:nvSpPr>
          <p:cNvPr id="26" name="s44-title-0">
            <a:extLst xmlns:a="http://schemas.openxmlformats.org/drawingml/2006/main">
              <a:ext uri="{FF2B5EF4-FFF2-40B4-BE49-F238E27FC236}">
                <a16:creationId xmlns:a16="http://schemas.microsoft.com/office/drawing/2014/main" id="{C705A068-63C9-4E6E-9EE0-D0AA68A1169B}"/>
              </a:ext>
            </a:extLst>
          </p:cNvPr>
          <p:cNvSpPr>
            <a:spLocks xmlns:a="http://schemas.openxmlformats.org/drawingml/2006/main" noGrp="1"/>
          </p:cNvSpPr>
          <p:nvPr/>
        </p:nvSpPr>
        <p:spPr>
          <a:xfrm xmlns:a="http://schemas.openxmlformats.org/drawingml/2006/main">
            <a:off x="819150" y="219075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MODEL UPDATE</a:t>
            </a:r>
          </a:p>
        </p:txBody>
      </p:sp>
      <p:sp>
        <p:nvSpPr>
          <p:cNvPr id="27" name="s44-body-0">
            <a:extLst xmlns:a="http://schemas.openxmlformats.org/drawingml/2006/main">
              <a:ext uri="{FF2B5EF4-FFF2-40B4-BE49-F238E27FC236}">
                <a16:creationId xmlns:a16="http://schemas.microsoft.com/office/drawing/2014/main" id="{D7D772BD-5E3E-4821-9F8F-BA3DE8E7DF41}"/>
              </a:ext>
            </a:extLst>
          </p:cNvPr>
          <p:cNvSpPr>
            <a:spLocks xmlns:a="http://schemas.openxmlformats.org/drawingml/2006/main" noGrp="1"/>
          </p:cNvSpPr>
          <p:nvPr/>
        </p:nvSpPr>
        <p:spPr>
          <a:xfrm xmlns:a="http://schemas.openxmlformats.org/drawingml/2006/main">
            <a:off x="876300" y="25717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0">
                <a:solidFill>
                  <a:srgbClr val="7D91A0"/>
                </a:solidFill>
                <a:latin typeface="Aptos"/>
                <a:ea typeface="Aptos"/>
                <a:cs typeface="Aptos"/>
              </a:defRPr>
            </a:pPr>
            <a:r>
              <a:rPr sz="960" b="0">
                <a:solidFill>
                  <a:srgbClr val="7D91A0"/>
                </a:solidFill>
                <a:latin typeface="Aptos"/>
                <a:ea typeface="Aptos"/>
                <a:cs typeface="Aptos"/>
              </a:rPr>
              <a:t>diagram update/compile accepted</a:t>
            </a:r>
          </a:p>
        </p:txBody>
      </p:sp>
      <p:sp>
        <p:nvSpPr>
          <p:cNvPr id="28" name="s44-card-1">
            <a:extLst xmlns:a="http://schemas.openxmlformats.org/drawingml/2006/main">
              <a:ext uri="{FF2B5EF4-FFF2-40B4-BE49-F238E27FC236}">
                <a16:creationId xmlns:a16="http://schemas.microsoft.com/office/drawing/2014/main" id="{345A9A75-AB7D-47EB-9BC8-926C2C57C235}"/>
              </a:ext>
            </a:extLst>
          </p:cNvPr>
          <p:cNvSpPr>
            <a:spLocks xmlns:a="http://schemas.openxmlformats.org/drawingml/2006/main" noGrp="1"/>
          </p:cNvSpPr>
          <p:nvPr/>
        </p:nvSpPr>
        <p:spPr>
          <a:xfrm xmlns:a="http://schemas.openxmlformats.org/drawingml/2006/main">
            <a:off x="3429000" y="1562100"/>
            <a:ext cx="2514600" cy="1657350"/>
          </a:xfrm>
          <a:prstGeom xmlns:a="http://schemas.openxmlformats.org/drawingml/2006/main" prst="roundRect">
            <a:avLst>
              <a:gd name="adj" fmla="val 6897"/>
            </a:avLst>
          </a:prstGeom>
          <a:solidFill xmlns:a="http://schemas.openxmlformats.org/drawingml/2006/main">
            <a:srgbClr val="0C2133"/>
          </a:solidFill>
          <a:ln xmlns:a="http://schemas.openxmlformats.org/drawingml/2006/main" w="14288">
            <a:solidFill>
              <a:srgbClr val="2CA56F"/>
            </a:solidFill>
            <a:prstDash val="solid"/>
          </a:ln>
        </p:spPr>
      </p:sp>
      <p:sp>
        <p:nvSpPr>
          <p:cNvPr id="29" name="s44-value-1">
            <a:extLst xmlns:a="http://schemas.openxmlformats.org/drawingml/2006/main">
              <a:ext uri="{FF2B5EF4-FFF2-40B4-BE49-F238E27FC236}">
                <a16:creationId xmlns:a16="http://schemas.microsoft.com/office/drawing/2014/main" id="{7DF213BF-7742-4F88-BBD3-0BB3914FD149}"/>
              </a:ext>
            </a:extLst>
          </p:cNvPr>
          <p:cNvSpPr>
            <a:spLocks xmlns:a="http://schemas.openxmlformats.org/drawingml/2006/main" noGrp="1"/>
          </p:cNvSpPr>
          <p:nvPr/>
        </p:nvSpPr>
        <p:spPr>
          <a:xfrm xmlns:a="http://schemas.openxmlformats.org/drawingml/2006/main">
            <a:off x="3562350" y="1714500"/>
            <a:ext cx="224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00" b="1">
                <a:solidFill>
                  <a:srgbClr val="2CA56F"/>
                </a:solidFill>
                <a:latin typeface="Aptos"/>
                <a:ea typeface="Aptos"/>
                <a:cs typeface="Aptos"/>
              </a:defRPr>
            </a:pPr>
            <a:r>
              <a:rPr sz="2100" b="1">
                <a:solidFill>
                  <a:srgbClr val="2CA56F"/>
                </a:solidFill>
                <a:latin typeface="Aptos"/>
                <a:ea typeface="Aptos"/>
                <a:cs typeface="Aptos"/>
              </a:rPr>
              <a:t>19 / 19</a:t>
            </a:r>
          </a:p>
        </p:txBody>
      </p:sp>
      <p:sp>
        <p:nvSpPr>
          <p:cNvPr id="30" name="s44-title-1">
            <a:extLst xmlns:a="http://schemas.openxmlformats.org/drawingml/2006/main">
              <a:ext uri="{FF2B5EF4-FFF2-40B4-BE49-F238E27FC236}">
                <a16:creationId xmlns:a16="http://schemas.microsoft.com/office/drawing/2014/main" id="{D073BD3D-2978-46BB-835C-48F6F8875121}"/>
              </a:ext>
            </a:extLst>
          </p:cNvPr>
          <p:cNvSpPr>
            <a:spLocks xmlns:a="http://schemas.openxmlformats.org/drawingml/2006/main" noGrp="1"/>
          </p:cNvSpPr>
          <p:nvPr/>
        </p:nvSpPr>
        <p:spPr>
          <a:xfrm xmlns:a="http://schemas.openxmlformats.org/drawingml/2006/main">
            <a:off x="3562350" y="219075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LIMITER ROWS</a:t>
            </a:r>
          </a:p>
        </p:txBody>
      </p:sp>
      <p:sp>
        <p:nvSpPr>
          <p:cNvPr id="31" name="s44-body-1">
            <a:extLst xmlns:a="http://schemas.openxmlformats.org/drawingml/2006/main">
              <a:ext uri="{FF2B5EF4-FFF2-40B4-BE49-F238E27FC236}">
                <a16:creationId xmlns:a16="http://schemas.microsoft.com/office/drawing/2014/main" id="{9DC0DAAA-5392-4D6B-9DF4-449D3940F291}"/>
              </a:ext>
            </a:extLst>
          </p:cNvPr>
          <p:cNvSpPr>
            <a:spLocks xmlns:a="http://schemas.openxmlformats.org/drawingml/2006/main" noGrp="1"/>
          </p:cNvSpPr>
          <p:nvPr/>
        </p:nvSpPr>
        <p:spPr>
          <a:xfrm xmlns:a="http://schemas.openxmlformats.org/drawingml/2006/main">
            <a:off x="3619500" y="25717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0">
                <a:solidFill>
                  <a:srgbClr val="7D91A0"/>
                </a:solidFill>
                <a:latin typeface="Aptos"/>
                <a:ea typeface="Aptos"/>
                <a:cs typeface="Aptos"/>
              </a:defRPr>
            </a:pPr>
            <a:r>
              <a:rPr sz="960" b="0">
                <a:solidFill>
                  <a:srgbClr val="7D91A0"/>
                </a:solidFill>
                <a:latin typeface="Aptos"/>
                <a:ea typeface="Aptos"/>
                <a:cs typeface="Aptos"/>
              </a:rPr>
              <a:t>retained sample assessments pass</a:t>
            </a:r>
          </a:p>
        </p:txBody>
      </p:sp>
      <p:sp>
        <p:nvSpPr>
          <p:cNvPr id="32" name="s44-card-2">
            <a:extLst xmlns:a="http://schemas.openxmlformats.org/drawingml/2006/main">
              <a:ext uri="{FF2B5EF4-FFF2-40B4-BE49-F238E27FC236}">
                <a16:creationId xmlns:a16="http://schemas.microsoft.com/office/drawing/2014/main" id="{1C4D5C3A-67B0-4B15-84B6-D6BAD403A5B9}"/>
              </a:ext>
            </a:extLst>
          </p:cNvPr>
          <p:cNvSpPr>
            <a:spLocks xmlns:a="http://schemas.openxmlformats.org/drawingml/2006/main" noGrp="1"/>
          </p:cNvSpPr>
          <p:nvPr/>
        </p:nvSpPr>
        <p:spPr>
          <a:xfrm xmlns:a="http://schemas.openxmlformats.org/drawingml/2006/main">
            <a:off x="6172200" y="1562100"/>
            <a:ext cx="2514600" cy="1657350"/>
          </a:xfrm>
          <a:prstGeom xmlns:a="http://schemas.openxmlformats.org/drawingml/2006/main" prst="roundRect">
            <a:avLst>
              <a:gd name="adj" fmla="val 6897"/>
            </a:avLst>
          </a:prstGeom>
          <a:solidFill xmlns:a="http://schemas.openxmlformats.org/drawingml/2006/main">
            <a:srgbClr val="0C2133"/>
          </a:solidFill>
          <a:ln xmlns:a="http://schemas.openxmlformats.org/drawingml/2006/main" w="14288">
            <a:solidFill>
              <a:srgbClr val="2D6CDF"/>
            </a:solidFill>
            <a:prstDash val="solid"/>
          </a:ln>
        </p:spPr>
      </p:sp>
      <p:sp>
        <p:nvSpPr>
          <p:cNvPr id="33" name="s44-value-2">
            <a:extLst xmlns:a="http://schemas.openxmlformats.org/drawingml/2006/main">
              <a:ext uri="{FF2B5EF4-FFF2-40B4-BE49-F238E27FC236}">
                <a16:creationId xmlns:a16="http://schemas.microsoft.com/office/drawing/2014/main" id="{9A899148-8830-4FF9-B7D1-E0D858623E22}"/>
              </a:ext>
            </a:extLst>
          </p:cNvPr>
          <p:cNvSpPr>
            <a:spLocks xmlns:a="http://schemas.openxmlformats.org/drawingml/2006/main" noGrp="1"/>
          </p:cNvSpPr>
          <p:nvPr/>
        </p:nvSpPr>
        <p:spPr>
          <a:xfrm xmlns:a="http://schemas.openxmlformats.org/drawingml/2006/main">
            <a:off x="6305550" y="1714500"/>
            <a:ext cx="224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00" b="1">
                <a:solidFill>
                  <a:srgbClr val="2D6CDF"/>
                </a:solidFill>
                <a:latin typeface="Aptos"/>
                <a:ea typeface="Aptos"/>
                <a:cs typeface="Aptos"/>
              </a:defRPr>
            </a:pPr>
            <a:r>
              <a:rPr sz="2100" b="1">
                <a:solidFill>
                  <a:srgbClr val="2D6CDF"/>
                </a:solidFill>
                <a:latin typeface="Aptos"/>
                <a:ea typeface="Aptos"/>
                <a:cs typeface="Aptos"/>
              </a:rPr>
              <a:t>24 / 24</a:t>
            </a:r>
          </a:p>
        </p:txBody>
      </p:sp>
      <p:sp>
        <p:nvSpPr>
          <p:cNvPr id="34" name="s44-title-2">
            <a:extLst xmlns:a="http://schemas.openxmlformats.org/drawingml/2006/main">
              <a:ext uri="{FF2B5EF4-FFF2-40B4-BE49-F238E27FC236}">
                <a16:creationId xmlns:a16="http://schemas.microsoft.com/office/drawing/2014/main" id="{2CF0292E-C86D-4C8A-AB19-F2E3854463F6}"/>
              </a:ext>
            </a:extLst>
          </p:cNvPr>
          <p:cNvSpPr>
            <a:spLocks xmlns:a="http://schemas.openxmlformats.org/drawingml/2006/main" noGrp="1"/>
          </p:cNvSpPr>
          <p:nvPr/>
        </p:nvSpPr>
        <p:spPr>
          <a:xfrm xmlns:a="http://schemas.openxmlformats.org/drawingml/2006/main">
            <a:off x="6305550" y="219075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REQUIRED EXPORTS</a:t>
            </a:r>
          </a:p>
        </p:txBody>
      </p:sp>
      <p:sp>
        <p:nvSpPr>
          <p:cNvPr id="35" name="s44-body-2">
            <a:extLst xmlns:a="http://schemas.openxmlformats.org/drawingml/2006/main">
              <a:ext uri="{FF2B5EF4-FFF2-40B4-BE49-F238E27FC236}">
                <a16:creationId xmlns:a16="http://schemas.microsoft.com/office/drawing/2014/main" id="{8466CE20-BE75-47B8-AEC3-746890DC319F}"/>
              </a:ext>
            </a:extLst>
          </p:cNvPr>
          <p:cNvSpPr>
            <a:spLocks xmlns:a="http://schemas.openxmlformats.org/drawingml/2006/main" noGrp="1"/>
          </p:cNvSpPr>
          <p:nvPr/>
        </p:nvSpPr>
        <p:spPr>
          <a:xfrm xmlns:a="http://schemas.openxmlformats.org/drawingml/2006/main">
            <a:off x="6362700" y="25717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0">
                <a:solidFill>
                  <a:srgbClr val="7D91A0"/>
                </a:solidFill>
                <a:latin typeface="Aptos"/>
                <a:ea typeface="Aptos"/>
                <a:cs typeface="Aptos"/>
              </a:defRPr>
            </a:pPr>
            <a:r>
              <a:rPr sz="960" b="0">
                <a:solidFill>
                  <a:srgbClr val="7D91A0"/>
                </a:solidFill>
                <a:latin typeface="Aptos"/>
                <a:ea typeface="Aptos"/>
                <a:cs typeface="Aptos"/>
              </a:rPr>
              <a:t>presence-only validator count</a:t>
            </a:r>
          </a:p>
        </p:txBody>
      </p:sp>
      <p:sp>
        <p:nvSpPr>
          <p:cNvPr id="36" name="s44-card-3">
            <a:extLst xmlns:a="http://schemas.openxmlformats.org/drawingml/2006/main">
              <a:ext uri="{FF2B5EF4-FFF2-40B4-BE49-F238E27FC236}">
                <a16:creationId xmlns:a16="http://schemas.microsoft.com/office/drawing/2014/main" id="{EC974CAE-E9CC-41CB-8882-07CFE67797C0}"/>
              </a:ext>
            </a:extLst>
          </p:cNvPr>
          <p:cNvSpPr>
            <a:spLocks xmlns:a="http://schemas.openxmlformats.org/drawingml/2006/main" noGrp="1"/>
          </p:cNvSpPr>
          <p:nvPr/>
        </p:nvSpPr>
        <p:spPr>
          <a:xfrm xmlns:a="http://schemas.openxmlformats.org/drawingml/2006/main">
            <a:off x="8915400" y="1562100"/>
            <a:ext cx="2514600" cy="1657350"/>
          </a:xfrm>
          <a:prstGeom xmlns:a="http://schemas.openxmlformats.org/drawingml/2006/main" prst="roundRect">
            <a:avLst>
              <a:gd name="adj" fmla="val 6897"/>
            </a:avLst>
          </a:prstGeom>
          <a:solidFill xmlns:a="http://schemas.openxmlformats.org/drawingml/2006/main">
            <a:srgbClr val="0C2133"/>
          </a:solidFill>
          <a:ln xmlns:a="http://schemas.openxmlformats.org/drawingml/2006/main" w="14288">
            <a:solidFill>
              <a:srgbClr val="E9A23B"/>
            </a:solidFill>
            <a:prstDash val="solid"/>
          </a:ln>
        </p:spPr>
      </p:sp>
      <p:sp>
        <p:nvSpPr>
          <p:cNvPr id="37" name="s44-value-3">
            <a:extLst xmlns:a="http://schemas.openxmlformats.org/drawingml/2006/main">
              <a:ext uri="{FF2B5EF4-FFF2-40B4-BE49-F238E27FC236}">
                <a16:creationId xmlns:a16="http://schemas.microsoft.com/office/drawing/2014/main" id="{8C840A01-5BD9-484A-AC11-FEFFC5B364D5}"/>
              </a:ext>
            </a:extLst>
          </p:cNvPr>
          <p:cNvSpPr>
            <a:spLocks xmlns:a="http://schemas.openxmlformats.org/drawingml/2006/main" noGrp="1"/>
          </p:cNvSpPr>
          <p:nvPr/>
        </p:nvSpPr>
        <p:spPr>
          <a:xfrm xmlns:a="http://schemas.openxmlformats.org/drawingml/2006/main">
            <a:off x="9048750" y="1714500"/>
            <a:ext cx="224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00" b="1">
                <a:solidFill>
                  <a:srgbClr val="E9A23B"/>
                </a:solidFill>
                <a:latin typeface="Aptos"/>
                <a:ea typeface="Aptos"/>
                <a:cs typeface="Aptos"/>
              </a:defRPr>
            </a:pPr>
            <a:r>
              <a:rPr sz="2100" b="1">
                <a:solidFill>
                  <a:srgbClr val="E9A23B"/>
                </a:solidFill>
                <a:latin typeface="Aptos"/>
                <a:ea typeface="Aptos"/>
                <a:cs typeface="Aptos"/>
              </a:rPr>
              <a:t>5 / 5</a:t>
            </a:r>
          </a:p>
        </p:txBody>
      </p:sp>
      <p:sp>
        <p:nvSpPr>
          <p:cNvPr id="38" name="s44-title-3">
            <a:extLst xmlns:a="http://schemas.openxmlformats.org/drawingml/2006/main">
              <a:ext uri="{FF2B5EF4-FFF2-40B4-BE49-F238E27FC236}">
                <a16:creationId xmlns:a16="http://schemas.microsoft.com/office/drawing/2014/main" id="{C7D89F1A-7B56-4B93-84D3-9E1830034DED}"/>
              </a:ext>
            </a:extLst>
          </p:cNvPr>
          <p:cNvSpPr>
            <a:spLocks xmlns:a="http://schemas.openxmlformats.org/drawingml/2006/main" noGrp="1"/>
          </p:cNvSpPr>
          <p:nvPr/>
        </p:nvSpPr>
        <p:spPr>
          <a:xfrm xmlns:a="http://schemas.openxmlformats.org/drawingml/2006/main">
            <a:off x="9048750" y="219075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35" b="1">
                <a:solidFill>
                  <a:srgbClr val="FFFFFF"/>
                </a:solidFill>
                <a:latin typeface="Aptos"/>
                <a:ea typeface="Aptos"/>
                <a:cs typeface="Aptos"/>
              </a:defRPr>
            </a:pPr>
            <a:r>
              <a:rPr sz="1035" b="1">
                <a:solidFill>
                  <a:srgbClr val="FFFFFF"/>
                </a:solidFill>
                <a:latin typeface="Aptos"/>
                <a:ea typeface="Aptos"/>
                <a:cs typeface="Aptos"/>
              </a:rPr>
              <a:t>GRT MODELS BUILT</a:t>
            </a:r>
          </a:p>
        </p:txBody>
      </p:sp>
      <p:sp>
        <p:nvSpPr>
          <p:cNvPr id="39" name="s44-body-3">
            <a:extLst xmlns:a="http://schemas.openxmlformats.org/drawingml/2006/main">
              <a:ext uri="{FF2B5EF4-FFF2-40B4-BE49-F238E27FC236}">
                <a16:creationId xmlns:a16="http://schemas.microsoft.com/office/drawing/2014/main" id="{9A098C91-5C37-491C-8134-F5E56A90826D}"/>
              </a:ext>
            </a:extLst>
          </p:cNvPr>
          <p:cNvSpPr>
            <a:spLocks xmlns:a="http://schemas.openxmlformats.org/drawingml/2006/main" noGrp="1"/>
          </p:cNvSpPr>
          <p:nvPr/>
        </p:nvSpPr>
        <p:spPr>
          <a:xfrm xmlns:a="http://schemas.openxmlformats.org/drawingml/2006/main">
            <a:off x="9105900" y="25717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0">
                <a:solidFill>
                  <a:srgbClr val="7D91A0"/>
                </a:solidFill>
                <a:latin typeface="Aptos"/>
                <a:ea typeface="Aptos"/>
                <a:cs typeface="Aptos"/>
              </a:defRPr>
            </a:pPr>
            <a:r>
              <a:rPr sz="960" b="0">
                <a:solidFill>
                  <a:srgbClr val="7D91A0"/>
                </a:solidFill>
                <a:latin typeface="Aptos"/>
                <a:ea typeface="Aptos"/>
                <a:cs typeface="Aptos"/>
              </a:rPr>
              <a:t>top standalone + four references</a:t>
            </a:r>
          </a:p>
        </p:txBody>
      </p:sp>
      <p:sp>
        <p:nvSpPr>
          <p:cNvPr id="40" name="s44-validator">
            <a:extLst xmlns:a="http://schemas.openxmlformats.org/drawingml/2006/main">
              <a:ext uri="{FF2B5EF4-FFF2-40B4-BE49-F238E27FC236}">
                <a16:creationId xmlns:a16="http://schemas.microsoft.com/office/drawing/2014/main" id="{2B5DB334-1FFB-420A-8F24-68DC4F109149}"/>
              </a:ext>
            </a:extLst>
          </p:cNvPr>
          <p:cNvSpPr>
            <a:spLocks xmlns:a="http://schemas.openxmlformats.org/drawingml/2006/main" noGrp="1"/>
          </p:cNvSpPr>
          <p:nvPr/>
        </p:nvSpPr>
        <p:spPr>
          <a:xfrm xmlns:a="http://schemas.openxmlformats.org/drawingml/2006/main">
            <a:off x="685800" y="3562350"/>
            <a:ext cx="5219700" cy="1543050"/>
          </a:xfrm>
          <a:prstGeom xmlns:a="http://schemas.openxmlformats.org/drawingml/2006/main" prst="roundRect">
            <a:avLst>
              <a:gd name="adj" fmla="val 7407"/>
            </a:avLst>
          </a:prstGeom>
          <a:solidFill xmlns:a="http://schemas.openxmlformats.org/drawingml/2006/main">
            <a:srgbClr val="091A29"/>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148" b="1">
                <a:solidFill>
                  <a:srgbClr val="FFFFFF"/>
                </a:solidFill>
                <a:latin typeface="Aptos"/>
                <a:ea typeface="Aptos"/>
                <a:cs typeface="Aptos"/>
              </a:defRPr>
            </a:pPr>
            <a:r>
              <a:rPr sz="1148" b="1">
                <a:solidFill>
                  <a:srgbClr val="FFFFFF"/>
                </a:solidFill>
                <a:latin typeface="Aptos"/>
                <a:ea typeface="Aptos"/>
                <a:cs typeface="Aptos"/>
              </a:rPr>
              <a:t>WHAT THE VALIDATOR DOES</a:t>
            </a:r>
          </a:p>
          <a:p xmlns:a="http://schemas.openxmlformats.org/drawingml/2006/main">
            <a:pPr algn="l">
              <a:defRPr sz="1148" b="1">
                <a:solidFill>
                  <a:srgbClr val="FFFFFF"/>
                </a:solidFill>
                <a:latin typeface="Aptos"/>
                <a:ea typeface="Aptos"/>
                <a:cs typeface="Aptos"/>
              </a:defRPr>
            </a:pPr>
            <a:r>
              <a:rPr sz="1148" b="1">
                <a:solidFill>
                  <a:srgbClr val="FFFFFF"/>
                </a:solidFill>
                <a:latin typeface="Aptos"/>
                <a:ea typeface="Aptos"/>
                <a:cs typeface="Aptos"/>
              </a:rPr>
              <a:t>• updates eight delivered models</a:t>
            </a:r>
          </a:p>
          <a:p xmlns:a="http://schemas.openxmlformats.org/drawingml/2006/main">
            <a:pPr algn="l">
              <a:defRPr sz="1148" b="1">
                <a:solidFill>
                  <a:srgbClr val="FFFFFF"/>
                </a:solidFill>
                <a:latin typeface="Aptos"/>
                <a:ea typeface="Aptos"/>
                <a:cs typeface="Aptos"/>
              </a:defRPr>
            </a:pPr>
            <a:r>
              <a:rPr sz="1148" b="1">
                <a:solidFill>
                  <a:srgbClr val="FFFFFF"/>
                </a:solidFill>
                <a:latin typeface="Aptos"/>
                <a:ea typeface="Aptos"/>
                <a:cs typeface="Aptos"/>
              </a:rPr>
              <a:t>• reads the retained limiter CSV</a:t>
            </a:r>
          </a:p>
          <a:p xmlns:a="http://schemas.openxmlformats.org/drawingml/2006/main">
            <a:pPr algn="l">
              <a:defRPr sz="1148" b="1">
                <a:solidFill>
                  <a:srgbClr val="FFFFFF"/>
                </a:solidFill>
                <a:latin typeface="Aptos"/>
                <a:ea typeface="Aptos"/>
                <a:cs typeface="Aptos"/>
              </a:defRPr>
            </a:pPr>
            <a:r>
              <a:rPr sz="1148" b="1">
                <a:solidFill>
                  <a:srgbClr val="FFFFFF"/>
                </a:solidFill>
                <a:latin typeface="Aptos"/>
                <a:ea typeface="Aptos"/>
                <a:cs typeface="Aptos"/>
              </a:rPr>
              <a:t>• checks the 24 named export paths</a:t>
            </a:r>
          </a:p>
        </p:txBody>
      </p:sp>
      <p:sp>
        <p:nvSpPr>
          <p:cNvPr id="41" name="s44-not">
            <a:extLst xmlns:a="http://schemas.openxmlformats.org/drawingml/2006/main">
              <a:ext uri="{FF2B5EF4-FFF2-40B4-BE49-F238E27FC236}">
                <a16:creationId xmlns:a16="http://schemas.microsoft.com/office/drawing/2014/main" id="{6A0936AD-477A-41E6-B8DA-F10D7CBF1425}"/>
              </a:ext>
            </a:extLst>
          </p:cNvPr>
          <p:cNvSpPr>
            <a:spLocks xmlns:a="http://schemas.openxmlformats.org/drawingml/2006/main" noGrp="1"/>
          </p:cNvSpPr>
          <p:nvPr/>
        </p:nvSpPr>
        <p:spPr>
          <a:xfrm xmlns:a="http://schemas.openxmlformats.org/drawingml/2006/main">
            <a:off x="6286500" y="3562350"/>
            <a:ext cx="5219700" cy="1543050"/>
          </a:xfrm>
          <a:prstGeom xmlns:a="http://schemas.openxmlformats.org/drawingml/2006/main" prst="roundRect">
            <a:avLst>
              <a:gd name="adj" fmla="val 7407"/>
            </a:avLst>
          </a:prstGeom>
          <a:solidFill xmlns:a="http://schemas.openxmlformats.org/drawingml/2006/main">
            <a:srgbClr val="091A29"/>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148" b="1">
                <a:solidFill>
                  <a:srgbClr val="FFFFFF"/>
                </a:solidFill>
                <a:latin typeface="Aptos"/>
                <a:ea typeface="Aptos"/>
                <a:cs typeface="Aptos"/>
              </a:defRPr>
            </a:pPr>
            <a:r>
              <a:rPr sz="1148" b="1">
                <a:solidFill>
                  <a:srgbClr val="FFFFFF"/>
                </a:solidFill>
                <a:latin typeface="Aptos"/>
                <a:ea typeface="Aptos"/>
                <a:cs typeface="Aptos"/>
              </a:rPr>
              <a:t>WHAT IT DOES NOT DO</a:t>
            </a:r>
          </a:p>
          <a:p xmlns:a="http://schemas.openxmlformats.org/drawingml/2006/main">
            <a:pPr algn="l">
              <a:defRPr sz="1148" b="1">
                <a:solidFill>
                  <a:srgbClr val="FFFFFF"/>
                </a:solidFill>
                <a:latin typeface="Aptos"/>
                <a:ea typeface="Aptos"/>
                <a:cs typeface="Aptos"/>
              </a:defRPr>
            </a:pPr>
            <a:r>
              <a:rPr sz="1148" b="1">
                <a:solidFill>
                  <a:srgbClr val="FFFFFF"/>
                </a:solidFill>
                <a:latin typeface="Aptos"/>
                <a:ea typeface="Aptos"/>
                <a:cs typeface="Aptos"/>
              </a:rPr>
              <a:t>• rerun the limiter suite</a:t>
            </a:r>
          </a:p>
          <a:p xmlns:a="http://schemas.openxmlformats.org/drawingml/2006/main">
            <a:pPr algn="l">
              <a:defRPr sz="1148" b="1">
                <a:solidFill>
                  <a:srgbClr val="FFFFFF"/>
                </a:solidFill>
                <a:latin typeface="Aptos"/>
                <a:ea typeface="Aptos"/>
                <a:cs typeface="Aptos"/>
              </a:defRPr>
            </a:pPr>
            <a:r>
              <a:rPr sz="1148" b="1">
                <a:solidFill>
                  <a:srgbClr val="FFFFFF"/>
                </a:solidFill>
                <a:latin typeface="Aptos"/>
                <a:ea typeface="Aptos"/>
                <a:cs typeface="Aptos"/>
              </a:rPr>
              <a:t>• regenerate every report or SDI artifact</a:t>
            </a:r>
          </a:p>
          <a:p xmlns:a="http://schemas.openxmlformats.org/drawingml/2006/main">
            <a:pPr algn="l">
              <a:defRPr sz="1148" b="1">
                <a:solidFill>
                  <a:srgbClr val="FFFFFF"/>
                </a:solidFill>
                <a:latin typeface="Aptos"/>
                <a:ea typeface="Aptos"/>
                <a:cs typeface="Aptos"/>
              </a:defRPr>
            </a:pPr>
            <a:r>
              <a:rPr sz="1148" b="1">
                <a:solidFill>
                  <a:srgbClr val="FFFFFF"/>
                </a:solidFill>
                <a:latin typeface="Aptos"/>
                <a:ea typeface="Aptos"/>
                <a:cs typeface="Aptos"/>
              </a:rPr>
              <a:t>• establish freshness with hashes/timestamps</a:t>
            </a:r>
          </a:p>
        </p:txBody>
      </p:sp>
      <p:sp>
        <p:nvSpPr>
          <p:cNvPr id="42" name="s44-rule">
            <a:extLst xmlns:a="http://schemas.openxmlformats.org/drawingml/2006/main">
              <a:ext uri="{FF2B5EF4-FFF2-40B4-BE49-F238E27FC236}">
                <a16:creationId xmlns:a16="http://schemas.microsoft.com/office/drawing/2014/main" id="{40E8C039-2724-4E52-A19B-8AE1103AE7BC}"/>
              </a:ext>
            </a:extLst>
          </p:cNvPr>
          <p:cNvSpPr>
            <a:spLocks xmlns:a="http://schemas.openxmlformats.org/drawingml/2006/main" noGrp="1"/>
          </p:cNvSpPr>
          <p:nvPr/>
        </p:nvSpPr>
        <p:spPr>
          <a:xfrm xmlns:a="http://schemas.openxmlformats.org/drawingml/2006/main">
            <a:off x="685800" y="541020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KEEP THE COUNTS SEPARATE  •  run producers first, then validate the evidence created for the controlled baseline</a:t>
            </a:r>
          </a:p>
        </p:txBody>
      </p:sp>
    </p:spTree>
    <p:extLst>
      <p:ext uri="{BB962C8B-B14F-4D97-AF65-F5344CB8AC3E}">
        <p14:creationId xmlns:p14="http://schemas.microsoft.com/office/powerpoint/2010/main" val="807636582"/>
      </p:ext>
    </p:extLst>
  </p:cSld>
</p:sld>
</file>

<file path=ppt/slides/slide4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BOUNDARIES &amp; SIGN-OFF</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Demonstrated evidence remains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45</a:t>
            </a:r>
          </a:p>
        </p:txBody>
      </p:sp>
      <p:sp>
        <p:nvSpPr>
          <p:cNvPr id="31" name="s53-does">
            <a:extLst xmlns:a="http://schemas.openxmlformats.org/drawingml/2006/main">
              <a:ext uri="{FF2B5EF4-FFF2-40B4-BE49-F238E27FC236}">
                <a16:creationId xmlns:a16="http://schemas.microsoft.com/office/drawing/2014/main" id="{FBC1108E-5877-43F2-9674-7712EA5D60D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53-does-not">
            <a:extLst xmlns:a="http://schemas.openxmlformats.org/drawingml/2006/main">
              <a:ext uri="{FF2B5EF4-FFF2-40B4-BE49-F238E27FC236}">
                <a16:creationId xmlns:a16="http://schemas.microsoft.com/office/drawing/2014/main" id="{033E0F20-006A-4DA3-B673-B66898E6BBA8}"/>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53-does-title">
            <a:extLst xmlns:a="http://schemas.openxmlformats.org/drawingml/2006/main">
              <a:ext uri="{FF2B5EF4-FFF2-40B4-BE49-F238E27FC236}">
                <a16:creationId xmlns:a16="http://schemas.microsoft.com/office/drawing/2014/main" id="{93D5F9B7-C5A5-49AB-B367-CEF871AE983C}"/>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88" b="1">
                <a:solidFill>
                  <a:srgbClr val="2CA56F"/>
                </a:solidFill>
                <a:latin typeface="Aptos"/>
                <a:ea typeface="Aptos"/>
                <a:cs typeface="Aptos"/>
              </a:defRPr>
            </a:pPr>
            <a:r>
              <a:rPr sz="1388" b="1">
                <a:solidFill>
                  <a:srgbClr val="2CA56F"/>
                </a:solidFill>
                <a:latin typeface="Aptos"/>
                <a:ea typeface="Aptos"/>
                <a:cs typeface="Aptos"/>
              </a:rPr>
              <a:t>THIS PACKAGE DEMONSTRATES</a:t>
            </a:r>
          </a:p>
        </p:txBody>
      </p:sp>
      <p:sp>
        <p:nvSpPr>
          <p:cNvPr id="34" name="s53-does-body">
            <a:extLst xmlns:a="http://schemas.openxmlformats.org/drawingml/2006/main">
              <a:ext uri="{FF2B5EF4-FFF2-40B4-BE49-F238E27FC236}">
                <a16:creationId xmlns:a16="http://schemas.microsoft.com/office/drawing/2014/main" id="{A125A834-D85E-4A94-8C8B-97CEB6B3AF6A}"/>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current saved models update / compile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standalone desktop MIL behavior</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model-reference integration structure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scripted limiter harness assessment</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CSV + script + path + result associations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one saved SDI run, view, and session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retained CSV, MAT, HTML, PNG, and exports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controlled GRT build: 5/5 models built</a:t>
            </a:r>
          </a:p>
        </p:txBody>
      </p:sp>
      <p:sp>
        <p:nvSpPr>
          <p:cNvPr id="35" name="s53-does-not-title">
            <a:extLst xmlns:a="http://schemas.openxmlformats.org/drawingml/2006/main">
              <a:ext uri="{FF2B5EF4-FFF2-40B4-BE49-F238E27FC236}">
                <a16:creationId xmlns:a16="http://schemas.microsoft.com/office/drawing/2014/main" id="{8CC9F433-7C6F-4673-8EEB-291BAAD0CB87}"/>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88" b="1">
                <a:solidFill>
                  <a:srgbClr val="D75A64"/>
                </a:solidFill>
                <a:latin typeface="Aptos"/>
                <a:ea typeface="Aptos"/>
                <a:cs typeface="Aptos"/>
              </a:defRPr>
            </a:pPr>
            <a:r>
              <a:rPr sz="1388" b="1">
                <a:solidFill>
                  <a:srgbClr val="D75A64"/>
                </a:solidFill>
                <a:latin typeface="Aptos"/>
                <a:ea typeface="Aptos"/>
                <a:cs typeface="Aptos"/>
              </a:rPr>
              <a:t>THIS PACKAGE DOES NOT CLAIM</a:t>
            </a:r>
          </a:p>
        </p:txBody>
      </p:sp>
      <p:sp>
        <p:nvSpPr>
          <p:cNvPr id="36" name="s53-does-not-body">
            <a:extLst xmlns:a="http://schemas.openxmlformats.org/drawingml/2006/main">
              <a:ext uri="{FF2B5EF4-FFF2-40B4-BE49-F238E27FC236}">
                <a16:creationId xmlns:a16="http://schemas.microsoft.com/office/drawing/2014/main" id="{DEECDF66-F9F9-47B3-B610-0379E940EB03}"/>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production aircraft data or approved baseline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live Simulink Requirements links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Simulink Test / Test Manager suite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production / embedded-airborne code approval</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generated-code verification or executable verification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SIL, PIL, HIL, bench, or system integration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certification approval</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automatic compliance from a model or pipeline</a:t>
            </a:r>
          </a:p>
        </p:txBody>
      </p:sp>
      <p:sp>
        <p:nvSpPr>
          <p:cNvPr id="37" name="s53-footer">
            <a:extLst xmlns:a="http://schemas.openxmlformats.org/drawingml/2006/main">
              <a:ext uri="{FF2B5EF4-FFF2-40B4-BE49-F238E27FC236}">
                <a16:creationId xmlns:a16="http://schemas.microsoft.com/office/drawing/2014/main" id="{502FCB79-5AF1-4F7D-8844-160BAF59DFBC}"/>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35" b="1">
                <a:solidFill>
                  <a:srgbClr val="071521"/>
                </a:solidFill>
                <a:latin typeface="Aptos"/>
                <a:ea typeface="Aptos"/>
                <a:cs typeface="Aptos"/>
              </a:defRPr>
            </a:pPr>
            <a:r>
              <a:rPr sz="1035" b="1">
                <a:solidFill>
                  <a:srgbClr val="071521"/>
                </a:solidFill>
                <a:latin typeface="Aptos"/>
                <a:ea typeface="Aptos"/>
                <a:cs typeface="Aptos"/>
              </a:rPr>
              <a:t>Exactly two .mldatx files are retained, and both are Simulation Data Inspector artifacts. The GRT executable was built—not executed.</a:t>
            </a:r>
          </a:p>
        </p:txBody>
      </p:sp>
    </p:spTree>
    <p:extLst>
      <p:ext uri="{BB962C8B-B14F-4D97-AF65-F5344CB8AC3E}">
        <p14:creationId xmlns:p14="http://schemas.microsoft.com/office/powerpoint/2010/main" val="140704512"/>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BOUNDARIES &amp; SIGN-OFF</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Use the project-defined review/sign-off record only when required</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
        <p:nvSpPr>
          <p:cNvPr id="31" name="s47-banner">
            <a:extLst xmlns:a="http://schemas.openxmlformats.org/drawingml/2006/main">
              <a:ext uri="{FF2B5EF4-FFF2-40B4-BE49-F238E27FC236}">
                <a16:creationId xmlns:a16="http://schemas.microsoft.com/office/drawing/2014/main" id="{1F3A32C4-FC3D-4BF7-986C-DD9236AB3E3C}"/>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53" b="1">
                <a:solidFill>
                  <a:srgbClr val="071521"/>
                </a:solidFill>
                <a:latin typeface="Aptos"/>
                <a:ea typeface="Aptos"/>
                <a:cs typeface="Aptos"/>
              </a:defRPr>
            </a:pPr>
            <a:r>
              <a:rPr sz="953" b="1">
                <a:solidFill>
                  <a:srgbClr val="071521"/>
                </a:solidFill>
                <a:latin typeface="Aptos"/>
                <a:ea typeface="Aptos"/>
                <a:cs typeface="Aptos"/>
              </a:rPr>
              <a:t>PROJECT PLACEHOLDER • FORM / PATH: TBD • PROCESS OWNER: TBD • TRIGGER: TBD • NO RCF / SIGNATURE / APPROVAL RECORD SUPPLIED</a:t>
            </a:r>
          </a:p>
        </p:txBody>
      </p:sp>
      <p:sp>
        <p:nvSpPr>
          <p:cNvPr id="32" name="s47-record">
            <a:extLst xmlns:a="http://schemas.openxmlformats.org/drawingml/2006/main">
              <a:ext uri="{FF2B5EF4-FFF2-40B4-BE49-F238E27FC236}">
                <a16:creationId xmlns:a16="http://schemas.microsoft.com/office/drawing/2014/main" id="{F8B7002E-A031-45AB-AF22-87B64AB0DAB8}"/>
              </a:ext>
            </a:extLst>
          </p:cNvPr>
          <p:cNvSpPr>
            <a:spLocks xmlns:a="http://schemas.openxmlformats.org/drawingml/2006/main" noGrp="1"/>
          </p:cNvSpPr>
          <p:nvPr/>
        </p:nvSpPr>
        <p:spPr>
          <a:xfrm xmlns:a="http://schemas.openxmlformats.org/drawingml/2006/main">
            <a:off x="685800" y="1981200"/>
            <a:ext cx="5219700" cy="3200400"/>
          </a:xfrm>
          <a:prstGeom xmlns:a="http://schemas.openxmlformats.org/drawingml/2006/main" prst="roundRect">
            <a:avLst>
              <a:gd name="adj" fmla="val 3571"/>
            </a:avLst>
          </a:prstGeom>
          <a:solidFill xmlns:a="http://schemas.openxmlformats.org/drawingml/2006/main">
            <a:srgbClr val="E2F4EA"/>
          </a:solidFill>
          <a:ln xmlns:a="http://schemas.openxmlformats.org/drawingml/2006/main" w="17145">
            <a:solidFill>
              <a:srgbClr val="2CA56F"/>
            </a:solidFill>
            <a:prstDash val="solid"/>
          </a:ln>
        </p:spPr>
      </p:sp>
      <p:sp>
        <p:nvSpPr>
          <p:cNvPr id="33" name="s47-record-title">
            <a:extLst xmlns:a="http://schemas.openxmlformats.org/drawingml/2006/main">
              <a:ext uri="{FF2B5EF4-FFF2-40B4-BE49-F238E27FC236}">
                <a16:creationId xmlns:a16="http://schemas.microsoft.com/office/drawing/2014/main" id="{AAD941E4-3EE2-40B3-A789-395691445F57}"/>
              </a:ext>
            </a:extLst>
          </p:cNvPr>
          <p:cNvSpPr>
            <a:spLocks xmlns:a="http://schemas.openxmlformats.org/drawingml/2006/main" noGrp="1"/>
          </p:cNvSpPr>
          <p:nvPr/>
        </p:nvSpPr>
        <p:spPr>
          <a:xfrm xmlns:a="http://schemas.openxmlformats.org/drawingml/2006/main">
            <a:off x="8953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CA56F"/>
                </a:solidFill>
                <a:latin typeface="Aptos"/>
                <a:ea typeface="Aptos"/>
                <a:cs typeface="Aptos"/>
              </a:defRPr>
            </a:pPr>
            <a:r>
              <a:rPr sz="1425" b="1">
                <a:solidFill>
                  <a:srgbClr val="2CA56F"/>
                </a:solidFill>
                <a:latin typeface="Aptos"/>
                <a:ea typeface="Aptos"/>
                <a:cs typeface="Aptos"/>
              </a:rPr>
              <a:t>VERIFICATION RECORD</a:t>
            </a:r>
          </a:p>
        </p:txBody>
      </p:sp>
      <p:sp>
        <p:nvSpPr>
          <p:cNvPr id="34" name="s47-record-body">
            <a:extLst xmlns:a="http://schemas.openxmlformats.org/drawingml/2006/main">
              <a:ext uri="{FF2B5EF4-FFF2-40B4-BE49-F238E27FC236}">
                <a16:creationId xmlns:a16="http://schemas.microsoft.com/office/drawing/2014/main" id="{4FCC0999-78A3-4280-AB26-E12BD4E9801B}"/>
              </a:ext>
            </a:extLst>
          </p:cNvPr>
          <p:cNvSpPr>
            <a:spLocks xmlns:a="http://schemas.openxmlformats.org/drawingml/2006/main" noGrp="1"/>
          </p:cNvSpPr>
          <p:nvPr/>
        </p:nvSpPr>
        <p:spPr>
          <a:xfrm xmlns:a="http://schemas.openxmlformats.org/drawingml/2006/main">
            <a:off x="9525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 component:  __________________________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Baseline / version / checksum:  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Allocated system requirement IDs:  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Verification method and acceptance criteria:  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Executed evidence IDs and results:  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settings / test / build configuration:  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Findings, anomalies, and dispositions:  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Required review scope completed:  ☐ Yes  ☐ No</a:t>
            </a:r>
          </a:p>
        </p:txBody>
      </p:sp>
      <p:sp>
        <p:nvSpPr>
          <p:cNvPr id="35" name="s47-signoff">
            <a:extLst xmlns:a="http://schemas.openxmlformats.org/drawingml/2006/main">
              <a:ext uri="{FF2B5EF4-FFF2-40B4-BE49-F238E27FC236}">
                <a16:creationId xmlns:a16="http://schemas.microsoft.com/office/drawing/2014/main" id="{84216F52-792F-44FC-B70F-923692A7719B}"/>
              </a:ext>
            </a:extLst>
          </p:cNvPr>
          <p:cNvSpPr>
            <a:spLocks xmlns:a="http://schemas.openxmlformats.org/drawingml/2006/main" noGrp="1"/>
          </p:cNvSpPr>
          <p:nvPr/>
        </p:nvSpPr>
        <p:spPr>
          <a:xfrm xmlns:a="http://schemas.openxmlformats.org/drawingml/2006/main">
            <a:off x="6286500" y="1981200"/>
            <a:ext cx="5219700" cy="3200400"/>
          </a:xfrm>
          <a:prstGeom xmlns:a="http://schemas.openxmlformats.org/drawingml/2006/main" prst="roundRect">
            <a:avLst>
              <a:gd name="adj" fmla="val 3571"/>
            </a:avLst>
          </a:prstGeom>
          <a:solidFill xmlns:a="http://schemas.openxmlformats.org/drawingml/2006/main">
            <a:srgbClr val="E2ECFF"/>
          </a:solidFill>
          <a:ln xmlns:a="http://schemas.openxmlformats.org/drawingml/2006/main" w="17145">
            <a:solidFill>
              <a:srgbClr val="2D6CDF"/>
            </a:solidFill>
            <a:prstDash val="solid"/>
          </a:ln>
        </p:spPr>
      </p:sp>
      <p:sp>
        <p:nvSpPr>
          <p:cNvPr id="36" name="s47-signoff-title">
            <a:extLst xmlns:a="http://schemas.openxmlformats.org/drawingml/2006/main">
              <a:ext uri="{FF2B5EF4-FFF2-40B4-BE49-F238E27FC236}">
                <a16:creationId xmlns:a16="http://schemas.microsoft.com/office/drawing/2014/main" id="{1E088E28-9521-4999-9DB8-1799CF674947}"/>
              </a:ext>
            </a:extLst>
          </p:cNvPr>
          <p:cNvSpPr>
            <a:spLocks xmlns:a="http://schemas.openxmlformats.org/drawingml/2006/main" noGrp="1"/>
          </p:cNvSpPr>
          <p:nvPr/>
        </p:nvSpPr>
        <p:spPr>
          <a:xfrm xmlns:a="http://schemas.openxmlformats.org/drawingml/2006/main">
            <a:off x="64960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88" b="1">
                <a:solidFill>
                  <a:srgbClr val="2D6CDF"/>
                </a:solidFill>
                <a:latin typeface="Aptos"/>
                <a:ea typeface="Aptos"/>
                <a:cs typeface="Aptos"/>
              </a:defRPr>
            </a:pPr>
            <a:r>
              <a:rPr sz="1388" b="1">
                <a:solidFill>
                  <a:srgbClr val="2D6CDF"/>
                </a:solidFill>
                <a:latin typeface="Aptos"/>
                <a:ea typeface="Aptos"/>
                <a:cs typeface="Aptos"/>
              </a:rPr>
              <a:t>REVIEW / SIGN-OFF</a:t>
            </a:r>
          </a:p>
        </p:txBody>
      </p:sp>
      <p:sp>
        <p:nvSpPr>
          <p:cNvPr id="37" name="s47-signoff-body">
            <a:extLst xmlns:a="http://schemas.openxmlformats.org/drawingml/2006/main">
              <a:ext uri="{FF2B5EF4-FFF2-40B4-BE49-F238E27FC236}">
                <a16:creationId xmlns:a16="http://schemas.microsoft.com/office/drawing/2014/main" id="{8B5AE5E0-34EC-433B-A858-99690210C80F}"/>
              </a:ext>
            </a:extLst>
          </p:cNvPr>
          <p:cNvSpPr>
            <a:spLocks xmlns:a="http://schemas.openxmlformats.org/drawingml/2006/main" noGrp="1"/>
          </p:cNvSpPr>
          <p:nvPr/>
        </p:nvSpPr>
        <p:spPr>
          <a:xfrm xmlns:a="http://schemas.openxmlformats.org/drawingml/2006/main">
            <a:off x="65532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owner / author:  ________________________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Reviewer / independent verifier (if required):  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Approver / designated authority:  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Completion status:  ☐ Accepted  ☐ Conditional  ☐ Open</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Conditions / open items:  _______________________</a:t>
            </a:r>
          </a:p>
        </p:txBody>
      </p:sp>
      <p:sp>
        <p:nvSpPr>
          <p:cNvPr id="38" name="s47-exit">
            <a:extLst xmlns:a="http://schemas.openxmlformats.org/drawingml/2006/main">
              <a:ext uri="{FF2B5EF4-FFF2-40B4-BE49-F238E27FC236}">
                <a16:creationId xmlns:a16="http://schemas.microsoft.com/office/drawing/2014/main" id="{F1D3C838-1164-49DB-8101-DD31B2863E39}"/>
              </a:ext>
            </a:extLst>
          </p:cNvPr>
          <p:cNvSpPr>
            <a:spLocks xmlns:a="http://schemas.openxmlformats.org/drawingml/2006/main" noGrp="1"/>
          </p:cNvSpPr>
          <p:nvPr/>
        </p:nvSpPr>
        <p:spPr>
          <a:xfrm xmlns:a="http://schemas.openxmlformats.org/drawingml/2006/main">
            <a:off x="685800" y="5353050"/>
            <a:ext cx="10820400" cy="571500"/>
          </a:xfrm>
          <a:prstGeom xmlns:a="http://schemas.openxmlformats.org/drawingml/2006/main" prst="roundRect">
            <a:avLst>
              <a:gd name="adj" fmla="val 2000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8" b="1">
                <a:solidFill>
                  <a:srgbClr val="FFFFFF"/>
                </a:solidFill>
                <a:latin typeface="Aptos"/>
                <a:ea typeface="Aptos"/>
                <a:cs typeface="Aptos"/>
              </a:defRPr>
            </a:pPr>
            <a:r>
              <a:rPr sz="1148" b="1">
                <a:solidFill>
                  <a:srgbClr val="FFFFFF"/>
                </a:solidFill>
                <a:latin typeface="Aptos"/>
                <a:ea typeface="Aptos"/>
                <a:cs typeface="Aptos"/>
              </a:rPr>
              <a:t>EXIT CONDITION  •  controlled baseline + traceability + executed evidence + resolved findings + review/signature(s) required by approved process</a:t>
            </a:r>
          </a:p>
        </p:txBody>
      </p:sp>
      <p:sp>
        <p:nvSpPr>
          <p:cNvPr id="39" name="s47-caveat">
            <a:extLst xmlns:a="http://schemas.openxmlformats.org/drawingml/2006/main">
              <a:ext uri="{FF2B5EF4-FFF2-40B4-BE49-F238E27FC236}">
                <a16:creationId xmlns:a16="http://schemas.microsoft.com/office/drawing/2014/main" id="{3994222C-1FC8-410A-A179-55D345F4FFBD}"/>
              </a:ext>
            </a:extLst>
          </p:cNvPr>
          <p:cNvSpPr>
            <a:spLocks xmlns:a="http://schemas.openxmlformats.org/drawingml/2006/main" noGrp="1"/>
          </p:cNvSpPr>
          <p:nvPr/>
        </p:nvSpPr>
        <p:spPr>
          <a:xfrm xmlns:a="http://schemas.openxmlformats.org/drawingml/2006/main">
            <a:off x="685800" y="5953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RCF is project-defined: use the approved form and authority; do not invent an acronym expansion or treat this slide as a completed approval record.</a:t>
            </a:r>
          </a:p>
        </p:txBody>
      </p:sp>
    </p:spTree>
    <p:extLst>
      <p:ext uri="{BB962C8B-B14F-4D97-AF65-F5344CB8AC3E}">
        <p14:creationId xmlns:p14="http://schemas.microsoft.com/office/powerpoint/2010/main" val="140704512"/>
      </p:ext>
    </p:extLst>
  </p:cSld>
</p:sld>
</file>

<file path=ppt/slides/slide4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CAPSTONE &amp; HANDOFF</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Capstone: produce and explain a repeatable training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47</a:t>
            </a:r>
          </a:p>
        </p:txBody>
      </p:sp>
      <p:sp>
        <p:nvSpPr>
          <p:cNvPr id="20" name="s47-brief">
            <a:extLst xmlns:a="http://schemas.openxmlformats.org/drawingml/2006/main">
              <a:ext uri="{FF2B5EF4-FFF2-40B4-BE49-F238E27FC236}">
                <a16:creationId xmlns:a16="http://schemas.microsoft.com/office/drawing/2014/main" id="{0871BC8D-A997-4852-BBA2-C85E9B7F9B15}"/>
              </a:ext>
            </a:extLst>
          </p:cNvPr>
          <p:cNvSpPr>
            <a:spLocks xmlns:a="http://schemas.openxmlformats.org/drawingml/2006/main" noGrp="1"/>
          </p:cNvSpPr>
          <p:nvPr/>
        </p:nvSpPr>
        <p:spPr>
          <a:xfrm xmlns:a="http://schemas.openxmlformats.org/drawingml/2006/main">
            <a:off x="685800" y="1428750"/>
            <a:ext cx="10820400" cy="533400"/>
          </a:xfrm>
          <a:prstGeom xmlns:a="http://schemas.openxmlformats.org/drawingml/2006/main" prst="roundRect">
            <a:avLst>
              <a:gd name="adj" fmla="val 21429"/>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90" b="1">
                <a:solidFill>
                  <a:srgbClr val="FFFFFF"/>
                </a:solidFill>
                <a:latin typeface="Aptos"/>
                <a:ea typeface="Aptos"/>
                <a:cs typeface="Aptos"/>
              </a:defRPr>
            </a:pPr>
            <a:r>
              <a:rPr sz="1290" b="1">
                <a:solidFill>
                  <a:srgbClr val="FFFFFF"/>
                </a:solidFill>
                <a:latin typeface="Aptos"/>
                <a:ea typeface="Aptos"/>
                <a:cs typeface="Aptos"/>
              </a:rPr>
              <a:t>CAPSTONE  •  create the uniquely named learner component + matching harness, execute learner-local evidence, and explain every boundary</a:t>
            </a:r>
          </a:p>
        </p:txBody>
      </p:sp>
      <p:sp>
        <p:nvSpPr>
          <p:cNvPr id="21" name="s47-task-0">
            <a:extLst xmlns:a="http://schemas.openxmlformats.org/drawingml/2006/main">
              <a:ext uri="{FF2B5EF4-FFF2-40B4-BE49-F238E27FC236}">
                <a16:creationId xmlns:a16="http://schemas.microsoft.com/office/drawing/2014/main" id="{5E42A3CD-331D-438F-AF31-5F041DFE2238}"/>
              </a:ext>
            </a:extLst>
          </p:cNvPr>
          <p:cNvSpPr>
            <a:spLocks xmlns:a="http://schemas.openxmlformats.org/drawingml/2006/main" noGrp="1"/>
          </p:cNvSpPr>
          <p:nvPr/>
        </p:nvSpPr>
        <p:spPr>
          <a:xfrm xmlns:a="http://schemas.openxmlformats.org/drawingml/2006/main">
            <a:off x="685800" y="2266950"/>
            <a:ext cx="2514600" cy="1200150"/>
          </a:xfrm>
          <a:prstGeom xmlns:a="http://schemas.openxmlformats.org/drawingml/2006/main" prst="roundRect">
            <a:avLst>
              <a:gd name="adj" fmla="val 9524"/>
            </a:avLst>
          </a:prstGeom>
          <a:solidFill xmlns:a="http://schemas.openxmlformats.org/drawingml/2006/main">
            <a:srgbClr val="091A29"/>
          </a:solidFill>
          <a:ln xmlns:a="http://schemas.openxmlformats.org/drawingml/2006/main" w="11430">
            <a:solidFill>
              <a:srgbClr val="20B7C5"/>
            </a:solidFill>
            <a:prstDash val="solid"/>
          </a:ln>
        </p:spPr>
      </p:sp>
      <p:sp>
        <p:nvSpPr>
          <p:cNvPr id="22" name="s47-num-0">
            <a:extLst xmlns:a="http://schemas.openxmlformats.org/drawingml/2006/main">
              <a:ext uri="{FF2B5EF4-FFF2-40B4-BE49-F238E27FC236}">
                <a16:creationId xmlns:a16="http://schemas.microsoft.com/office/drawing/2014/main" id="{8BC44D94-2C2C-4BD6-8A9E-71E929C5790A}"/>
              </a:ext>
            </a:extLst>
          </p:cNvPr>
          <p:cNvSpPr>
            <a:spLocks xmlns:a="http://schemas.openxmlformats.org/drawingml/2006/main" noGrp="1"/>
          </p:cNvSpPr>
          <p:nvPr/>
        </p:nvSpPr>
        <p:spPr>
          <a:xfrm xmlns:a="http://schemas.openxmlformats.org/drawingml/2006/main">
            <a:off x="819150" y="2400300"/>
            <a:ext cx="3810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1</a:t>
            </a:r>
          </a:p>
        </p:txBody>
      </p:sp>
      <p:sp>
        <p:nvSpPr>
          <p:cNvPr id="23" name="s47-title-0">
            <a:extLst xmlns:a="http://schemas.openxmlformats.org/drawingml/2006/main">
              <a:ext uri="{FF2B5EF4-FFF2-40B4-BE49-F238E27FC236}">
                <a16:creationId xmlns:a16="http://schemas.microsoft.com/office/drawing/2014/main" id="{4C1BDD95-5F7A-4FA4-9B4D-4D0767DBE21B}"/>
              </a:ext>
            </a:extLst>
          </p:cNvPr>
          <p:cNvSpPr>
            <a:spLocks xmlns:a="http://schemas.openxmlformats.org/drawingml/2006/main" noGrp="1"/>
          </p:cNvSpPr>
          <p:nvPr/>
        </p:nvSpPr>
        <p:spPr>
          <a:xfrm xmlns:a="http://schemas.openxmlformats.org/drawingml/2006/main">
            <a:off x="1314450" y="2381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PREPARE</a:t>
            </a:r>
          </a:p>
        </p:txBody>
      </p:sp>
      <p:sp>
        <p:nvSpPr>
          <p:cNvPr id="24" name="s47-body-0">
            <a:extLst xmlns:a="http://schemas.openxmlformats.org/drawingml/2006/main">
              <a:ext uri="{FF2B5EF4-FFF2-40B4-BE49-F238E27FC236}">
                <a16:creationId xmlns:a16="http://schemas.microsoft.com/office/drawing/2014/main" id="{E61C34DE-30B4-4220-965D-1A512C62319C}"/>
              </a:ext>
            </a:extLst>
          </p:cNvPr>
          <p:cNvSpPr>
            <a:spLocks xmlns:a="http://schemas.openxmlformats.org/drawingml/2006/main" noGrp="1"/>
          </p:cNvSpPr>
          <p:nvPr/>
        </p:nvSpPr>
        <p:spPr>
          <a:xfrm xmlns:a="http://schemas.openxmlformats.org/drawingml/2006/main">
            <a:off x="857250" y="2790825"/>
            <a:ext cx="217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0">
                <a:solidFill>
                  <a:srgbClr val="7D91A0"/>
                </a:solidFill>
                <a:latin typeface="Aptos"/>
                <a:ea typeface="Aptos"/>
                <a:cs typeface="Aptos"/>
              </a:defRPr>
            </a:pPr>
            <a:r>
              <a:rPr sz="1005" b="0">
                <a:solidFill>
                  <a:srgbClr val="7D91A0"/>
                </a:solidFill>
                <a:latin typeface="Aptos"/>
                <a:ea typeface="Aptos"/>
                <a:cs typeface="Aptos"/>
              </a:rPr>
              <a:t>root • Notes + README • unique tag</a:t>
            </a:r>
          </a:p>
        </p:txBody>
      </p:sp>
      <p:sp>
        <p:nvSpPr>
          <p:cNvPr id="25" name="s47-task-1">
            <a:extLst xmlns:a="http://schemas.openxmlformats.org/drawingml/2006/main">
              <a:ext uri="{FF2B5EF4-FFF2-40B4-BE49-F238E27FC236}">
                <a16:creationId xmlns:a16="http://schemas.microsoft.com/office/drawing/2014/main" id="{FA97B0EB-9106-49D3-84AE-99485C052E2F}"/>
              </a:ext>
            </a:extLst>
          </p:cNvPr>
          <p:cNvSpPr>
            <a:spLocks xmlns:a="http://schemas.openxmlformats.org/drawingml/2006/main" noGrp="1"/>
          </p:cNvSpPr>
          <p:nvPr/>
        </p:nvSpPr>
        <p:spPr>
          <a:xfrm xmlns:a="http://schemas.openxmlformats.org/drawingml/2006/main">
            <a:off x="3429000" y="2266950"/>
            <a:ext cx="2514600" cy="1200150"/>
          </a:xfrm>
          <a:prstGeom xmlns:a="http://schemas.openxmlformats.org/drawingml/2006/main" prst="roundRect">
            <a:avLst>
              <a:gd name="adj" fmla="val 9524"/>
            </a:avLst>
          </a:prstGeom>
          <a:solidFill xmlns:a="http://schemas.openxmlformats.org/drawingml/2006/main">
            <a:srgbClr val="091A29"/>
          </a:solidFill>
          <a:ln xmlns:a="http://schemas.openxmlformats.org/drawingml/2006/main" w="11430">
            <a:solidFill>
              <a:srgbClr val="20B7C5"/>
            </a:solidFill>
            <a:prstDash val="solid"/>
          </a:ln>
        </p:spPr>
      </p:sp>
      <p:sp>
        <p:nvSpPr>
          <p:cNvPr id="26" name="s47-num-1">
            <a:extLst xmlns:a="http://schemas.openxmlformats.org/drawingml/2006/main">
              <a:ext uri="{FF2B5EF4-FFF2-40B4-BE49-F238E27FC236}">
                <a16:creationId xmlns:a16="http://schemas.microsoft.com/office/drawing/2014/main" id="{F0CD1B67-227D-4926-8114-4052B0293A9C}"/>
              </a:ext>
            </a:extLst>
          </p:cNvPr>
          <p:cNvSpPr>
            <a:spLocks xmlns:a="http://schemas.openxmlformats.org/drawingml/2006/main" noGrp="1"/>
          </p:cNvSpPr>
          <p:nvPr/>
        </p:nvSpPr>
        <p:spPr>
          <a:xfrm xmlns:a="http://schemas.openxmlformats.org/drawingml/2006/main">
            <a:off x="3562350" y="2400300"/>
            <a:ext cx="3810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2</a:t>
            </a:r>
          </a:p>
        </p:txBody>
      </p:sp>
      <p:sp>
        <p:nvSpPr>
          <p:cNvPr id="27" name="s47-title-1">
            <a:extLst xmlns:a="http://schemas.openxmlformats.org/drawingml/2006/main">
              <a:ext uri="{FF2B5EF4-FFF2-40B4-BE49-F238E27FC236}">
                <a16:creationId xmlns:a16="http://schemas.microsoft.com/office/drawing/2014/main" id="{0FAAD41B-0FC1-4467-851E-D0904C6EAE8C}"/>
              </a:ext>
            </a:extLst>
          </p:cNvPr>
          <p:cNvSpPr>
            <a:spLocks xmlns:a="http://schemas.openxmlformats.org/drawingml/2006/main" noGrp="1"/>
          </p:cNvSpPr>
          <p:nvPr/>
        </p:nvSpPr>
        <p:spPr>
          <a:xfrm xmlns:a="http://schemas.openxmlformats.org/drawingml/2006/main">
            <a:off x="4057650" y="2381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CREATE</a:t>
            </a:r>
          </a:p>
        </p:txBody>
      </p:sp>
      <p:sp>
        <p:nvSpPr>
          <p:cNvPr id="28" name="s47-body-1">
            <a:extLst xmlns:a="http://schemas.openxmlformats.org/drawingml/2006/main">
              <a:ext uri="{FF2B5EF4-FFF2-40B4-BE49-F238E27FC236}">
                <a16:creationId xmlns:a16="http://schemas.microsoft.com/office/drawing/2014/main" id="{F41C9452-EE3C-4988-AE24-745EB635F020}"/>
              </a:ext>
            </a:extLst>
          </p:cNvPr>
          <p:cNvSpPr>
            <a:spLocks xmlns:a="http://schemas.openxmlformats.org/drawingml/2006/main" noGrp="1"/>
          </p:cNvSpPr>
          <p:nvPr/>
        </p:nvSpPr>
        <p:spPr>
          <a:xfrm xmlns:a="http://schemas.openxmlformats.org/drawingml/2006/main">
            <a:off x="3600450" y="2790825"/>
            <a:ext cx="217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0">
                <a:solidFill>
                  <a:srgbClr val="7D91A0"/>
                </a:solidFill>
                <a:latin typeface="Aptos"/>
                <a:ea typeface="Aptos"/>
                <a:cs typeface="Aptos"/>
              </a:defRPr>
            </a:pPr>
            <a:r>
              <a:rPr sz="1005" b="0">
                <a:solidFill>
                  <a:srgbClr val="7D91A0"/>
                </a:solidFill>
                <a:latin typeface="Aptos"/>
                <a:ea typeface="Aptos"/>
                <a:cs typeface="Aptos"/>
              </a:rPr>
              <a:t>safe helper • inspect exact block table</a:t>
            </a:r>
          </a:p>
        </p:txBody>
      </p:sp>
      <p:sp>
        <p:nvSpPr>
          <p:cNvPr id="29" name="s47-task-2">
            <a:extLst xmlns:a="http://schemas.openxmlformats.org/drawingml/2006/main">
              <a:ext uri="{FF2B5EF4-FFF2-40B4-BE49-F238E27FC236}">
                <a16:creationId xmlns:a16="http://schemas.microsoft.com/office/drawing/2014/main" id="{B6FE1ECB-D2A7-4C06-9574-F57DBE16A41A}"/>
              </a:ext>
            </a:extLst>
          </p:cNvPr>
          <p:cNvSpPr>
            <a:spLocks xmlns:a="http://schemas.openxmlformats.org/drawingml/2006/main" noGrp="1"/>
          </p:cNvSpPr>
          <p:nvPr/>
        </p:nvSpPr>
        <p:spPr>
          <a:xfrm xmlns:a="http://schemas.openxmlformats.org/drawingml/2006/main">
            <a:off x="6172200" y="2266950"/>
            <a:ext cx="2514600" cy="1200150"/>
          </a:xfrm>
          <a:prstGeom xmlns:a="http://schemas.openxmlformats.org/drawingml/2006/main" prst="roundRect">
            <a:avLst>
              <a:gd name="adj" fmla="val 9524"/>
            </a:avLst>
          </a:prstGeom>
          <a:solidFill xmlns:a="http://schemas.openxmlformats.org/drawingml/2006/main">
            <a:srgbClr val="091A29"/>
          </a:solidFill>
          <a:ln xmlns:a="http://schemas.openxmlformats.org/drawingml/2006/main" w="11430">
            <a:solidFill>
              <a:srgbClr val="20B7C5"/>
            </a:solidFill>
            <a:prstDash val="solid"/>
          </a:ln>
        </p:spPr>
      </p:sp>
      <p:sp>
        <p:nvSpPr>
          <p:cNvPr id="30" name="s47-num-2">
            <a:extLst xmlns:a="http://schemas.openxmlformats.org/drawingml/2006/main">
              <a:ext uri="{FF2B5EF4-FFF2-40B4-BE49-F238E27FC236}">
                <a16:creationId xmlns:a16="http://schemas.microsoft.com/office/drawing/2014/main" id="{2BF4781D-D78A-4BC9-AEC5-14E18DC504BA}"/>
              </a:ext>
            </a:extLst>
          </p:cNvPr>
          <p:cNvSpPr>
            <a:spLocks xmlns:a="http://schemas.openxmlformats.org/drawingml/2006/main" noGrp="1"/>
          </p:cNvSpPr>
          <p:nvPr/>
        </p:nvSpPr>
        <p:spPr>
          <a:xfrm xmlns:a="http://schemas.openxmlformats.org/drawingml/2006/main">
            <a:off x="6305550" y="2400300"/>
            <a:ext cx="3810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3</a:t>
            </a:r>
          </a:p>
        </p:txBody>
      </p:sp>
      <p:sp>
        <p:nvSpPr>
          <p:cNvPr id="31" name="s47-title-2">
            <a:extLst xmlns:a="http://schemas.openxmlformats.org/drawingml/2006/main">
              <a:ext uri="{FF2B5EF4-FFF2-40B4-BE49-F238E27FC236}">
                <a16:creationId xmlns:a16="http://schemas.microsoft.com/office/drawing/2014/main" id="{B0EB6C0A-3687-4AB9-9420-9C7822EB0CF1}"/>
              </a:ext>
            </a:extLst>
          </p:cNvPr>
          <p:cNvSpPr>
            <a:spLocks xmlns:a="http://schemas.openxmlformats.org/drawingml/2006/main" noGrp="1"/>
          </p:cNvSpPr>
          <p:nvPr/>
        </p:nvSpPr>
        <p:spPr>
          <a:xfrm xmlns:a="http://schemas.openxmlformats.org/drawingml/2006/main">
            <a:off x="6800850" y="2381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INSTRUMENT</a:t>
            </a:r>
          </a:p>
        </p:txBody>
      </p:sp>
      <p:sp>
        <p:nvSpPr>
          <p:cNvPr id="32" name="s47-body-2">
            <a:extLst xmlns:a="http://schemas.openxmlformats.org/drawingml/2006/main">
              <a:ext uri="{FF2B5EF4-FFF2-40B4-BE49-F238E27FC236}">
                <a16:creationId xmlns:a16="http://schemas.microsoft.com/office/drawing/2014/main" id="{C68863EC-F0B9-48B1-A9EA-A8FEF2319DBB}"/>
              </a:ext>
            </a:extLst>
          </p:cNvPr>
          <p:cNvSpPr>
            <a:spLocks xmlns:a="http://schemas.openxmlformats.org/drawingml/2006/main" noGrp="1"/>
          </p:cNvSpPr>
          <p:nvPr/>
        </p:nvSpPr>
        <p:spPr>
          <a:xfrm xmlns:a="http://schemas.openxmlformats.org/drawingml/2006/main">
            <a:off x="6343650" y="2790825"/>
            <a:ext cx="217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0">
                <a:solidFill>
                  <a:srgbClr val="7D91A0"/>
                </a:solidFill>
                <a:latin typeface="Aptos"/>
                <a:ea typeface="Aptos"/>
                <a:cs typeface="Aptos"/>
              </a:defRPr>
            </a:pPr>
            <a:r>
              <a:rPr sz="1005" b="0">
                <a:solidFill>
                  <a:srgbClr val="7D91A0"/>
                </a:solidFill>
                <a:latin typeface="Aptos"/>
                <a:ea typeface="Aptos"/>
                <a:cs typeface="Aptos"/>
              </a:rPr>
              <a:t>logging choice • test-point rationale</a:t>
            </a:r>
          </a:p>
        </p:txBody>
      </p:sp>
      <p:sp>
        <p:nvSpPr>
          <p:cNvPr id="33" name="s47-task-3">
            <a:extLst xmlns:a="http://schemas.openxmlformats.org/drawingml/2006/main">
              <a:ext uri="{FF2B5EF4-FFF2-40B4-BE49-F238E27FC236}">
                <a16:creationId xmlns:a16="http://schemas.microsoft.com/office/drawing/2014/main" id="{3C35AC33-8D2C-491C-9A15-888541ADD6C1}"/>
              </a:ext>
            </a:extLst>
          </p:cNvPr>
          <p:cNvSpPr>
            <a:spLocks xmlns:a="http://schemas.openxmlformats.org/drawingml/2006/main" noGrp="1"/>
          </p:cNvSpPr>
          <p:nvPr/>
        </p:nvSpPr>
        <p:spPr>
          <a:xfrm xmlns:a="http://schemas.openxmlformats.org/drawingml/2006/main">
            <a:off x="8915400" y="2266950"/>
            <a:ext cx="2514600" cy="1200150"/>
          </a:xfrm>
          <a:prstGeom xmlns:a="http://schemas.openxmlformats.org/drawingml/2006/main" prst="roundRect">
            <a:avLst>
              <a:gd name="adj" fmla="val 9524"/>
            </a:avLst>
          </a:prstGeom>
          <a:solidFill xmlns:a="http://schemas.openxmlformats.org/drawingml/2006/main">
            <a:srgbClr val="091A29"/>
          </a:solidFill>
          <a:ln xmlns:a="http://schemas.openxmlformats.org/drawingml/2006/main" w="11430">
            <a:solidFill>
              <a:srgbClr val="20B7C5"/>
            </a:solidFill>
            <a:prstDash val="solid"/>
          </a:ln>
        </p:spPr>
      </p:sp>
      <p:sp>
        <p:nvSpPr>
          <p:cNvPr id="34" name="s47-num-3">
            <a:extLst xmlns:a="http://schemas.openxmlformats.org/drawingml/2006/main">
              <a:ext uri="{FF2B5EF4-FFF2-40B4-BE49-F238E27FC236}">
                <a16:creationId xmlns:a16="http://schemas.microsoft.com/office/drawing/2014/main" id="{EEE88AE6-8270-49CD-9203-D9B988BFFB20}"/>
              </a:ext>
            </a:extLst>
          </p:cNvPr>
          <p:cNvSpPr>
            <a:spLocks xmlns:a="http://schemas.openxmlformats.org/drawingml/2006/main" noGrp="1"/>
          </p:cNvSpPr>
          <p:nvPr/>
        </p:nvSpPr>
        <p:spPr>
          <a:xfrm xmlns:a="http://schemas.openxmlformats.org/drawingml/2006/main">
            <a:off x="9048750" y="2400300"/>
            <a:ext cx="3810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4</a:t>
            </a:r>
          </a:p>
        </p:txBody>
      </p:sp>
      <p:sp>
        <p:nvSpPr>
          <p:cNvPr id="35" name="s47-title-3">
            <a:extLst xmlns:a="http://schemas.openxmlformats.org/drawingml/2006/main">
              <a:ext uri="{FF2B5EF4-FFF2-40B4-BE49-F238E27FC236}">
                <a16:creationId xmlns:a16="http://schemas.microsoft.com/office/drawing/2014/main" id="{238C756F-C8E2-435F-B6A4-469D88FBA034}"/>
              </a:ext>
            </a:extLst>
          </p:cNvPr>
          <p:cNvSpPr>
            <a:spLocks xmlns:a="http://schemas.openxmlformats.org/drawingml/2006/main" noGrp="1"/>
          </p:cNvSpPr>
          <p:nvPr/>
        </p:nvSpPr>
        <p:spPr>
          <a:xfrm xmlns:a="http://schemas.openxmlformats.org/drawingml/2006/main">
            <a:off x="9544050" y="2381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UPDATE</a:t>
            </a:r>
          </a:p>
        </p:txBody>
      </p:sp>
      <p:sp>
        <p:nvSpPr>
          <p:cNvPr id="36" name="s47-body-3">
            <a:extLst xmlns:a="http://schemas.openxmlformats.org/drawingml/2006/main">
              <a:ext uri="{FF2B5EF4-FFF2-40B4-BE49-F238E27FC236}">
                <a16:creationId xmlns:a16="http://schemas.microsoft.com/office/drawing/2014/main" id="{F9E71F00-D4C8-4277-97BA-C5C6A1CFA088}"/>
              </a:ext>
            </a:extLst>
          </p:cNvPr>
          <p:cNvSpPr>
            <a:spLocks xmlns:a="http://schemas.openxmlformats.org/drawingml/2006/main" noGrp="1"/>
          </p:cNvSpPr>
          <p:nvPr/>
        </p:nvSpPr>
        <p:spPr>
          <a:xfrm xmlns:a="http://schemas.openxmlformats.org/drawingml/2006/main">
            <a:off x="9086850" y="2790825"/>
            <a:ext cx="217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0">
                <a:solidFill>
                  <a:srgbClr val="7D91A0"/>
                </a:solidFill>
                <a:latin typeface="Aptos"/>
                <a:ea typeface="Aptos"/>
                <a:cs typeface="Aptos"/>
              </a:defRPr>
            </a:pPr>
            <a:r>
              <a:rPr sz="1005" b="0">
                <a:solidFill>
                  <a:srgbClr val="7D91A0"/>
                </a:solidFill>
                <a:latin typeface="Aptos"/>
                <a:ea typeface="Aptos"/>
                <a:cs typeface="Aptos"/>
              </a:rPr>
              <a:t>Ctrl+D • explain compiled semantics</a:t>
            </a:r>
          </a:p>
        </p:txBody>
      </p:sp>
      <p:sp>
        <p:nvSpPr>
          <p:cNvPr id="37" name="s47-task-4">
            <a:extLst xmlns:a="http://schemas.openxmlformats.org/drawingml/2006/main">
              <a:ext uri="{FF2B5EF4-FFF2-40B4-BE49-F238E27FC236}">
                <a16:creationId xmlns:a16="http://schemas.microsoft.com/office/drawing/2014/main" id="{22499A77-BDD7-4FAA-A01F-D45CFBFEE243}"/>
              </a:ext>
            </a:extLst>
          </p:cNvPr>
          <p:cNvSpPr>
            <a:spLocks xmlns:a="http://schemas.openxmlformats.org/drawingml/2006/main" noGrp="1"/>
          </p:cNvSpPr>
          <p:nvPr/>
        </p:nvSpPr>
        <p:spPr>
          <a:xfrm xmlns:a="http://schemas.openxmlformats.org/drawingml/2006/main">
            <a:off x="685800" y="3695700"/>
            <a:ext cx="2514600" cy="1200150"/>
          </a:xfrm>
          <a:prstGeom xmlns:a="http://schemas.openxmlformats.org/drawingml/2006/main" prst="roundRect">
            <a:avLst>
              <a:gd name="adj" fmla="val 9524"/>
            </a:avLst>
          </a:prstGeom>
          <a:solidFill xmlns:a="http://schemas.openxmlformats.org/drawingml/2006/main">
            <a:srgbClr val="091A29"/>
          </a:solidFill>
          <a:ln xmlns:a="http://schemas.openxmlformats.org/drawingml/2006/main" w="11430">
            <a:solidFill>
              <a:srgbClr val="20B7C5"/>
            </a:solidFill>
            <a:prstDash val="solid"/>
          </a:ln>
        </p:spPr>
      </p:sp>
      <p:sp>
        <p:nvSpPr>
          <p:cNvPr id="38" name="s47-num-4">
            <a:extLst xmlns:a="http://schemas.openxmlformats.org/drawingml/2006/main">
              <a:ext uri="{FF2B5EF4-FFF2-40B4-BE49-F238E27FC236}">
                <a16:creationId xmlns:a16="http://schemas.microsoft.com/office/drawing/2014/main" id="{83F52722-C43A-4C29-8E09-DE1831AD528C}"/>
              </a:ext>
            </a:extLst>
          </p:cNvPr>
          <p:cNvSpPr>
            <a:spLocks xmlns:a="http://schemas.openxmlformats.org/drawingml/2006/main" noGrp="1"/>
          </p:cNvSpPr>
          <p:nvPr/>
        </p:nvSpPr>
        <p:spPr>
          <a:xfrm xmlns:a="http://schemas.openxmlformats.org/drawingml/2006/main">
            <a:off x="819150" y="3829050"/>
            <a:ext cx="3810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5</a:t>
            </a:r>
          </a:p>
        </p:txBody>
      </p:sp>
      <p:sp>
        <p:nvSpPr>
          <p:cNvPr id="39" name="s47-title-4">
            <a:extLst xmlns:a="http://schemas.openxmlformats.org/drawingml/2006/main">
              <a:ext uri="{FF2B5EF4-FFF2-40B4-BE49-F238E27FC236}">
                <a16:creationId xmlns:a16="http://schemas.microsoft.com/office/drawing/2014/main" id="{5724B441-5E64-4B44-8D68-20D19F988CDB}"/>
              </a:ext>
            </a:extLst>
          </p:cNvPr>
          <p:cNvSpPr>
            <a:spLocks xmlns:a="http://schemas.openxmlformats.org/drawingml/2006/main" noGrp="1"/>
          </p:cNvSpPr>
          <p:nvPr/>
        </p:nvSpPr>
        <p:spPr>
          <a:xfrm xmlns:a="http://schemas.openxmlformats.org/drawingml/2006/main">
            <a:off x="1314450" y="38100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EXECUTE</a:t>
            </a:r>
          </a:p>
        </p:txBody>
      </p:sp>
      <p:sp>
        <p:nvSpPr>
          <p:cNvPr id="40" name="s47-body-4">
            <a:extLst xmlns:a="http://schemas.openxmlformats.org/drawingml/2006/main">
              <a:ext uri="{FF2B5EF4-FFF2-40B4-BE49-F238E27FC236}">
                <a16:creationId xmlns:a16="http://schemas.microsoft.com/office/drawing/2014/main" id="{16C6F27D-1B72-48D4-B5D6-C618739C46A9}"/>
              </a:ext>
            </a:extLst>
          </p:cNvPr>
          <p:cNvSpPr>
            <a:spLocks xmlns:a="http://schemas.openxmlformats.org/drawingml/2006/main" noGrp="1"/>
          </p:cNvSpPr>
          <p:nvPr/>
        </p:nvSpPr>
        <p:spPr>
          <a:xfrm xmlns:a="http://schemas.openxmlformats.org/drawingml/2006/main">
            <a:off x="857250" y="4219575"/>
            <a:ext cx="217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0">
                <a:solidFill>
                  <a:srgbClr val="7D91A0"/>
                </a:solidFill>
                <a:latin typeface="Aptos"/>
                <a:ea typeface="Aptos"/>
                <a:cs typeface="Aptos"/>
              </a:defRPr>
            </a:pPr>
            <a:r>
              <a:rPr sz="1005" b="0">
                <a:solidFill>
                  <a:srgbClr val="7D91A0"/>
                </a:solidFill>
                <a:latin typeface="Aptos"/>
                <a:ea typeface="Aptos"/>
                <a:cs typeface="Aptos"/>
              </a:rPr>
              <a:t>practice driver • learner-local evidence</a:t>
            </a:r>
          </a:p>
        </p:txBody>
      </p:sp>
      <p:sp>
        <p:nvSpPr>
          <p:cNvPr id="41" name="s47-task-5">
            <a:extLst xmlns:a="http://schemas.openxmlformats.org/drawingml/2006/main">
              <a:ext uri="{FF2B5EF4-FFF2-40B4-BE49-F238E27FC236}">
                <a16:creationId xmlns:a16="http://schemas.microsoft.com/office/drawing/2014/main" id="{BA72F02B-CD1F-4BA6-A647-CA5A932C1D73}"/>
              </a:ext>
            </a:extLst>
          </p:cNvPr>
          <p:cNvSpPr>
            <a:spLocks xmlns:a="http://schemas.openxmlformats.org/drawingml/2006/main" noGrp="1"/>
          </p:cNvSpPr>
          <p:nvPr/>
        </p:nvSpPr>
        <p:spPr>
          <a:xfrm xmlns:a="http://schemas.openxmlformats.org/drawingml/2006/main">
            <a:off x="3429000" y="3695700"/>
            <a:ext cx="2514600" cy="1200150"/>
          </a:xfrm>
          <a:prstGeom xmlns:a="http://schemas.openxmlformats.org/drawingml/2006/main" prst="roundRect">
            <a:avLst>
              <a:gd name="adj" fmla="val 9524"/>
            </a:avLst>
          </a:prstGeom>
          <a:solidFill xmlns:a="http://schemas.openxmlformats.org/drawingml/2006/main">
            <a:srgbClr val="091A29"/>
          </a:solidFill>
          <a:ln xmlns:a="http://schemas.openxmlformats.org/drawingml/2006/main" w="11430">
            <a:solidFill>
              <a:srgbClr val="20B7C5"/>
            </a:solidFill>
            <a:prstDash val="solid"/>
          </a:ln>
        </p:spPr>
      </p:sp>
      <p:sp>
        <p:nvSpPr>
          <p:cNvPr id="42" name="s47-num-5">
            <a:extLst xmlns:a="http://schemas.openxmlformats.org/drawingml/2006/main">
              <a:ext uri="{FF2B5EF4-FFF2-40B4-BE49-F238E27FC236}">
                <a16:creationId xmlns:a16="http://schemas.microsoft.com/office/drawing/2014/main" id="{006273C7-DBA3-4172-8D30-D02432966D20}"/>
              </a:ext>
            </a:extLst>
          </p:cNvPr>
          <p:cNvSpPr>
            <a:spLocks xmlns:a="http://schemas.openxmlformats.org/drawingml/2006/main" noGrp="1"/>
          </p:cNvSpPr>
          <p:nvPr/>
        </p:nvSpPr>
        <p:spPr>
          <a:xfrm xmlns:a="http://schemas.openxmlformats.org/drawingml/2006/main">
            <a:off x="3562350" y="3829050"/>
            <a:ext cx="3810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6</a:t>
            </a:r>
          </a:p>
        </p:txBody>
      </p:sp>
      <p:sp>
        <p:nvSpPr>
          <p:cNvPr id="43" name="s47-title-5">
            <a:extLst xmlns:a="http://schemas.openxmlformats.org/drawingml/2006/main">
              <a:ext uri="{FF2B5EF4-FFF2-40B4-BE49-F238E27FC236}">
                <a16:creationId xmlns:a16="http://schemas.microsoft.com/office/drawing/2014/main" id="{4C41DA7C-566A-46F2-9ABE-C7F4247899EE}"/>
              </a:ext>
            </a:extLst>
          </p:cNvPr>
          <p:cNvSpPr>
            <a:spLocks xmlns:a="http://schemas.openxmlformats.org/drawingml/2006/main" noGrp="1"/>
          </p:cNvSpPr>
          <p:nvPr/>
        </p:nvSpPr>
        <p:spPr>
          <a:xfrm xmlns:a="http://schemas.openxmlformats.org/drawingml/2006/main">
            <a:off x="4057650" y="38100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INTERPRET</a:t>
            </a:r>
          </a:p>
        </p:txBody>
      </p:sp>
      <p:sp>
        <p:nvSpPr>
          <p:cNvPr id="44" name="s47-body-5">
            <a:extLst xmlns:a="http://schemas.openxmlformats.org/drawingml/2006/main">
              <a:ext uri="{FF2B5EF4-FFF2-40B4-BE49-F238E27FC236}">
                <a16:creationId xmlns:a16="http://schemas.microsoft.com/office/drawing/2014/main" id="{B432C0B7-E1C5-4B09-916C-1DAD3E4BF6D5}"/>
              </a:ext>
            </a:extLst>
          </p:cNvPr>
          <p:cNvSpPr>
            <a:spLocks xmlns:a="http://schemas.openxmlformats.org/drawingml/2006/main" noGrp="1"/>
          </p:cNvSpPr>
          <p:nvPr/>
        </p:nvSpPr>
        <p:spPr>
          <a:xfrm xmlns:a="http://schemas.openxmlformats.org/drawingml/2006/main">
            <a:off x="3600450" y="4219575"/>
            <a:ext cx="217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0">
                <a:solidFill>
                  <a:srgbClr val="7D91A0"/>
                </a:solidFill>
                <a:latin typeface="Aptos"/>
                <a:ea typeface="Aptos"/>
                <a:cs typeface="Aptos"/>
              </a:defRPr>
            </a:pPr>
            <a:r>
              <a:rPr sz="1005" b="0">
                <a:solidFill>
                  <a:srgbClr val="7D91A0"/>
                </a:solidFill>
                <a:latin typeface="Aptos"/>
                <a:ea typeface="Aptos"/>
                <a:cs typeface="Aptos"/>
              </a:rPr>
              <a:t>practice report + SDI causal story</a:t>
            </a:r>
          </a:p>
        </p:txBody>
      </p:sp>
      <p:sp>
        <p:nvSpPr>
          <p:cNvPr id="45" name="s47-task-6">
            <a:extLst xmlns:a="http://schemas.openxmlformats.org/drawingml/2006/main">
              <a:ext uri="{FF2B5EF4-FFF2-40B4-BE49-F238E27FC236}">
                <a16:creationId xmlns:a16="http://schemas.microsoft.com/office/drawing/2014/main" id="{D9EDA0BC-ED2B-4253-8853-40315D8F84E1}"/>
              </a:ext>
            </a:extLst>
          </p:cNvPr>
          <p:cNvSpPr>
            <a:spLocks xmlns:a="http://schemas.openxmlformats.org/drawingml/2006/main" noGrp="1"/>
          </p:cNvSpPr>
          <p:nvPr/>
        </p:nvSpPr>
        <p:spPr>
          <a:xfrm xmlns:a="http://schemas.openxmlformats.org/drawingml/2006/main">
            <a:off x="6172200" y="3695700"/>
            <a:ext cx="2514600" cy="1200150"/>
          </a:xfrm>
          <a:prstGeom xmlns:a="http://schemas.openxmlformats.org/drawingml/2006/main" prst="roundRect">
            <a:avLst>
              <a:gd name="adj" fmla="val 9524"/>
            </a:avLst>
          </a:prstGeom>
          <a:solidFill xmlns:a="http://schemas.openxmlformats.org/drawingml/2006/main">
            <a:srgbClr val="091A29"/>
          </a:solidFill>
          <a:ln xmlns:a="http://schemas.openxmlformats.org/drawingml/2006/main" w="11430">
            <a:solidFill>
              <a:srgbClr val="20B7C5"/>
            </a:solidFill>
            <a:prstDash val="solid"/>
          </a:ln>
        </p:spPr>
      </p:sp>
      <p:sp>
        <p:nvSpPr>
          <p:cNvPr id="46" name="s47-num-6">
            <a:extLst xmlns:a="http://schemas.openxmlformats.org/drawingml/2006/main">
              <a:ext uri="{FF2B5EF4-FFF2-40B4-BE49-F238E27FC236}">
                <a16:creationId xmlns:a16="http://schemas.microsoft.com/office/drawing/2014/main" id="{0CED7FEB-E25B-4F11-BA25-EB201A5C2C27}"/>
              </a:ext>
            </a:extLst>
          </p:cNvPr>
          <p:cNvSpPr>
            <a:spLocks xmlns:a="http://schemas.openxmlformats.org/drawingml/2006/main" noGrp="1"/>
          </p:cNvSpPr>
          <p:nvPr/>
        </p:nvSpPr>
        <p:spPr>
          <a:xfrm xmlns:a="http://schemas.openxmlformats.org/drawingml/2006/main">
            <a:off x="6305550" y="3829050"/>
            <a:ext cx="3810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7</a:t>
            </a:r>
          </a:p>
        </p:txBody>
      </p:sp>
      <p:sp>
        <p:nvSpPr>
          <p:cNvPr id="47" name="s47-title-6">
            <a:extLst xmlns:a="http://schemas.openxmlformats.org/drawingml/2006/main">
              <a:ext uri="{FF2B5EF4-FFF2-40B4-BE49-F238E27FC236}">
                <a16:creationId xmlns:a16="http://schemas.microsoft.com/office/drawing/2014/main" id="{C24C131C-E5E2-4D66-83DE-B36F2B76D2EB}"/>
              </a:ext>
            </a:extLst>
          </p:cNvPr>
          <p:cNvSpPr>
            <a:spLocks xmlns:a="http://schemas.openxmlformats.org/drawingml/2006/main" noGrp="1"/>
          </p:cNvSpPr>
          <p:nvPr/>
        </p:nvSpPr>
        <p:spPr>
          <a:xfrm xmlns:a="http://schemas.openxmlformats.org/drawingml/2006/main">
            <a:off x="6800850" y="38100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TRACE</a:t>
            </a:r>
          </a:p>
        </p:txBody>
      </p:sp>
      <p:sp>
        <p:nvSpPr>
          <p:cNvPr id="48" name="s47-body-6">
            <a:extLst xmlns:a="http://schemas.openxmlformats.org/drawingml/2006/main">
              <a:ext uri="{FF2B5EF4-FFF2-40B4-BE49-F238E27FC236}">
                <a16:creationId xmlns:a16="http://schemas.microsoft.com/office/drawing/2014/main" id="{1BE4A988-409E-4587-80BD-05523916A9CB}"/>
              </a:ext>
            </a:extLst>
          </p:cNvPr>
          <p:cNvSpPr>
            <a:spLocks xmlns:a="http://schemas.openxmlformats.org/drawingml/2006/main" noGrp="1"/>
          </p:cNvSpPr>
          <p:nvPr/>
        </p:nvSpPr>
        <p:spPr>
          <a:xfrm xmlns:a="http://schemas.openxmlformats.org/drawingml/2006/main">
            <a:off x="6343650" y="4219575"/>
            <a:ext cx="217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0">
                <a:solidFill>
                  <a:srgbClr val="7D91A0"/>
                </a:solidFill>
                <a:latin typeface="Aptos"/>
                <a:ea typeface="Aptos"/>
                <a:cs typeface="Aptos"/>
              </a:defRPr>
            </a:pPr>
            <a:r>
              <a:rPr sz="1005" b="0">
                <a:solidFill>
                  <a:srgbClr val="7D91A0"/>
                </a:solidFill>
                <a:latin typeface="Aptos"/>
                <a:ea typeface="Aptos"/>
                <a:cs typeface="Aptos"/>
              </a:rPr>
              <a:t>one requirement → model → evidence</a:t>
            </a:r>
          </a:p>
        </p:txBody>
      </p:sp>
      <p:sp>
        <p:nvSpPr>
          <p:cNvPr id="49" name="s47-task-7">
            <a:extLst xmlns:a="http://schemas.openxmlformats.org/drawingml/2006/main">
              <a:ext uri="{FF2B5EF4-FFF2-40B4-BE49-F238E27FC236}">
                <a16:creationId xmlns:a16="http://schemas.microsoft.com/office/drawing/2014/main" id="{2A32F813-46FD-4310-8ACE-614EB3AFCD5D}"/>
              </a:ext>
            </a:extLst>
          </p:cNvPr>
          <p:cNvSpPr>
            <a:spLocks xmlns:a="http://schemas.openxmlformats.org/drawingml/2006/main" noGrp="1"/>
          </p:cNvSpPr>
          <p:nvPr/>
        </p:nvSpPr>
        <p:spPr>
          <a:xfrm xmlns:a="http://schemas.openxmlformats.org/drawingml/2006/main">
            <a:off x="8915400" y="3695700"/>
            <a:ext cx="2514600" cy="1200150"/>
          </a:xfrm>
          <a:prstGeom xmlns:a="http://schemas.openxmlformats.org/drawingml/2006/main" prst="roundRect">
            <a:avLst>
              <a:gd name="adj" fmla="val 9524"/>
            </a:avLst>
          </a:prstGeom>
          <a:solidFill xmlns:a="http://schemas.openxmlformats.org/drawingml/2006/main">
            <a:srgbClr val="091A29"/>
          </a:solidFill>
          <a:ln xmlns:a="http://schemas.openxmlformats.org/drawingml/2006/main" w="11430">
            <a:solidFill>
              <a:srgbClr val="E9A23B"/>
            </a:solidFill>
            <a:prstDash val="solid"/>
          </a:ln>
        </p:spPr>
      </p:sp>
      <p:sp>
        <p:nvSpPr>
          <p:cNvPr id="50" name="s47-num-7">
            <a:extLst xmlns:a="http://schemas.openxmlformats.org/drawingml/2006/main">
              <a:ext uri="{FF2B5EF4-FFF2-40B4-BE49-F238E27FC236}">
                <a16:creationId xmlns:a16="http://schemas.microsoft.com/office/drawing/2014/main" id="{C39D0ED2-E5C1-43FC-851F-A0A469740DFD}"/>
              </a:ext>
            </a:extLst>
          </p:cNvPr>
          <p:cNvSpPr>
            <a:spLocks xmlns:a="http://schemas.openxmlformats.org/drawingml/2006/main" noGrp="1"/>
          </p:cNvSpPr>
          <p:nvPr/>
        </p:nvSpPr>
        <p:spPr>
          <a:xfrm xmlns:a="http://schemas.openxmlformats.org/drawingml/2006/main">
            <a:off x="9048750" y="3829050"/>
            <a:ext cx="381000" cy="285750"/>
          </a:xfrm>
          <a:prstGeom xmlns:a="http://schemas.openxmlformats.org/drawingml/2006/main" prst="roundRect">
            <a:avLst>
              <a:gd name="adj" fmla="val 40000"/>
            </a:avLst>
          </a:prstGeom>
          <a:solidFill xmlns:a="http://schemas.openxmlformats.org/drawingml/2006/main">
            <a:srgbClr val="E9A23B"/>
          </a:solidFill>
          <a:ln xmlns:a="http://schemas.openxmlformats.org/drawingml/2006/main" w="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8</a:t>
            </a:r>
          </a:p>
        </p:txBody>
      </p:sp>
      <p:sp>
        <p:nvSpPr>
          <p:cNvPr id="51" name="s47-title-7">
            <a:extLst xmlns:a="http://schemas.openxmlformats.org/drawingml/2006/main">
              <a:ext uri="{FF2B5EF4-FFF2-40B4-BE49-F238E27FC236}">
                <a16:creationId xmlns:a16="http://schemas.microsoft.com/office/drawing/2014/main" id="{3B64A012-C2A8-49D5-84F5-AB5A6D65D00F}"/>
              </a:ext>
            </a:extLst>
          </p:cNvPr>
          <p:cNvSpPr>
            <a:spLocks xmlns:a="http://schemas.openxmlformats.org/drawingml/2006/main" noGrp="1"/>
          </p:cNvSpPr>
          <p:nvPr/>
        </p:nvSpPr>
        <p:spPr>
          <a:xfrm xmlns:a="http://schemas.openxmlformats.org/drawingml/2006/main">
            <a:off x="9544050" y="38100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BOUND</a:t>
            </a:r>
          </a:p>
        </p:txBody>
      </p:sp>
      <p:sp>
        <p:nvSpPr>
          <p:cNvPr id="52" name="s47-body-7">
            <a:extLst xmlns:a="http://schemas.openxmlformats.org/drawingml/2006/main">
              <a:ext uri="{FF2B5EF4-FFF2-40B4-BE49-F238E27FC236}">
                <a16:creationId xmlns:a16="http://schemas.microsoft.com/office/drawing/2014/main" id="{E41C4EC5-8676-45A6-8ECC-EC6E7E87425D}"/>
              </a:ext>
            </a:extLst>
          </p:cNvPr>
          <p:cNvSpPr>
            <a:spLocks xmlns:a="http://schemas.openxmlformats.org/drawingml/2006/main" noGrp="1"/>
          </p:cNvSpPr>
          <p:nvPr/>
        </p:nvSpPr>
        <p:spPr>
          <a:xfrm xmlns:a="http://schemas.openxmlformats.org/drawingml/2006/main">
            <a:off x="9086850" y="4219575"/>
            <a:ext cx="217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0">
                <a:solidFill>
                  <a:srgbClr val="7D91A0"/>
                </a:solidFill>
                <a:latin typeface="Aptos"/>
                <a:ea typeface="Aptos"/>
                <a:cs typeface="Aptos"/>
              </a:defRPr>
            </a:pPr>
            <a:r>
              <a:rPr sz="1005" b="0">
                <a:solidFill>
                  <a:srgbClr val="7D91A0"/>
                </a:solidFill>
                <a:latin typeface="Aptos"/>
                <a:ea typeface="Aptos"/>
                <a:cs typeface="Aptos"/>
              </a:rPr>
              <a:t>name every future or unsigned gate</a:t>
            </a:r>
          </a:p>
        </p:txBody>
      </p:sp>
      <p:sp>
        <p:nvSpPr>
          <p:cNvPr id="53" name="s47-pass">
            <a:extLst xmlns:a="http://schemas.openxmlformats.org/drawingml/2006/main">
              <a:ext uri="{FF2B5EF4-FFF2-40B4-BE49-F238E27FC236}">
                <a16:creationId xmlns:a16="http://schemas.microsoft.com/office/drawing/2014/main" id="{49BD843B-AF8B-4734-A257-D9414A8DD317}"/>
              </a:ext>
            </a:extLst>
          </p:cNvPr>
          <p:cNvSpPr>
            <a:spLocks xmlns:a="http://schemas.openxmlformats.org/drawingml/2006/main" noGrp="1"/>
          </p:cNvSpPr>
          <p:nvPr/>
        </p:nvSpPr>
        <p:spPr>
          <a:xfrm xmlns:a="http://schemas.openxmlformats.org/drawingml/2006/main">
            <a:off x="685800" y="5429250"/>
            <a:ext cx="10820400" cy="514350"/>
          </a:xfrm>
          <a:prstGeom xmlns:a="http://schemas.openxmlformats.org/drawingml/2006/main" prst="roundRect">
            <a:avLst>
              <a:gd name="adj" fmla="val 22222"/>
            </a:avLst>
          </a:prstGeom>
          <a:solidFill xmlns:a="http://schemas.openxmlformats.org/drawingml/2006/main">
            <a:srgbClr val="0C2133"/>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PASS  •  reviewer repeats learner_workspace/&lt;tag&gt; creation + practice assessment; delivered-baseline and learner evidence remain clearly separate</a:t>
            </a:r>
          </a:p>
        </p:txBody>
      </p:sp>
    </p:spTree>
    <p:extLst>
      <p:ext uri="{BB962C8B-B14F-4D97-AF65-F5344CB8AC3E}">
        <p14:creationId xmlns:p14="http://schemas.microsoft.com/office/powerpoint/2010/main" val="392848478"/>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CAPSTONE &amp; HANDOFF</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550" b="1" i="0">
                <a:solidFill>
                  <a:srgbClr val="FFFFFF"/>
                </a:solidFill>
                <a:latin typeface="Aptos"/>
                <a:ea typeface="Aptos"/>
                <a:cs typeface="Aptos"/>
              </a:defRPr>
            </a:pPr>
            <a:r>
              <a:rPr sz="2550" b="1" i="0">
                <a:solidFill>
                  <a:srgbClr val="FFFFFF"/>
                </a:solidFill>
                <a:latin typeface="Aptos"/>
                <a:ea typeface="Aptos"/>
                <a:cs typeface="Aptos"/>
              </a:rPr>
              <a:t>Your first week ends with reproducible evidence and an explicit handoff</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48</a:t>
            </a:r>
          </a:p>
        </p:txBody>
      </p:sp>
      <p:sp>
        <p:nvSpPr>
          <p:cNvPr id="20" name="s48-left-title">
            <a:extLst xmlns:a="http://schemas.openxmlformats.org/drawingml/2006/main">
              <a:ext uri="{FF2B5EF4-FFF2-40B4-BE49-F238E27FC236}">
                <a16:creationId xmlns:a16="http://schemas.microsoft.com/office/drawing/2014/main" id="{8A1126D3-645E-4D2E-B776-C5D37AEA689B}"/>
              </a:ext>
            </a:extLst>
          </p:cNvPr>
          <p:cNvSpPr>
            <a:spLocks xmlns:a="http://schemas.openxmlformats.org/drawingml/2006/main" noGrp="1"/>
          </p:cNvSpPr>
          <p:nvPr/>
        </p:nvSpPr>
        <p:spPr>
          <a:xfrm xmlns:a="http://schemas.openxmlformats.org/drawingml/2006/main">
            <a:off x="819150" y="1581150"/>
            <a:ext cx="468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350" b="1">
                <a:solidFill>
                  <a:srgbClr val="20B7C5"/>
                </a:solidFill>
                <a:latin typeface="Aptos"/>
                <a:ea typeface="Aptos"/>
                <a:cs typeface="Aptos"/>
              </a:defRPr>
            </a:pPr>
            <a:r>
              <a:rPr sz="1350" b="1">
                <a:solidFill>
                  <a:srgbClr val="20B7C5"/>
                </a:solidFill>
                <a:latin typeface="Aptos"/>
                <a:ea typeface="Aptos"/>
                <a:cs typeface="Aptos"/>
              </a:rPr>
              <a:t>THE REPEATABLE CHAIN</a:t>
            </a:r>
          </a:p>
        </p:txBody>
      </p:sp>
      <p:sp>
        <p:nvSpPr>
          <p:cNvPr id="21" name="s48-left-body">
            <a:extLst xmlns:a="http://schemas.openxmlformats.org/drawingml/2006/main">
              <a:ext uri="{FF2B5EF4-FFF2-40B4-BE49-F238E27FC236}">
                <a16:creationId xmlns:a16="http://schemas.microsoft.com/office/drawing/2014/main" id="{9FA8058D-4EE5-4685-8F84-5948A9DF6C1F}"/>
              </a:ext>
            </a:extLst>
          </p:cNvPr>
          <p:cNvSpPr>
            <a:spLocks xmlns:a="http://schemas.openxmlformats.org/drawingml/2006/main" noGrp="1"/>
          </p:cNvSpPr>
          <p:nvPr/>
        </p:nvSpPr>
        <p:spPr>
          <a:xfrm xmlns:a="http://schemas.openxmlformats.org/drawingml/2006/main">
            <a:off x="781050" y="2057400"/>
            <a:ext cx="485775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ROOT + INITIALIZATION</a:t>
            </a:r>
          </a:p>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controlled data and paths</a:t>
            </a:r>
          </a:p>
          <a:p xmlns:a="http://schemas.openxmlformats.org/drawingml/2006/main">
            <a:r>
              <a:t/>
            </a:r>
          </a:p>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MODEL + SETTINGS</a:t>
            </a:r>
          </a:p>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interface, logic, timing, observability</a:t>
            </a:r>
          </a:p>
          <a:p xmlns:a="http://schemas.openxmlformats.org/drawingml/2006/main">
            <a:r>
              <a:t/>
            </a:r>
          </a:p>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UPDATE + EXECUTE + BUILD</a:t>
            </a:r>
          </a:p>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three different actions and outputs</a:t>
            </a:r>
          </a:p>
          <a:p xmlns:a="http://schemas.openxmlformats.org/drawingml/2006/main">
            <a:r>
              <a:t/>
            </a:r>
          </a:p>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EVIDENCE + TRACE</a:t>
            </a:r>
          </a:p>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plots, row checks, files, and boundaries</a:t>
            </a:r>
          </a:p>
        </p:txBody>
      </p:sp>
      <p:sp>
        <p:nvSpPr>
          <p:cNvPr id="22" name="s48-divider">
            <a:extLst xmlns:a="http://schemas.openxmlformats.org/drawingml/2006/main">
              <a:ext uri="{FF2B5EF4-FFF2-40B4-BE49-F238E27FC236}">
                <a16:creationId xmlns:a16="http://schemas.microsoft.com/office/drawing/2014/main" id="{4D19239F-0E49-4E97-BEDB-AB4B4656DDC5}"/>
              </a:ext>
            </a:extLst>
          </p:cNvPr>
          <p:cNvSpPr>
            <a:spLocks xmlns:a="http://schemas.openxmlformats.org/drawingml/2006/main" noGrp="1"/>
          </p:cNvSpPr>
          <p:nvPr/>
        </p:nvSpPr>
        <p:spPr>
          <a:xfrm xmlns:a="http://schemas.openxmlformats.org/drawingml/2006/main">
            <a:off x="6000750" y="1543050"/>
            <a:ext cx="0" cy="3714750"/>
          </a:xfrm>
          <a:prstGeom xmlns:a="http://schemas.openxmlformats.org/drawingml/2006/main" prst="line">
            <a:avLst/>
          </a:prstGeom>
          <a:noFill xmlns:a="http://schemas.openxmlformats.org/drawingml/2006/main"/>
          <a:ln xmlns:a="http://schemas.openxmlformats.org/drawingml/2006/main" w="13335">
            <a:solidFill>
              <a:srgbClr val="7D91A0"/>
            </a:solidFill>
            <a:prstDash val="solid"/>
          </a:ln>
        </p:spPr>
      </p:sp>
      <p:sp>
        <p:nvSpPr>
          <p:cNvPr id="23" name="s48-right-title">
            <a:extLst xmlns:a="http://schemas.openxmlformats.org/drawingml/2006/main">
              <a:ext uri="{FF2B5EF4-FFF2-40B4-BE49-F238E27FC236}">
                <a16:creationId xmlns:a16="http://schemas.microsoft.com/office/drawing/2014/main" id="{7B075817-04C9-477B-97AA-F7C4AB378251}"/>
              </a:ext>
            </a:extLst>
          </p:cNvPr>
          <p:cNvSpPr>
            <a:spLocks xmlns:a="http://schemas.openxmlformats.org/drawingml/2006/main" noGrp="1"/>
          </p:cNvSpPr>
          <p:nvPr/>
        </p:nvSpPr>
        <p:spPr>
          <a:xfrm xmlns:a="http://schemas.openxmlformats.org/drawingml/2006/main">
            <a:off x="6572250" y="15811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350" b="1">
                <a:solidFill>
                  <a:srgbClr val="E9A23B"/>
                </a:solidFill>
                <a:latin typeface="Aptos"/>
                <a:ea typeface="Aptos"/>
                <a:cs typeface="Aptos"/>
              </a:defRPr>
            </a:pPr>
            <a:r>
              <a:rPr sz="1350" b="1">
                <a:solidFill>
                  <a:srgbClr val="E9A23B"/>
                </a:solidFill>
                <a:latin typeface="Aptos"/>
                <a:ea typeface="Aptos"/>
                <a:cs typeface="Aptos"/>
              </a:rPr>
              <a:t>BEFORE YOU SAY “DONE”</a:t>
            </a:r>
          </a:p>
        </p:txBody>
      </p:sp>
      <p:sp>
        <p:nvSpPr>
          <p:cNvPr id="24" name="s48-right-dot-0">
            <a:extLst xmlns:a="http://schemas.openxmlformats.org/drawingml/2006/main">
              <a:ext uri="{FF2B5EF4-FFF2-40B4-BE49-F238E27FC236}">
                <a16:creationId xmlns:a16="http://schemas.microsoft.com/office/drawing/2014/main" id="{BAECAE41-0670-4278-9BCF-B2E95971E9E2}"/>
              </a:ext>
            </a:extLst>
          </p:cNvPr>
          <p:cNvSpPr>
            <a:spLocks xmlns:a="http://schemas.openxmlformats.org/drawingml/2006/main" noGrp="1"/>
          </p:cNvSpPr>
          <p:nvPr/>
        </p:nvSpPr>
        <p:spPr>
          <a:xfrm xmlns:a="http://schemas.openxmlformats.org/drawingml/2006/main">
            <a:off x="6667500" y="218122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25" name="s48-right-text-0">
            <a:extLst xmlns:a="http://schemas.openxmlformats.org/drawingml/2006/main">
              <a:ext uri="{FF2B5EF4-FFF2-40B4-BE49-F238E27FC236}">
                <a16:creationId xmlns:a16="http://schemas.microsoft.com/office/drawing/2014/main" id="{494D1289-1E16-4FD7-80EE-3000D200286A}"/>
              </a:ext>
            </a:extLst>
          </p:cNvPr>
          <p:cNvSpPr>
            <a:spLocks xmlns:a="http://schemas.openxmlformats.org/drawingml/2006/main" noGrp="1"/>
          </p:cNvSpPr>
          <p:nvPr/>
        </p:nvSpPr>
        <p:spPr>
          <a:xfrm xmlns:a="http://schemas.openxmlformats.org/drawingml/2006/main">
            <a:off x="6858000" y="2095500"/>
            <a:ext cx="413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63" b="0">
                <a:solidFill>
                  <a:srgbClr val="FFFFFF"/>
                </a:solidFill>
                <a:latin typeface="Aptos"/>
                <a:ea typeface="Aptos"/>
                <a:cs typeface="Aptos"/>
              </a:defRPr>
            </a:pPr>
            <a:r>
              <a:rPr sz="1163" b="0">
                <a:solidFill>
                  <a:srgbClr val="FFFFFF"/>
                </a:solidFill>
                <a:latin typeface="Aptos"/>
                <a:ea typeface="Aptos"/>
                <a:cs typeface="Aptos"/>
              </a:rPr>
              <a:t>A second person can reproduce the path</a:t>
            </a:r>
          </a:p>
        </p:txBody>
      </p:sp>
      <p:sp>
        <p:nvSpPr>
          <p:cNvPr id="26" name="s48-right-dot-1">
            <a:extLst xmlns:a="http://schemas.openxmlformats.org/drawingml/2006/main">
              <a:ext uri="{FF2B5EF4-FFF2-40B4-BE49-F238E27FC236}">
                <a16:creationId xmlns:a16="http://schemas.microsoft.com/office/drawing/2014/main" id="{CD7AFA7A-F425-42B9-A75C-CB2A1437B35C}"/>
              </a:ext>
            </a:extLst>
          </p:cNvPr>
          <p:cNvSpPr>
            <a:spLocks xmlns:a="http://schemas.openxmlformats.org/drawingml/2006/main" noGrp="1"/>
          </p:cNvSpPr>
          <p:nvPr/>
        </p:nvSpPr>
        <p:spPr>
          <a:xfrm xmlns:a="http://schemas.openxmlformats.org/drawingml/2006/main">
            <a:off x="6667500" y="27336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27" name="s48-right-text-1">
            <a:extLst xmlns:a="http://schemas.openxmlformats.org/drawingml/2006/main">
              <a:ext uri="{FF2B5EF4-FFF2-40B4-BE49-F238E27FC236}">
                <a16:creationId xmlns:a16="http://schemas.microsoft.com/office/drawing/2014/main" id="{97370E46-F386-4DF4-9CF1-2AE35D7128E5}"/>
              </a:ext>
            </a:extLst>
          </p:cNvPr>
          <p:cNvSpPr>
            <a:spLocks xmlns:a="http://schemas.openxmlformats.org/drawingml/2006/main" noGrp="1"/>
          </p:cNvSpPr>
          <p:nvPr/>
        </p:nvSpPr>
        <p:spPr>
          <a:xfrm xmlns:a="http://schemas.openxmlformats.org/drawingml/2006/main">
            <a:off x="6858000" y="2647950"/>
            <a:ext cx="413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63" b="0">
                <a:solidFill>
                  <a:srgbClr val="FFFFFF"/>
                </a:solidFill>
                <a:latin typeface="Aptos"/>
                <a:ea typeface="Aptos"/>
                <a:cs typeface="Aptos"/>
              </a:defRPr>
            </a:pPr>
            <a:r>
              <a:rPr sz="1163" b="0">
                <a:solidFill>
                  <a:srgbClr val="FFFFFF"/>
                </a:solidFill>
                <a:latin typeface="Aptos"/>
                <a:ea typeface="Aptos"/>
                <a:cs typeface="Aptos"/>
              </a:rPr>
              <a:t>Saved settings and execution overrides are recorded</a:t>
            </a:r>
          </a:p>
        </p:txBody>
      </p:sp>
      <p:sp>
        <p:nvSpPr>
          <p:cNvPr id="28" name="s48-right-dot-2">
            <a:extLst xmlns:a="http://schemas.openxmlformats.org/drawingml/2006/main">
              <a:ext uri="{FF2B5EF4-FFF2-40B4-BE49-F238E27FC236}">
                <a16:creationId xmlns:a16="http://schemas.microsoft.com/office/drawing/2014/main" id="{AD7D7027-0839-4F80-8520-6FCEA7602467}"/>
              </a:ext>
            </a:extLst>
          </p:cNvPr>
          <p:cNvSpPr>
            <a:spLocks xmlns:a="http://schemas.openxmlformats.org/drawingml/2006/main" noGrp="1"/>
          </p:cNvSpPr>
          <p:nvPr/>
        </p:nvSpPr>
        <p:spPr>
          <a:xfrm xmlns:a="http://schemas.openxmlformats.org/drawingml/2006/main">
            <a:off x="6667500" y="328612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29" name="s48-right-text-2">
            <a:extLst xmlns:a="http://schemas.openxmlformats.org/drawingml/2006/main">
              <a:ext uri="{FF2B5EF4-FFF2-40B4-BE49-F238E27FC236}">
                <a16:creationId xmlns:a16="http://schemas.microsoft.com/office/drawing/2014/main" id="{4C8E3914-3B31-4D3B-8EA5-5BFF7792D6E9}"/>
              </a:ext>
            </a:extLst>
          </p:cNvPr>
          <p:cNvSpPr>
            <a:spLocks xmlns:a="http://schemas.openxmlformats.org/drawingml/2006/main" noGrp="1"/>
          </p:cNvSpPr>
          <p:nvPr/>
        </p:nvSpPr>
        <p:spPr>
          <a:xfrm xmlns:a="http://schemas.openxmlformats.org/drawingml/2006/main">
            <a:off x="6858000" y="3200400"/>
            <a:ext cx="413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63" b="0">
                <a:solidFill>
                  <a:srgbClr val="FFFFFF"/>
                </a:solidFill>
                <a:latin typeface="Aptos"/>
                <a:ea typeface="Aptos"/>
                <a:cs typeface="Aptos"/>
              </a:defRPr>
            </a:pPr>
            <a:r>
              <a:rPr sz="1163" b="0">
                <a:solidFill>
                  <a:srgbClr val="FFFFFF"/>
                </a:solidFill>
                <a:latin typeface="Aptos"/>
                <a:ea typeface="Aptos"/>
                <a:cs typeface="Aptos"/>
              </a:rPr>
              <a:t>Evidence scopes and freshness are understood</a:t>
            </a:r>
          </a:p>
        </p:txBody>
      </p:sp>
      <p:sp>
        <p:nvSpPr>
          <p:cNvPr id="30" name="s48-right-dot-3">
            <a:extLst xmlns:a="http://schemas.openxmlformats.org/drawingml/2006/main">
              <a:ext uri="{FF2B5EF4-FFF2-40B4-BE49-F238E27FC236}">
                <a16:creationId xmlns:a16="http://schemas.microsoft.com/office/drawing/2014/main" id="{1462807A-C7EC-428B-AB33-CF80AACF668C}"/>
              </a:ext>
            </a:extLst>
          </p:cNvPr>
          <p:cNvSpPr>
            <a:spLocks xmlns:a="http://schemas.openxmlformats.org/drawingml/2006/main" noGrp="1"/>
          </p:cNvSpPr>
          <p:nvPr/>
        </p:nvSpPr>
        <p:spPr>
          <a:xfrm xmlns:a="http://schemas.openxmlformats.org/drawingml/2006/main">
            <a:off x="6667500" y="383857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31" name="s48-right-text-3">
            <a:extLst xmlns:a="http://schemas.openxmlformats.org/drawingml/2006/main">
              <a:ext uri="{FF2B5EF4-FFF2-40B4-BE49-F238E27FC236}">
                <a16:creationId xmlns:a16="http://schemas.microsoft.com/office/drawing/2014/main" id="{5EA83A49-E183-4C2F-809A-C9F36F9AE6BA}"/>
              </a:ext>
            </a:extLst>
          </p:cNvPr>
          <p:cNvSpPr>
            <a:spLocks xmlns:a="http://schemas.openxmlformats.org/drawingml/2006/main" noGrp="1"/>
          </p:cNvSpPr>
          <p:nvPr/>
        </p:nvSpPr>
        <p:spPr>
          <a:xfrm xmlns:a="http://schemas.openxmlformats.org/drawingml/2006/main">
            <a:off x="6858000" y="3752850"/>
            <a:ext cx="413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63" b="0">
                <a:solidFill>
                  <a:srgbClr val="FFFFFF"/>
                </a:solidFill>
                <a:latin typeface="Aptos"/>
                <a:ea typeface="Aptos"/>
                <a:cs typeface="Aptos"/>
              </a:defRPr>
            </a:pPr>
            <a:r>
              <a:rPr sz="1163" b="0">
                <a:solidFill>
                  <a:srgbClr val="FFFFFF"/>
                </a:solidFill>
                <a:latin typeface="Aptos"/>
                <a:ea typeface="Aptos"/>
                <a:cs typeface="Aptos"/>
              </a:rPr>
              <a:t>No MIL result is mislabeled as SIL, PIL, HIL, or approval</a:t>
            </a:r>
          </a:p>
        </p:txBody>
      </p:sp>
      <p:sp>
        <p:nvSpPr>
          <p:cNvPr id="32" name="s48-right-dot-4">
            <a:extLst xmlns:a="http://schemas.openxmlformats.org/drawingml/2006/main">
              <a:ext uri="{FF2B5EF4-FFF2-40B4-BE49-F238E27FC236}">
                <a16:creationId xmlns:a16="http://schemas.microsoft.com/office/drawing/2014/main" id="{DD9F7A4C-4432-4921-A09B-CDCE061545FD}"/>
              </a:ext>
            </a:extLst>
          </p:cNvPr>
          <p:cNvSpPr>
            <a:spLocks xmlns:a="http://schemas.openxmlformats.org/drawingml/2006/main" noGrp="1"/>
          </p:cNvSpPr>
          <p:nvPr/>
        </p:nvSpPr>
        <p:spPr>
          <a:xfrm xmlns:a="http://schemas.openxmlformats.org/drawingml/2006/main">
            <a:off x="6667500" y="4391025"/>
            <a:ext cx="85725" cy="85725"/>
          </a:xfrm>
          <a:prstGeom xmlns:a="http://schemas.openxmlformats.org/drawingml/2006/main" prst="ellipse">
            <a:avLst/>
          </a:prstGeom>
          <a:solidFill xmlns:a="http://schemas.openxmlformats.org/drawingml/2006/main">
            <a:srgbClr val="E9A23B"/>
          </a:solidFill>
          <a:ln xmlns:a="http://schemas.openxmlformats.org/drawingml/2006/main" w="0">
            <a:solidFill>
              <a:srgbClr val="E9A23B"/>
            </a:solidFill>
            <a:prstDash val="solid"/>
          </a:ln>
        </p:spPr>
      </p:sp>
      <p:sp>
        <p:nvSpPr>
          <p:cNvPr id="33" name="s48-right-text-4">
            <a:extLst xmlns:a="http://schemas.openxmlformats.org/drawingml/2006/main">
              <a:ext uri="{FF2B5EF4-FFF2-40B4-BE49-F238E27FC236}">
                <a16:creationId xmlns:a16="http://schemas.microsoft.com/office/drawing/2014/main" id="{BE94F368-AD32-4E51-91DA-B7C6BB658CD3}"/>
              </a:ext>
            </a:extLst>
          </p:cNvPr>
          <p:cNvSpPr>
            <a:spLocks xmlns:a="http://schemas.openxmlformats.org/drawingml/2006/main" noGrp="1"/>
          </p:cNvSpPr>
          <p:nvPr/>
        </p:nvSpPr>
        <p:spPr>
          <a:xfrm xmlns:a="http://schemas.openxmlformats.org/drawingml/2006/main">
            <a:off x="6858000" y="4305300"/>
            <a:ext cx="4133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19050" rIns="9525" bIns="9525" anchor="t">
            <a:noAutofit/>
          </a:bodyPr>
          <a:lstStyle xmlns:a="http://schemas.openxmlformats.org/drawingml/2006/main"/>
          <a:p xmlns:a="http://schemas.openxmlformats.org/drawingml/2006/main">
            <a:pPr algn="l">
              <a:defRPr sz="1163" b="0">
                <a:solidFill>
                  <a:srgbClr val="FFFFFF"/>
                </a:solidFill>
                <a:latin typeface="Aptos"/>
                <a:ea typeface="Aptos"/>
                <a:cs typeface="Aptos"/>
              </a:defRPr>
            </a:pPr>
            <a:r>
              <a:rPr sz="1163" b="0">
                <a:solidFill>
                  <a:srgbClr val="FFFFFF"/>
                </a:solidFill>
                <a:latin typeface="Aptos"/>
                <a:ea typeface="Aptos"/>
                <a:cs typeface="Aptos"/>
              </a:rPr>
              <a:t>Program-owned review/sign-off gates have named owners</a:t>
            </a:r>
          </a:p>
        </p:txBody>
      </p:sp>
      <p:sp>
        <p:nvSpPr>
          <p:cNvPr id="34" name="s48-next">
            <a:extLst xmlns:a="http://schemas.openxmlformats.org/drawingml/2006/main">
              <a:ext uri="{FF2B5EF4-FFF2-40B4-BE49-F238E27FC236}">
                <a16:creationId xmlns:a16="http://schemas.microsoft.com/office/drawing/2014/main" id="{B76E591D-9137-4F31-8F74-2B2C66E8A8B3}"/>
              </a:ext>
            </a:extLst>
          </p:cNvPr>
          <p:cNvSpPr>
            <a:spLocks xmlns:a="http://schemas.openxmlformats.org/drawingml/2006/main" noGrp="1"/>
          </p:cNvSpPr>
          <p:nvPr/>
        </p:nvSpPr>
        <p:spPr>
          <a:xfrm xmlns:a="http://schemas.openxmlformats.org/drawingml/2006/main">
            <a:off x="685800" y="5562600"/>
            <a:ext cx="10820400" cy="552450"/>
          </a:xfrm>
          <a:prstGeom xmlns:a="http://schemas.openxmlformats.org/drawingml/2006/main" prst="roundRect">
            <a:avLst>
              <a:gd name="adj" fmla="val 20690"/>
            </a:avLst>
          </a:prstGeom>
          <a:solidFill xmlns:a="http://schemas.openxmlformats.org/drawingml/2006/main">
            <a:srgbClr val="0C2133"/>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CORE COURSE COMPLETE  •  slides 49–55 are the model and workflow reference appendix</a:t>
            </a:r>
          </a:p>
        </p:txBody>
      </p:sp>
    </p:spTree>
    <p:extLst>
      <p:ext uri="{BB962C8B-B14F-4D97-AF65-F5344CB8AC3E}">
        <p14:creationId xmlns:p14="http://schemas.microsoft.com/office/powerpoint/2010/main" val="392848478"/>
      </p:ext>
    </p:extLst>
  </p:cSld>
</p:sld>
</file>

<file path=ppt/slides/slide4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APPENDIX • REFERENCE</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Glossary: the minimum vocabulary for this workflow</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  •  APPENDIX</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49</a:t>
            </a:r>
          </a:p>
        </p:txBody>
      </p:sp>
      <p:sp>
        <p:nvSpPr>
          <p:cNvPr id="17" name="s49-term-0">
            <a:extLst xmlns:a="http://schemas.openxmlformats.org/drawingml/2006/main">
              <a:ext uri="{FF2B5EF4-FFF2-40B4-BE49-F238E27FC236}">
                <a16:creationId xmlns:a16="http://schemas.microsoft.com/office/drawing/2014/main" id="{E636C211-430F-4C0C-8090-F64FC199E60E}"/>
              </a:ext>
            </a:extLst>
          </p:cNvPr>
          <p:cNvSpPr>
            <a:spLocks xmlns:a="http://schemas.openxmlformats.org/drawingml/2006/main" noGrp="1"/>
          </p:cNvSpPr>
          <p:nvPr/>
        </p:nvSpPr>
        <p:spPr>
          <a:xfrm xmlns:a="http://schemas.openxmlformats.org/drawingml/2006/main">
            <a:off x="685800" y="14668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18" name="s49-name-0">
            <a:extLst xmlns:a="http://schemas.openxmlformats.org/drawingml/2006/main">
              <a:ext uri="{FF2B5EF4-FFF2-40B4-BE49-F238E27FC236}">
                <a16:creationId xmlns:a16="http://schemas.microsoft.com/office/drawing/2014/main" id="{D7F89938-287A-4FEC-8223-78047D8A8F46}"/>
              </a:ext>
            </a:extLst>
          </p:cNvPr>
          <p:cNvSpPr>
            <a:spLocks xmlns:a="http://schemas.openxmlformats.org/drawingml/2006/main" noGrp="1"/>
          </p:cNvSpPr>
          <p:nvPr/>
        </p:nvSpPr>
        <p:spPr>
          <a:xfrm xmlns:a="http://schemas.openxmlformats.org/drawingml/2006/main">
            <a:off x="838200" y="15621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MIL</a:t>
            </a:r>
          </a:p>
        </p:txBody>
      </p:sp>
      <p:sp>
        <p:nvSpPr>
          <p:cNvPr id="19" name="s49-def-0">
            <a:extLst xmlns:a="http://schemas.openxmlformats.org/drawingml/2006/main">
              <a:ext uri="{FF2B5EF4-FFF2-40B4-BE49-F238E27FC236}">
                <a16:creationId xmlns:a16="http://schemas.microsoft.com/office/drawing/2014/main" id="{35A5C3B8-85E6-4DC1-A7AD-338349A0A431}"/>
              </a:ext>
            </a:extLst>
          </p:cNvPr>
          <p:cNvSpPr>
            <a:spLocks xmlns:a="http://schemas.openxmlformats.org/drawingml/2006/main" noGrp="1"/>
          </p:cNvSpPr>
          <p:nvPr/>
        </p:nvSpPr>
        <p:spPr>
          <a:xfrm xmlns:a="http://schemas.openxmlformats.org/drawingml/2006/main">
            <a:off x="2266950" y="15430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Model logic executes with a model plant/environment.</a:t>
            </a:r>
          </a:p>
        </p:txBody>
      </p:sp>
      <p:sp>
        <p:nvSpPr>
          <p:cNvPr id="20" name="s49-term-1">
            <a:extLst xmlns:a="http://schemas.openxmlformats.org/drawingml/2006/main">
              <a:ext uri="{FF2B5EF4-FFF2-40B4-BE49-F238E27FC236}">
                <a16:creationId xmlns:a16="http://schemas.microsoft.com/office/drawing/2014/main" id="{00510231-6A91-416E-9154-827FB4E43006}"/>
              </a:ext>
            </a:extLst>
          </p:cNvPr>
          <p:cNvSpPr>
            <a:spLocks xmlns:a="http://schemas.openxmlformats.org/drawingml/2006/main" noGrp="1"/>
          </p:cNvSpPr>
          <p:nvPr/>
        </p:nvSpPr>
        <p:spPr>
          <a:xfrm xmlns:a="http://schemas.openxmlformats.org/drawingml/2006/main">
            <a:off x="685800" y="23050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21" name="s49-name-1">
            <a:extLst xmlns:a="http://schemas.openxmlformats.org/drawingml/2006/main">
              <a:ext uri="{FF2B5EF4-FFF2-40B4-BE49-F238E27FC236}">
                <a16:creationId xmlns:a16="http://schemas.microsoft.com/office/drawing/2014/main" id="{4DC71868-8D81-446A-8C00-136C7017341F}"/>
              </a:ext>
            </a:extLst>
          </p:cNvPr>
          <p:cNvSpPr>
            <a:spLocks xmlns:a="http://schemas.openxmlformats.org/drawingml/2006/main" noGrp="1"/>
          </p:cNvSpPr>
          <p:nvPr/>
        </p:nvSpPr>
        <p:spPr>
          <a:xfrm xmlns:a="http://schemas.openxmlformats.org/drawingml/2006/main">
            <a:off x="838200" y="24003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SDI</a:t>
            </a:r>
          </a:p>
        </p:txBody>
      </p:sp>
      <p:sp>
        <p:nvSpPr>
          <p:cNvPr id="22" name="s49-def-1">
            <a:extLst xmlns:a="http://schemas.openxmlformats.org/drawingml/2006/main">
              <a:ext uri="{FF2B5EF4-FFF2-40B4-BE49-F238E27FC236}">
                <a16:creationId xmlns:a16="http://schemas.microsoft.com/office/drawing/2014/main" id="{861FBB0A-6740-4343-944A-600DAD9EA8A8}"/>
              </a:ext>
            </a:extLst>
          </p:cNvPr>
          <p:cNvSpPr>
            <a:spLocks xmlns:a="http://schemas.openxmlformats.org/drawingml/2006/main" noGrp="1"/>
          </p:cNvSpPr>
          <p:nvPr/>
        </p:nvSpPr>
        <p:spPr>
          <a:xfrm xmlns:a="http://schemas.openxmlformats.org/drawingml/2006/main">
            <a:off x="2266950" y="23812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Simulation Data Inspector; saved run/session visualization.</a:t>
            </a:r>
          </a:p>
        </p:txBody>
      </p:sp>
      <p:sp>
        <p:nvSpPr>
          <p:cNvPr id="23" name="s49-term-2">
            <a:extLst xmlns:a="http://schemas.openxmlformats.org/drawingml/2006/main">
              <a:ext uri="{FF2B5EF4-FFF2-40B4-BE49-F238E27FC236}">
                <a16:creationId xmlns:a16="http://schemas.microsoft.com/office/drawing/2014/main" id="{D6E3D8AD-3E79-4101-A50F-7E1C603E3A29}"/>
              </a:ext>
            </a:extLst>
          </p:cNvPr>
          <p:cNvSpPr>
            <a:spLocks xmlns:a="http://schemas.openxmlformats.org/drawingml/2006/main" noGrp="1"/>
          </p:cNvSpPr>
          <p:nvPr/>
        </p:nvSpPr>
        <p:spPr>
          <a:xfrm xmlns:a="http://schemas.openxmlformats.org/drawingml/2006/main">
            <a:off x="685800" y="31432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24" name="s49-name-2">
            <a:extLst xmlns:a="http://schemas.openxmlformats.org/drawingml/2006/main">
              <a:ext uri="{FF2B5EF4-FFF2-40B4-BE49-F238E27FC236}">
                <a16:creationId xmlns:a16="http://schemas.microsoft.com/office/drawing/2014/main" id="{581B5D21-D6A5-4822-8DDD-8234949424B8}"/>
              </a:ext>
            </a:extLst>
          </p:cNvPr>
          <p:cNvSpPr>
            <a:spLocks xmlns:a="http://schemas.openxmlformats.org/drawingml/2006/main" noGrp="1"/>
          </p:cNvSpPr>
          <p:nvPr/>
        </p:nvSpPr>
        <p:spPr>
          <a:xfrm xmlns:a="http://schemas.openxmlformats.org/drawingml/2006/main">
            <a:off x="838200" y="32385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SLDD</a:t>
            </a:r>
          </a:p>
        </p:txBody>
      </p:sp>
      <p:sp>
        <p:nvSpPr>
          <p:cNvPr id="25" name="s49-def-2">
            <a:extLst xmlns:a="http://schemas.openxmlformats.org/drawingml/2006/main">
              <a:ext uri="{FF2B5EF4-FFF2-40B4-BE49-F238E27FC236}">
                <a16:creationId xmlns:a16="http://schemas.microsoft.com/office/drawing/2014/main" id="{B74615A2-5A03-457F-A4E1-6F2747C4097B}"/>
              </a:ext>
            </a:extLst>
          </p:cNvPr>
          <p:cNvSpPr>
            <a:spLocks xmlns:a="http://schemas.openxmlformats.org/drawingml/2006/main" noGrp="1"/>
          </p:cNvSpPr>
          <p:nvPr/>
        </p:nvSpPr>
        <p:spPr>
          <a:xfrm xmlns:a="http://schemas.openxmlformats.org/drawingml/2006/main">
            <a:off x="2266950" y="32194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Simulink Data Dictionary; controlled Design Data source.</a:t>
            </a:r>
          </a:p>
        </p:txBody>
      </p:sp>
      <p:sp>
        <p:nvSpPr>
          <p:cNvPr id="26" name="s49-term-3">
            <a:extLst xmlns:a="http://schemas.openxmlformats.org/drawingml/2006/main">
              <a:ext uri="{FF2B5EF4-FFF2-40B4-BE49-F238E27FC236}">
                <a16:creationId xmlns:a16="http://schemas.microsoft.com/office/drawing/2014/main" id="{D951BE05-D045-42DE-8743-95C65B479048}"/>
              </a:ext>
            </a:extLst>
          </p:cNvPr>
          <p:cNvSpPr>
            <a:spLocks xmlns:a="http://schemas.openxmlformats.org/drawingml/2006/main" noGrp="1"/>
          </p:cNvSpPr>
          <p:nvPr/>
        </p:nvSpPr>
        <p:spPr>
          <a:xfrm xmlns:a="http://schemas.openxmlformats.org/drawingml/2006/main">
            <a:off x="685800" y="39814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27" name="s49-name-3">
            <a:extLst xmlns:a="http://schemas.openxmlformats.org/drawingml/2006/main">
              <a:ext uri="{FF2B5EF4-FFF2-40B4-BE49-F238E27FC236}">
                <a16:creationId xmlns:a16="http://schemas.microsoft.com/office/drawing/2014/main" id="{B17F3B3B-857B-4461-A968-60049D71C445}"/>
              </a:ext>
            </a:extLst>
          </p:cNvPr>
          <p:cNvSpPr>
            <a:spLocks xmlns:a="http://schemas.openxmlformats.org/drawingml/2006/main" noGrp="1"/>
          </p:cNvSpPr>
          <p:nvPr/>
        </p:nvSpPr>
        <p:spPr>
          <a:xfrm xmlns:a="http://schemas.openxmlformats.org/drawingml/2006/main">
            <a:off x="838200" y="40767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Model block</a:t>
            </a:r>
          </a:p>
        </p:txBody>
      </p:sp>
      <p:sp>
        <p:nvSpPr>
          <p:cNvPr id="28" name="s49-def-3">
            <a:extLst xmlns:a="http://schemas.openxmlformats.org/drawingml/2006/main">
              <a:ext uri="{FF2B5EF4-FFF2-40B4-BE49-F238E27FC236}">
                <a16:creationId xmlns:a16="http://schemas.microsoft.com/office/drawing/2014/main" id="{1D0DB80D-47C3-42EA-BA3C-098FC2424202}"/>
              </a:ext>
            </a:extLst>
          </p:cNvPr>
          <p:cNvSpPr>
            <a:spLocks xmlns:a="http://schemas.openxmlformats.org/drawingml/2006/main" noGrp="1"/>
          </p:cNvSpPr>
          <p:nvPr/>
        </p:nvSpPr>
        <p:spPr>
          <a:xfrm xmlns:a="http://schemas.openxmlformats.org/drawingml/2006/main">
            <a:off x="2266950" y="40576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Reference to another Simulink model and simulation mode.</a:t>
            </a:r>
          </a:p>
        </p:txBody>
      </p:sp>
      <p:sp>
        <p:nvSpPr>
          <p:cNvPr id="29" name="s49-term-4">
            <a:extLst xmlns:a="http://schemas.openxmlformats.org/drawingml/2006/main">
              <a:ext uri="{FF2B5EF4-FFF2-40B4-BE49-F238E27FC236}">
                <a16:creationId xmlns:a16="http://schemas.microsoft.com/office/drawing/2014/main" id="{B100AC6F-1478-4F96-9A39-03D4C6574FEA}"/>
              </a:ext>
            </a:extLst>
          </p:cNvPr>
          <p:cNvSpPr>
            <a:spLocks xmlns:a="http://schemas.openxmlformats.org/drawingml/2006/main" noGrp="1"/>
          </p:cNvSpPr>
          <p:nvPr/>
        </p:nvSpPr>
        <p:spPr>
          <a:xfrm xmlns:a="http://schemas.openxmlformats.org/drawingml/2006/main">
            <a:off x="685800" y="48196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30" name="s49-name-4">
            <a:extLst xmlns:a="http://schemas.openxmlformats.org/drawingml/2006/main">
              <a:ext uri="{FF2B5EF4-FFF2-40B4-BE49-F238E27FC236}">
                <a16:creationId xmlns:a16="http://schemas.microsoft.com/office/drawing/2014/main" id="{F4B8C74F-D7C6-474E-85C2-3DB021DDF01C}"/>
              </a:ext>
            </a:extLst>
          </p:cNvPr>
          <p:cNvSpPr>
            <a:spLocks xmlns:a="http://schemas.openxmlformats.org/drawingml/2006/main" noGrp="1"/>
          </p:cNvSpPr>
          <p:nvPr/>
        </p:nvSpPr>
        <p:spPr>
          <a:xfrm xmlns:a="http://schemas.openxmlformats.org/drawingml/2006/main">
            <a:off x="838200" y="49149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Ctrl+D</a:t>
            </a:r>
          </a:p>
        </p:txBody>
      </p:sp>
      <p:sp>
        <p:nvSpPr>
          <p:cNvPr id="31" name="s49-def-4">
            <a:extLst xmlns:a="http://schemas.openxmlformats.org/drawingml/2006/main">
              <a:ext uri="{FF2B5EF4-FFF2-40B4-BE49-F238E27FC236}">
                <a16:creationId xmlns:a16="http://schemas.microsoft.com/office/drawing/2014/main" id="{6D1DD8B2-FAA1-42E7-BBA5-BE4FB388A7F7}"/>
              </a:ext>
            </a:extLst>
          </p:cNvPr>
          <p:cNvSpPr>
            <a:spLocks xmlns:a="http://schemas.openxmlformats.org/drawingml/2006/main" noGrp="1"/>
          </p:cNvSpPr>
          <p:nvPr/>
        </p:nvSpPr>
        <p:spPr>
          <a:xfrm xmlns:a="http://schemas.openxmlformats.org/drawingml/2006/main">
            <a:off x="2266950" y="48958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Update/compile the diagram without advancing time.</a:t>
            </a:r>
          </a:p>
        </p:txBody>
      </p:sp>
      <p:sp>
        <p:nvSpPr>
          <p:cNvPr id="32" name="s49-term-5">
            <a:extLst xmlns:a="http://schemas.openxmlformats.org/drawingml/2006/main">
              <a:ext uri="{FF2B5EF4-FFF2-40B4-BE49-F238E27FC236}">
                <a16:creationId xmlns:a16="http://schemas.microsoft.com/office/drawing/2014/main" id="{1020643F-5916-44E0-A086-8594417E09F3}"/>
              </a:ext>
            </a:extLst>
          </p:cNvPr>
          <p:cNvSpPr>
            <a:spLocks xmlns:a="http://schemas.openxmlformats.org/drawingml/2006/main" noGrp="1"/>
          </p:cNvSpPr>
          <p:nvPr/>
        </p:nvSpPr>
        <p:spPr>
          <a:xfrm xmlns:a="http://schemas.openxmlformats.org/drawingml/2006/main">
            <a:off x="6286500" y="14668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33" name="s49-name-5">
            <a:extLst xmlns:a="http://schemas.openxmlformats.org/drawingml/2006/main">
              <a:ext uri="{FF2B5EF4-FFF2-40B4-BE49-F238E27FC236}">
                <a16:creationId xmlns:a16="http://schemas.microsoft.com/office/drawing/2014/main" id="{A3EE4510-3357-4B69-B2B3-182B00FB4454}"/>
              </a:ext>
            </a:extLst>
          </p:cNvPr>
          <p:cNvSpPr>
            <a:spLocks xmlns:a="http://schemas.openxmlformats.org/drawingml/2006/main" noGrp="1"/>
          </p:cNvSpPr>
          <p:nvPr/>
        </p:nvSpPr>
        <p:spPr>
          <a:xfrm xmlns:a="http://schemas.openxmlformats.org/drawingml/2006/main">
            <a:off x="6438900" y="15621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Ctrl+B</a:t>
            </a:r>
          </a:p>
        </p:txBody>
      </p:sp>
      <p:sp>
        <p:nvSpPr>
          <p:cNvPr id="34" name="s49-def-5">
            <a:extLst xmlns:a="http://schemas.openxmlformats.org/drawingml/2006/main">
              <a:ext uri="{FF2B5EF4-FFF2-40B4-BE49-F238E27FC236}">
                <a16:creationId xmlns:a16="http://schemas.microsoft.com/office/drawing/2014/main" id="{45537593-D29A-4188-9419-4C1454257F35}"/>
              </a:ext>
            </a:extLst>
          </p:cNvPr>
          <p:cNvSpPr>
            <a:spLocks xmlns:a="http://schemas.openxmlformats.org/drawingml/2006/main" noGrp="1"/>
          </p:cNvSpPr>
          <p:nvPr/>
        </p:nvSpPr>
        <p:spPr>
          <a:xfrm xmlns:a="http://schemas.openxmlformats.org/drawingml/2006/main">
            <a:off x="7867650" y="15430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Interactive code-generation build for the active target.</a:t>
            </a:r>
          </a:p>
        </p:txBody>
      </p:sp>
      <p:sp>
        <p:nvSpPr>
          <p:cNvPr id="35" name="s49-term-6">
            <a:extLst xmlns:a="http://schemas.openxmlformats.org/drawingml/2006/main">
              <a:ext uri="{FF2B5EF4-FFF2-40B4-BE49-F238E27FC236}">
                <a16:creationId xmlns:a16="http://schemas.microsoft.com/office/drawing/2014/main" id="{39DF58C4-9C7A-44DB-9DE1-F5C11882E6A0}"/>
              </a:ext>
            </a:extLst>
          </p:cNvPr>
          <p:cNvSpPr>
            <a:spLocks xmlns:a="http://schemas.openxmlformats.org/drawingml/2006/main" noGrp="1"/>
          </p:cNvSpPr>
          <p:nvPr/>
        </p:nvSpPr>
        <p:spPr>
          <a:xfrm xmlns:a="http://schemas.openxmlformats.org/drawingml/2006/main">
            <a:off x="6286500" y="23050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36" name="s49-name-6">
            <a:extLst xmlns:a="http://schemas.openxmlformats.org/drawingml/2006/main">
              <a:ext uri="{FF2B5EF4-FFF2-40B4-BE49-F238E27FC236}">
                <a16:creationId xmlns:a16="http://schemas.microsoft.com/office/drawing/2014/main" id="{D7D42C52-D8D0-4BF1-9751-5AA6E86A8D73}"/>
              </a:ext>
            </a:extLst>
          </p:cNvPr>
          <p:cNvSpPr>
            <a:spLocks xmlns:a="http://schemas.openxmlformats.org/drawingml/2006/main" noGrp="1"/>
          </p:cNvSpPr>
          <p:nvPr/>
        </p:nvSpPr>
        <p:spPr>
          <a:xfrm xmlns:a="http://schemas.openxmlformats.org/drawingml/2006/main">
            <a:off x="6438900" y="24003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Harness</a:t>
            </a:r>
          </a:p>
        </p:txBody>
      </p:sp>
      <p:sp>
        <p:nvSpPr>
          <p:cNvPr id="37" name="s49-def-6">
            <a:extLst xmlns:a="http://schemas.openxmlformats.org/drawingml/2006/main">
              <a:ext uri="{FF2B5EF4-FFF2-40B4-BE49-F238E27FC236}">
                <a16:creationId xmlns:a16="http://schemas.microsoft.com/office/drawing/2014/main" id="{1D4D6990-6E2C-4316-ABF0-94F5C63295B7}"/>
              </a:ext>
            </a:extLst>
          </p:cNvPr>
          <p:cNvSpPr>
            <a:spLocks xmlns:a="http://schemas.openxmlformats.org/drawingml/2006/main" noGrp="1"/>
          </p:cNvSpPr>
          <p:nvPr/>
        </p:nvSpPr>
        <p:spPr>
          <a:xfrm xmlns:a="http://schemas.openxmlformats.org/drawingml/2006/main">
            <a:off x="7867650" y="23812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Independent model that supplies inputs and captures outputs.</a:t>
            </a:r>
          </a:p>
        </p:txBody>
      </p:sp>
      <p:sp>
        <p:nvSpPr>
          <p:cNvPr id="38" name="s49-term-7">
            <a:extLst xmlns:a="http://schemas.openxmlformats.org/drawingml/2006/main">
              <a:ext uri="{FF2B5EF4-FFF2-40B4-BE49-F238E27FC236}">
                <a16:creationId xmlns:a16="http://schemas.microsoft.com/office/drawing/2014/main" id="{529DF238-3D31-4A2D-A60E-07D771C9D206}"/>
              </a:ext>
            </a:extLst>
          </p:cNvPr>
          <p:cNvSpPr>
            <a:spLocks xmlns:a="http://schemas.openxmlformats.org/drawingml/2006/main" noGrp="1"/>
          </p:cNvSpPr>
          <p:nvPr/>
        </p:nvSpPr>
        <p:spPr>
          <a:xfrm xmlns:a="http://schemas.openxmlformats.org/drawingml/2006/main">
            <a:off x="6286500" y="31432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39" name="s49-name-7">
            <a:extLst xmlns:a="http://schemas.openxmlformats.org/drawingml/2006/main">
              <a:ext uri="{FF2B5EF4-FFF2-40B4-BE49-F238E27FC236}">
                <a16:creationId xmlns:a16="http://schemas.microsoft.com/office/drawing/2014/main" id="{1ADDACBB-F60C-4EA9-B988-4B28B5CC1B31}"/>
              </a:ext>
            </a:extLst>
          </p:cNvPr>
          <p:cNvSpPr>
            <a:spLocks xmlns:a="http://schemas.openxmlformats.org/drawingml/2006/main" noGrp="1"/>
          </p:cNvSpPr>
          <p:nvPr/>
        </p:nvSpPr>
        <p:spPr>
          <a:xfrm xmlns:a="http://schemas.openxmlformats.org/drawingml/2006/main">
            <a:off x="6438900" y="32385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Oracle</a:t>
            </a:r>
          </a:p>
        </p:txBody>
      </p:sp>
      <p:sp>
        <p:nvSpPr>
          <p:cNvPr id="40" name="s49-def-7">
            <a:extLst xmlns:a="http://schemas.openxmlformats.org/drawingml/2006/main">
              <a:ext uri="{FF2B5EF4-FFF2-40B4-BE49-F238E27FC236}">
                <a16:creationId xmlns:a16="http://schemas.microsoft.com/office/drawing/2014/main" id="{15F480CD-9FDF-4AF8-8DAB-BAA88FD03AB7}"/>
              </a:ext>
            </a:extLst>
          </p:cNvPr>
          <p:cNvSpPr>
            <a:spLocks xmlns:a="http://schemas.openxmlformats.org/drawingml/2006/main" noGrp="1"/>
          </p:cNvSpPr>
          <p:nvPr/>
        </p:nvSpPr>
        <p:spPr>
          <a:xfrm xmlns:a="http://schemas.openxmlformats.org/drawingml/2006/main">
            <a:off x="7867650" y="32194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Executable logic that computes expected results/pass status.</a:t>
            </a:r>
          </a:p>
        </p:txBody>
      </p:sp>
      <p:sp>
        <p:nvSpPr>
          <p:cNvPr id="41" name="s49-term-8">
            <a:extLst xmlns:a="http://schemas.openxmlformats.org/drawingml/2006/main">
              <a:ext uri="{FF2B5EF4-FFF2-40B4-BE49-F238E27FC236}">
                <a16:creationId xmlns:a16="http://schemas.microsoft.com/office/drawing/2014/main" id="{3148E15D-C41B-40AA-BC25-4C97570B6F7D}"/>
              </a:ext>
            </a:extLst>
          </p:cNvPr>
          <p:cNvSpPr>
            <a:spLocks xmlns:a="http://schemas.openxmlformats.org/drawingml/2006/main" noGrp="1"/>
          </p:cNvSpPr>
          <p:nvPr/>
        </p:nvSpPr>
        <p:spPr>
          <a:xfrm xmlns:a="http://schemas.openxmlformats.org/drawingml/2006/main">
            <a:off x="6286500" y="39814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20B7C5"/>
            </a:solidFill>
            <a:prstDash val="solid"/>
          </a:ln>
        </p:spPr>
      </p:sp>
      <p:sp>
        <p:nvSpPr>
          <p:cNvPr id="42" name="s49-name-8">
            <a:extLst xmlns:a="http://schemas.openxmlformats.org/drawingml/2006/main">
              <a:ext uri="{FF2B5EF4-FFF2-40B4-BE49-F238E27FC236}">
                <a16:creationId xmlns:a16="http://schemas.microsoft.com/office/drawing/2014/main" id="{ECB226E3-7DEB-4684-924A-60FFDAD7FA20}"/>
              </a:ext>
            </a:extLst>
          </p:cNvPr>
          <p:cNvSpPr>
            <a:spLocks xmlns:a="http://schemas.openxmlformats.org/drawingml/2006/main" noGrp="1"/>
          </p:cNvSpPr>
          <p:nvPr/>
        </p:nvSpPr>
        <p:spPr>
          <a:xfrm xmlns:a="http://schemas.openxmlformats.org/drawingml/2006/main">
            <a:off x="6438900" y="40767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0B7C5"/>
                </a:solidFill>
                <a:latin typeface="Aptos"/>
                <a:ea typeface="Aptos"/>
                <a:cs typeface="Aptos"/>
              </a:defRPr>
            </a:pPr>
            <a:r>
              <a:rPr sz="1200" b="1">
                <a:solidFill>
                  <a:srgbClr val="20B7C5"/>
                </a:solidFill>
                <a:latin typeface="Aptos"/>
                <a:ea typeface="Aptos"/>
                <a:cs typeface="Aptos"/>
              </a:rPr>
              <a:t>Test point</a:t>
            </a:r>
          </a:p>
        </p:txBody>
      </p:sp>
      <p:sp>
        <p:nvSpPr>
          <p:cNvPr id="43" name="s49-def-8">
            <a:extLst xmlns:a="http://schemas.openxmlformats.org/drawingml/2006/main">
              <a:ext uri="{FF2B5EF4-FFF2-40B4-BE49-F238E27FC236}">
                <a16:creationId xmlns:a16="http://schemas.microsoft.com/office/drawing/2014/main" id="{DDFD88AC-D0AD-4ED7-90E2-ACEE80030D03}"/>
              </a:ext>
            </a:extLst>
          </p:cNvPr>
          <p:cNvSpPr>
            <a:spLocks xmlns:a="http://schemas.openxmlformats.org/drawingml/2006/main" noGrp="1"/>
          </p:cNvSpPr>
          <p:nvPr/>
        </p:nvSpPr>
        <p:spPr>
          <a:xfrm xmlns:a="http://schemas.openxmlformats.org/drawingml/2006/main">
            <a:off x="7867650" y="40576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Preserves signal observability; does not enable logging.</a:t>
            </a:r>
          </a:p>
        </p:txBody>
      </p:sp>
      <p:sp>
        <p:nvSpPr>
          <p:cNvPr id="44" name="s49-term-9">
            <a:extLst xmlns:a="http://schemas.openxmlformats.org/drawingml/2006/main">
              <a:ext uri="{FF2B5EF4-FFF2-40B4-BE49-F238E27FC236}">
                <a16:creationId xmlns:a16="http://schemas.microsoft.com/office/drawing/2014/main" id="{775C7A2C-B48A-4516-9840-3BC99CCEF270}"/>
              </a:ext>
            </a:extLst>
          </p:cNvPr>
          <p:cNvSpPr>
            <a:spLocks xmlns:a="http://schemas.openxmlformats.org/drawingml/2006/main" noGrp="1"/>
          </p:cNvSpPr>
          <p:nvPr/>
        </p:nvSpPr>
        <p:spPr>
          <a:xfrm xmlns:a="http://schemas.openxmlformats.org/drawingml/2006/main">
            <a:off x="6286500" y="4819650"/>
            <a:ext cx="52197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0478">
            <a:solidFill>
              <a:srgbClr val="E9A23B"/>
            </a:solidFill>
            <a:prstDash val="solid"/>
          </a:ln>
        </p:spPr>
      </p:sp>
      <p:sp>
        <p:nvSpPr>
          <p:cNvPr id="45" name="s49-name-9">
            <a:extLst xmlns:a="http://schemas.openxmlformats.org/drawingml/2006/main">
              <a:ext uri="{FF2B5EF4-FFF2-40B4-BE49-F238E27FC236}">
                <a16:creationId xmlns:a16="http://schemas.microsoft.com/office/drawing/2014/main" id="{3D3A513E-8C16-4244-AE27-6BD425EE08B6}"/>
              </a:ext>
            </a:extLst>
          </p:cNvPr>
          <p:cNvSpPr>
            <a:spLocks xmlns:a="http://schemas.openxmlformats.org/drawingml/2006/main" noGrp="1"/>
          </p:cNvSpPr>
          <p:nvPr/>
        </p:nvSpPr>
        <p:spPr>
          <a:xfrm xmlns:a="http://schemas.openxmlformats.org/drawingml/2006/main">
            <a:off x="6438900" y="4914900"/>
            <a:ext cx="1409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E9A23B"/>
                </a:solidFill>
                <a:latin typeface="Aptos"/>
                <a:ea typeface="Aptos"/>
                <a:cs typeface="Aptos"/>
              </a:defRPr>
            </a:pPr>
            <a:r>
              <a:rPr sz="1200" b="1">
                <a:solidFill>
                  <a:srgbClr val="E9A23B"/>
                </a:solidFill>
                <a:latin typeface="Aptos"/>
                <a:ea typeface="Aptos"/>
                <a:cs typeface="Aptos"/>
              </a:rPr>
              <a:t>RCF</a:t>
            </a:r>
          </a:p>
        </p:txBody>
      </p:sp>
      <p:sp>
        <p:nvSpPr>
          <p:cNvPr id="46" name="s49-def-9">
            <a:extLst xmlns:a="http://schemas.openxmlformats.org/drawingml/2006/main">
              <a:ext uri="{FF2B5EF4-FFF2-40B4-BE49-F238E27FC236}">
                <a16:creationId xmlns:a16="http://schemas.microsoft.com/office/drawing/2014/main" id="{553EED53-058F-4154-93AE-E8B669EFAF96}"/>
              </a:ext>
            </a:extLst>
          </p:cNvPr>
          <p:cNvSpPr>
            <a:spLocks xmlns:a="http://schemas.openxmlformats.org/drawingml/2006/main" noGrp="1"/>
          </p:cNvSpPr>
          <p:nvPr/>
        </p:nvSpPr>
        <p:spPr>
          <a:xfrm xmlns:a="http://schemas.openxmlformats.org/drawingml/2006/main">
            <a:off x="7867650" y="48958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8" b="0">
                <a:solidFill>
                  <a:srgbClr val="17324A"/>
                </a:solidFill>
                <a:latin typeface="Aptos"/>
                <a:ea typeface="Aptos"/>
                <a:cs typeface="Aptos"/>
              </a:defRPr>
            </a:pPr>
            <a:r>
              <a:rPr sz="1028" b="0">
                <a:solidFill>
                  <a:srgbClr val="17324A"/>
                </a:solidFill>
                <a:latin typeface="Aptos"/>
                <a:ea typeface="Aptos"/>
                <a:cs typeface="Aptos"/>
              </a:rPr>
              <a:t>Project-defined term here; use only the approved program definition/form.</a:t>
            </a:r>
          </a:p>
        </p:txBody>
      </p:sp>
      <p:sp>
        <p:nvSpPr>
          <p:cNvPr id="47" name="s49-rule">
            <a:extLst xmlns:a="http://schemas.openxmlformats.org/drawingml/2006/main">
              <a:ext uri="{FF2B5EF4-FFF2-40B4-BE49-F238E27FC236}">
                <a16:creationId xmlns:a16="http://schemas.microsoft.com/office/drawing/2014/main" id="{167B6B59-C0DC-427C-B3A0-1E7A5B5D899E}"/>
              </a:ext>
            </a:extLst>
          </p:cNvPr>
          <p:cNvSpPr>
            <a:spLocks xmlns:a="http://schemas.openxmlformats.org/drawingml/2006/main" noGrp="1"/>
          </p:cNvSpPr>
          <p:nvPr/>
        </p:nvSpPr>
        <p:spPr>
          <a:xfrm xmlns:a="http://schemas.openxmlformats.org/drawingml/2006/main">
            <a:off x="685800" y="5772150"/>
            <a:ext cx="10820400" cy="514350"/>
          </a:xfrm>
          <a:prstGeom xmlns:a="http://schemas.openxmlformats.org/drawingml/2006/main" prst="roundRect">
            <a:avLst>
              <a:gd name="adj" fmla="val 22222"/>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B1F33"/>
                </a:solidFill>
                <a:latin typeface="Aptos"/>
                <a:ea typeface="Aptos"/>
                <a:cs typeface="Aptos"/>
              </a:defRPr>
            </a:pPr>
            <a:r>
              <a:rPr sz="1088" b="1">
                <a:solidFill>
                  <a:srgbClr val="0B1F33"/>
                </a:solidFill>
                <a:latin typeface="Aptos"/>
                <a:ea typeface="Aptos"/>
                <a:cs typeface="Aptos"/>
              </a:rPr>
              <a:t>Vocabulary is evidence hygiene: name the model role, action, environment, artifact, and approval status precisely.</a:t>
            </a:r>
          </a:p>
        </p:txBody>
      </p:sp>
    </p:spTree>
    <p:extLst>
      <p:ext uri="{BB962C8B-B14F-4D97-AF65-F5344CB8AC3E}">
        <p14:creationId xmlns:p14="http://schemas.microsoft.com/office/powerpoint/2010/main" val="786167458"/>
      </p:ext>
    </p:extLst>
  </p:cSld>
</p:sld>
</file>

<file path=ppt/slides/slide5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APPENDIX • REFERENCE</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Reference: closed-loop model and component roles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  •  APPENDIX</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50</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76ead07ff1cb4f88"/>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5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APPENDIX • REFERENCE</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Reference: autopilot mode logic and Stateflow behavior</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  •  APPENDIX</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51</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908d41e36df4117"/>
          <a:stretch xmlns:a="http://schemas.openxmlformats.org/drawingml/2006/main"/>
        </p:blipFill>
        <p:spPr>
          <a:xfrm xmlns:a="http://schemas.openxmlformats.org/drawingml/2006/main">
            <a:off x="921877" y="1752600"/>
            <a:ext cx="4480847" cy="333375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debb1dcb0af46b8"/>
          <a:stretch xmlns:a="http://schemas.openxmlformats.org/drawingml/2006/main"/>
        </p:blipFill>
        <p:spPr>
          <a:xfrm xmlns:a="http://schemas.openxmlformats.org/drawingml/2006/main">
            <a:off x="6057900" y="1955244"/>
            <a:ext cx="5448300" cy="2928461"/>
          </a:xfrm>
          <a:prstGeom xmlns:a="http://schemas.openxmlformats.org/drawingml/2006/main" prst="rect">
            <a:avLst/>
          </a:prstGeom>
        </p:spPr>
      </p:pic>
      <p:sp>
        <p:nvSpPr>
          <p:cNvPr id="38" name="s51-left-label">
            <a:extLst xmlns:a="http://schemas.openxmlformats.org/drawingml/2006/main">
              <a:ext uri="{FF2B5EF4-FFF2-40B4-BE49-F238E27FC236}">
                <a16:creationId xmlns:a16="http://schemas.microsoft.com/office/drawing/2014/main" id="{4451446A-18F0-4EEB-823F-92302C5B619B}"/>
              </a:ext>
            </a:extLst>
          </p:cNvPr>
          <p:cNvSpPr>
            <a:spLocks xmlns:a="http://schemas.openxmlformats.org/drawingml/2006/main" noGrp="1"/>
          </p:cNvSpPr>
          <p:nvPr/>
        </p:nvSpPr>
        <p:spPr>
          <a:xfrm xmlns:a="http://schemas.openxmlformats.org/drawingml/2006/main">
            <a:off x="838200" y="1466850"/>
            <a:ext cx="2171700" cy="285750"/>
          </a:xfrm>
          <a:prstGeom xmlns:a="http://schemas.openxmlformats.org/drawingml/2006/main" prst="roundRect">
            <a:avLst>
              <a:gd name="adj" fmla="val 40000"/>
            </a:avLst>
          </a:prstGeom>
          <a:solidFill xmlns:a="http://schemas.openxmlformats.org/drawingml/2006/main">
            <a:srgbClr val="20B7C5"/>
          </a:solidFill>
          <a:ln xmlns:a="http://schemas.openxmlformats.org/drawingml/2006/main" w="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MODEL WRAPPER</a:t>
            </a:r>
          </a:p>
        </p:txBody>
      </p:sp>
      <p:sp>
        <p:nvSpPr>
          <p:cNvPr id="39" name="s51-right-label">
            <a:extLst xmlns:a="http://schemas.openxmlformats.org/drawingml/2006/main">
              <a:ext uri="{FF2B5EF4-FFF2-40B4-BE49-F238E27FC236}">
                <a16:creationId xmlns:a16="http://schemas.microsoft.com/office/drawing/2014/main" id="{1E6E8D93-1C2A-4545-B9C3-3AAE902C94FE}"/>
              </a:ext>
            </a:extLst>
          </p:cNvPr>
          <p:cNvSpPr>
            <a:spLocks xmlns:a="http://schemas.openxmlformats.org/drawingml/2006/main" noGrp="1"/>
          </p:cNvSpPr>
          <p:nvPr/>
        </p:nvSpPr>
        <p:spPr>
          <a:xfrm xmlns:a="http://schemas.openxmlformats.org/drawingml/2006/main">
            <a:off x="6210300" y="1466850"/>
            <a:ext cx="2457450" cy="285750"/>
          </a:xfrm>
          <a:prstGeom xmlns:a="http://schemas.openxmlformats.org/drawingml/2006/main" prst="roundRect">
            <a:avLst>
              <a:gd name="adj" fmla="val 40000"/>
            </a:avLst>
          </a:prstGeom>
          <a:solidFill xmlns:a="http://schemas.openxmlformats.org/drawingml/2006/main">
            <a:srgbClr val="2D6CDF"/>
          </a:solidFill>
          <a:ln xmlns:a="http://schemas.openxmlformats.org/drawingml/2006/main" w="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FFFFFF"/>
                </a:solidFill>
                <a:latin typeface="Aptos"/>
                <a:ea typeface="Aptos"/>
                <a:cs typeface="Aptos"/>
              </a:defRPr>
            </a:pPr>
            <a:r>
              <a:rPr sz="960" b="1">
                <a:solidFill>
                  <a:srgbClr val="FFFFFF"/>
                </a:solidFill>
                <a:latin typeface="Aptos"/>
                <a:ea typeface="Aptos"/>
                <a:cs typeface="Aptos"/>
              </a:rPr>
              <a:t>Autopilot Mode Logic CHART</a:t>
            </a:r>
          </a:p>
        </p:txBody>
      </p:sp>
      <p:sp>
        <p:nvSpPr>
          <p:cNvPr id="40" name="s51-left-caption">
            <a:extLst xmlns:a="http://schemas.openxmlformats.org/drawingml/2006/main">
              <a:ext uri="{FF2B5EF4-FFF2-40B4-BE49-F238E27FC236}">
                <a16:creationId xmlns:a16="http://schemas.microsoft.com/office/drawing/2014/main" id="{F44BCC67-93A8-4668-A62C-FEFA49CAAB9F}"/>
              </a:ext>
            </a:extLst>
          </p:cNvPr>
          <p:cNvSpPr>
            <a:spLocks xmlns:a="http://schemas.openxmlformats.org/drawingml/2006/main" noGrp="1"/>
          </p:cNvSpPr>
          <p:nvPr/>
        </p:nvSpPr>
        <p:spPr>
          <a:xfrm xmlns:a="http://schemas.openxmlformats.org/drawingml/2006/main">
            <a:off x="685800" y="5219700"/>
            <a:ext cx="4953000" cy="552450"/>
          </a:xfrm>
          <a:prstGeom xmlns:a="http://schemas.openxmlformats.org/drawingml/2006/main" prst="roundRect">
            <a:avLst>
              <a:gd name="adj" fmla="val 2069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50" b="1">
                <a:solidFill>
                  <a:srgbClr val="071521"/>
                </a:solidFill>
                <a:latin typeface="Aptos"/>
                <a:ea typeface="Aptos"/>
                <a:cs typeface="Aptos"/>
              </a:defRPr>
            </a:pPr>
            <a:r>
              <a:rPr sz="1050" b="1">
                <a:solidFill>
                  <a:srgbClr val="071521"/>
                </a:solidFill>
                <a:latin typeface="Aptos"/>
                <a:ea typeface="Aptos"/>
                <a:cs typeface="Aptos"/>
              </a:rPr>
              <a:t>Root interfaces make mode inputs, status outputs, and ownership visible.</a:t>
            </a:r>
          </a:p>
        </p:txBody>
      </p:sp>
      <p:sp>
        <p:nvSpPr>
          <p:cNvPr id="41" name="s51-right-caption">
            <a:extLst xmlns:a="http://schemas.openxmlformats.org/drawingml/2006/main">
              <a:ext uri="{FF2B5EF4-FFF2-40B4-BE49-F238E27FC236}">
                <a16:creationId xmlns:a16="http://schemas.microsoft.com/office/drawing/2014/main" id="{84B39C00-FCA4-4CD2-84F4-C6E475C00BD7}"/>
              </a:ext>
            </a:extLst>
          </p:cNvPr>
          <p:cNvSpPr>
            <a:spLocks xmlns:a="http://schemas.openxmlformats.org/drawingml/2006/main" noGrp="1"/>
          </p:cNvSpPr>
          <p:nvPr/>
        </p:nvSpPr>
        <p:spPr>
          <a:xfrm xmlns:a="http://schemas.openxmlformats.org/drawingml/2006/main">
            <a:off x="6057900" y="5219700"/>
            <a:ext cx="5448300" cy="552450"/>
          </a:xfrm>
          <a:prstGeom xmlns:a="http://schemas.openxmlformats.org/drawingml/2006/main" prst="roundRect">
            <a:avLst>
              <a:gd name="adj" fmla="val 2069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50" b="1">
                <a:solidFill>
                  <a:srgbClr val="071521"/>
                </a:solidFill>
                <a:latin typeface="Aptos"/>
                <a:ea typeface="Aptos"/>
                <a:cs typeface="Aptos"/>
              </a:defRPr>
            </a:pPr>
            <a:r>
              <a:rPr sz="1050" b="1">
                <a:solidFill>
                  <a:srgbClr val="071521"/>
                </a:solidFill>
                <a:latin typeface="Aptos"/>
                <a:ea typeface="Aptos"/>
                <a:cs typeface="Aptos"/>
              </a:rPr>
              <a:t>Exact chart path: AutopilotModeLogic/Autopilot Mode Logic</a:t>
            </a:r>
          </a:p>
        </p:txBody>
      </p:sp>
    </p:spTree>
    <p:extLst>
      <p:ext uri="{BB962C8B-B14F-4D97-AF65-F5344CB8AC3E}">
        <p14:creationId xmlns:p14="http://schemas.microsoft.com/office/powerpoint/2010/main" val="1578336787"/>
      </p:ext>
    </p:extLst>
  </p:cSld>
</p:sld>
</file>

<file path=ppt/slides/slide5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APPENDIX • REFERENCE</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Reference: the model-reference integration architecture</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  •  APPENDIX</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52</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c1baa30b5804372"/>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5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APPENDIX • REFERENCE</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Reference: the four referenced component contracts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  •  APPENDIX</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53</a:t>
            </a:r>
          </a:p>
        </p:txBody>
      </p:sp>
      <p:sp>
        <p:nvSpPr>
          <p:cNvPr id="26" name="s53-frame-0">
            <a:extLst xmlns:a="http://schemas.openxmlformats.org/drawingml/2006/main">
              <a:ext uri="{FF2B5EF4-FFF2-40B4-BE49-F238E27FC236}">
                <a16:creationId xmlns:a16="http://schemas.microsoft.com/office/drawing/2014/main" id="{54AFDB39-B410-41C6-9C2A-FCA1984EDA0E}"/>
              </a:ext>
            </a:extLst>
          </p:cNvPr>
          <p:cNvSpPr>
            <a:spLocks xmlns:a="http://schemas.openxmlformats.org/drawingml/2006/main" noGrp="1"/>
          </p:cNvSpPr>
          <p:nvPr/>
        </p:nvSpPr>
        <p:spPr>
          <a:xfrm xmlns:a="http://schemas.openxmlformats.org/drawingml/2006/main">
            <a:off x="685800" y="1543050"/>
            <a:ext cx="53149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20B7C5"/>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0b486c07f644889"/>
          <a:stretch xmlns:a="http://schemas.openxmlformats.org/drawingml/2006/main"/>
        </p:blipFill>
        <p:spPr>
          <a:xfrm xmlns:a="http://schemas.openxmlformats.org/drawingml/2006/main">
            <a:off x="2249774" y="1885950"/>
            <a:ext cx="2187003" cy="1219200"/>
          </a:xfrm>
          <a:prstGeom xmlns:a="http://schemas.openxmlformats.org/drawingml/2006/main" prst="rect">
            <a:avLst/>
          </a:prstGeom>
        </p:spPr>
      </p:pic>
      <p:sp>
        <p:nvSpPr>
          <p:cNvPr id="28" name="s53-title-0">
            <a:extLst xmlns:a="http://schemas.openxmlformats.org/drawingml/2006/main">
              <a:ext uri="{FF2B5EF4-FFF2-40B4-BE49-F238E27FC236}">
                <a16:creationId xmlns:a16="http://schemas.microsoft.com/office/drawing/2014/main" id="{348CC9BD-13B1-48E6-AD4E-5C068C7EEB97}"/>
              </a:ext>
            </a:extLst>
          </p:cNvPr>
          <p:cNvSpPr>
            <a:spLocks xmlns:a="http://schemas.openxmlformats.org/drawingml/2006/main" noGrp="1"/>
          </p:cNvSpPr>
          <p:nvPr/>
        </p:nvSpPr>
        <p:spPr>
          <a:xfrm xmlns:a="http://schemas.openxmlformats.org/drawingml/2006/main">
            <a:off x="838200" y="16192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0B7C5"/>
                </a:solidFill>
                <a:latin typeface="Aptos"/>
                <a:ea typeface="Aptos"/>
                <a:cs typeface="Aptos"/>
              </a:defRPr>
            </a:pPr>
            <a:r>
              <a:rPr sz="1110" b="1">
                <a:solidFill>
                  <a:srgbClr val="20B7C5"/>
                </a:solidFill>
                <a:latin typeface="Aptos"/>
                <a:ea typeface="Aptos"/>
                <a:cs typeface="Aptos"/>
              </a:rPr>
              <a:t>SensorProcessingRef</a:t>
            </a:r>
          </a:p>
        </p:txBody>
      </p:sp>
      <p:sp>
        <p:nvSpPr>
          <p:cNvPr id="29" name="s53-caption-0">
            <a:extLst xmlns:a="http://schemas.openxmlformats.org/drawingml/2006/main">
              <a:ext uri="{FF2B5EF4-FFF2-40B4-BE49-F238E27FC236}">
                <a16:creationId xmlns:a16="http://schemas.microsoft.com/office/drawing/2014/main" id="{F99B4809-F906-43A4-9A18-3DFEA3C4BDF5}"/>
              </a:ext>
            </a:extLst>
          </p:cNvPr>
          <p:cNvSpPr>
            <a:spLocks xmlns:a="http://schemas.openxmlformats.org/drawingml/2006/main" noGrp="1"/>
          </p:cNvSpPr>
          <p:nvPr/>
        </p:nvSpPr>
        <p:spPr>
          <a:xfrm xmlns:a="http://schemas.openxmlformats.org/drawingml/2006/main">
            <a:off x="838200" y="3162300"/>
            <a:ext cx="501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sensor contract</a:t>
            </a:r>
          </a:p>
        </p:txBody>
      </p:sp>
      <p:sp>
        <p:nvSpPr>
          <p:cNvPr id="30" name="s53-frame-1">
            <a:extLst xmlns:a="http://schemas.openxmlformats.org/drawingml/2006/main">
              <a:ext uri="{FF2B5EF4-FFF2-40B4-BE49-F238E27FC236}">
                <a16:creationId xmlns:a16="http://schemas.microsoft.com/office/drawing/2014/main" id="{901B8F8E-176C-4759-AADC-E9B0171967A8}"/>
              </a:ext>
            </a:extLst>
          </p:cNvPr>
          <p:cNvSpPr>
            <a:spLocks xmlns:a="http://schemas.openxmlformats.org/drawingml/2006/main" noGrp="1"/>
          </p:cNvSpPr>
          <p:nvPr/>
        </p:nvSpPr>
        <p:spPr>
          <a:xfrm xmlns:a="http://schemas.openxmlformats.org/drawingml/2006/main">
            <a:off x="6191250" y="1543050"/>
            <a:ext cx="53149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20B7C5"/>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4d30b161d5c542c3"/>
          <a:stretch xmlns:a="http://schemas.openxmlformats.org/drawingml/2006/main"/>
        </p:blipFill>
        <p:spPr>
          <a:xfrm xmlns:a="http://schemas.openxmlformats.org/drawingml/2006/main">
            <a:off x="7838509" y="1885950"/>
            <a:ext cx="2020433" cy="1219200"/>
          </a:xfrm>
          <a:prstGeom xmlns:a="http://schemas.openxmlformats.org/drawingml/2006/main" prst="rect">
            <a:avLst/>
          </a:prstGeom>
        </p:spPr>
      </p:pic>
      <p:sp>
        <p:nvSpPr>
          <p:cNvPr id="32" name="s53-title-1">
            <a:extLst xmlns:a="http://schemas.openxmlformats.org/drawingml/2006/main">
              <a:ext uri="{FF2B5EF4-FFF2-40B4-BE49-F238E27FC236}">
                <a16:creationId xmlns:a16="http://schemas.microsoft.com/office/drawing/2014/main" id="{A5F96018-6F74-4DF1-B670-D806723B0D8B}"/>
              </a:ext>
            </a:extLst>
          </p:cNvPr>
          <p:cNvSpPr>
            <a:spLocks xmlns:a="http://schemas.openxmlformats.org/drawingml/2006/main" noGrp="1"/>
          </p:cNvSpPr>
          <p:nvPr/>
        </p:nvSpPr>
        <p:spPr>
          <a:xfrm xmlns:a="http://schemas.openxmlformats.org/drawingml/2006/main">
            <a:off x="6343650" y="16192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0B7C5"/>
                </a:solidFill>
                <a:latin typeface="Aptos"/>
                <a:ea typeface="Aptos"/>
                <a:cs typeface="Aptos"/>
              </a:defRPr>
            </a:pPr>
            <a:r>
              <a:rPr sz="1110" b="1">
                <a:solidFill>
                  <a:srgbClr val="20B7C5"/>
                </a:solidFill>
                <a:latin typeface="Aptos"/>
                <a:ea typeface="Aptos"/>
                <a:cs typeface="Aptos"/>
              </a:rPr>
              <a:t>PitchRateLimiter</a:t>
            </a:r>
          </a:p>
        </p:txBody>
      </p:sp>
      <p:sp>
        <p:nvSpPr>
          <p:cNvPr id="33" name="s53-caption-1">
            <a:extLst xmlns:a="http://schemas.openxmlformats.org/drawingml/2006/main">
              <a:ext uri="{FF2B5EF4-FFF2-40B4-BE49-F238E27FC236}">
                <a16:creationId xmlns:a16="http://schemas.microsoft.com/office/drawing/2014/main" id="{6BA80312-6191-41DA-BA91-FC4B72C5C775}"/>
              </a:ext>
            </a:extLst>
          </p:cNvPr>
          <p:cNvSpPr>
            <a:spLocks xmlns:a="http://schemas.openxmlformats.org/drawingml/2006/main" noGrp="1"/>
          </p:cNvSpPr>
          <p:nvPr/>
        </p:nvSpPr>
        <p:spPr>
          <a:xfrm xmlns:a="http://schemas.openxmlformats.org/drawingml/2006/main">
            <a:off x="6343650" y="3162300"/>
            <a:ext cx="501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command protection</a:t>
            </a:r>
          </a:p>
        </p:txBody>
      </p:sp>
      <p:sp>
        <p:nvSpPr>
          <p:cNvPr id="34" name="s53-frame-2">
            <a:extLst xmlns:a="http://schemas.openxmlformats.org/drawingml/2006/main">
              <a:ext uri="{FF2B5EF4-FFF2-40B4-BE49-F238E27FC236}">
                <a16:creationId xmlns:a16="http://schemas.microsoft.com/office/drawing/2014/main" id="{8D84BB64-8D21-48B9-8B6E-FEEA52A2A544}"/>
              </a:ext>
            </a:extLst>
          </p:cNvPr>
          <p:cNvSpPr>
            <a:spLocks xmlns:a="http://schemas.openxmlformats.org/drawingml/2006/main" noGrp="1"/>
          </p:cNvSpPr>
          <p:nvPr/>
        </p:nvSpPr>
        <p:spPr>
          <a:xfrm xmlns:a="http://schemas.openxmlformats.org/drawingml/2006/main">
            <a:off x="685800" y="3752850"/>
            <a:ext cx="53149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20B7C5"/>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845aa98221ef4c00"/>
          <a:stretch xmlns:a="http://schemas.openxmlformats.org/drawingml/2006/main"/>
        </p:blipFill>
        <p:spPr>
          <a:xfrm xmlns:a="http://schemas.openxmlformats.org/drawingml/2006/main">
            <a:off x="2251702" y="4095750"/>
            <a:ext cx="2183147" cy="1219200"/>
          </a:xfrm>
          <a:prstGeom xmlns:a="http://schemas.openxmlformats.org/drawingml/2006/main" prst="rect">
            <a:avLst/>
          </a:prstGeom>
        </p:spPr>
      </p:pic>
      <p:sp>
        <p:nvSpPr>
          <p:cNvPr id="36" name="s53-title-2">
            <a:extLst xmlns:a="http://schemas.openxmlformats.org/drawingml/2006/main">
              <a:ext uri="{FF2B5EF4-FFF2-40B4-BE49-F238E27FC236}">
                <a16:creationId xmlns:a16="http://schemas.microsoft.com/office/drawing/2014/main" id="{3B889E1C-E58A-405B-B355-CE9294734F0D}"/>
              </a:ext>
            </a:extLst>
          </p:cNvPr>
          <p:cNvSpPr>
            <a:spLocks xmlns:a="http://schemas.openxmlformats.org/drawingml/2006/main" noGrp="1"/>
          </p:cNvSpPr>
          <p:nvPr/>
        </p:nvSpPr>
        <p:spPr>
          <a:xfrm xmlns:a="http://schemas.openxmlformats.org/drawingml/2006/main">
            <a:off x="838200" y="38290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0B7C5"/>
                </a:solidFill>
                <a:latin typeface="Aptos"/>
                <a:ea typeface="Aptos"/>
                <a:cs typeface="Aptos"/>
              </a:defRPr>
            </a:pPr>
            <a:r>
              <a:rPr sz="1110" b="1">
                <a:solidFill>
                  <a:srgbClr val="20B7C5"/>
                </a:solidFill>
                <a:latin typeface="Aptos"/>
                <a:ea typeface="Aptos"/>
                <a:cs typeface="Aptos"/>
              </a:rPr>
              <a:t>PitchControllerRef</a:t>
            </a:r>
          </a:p>
        </p:txBody>
      </p:sp>
      <p:sp>
        <p:nvSpPr>
          <p:cNvPr id="37" name="s53-caption-2">
            <a:extLst xmlns:a="http://schemas.openxmlformats.org/drawingml/2006/main">
              <a:ext uri="{FF2B5EF4-FFF2-40B4-BE49-F238E27FC236}">
                <a16:creationId xmlns:a16="http://schemas.microsoft.com/office/drawing/2014/main" id="{BA9270EC-F623-480D-A017-207F9BAAE857}"/>
              </a:ext>
            </a:extLst>
          </p:cNvPr>
          <p:cNvSpPr>
            <a:spLocks xmlns:a="http://schemas.openxmlformats.org/drawingml/2006/main" noGrp="1"/>
          </p:cNvSpPr>
          <p:nvPr/>
        </p:nvSpPr>
        <p:spPr>
          <a:xfrm xmlns:a="http://schemas.openxmlformats.org/drawingml/2006/main">
            <a:off x="838200" y="5372100"/>
            <a:ext cx="501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control-law boundary</a:t>
            </a:r>
          </a:p>
        </p:txBody>
      </p:sp>
      <p:sp>
        <p:nvSpPr>
          <p:cNvPr id="38" name="s53-frame-3">
            <a:extLst xmlns:a="http://schemas.openxmlformats.org/drawingml/2006/main">
              <a:ext uri="{FF2B5EF4-FFF2-40B4-BE49-F238E27FC236}">
                <a16:creationId xmlns:a16="http://schemas.microsoft.com/office/drawing/2014/main" id="{60079D4C-DB1A-452F-A0FA-3CF69CFE42B0}"/>
              </a:ext>
            </a:extLst>
          </p:cNvPr>
          <p:cNvSpPr>
            <a:spLocks xmlns:a="http://schemas.openxmlformats.org/drawingml/2006/main" noGrp="1"/>
          </p:cNvSpPr>
          <p:nvPr/>
        </p:nvSpPr>
        <p:spPr>
          <a:xfrm xmlns:a="http://schemas.openxmlformats.org/drawingml/2006/main">
            <a:off x="6191250" y="3752850"/>
            <a:ext cx="53149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20B7C5"/>
            </a:solidFill>
            <a:prstDash val="solid"/>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1455fdf814234859"/>
          <a:stretch xmlns:a="http://schemas.openxmlformats.org/drawingml/2006/main"/>
        </p:blipFill>
        <p:spPr>
          <a:xfrm xmlns:a="http://schemas.openxmlformats.org/drawingml/2006/main">
            <a:off x="7796095" y="4095750"/>
            <a:ext cx="2105260" cy="1219200"/>
          </a:xfrm>
          <a:prstGeom xmlns:a="http://schemas.openxmlformats.org/drawingml/2006/main" prst="rect">
            <a:avLst/>
          </a:prstGeom>
        </p:spPr>
      </p:pic>
      <p:sp>
        <p:nvSpPr>
          <p:cNvPr id="40" name="s53-title-3">
            <a:extLst xmlns:a="http://schemas.openxmlformats.org/drawingml/2006/main">
              <a:ext uri="{FF2B5EF4-FFF2-40B4-BE49-F238E27FC236}">
                <a16:creationId xmlns:a16="http://schemas.microsoft.com/office/drawing/2014/main" id="{5531B92E-792E-45F4-8121-48AFC8317A13}"/>
              </a:ext>
            </a:extLst>
          </p:cNvPr>
          <p:cNvSpPr>
            <a:spLocks xmlns:a="http://schemas.openxmlformats.org/drawingml/2006/main" noGrp="1"/>
          </p:cNvSpPr>
          <p:nvPr/>
        </p:nvSpPr>
        <p:spPr>
          <a:xfrm xmlns:a="http://schemas.openxmlformats.org/drawingml/2006/main">
            <a:off x="6343650" y="38290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0B7C5"/>
                </a:solidFill>
                <a:latin typeface="Aptos"/>
                <a:ea typeface="Aptos"/>
                <a:cs typeface="Aptos"/>
              </a:defRPr>
            </a:pPr>
            <a:r>
              <a:rPr sz="1110" b="1">
                <a:solidFill>
                  <a:srgbClr val="20B7C5"/>
                </a:solidFill>
                <a:latin typeface="Aptos"/>
                <a:ea typeface="Aptos"/>
                <a:cs typeface="Aptos"/>
              </a:rPr>
              <a:t>ActuatorCommandRef</a:t>
            </a:r>
          </a:p>
        </p:txBody>
      </p:sp>
      <p:sp>
        <p:nvSpPr>
          <p:cNvPr id="41" name="s53-caption-3">
            <a:extLst xmlns:a="http://schemas.openxmlformats.org/drawingml/2006/main">
              <a:ext uri="{FF2B5EF4-FFF2-40B4-BE49-F238E27FC236}">
                <a16:creationId xmlns:a16="http://schemas.microsoft.com/office/drawing/2014/main" id="{750857C4-BD6A-446D-B35F-DE0593D37AF1}"/>
              </a:ext>
            </a:extLst>
          </p:cNvPr>
          <p:cNvSpPr>
            <a:spLocks xmlns:a="http://schemas.openxmlformats.org/drawingml/2006/main" noGrp="1"/>
          </p:cNvSpPr>
          <p:nvPr/>
        </p:nvSpPr>
        <p:spPr>
          <a:xfrm xmlns:a="http://schemas.openxmlformats.org/drawingml/2006/main">
            <a:off x="6343650" y="5372100"/>
            <a:ext cx="501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actuator command/status</a:t>
            </a:r>
          </a:p>
        </p:txBody>
      </p:sp>
      <p:sp>
        <p:nvSpPr>
          <p:cNvPr id="42" name="s53-rule">
            <a:extLst xmlns:a="http://schemas.openxmlformats.org/drawingml/2006/main">
              <a:ext uri="{FF2B5EF4-FFF2-40B4-BE49-F238E27FC236}">
                <a16:creationId xmlns:a16="http://schemas.microsoft.com/office/drawing/2014/main" id="{4D736D84-D4A1-49CF-AC15-D31B416DB45B}"/>
              </a:ext>
            </a:extLst>
          </p:cNvPr>
          <p:cNvSpPr>
            <a:spLocks xmlns:a="http://schemas.openxmlformats.org/drawingml/2006/main" noGrp="1"/>
          </p:cNvSpPr>
          <p:nvPr/>
        </p:nvSpPr>
        <p:spPr>
          <a:xfrm xmlns:a="http://schemas.openxmlformats.org/drawingml/2006/main">
            <a:off x="685800" y="5753100"/>
            <a:ext cx="10820400" cy="514350"/>
          </a:xfrm>
          <a:prstGeom xmlns:a="http://schemas.openxmlformats.org/drawingml/2006/main" prst="roundRect">
            <a:avLst>
              <a:gd name="adj" fmla="val 22222"/>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B1F33"/>
                </a:solidFill>
                <a:latin typeface="Aptos"/>
                <a:ea typeface="Aptos"/>
                <a:cs typeface="Aptos"/>
              </a:defRPr>
            </a:pPr>
            <a:r>
              <a:rPr sz="1088" b="1">
                <a:solidFill>
                  <a:srgbClr val="0B1F33"/>
                </a:solidFill>
                <a:latin typeface="Aptos"/>
                <a:ea typeface="Aptos"/>
                <a:cs typeface="Aptos"/>
              </a:rPr>
              <a:t>The integration parent owns composition; each referenced child owns a focused contract and can be updated, reviewed, and built explicitly.</a:t>
            </a:r>
          </a:p>
        </p:txBody>
      </p:sp>
    </p:spTree>
    <p:extLst>
      <p:ext uri="{BB962C8B-B14F-4D97-AF65-F5344CB8AC3E}">
        <p14:creationId xmlns:p14="http://schemas.microsoft.com/office/powerpoint/2010/main" val="112507120"/>
      </p:ext>
    </p:extLst>
  </p:cSld>
</p:sld>
</file>

<file path=ppt/slides/slide5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APPENDIX • REFERENCE</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Reference: 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  •  APPENDIX</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54</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c7e9fbac2a6344ae"/>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5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APPENDIX • REFERENCE</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Reference: callbacks and the retained test driver are separate paths</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  •  APPENDIX</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55</a:t>
            </a:r>
          </a:p>
        </p:txBody>
      </p:sp>
      <p:sp>
        <p:nvSpPr>
          <p:cNvPr id="23" name="s45-banner">
            <a:extLst xmlns:a="http://schemas.openxmlformats.org/drawingml/2006/main">
              <a:ext uri="{FF2B5EF4-FFF2-40B4-BE49-F238E27FC236}">
                <a16:creationId xmlns:a16="http://schemas.microsoft.com/office/drawing/2014/main" id="{37599507-69D4-4617-BC5F-E12C2F90D0E8}"/>
              </a:ext>
            </a:extLst>
          </p:cNvPr>
          <p:cNvSpPr>
            <a:spLocks xmlns:a="http://schemas.openxmlformats.org/drawingml/2006/main" noGrp="1"/>
          </p:cNvSpPr>
          <p:nvPr/>
        </p:nvSpPr>
        <p:spPr>
          <a:xfrm xmlns:a="http://schemas.openxmlformats.org/drawingml/2006/main">
            <a:off x="685800" y="1428750"/>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TWO SEPARATE EXECUTION PATHS  •  DO NOT DRAW A PIPELINE BETWEEN THEM</a:t>
            </a:r>
          </a:p>
        </p:txBody>
      </p:sp>
      <p:sp>
        <p:nvSpPr>
          <p:cNvPr id="24" name="s45-lane-0">
            <a:extLst xmlns:a="http://schemas.openxmlformats.org/drawingml/2006/main">
              <a:ext uri="{FF2B5EF4-FFF2-40B4-BE49-F238E27FC236}">
                <a16:creationId xmlns:a16="http://schemas.microsoft.com/office/drawing/2014/main" id="{BBE65BD6-85F6-4CC3-8DB6-A6B8B78764D3}"/>
              </a:ext>
            </a:extLst>
          </p:cNvPr>
          <p:cNvSpPr>
            <a:spLocks xmlns:a="http://schemas.openxmlformats.org/drawingml/2006/main" noGrp="1"/>
          </p:cNvSpPr>
          <p:nvPr/>
        </p:nvSpPr>
        <p:spPr>
          <a:xfrm xmlns:a="http://schemas.openxmlformats.org/drawingml/2006/main">
            <a:off x="685800" y="2009775"/>
            <a:ext cx="5219700" cy="3314700"/>
          </a:xfrm>
          <a:prstGeom xmlns:a="http://schemas.openxmlformats.org/drawingml/2006/main" prst="roundRect">
            <a:avLst>
              <a:gd name="adj" fmla="val 3448"/>
            </a:avLst>
          </a:prstGeom>
          <a:solidFill xmlns:a="http://schemas.openxmlformats.org/drawingml/2006/main">
            <a:srgbClr val="DFF6F8"/>
          </a:solidFill>
          <a:ln xmlns:a="http://schemas.openxmlformats.org/drawingml/2006/main" w="17145">
            <a:solidFill>
              <a:srgbClr val="20B7C5"/>
            </a:solidFill>
            <a:prstDash val="solid"/>
          </a:ln>
        </p:spPr>
      </p:sp>
      <p:sp>
        <p:nvSpPr>
          <p:cNvPr id="25" name="s45-lane-title-0">
            <a:extLst xmlns:a="http://schemas.openxmlformats.org/drawingml/2006/main">
              <a:ext uri="{FF2B5EF4-FFF2-40B4-BE49-F238E27FC236}">
                <a16:creationId xmlns:a16="http://schemas.microsoft.com/office/drawing/2014/main" id="{3872F86D-4BB9-440B-BAAA-2222B08CE9C9}"/>
              </a:ext>
            </a:extLst>
          </p:cNvPr>
          <p:cNvSpPr>
            <a:spLocks xmlns:a="http://schemas.openxmlformats.org/drawingml/2006/main" noGrp="1"/>
          </p:cNvSpPr>
          <p:nvPr/>
        </p:nvSpPr>
        <p:spPr>
          <a:xfrm xmlns:a="http://schemas.openxmlformats.org/drawingml/2006/main">
            <a:off x="876300" y="2152650"/>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0B7C5"/>
                </a:solidFill>
                <a:latin typeface="Aptos"/>
                <a:ea typeface="Aptos"/>
                <a:cs typeface="Aptos"/>
              </a:defRPr>
            </a:pPr>
            <a:r>
              <a:rPr sz="1313" b="1">
                <a:solidFill>
                  <a:srgbClr val="20B7C5"/>
                </a:solidFill>
                <a:latin typeface="Aptos"/>
                <a:ea typeface="Aptos"/>
                <a:cs typeface="Aptos"/>
              </a:rPr>
              <a:t>CALLBACK EXAMPLE</a:t>
            </a:r>
          </a:p>
        </p:txBody>
      </p:sp>
      <p:sp>
        <p:nvSpPr>
          <p:cNvPr id="26" name="s45-step-0-0">
            <a:extLst xmlns:a="http://schemas.openxmlformats.org/drawingml/2006/main">
              <a:ext uri="{FF2B5EF4-FFF2-40B4-BE49-F238E27FC236}">
                <a16:creationId xmlns:a16="http://schemas.microsoft.com/office/drawing/2014/main" id="{7FAA01AB-954F-4BF3-8379-499F9FE5C5A2}"/>
              </a:ext>
            </a:extLst>
          </p:cNvPr>
          <p:cNvSpPr>
            <a:spLocks xmlns:a="http://schemas.openxmlformats.org/drawingml/2006/main" noGrp="1"/>
          </p:cNvSpPr>
          <p:nvPr/>
        </p:nvSpPr>
        <p:spPr>
          <a:xfrm xmlns:a="http://schemas.openxmlformats.org/drawingml/2006/main">
            <a:off x="971550" y="25908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1  callback_workflow_example.m</a:t>
            </a:r>
          </a:p>
        </p:txBody>
      </p:sp>
      <p:sp>
        <p:nvSpPr>
          <p:cNvPr id="27" name="s45-arrow-0-0">
            <a:extLst xmlns:a="http://schemas.openxmlformats.org/drawingml/2006/main">
              <a:ext uri="{FF2B5EF4-FFF2-40B4-BE49-F238E27FC236}">
                <a16:creationId xmlns:a16="http://schemas.microsoft.com/office/drawing/2014/main" id="{982FE483-3EE6-4C1C-A5B3-CF20B7DB3169}"/>
              </a:ext>
            </a:extLst>
          </p:cNvPr>
          <p:cNvSpPr>
            <a:spLocks xmlns:a="http://schemas.openxmlformats.org/drawingml/2006/main" noGrp="1"/>
          </p:cNvSpPr>
          <p:nvPr/>
        </p:nvSpPr>
        <p:spPr>
          <a:xfrm xmlns:a="http://schemas.openxmlformats.org/drawingml/2006/main">
            <a:off x="3105150" y="29051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28" name="s45-step-0-1">
            <a:extLst xmlns:a="http://schemas.openxmlformats.org/drawingml/2006/main">
              <a:ext uri="{FF2B5EF4-FFF2-40B4-BE49-F238E27FC236}">
                <a16:creationId xmlns:a16="http://schemas.microsoft.com/office/drawing/2014/main" id="{931923A0-1684-4684-B29D-8512FE5474F8}"/>
              </a:ext>
            </a:extLst>
          </p:cNvPr>
          <p:cNvSpPr>
            <a:spLocks xmlns:a="http://schemas.openxmlformats.org/drawingml/2006/main" noGrp="1"/>
          </p:cNvSpPr>
          <p:nvPr/>
        </p:nvSpPr>
        <p:spPr>
          <a:xfrm xmlns:a="http://schemas.openxmlformats.org/drawingml/2006/main">
            <a:off x="971550" y="30480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2  preload calls setup when context is absent</a:t>
            </a:r>
          </a:p>
        </p:txBody>
      </p:sp>
      <p:sp>
        <p:nvSpPr>
          <p:cNvPr id="29" name="s45-arrow-0-1">
            <a:extLst xmlns:a="http://schemas.openxmlformats.org/drawingml/2006/main">
              <a:ext uri="{FF2B5EF4-FFF2-40B4-BE49-F238E27FC236}">
                <a16:creationId xmlns:a16="http://schemas.microsoft.com/office/drawing/2014/main" id="{BF4F988C-DB5C-4AA0-AE45-13CE112D2999}"/>
              </a:ext>
            </a:extLst>
          </p:cNvPr>
          <p:cNvSpPr>
            <a:spLocks xmlns:a="http://schemas.openxmlformats.org/drawingml/2006/main" noGrp="1"/>
          </p:cNvSpPr>
          <p:nvPr/>
        </p:nvSpPr>
        <p:spPr>
          <a:xfrm xmlns:a="http://schemas.openxmlformats.org/drawingml/2006/main">
            <a:off x="3105150" y="33623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0" name="s45-step-0-2">
            <a:extLst xmlns:a="http://schemas.openxmlformats.org/drawingml/2006/main">
              <a:ext uri="{FF2B5EF4-FFF2-40B4-BE49-F238E27FC236}">
                <a16:creationId xmlns:a16="http://schemas.microsoft.com/office/drawing/2014/main" id="{1CC233ED-08E5-4CA2-B17E-1C7AFB4542FD}"/>
              </a:ext>
            </a:extLst>
          </p:cNvPr>
          <p:cNvSpPr>
            <a:spLocks xmlns:a="http://schemas.openxmlformats.org/drawingml/2006/main" noGrp="1"/>
          </p:cNvSpPr>
          <p:nvPr/>
        </p:nvSpPr>
        <p:spPr>
          <a:xfrm xmlns:a="http://schemas.openxmlformats.org/drawingml/2006/main">
            <a:off x="971550" y="35052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3  setup creates Dataset/context; preload stores state</a:t>
            </a:r>
          </a:p>
        </p:txBody>
      </p:sp>
      <p:sp>
        <p:nvSpPr>
          <p:cNvPr id="31" name="s45-arrow-0-2">
            <a:extLst xmlns:a="http://schemas.openxmlformats.org/drawingml/2006/main">
              <a:ext uri="{FF2B5EF4-FFF2-40B4-BE49-F238E27FC236}">
                <a16:creationId xmlns:a16="http://schemas.microsoft.com/office/drawing/2014/main" id="{80B8D4F0-EF3E-426B-97FE-5761670BFC31}"/>
              </a:ext>
            </a:extLst>
          </p:cNvPr>
          <p:cNvSpPr>
            <a:spLocks xmlns:a="http://schemas.openxmlformats.org/drawingml/2006/main" noGrp="1"/>
          </p:cNvSpPr>
          <p:nvPr/>
        </p:nvSpPr>
        <p:spPr>
          <a:xfrm xmlns:a="http://schemas.openxmlformats.org/drawingml/2006/main">
            <a:off x="3105150" y="38195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2" name="s45-step-0-3">
            <a:extLst xmlns:a="http://schemas.openxmlformats.org/drawingml/2006/main">
              <a:ext uri="{FF2B5EF4-FFF2-40B4-BE49-F238E27FC236}">
                <a16:creationId xmlns:a16="http://schemas.microsoft.com/office/drawing/2014/main" id="{03BBAD82-7E5C-4905-8CA0-CA0E943C1036}"/>
              </a:ext>
            </a:extLst>
          </p:cNvPr>
          <p:cNvSpPr>
            <a:spLocks xmlns:a="http://schemas.openxmlformats.org/drawingml/2006/main" noGrp="1"/>
          </p:cNvSpPr>
          <p:nvPr/>
        </p:nvSpPr>
        <p:spPr>
          <a:xfrm xmlns:a="http://schemas.openxmlformats.org/drawingml/2006/main">
            <a:off x="971550" y="39624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4  postload configures standalone PitchRateLimiter</a:t>
            </a:r>
          </a:p>
        </p:txBody>
      </p:sp>
      <p:sp>
        <p:nvSpPr>
          <p:cNvPr id="33" name="s45-arrow-0-3">
            <a:extLst xmlns:a="http://schemas.openxmlformats.org/drawingml/2006/main">
              <a:ext uri="{FF2B5EF4-FFF2-40B4-BE49-F238E27FC236}">
                <a16:creationId xmlns:a16="http://schemas.microsoft.com/office/drawing/2014/main" id="{7ECFF15D-55F6-4FE0-B880-6936441F690D}"/>
              </a:ext>
            </a:extLst>
          </p:cNvPr>
          <p:cNvSpPr>
            <a:spLocks xmlns:a="http://schemas.openxmlformats.org/drawingml/2006/main" noGrp="1"/>
          </p:cNvSpPr>
          <p:nvPr/>
        </p:nvSpPr>
        <p:spPr>
          <a:xfrm xmlns:a="http://schemas.openxmlformats.org/drawingml/2006/main">
            <a:off x="3105150" y="42767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4" name="s45-step-0-4">
            <a:extLst xmlns:a="http://schemas.openxmlformats.org/drawingml/2006/main">
              <a:ext uri="{FF2B5EF4-FFF2-40B4-BE49-F238E27FC236}">
                <a16:creationId xmlns:a16="http://schemas.microsoft.com/office/drawing/2014/main" id="{D998898C-F161-45BB-BB00-C0D6D8189EB1}"/>
              </a:ext>
            </a:extLst>
          </p:cNvPr>
          <p:cNvSpPr>
            <a:spLocks xmlns:a="http://schemas.openxmlformats.org/drawingml/2006/main" noGrp="1"/>
          </p:cNvSpPr>
          <p:nvPr/>
        </p:nvSpPr>
        <p:spPr>
          <a:xfrm xmlns:a="http://schemas.openxmlformats.org/drawingml/2006/main">
            <a:off x="971550" y="44196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5  optional standalone simulation</a:t>
            </a:r>
          </a:p>
        </p:txBody>
      </p:sp>
      <p:sp>
        <p:nvSpPr>
          <p:cNvPr id="35" name="s45-lane-footer-0">
            <a:extLst xmlns:a="http://schemas.openxmlformats.org/drawingml/2006/main">
              <a:ext uri="{FF2B5EF4-FFF2-40B4-BE49-F238E27FC236}">
                <a16:creationId xmlns:a16="http://schemas.microsoft.com/office/drawing/2014/main" id="{816BF4EC-0949-42A0-AFDA-151F2E76A30A}"/>
              </a:ext>
            </a:extLst>
          </p:cNvPr>
          <p:cNvSpPr>
            <a:spLocks xmlns:a="http://schemas.openxmlformats.org/drawingml/2006/main" noGrp="1"/>
          </p:cNvSpPr>
          <p:nvPr/>
        </p:nvSpPr>
        <p:spPr>
          <a:xfrm xmlns:a="http://schemas.openxmlformats.org/drawingml/2006/main">
            <a:off x="895350" y="4972050"/>
            <a:ext cx="480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15" b="1">
                <a:solidFill>
                  <a:srgbClr val="20B7C5"/>
                </a:solidFill>
                <a:latin typeface="Aptos"/>
                <a:ea typeface="Aptos"/>
                <a:cs typeface="Aptos"/>
              </a:defRPr>
            </a:pPr>
            <a:r>
              <a:rPr sz="915" b="1">
                <a:solidFill>
                  <a:srgbClr val="20B7C5"/>
                </a:solidFill>
                <a:latin typeface="Aptos"/>
                <a:ea typeface="Aptos"/>
                <a:cs typeface="Aptos"/>
              </a:rPr>
              <a:t>NO HARNESS DRIVER  •  NO ORACLE  •  NO EVIDENCE REPORT</a:t>
            </a:r>
          </a:p>
        </p:txBody>
      </p:sp>
      <p:sp>
        <p:nvSpPr>
          <p:cNvPr id="36" name="s45-lane-1">
            <a:extLst xmlns:a="http://schemas.openxmlformats.org/drawingml/2006/main">
              <a:ext uri="{FF2B5EF4-FFF2-40B4-BE49-F238E27FC236}">
                <a16:creationId xmlns:a16="http://schemas.microsoft.com/office/drawing/2014/main" id="{A5420D9F-01C3-4813-99B8-B380FF2A68E1}"/>
              </a:ext>
            </a:extLst>
          </p:cNvPr>
          <p:cNvSpPr>
            <a:spLocks xmlns:a="http://schemas.openxmlformats.org/drawingml/2006/main" noGrp="1"/>
          </p:cNvSpPr>
          <p:nvPr/>
        </p:nvSpPr>
        <p:spPr>
          <a:xfrm xmlns:a="http://schemas.openxmlformats.org/drawingml/2006/main">
            <a:off x="6286500" y="2009775"/>
            <a:ext cx="5219700" cy="3314700"/>
          </a:xfrm>
          <a:prstGeom xmlns:a="http://schemas.openxmlformats.org/drawingml/2006/main" prst="roundRect">
            <a:avLst>
              <a:gd name="adj" fmla="val 3448"/>
            </a:avLst>
          </a:prstGeom>
          <a:solidFill xmlns:a="http://schemas.openxmlformats.org/drawingml/2006/main">
            <a:srgbClr val="E2F4EA"/>
          </a:solidFill>
          <a:ln xmlns:a="http://schemas.openxmlformats.org/drawingml/2006/main" w="17145">
            <a:solidFill>
              <a:srgbClr val="2CA56F"/>
            </a:solidFill>
            <a:prstDash val="solid"/>
          </a:ln>
        </p:spPr>
      </p:sp>
      <p:sp>
        <p:nvSpPr>
          <p:cNvPr id="37" name="s45-lane-title-1">
            <a:extLst xmlns:a="http://schemas.openxmlformats.org/drawingml/2006/main">
              <a:ext uri="{FF2B5EF4-FFF2-40B4-BE49-F238E27FC236}">
                <a16:creationId xmlns:a16="http://schemas.microsoft.com/office/drawing/2014/main" id="{FAB7E30D-9ADB-4C5A-B211-85A89A929FF8}"/>
              </a:ext>
            </a:extLst>
          </p:cNvPr>
          <p:cNvSpPr>
            <a:spLocks xmlns:a="http://schemas.openxmlformats.org/drawingml/2006/main" noGrp="1"/>
          </p:cNvSpPr>
          <p:nvPr/>
        </p:nvSpPr>
        <p:spPr>
          <a:xfrm xmlns:a="http://schemas.openxmlformats.org/drawingml/2006/main">
            <a:off x="6477000" y="2152650"/>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RETAINED LIMITER ASSESSMENT</a:t>
            </a:r>
          </a:p>
        </p:txBody>
      </p:sp>
      <p:sp>
        <p:nvSpPr>
          <p:cNvPr id="38" name="s45-step-1-0">
            <a:extLst xmlns:a="http://schemas.openxmlformats.org/drawingml/2006/main">
              <a:ext uri="{FF2B5EF4-FFF2-40B4-BE49-F238E27FC236}">
                <a16:creationId xmlns:a16="http://schemas.microsoft.com/office/drawing/2014/main" id="{FE87AC8C-7E25-486F-A1EA-0F28E44C0A7A}"/>
              </a:ext>
            </a:extLst>
          </p:cNvPr>
          <p:cNvSpPr>
            <a:spLocks xmlns:a="http://schemas.openxmlformats.org/drawingml/2006/main" noGrp="1"/>
          </p:cNvSpPr>
          <p:nvPr/>
        </p:nvSpPr>
        <p:spPr>
          <a:xfrm xmlns:a="http://schemas.openxmlformats.org/drawingml/2006/main">
            <a:off x="6572250" y="25908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1  initialize_training_data.m</a:t>
            </a:r>
          </a:p>
        </p:txBody>
      </p:sp>
      <p:sp>
        <p:nvSpPr>
          <p:cNvPr id="39" name="s45-arrow-1-0">
            <a:extLst xmlns:a="http://schemas.openxmlformats.org/drawingml/2006/main">
              <a:ext uri="{FF2B5EF4-FFF2-40B4-BE49-F238E27FC236}">
                <a16:creationId xmlns:a16="http://schemas.microsoft.com/office/drawing/2014/main" id="{3AD7D8C0-E553-41F8-8879-148B7304378C}"/>
              </a:ext>
            </a:extLst>
          </p:cNvPr>
          <p:cNvSpPr>
            <a:spLocks xmlns:a="http://schemas.openxmlformats.org/drawingml/2006/main" noGrp="1"/>
          </p:cNvSpPr>
          <p:nvPr/>
        </p:nvSpPr>
        <p:spPr>
          <a:xfrm xmlns:a="http://schemas.openxmlformats.org/drawingml/2006/main">
            <a:off x="8705850" y="29051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0" name="s45-step-1-1">
            <a:extLst xmlns:a="http://schemas.openxmlformats.org/drawingml/2006/main">
              <a:ext uri="{FF2B5EF4-FFF2-40B4-BE49-F238E27FC236}">
                <a16:creationId xmlns:a16="http://schemas.microsoft.com/office/drawing/2014/main" id="{38D3A214-3C2E-4993-AF3A-A422260D9ED4}"/>
              </a:ext>
            </a:extLst>
          </p:cNvPr>
          <p:cNvSpPr>
            <a:spLocks xmlns:a="http://schemas.openxmlformats.org/drawingml/2006/main" noGrp="1"/>
          </p:cNvSpPr>
          <p:nvPr/>
        </p:nvSpPr>
        <p:spPr>
          <a:xfrm xmlns:a="http://schemas.openxmlformats.org/drawingml/2006/main">
            <a:off x="6572250" y="30480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2  create + inject 3 test timeseries</a:t>
            </a:r>
          </a:p>
        </p:txBody>
      </p:sp>
      <p:sp>
        <p:nvSpPr>
          <p:cNvPr id="41" name="s45-arrow-1-1">
            <a:extLst xmlns:a="http://schemas.openxmlformats.org/drawingml/2006/main">
              <a:ext uri="{FF2B5EF4-FFF2-40B4-BE49-F238E27FC236}">
                <a16:creationId xmlns:a16="http://schemas.microsoft.com/office/drawing/2014/main" id="{AB1B2552-49BD-4CB8-82E5-2F87B27C98FB}"/>
              </a:ext>
            </a:extLst>
          </p:cNvPr>
          <p:cNvSpPr>
            <a:spLocks xmlns:a="http://schemas.openxmlformats.org/drawingml/2006/main" noGrp="1"/>
          </p:cNvSpPr>
          <p:nvPr/>
        </p:nvSpPr>
        <p:spPr>
          <a:xfrm xmlns:a="http://schemas.openxmlformats.org/drawingml/2006/main">
            <a:off x="8705850" y="33623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2" name="s45-step-1-2">
            <a:extLst xmlns:a="http://schemas.openxmlformats.org/drawingml/2006/main">
              <a:ext uri="{FF2B5EF4-FFF2-40B4-BE49-F238E27FC236}">
                <a16:creationId xmlns:a16="http://schemas.microsoft.com/office/drawing/2014/main" id="{E029648C-58A5-4A8B-8538-9C008327DB0E}"/>
              </a:ext>
            </a:extLst>
          </p:cNvPr>
          <p:cNvSpPr>
            <a:spLocks xmlns:a="http://schemas.openxmlformats.org/drawingml/2006/main" noGrp="1"/>
          </p:cNvSpPr>
          <p:nvPr/>
        </p:nvSpPr>
        <p:spPr>
          <a:xfrm xmlns:a="http://schemas.openxmlformats.org/drawingml/2006/main">
            <a:off x="6572250" y="35052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3  simulate PitchRateLimiter_Harness once</a:t>
            </a:r>
          </a:p>
        </p:txBody>
      </p:sp>
      <p:sp>
        <p:nvSpPr>
          <p:cNvPr id="43" name="s45-arrow-1-2">
            <a:extLst xmlns:a="http://schemas.openxmlformats.org/drawingml/2006/main">
              <a:ext uri="{FF2B5EF4-FFF2-40B4-BE49-F238E27FC236}">
                <a16:creationId xmlns:a16="http://schemas.microsoft.com/office/drawing/2014/main" id="{E022EC10-D983-4486-A15E-00E1C17A5005}"/>
              </a:ext>
            </a:extLst>
          </p:cNvPr>
          <p:cNvSpPr>
            <a:spLocks xmlns:a="http://schemas.openxmlformats.org/drawingml/2006/main" noGrp="1"/>
          </p:cNvSpPr>
          <p:nvPr/>
        </p:nvSpPr>
        <p:spPr>
          <a:xfrm xmlns:a="http://schemas.openxmlformats.org/drawingml/2006/main">
            <a:off x="8705850" y="38195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4" name="s45-step-1-3">
            <a:extLst xmlns:a="http://schemas.openxmlformats.org/drawingml/2006/main">
              <a:ext uri="{FF2B5EF4-FFF2-40B4-BE49-F238E27FC236}">
                <a16:creationId xmlns:a16="http://schemas.microsoft.com/office/drawing/2014/main" id="{C7C0771B-14C2-401D-83B7-012900EFC294}"/>
              </a:ext>
            </a:extLst>
          </p:cNvPr>
          <p:cNvSpPr>
            <a:spLocks xmlns:a="http://schemas.openxmlformats.org/drawingml/2006/main" noGrp="1"/>
          </p:cNvSpPr>
          <p:nvPr/>
        </p:nvSpPr>
        <p:spPr>
          <a:xfrm xmlns:a="http://schemas.openxmlformats.org/drawingml/2006/main">
            <a:off x="6572250" y="39624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4  assess outputs + status + time + suite spacing</a:t>
            </a:r>
          </a:p>
        </p:txBody>
      </p:sp>
      <p:sp>
        <p:nvSpPr>
          <p:cNvPr id="45" name="s45-arrow-1-3">
            <a:extLst xmlns:a="http://schemas.openxmlformats.org/drawingml/2006/main">
              <a:ext uri="{FF2B5EF4-FFF2-40B4-BE49-F238E27FC236}">
                <a16:creationId xmlns:a16="http://schemas.microsoft.com/office/drawing/2014/main" id="{5E12E432-2219-4EB6-892C-036BE1C46235}"/>
              </a:ext>
            </a:extLst>
          </p:cNvPr>
          <p:cNvSpPr>
            <a:spLocks xmlns:a="http://schemas.openxmlformats.org/drawingml/2006/main" noGrp="1"/>
          </p:cNvSpPr>
          <p:nvPr/>
        </p:nvSpPr>
        <p:spPr>
          <a:xfrm xmlns:a="http://schemas.openxmlformats.org/drawingml/2006/main">
            <a:off x="8705850" y="42767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6" name="s45-step-1-4">
            <a:extLst xmlns:a="http://schemas.openxmlformats.org/drawingml/2006/main">
              <a:ext uri="{FF2B5EF4-FFF2-40B4-BE49-F238E27FC236}">
                <a16:creationId xmlns:a16="http://schemas.microsoft.com/office/drawing/2014/main" id="{28549591-3509-4B9C-87B9-3F8701360F51}"/>
              </a:ext>
            </a:extLst>
          </p:cNvPr>
          <p:cNvSpPr>
            <a:spLocks xmlns:a="http://schemas.openxmlformats.org/drawingml/2006/main" noGrp="1"/>
          </p:cNvSpPr>
          <p:nvPr/>
        </p:nvSpPr>
        <p:spPr>
          <a:xfrm xmlns:a="http://schemas.openxmlformats.org/drawingml/2006/main">
            <a:off x="6572250" y="44196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5  retain CSV • MAT • HTML • PNG</a:t>
            </a:r>
          </a:p>
        </p:txBody>
      </p:sp>
      <p:sp>
        <p:nvSpPr>
          <p:cNvPr id="47" name="s45-lane-footer-1">
            <a:extLst xmlns:a="http://schemas.openxmlformats.org/drawingml/2006/main">
              <a:ext uri="{FF2B5EF4-FFF2-40B4-BE49-F238E27FC236}">
                <a16:creationId xmlns:a16="http://schemas.microsoft.com/office/drawing/2014/main" id="{F582AF1A-C41F-436E-B3AD-BA3354908514}"/>
              </a:ext>
            </a:extLst>
          </p:cNvPr>
          <p:cNvSpPr>
            <a:spLocks xmlns:a="http://schemas.openxmlformats.org/drawingml/2006/main" noGrp="1"/>
          </p:cNvSpPr>
          <p:nvPr/>
        </p:nvSpPr>
        <p:spPr>
          <a:xfrm xmlns:a="http://schemas.openxmlformats.org/drawingml/2006/main">
            <a:off x="6496050" y="4972050"/>
            <a:ext cx="480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15" b="1">
                <a:solidFill>
                  <a:srgbClr val="2CA56F"/>
                </a:solidFill>
                <a:latin typeface="Aptos"/>
                <a:ea typeface="Aptos"/>
                <a:cs typeface="Aptos"/>
              </a:defRPr>
            </a:pPr>
            <a:r>
              <a:rPr sz="915" b="1">
                <a:solidFill>
                  <a:srgbClr val="2CA56F"/>
                </a:solidFill>
                <a:latin typeface="Aptos"/>
                <a:ea typeface="Aptos"/>
                <a:cs typeface="Aptos"/>
              </a:rPr>
              <a:t>run_pitch_rate_limiter_tests.m OWNS ORACLE + EVIDENCE</a:t>
            </a:r>
          </a:p>
        </p:txBody>
      </p:sp>
      <p:sp>
        <p:nvSpPr>
          <p:cNvPr id="48" name="s45-distinction">
            <a:extLst xmlns:a="http://schemas.openxmlformats.org/drawingml/2006/main">
              <a:ext uri="{FF2B5EF4-FFF2-40B4-BE49-F238E27FC236}">
                <a16:creationId xmlns:a16="http://schemas.microsoft.com/office/drawing/2014/main" id="{9A5973E6-886E-42A2-892D-28EF6B0E89E7}"/>
              </a:ext>
            </a:extLst>
          </p:cNvPr>
          <p:cNvSpPr>
            <a:spLocks xmlns:a="http://schemas.openxmlformats.org/drawingml/2006/main" noGrp="1"/>
          </p:cNvSpPr>
          <p:nvPr/>
        </p:nvSpPr>
        <p:spPr>
          <a:xfrm xmlns:a="http://schemas.openxmlformats.org/drawingml/2006/main">
            <a:off x="685800" y="5562600"/>
            <a:ext cx="10820400" cy="533400"/>
          </a:xfrm>
          <a:prstGeom xmlns:a="http://schemas.openxmlformats.org/drawingml/2006/main" prst="roundRect">
            <a:avLst>
              <a:gd name="adj" fmla="val 21429"/>
            </a:avLst>
          </a:prstGeom>
          <a:solidFill xmlns:a="http://schemas.openxmlformats.org/drawingml/2006/main">
            <a:srgbClr val="FFF0D7"/>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KEY DISTINCTION  •  callback_workflow_example.m never invokes run_pitch_rate_limiter_tests.m</a:t>
            </a:r>
          </a:p>
        </p:txBody>
      </p:sp>
    </p:spTree>
    <p:extLst>
      <p:ext uri="{BB962C8B-B14F-4D97-AF65-F5344CB8AC3E}">
        <p14:creationId xmlns:p14="http://schemas.microsoft.com/office/powerpoint/2010/main" val="1450052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2026-08-27T17:11:22.1470000Z</dcterms:created>
  <dcterms:modified xsi:type="dcterms:W3CDTF">2026-08-27T17:11:22.1470000Z</dcterms:modified>
</coreProperties>
</file>