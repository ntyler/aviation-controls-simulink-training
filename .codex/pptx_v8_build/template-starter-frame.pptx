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02acb896094699" /><Relationship Type="http://schemas.openxmlformats.org/officeDocument/2006/relationships/extended-properties" Target="/docProps/app.xml" Id="Raa37c7cdb4f84de8" /><Relationship Type="http://schemas.openxmlformats.org/officeDocument/2006/relationships/officeDocument" Target="/ppt/presentation.xml" Id="Rb4a759b2c6824895" /></Relationships>
</file>

<file path=ppt/presentation.xml><?xml version="1.0" encoding="utf-8"?>
<p:presentation xmlns:p="http://schemas.openxmlformats.org/presentationml/2006/main">
  <p:sldMasterIdLst>
    <p:sldMasterId xmlns:r="http://schemas.openxmlformats.org/officeDocument/2006/relationships" id="2147483648" r:id="R46b7f9e63d5b4293"/>
  </p:sldMasterIdLst>
  <p:notesMasterIdLst>
    <p:notesMasterId xmlns:r="http://schemas.openxmlformats.org/officeDocument/2006/relationships" r:id="R25d3d8d3dfbb43b4"/>
  </p:notesMasterIdLst>
  <p:sldIdLst>
    <p:sldId xmlns:r="http://schemas.openxmlformats.org/officeDocument/2006/relationships" id="256" r:id="Rf68d1b6ba6a04460"/>
    <p:sldId xmlns:r="http://schemas.openxmlformats.org/officeDocument/2006/relationships" id="257" r:id="R81d929e821cb441b"/>
    <p:sldId xmlns:r="http://schemas.openxmlformats.org/officeDocument/2006/relationships" id="258" r:id="Rb1154dbb70ae4f7e"/>
    <p:sldId xmlns:r="http://schemas.openxmlformats.org/officeDocument/2006/relationships" id="259" r:id="R98a5deed318e44f9"/>
    <p:sldId xmlns:r="http://schemas.openxmlformats.org/officeDocument/2006/relationships" id="260" r:id="R915888df1643409c"/>
    <p:sldId xmlns:r="http://schemas.openxmlformats.org/officeDocument/2006/relationships" id="261" r:id="Rb75c000ba4ef4e53"/>
    <p:sldId xmlns:r="http://schemas.openxmlformats.org/officeDocument/2006/relationships" id="262" r:id="Rdd4d6de1b7a94cd4"/>
    <p:sldId xmlns:r="http://schemas.openxmlformats.org/officeDocument/2006/relationships" id="263" r:id="Re5ca5adee5124434"/>
    <p:sldId xmlns:r="http://schemas.openxmlformats.org/officeDocument/2006/relationships" id="264" r:id="R92314d2f01f04853"/>
    <p:sldId xmlns:r="http://schemas.openxmlformats.org/officeDocument/2006/relationships" id="265" r:id="Rae042d9c17044b16"/>
    <p:sldId xmlns:r="http://schemas.openxmlformats.org/officeDocument/2006/relationships" id="266" r:id="R9018db3e59c6493f"/>
    <p:sldId xmlns:r="http://schemas.openxmlformats.org/officeDocument/2006/relationships" id="267" r:id="Rae86c4c9893543c5"/>
    <p:sldId xmlns:r="http://schemas.openxmlformats.org/officeDocument/2006/relationships" id="268" r:id="R562214af47ff4ff7"/>
    <p:sldId xmlns:r="http://schemas.openxmlformats.org/officeDocument/2006/relationships" id="269" r:id="R93ed59f26bd64261"/>
    <p:sldId xmlns:r="http://schemas.openxmlformats.org/officeDocument/2006/relationships" id="270" r:id="R517d81b6519a45c7"/>
    <p:sldId xmlns:r="http://schemas.openxmlformats.org/officeDocument/2006/relationships" id="271" r:id="R36f5bcb183a040ec"/>
    <p:sldId xmlns:r="http://schemas.openxmlformats.org/officeDocument/2006/relationships" id="272" r:id="R8b37f99d3c944ec9"/>
    <p:sldId xmlns:r="http://schemas.openxmlformats.org/officeDocument/2006/relationships" id="273" r:id="Rec9b46ffe8694e7f"/>
    <p:sldId xmlns:r="http://schemas.openxmlformats.org/officeDocument/2006/relationships" id="274" r:id="R65b8e723590b4e4b"/>
    <p:sldId xmlns:r="http://schemas.openxmlformats.org/officeDocument/2006/relationships" id="275" r:id="R627709864321479f"/>
    <p:sldId xmlns:r="http://schemas.openxmlformats.org/officeDocument/2006/relationships" id="276" r:id="R7847ce3071444e6a"/>
    <p:sldId xmlns:r="http://schemas.openxmlformats.org/officeDocument/2006/relationships" id="277" r:id="Rcc3d9f5ec5f049bf"/>
    <p:sldId xmlns:r="http://schemas.openxmlformats.org/officeDocument/2006/relationships" id="278" r:id="R3d3390454ee246ff"/>
    <p:sldId xmlns:r="http://schemas.openxmlformats.org/officeDocument/2006/relationships" id="279" r:id="R47aa99e19bd94c08"/>
    <p:sldId xmlns:r="http://schemas.openxmlformats.org/officeDocument/2006/relationships" id="280" r:id="R9c0777d9024e4595"/>
    <p:sldId xmlns:r="http://schemas.openxmlformats.org/officeDocument/2006/relationships" id="281" r:id="R1355fcb786c64c1c"/>
    <p:sldId xmlns:r="http://schemas.openxmlformats.org/officeDocument/2006/relationships" id="282" r:id="R2f761ff8fabb49c9"/>
    <p:sldId xmlns:r="http://schemas.openxmlformats.org/officeDocument/2006/relationships" id="283" r:id="R1e40102bddbe4785"/>
    <p:sldId xmlns:r="http://schemas.openxmlformats.org/officeDocument/2006/relationships" id="284" r:id="R20d0d6acd7704a6c"/>
    <p:sldId xmlns:r="http://schemas.openxmlformats.org/officeDocument/2006/relationships" id="285" r:id="Re84308e9fd834f2e"/>
    <p:sldId xmlns:r="http://schemas.openxmlformats.org/officeDocument/2006/relationships" id="286" r:id="Rbc7d41cf34c24bc8"/>
    <p:sldId xmlns:r="http://schemas.openxmlformats.org/officeDocument/2006/relationships" id="287" r:id="Rf979fa4f427d4ea5"/>
    <p:sldId xmlns:r="http://schemas.openxmlformats.org/officeDocument/2006/relationships" id="288" r:id="Ra93babfaafc245c5"/>
    <p:sldId xmlns:r="http://schemas.openxmlformats.org/officeDocument/2006/relationships" id="289" r:id="R91968c0c53094ccc"/>
    <p:sldId xmlns:r="http://schemas.openxmlformats.org/officeDocument/2006/relationships" id="290" r:id="Rc9d8633d7c134e3b"/>
    <p:sldId xmlns:r="http://schemas.openxmlformats.org/officeDocument/2006/relationships" id="291" r:id="R3fb68f850f574213"/>
    <p:sldId xmlns:r="http://schemas.openxmlformats.org/officeDocument/2006/relationships" id="292" r:id="R60ff7c832ac14e0f"/>
    <p:sldId xmlns:r="http://schemas.openxmlformats.org/officeDocument/2006/relationships" id="293" r:id="R9b74c322ff26469d"/>
    <p:sldId xmlns:r="http://schemas.openxmlformats.org/officeDocument/2006/relationships" id="294" r:id="R1e8916df4f924bf8"/>
    <p:sldId xmlns:r="http://schemas.openxmlformats.org/officeDocument/2006/relationships" id="295" r:id="R38ecc9d1d5f74949"/>
    <p:sldId xmlns:r="http://schemas.openxmlformats.org/officeDocument/2006/relationships" id="296" r:id="Rf11c98a3a1744410"/>
    <p:sldId xmlns:r="http://schemas.openxmlformats.org/officeDocument/2006/relationships" id="297" r:id="R2a114490d51d4e04"/>
    <p:sldId xmlns:r="http://schemas.openxmlformats.org/officeDocument/2006/relationships" id="298" r:id="R67633b5e82c7429e"/>
    <p:sldId xmlns:r="http://schemas.openxmlformats.org/officeDocument/2006/relationships" id="299" r:id="Rcedf5db7742b46f3"/>
    <p:sldId xmlns:r="http://schemas.openxmlformats.org/officeDocument/2006/relationships" id="300" r:id="Rd303d59726154ce4"/>
    <p:sldId xmlns:r="http://schemas.openxmlformats.org/officeDocument/2006/relationships" id="301" r:id="Rb4295c52141f4f31"/>
    <p:sldId xmlns:r="http://schemas.openxmlformats.org/officeDocument/2006/relationships" id="302" r:id="Rfc4bc78af1314523"/>
    <p:sldId xmlns:r="http://schemas.openxmlformats.org/officeDocument/2006/relationships" id="303" r:id="Ra27f3724b37d4442"/>
    <p:sldId xmlns:r="http://schemas.openxmlformats.org/officeDocument/2006/relationships" id="304" r:id="Rd15c2f8a8d114cbd"/>
    <p:sldId xmlns:r="http://schemas.openxmlformats.org/officeDocument/2006/relationships" id="305" r:id="R67aef25390b34cfe"/>
    <p:sldId xmlns:r="http://schemas.openxmlformats.org/officeDocument/2006/relationships" id="306" r:id="Rf186c31291054447"/>
    <p:sldId xmlns:r="http://schemas.openxmlformats.org/officeDocument/2006/relationships" id="307" r:id="Rb34dc084d40c43f4"/>
    <p:sldId xmlns:r="http://schemas.openxmlformats.org/officeDocument/2006/relationships" id="308" r:id="R6e662d0b0f3d459a"/>
    <p:sldId xmlns:r="http://schemas.openxmlformats.org/officeDocument/2006/relationships" id="309" r:id="R009b79b7e40444fa"/>
    <p:sldId xmlns:r="http://schemas.openxmlformats.org/officeDocument/2006/relationships" id="310" r:id="Rf405aa92b9bd4a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ec14e87a106428b" /><Relationship Type="http://schemas.openxmlformats.org/officeDocument/2006/relationships/slideMaster" Target="/ppt/slideMasters/slideMaster1.xml" Id="R46b7f9e63d5b4293" /><Relationship Type="http://schemas.openxmlformats.org/officeDocument/2006/relationships/notesMaster" Target="/ppt/notesMasters/notesMaster1.xml" Id="R25d3d8d3dfbb43b4" /><Relationship Type="http://schemas.openxmlformats.org/officeDocument/2006/relationships/presProps" Target="/ppt/presProps.xml" Id="Ra2b7c92a8a26437f" /><Relationship Type="http://schemas.openxmlformats.org/officeDocument/2006/relationships/viewProps" Target="/ppt/viewProps.xml" Id="R3dac394ee7a64587" /><Relationship Type="http://schemas.openxmlformats.org/officeDocument/2006/relationships/tableStyles" Target="/ppt/tableStyles.xml" Id="Re91048a60a55407a" /><Relationship Type="http://schemas.openxmlformats.org/officeDocument/2006/relationships/slide" Target="/ppt/slides/slide1.xml" Id="Rf68d1b6ba6a04460" /><Relationship Type="http://schemas.openxmlformats.org/officeDocument/2006/relationships/slide" Target="/ppt/slides/slide2.xml" Id="R81d929e821cb441b" /><Relationship Type="http://schemas.openxmlformats.org/officeDocument/2006/relationships/slide" Target="/ppt/slides/slide3.xml" Id="Rb1154dbb70ae4f7e" /><Relationship Type="http://schemas.openxmlformats.org/officeDocument/2006/relationships/slide" Target="/ppt/slides/slide4.xml" Id="R98a5deed318e44f9" /><Relationship Type="http://schemas.openxmlformats.org/officeDocument/2006/relationships/slide" Target="/ppt/slides/slide5.xml" Id="R915888df1643409c" /><Relationship Type="http://schemas.openxmlformats.org/officeDocument/2006/relationships/slide" Target="/ppt/slides/slide6.xml" Id="Rb75c000ba4ef4e53" /><Relationship Type="http://schemas.openxmlformats.org/officeDocument/2006/relationships/slide" Target="/ppt/slides/slide7.xml" Id="Rdd4d6de1b7a94cd4" /><Relationship Type="http://schemas.openxmlformats.org/officeDocument/2006/relationships/slide" Target="/ppt/slides/slide8.xml" Id="Re5ca5adee5124434" /><Relationship Type="http://schemas.openxmlformats.org/officeDocument/2006/relationships/slide" Target="/ppt/slides/slide9.xml" Id="R92314d2f01f04853" /><Relationship Type="http://schemas.openxmlformats.org/officeDocument/2006/relationships/slide" Target="/ppt/slides/slide10.xml" Id="Rae042d9c17044b16" /><Relationship Type="http://schemas.openxmlformats.org/officeDocument/2006/relationships/slide" Target="/ppt/slides/slide11.xml" Id="R9018db3e59c6493f" /><Relationship Type="http://schemas.openxmlformats.org/officeDocument/2006/relationships/slide" Target="/ppt/slides/slide12.xml" Id="Rae86c4c9893543c5" /><Relationship Type="http://schemas.openxmlformats.org/officeDocument/2006/relationships/slide" Target="/ppt/slides/slide13.xml" Id="R562214af47ff4ff7" /><Relationship Type="http://schemas.openxmlformats.org/officeDocument/2006/relationships/slide" Target="/ppt/slides/slide14.xml" Id="R93ed59f26bd64261" /><Relationship Type="http://schemas.openxmlformats.org/officeDocument/2006/relationships/slide" Target="/ppt/slides/slide15.xml" Id="R517d81b6519a45c7" /><Relationship Type="http://schemas.openxmlformats.org/officeDocument/2006/relationships/slide" Target="/ppt/slides/slide16.xml" Id="R36f5bcb183a040ec" /><Relationship Type="http://schemas.openxmlformats.org/officeDocument/2006/relationships/slide" Target="/ppt/slides/slide17.xml" Id="R8b37f99d3c944ec9" /><Relationship Type="http://schemas.openxmlformats.org/officeDocument/2006/relationships/slide" Target="/ppt/slides/slide18.xml" Id="Rec9b46ffe8694e7f" /><Relationship Type="http://schemas.openxmlformats.org/officeDocument/2006/relationships/slide" Target="/ppt/slides/slide19.xml" Id="R65b8e723590b4e4b" /><Relationship Type="http://schemas.openxmlformats.org/officeDocument/2006/relationships/slide" Target="/ppt/slides/slide20.xml" Id="R627709864321479f" /><Relationship Type="http://schemas.openxmlformats.org/officeDocument/2006/relationships/slide" Target="/ppt/slides/slide21.xml" Id="R7847ce3071444e6a" /><Relationship Type="http://schemas.openxmlformats.org/officeDocument/2006/relationships/slide" Target="/ppt/slides/slide22.xml" Id="Rcc3d9f5ec5f049bf" /><Relationship Type="http://schemas.openxmlformats.org/officeDocument/2006/relationships/slide" Target="/ppt/slides/slide23.xml" Id="R3d3390454ee246ff" /><Relationship Type="http://schemas.openxmlformats.org/officeDocument/2006/relationships/slide" Target="/ppt/slides/slide24.xml" Id="R47aa99e19bd94c08" /><Relationship Type="http://schemas.openxmlformats.org/officeDocument/2006/relationships/slide" Target="/ppt/slides/slide25.xml" Id="R9c0777d9024e4595" /><Relationship Type="http://schemas.openxmlformats.org/officeDocument/2006/relationships/slide" Target="/ppt/slides/slide26.xml" Id="R1355fcb786c64c1c" /><Relationship Type="http://schemas.openxmlformats.org/officeDocument/2006/relationships/slide" Target="/ppt/slides/slide27.xml" Id="R2f761ff8fabb49c9" /><Relationship Type="http://schemas.openxmlformats.org/officeDocument/2006/relationships/slide" Target="/ppt/slides/slide28.xml" Id="R1e40102bddbe4785" /><Relationship Type="http://schemas.openxmlformats.org/officeDocument/2006/relationships/slide" Target="/ppt/slides/slide29.xml" Id="R20d0d6acd7704a6c" /><Relationship Type="http://schemas.openxmlformats.org/officeDocument/2006/relationships/slide" Target="/ppt/slides/slide30.xml" Id="Re84308e9fd834f2e" /><Relationship Type="http://schemas.openxmlformats.org/officeDocument/2006/relationships/slide" Target="/ppt/slides/slide31.xml" Id="Rbc7d41cf34c24bc8" /><Relationship Type="http://schemas.openxmlformats.org/officeDocument/2006/relationships/slide" Target="/ppt/slides/slide32.xml" Id="Rf979fa4f427d4ea5" /><Relationship Type="http://schemas.openxmlformats.org/officeDocument/2006/relationships/slide" Target="/ppt/slides/slide33.xml" Id="Ra93babfaafc245c5" /><Relationship Type="http://schemas.openxmlformats.org/officeDocument/2006/relationships/slide" Target="/ppt/slides/slide34.xml" Id="R91968c0c53094ccc" /><Relationship Type="http://schemas.openxmlformats.org/officeDocument/2006/relationships/slide" Target="/ppt/slides/slide35.xml" Id="Rc9d8633d7c134e3b" /><Relationship Type="http://schemas.openxmlformats.org/officeDocument/2006/relationships/slide" Target="/ppt/slides/slide36.xml" Id="R3fb68f850f574213" /><Relationship Type="http://schemas.openxmlformats.org/officeDocument/2006/relationships/slide" Target="/ppt/slides/slide37.xml" Id="R60ff7c832ac14e0f" /><Relationship Type="http://schemas.openxmlformats.org/officeDocument/2006/relationships/slide" Target="/ppt/slides/slide38.xml" Id="R9b74c322ff26469d" /><Relationship Type="http://schemas.openxmlformats.org/officeDocument/2006/relationships/slide" Target="/ppt/slides/slide39.xml" Id="R1e8916df4f924bf8" /><Relationship Type="http://schemas.openxmlformats.org/officeDocument/2006/relationships/slide" Target="/ppt/slides/slide40.xml" Id="R38ecc9d1d5f74949" /><Relationship Type="http://schemas.openxmlformats.org/officeDocument/2006/relationships/slide" Target="/ppt/slides/slide41.xml" Id="Rf11c98a3a1744410" /><Relationship Type="http://schemas.openxmlformats.org/officeDocument/2006/relationships/slide" Target="/ppt/slides/slide42.xml" Id="R2a114490d51d4e04" /><Relationship Type="http://schemas.openxmlformats.org/officeDocument/2006/relationships/slide" Target="/ppt/slides/slide43.xml" Id="R67633b5e82c7429e" /><Relationship Type="http://schemas.openxmlformats.org/officeDocument/2006/relationships/slide" Target="/ppt/slides/slide44.xml" Id="Rcedf5db7742b46f3" /><Relationship Type="http://schemas.openxmlformats.org/officeDocument/2006/relationships/slide" Target="/ppt/slides/slide45.xml" Id="Rd303d59726154ce4" /><Relationship Type="http://schemas.openxmlformats.org/officeDocument/2006/relationships/slide" Target="/ppt/slides/slide46.xml" Id="Rb4295c52141f4f31" /><Relationship Type="http://schemas.openxmlformats.org/officeDocument/2006/relationships/slide" Target="/ppt/slides/slide47.xml" Id="Rfc4bc78af1314523" /><Relationship Type="http://schemas.openxmlformats.org/officeDocument/2006/relationships/slide" Target="/ppt/slides/slide48.xml" Id="Ra27f3724b37d4442" /><Relationship Type="http://schemas.openxmlformats.org/officeDocument/2006/relationships/slide" Target="/ppt/slides/slide49.xml" Id="Rd15c2f8a8d114cbd" /><Relationship Type="http://schemas.openxmlformats.org/officeDocument/2006/relationships/slide" Target="/ppt/slides/slide50.xml" Id="R67aef25390b34cfe" /><Relationship Type="http://schemas.openxmlformats.org/officeDocument/2006/relationships/slide" Target="/ppt/slides/slide51.xml" Id="Rf186c31291054447" /><Relationship Type="http://schemas.openxmlformats.org/officeDocument/2006/relationships/slide" Target="/ppt/slides/slide52.xml" Id="Rb34dc084d40c43f4" /><Relationship Type="http://schemas.openxmlformats.org/officeDocument/2006/relationships/slide" Target="/ppt/slides/slide53.xml" Id="R6e662d0b0f3d459a" /><Relationship Type="http://schemas.openxmlformats.org/officeDocument/2006/relationships/slide" Target="/ppt/slides/slide54.xml" Id="R009b79b7e40444fa" /><Relationship Type="http://schemas.openxmlformats.org/officeDocument/2006/relationships/slide" Target="/ppt/slides/slide55.xml" Id="Rf405aa92b9bd4a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edb9399f354d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032b5bcddf45b8" /><Relationship Type="http://schemas.openxmlformats.org/officeDocument/2006/relationships/notesMaster" Target="/ppt/notesMasters/notesMaster1.xml" Id="R277f184616354a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7b762adae6454d" /><Relationship Type="http://schemas.openxmlformats.org/officeDocument/2006/relationships/notesMaster" Target="/ppt/notesMasters/notesMaster1.xml" Id="R1122f7d9ee9b4d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29f25b965f41b8" /><Relationship Type="http://schemas.openxmlformats.org/officeDocument/2006/relationships/notesMaster" Target="/ppt/notesMasters/notesMaster1.xml" Id="R836536383d7646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77288a675c48a1" /><Relationship Type="http://schemas.openxmlformats.org/officeDocument/2006/relationships/notesMaster" Target="/ppt/notesMasters/notesMaster1.xml" Id="Rc2d12cc9050143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988c4ee3bd4201" /><Relationship Type="http://schemas.openxmlformats.org/officeDocument/2006/relationships/notesMaster" Target="/ppt/notesMasters/notesMaster1.xml" Id="R489e73d04d8446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f49324d1224c69" /><Relationship Type="http://schemas.openxmlformats.org/officeDocument/2006/relationships/notesMaster" Target="/ppt/notesMasters/notesMaster1.xml" Id="R7a71339833b848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73662d2a22414a" /><Relationship Type="http://schemas.openxmlformats.org/officeDocument/2006/relationships/notesMaster" Target="/ppt/notesMasters/notesMaster1.xml" Id="R85ca6a4926c442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f8d7d51b7a4c0c" /><Relationship Type="http://schemas.openxmlformats.org/officeDocument/2006/relationships/notesMaster" Target="/ppt/notesMasters/notesMaster1.xml" Id="R8ac9b1c94bd941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f0cc735bdc4ec0" /><Relationship Type="http://schemas.openxmlformats.org/officeDocument/2006/relationships/notesMaster" Target="/ppt/notesMasters/notesMaster1.xml" Id="R9a3ace94bfe244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086aedb5a84029" /><Relationship Type="http://schemas.openxmlformats.org/officeDocument/2006/relationships/notesMaster" Target="/ppt/notesMasters/notesMaster1.xml" Id="R732a00b980474b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c9b6d7780794314" /><Relationship Type="http://schemas.openxmlformats.org/officeDocument/2006/relationships/notesMaster" Target="/ppt/notesMasters/notesMaster1.xml" Id="R29ebf06e1f6c41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3114a4b658432f" /><Relationship Type="http://schemas.openxmlformats.org/officeDocument/2006/relationships/notesMaster" Target="/ppt/notesMasters/notesMaster1.xml" Id="Re6135be6a8a8484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d52ba158f6f413e" /><Relationship Type="http://schemas.openxmlformats.org/officeDocument/2006/relationships/notesMaster" Target="/ppt/notesMasters/notesMaster1.xml" Id="R983b14c141ef40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9e6a954e314a56" /><Relationship Type="http://schemas.openxmlformats.org/officeDocument/2006/relationships/notesMaster" Target="/ppt/notesMasters/notesMaster1.xml" Id="R71929302d5e9465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6a51e2fe2c4e6e" /><Relationship Type="http://schemas.openxmlformats.org/officeDocument/2006/relationships/notesMaster" Target="/ppt/notesMasters/notesMaster1.xml" Id="R23fdd85f7ae044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5decaf04c20497a" /><Relationship Type="http://schemas.openxmlformats.org/officeDocument/2006/relationships/notesMaster" Target="/ppt/notesMasters/notesMaster1.xml" Id="Rcc60489a7fa74fb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4166687928c456d" /><Relationship Type="http://schemas.openxmlformats.org/officeDocument/2006/relationships/notesMaster" Target="/ppt/notesMasters/notesMaster1.xml" Id="R1ff82bb88aee4d7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e593f6a698540e7" /><Relationship Type="http://schemas.openxmlformats.org/officeDocument/2006/relationships/notesMaster" Target="/ppt/notesMasters/notesMaster1.xml" Id="Rce0002de939948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9a3066a1c194986" /><Relationship Type="http://schemas.openxmlformats.org/officeDocument/2006/relationships/notesMaster" Target="/ppt/notesMasters/notesMaster1.xml" Id="R79819f4caf5c4b7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876ae24a2ea45d3" /><Relationship Type="http://schemas.openxmlformats.org/officeDocument/2006/relationships/notesMaster" Target="/ppt/notesMasters/notesMaster1.xml" Id="R680e1cae24ad432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258a4c2f12c42b2" /><Relationship Type="http://schemas.openxmlformats.org/officeDocument/2006/relationships/notesMaster" Target="/ppt/notesMasters/notesMaster1.xml" Id="Reb60e76159f1489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ab076627db64f28" /><Relationship Type="http://schemas.openxmlformats.org/officeDocument/2006/relationships/notesMaster" Target="/ppt/notesMasters/notesMaster1.xml" Id="R084b48aad6614f3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6e6d242d95a47b2" /><Relationship Type="http://schemas.openxmlformats.org/officeDocument/2006/relationships/notesMaster" Target="/ppt/notesMasters/notesMaster1.xml" Id="R8288f3cebafe414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b7fe61a1ea64050" /><Relationship Type="http://schemas.openxmlformats.org/officeDocument/2006/relationships/notesMaster" Target="/ppt/notesMasters/notesMaster1.xml" Id="R052726693e1442d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e7e3980e0974e1d" /><Relationship Type="http://schemas.openxmlformats.org/officeDocument/2006/relationships/notesMaster" Target="/ppt/notesMasters/notesMaster1.xml" Id="Re37a8301affb431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ca162df80c8467b" /><Relationship Type="http://schemas.openxmlformats.org/officeDocument/2006/relationships/notesMaster" Target="/ppt/notesMasters/notesMaster1.xml" Id="Rb5ea53c8536e4bb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afba6ceda5f44b7" /><Relationship Type="http://schemas.openxmlformats.org/officeDocument/2006/relationships/notesMaster" Target="/ppt/notesMasters/notesMaster1.xml" Id="Raebbf75772d7443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b26297396934749" /><Relationship Type="http://schemas.openxmlformats.org/officeDocument/2006/relationships/notesMaster" Target="/ppt/notesMasters/notesMaster1.xml" Id="Rd343d3a77ba8473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27abc27a3894b0e" /><Relationship Type="http://schemas.openxmlformats.org/officeDocument/2006/relationships/notesMaster" Target="/ppt/notesMasters/notesMaster1.xml" Id="Ra8af079d296d447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fa35fe34de14a10" /><Relationship Type="http://schemas.openxmlformats.org/officeDocument/2006/relationships/notesMaster" Target="/ppt/notesMasters/notesMaster1.xml" Id="Ref076a2595c141c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9611c662b3c4986" /><Relationship Type="http://schemas.openxmlformats.org/officeDocument/2006/relationships/notesMaster" Target="/ppt/notesMasters/notesMaster1.xml" Id="Rf2807ea7054b4e9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ce8c7b2a436487f" /><Relationship Type="http://schemas.openxmlformats.org/officeDocument/2006/relationships/notesMaster" Target="/ppt/notesMasters/notesMaster1.xml" Id="R0980bff2403c4b2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020219cf4c242bb" /><Relationship Type="http://schemas.openxmlformats.org/officeDocument/2006/relationships/notesMaster" Target="/ppt/notesMasters/notesMaster1.xml" Id="R83f58c7c93cc43b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2dfa1bfd8d94d9b" /><Relationship Type="http://schemas.openxmlformats.org/officeDocument/2006/relationships/notesMaster" Target="/ppt/notesMasters/notesMaster1.xml" Id="Re2c050acd5934ea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9ebabfaa556453c" /><Relationship Type="http://schemas.openxmlformats.org/officeDocument/2006/relationships/notesMaster" Target="/ppt/notesMasters/notesMaster1.xml" Id="R0fd8d518d33d402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0dc3f2fa8eb42c9" /><Relationship Type="http://schemas.openxmlformats.org/officeDocument/2006/relationships/notesMaster" Target="/ppt/notesMasters/notesMaster1.xml" Id="R05c9958124a64a3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7833866be794285" /><Relationship Type="http://schemas.openxmlformats.org/officeDocument/2006/relationships/notesMaster" Target="/ppt/notesMasters/notesMaster1.xml" Id="R38c6f3b54e184aa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3e4bcb811c349c5" /><Relationship Type="http://schemas.openxmlformats.org/officeDocument/2006/relationships/notesMaster" Target="/ppt/notesMasters/notesMaster1.xml" Id="R4f7d01372f9148d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b413bbbf78e4121" /><Relationship Type="http://schemas.openxmlformats.org/officeDocument/2006/relationships/notesMaster" Target="/ppt/notesMasters/notesMaster1.xml" Id="R0208ee46722f455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c31a385ed004e4a" /><Relationship Type="http://schemas.openxmlformats.org/officeDocument/2006/relationships/notesMaster" Target="/ppt/notesMasters/notesMaster1.xml" Id="R82a5468bcf8842e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279d007c2384f3d" /><Relationship Type="http://schemas.openxmlformats.org/officeDocument/2006/relationships/notesMaster" Target="/ppt/notesMasters/notesMaster1.xml" Id="Rc1e899a363eb461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39e9a89e5a147b6" /><Relationship Type="http://schemas.openxmlformats.org/officeDocument/2006/relationships/notesMaster" Target="/ppt/notesMasters/notesMaster1.xml" Id="R454f76623dd345d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e94f75c6386474f" /><Relationship Type="http://schemas.openxmlformats.org/officeDocument/2006/relationships/notesMaster" Target="/ppt/notesMasters/notesMaster1.xml" Id="R44f9824b62df44c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16705652f3b4d7d" /><Relationship Type="http://schemas.openxmlformats.org/officeDocument/2006/relationships/notesMaster" Target="/ppt/notesMasters/notesMaster1.xml" Id="R408a4de3dd9a4cf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3dedff441bd4b2c" /><Relationship Type="http://schemas.openxmlformats.org/officeDocument/2006/relationships/notesMaster" Target="/ppt/notesMasters/notesMaster1.xml" Id="R804b1cd5df514d0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ff05317a7094853" /><Relationship Type="http://schemas.openxmlformats.org/officeDocument/2006/relationships/notesMaster" Target="/ppt/notesMasters/notesMaster1.xml" Id="R3ed1e62ee503464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1f71253cd544a2d" /><Relationship Type="http://schemas.openxmlformats.org/officeDocument/2006/relationships/notesMaster" Target="/ppt/notesMasters/notesMaster1.xml" Id="R9550cf45c4d0497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a9497e719cb4790" /><Relationship Type="http://schemas.openxmlformats.org/officeDocument/2006/relationships/notesMaster" Target="/ppt/notesMasters/notesMaster1.xml" Id="R96d2f30db1a9462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ef4a78381344f2e" /><Relationship Type="http://schemas.openxmlformats.org/officeDocument/2006/relationships/notesMaster" Target="/ppt/notesMasters/notesMaster1.xml" Id="R118954474a174a7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d738f146b7c4326" /><Relationship Type="http://schemas.openxmlformats.org/officeDocument/2006/relationships/notesMaster" Target="/ppt/notesMasters/notesMaster1.xml" Id="Rb7a6e379724e4d4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82407aa0cad4d6f" /><Relationship Type="http://schemas.openxmlformats.org/officeDocument/2006/relationships/notesMaster" Target="/ppt/notesMasters/notesMaster1.xml" Id="R6f7c33c9e0c7483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1288364ced14a3a" /><Relationship Type="http://schemas.openxmlformats.org/officeDocument/2006/relationships/notesMaster" Target="/ppt/notesMasters/notesMaster1.xml" Id="R0a5e5fc900ab44e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7b520346a164443" /><Relationship Type="http://schemas.openxmlformats.org/officeDocument/2006/relationships/notesMaster" Target="/ppt/notesMasters/notesMaster1.xml" Id="R46423c371bd74fc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e3f2380a7654bdb" /><Relationship Type="http://schemas.openxmlformats.org/officeDocument/2006/relationships/notesMaster" Target="/ppt/notesMasters/notesMaster1.xml" Id="R625570abc0b9408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0d946b8ed194f04" /><Relationship Type="http://schemas.openxmlformats.org/officeDocument/2006/relationships/notesMaster" Target="/ppt/notesMasters/notesMaster1.xml" Id="R42fdfb7553724d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Frame this as first-time-user onboarding for aviation controls engineers: operate the saved Simulink models, understand their roles, inspect results, and trace one classroom requirement to retained evidence. The examples are executable and reviewable, but deliberately small and non-production.</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The package demonstrates desktop model work; it is not a completed certification package.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Orient the learner to the absolute evidence snapshot. The package retains eight delivered models that update, one controlled data dictionary with a five-element bus, one saved SDI run, and one standalone limiter harness assessed at nineteen sample times. The fresh package validation retains 8/8 model updates, 19/19 passing limiter assessments, and 24/24 required exports. A separate controlled 2026-08-27 scripted slbuild generated and compiled five GRT models: the top standalone target plus four referenced targets.</a:t>
            </a:r>
          </a:p>
          <a:p xmlns:a="http://schemas.openxmlformats.org/drawingml/2006/main">
            <a:r>
              <a:t/>
            </a:r>
          </a:p>
          <a:p xmlns:a="http://schemas.openxmlformats.org/drawingml/2006/main">
            <a:r>
              <a:t>Caveats</a:t>
            </a:r>
            <a:endParaRPr/>
          </a:p>
          <a:p xmlns:a="http://schemas.openxmlformats.org/drawingml/2006/main">
            <a:r>
              <a:t>- The 5/5 code-generation build is separate from the validator's 24/24 exported-artifact count.</a:t>
            </a:r>
          </a:p>
          <a:p xmlns:a="http://schemas.openxmlformats.org/drawingml/2006/main">
            <a:r>
              <a:t>- The generated executable was built but not executed or SIL/PIL-verified.</a:t>
            </a:r>
          </a:p>
          <a:p xmlns:a="http://schemas.openxmlformats.org/drawingml/2006/main">
            <a:r>
              <a:t>- This remains illustrative desktop-MIL training evidence, not production aircraft data or certification approval.</a:t>
            </a:r>
            <a:endParaRP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results/validation_summary.txt</a:t>
            </a:r>
          </a:p>
          <a:p xmlns:a="http://schemas.openxmlformats.org/drawingml/2006/main">
            <a:r>
              <a:t>- results/top_level_codegen_v7_evidence/ReferencedFlightControlArchitecture_slbuild.log</a:t>
            </a:r>
            <a:endParaRPr/>
          </a:p>
          <a:p xmlns:a="http://schemas.openxmlformats.org/drawingml/2006/main">
            <a:r>
              <a:t>- results/environment_inventory.txt</a:t>
            </a:r>
            <a:endParaRPr/>
          </a:p>
          <a:p xmlns:a="http://schemas.openxmlformats.org/drawingml/2006/main">
            <a:r>
              <a:t>- results/FCS_DataDictionary_Inventory.csv</a:t>
            </a:r>
            <a:endParaRPr/>
          </a:p>
          <a:p xmlns:a="http://schemas.openxmlformats.org/drawingml/2006/main">
            <a:r>
              <a:t>- results/FlightControlBus_Inventory.csv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Use three status words deliberately. VERIFIED means objective artifacts are retained now. EXPLAINED means the deck teaches the workflow and points to the relevant controls or files. FUTURE means no retained completion artifact exists and the activity must still be performed under the approved program process. This prevents an instructional placeholder from being mistaken for engineering evidence.</a:t>
            </a:r>
          </a:p>
          <a:p xmlns:a="http://schemas.openxmlformats.org/drawingml/2006/main">
            <a:r>
              <a:t/>
            </a:r>
          </a:p>
          <a:p xmlns:a="http://schemas.openxmlformats.org/drawingml/2006/main">
            <a:r>
              <a:t>Caveats</a:t>
            </a:r>
            <a:endParaRPr/>
          </a:p>
          <a:p xmlns:a="http://schemas.openxmlformats.org/drawingml/2006/main">
            <a:r>
              <a:t>- Model Advisor, Polyspace Bug Finder, Polyspace Code Prover, and the program-defined RCF are not completed evidence in this package.</a:t>
            </a:r>
          </a:p>
          <a:p xmlns:a="http://schemas.openxmlformats.org/drawingml/2006/main">
            <a:r>
              <a:t>- SIL, PIL, HIL, bench, and system-integration execution remain outside the retained evidence.</a:t>
            </a:r>
          </a:p>
          <a:p xmlns:a="http://schemas.openxmlformats.org/drawingml/2006/main">
            <a:r>
              <a:t/>
            </a:r>
            <a:endParaRPr/>
          </a:p>
          <a:p xmlns:a="http://schemas.openxmlformats.org/drawingml/2006/main">
            <a:r>
              <a:t>[Sources]</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results/environment_inventory.txt</a:t>
            </a:r>
          </a:p>
          <a:p xmlns:a="http://schemas.openxmlformats.org/drawingml/2006/main">
            <a:r>
              <a:t>- results/MATLAB_ProductInventory.csv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Preview the expanded learning sequence. Start from the completion checklist, initialize the folder-based package, choose the correct top-level model, expose semantics and instrumentation, distinguish update from execution and build, inspect the harness inputs and dictionary contract, read the saved SDI and limiter plots, and finish by separating retained evidence from future assurance gates.</a:t>
            </a:r>
          </a:p>
          <a:p xmlns:a="http://schemas.openxmlformats.org/drawingml/2006/main">
            <a:r>
              <a:t/>
            </a:r>
          </a:p>
          <a:p xmlns:a="http://schemas.openxmlformats.org/drawingml/2006/main">
            <a:r>
              <a:t>Caveats</a:t>
            </a:r>
            <a:endParaRPr/>
          </a:p>
          <a:p xmlns:a="http://schemas.openxmlformats.org/drawingml/2006/main">
            <a:r>
              <a:t>- This is a learning path, not a substitute for approved project procedures.</a:t>
            </a:r>
          </a:p>
          <a:p xmlns:a="http://schemas.openxmlformats.org/drawingml/2006/main">
            <a:r>
              <a:t>- There is no MATLAB Project file; initialization is folder-based.</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Use this hub to establish the model roles before opening files. AircraftFeedbackControlLoop is the standalone closed-loop learning model; ReferencedFlightControlArchitecture is the integration parent; four models are referenced children; AutopilotModeLogic is a separate Stateflow example; and PitchRateLimiter_Harness is the independent component-test harness.</a:t>
            </a:r>
          </a:p>
          <a:p xmlns:a="http://schemas.openxmlformats.org/drawingml/2006/main">
            <a:r>
              <a:t/>
            </a:r>
          </a:p>
          <a:p xmlns:a="http://schemas.openxmlformats.org/drawingml/2006/main">
            <a:r>
              <a:t>Caveats</a:t>
            </a:r>
            <a:endParaRPr/>
          </a:p>
          <a:p xmlns:a="http://schemas.openxmlformats.org/drawingml/2006/main">
            <a:r>
              <a:t>- A top-level model is selected for the engineering task; there is no single model that serves every role.</a:t>
            </a:r>
          </a:p>
          <a:p xmlns:a="http://schemas.openxmlformats.org/drawingml/2006/main">
            <a:r>
              <a:t>- AutopilotModeLogic is not a child of the referenced integration architecture.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models/AircraftFeedbackControlLoop.slx</a:t>
            </a:r>
          </a:p>
          <a:p xmlns:a="http://schemas.openxmlformats.org/drawingml/2006/main">
            <a:r>
              <a:t>- models/ReferencedFlightControlArchitecture.slx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Preview the expanded learning sequence. Start from the completion checklist, initialize the folder-based package, choose the correct top-level model, expose semantics and instrumentation, distinguish update from execution and build, inspect the harness inputs and dictionary contract, read the saved SDI and limiter plots, and finish by separating retained evidence from future assurance gates.</a:t>
            </a:r>
          </a:p>
          <a:p xmlns:a="http://schemas.openxmlformats.org/drawingml/2006/main">
            <a:r>
              <a:t/>
            </a:r>
          </a:p>
          <a:p xmlns:a="http://schemas.openxmlformats.org/drawingml/2006/main">
            <a:r>
              <a:t>Caveats</a:t>
            </a:r>
            <a:endParaRPr/>
          </a:p>
          <a:p xmlns:a="http://schemas.openxmlformats.org/drawingml/2006/main">
            <a:r>
              <a:t>- This is a learning path, not a substitute for approved project procedures.</a:t>
            </a:r>
          </a:p>
          <a:p xmlns:a="http://schemas.openxmlformats.org/drawingml/2006/main">
            <a:r>
              <a:t>- There is no MATLAB Project file; initialization is folder-based.</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Start MATLAB R2023b in the repository, add the scripts, models, and data folders to the path, run initialize_training_data(projectRoot), and open models/AircraftFeedbackControlLoop.slx for the first closed-loop exercise. Update the diagram, run, stop if needed, and inspect outputs under results; use the helper scripts for repeatable simulations and evidence refresh.</a:t>
            </a:r>
          </a:p>
          <a:p xmlns:a="http://schemas.openxmlformats.org/drawingml/2006/main">
            <a:r>
              <a:t/>
            </a:r>
          </a:p>
          <a:p xmlns:a="http://schemas.openxmlformats.org/drawingml/2006/main">
            <a:r>
              <a:t>Caveats</a:t>
            </a:r>
            <a:endParaRPr/>
          </a:p>
          <a:p xmlns:a="http://schemas.openxmlformats.org/drawingml/2006/main">
            <a:r>
              <a:t>- There is no MATLAB Project .prj file in this repository; say initialize the training package, not open a project file.</a:t>
            </a:r>
          </a:p>
          <a:p xmlns:a="http://schemas.openxmlformats.org/drawingml/2006/main">
            <a:r>
              <a:t>- Use refresh_onboarding_artifacts after layout-safe changes; regenerate_all recreates models and can overwrite manually cleaned layouts.</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scripts/refresh_onboarding_artifacts.m</a:t>
            </a:r>
          </a:p>
          <a:p xmlns:a="http://schemas.openxmlformats.org/drawingml/2006/main">
            <a:r>
              <a:t>- https://www.mathworks.com/help/simulink/slref/simulinkeditor.html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Start MATLAB R2023b in the repository, add the scripts, models, and data folders to the path, run initialize_training_data(projectRoot), and open models/AircraftFeedbackControlLoop.slx for the first closed-loop exercise. Update the diagram, run, stop if needed, and inspect outputs under results; use the helper scripts for repeatable simulations and evidence refresh.</a:t>
            </a:r>
          </a:p>
          <a:p xmlns:a="http://schemas.openxmlformats.org/drawingml/2006/main">
            <a:r>
              <a:t/>
            </a:r>
          </a:p>
          <a:p xmlns:a="http://schemas.openxmlformats.org/drawingml/2006/main">
            <a:r>
              <a:t>Caveats</a:t>
            </a:r>
            <a:endParaRPr/>
          </a:p>
          <a:p xmlns:a="http://schemas.openxmlformats.org/drawingml/2006/main">
            <a:r>
              <a:t>- There is no MATLAB Project .prj file in this repository; say initialize the training package, not open a project file.</a:t>
            </a:r>
          </a:p>
          <a:p xmlns:a="http://schemas.openxmlformats.org/drawingml/2006/main">
            <a:r>
              <a:t>- Use refresh_onboarding_artifacts after layout-safe changes; regenerate_all recreates models and can overwrite manually cleaned layouts.</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scripts/refresh_onboarding_artifacts.m</a:t>
            </a:r>
          </a:p>
          <a:p xmlns:a="http://schemas.openxmlformats.org/drawingml/2006/main">
            <a:r>
              <a:t>- https://www.mathworks.com/help/simulink/slref/simulinkeditor.html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Read the hierarchy by role. The standalone feedback loop contains four internal subsystems; the Stateflow model contains Autopilot Mode Logic; the referenced architecture owns four child models; PitchRateLimiter and PitchControllerRef each expose one meaningful internal subsystem; and the harness references the same limiter component used by integration.</a:t>
            </a:r>
          </a:p>
          <a:p xmlns:a="http://schemas.openxmlformats.org/drawingml/2006/main">
            <a:r>
              <a:t/>
            </a:r>
          </a:p>
          <a:p xmlns:a="http://schemas.openxmlformats.org/drawingml/2006/main">
            <a:r>
              <a:t>Caveats</a:t>
            </a:r>
            <a:endParaRPr/>
          </a:p>
          <a:p xmlns:a="http://schemas.openxmlformats.org/drawingml/2006/main">
            <a:r>
              <a:t>- Use the exact saved path AutopilotModeLogic/Autopilot Mode Logic; Stateflow describes the technology, not the block name.</a:t>
            </a:r>
            <a:endParaRPr/>
          </a:p>
          <a:p xmlns:a="http://schemas.openxmlformats.org/drawingml/2006/main">
            <a:r>
              <a:t>- Referenced child models, internal subsystems, and an independent harness are different hierarchy relationships.</a:t>
            </a:r>
            <a:endParaRPr/>
          </a:p>
          <a:p xmlns:a="http://schemas.openxmlformats.org/drawingml/2006/main">
            <a:r>
              <a:t/>
            </a:r>
            <a:endParaRPr/>
          </a:p>
          <a:p xmlns:a="http://schemas.openxmlformats.org/drawingml/2006/main">
            <a:r>
              <a:t>[Sources]</a:t>
            </a:r>
            <a:endParaRPr/>
          </a:p>
          <a:p xmlns:a="http://schemas.openxmlformats.org/drawingml/2006/main">
            <a:r>
              <a:t>- README.md</a:t>
            </a:r>
            <a:endParaRPr/>
          </a:p>
          <a:p xmlns:a="http://schemas.openxmlformats.org/drawingml/2006/main">
            <a:r>
              <a:t>- screenshots/VisualManifest.csv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demonstration</a:t>
            </a:r>
          </a:p>
          <a:p xmlns:a="http://schemas.openxmlformats.org/drawingml/2006/main">
            <a:r>
              <a:t/>
            </a:r>
            <a:endParaRPr/>
          </a:p>
          <a:p xmlns:a="http://schemas.openxmlformats.org/drawingml/2006/main">
            <a:r>
              <a:t>In the harness, press Ctrl+D first. Update Model evaluates parameters, propagates data types, dimensions, and sample times, resolves the referenced component, and exposes update-time errors without advancing simulation time. The package validator used the equivalent SimulationCommand update and retains 8/8. Ctrl+B is the interactive target-dependent build action. The retained integration evidence used scripted slbuild with the same active ReferencedFlightControlArchitecture GRT configuration and generated and compiled five models: the top model plus four references.</a:t>
            </a:r>
          </a:p>
          <a:p xmlns:a="http://schemas.openxmlformats.org/drawingml/2006/main">
            <a:r>
              <a:t/>
            </a:r>
          </a:p>
          <a:p xmlns:a="http://schemas.openxmlformats.org/drawingml/2006/main">
            <a:r>
              <a:t>Caveats</a:t>
            </a:r>
            <a:endParaRPr/>
          </a:p>
          <a:p xmlns:a="http://schemas.openxmlformats.org/drawingml/2006/main">
            <a:r>
              <a:t>- Build the model that matches the task; building the harness is not the same as building the integration top level.</a:t>
            </a:r>
          </a:p>
          <a:p xmlns:a="http://schemas.openxmlformats.org/drawingml/2006/main">
            <a:r>
              <a:t>- The top executable was built but not run, SIL-tested, PIL-tested, or approved for production.</a:t>
            </a:r>
          </a:p>
          <a:p xmlns:a="http://schemas.openxmlformats.org/drawingml/2006/main">
            <a:r>
              <a:t>- One non-fatal warning disabled root-level Dataset output logging for the build; compile and link still completed.</a:t>
            </a:r>
            <a:endParaRPr/>
          </a:p>
          <a:p xmlns:a="http://schemas.openxmlformats.org/drawingml/2006/main">
            <a:r>
              <a:t/>
            </a:r>
          </a:p>
          <a:p xmlns:a="http://schemas.openxmlformats.org/drawingml/2006/main">
            <a:r>
              <a:t>[Sources]</a:t>
            </a:r>
          </a:p>
          <a:p xmlns:a="http://schemas.openxmlformats.org/drawingml/2006/main">
            <a:r>
              <a:t>- scripts/validate_training_project.m</a:t>
            </a:r>
          </a:p>
          <a:p xmlns:a="http://schemas.openxmlformats.org/drawingml/2006/main">
            <a:r>
              <a:t>- .codex/pptx_v7_build/build_top_level_evidence.m</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https://www.mathworks.com/help/simulink/ug/using-the-sim-command.html</a:t>
            </a:r>
          </a:p>
          <a:p xmlns:a="http://schemas.openxmlformats.org/drawingml/2006/main">
            <a:r>
              <a:t>- https://www.mathworks.com/help/simulink/slref/slbuild.html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MATLAB and Simulink are complementary. MATLAB prepares controlled data, automates operations, evaluates results, and writes evidence; Simulink exposes executable time behavior, hierarchy, state, interfaces, and sample times. In this repository, MATLAB scripts drive and assess the saved Simulink models.</a:t>
            </a:r>
          </a:p>
          <a:p xmlns:a="http://schemas.openxmlformats.org/drawingml/2006/main">
            <a:r>
              <a:t/>
            </a:r>
          </a:p>
          <a:p xmlns:a="http://schemas.openxmlformats.org/drawingml/2006/main">
            <a:r>
              <a:t>Caveats</a:t>
            </a:r>
            <a:endParaRPr/>
          </a:p>
          <a:p xmlns:a="http://schemas.openxmlformats.org/drawingml/2006/main">
            <a:r>
              <a:t>- The distinction is about representation and workflow, not competing tools.</a:t>
            </a:r>
          </a:p>
          <a:p xmlns:a="http://schemas.openxmlformats.org/drawingml/2006/main">
            <a:r>
              <a:t>- A script that runs a model is not itself proof that every lifecycle objective is satisfied.</a:t>
            </a:r>
          </a:p>
          <a:p xmlns:a="http://schemas.openxmlformats.org/drawingml/2006/main">
            <a:r>
              <a:t/>
            </a:r>
            <a:endParaRPr/>
          </a:p>
          <a:p xmlns:a="http://schemas.openxmlformats.org/drawingml/2006/main">
            <a:r>
              <a:t>[Sources]</a:t>
            </a:r>
          </a:p>
          <a:p xmlns:a="http://schemas.openxmlformats.org/drawingml/2006/main">
            <a:r>
              <a:t>- scripts/run_training_simulations.m</a:t>
            </a:r>
          </a:p>
          <a:p xmlns:a="http://schemas.openxmlformats.org/drawingml/2006/main">
            <a:r>
              <a:t>- scripts/run_pitch_rate_limiter_tests.m</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Orient learners to the Simulation, Debug, Modeling, Format, and Apps tabs. Open chooses the artifact; Update Diagram or Ctrl+D compiles and propagates model semantics; Run executes a simulation; Stop interrupts it; Build or Ctrl+B is a separate configured code-generation action; and test execution invokes the harness driver and assessments.</a:t>
            </a:r>
          </a:p>
          <a:p xmlns:a="http://schemas.openxmlformats.org/drawingml/2006/main">
            <a:r>
              <a:t/>
            </a:r>
          </a:p>
          <a:p xmlns:a="http://schemas.openxmlformats.org/drawingml/2006/main">
            <a:r>
              <a:t>Caveats</a:t>
            </a:r>
            <a:endParaRPr/>
          </a:p>
          <a:p xmlns:a="http://schemas.openxmlformats.org/drawingml/2006/main">
            <a:r>
              <a:t>- Update/compile is not simulation, and Run is not Build.</a:t>
            </a:r>
            <a:endParaRPr/>
          </a:p>
          <a:p xmlns:a="http://schemas.openxmlformats.org/drawingml/2006/main">
            <a:r>
              <a:t>- The package makes no production-code, generated-code verification, SIL, PIL, or HIL claim; Embedded Coder is unavailable.</a:t>
            </a:r>
            <a:endParaRPr/>
          </a:p>
          <a:p xmlns:a="http://schemas.openxmlformats.org/drawingml/2006/main">
            <a:r>
              <a:t/>
            </a:r>
            <a:endParaRPr/>
          </a:p>
          <a:p xmlns:a="http://schemas.openxmlformats.org/drawingml/2006/main">
            <a:r>
              <a:t>[Sources]</a:t>
            </a:r>
            <a:endParaRPr/>
          </a:p>
          <a:p xmlns:a="http://schemas.openxmlformats.org/drawingml/2006/main">
            <a:r>
              <a:t>- results/environment_inventory.txt</a:t>
            </a:r>
            <a:endParaRPr/>
          </a:p>
          <a:p xmlns:a="http://schemas.openxmlformats.org/drawingml/2006/main">
            <a:r>
              <a:t>- https://www.mathworks.com/help/simulink/slref/simulinkeditor.html</a:t>
            </a:r>
            <a:endParaRP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Close with the repeatable chain the learner should produce. Initialize the folder-based package, choose the correct top-level model, update before execution, run the limiter driver rather than the saved placeholders, inspect the real top-level build tree, explain one SDI transient and all three limiter-result panels, open the dictionary and bus, and trace one requirement to retained evidence. Finish by naming which gates remain future or unsigned.</a:t>
            </a:r>
          </a:p>
          <a:p xmlns:a="http://schemas.openxmlformats.org/drawingml/2006/main">
            <a:r>
              <a:t/>
            </a:r>
          </a:p>
          <a:p xmlns:a="http://schemas.openxmlformats.org/drawingml/2006/main">
            <a:r>
              <a:t>Caveats</a:t>
            </a:r>
            <a:endParaRPr/>
          </a:p>
          <a:p xmlns:a="http://schemas.openxmlformats.org/drawingml/2006/main">
            <a:r>
              <a:t>- End on reproducible engineering practice, not a claim of certification, HIL completion, code verification, or signed approval.</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demonstration</a:t>
            </a:r>
          </a:p>
          <a:p xmlns:a="http://schemas.openxmlformats.org/drawingml/2006/main">
            <a:r>
              <a:t/>
            </a:r>
            <a:endParaRPr/>
          </a:p>
          <a:p xmlns:a="http://schemas.openxmlformats.org/drawingml/2006/main">
            <a:r>
              <a:t>Use the authentic Model Explorer capture to locate the dictionary and inspect FlightControlBus. Add scripts, models, and data to the MATLAB path, run initialize_training_data(projectRoot), and open data/FCS_Data.sldd in Model Explorer. In the Design Data section, select FlightControlBus to inspect its five elements. The MATLAB API reaches the same entries through Simulink.data.dictionary.open, getSection, getEntry, and getValue. Retained CSV inventories provide readable review views.</a:t>
            </a:r>
          </a:p>
          <a:p xmlns:a="http://schemas.openxmlformats.org/drawingml/2006/main">
            <a:r>
              <a:t/>
            </a:r>
          </a:p>
          <a:p xmlns:a="http://schemas.openxmlformats.org/drawingml/2006/main">
            <a:r>
              <a:t>Caveats</a:t>
            </a:r>
            <a:endParaRPr/>
          </a:p>
          <a:p xmlns:a="http://schemas.openxmlformats.org/drawingml/2006/main">
            <a:r>
              <a:t>- Initialization restores the scripted classroom baseline for managed names; make experiments only in an authorized copy.</a:t>
            </a:r>
          </a:p>
          <a:p xmlns:a="http://schemas.openxmlformats.org/drawingml/2006/main">
            <a:r>
              <a:t>- The screenshot is authentic Model Explorer evidence and the dictionary was not modified while capturing it.</a:t>
            </a:r>
          </a:p>
          <a:p xmlns:a="http://schemas.openxmlformats.org/drawingml/2006/main">
            <a:r>
              <a:t>- Close the dictionary when finished and follow the project's change-control process before editing shared data.</a:t>
            </a:r>
            <a:endParaRPr/>
          </a:p>
          <a:p xmlns:a="http://schemas.openxmlformats.org/drawingml/2006/main">
            <a:r>
              <a:t/>
            </a:r>
          </a:p>
          <a:p xmlns:a="http://schemas.openxmlformats.org/drawingml/2006/main">
            <a:r>
              <a:t>[Sources]</a:t>
            </a:r>
          </a:p>
          <a:p xmlns:a="http://schemas.openxmlformats.org/drawingml/2006/main">
            <a:r>
              <a:t>- screenshots/FCS_Data_ModelExplorer_FlightControlBus.jpg</a:t>
            </a:r>
          </a:p>
          <a:p xmlns:a="http://schemas.openxmlformats.org/drawingml/2006/main">
            <a:r>
              <a:t>- data/FCS_Data.sldd</a:t>
            </a:r>
          </a:p>
          <a:p xmlns:a="http://schemas.openxmlformats.org/drawingml/2006/main">
            <a:r>
              <a:t>- scripts/initialize_training_data.m</a:t>
            </a:r>
            <a:endParaRPr/>
          </a:p>
          <a:p xmlns:a="http://schemas.openxmlformats.org/drawingml/2006/main">
            <a:r>
              <a:t>- results/FCS_DataDictionary_Inventory.csv</a:t>
            </a:r>
            <a:endParaRPr/>
          </a:p>
          <a:p xmlns:a="http://schemas.openxmlformats.org/drawingml/2006/main">
            <a:r>
              <a:t>- results/FlightControlBus_Inventory.csv</a:t>
            </a:r>
            <a:endParaRPr/>
          </a:p>
          <a:p xmlns:a="http://schemas.openxmlformats.org/drawingml/2006/main">
            <a:r>
              <a:t>- https://www.mathworks.com/help/simulink/slref/simulink.data.dictionary.open.html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PitchRateLimiter is both a reviewable component model and a referenced child. Its root exposes q_cmd_in, normal_mode, input_valid, q_cmd_out, and limiter_active at the controlled 50 Hz sample time, while implementation detail remains inside Pitch Rate Limiter Logic.</a:t>
            </a:r>
          </a:p>
          <a:p xmlns:a="http://schemas.openxmlformats.org/drawingml/2006/main">
            <a:r>
              <a:t/>
            </a:r>
          </a:p>
          <a:p xmlns:a="http://schemas.openxmlformats.org/drawingml/2006/main">
            <a:r>
              <a:t>Caveats</a:t>
            </a:r>
            <a:endParaRPr/>
          </a:p>
          <a:p xmlns:a="http://schemas.openxmlformats.org/drawingml/2006/main">
            <a:r>
              <a:t>- This is a magnitude limiter, not a slew-rate limiter.</a:t>
            </a:r>
            <a:endParaRPr/>
          </a:p>
          <a:p xmlns:a="http://schemas.openxmlformats.org/drawingml/2006/main">
            <a:r>
              <a:t>- The values and requirements are illustrative training data.</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screenshots/PitchRateLimiter_Model.png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Inside PitchRateLimiter/Pitch Rate Limiter Logic, Magnitude Clamp applies the inclusive ±q_limit_normal bound; Normal AND Valid controls Select Valid Command; Training Fallback Command supplies zero; and the comparison and logic blocks form limiter_active. Use the exact block names because they anchor traceability.</a:t>
            </a:r>
          </a:p>
          <a:p xmlns:a="http://schemas.openxmlformats.org/drawingml/2006/main">
            <a:r>
              <a:t/>
            </a:r>
          </a:p>
          <a:p xmlns:a="http://schemas.openxmlformats.org/drawingml/2006/main">
            <a:r>
              <a:t>Caveats</a:t>
            </a:r>
            <a:endParaRPr/>
          </a:p>
          <a:p xmlns:a="http://schemas.openxmlformats.org/drawingml/2006/main">
            <a:r>
              <a:t>- Exactly ±12 deg/s is not clamped active; strictly outside the limits is active only during valid Normal operation.</a:t>
            </a:r>
            <a:endParaRPr/>
          </a:p>
          <a:p xmlns:a="http://schemas.openxmlformats.org/drawingml/2006/main">
            <a:r>
              <a:t>- Do not describe Magnitude Clamp as rate-of-change limiting.</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screenshots/PitchRateLimiter_Implementation.png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live demo</a:t>
            </a:r>
          </a:p>
          <a:p xmlns:a="http://schemas.openxmlformats.org/drawingml/2006/main">
            <a:r>
              <a:t/>
            </a:r>
            <a:endParaRPr/>
          </a:p>
          <a:p xmlns:a="http://schemas.openxmlformats.org/drawingml/2006/main">
            <a:r>
              <a:t>Select a signal line in AircraftFeedbackControlLoop, open the contextual Signal tab, choose Log Signals, run the model, and open View in Data Inspector. Use signal logging when the time history itself is evidence or must be compared across runs. Use a test point only when an internal signal must remain observable despite model optimizations—for example, a planned debug, test, or generated-code observability need. A signal may be both logged and a test point, but the settings are independent. The saved package currently has signal logging enabled for all eight models, 52 ports marked for logging, and zero ports marked as test points.</a:t>
            </a:r>
          </a:p>
          <a:p xmlns:a="http://schemas.openxmlformats.org/drawingml/2006/main">
            <a:r>
              <a:t/>
            </a:r>
          </a:p>
          <a:p xmlns:a="http://schemas.openxmlformats.org/drawingml/2006/main">
            <a:r>
              <a:t>Caveats</a:t>
            </a:r>
            <a:endParaRPr/>
          </a:p>
          <a:p xmlns:a="http://schemas.openxmlformats.org/drawingml/2006/main">
            <a:r>
              <a:t>- Marking a test point does not enable Dataset signal logging.</a:t>
            </a:r>
            <a:endParaRPr/>
          </a:p>
          <a:p xmlns:a="http://schemas.openxmlformats.org/drawingml/2006/main">
            <a:r>
              <a:t>- Test points can inhibit optimizations such as signal-storage reuse and block reduction, so use them selectively and review them as controlled design settings.</a:t>
            </a:r>
            <a:endParaRPr/>
          </a:p>
          <a:p xmlns:a="http://schemas.openxmlformats.org/drawingml/2006/main">
            <a:r>
              <a:t>- The green numbered ovals in the supplied screenshot are model Outport blocks; the blue line indicators show logged signals.</a:t>
            </a:r>
            <a:endParaRPr/>
          </a:p>
          <a:p xmlns:a="http://schemas.openxmlformats.org/drawingml/2006/main">
            <a:r>
              <a:t/>
            </a:r>
            <a:endParaRPr/>
          </a:p>
          <a:p xmlns:a="http://schemas.openxmlformats.org/drawingml/2006/main">
            <a:r>
              <a:t>[Sources]</a:t>
            </a:r>
            <a:endParaRPr/>
          </a:p>
          <a:p xmlns:a="http://schemas.openxmlformats.org/drawingml/2006/main">
            <a:r>
              <a:t>- scripts/create_training_models.m</a:t>
            </a:r>
            <a:endParaRPr/>
          </a:p>
          <a:p xmlns:a="http://schemas.openxmlformats.org/drawingml/2006/main">
            <a:r>
              <a:t>- scripts/training_callback_postload.m</a:t>
            </a:r>
          </a:p>
          <a:p xmlns:a="http://schemas.openxmlformats.org/drawingml/2006/main">
            <a:r>
              <a:t>- https://www.mathworks.com/help/simulink/gui/signallogging.html</a:t>
            </a:r>
          </a:p>
          <a:p xmlns:a="http://schemas.openxmlformats.org/drawingml/2006/main">
            <a:r>
              <a:t>- https://www.mathworks.com/help/simulink/ug/working-with-test-points.html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live demo</a:t>
            </a:r>
          </a:p>
          <a:p xmlns:a="http://schemas.openxmlformats.org/drawingml/2006/main">
            <a:r>
              <a:t/>
            </a:r>
            <a:endParaRPr/>
          </a:p>
          <a:p xmlns:a="http://schemas.openxmlformats.org/drawingml/2006/main">
            <a:r>
              <a:t>Open the active Configuration Parameters dialog with Ctrl+E or Modeling &gt; Model Settings. Confirm that you are editing the intended top model or referenced model, then inspect the panes that control the task: Solver, Data Import/Export and logging, Diagnostics, Hardware Implementation, Model Referencing, and Code Generation when build output is planned. In the supplied capture, AircraftFeedbackControlLoop is the active configuration, the stop time is 12 seconds, and the solver is fixed-step and discrete. After an intentional change, record the rationale, apply the setting, press Ctrl+D, rerun the affected simulation or assessments, and retain the resulting evidence.</a:t>
            </a:r>
          </a:p>
          <a:p xmlns:a="http://schemas.openxmlformats.org/drawingml/2006/main">
            <a:r>
              <a:t/>
            </a:r>
          </a:p>
          <a:p xmlns:a="http://schemas.openxmlformats.org/drawingml/2006/main">
            <a:r>
              <a:t>Caveats</a:t>
            </a:r>
            <a:endParaRPr/>
          </a:p>
          <a:p xmlns:a="http://schemas.openxmlformats.org/drawingml/2006/main">
            <a:r>
              <a:t>- Opening the dialog is not itself a verification result.</a:t>
            </a:r>
            <a:endParaRPr/>
          </a:p>
          <a:p xmlns:a="http://schemas.openxmlformats.org/drawingml/2006/main">
            <a:r>
              <a:t>- The screenshot does not expose the fixed-step-size field because Solver details is collapsed; results/SimulationConfiguration.csv records the fixed step as Sample_time.</a:t>
            </a:r>
            <a:endParaRPr/>
          </a:p>
          <a:p xmlns:a="http://schemas.openxmlformats.org/drawingml/2006/main">
            <a:r>
              <a:t>- For a referenced model, use the Model Settings arrow and select the referenced-model settings or open that model as the top model.</a:t>
            </a:r>
            <a:endParaRPr/>
          </a:p>
          <a:p xmlns:a="http://schemas.openxmlformats.org/drawingml/2006/main">
            <a:r>
              <a:t/>
            </a:r>
            <a:endParaRPr/>
          </a:p>
          <a:p xmlns:a="http://schemas.openxmlformats.org/drawingml/2006/main">
            <a:r>
              <a:t>[Sources]</a:t>
            </a:r>
            <a:endParaRPr/>
          </a:p>
          <a:p xmlns:a="http://schemas.openxmlformats.org/drawingml/2006/main">
            <a:r>
              <a:t>- results/SimulationConfiguration.csv</a:t>
            </a:r>
            <a:endParaRPr/>
          </a:p>
          <a:p xmlns:a="http://schemas.openxmlformats.org/drawingml/2006/main">
            <a:r>
              <a:t>- scripts/create_training_models.m</a:t>
            </a:r>
          </a:p>
          <a:p xmlns:a="http://schemas.openxmlformats.org/drawingml/2006/main">
            <a:r>
              <a:t>- https://www.mathworks.com/help/simulink/ug/configuration-parameters-dialog-box-overview.html</a:t>
            </a:r>
          </a:p>
          <a:p xmlns:a="http://schemas.openxmlformats.org/drawingml/2006/main">
            <a:r>
              <a:t>- https://www.mathworks.com/help/simulink/gui/solver-pane.html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Investigate failures from the first reproducible difference: confirm release, license, paths, dictionary, model baseline, and command; then separate update/compile diagnostics from simulation or assessment failures. Correct the root cause, add focused regression protection, rerun the affected scope, and finally rerun the controlled full set.</a:t>
            </a:r>
          </a:p>
          <a:p xmlns:a="http://schemas.openxmlformats.org/drawingml/2006/main">
            <a:r>
              <a:t/>
            </a:r>
          </a:p>
          <a:p xmlns:a="http://schemas.openxmlformats.org/drawingml/2006/main">
            <a:r>
              <a:t>Caveats</a:t>
            </a:r>
            <a:endParaRPr/>
          </a:p>
          <a:p xmlns:a="http://schemas.openxmlformats.org/drawingml/2006/main">
            <a:r>
              <a:t>- Do not suppress warnings or loosen tolerances merely to create a green status.</a:t>
            </a:r>
          </a:p>
          <a:p xmlns:a="http://schemas.openxmlformats.org/drawingml/2006/main">
            <a:r>
              <a:t>- The validator accepts only the documented Model-block license fallback warning.</a:t>
            </a:r>
          </a:p>
          <a:p xmlns:a="http://schemas.openxmlformats.org/drawingml/2006/main">
            <a:r>
              <a:t/>
            </a:r>
            <a:endParaRP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results/environment_inventory.txt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PitchRateLimiter_Harness is an independent executable Simulink model. The three From Workspace blocks read q_cmd_test, normal_mode_test, and input_valid_test. The exact Model block Unit Under Test - PitchRateLimiter references PitchRateLimiter with SimulationMode=Normal, and To Workspace blocks capture q_cmd_out_harness and limiter_active_harness.</a:t>
            </a:r>
          </a:p>
          <a:p xmlns:a="http://schemas.openxmlformats.org/drawingml/2006/main">
            <a:r>
              <a:t/>
            </a:r>
          </a:p>
          <a:p xmlns:a="http://schemas.openxmlformats.org/drawingml/2006/main">
            <a:r>
              <a:t>Caveats</a:t>
            </a:r>
            <a:endParaRPr/>
          </a:p>
          <a:p xmlns:a="http://schemas.openxmlformats.org/drawingml/2006/main">
            <a:r>
              <a:t>- The real nineteen-point stimulus is created by run_pitch_rate_limiter_tests.m; it is not loaded from a standalone stimulus CSV.</a:t>
            </a:r>
            <a:endParaRPr/>
          </a:p>
          <a:p xmlns:a="http://schemas.openxmlformats.org/drawingml/2006/main">
            <a:r>
              <a:t>- Pressing Run on the saved harness uses benign two-sample placeholders, not the retained assessment sequence.</a:t>
            </a:r>
            <a:endParaRPr/>
          </a:p>
          <a:p xmlns:a="http://schemas.openxmlformats.org/drawingml/2006/main">
            <a:r>
              <a:t>- This is not a Simulink Test or Test Manager harness.</a:t>
            </a:r>
            <a:endParaRPr/>
          </a:p>
          <a:p xmlns:a="http://schemas.openxmlformats.org/drawingml/2006/main">
            <a:r>
              <a:t/>
            </a:r>
            <a:endParaRPr/>
          </a:p>
          <a:p xmlns:a="http://schemas.openxmlformats.org/drawingml/2006/main">
            <a:r>
              <a:t>[Sources]</a:t>
            </a:r>
            <a:endParaRPr/>
          </a:p>
          <a:p xmlns:a="http://schemas.openxmlformats.org/drawingml/2006/main">
            <a:r>
              <a:t>- models/PitchRateLimiter_Harness.slx</a:t>
            </a:r>
            <a:endParaRPr/>
          </a:p>
          <a:p xmlns:a="http://schemas.openxmlformats.org/drawingml/2006/main">
            <a:r>
              <a:t>- screenshots/PitchRateLimiter_Harness.png</a:t>
            </a:r>
          </a:p>
          <a:p xmlns:a="http://schemas.openxmlformats.org/drawingml/2006/main">
            <a:r>
              <a:t>- scripts/run_pitch_rate_limiter_tests.m</a:t>
            </a:r>
          </a:p>
          <a:p xmlns:a="http://schemas.openxmlformats.org/drawingml/2006/main">
            <a:r>
              <a:t>- scripts/create_training_models.m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Show where the harness inputs actually come from. FCS_Data.sldd supplies the managed 0.02 second sample time, the twelve degree-per-second magnitude limit, and zero fallback. run_pitch_rate_limiter_tests.m defines nineteen rows, creates q_cmd_test, normal_mode_test, and input_valid_test timeseries, injects them into the harness model workspace, overrides stop time to 0.36 seconds, and simulates once. The harness consumes those variables and the MAT file retains all three input timeseries with the assessed outputs and summary.</a:t>
            </a:r>
          </a:p>
          <a:p xmlns:a="http://schemas.openxmlformats.org/drawingml/2006/main">
            <a:r>
              <a:t/>
            </a:r>
          </a:p>
          <a:p xmlns:a="http://schemas.openxmlformats.org/drawingml/2006/main">
            <a:r>
              <a:t>Caveats</a:t>
            </a:r>
            <a:endParaRPr/>
          </a:p>
          <a:p xmlns:a="http://schemas.openxmlformats.org/drawingml/2006/main">
            <a:r>
              <a:t>- Nineteen of nineteen means one deterministic desktop-MIL simulation assessed at nineteen sample times, not nineteen independent simulations.</a:t>
            </a:r>
          </a:p>
          <a:p xmlns:a="http://schemas.openxmlformats.org/drawingml/2006/main">
            <a:r>
              <a:t>- There is no standalone stimulus input file and no Test Manager suite file.</a:t>
            </a:r>
          </a:p>
          <a:p xmlns:a="http://schemas.openxmlformats.org/drawingml/2006/main">
            <a:r>
              <a:t>- The driver refreshes managed dictionary entries before execution; experiment only in an authorized copy.</a:t>
            </a:r>
            <a:endParaRPr/>
          </a:p>
          <a:p xmlns:a="http://schemas.openxmlformats.org/drawingml/2006/main">
            <a:r>
              <a:t/>
            </a:r>
          </a:p>
          <a:p xmlns:a="http://schemas.openxmlformats.org/drawingml/2006/main">
            <a:r>
              <a:t>[Sources]</a:t>
            </a:r>
          </a:p>
          <a:p xmlns:a="http://schemas.openxmlformats.org/drawingml/2006/main">
            <a:r>
              <a:t>- scripts/run_pitch_rate_limiter_tests.m</a:t>
            </a:r>
          </a:p>
          <a:p xmlns:a="http://schemas.openxmlformats.org/drawingml/2006/main">
            <a:r>
              <a:t>- models/PitchRateLimiter_Harness.slx</a:t>
            </a:r>
          </a:p>
          <a:p xmlns:a="http://schemas.openxmlformats.org/drawingml/2006/main">
            <a:r>
              <a:t>- data/FCS_Data.sldd</a:t>
            </a:r>
            <a:endParaRPr/>
          </a:p>
          <a:p xmlns:a="http://schemas.openxmlformats.org/drawingml/2006/main">
            <a:r>
              <a:t>- results/PitchRateLimiter_TestResults.mat</a:t>
            </a:r>
          </a:p>
          <a:p xmlns:a="http://schemas.openxmlformats.org/drawingml/2006/main">
            <a:r>
              <a:t>- results/PitchRateLimiter_TestResults.csv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Follow the controlled relative-file flow. initialize_training_data restores managed dictionary entries. run_pitch_rate_limiter_tests defines the nineteen-row stimulus, creates and injects three timeseries, and owns the visible oracle. PitchRateLimiter_Harness contains the From Workspace sources and referenced unit under test. The driver captures outputs and stores four pass fields per row: three row-specific checks plus one suite-level 50 Hz spacing result repeated on all nineteen rows. It writes CSV, MAT, HTML, and PNG, and the MAT file also retains qCommandInput, normalModeInput, and inputValidInput.</a:t>
            </a:r>
          </a:p>
          <a:p xmlns:a="http://schemas.openxmlformats.org/drawingml/2006/main">
            <a:r>
              <a:t/>
            </a:r>
          </a:p>
          <a:p xmlns:a="http://schemas.openxmlformats.org/drawingml/2006/main">
            <a:r>
              <a:t>Caveats</a:t>
            </a:r>
            <a:endParaRPr/>
          </a:p>
          <a:p xmlns:a="http://schemas.openxmlformats.org/drawingml/2006/main">
            <a:r>
              <a:t>- The generated CSV, MAT, HTML, and PNG come from one execution; they are multiple views of the same run, not independent experiments.</a:t>
            </a:r>
          </a:p>
          <a:p xmlns:a="http://schemas.openxmlformats.org/drawingml/2006/main">
            <a:r>
              <a:t>- The saved harness manual-Run placeholders do not reproduce the nineteen-point suite.</a:t>
            </a:r>
          </a:p>
          <a:p xmlns:a="http://schemas.openxmlformats.org/drawingml/2006/main">
            <a:r>
              <a:t/>
            </a:r>
            <a:endParaRPr/>
          </a:p>
          <a:p xmlns:a="http://schemas.openxmlformats.org/drawingml/2006/main">
            <a:r>
              <a:t>[Sources]</a:t>
            </a:r>
          </a:p>
          <a:p xmlns:a="http://schemas.openxmlformats.org/drawingml/2006/main">
            <a:r>
              <a:t>- scripts/initialize_training_data.m</a:t>
            </a:r>
          </a:p>
          <a:p xmlns:a="http://schemas.openxmlformats.org/drawingml/2006/main">
            <a:r>
              <a:t>- scripts/run_pitch_rate_limiter_tests.m</a:t>
            </a:r>
          </a:p>
          <a:p xmlns:a="http://schemas.openxmlformats.org/drawingml/2006/main">
            <a:r>
              <a:t>- models/PitchRateLimiter_Harness.slx</a:t>
            </a:r>
          </a:p>
          <a:p xmlns:a="http://schemas.openxmlformats.org/drawingml/2006/main">
            <a:r>
              <a:t>- results/PitchRateLimiter_TestResults.mat</a:t>
            </a:r>
            <a:endParaRPr/>
          </a:p>
          <a:p xmlns:a="http://schemas.openxmlformats.org/drawingml/2006/main">
            <a:r>
              <a:t>- reports/PitchRateLimiter_TestReport.html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demonstration</a:t>
            </a:r>
          </a:p>
          <a:p xmlns:a="http://schemas.openxmlformats.org/drawingml/2006/main">
            <a:r>
              <a:t/>
            </a:r>
            <a:endParaRPr/>
          </a:p>
          <a:p xmlns:a="http://schemas.openxmlformats.org/drawingml/2006/main">
            <a:r>
              <a:t>In the harness, press Ctrl+D first. Update Model evaluates parameters, propagates data types, dimensions, and sample times, resolves the referenced component, and exposes update-time errors without advancing simulation time. The package validator used the equivalent SimulationCommand update and retains 8/8. Ctrl+B is the interactive target-dependent build action. The retained integration evidence used scripted slbuild with the same active ReferencedFlightControlArchitecture GRT configuration and generated and compiled five models: the top model plus four references.</a:t>
            </a:r>
          </a:p>
          <a:p xmlns:a="http://schemas.openxmlformats.org/drawingml/2006/main">
            <a:r>
              <a:t/>
            </a:r>
          </a:p>
          <a:p xmlns:a="http://schemas.openxmlformats.org/drawingml/2006/main">
            <a:r>
              <a:t>Caveats</a:t>
            </a:r>
            <a:endParaRPr/>
          </a:p>
          <a:p xmlns:a="http://schemas.openxmlformats.org/drawingml/2006/main">
            <a:r>
              <a:t>- Build the model that matches the task; building the harness is not the same as building the integration top level.</a:t>
            </a:r>
          </a:p>
          <a:p xmlns:a="http://schemas.openxmlformats.org/drawingml/2006/main">
            <a:r>
              <a:t>- The top executable was built but not run, SIL-tested, PIL-tested, or approved for production.</a:t>
            </a:r>
          </a:p>
          <a:p xmlns:a="http://schemas.openxmlformats.org/drawingml/2006/main">
            <a:r>
              <a:t>- One non-fatal warning disabled root-level Dataset output logging for the build; compile and link still completed.</a:t>
            </a:r>
            <a:endParaRPr/>
          </a:p>
          <a:p xmlns:a="http://schemas.openxmlformats.org/drawingml/2006/main">
            <a:r>
              <a:t/>
            </a:r>
          </a:p>
          <a:p xmlns:a="http://schemas.openxmlformats.org/drawingml/2006/main">
            <a:r>
              <a:t>[Sources]</a:t>
            </a:r>
          </a:p>
          <a:p xmlns:a="http://schemas.openxmlformats.org/drawingml/2006/main">
            <a:r>
              <a:t>- scripts/validate_training_project.m</a:t>
            </a:r>
          </a:p>
          <a:p xmlns:a="http://schemas.openxmlformats.org/drawingml/2006/main">
            <a:r>
              <a:t>- .codex/pptx_v7_build/build_top_level_evidence.m</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https://www.mathworks.com/help/simulink/ug/using-the-sim-command.html</a:t>
            </a:r>
          </a:p>
          <a:p xmlns:a="http://schemas.openxmlformats.org/drawingml/2006/main">
            <a:r>
              <a:t>- https://www.mathworks.com/help/simulink/slref/slbuild.html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retained build evidence from left to right. The selected tree identifies the stable build root, the standalone Windows executable, the top-model generated-code folder and report, the four referenced-child targets under slprj/grt, and the cache. The generated top-model C header records R2023b, grt.tlc, Windows x86-64, code-generation validation not run, and includes for all four referenced interfaces. The diary log records successful completion, 5 of 5 models built, zero models already up to date, and a duration of 1 minute 56.965 seconds. Ctrl+B is the interactive analogue; this retained run was produced by scripted slbuild.</a:t>
            </a:r>
          </a:p>
          <a:p xmlns:a="http://schemas.openxmlformats.org/drawingml/2006/main">
            <a:r>
              <a:t/>
            </a:r>
          </a:p>
          <a:p xmlns:a="http://schemas.openxmlformats.org/drawingml/2006/main">
            <a:r>
              <a:t>Caveats</a:t>
            </a:r>
            <a:endParaRPr/>
          </a:p>
          <a:p xmlns:a="http://schemas.openxmlformats.org/drawingml/2006/main">
            <a:r>
              <a:t>- The build produced a 196,608-byte executable; this deck does not claim that executable was run.</a:t>
            </a:r>
            <a:endParaRPr/>
          </a:p>
          <a:p xmlns:a="http://schemas.openxmlformats.org/drawingml/2006/main">
            <a:r>
              <a:t>- GRT is a prototyping target, not Embedded Coder production-airborne output.</a:t>
            </a:r>
            <a:endParaRPr/>
          </a:p>
          <a:p xmlns:a="http://schemas.openxmlformats.org/drawingml/2006/main">
            <a:r>
              <a:t>- Code-generation validation and Advisor checks were not run.</a:t>
            </a:r>
            <a:endParaRPr/>
          </a:p>
          <a:p xmlns:a="http://schemas.openxmlformats.org/drawingml/2006/main">
            <a:r>
              <a:t/>
            </a:r>
            <a:endParaRPr/>
          </a:p>
          <a:p xmlns:a="http://schemas.openxmlformats.org/drawingml/2006/main">
            <a:r>
              <a:t>[Sources]</a:t>
            </a:r>
            <a:endParaRPr/>
          </a:p>
          <a:p xmlns:a="http://schemas.openxmlformats.org/drawingml/2006/main">
            <a:r>
              <a:t>- .codex/pptx_v7_build/build_top_level_evidence.m</a:t>
            </a:r>
            <a:endParaRPr/>
          </a:p>
          <a:p xmlns:a="http://schemas.openxmlformats.org/drawingml/2006/main">
            <a:r>
              <a:t>- results/top_level_codegen_v7_evidence/ReferencedFlightControlArchitecture_slbuild.log</a:t>
            </a:r>
          </a:p>
          <a:p xmlns:a="http://schemas.openxmlformats.org/drawingml/2006/main">
            <a:r>
              <a:t>- results/top_level_codegen_v7_evidence/codegen/ReferencedFlightControlArchitecture_grt_rtw/ReferencedFlightControlArchitecture.c</a:t>
            </a:r>
          </a:p>
          <a:p xmlns:a="http://schemas.openxmlformats.org/drawingml/2006/main">
            <a:r>
              <a:t>- results/top_level_codegen_v7_evidence/codegen/ReferencedFlightControlArchitecture_grt_rtw/html/index.html</a:t>
            </a:r>
            <a:endParaRPr/>
          </a:p>
          <a:p xmlns:a="http://schemas.openxmlformats.org/drawingml/2006/main">
            <a:r>
              <a:t>- https://www.mathworks.com/help/simulink/slref/slbuild.html</a:t>
            </a:r>
            <a:endParaRPr/>
          </a:p>
          <a:p xmlns:a="http://schemas.openxmlformats.org/drawingml/2006/main">
            <a:r>
              <a:t>- https://www.mathworks.com/help/rtw/ug/build-process-folders.html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This is an authentic Simulation Data Inspector capture of the saved AircraftFeedbackControlLoop onboarding reference run. The retained session contains one run, five signals, and a three-by-one layout. The saved view controls plot assignment, legends, grid, and markers; the saved session contains the signal data. Use this slide to orient to the UI, then use the next slide to read the causal behavior.</a:t>
            </a:r>
          </a:p>
          <a:p xmlns:a="http://schemas.openxmlformats.org/drawingml/2006/main">
            <a:r>
              <a:t/>
            </a:r>
          </a:p>
          <a:p xmlns:a="http://schemas.openxmlformats.org/drawingml/2006/main">
            <a:r>
              <a:t>Caveats</a:t>
            </a:r>
            <a:endParaRPr/>
          </a:p>
          <a:p xmlns:a="http://schemas.openxmlformats.org/drawingml/2006/main">
            <a:r>
              <a:t>- The two retained .mldatx files are SDI artifacts, not Simulink Test or Test Manager artifacts.</a:t>
            </a:r>
            <a:endParaRPr/>
          </a:p>
          <a:p xmlns:a="http://schemas.openxmlformats.org/drawingml/2006/main">
            <a:r>
              <a:t>- Loading the reference session can replace current SDI state only when the caller explicitly permits it; the helper creates recoverable backups.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endParaRPr/>
          </a:p>
          <a:p xmlns:a="http://schemas.openxmlformats.org/drawingml/2006/main">
            <a:r>
              <a:t>- results/SimulationDataInspector/AircraftFeedbackControlLoop_Onboarding_Session.mldatx</a:t>
            </a:r>
          </a:p>
          <a:p xmlns:a="http://schemas.openxmlformats.org/drawingml/2006/main">
            <a:r>
              <a:t>- scripts/open_data_inspector_reference.m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three aligned plots as one story. The top plot overlays command, dynamic response, and the model-logged tracking error. The middle plot isolates that logged error so step jumps, decay, and overshoot are legible. The bottom plot places actuator effort beside disturbance timing so the learner can correlate cause and response. The saved run retains 1001 points per signal from zero to twenty seconds with 0.02-second point spacing.</a:t>
            </a:r>
          </a:p>
          <a:p xmlns:a="http://schemas.openxmlformats.org/drawingml/2006/main">
            <a:r>
              <a:t/>
            </a:r>
          </a:p>
          <a:p xmlns:a="http://schemas.openxmlformats.org/drawingml/2006/main">
            <a:r>
              <a:t>Caveats</a:t>
            </a:r>
            <a:endParaRPr/>
          </a:p>
          <a:p xmlns:a="http://schemas.openxmlformats.org/drawingml/2006/main">
            <a:r>
              <a:t>- Call Error_deg the model-logged tracking error; do not assume it is an independently recomputed same-row command minus response.</a:t>
            </a:r>
            <a:endParaRPr/>
          </a:p>
          <a:p xmlns:a="http://schemas.openxmlformats.org/drawingml/2006/main">
            <a:r>
              <a:t>- The bottom plot overlays actuator degrees and disturbance degrees per second squared; compare timing and trend, not vertical magnitude.</a:t>
            </a:r>
            <a:endParaRPr/>
          </a:p>
          <a:p xmlns:a="http://schemas.openxmlformats.org/drawingml/2006/main">
            <a:r>
              <a:t>- Use cursor measurements or the retained CSV for exact values rather than visual estimation alone.</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results/AircraftFeedback_CommandTracking.csv</a:t>
            </a:r>
          </a:p>
          <a:p xmlns:a="http://schemas.openxmlformats.org/drawingml/2006/main">
            <a:r>
              <a:t>- scripts/update_data_inspector.m</a:t>
            </a:r>
          </a:p>
          <a:p xmlns:a="http://schemas.openxmlformats.org/drawingml/2006/main">
            <a:r>
              <a:t>- scripts/run_training_simulations.m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19-case matrix covers initialization, nominal values, inclusive boundaries, just-outside and large magnitudes, invalid or non-Normal fallback, transitions, limiter_active, timestamps, and 50 Hz spacing. Each case records actual and expected outputs rather than relying on a visual waveform judgment.</a:t>
            </a:r>
          </a:p>
          <a:p xmlns:a="http://schemas.openxmlformats.org/drawingml/2006/main">
            <a:r>
              <a:t/>
            </a:r>
          </a:p>
          <a:p xmlns:a="http://schemas.openxmlformats.org/drawingml/2006/main">
            <a:r>
              <a:t>Caveats</a:t>
            </a:r>
            <a:endParaRPr/>
          </a:p>
          <a:p xmlns:a="http://schemas.openxmlformats.org/drawingml/2006/main">
            <a:r>
              <a:t>- The PRL-004 traceability CSV says timing within 1e-12 s, while the executable uses max(1e-12, Sample_time × 1e-9), which is 2e-11 s at 0.02 s. The retained observed step is exactly 0.02 s and passes, but do not claim the script used a 1e-12 timing tolerance without reconciling the sources.</a:t>
            </a:r>
          </a:p>
          <a:p xmlns:a="http://schemas.openxmlformats.org/drawingml/2006/main">
            <a:r>
              <a:t>- The numeric output tolerance is consistently 1e-9 deg/s.</a:t>
            </a:r>
          </a:p>
          <a:p xmlns:a="http://schemas.openxmlformats.org/drawingml/2006/main">
            <a:r>
              <a:t/>
            </a:r>
            <a:endParaRPr/>
          </a:p>
          <a:p xmlns:a="http://schemas.openxmlformats.org/drawingml/2006/main">
            <a:r>
              <a:t>[Sources]</a:t>
            </a: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Follow the controlled relative-file flow. initialize_training_data restores managed dictionary entries. run_pitch_rate_limiter_tests defines the nineteen-row stimulus, creates and injects three timeseries, and owns the visible oracle. PitchRateLimiter_Harness contains the From Workspace sources and referenced unit under test. The driver captures outputs and stores four pass fields per row: three row-specific checks plus one suite-level 50 Hz spacing result repeated on all nineteen rows. It writes CSV, MAT, HTML, and PNG, and the MAT file also retains qCommandInput, normalModeInput, and inputValidInput.</a:t>
            </a:r>
          </a:p>
          <a:p xmlns:a="http://schemas.openxmlformats.org/drawingml/2006/main">
            <a:r>
              <a:t/>
            </a:r>
          </a:p>
          <a:p xmlns:a="http://schemas.openxmlformats.org/drawingml/2006/main">
            <a:r>
              <a:t>Caveats</a:t>
            </a:r>
            <a:endParaRPr/>
          </a:p>
          <a:p xmlns:a="http://schemas.openxmlformats.org/drawingml/2006/main">
            <a:r>
              <a:t>- The generated CSV, MAT, HTML, and PNG come from one execution; they are multiple views of the same run, not independent experiments.</a:t>
            </a:r>
          </a:p>
          <a:p xmlns:a="http://schemas.openxmlformats.org/drawingml/2006/main">
            <a:r>
              <a:t>- The saved harness manual-Run placeholders do not reproduce the nineteen-point suite.</a:t>
            </a:r>
          </a:p>
          <a:p xmlns:a="http://schemas.openxmlformats.org/drawingml/2006/main">
            <a:r>
              <a:t/>
            </a:r>
            <a:endParaRPr/>
          </a:p>
          <a:p xmlns:a="http://schemas.openxmlformats.org/drawingml/2006/main">
            <a:r>
              <a:t>[Sources]</a:t>
            </a:r>
          </a:p>
          <a:p xmlns:a="http://schemas.openxmlformats.org/drawingml/2006/main">
            <a:r>
              <a:t>- scripts/initialize_training_data.m</a:t>
            </a:r>
          </a:p>
          <a:p xmlns:a="http://schemas.openxmlformats.org/drawingml/2006/main">
            <a:r>
              <a:t>- scripts/run_pitch_rate_limiter_tests.m</a:t>
            </a:r>
          </a:p>
          <a:p xmlns:a="http://schemas.openxmlformats.org/drawingml/2006/main">
            <a:r>
              <a:t>- models/PitchRateLimiter_Harness.slx</a:t>
            </a:r>
          </a:p>
          <a:p xmlns:a="http://schemas.openxmlformats.org/drawingml/2006/main">
            <a:r>
              <a:t>- results/PitchRateLimiter_TestResults.mat</a:t>
            </a:r>
            <a:endParaRPr/>
          </a:p>
          <a:p xmlns:a="http://schemas.openxmlformats.org/drawingml/2006/main">
            <a:r>
              <a:t>- reports/PitchRateLimiter_TestReport.html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State the retained result precisely. One deterministic 0.36-second desktop-MIL simulation was assessed at nineteen 50 Hz sample times. Every row retains true NumericPass, LimiterActivePass, TimestampPass, and Timing50HzPass fields; the first three are row-specific, while the single suite-level 50 Hz spacing result is copied to every row. The CSV, MAT, HTML, and PNG are retained views produced by the same driver execution. Use the next slide to interpret each plot rather than relying only on the 19/19 badge.</a:t>
            </a:r>
          </a:p>
          <a:p xmlns:a="http://schemas.openxmlformats.org/drawingml/2006/main">
            <a:r>
              <a:t/>
            </a:r>
          </a:p>
          <a:p xmlns:a="http://schemas.openxmlformats.org/drawingml/2006/main">
            <a:r>
              <a:t>Caveats</a:t>
            </a:r>
            <a:endParaRPr/>
          </a:p>
          <a:p xmlns:a="http://schemas.openxmlformats.org/drawingml/2006/main">
            <a:r>
              <a:t>- This is not nineteen independent simulations and not a Simulink Test or Test Manager suite.</a:t>
            </a:r>
            <a:endParaRPr/>
          </a:p>
          <a:p xmlns:a="http://schemas.openxmlformats.org/drawingml/2006/main">
            <a:r>
              <a:t>- The graph is supporting evidence; the row-level CSV/MAT checks determine the retained pass status.</a:t>
            </a:r>
            <a:endParaRPr/>
          </a:p>
          <a:p xmlns:a="http://schemas.openxmlformats.org/drawingml/2006/main">
            <a:r>
              <a:t/>
            </a:r>
            <a:endParaRPr/>
          </a:p>
          <a:p xmlns:a="http://schemas.openxmlformats.org/drawingml/2006/main">
            <a:r>
              <a:t>[Sources]</a:t>
            </a:r>
            <a:endParaRPr/>
          </a:p>
          <a:p xmlns:a="http://schemas.openxmlformats.org/drawingml/2006/main">
            <a:r>
              <a:t>- results/PitchRateLimiter_TestResults.csv</a:t>
            </a:r>
            <a:endParaRPr/>
          </a:p>
          <a:p xmlns:a="http://schemas.openxmlformats.org/drawingml/2006/main">
            <a:r>
              <a:t>- results/PitchRateLimiter_TestResults.mat</a:t>
            </a:r>
            <a:endParaRPr/>
          </a:p>
          <a:p xmlns:a="http://schemas.openxmlformats.org/drawingml/2006/main">
            <a:r>
              <a:t>- reports/PitchRateLimiter_TestReport.html</a:t>
            </a:r>
          </a:p>
          <a:p xmlns:a="http://schemas.openxmlformats.org/drawingml/2006/main">
            <a:r>
              <a:t>- reports/PitchRateLimiter_TestReport.png</a:t>
            </a:r>
          </a:p>
          <a:p xmlns:a="http://schemas.openxmlformats.org/drawingml/2006/main">
            <a:r>
              <a:t>- scripts/run_pitch_rate_limiter_tests.m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result plot top to bottom. The top panel clips only the displayed input to plus or minus eighteen so the plus and minus one-thousand cases remain readable; expected and actual outputs overlap, valid Normal-mode commands clamp at plus or minus twelve, and invalid or disabled rows use zero fallback. The middle panel shows expected and actual limiter_active overlapping; active is true only when Normal and valid are true and the input is strictly outside the inclusive limits. The bottom panel is absolute numeric error on a log axis against 1e-9. Every retained error is exactly zero, so no positive error trace can appear on the log axis. Each row retains three row-specific pass fields plus the suite-level timing result.</a:t>
            </a:r>
          </a:p>
          <a:p xmlns:a="http://schemas.openxmlformats.org/drawingml/2006/main">
            <a:r>
              <a:t/>
            </a:r>
          </a:p>
          <a:p xmlns:a="http://schemas.openxmlformats.org/drawingml/2006/main">
            <a:r>
              <a:t>Caveats</a:t>
            </a:r>
            <a:endParaRPr/>
          </a:p>
          <a:p xmlns:a="http://schemas.openxmlformats.org/drawingml/2006/main">
            <a:r>
              <a:t>- A visually blank bottom panel means zero positive error values in this retained run, not missing data.</a:t>
            </a:r>
            <a:endParaRPr/>
          </a:p>
          <a:p xmlns:a="http://schemas.openxmlformats.org/drawingml/2006/main">
            <a:r>
              <a:t>- The executable timing tolerance is 2e-11 seconds while the traceability CSV states 1e-12; exact 0.02-second spacing passes either value, so the retained result is unaffected.</a:t>
            </a:r>
            <a:endParaRPr/>
          </a:p>
          <a:p xmlns:a="http://schemas.openxmlformats.org/drawingml/2006/main">
            <a:r>
              <a:t>- Use shows or retains evidence of, not proves certification compliance.</a:t>
            </a:r>
            <a:endParaRPr/>
          </a:p>
          <a:p xmlns:a="http://schemas.openxmlformats.org/drawingml/2006/main">
            <a:r>
              <a:t/>
            </a:r>
            <a:endParaRPr/>
          </a:p>
          <a:p xmlns:a="http://schemas.openxmlformats.org/drawingml/2006/main">
            <a:r>
              <a:t>[Sources]</a:t>
            </a:r>
            <a:endParaRPr/>
          </a:p>
          <a:p xmlns:a="http://schemas.openxmlformats.org/drawingml/2006/main">
            <a:r>
              <a:t>- reports/PitchRateLimiter_TestReport.png</a:t>
            </a:r>
            <a:endParaRPr/>
          </a:p>
          <a:p xmlns:a="http://schemas.openxmlformats.org/drawingml/2006/main">
            <a:r>
              <a:t>- results/PitchRateLimiter_TestResults.csv</a:t>
            </a:r>
          </a:p>
          <a:p xmlns:a="http://schemas.openxmlformats.org/drawingml/2006/main">
            <a:r>
              <a:t>- scripts/run_pitch_rate_limiter_tests.m</a:t>
            </a: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chain in both directions: PSYS-001 to SWHLR-001 / PRL-001 to SWLLR-001 to PitchRateLimiter/Pitch Rate Limiter Logic/Magnitude Clamp to PitchRateLimiter_Harness/Unit Under Test - PitchRateLimiter to run_pitch_rate_limiter_tests.m, case Boundary above upper limit, to retained Iteration 8. The row records input 12.1 deg/s, expected 12, actual 12, zero numeric error, tolerance 1e-9, and PASS.</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The literal AssociatedRequirement value is: PRL-001 magnitude limiting; PRL-003 status; PRL-004 50 Hz execution.</a:t>
            </a:r>
            <a:endParaRPr/>
          </a:p>
          <a:p xmlns:a="http://schemas.openxmlformats.org/drawingml/2006/main">
            <a:r>
              <a:t>- The PSYS/SWHLR/SWLLR identifiers are illustrative mappings layered over the retained PRL association.</a:t>
            </a:r>
            <a:endParaRPr/>
          </a:p>
          <a:p xmlns:a="http://schemas.openxmlformats.org/drawingml/2006/main">
            <a:r>
              <a:t/>
            </a:r>
            <a:endParaRPr/>
          </a:p>
          <a:p xmlns:a="http://schemas.openxmlformats.org/drawingml/2006/main">
            <a:r>
              <a:t>[Sources]</a:t>
            </a:r>
            <a:endParaRPr/>
          </a:p>
          <a:p xmlns:a="http://schemas.openxmlformats.org/drawingml/2006/main">
            <a:r>
              <a:t>- docs/PitchRateLimiter_Requirements_Traceability.csv</a:t>
            </a:r>
            <a:endParaRP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results/PitchRateLimiter_TestResults.mat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FCS_Data.sldd is the shared Design Data source. The current dictionary contains thirty-one entries: twenty-six Simulink.Parameter objects, four Simulink.Signal objects, and one Simulink.Bus. Representative values include Sample_time 0.02 seconds, q_limit_normal 12 degrees per second, and q_fallback_command zero. FlightControlBus defines five scalar elements—q_rate, pitch_angle, mach, air_data_valid, and mode—with controlled types, units, dimensions, and descriptions. The next slide shows how to open and query them.</a:t>
            </a:r>
          </a:p>
          <a:p xmlns:a="http://schemas.openxmlformats.org/drawingml/2006/main">
            <a:r>
              <a:t/>
            </a:r>
          </a:p>
          <a:p xmlns:a="http://schemas.openxmlformats.org/drawingml/2006/main">
            <a:r>
              <a:t>Caveats</a:t>
            </a:r>
            <a:endParaRPr/>
          </a:p>
          <a:p xmlns:a="http://schemas.openxmlformats.org/drawingml/2006/main">
            <a:r>
              <a:t>- A dictionary and bus define controlled data and structure; they do not by themselves prove semantic correctness.</a:t>
            </a:r>
            <a:endParaRPr/>
          </a:p>
          <a:p xmlns:a="http://schemas.openxmlformats.org/drawingml/2006/main">
            <a:r>
              <a:t>- The values are illustrative classroom data, not production aircraft data.</a:t>
            </a:r>
            <a:endParaRPr/>
          </a:p>
          <a:p xmlns:a="http://schemas.openxmlformats.org/drawingml/2006/main">
            <a:r>
              <a:t/>
            </a:r>
            <a:endParaRPr/>
          </a:p>
          <a:p xmlns:a="http://schemas.openxmlformats.org/drawingml/2006/main">
            <a:r>
              <a:t>[Sources]</a:t>
            </a:r>
            <a:endParaRPr/>
          </a:p>
          <a:p xmlns:a="http://schemas.openxmlformats.org/drawingml/2006/main">
            <a:r>
              <a:t>- data/FCS_Data.sldd</a:t>
            </a:r>
            <a:endParaRPr/>
          </a:p>
          <a:p xmlns:a="http://schemas.openxmlformats.org/drawingml/2006/main">
            <a:r>
              <a:t>- results/FCS_DataDictionary_Inventory.csv</a:t>
            </a:r>
            <a:endParaRPr/>
          </a:p>
          <a:p xmlns:a="http://schemas.openxmlformats.org/drawingml/2006/main">
            <a:r>
              <a:t>- results/FlightControlBus_Inventory.csv</a:t>
            </a:r>
          </a:p>
          <a:p xmlns:a="http://schemas.openxmlformats.org/drawingml/2006/main">
            <a:r>
              <a:t>- scripts/initialize_training_data.m</a:t>
            </a:r>
          </a:p>
          <a:p xmlns:a="http://schemas.openxmlformats.org/drawingml/2006/main">
            <a:r>
              <a:t>- https://www.mathworks.com/help/simulink/ug/what-is-a-data-dictionary.html</a:t>
            </a:r>
            <a:endParaRPr/>
          </a:p>
          <a:p xmlns:a="http://schemas.openxmlformats.org/drawingml/2006/main">
            <a:r>
              <a:t>-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demonstration</a:t>
            </a:r>
          </a:p>
          <a:p xmlns:a="http://schemas.openxmlformats.org/drawingml/2006/main">
            <a:r>
              <a:t/>
            </a:r>
            <a:endParaRPr/>
          </a:p>
          <a:p xmlns:a="http://schemas.openxmlformats.org/drawingml/2006/main">
            <a:r>
              <a:t>Use the authentic Model Explorer capture to locate the dictionary and inspect FlightControlBus. Add scripts, models, and data to the MATLAB path, run initialize_training_data(projectRoot), and open data/FCS_Data.sldd in Model Explorer. In the Design Data section, select FlightControlBus to inspect its five elements. The MATLAB API reaches the same entries through Simulink.data.dictionary.open, getSection, getEntry, and getValue. Retained CSV inventories provide readable review views.</a:t>
            </a:r>
          </a:p>
          <a:p xmlns:a="http://schemas.openxmlformats.org/drawingml/2006/main">
            <a:r>
              <a:t/>
            </a:r>
          </a:p>
          <a:p xmlns:a="http://schemas.openxmlformats.org/drawingml/2006/main">
            <a:r>
              <a:t>Caveats</a:t>
            </a:r>
            <a:endParaRPr/>
          </a:p>
          <a:p xmlns:a="http://schemas.openxmlformats.org/drawingml/2006/main">
            <a:r>
              <a:t>- Initialization restores the scripted classroom baseline for managed names; make experiments only in an authorized copy.</a:t>
            </a:r>
          </a:p>
          <a:p xmlns:a="http://schemas.openxmlformats.org/drawingml/2006/main">
            <a:r>
              <a:t>- The screenshot is authentic Model Explorer evidence and the dictionary was not modified while capturing it.</a:t>
            </a:r>
          </a:p>
          <a:p xmlns:a="http://schemas.openxmlformats.org/drawingml/2006/main">
            <a:r>
              <a:t>- Close the dictionary when finished and follow the project's change-control process before editing shared data.</a:t>
            </a:r>
            <a:endParaRPr/>
          </a:p>
          <a:p xmlns:a="http://schemas.openxmlformats.org/drawingml/2006/main">
            <a:r>
              <a:t/>
            </a:r>
          </a:p>
          <a:p xmlns:a="http://schemas.openxmlformats.org/drawingml/2006/main">
            <a:r>
              <a:t>[Sources]</a:t>
            </a:r>
          </a:p>
          <a:p xmlns:a="http://schemas.openxmlformats.org/drawingml/2006/main">
            <a:r>
              <a:t>- screenshots/FCS_Data_ModelExplorer_FlightControlBus.jpg</a:t>
            </a:r>
          </a:p>
          <a:p xmlns:a="http://schemas.openxmlformats.org/drawingml/2006/main">
            <a:r>
              <a:t>- data/FCS_Data.sldd</a:t>
            </a:r>
          </a:p>
          <a:p xmlns:a="http://schemas.openxmlformats.org/drawingml/2006/main">
            <a:r>
              <a:t>- scripts/initialize_training_data.m</a:t>
            </a:r>
            <a:endParaRPr/>
          </a:p>
          <a:p xmlns:a="http://schemas.openxmlformats.org/drawingml/2006/main">
            <a:r>
              <a:t>- results/FCS_DataDictionary_Inventory.csv</a:t>
            </a:r>
            <a:endParaRPr/>
          </a:p>
          <a:p xmlns:a="http://schemas.openxmlformats.org/drawingml/2006/main">
            <a:r>
              <a:t>- results/FlightControlBus_Inventory.csv</a:t>
            </a:r>
            <a:endParaRPr/>
          </a:p>
          <a:p xmlns:a="http://schemas.openxmlformats.org/drawingml/2006/main">
            <a:r>
              <a:t>- https://www.mathworks.com/help/simulink/slref/simulink.data.dictionary.open.html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Reviewability comes from explicit intent at each level: meaningful names, compact interfaces, visible units and types, controlled sample times, separated responsibilities, and hierarchy that a reviewer can summarize before opening detail. Apply the checklist to one model and ask where each claim is defined and verified.</a:t>
            </a:r>
          </a:p>
          <a:p xmlns:a="http://schemas.openxmlformats.org/drawingml/2006/main">
            <a:r>
              <a:t/>
            </a:r>
          </a:p>
          <a:p xmlns:a="http://schemas.openxmlformats.org/drawingml/2006/main">
            <a:r>
              <a:t>Caveats</a:t>
            </a:r>
            <a:endParaRPr/>
          </a:p>
          <a:p xmlns:a="http://schemas.openxmlformats.org/drawingml/2006/main">
            <a:r>
              <a:t>- Good diagram appearance supports review but does not replace requirements, objective checks, configuration control, or independent verification.</a:t>
            </a:r>
          </a:p>
          <a:p xmlns:a="http://schemas.openxmlformats.org/drawingml/2006/main">
            <a:r>
              <a:t/>
            </a:r>
          </a:p>
          <a:p xmlns:a="http://schemas.openxmlformats.org/drawingml/2006/main">
            <a:r>
              <a:t>[Sources]</a:t>
            </a:r>
            <a:endParaRPr/>
          </a:p>
          <a:p xmlns:a="http://schemas.openxmlformats.org/drawingml/2006/main">
            <a:r>
              <a:t>- screenshots/VisualManifest.csv</a:t>
            </a:r>
          </a:p>
          <a:p xmlns:a="http://schemas.openxmlformats.org/drawingml/2006/main">
            <a:r>
              <a:t>- https://www.mathworks.com/help/simulink/ug/interface-design.html</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Demonstrate the Model Advisor workflow on the exact component in scope: Modeling &gt; Model Advisor, choose the model or subsystem, select a named check set by product or task, run the checks, review every result status, address findings and exclusions, rerun, then save the report with the model baseline and check identifiers. For a model-reference hierarchy, analyze referenced models explicitly before the top model when the selected checks require it.</a:t>
            </a:r>
          </a:p>
          <a:p xmlns:a="http://schemas.openxmlformats.org/drawingml/2006/main">
            <a:r>
              <a:t/>
            </a:r>
          </a:p>
          <a:p xmlns:a="http://schemas.openxmlformats.org/drawingml/2006/main">
            <a:r>
              <a:t>Caveats</a:t>
            </a:r>
            <a:endParaRPr/>
          </a:p>
          <a:p xmlns:a="http://schemas.openxmlformats.org/drawingml/2006/main">
            <a:r>
              <a:t>- This slide illustrates the workflow; no Model Advisor configuration, report, or result artifact was found in the training package.</a:t>
            </a:r>
          </a:p>
          <a:p xmlns:a="http://schemas.openxmlformats.org/drawingml/2006/main">
            <a:r>
              <a:t>- Unless a check documents otherwise, Model Advisor does not analyze inside Model blocks; referenced models must be selected explicitly.</a:t>
            </a:r>
          </a:p>
          <a:p xmlns:a="http://schemas.openxmlformats.org/drawingml/2006/main">
            <a:r>
              <a:t>- A successful run call means the analysis ran, not that every check passed. Model Advisor does not certify the component or replace requirements, tests, independent review, or approved plans.</a:t>
            </a:r>
            <a:endParaRPr/>
          </a:p>
          <a:p xmlns:a="http://schemas.openxmlformats.org/drawingml/2006/main">
            <a:r>
              <a:t/>
            </a:r>
          </a:p>
          <a:p xmlns:a="http://schemas.openxmlformats.org/drawingml/2006/main">
            <a:r>
              <a:t>[Sources]</a:t>
            </a:r>
          </a:p>
          <a:p xmlns:a="http://schemas.openxmlformats.org/drawingml/2006/main">
            <a:r>
              <a:t>- results/MATLAB_ProductInventory.csv</a:t>
            </a:r>
          </a:p>
          <a:p xmlns:a="http://schemas.openxmlformats.org/drawingml/2006/main">
            <a:r>
              <a:t>- https://www.mathworks.com/help/simulink/ug/select-and-run-model-advisor-checks.html</a:t>
            </a:r>
          </a:p>
          <a:p xmlns:a="http://schemas.openxmlformats.org/drawingml/2006/main">
            <a:r>
              <a:t>- https://www.mathworks.com/help/simulink/slref/simulink.modeladvisor.runcheck.html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these as future code-analysis gates after code exists and the target, compiler, options, assumptions, and reporting process are controlled. Bug Finder performs a faster static scan for reported coding defects, security issues, rule violations, and metrics. Code Prover performs deeper formal static analysis and attempts to prove the absence of selected run-time errors over the analyzed code and paths. Retain the configuration, findings, dispositions, report, code baseline, and trace links.</a:t>
            </a:r>
          </a:p>
          <a:p xmlns:a="http://schemas.openxmlformats.org/drawingml/2006/main">
            <a:r>
              <a:t/>
            </a:r>
          </a:p>
          <a:p xmlns:a="http://schemas.openxmlformats.org/drawingml/2006/main">
            <a:r>
              <a:t>Caveats</a:t>
            </a:r>
            <a:endParaRPr/>
          </a:p>
          <a:p xmlns:a="http://schemas.openxmlformats.org/drawingml/2006/main">
            <a:r>
              <a:t>- These are placeholders only: neither Polyspace product nor any Polyspace result or report appears in the package inventory.</a:t>
            </a:r>
          </a:p>
          <a:p xmlns:a="http://schemas.openxmlformats.org/drawingml/2006/main">
            <a:r>
              <a:t>- Bug Finder does not prove the absence of all defects. Code Prover conclusions are limited to the analyzed code, configuration, assumptions, and checks.</a:t>
            </a:r>
          </a:p>
          <a:p xmlns:a="http://schemas.openxmlformats.org/drawingml/2006/main">
            <a:r>
              <a:t>- Neither tool directly proves model requirements compliance, test adequacy, certification approval, SIL, PIL, or HIL execution.</a:t>
            </a:r>
            <a:endParaRPr/>
          </a:p>
          <a:p xmlns:a="http://schemas.openxmlformats.org/drawingml/2006/main">
            <a:r>
              <a:t/>
            </a:r>
          </a:p>
          <a:p xmlns:a="http://schemas.openxmlformats.org/drawingml/2006/main">
            <a:r>
              <a:t>[Sources]</a:t>
            </a:r>
          </a:p>
          <a:p xmlns:a="http://schemas.openxmlformats.org/drawingml/2006/main">
            <a:r>
              <a:t>- results/MATLAB_ProductInventory.csv</a:t>
            </a:r>
          </a:p>
          <a:p xmlns:a="http://schemas.openxmlformats.org/drawingml/2006/main">
            <a:r>
              <a:t>- https://www.mathworks.com/help/bugfinder/</a:t>
            </a:r>
          </a:p>
          <a:p xmlns:a="http://schemas.openxmlformats.org/drawingml/2006/main">
            <a:r>
              <a:t>- https://www.mathworks.com/help/bugfinder/gs/use-bug-finder-and-code-prover.html</a:t>
            </a:r>
          </a:p>
          <a:p xmlns:a="http://schemas.openxmlformats.org/drawingml/2006/main">
            <a:r>
              <a:t>- https://www.mathworks.com/help/codeprover/getting-started-with-polyspace-code-prover.html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FAA AC 20-115D recognizes DO-178C as an accepted means of compliance with applicable airworthiness regulations and recognizes DO-331 as its model-based development and verification supplement. Project plans determine how a model is used and which objectives and lifecycle data apply.</a:t>
            </a:r>
          </a:p>
          <a:p xmlns:a="http://schemas.openxmlformats.org/drawingml/2006/main">
            <a:r>
              <a:t/>
            </a:r>
          </a:p>
          <a:p xmlns:a="http://schemas.openxmlformats.org/drawingml/2006/main">
            <a:r>
              <a:t>Caveats</a:t>
            </a:r>
            <a:endParaRPr/>
          </a:p>
          <a:p xmlns:a="http://schemas.openxmlformats.org/drawingml/2006/main">
            <a:r>
              <a:t>- DO-178C is not a standalone software certificate.</a:t>
            </a:r>
          </a:p>
          <a:p xmlns:a="http://schemas.openxmlformats.org/drawingml/2006/main">
            <a:r>
              <a:t>- DO-331 supplements DO-178C; a Simulink model is not automatically compliant.</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Software level originates in the system safety process and drives the applicable objective and independence framework. Say DO-178C Software Level A when discussing software; reserve DAL terminology for the broader system allocation context. Independence is planned for designated verification objectives and must be demonstrated through roles and evidence.</a:t>
            </a:r>
          </a:p>
          <a:p xmlns:a="http://schemas.openxmlformats.org/drawingml/2006/main">
            <a:r>
              <a:t/>
            </a:r>
          </a:p>
          <a:p xmlns:a="http://schemas.openxmlformats.org/drawingml/2006/main">
            <a:r>
              <a:t>Caveats</a:t>
            </a:r>
            <a:endParaRPr/>
          </a:p>
          <a:p xmlns:a="http://schemas.openxmlformats.org/drawingml/2006/main">
            <a:r>
              <a:t>- An author should not be the sole independent verifier of their own work where independence is required.</a:t>
            </a:r>
          </a:p>
          <a:p xmlns:a="http://schemas.openxmlformats.org/drawingml/2006/main">
            <a:r>
              <a:t>- A summary slide cannot replace the approved plans, certification basis, or objective tables.</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the V-model as a relationship map between definition, realization, and verification rather than as a mandate for one schedule. Agile and waterfall can both organize compliant work, but cadence never removes lifecycle data, traceability, reviews, configuration control, baselines, problem reporting, or required independence.</a:t>
            </a:r>
          </a:p>
          <a:p xmlns:a="http://schemas.openxmlformats.org/drawingml/2006/main">
            <a:r>
              <a:t/>
            </a:r>
          </a:p>
          <a:p xmlns:a="http://schemas.openxmlformats.org/drawingml/2006/main">
            <a:r>
              <a:t>Caveats</a:t>
            </a:r>
            <a:endParaRPr/>
          </a:p>
          <a:p xmlns:a="http://schemas.openxmlformats.org/drawingml/2006/main">
            <a:r>
              <a:t>- Process labels do not establish compliance; approved plans and objective evidence do.</a:t>
            </a:r>
          </a:p>
          <a:p xmlns:a="http://schemas.openxmlformats.org/drawingml/2006/main">
            <a:r>
              <a:t/>
            </a:r>
          </a:p>
          <a:p xmlns:a="http://schemas.openxmlformats.org/drawingml/2006/main">
            <a:r>
              <a:t>[Sources]</a:t>
            </a:r>
            <a:endParaRPr/>
          </a:p>
          <a:p xmlns:a="http://schemas.openxmlformats.org/drawingml/2006/main">
            <a:r>
              <a:t>- https://www.nasa.gov/reference/systems-engineering-handbook/</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Walk from the classroom system intent through a software HLR and an implementation-oriented LLR or design statement. Connect the inclusive ±12 deg/s behavior, zero fallback, limiter status, and 50 Hz execution to PRL-001 through PRL-005 and the exact saved blocks.</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PSYS-001, SWHLR-001, and SWLLR-001 are presentation-level classroom mappings; the repository traceability CSV contains PRL-001 through PRL-005.</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models/PitchRateLimiter.slx</a:t>
            </a:r>
          </a:p>
          <a:p xmlns:a="http://schemas.openxmlformats.org/drawingml/2006/main">
            <a:r>
              <a:t>- https://www.faa.gov/regulations_policies/advisory_circulars/index.cfm/go/document.information/documentID/1032046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CI as an orchestrator around controlled engineering commands: initialize, update models, run simulations and assessments, validate outputs, and retain reports. A green stage says the configured steps passed on that agent and baseline; reviewers still examine warnings, scope, traceability, failures, and configuration.</a:t>
            </a:r>
          </a:p>
          <a:p xmlns:a="http://schemas.openxmlformats.org/drawingml/2006/main">
            <a:r>
              <a:t/>
            </a:r>
          </a:p>
          <a:p xmlns:a="http://schemas.openxmlformats.org/drawingml/2006/main">
            <a:r>
              <a:t>Caveats</a:t>
            </a:r>
            <a:endParaRPr/>
          </a:p>
          <a:p xmlns:a="http://schemas.openxmlformats.org/drawingml/2006/main">
            <a:r>
              <a:t>- No Jenkins pipeline was executed for this package.</a:t>
            </a:r>
          </a:p>
          <a:p xmlns:a="http://schemas.openxmlformats.org/drawingml/2006/main">
            <a:r>
              <a:t>- A passing pipeline is evidence input, not certification approval.</a:t>
            </a:r>
          </a:p>
          <a:p xmlns:a="http://schemas.openxmlformats.org/drawingml/2006/main">
            <a:r>
              <a:t/>
            </a:r>
            <a:endParaRPr/>
          </a:p>
          <a:p xmlns:a="http://schemas.openxmlformats.org/drawingml/2006/main">
            <a:r>
              <a:t>[Sources]</a:t>
            </a:r>
          </a:p>
          <a:p xmlns:a="http://schemas.openxmlformats.org/drawingml/2006/main">
            <a:r>
              <a:t>- results/validation_summary.txt</a:t>
            </a:r>
          </a:p>
          <a:p xmlns:a="http://schemas.openxmlformats.org/drawingml/2006/main">
            <a:r>
              <a:t>- scripts/validate_training_project.m</a:t>
            </a:r>
          </a:p>
          <a:p xmlns:a="http://schemas.openxmlformats.org/drawingml/2006/main">
            <a:r>
              <a:t>- https://www.mathworks.com/help/sltest/ug/output-results-for-continuous-integration-systems.html</a:t>
            </a: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Investigate failures from the first reproducible difference: confirm release, license, paths, dictionary, model baseline, and command; then separate update/compile diagnostics from simulation or assessment failures. Correct the root cause, add focused regression protection, rerun the affected scope, and finally rerun the controlled full set.</a:t>
            </a:r>
          </a:p>
          <a:p xmlns:a="http://schemas.openxmlformats.org/drawingml/2006/main">
            <a:r>
              <a:t/>
            </a:r>
          </a:p>
          <a:p xmlns:a="http://schemas.openxmlformats.org/drawingml/2006/main">
            <a:r>
              <a:t>Caveats</a:t>
            </a:r>
            <a:endParaRPr/>
          </a:p>
          <a:p xmlns:a="http://schemas.openxmlformats.org/drawingml/2006/main">
            <a:r>
              <a:t>- Do not suppress warnings or loosen tolerances merely to create a green status.</a:t>
            </a:r>
          </a:p>
          <a:p xmlns:a="http://schemas.openxmlformats.org/drawingml/2006/main">
            <a:r>
              <a:t>- The validator accepts only the documented Model-block license fallback warning.</a:t>
            </a:r>
          </a:p>
          <a:p xmlns:a="http://schemas.openxmlformats.org/drawingml/2006/main">
            <a:r>
              <a:t/>
            </a:r>
            <a:endParaRP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results/environment_inventory.txt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Keep execution environments distinct: MIL executes the model; SIL executes generated source code; PIL executes generated object code on a target processor; HIL uses actual controller or target hardware, physical I/O, and a real-time plant environment; bench and system-integration tests add their own controlled contexts. Name the actual environment in every retained result.</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p>
          <a:p xmlns:a="http://schemas.openxmlformats.org/drawingml/2006/main">
            <a:r>
              <a:t>- PIL is an execution environment and is not automatically synonymous with unit testing.</a:t>
            </a:r>
          </a:p>
          <a:p xmlns:a="http://schemas.openxmlformats.org/drawingml/2006/main">
            <a:r>
              <a:t>- Only call testing HIL when actual controller or target hardware, a real-time plant environment, and physical I/O are used. This package performed no HIL.</a:t>
            </a:r>
            <a:endParaRPr/>
          </a:p>
          <a:p xmlns:a="http://schemas.openxmlformats.org/drawingml/2006/main">
            <a:r>
              <a:t/>
            </a:r>
          </a:p>
          <a:p xmlns:a="http://schemas.openxmlformats.org/drawingml/2006/main">
            <a:r>
              <a:t>[Sources]</a:t>
            </a:r>
          </a:p>
          <a:p xmlns:a="http://schemas.openxmlformats.org/drawingml/2006/main">
            <a:r>
              <a:t>- results/environment_inventory.txt</a:t>
            </a:r>
          </a:p>
          <a:p xmlns:a="http://schemas.openxmlformats.org/drawingml/2006/main">
            <a:r>
              <a:t>- https://www.mathworks.com/help/sltest/sil-pil-and-hil-tests.html</a:t>
            </a:r>
          </a:p>
          <a:p xmlns:a="http://schemas.openxmlformats.org/drawingml/2006/main">
            <a:r>
              <a:t>- https://www.mathworks.com/discovery/hardware-in-the-loop-hil.html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Report the freshly rechecked status without combining unlike counts. The 2026-08-27 package validation retains 8/8 delivered models updated, 19/19 limiter sample assessments passing, and 24/24 required exports present. Separately, the controlled top-level GRT build generated and compiled the parent and four referenced targets, 5/5. These are complementary evidence records with different scopes.</a:t>
            </a:r>
          </a:p>
          <a:p xmlns:a="http://schemas.openxmlformats.org/drawingml/2006/main">
            <a:r>
              <a:t/>
            </a:r>
          </a:p>
          <a:p xmlns:a="http://schemas.openxmlformats.org/drawingml/2006/main">
            <a:r>
              <a:t>Caveats</a:t>
            </a:r>
            <a:endParaRPr/>
          </a:p>
          <a:p xmlns:a="http://schemas.openxmlformats.org/drawingml/2006/main">
            <a:r>
              <a:t>- 8/8 means diagram update/compile accepted; it does not mean eight files were edited.</a:t>
            </a:r>
            <a:endParaRPr/>
          </a:p>
          <a:p xmlns:a="http://schemas.openxmlformats.org/drawingml/2006/main">
            <a:r>
              <a:t>- 24/24 counts one HTML report, twenty-one named visual exports, and two SDI .mldatx artifacts; it does not include the new build tree.</a:t>
            </a:r>
            <a:endParaRPr/>
          </a:p>
          <a:p xmlns:a="http://schemas.openxmlformats.org/drawingml/2006/main">
            <a:r>
              <a:t>- 5/5 means code generation and compilation completed; the executable was not run.</a:t>
            </a:r>
            <a:endParaRPr/>
          </a:p>
          <a:p xmlns:a="http://schemas.openxmlformats.org/drawingml/2006/main">
            <a:r>
              <a:t/>
            </a:r>
            <a:endParaRPr/>
          </a:p>
          <a:p xmlns:a="http://schemas.openxmlformats.org/drawingml/2006/main">
            <a:r>
              <a:t>[Sources]</a:t>
            </a:r>
            <a:endParaRPr/>
          </a:p>
          <a:p xmlns:a="http://schemas.openxmlformats.org/drawingml/2006/main">
            <a:r>
              <a:t>- results/validation_summary.txt</a:t>
            </a:r>
            <a:endParaRPr/>
          </a:p>
          <a:p xmlns:a="http://schemas.openxmlformats.org/drawingml/2006/main">
            <a:r>
              <a:t>- scripts/validate_training_project.m</a:t>
            </a:r>
          </a:p>
          <a:p xmlns:a="http://schemas.openxmlformats.org/drawingml/2006/main">
            <a:r>
              <a:t>- results/top_level_codegen_v7_evidence/ReferencedFlightControlArchitecture_slbuild.log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package now demonstrates saved models, controlled data, model update, desktop MIL simulation, a standalone limiter harness, executable MATLAB assessments, traceable reports, a recoverable SDI view/session, and a controlled GRT top-level build. It still does not claim production-aircraft data, an approved baseline, live Requirements links, a Test Manager suite, production or embedded-airborne code approval, generated-code verification, SIL, PIL, HIL, bench, system integration, or certification approval.</a:t>
            </a:r>
          </a:p>
          <a:p xmlns:a="http://schemas.openxmlformats.org/drawingml/2006/main">
            <a:r>
              <a:t/>
            </a:r>
          </a:p>
          <a:p xmlns:a="http://schemas.openxmlformats.org/drawingml/2006/main">
            <a:r>
              <a:t>Caveats</a:t>
            </a:r>
            <a:endParaRPr/>
          </a:p>
          <a:p xmlns:a="http://schemas.openxmlformats.org/drawingml/2006/main">
            <a:r>
              <a:t>- The GRT build is a training/prototyping artifact; it does not turn MIL evidence into code verification.</a:t>
            </a:r>
          </a:p>
          <a:p xmlns:a="http://schemas.openxmlformats.org/drawingml/2006/main">
            <a:r>
              <a:t>- The two retained .mldatx files are SDI artifacts only.</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https://www.faa.gov/regulations_policies/advisory_circulars/index.cfm/go/document.information/documentID/1032046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this as a project-defined completion-record placeholder, not a universal definition of RCF. Use only the approved program form and authority. A real record may identify the model baseline, allocated system requirements, verification criteria, executed evidence, configuration, findings, reviewers, dispositions, dates, and required acceptance. Where the approved process requires independence, the author should not be the sole independent verifier of their own work.</a:t>
            </a:r>
          </a:p>
          <a:p xmlns:a="http://schemas.openxmlformats.org/drawingml/2006/main">
            <a:r>
              <a:t/>
            </a:r>
          </a:p>
          <a:p xmlns:a="http://schemas.openxmlformats.org/drawingml/2006/main">
            <a:r>
              <a:t>Caveats</a:t>
            </a:r>
            <a:endParaRPr/>
          </a:p>
          <a:p xmlns:a="http://schemas.openxmlformats.org/drawingml/2006/main">
            <a:r>
              <a:t>- Do not expand RCF or assign it a universal closure function, authority, or independence requirement unless the approved program plan or form does so.</a:t>
            </a:r>
          </a:p>
          <a:p xmlns:a="http://schemas.openxmlformats.org/drawingml/2006/main">
            <a:r>
              <a:t>- No RCF, reviewer signature, independent-verification record, or approval record was supplied in this training package.</a:t>
            </a:r>
          </a:p>
          <a:p xmlns:a="http://schemas.openxmlformats.org/drawingml/2006/main">
            <a:r>
              <a:t>- Passing MIL assessments, Model Advisor checks, or Polyspace findings are evidence inputs; they are not substitutes for the review and acceptance required by the approved process.</a:t>
            </a:r>
            <a:endParaRPr/>
          </a:p>
          <a:p xmlns:a="http://schemas.openxmlformats.org/drawingml/2006/main">
            <a:r>
              <a:t/>
            </a:r>
          </a:p>
          <a:p xmlns:a="http://schemas.openxmlformats.org/drawingml/2006/main">
            <a:r>
              <a:t>[Sources]</a:t>
            </a:r>
          </a:p>
          <a:p xmlns:a="http://schemas.openxmlformats.org/drawingml/2006/main">
            <a:r>
              <a:t>- results/validation_summary.txt</a:t>
            </a:r>
          </a:p>
          <a:p xmlns:a="http://schemas.openxmlformats.org/drawingml/2006/main">
            <a:r>
              <a:t>- docs/PitchRateLimiter_Requirements_Traceability.csv</a:t>
            </a:r>
          </a:p>
          <a:p xmlns:a="http://schemas.openxmlformats.org/drawingml/2006/main">
            <a:r>
              <a:t>- https://www.faa.gov/documentLibrary/media/Order/FAA_Order_8110.49A.pdf</a:t>
            </a:r>
            <a:endParaRPr/>
          </a:p>
          <a:p xmlns:a="http://schemas.openxmlformats.org/drawingml/2006/main">
            <a:r>
              <a:t>- https://www.faa.gov/regulations_policies/advisory_circulars/index.cfm/go/document.information/documentID/1032046</a:t>
            </a:r>
            <a:endParaRPr/>
          </a:p>
          <a:p xmlns:a="http://schemas.openxmlformats.org/drawingml/2006/main">
            <a:r>
              <a:t>- https://www.nasa.gov/reference/systems-engineering-handbook/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Close with the repeatable chain the learner should produce. Initialize the folder-based package, choose the correct top-level model, update before execution, run the limiter driver rather than the saved placeholders, inspect the real top-level build tree, explain one SDI transient and all three limiter-result panels, open the dictionary and bus, and trace one requirement to retained evidence. Finish by naming which gates remain future or unsigned.</a:t>
            </a:r>
          </a:p>
          <a:p xmlns:a="http://schemas.openxmlformats.org/drawingml/2006/main">
            <a:r>
              <a:t/>
            </a:r>
          </a:p>
          <a:p xmlns:a="http://schemas.openxmlformats.org/drawingml/2006/main">
            <a:r>
              <a:t>Caveats</a:t>
            </a:r>
            <a:endParaRPr/>
          </a:p>
          <a:p xmlns:a="http://schemas.openxmlformats.org/drawingml/2006/main">
            <a:r>
              <a:t>- End on reproducible engineering practice, not a claim of certification, HIL completion, code verification, or signed approval.</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Close with the repeatable chain the learner should produce. Initialize the folder-based package, choose the correct top-level model, update before execution, run the limiter driver rather than the saved placeholders, inspect the real top-level build tree, explain one SDI transient and all three limiter-result panels, open the dictionary and bus, and trace one requirement to retained evidence. Finish by naming which gates remain future or unsigned.</a:t>
            </a:r>
          </a:p>
          <a:p xmlns:a="http://schemas.openxmlformats.org/drawingml/2006/main">
            <a:r>
              <a:t/>
            </a:r>
          </a:p>
          <a:p xmlns:a="http://schemas.openxmlformats.org/drawingml/2006/main">
            <a:r>
              <a:t>Caveats</a:t>
            </a:r>
            <a:endParaRPr/>
          </a:p>
          <a:p xmlns:a="http://schemas.openxmlformats.org/drawingml/2006/main">
            <a:r>
              <a:t>- End on reproducible engineering practice, not a claim of certification, HIL completion, code verification, or signed approval.</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FCS_Data.sldd is the shared Design Data source. The current dictionary contains thirty-one entries: twenty-six Simulink.Parameter objects, four Simulink.Signal objects, and one Simulink.Bus. Representative values include Sample_time 0.02 seconds, q_limit_normal 12 degrees per second, and q_fallback_command zero. FlightControlBus defines five scalar elements—q_rate, pitch_angle, mach, air_data_valid, and mode—with controlled types, units, dimensions, and descriptions. The next slide shows how to open and query them.</a:t>
            </a:r>
          </a:p>
          <a:p xmlns:a="http://schemas.openxmlformats.org/drawingml/2006/main">
            <a:r>
              <a:t/>
            </a:r>
          </a:p>
          <a:p xmlns:a="http://schemas.openxmlformats.org/drawingml/2006/main">
            <a:r>
              <a:t>Caveats</a:t>
            </a:r>
            <a:endParaRPr/>
          </a:p>
          <a:p xmlns:a="http://schemas.openxmlformats.org/drawingml/2006/main">
            <a:r>
              <a:t>- A dictionary and bus define controlled data and structure; they do not by themselves prove semantic correctness.</a:t>
            </a:r>
            <a:endParaRPr/>
          </a:p>
          <a:p xmlns:a="http://schemas.openxmlformats.org/drawingml/2006/main">
            <a:r>
              <a:t>- The values are illustrative classroom data, not production aircraft data.</a:t>
            </a:r>
            <a:endParaRPr/>
          </a:p>
          <a:p xmlns:a="http://schemas.openxmlformats.org/drawingml/2006/main">
            <a:r>
              <a:t/>
            </a:r>
            <a:endParaRPr/>
          </a:p>
          <a:p xmlns:a="http://schemas.openxmlformats.org/drawingml/2006/main">
            <a:r>
              <a:t>[Sources]</a:t>
            </a:r>
            <a:endParaRPr/>
          </a:p>
          <a:p xmlns:a="http://schemas.openxmlformats.org/drawingml/2006/main">
            <a:r>
              <a:t>- data/FCS_Data.sldd</a:t>
            </a:r>
            <a:endParaRPr/>
          </a:p>
          <a:p xmlns:a="http://schemas.openxmlformats.org/drawingml/2006/main">
            <a:r>
              <a:t>- results/FCS_DataDictionary_Inventory.csv</a:t>
            </a:r>
            <a:endParaRPr/>
          </a:p>
          <a:p xmlns:a="http://schemas.openxmlformats.org/drawingml/2006/main">
            <a:r>
              <a:t>- results/FlightControlBus_Inventory.csv</a:t>
            </a:r>
          </a:p>
          <a:p xmlns:a="http://schemas.openxmlformats.org/drawingml/2006/main">
            <a:r>
              <a:t>- scripts/initialize_training_data.m</a:t>
            </a:r>
          </a:p>
          <a:p xmlns:a="http://schemas.openxmlformats.org/drawingml/2006/main">
            <a:r>
              <a:t>- https://www.mathworks.com/help/simulink/ug/what-is-a-data-dictionary.html</a:t>
            </a:r>
            <a:endParaRPr/>
          </a:p>
          <a:p xmlns:a="http://schemas.openxmlformats.org/drawingml/2006/main">
            <a:r>
              <a:t>-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Trace AircraftFeedbackControlLoop from pitch command through controller, actuator, simplified longitudinal plant, and sensor lag back to the error calculation. The model logs command, response, error, actuator, and disturbance signals for the retained desktop run.</a:t>
            </a:r>
          </a:p>
          <a:p xmlns:a="http://schemas.openxmlformats.org/drawingml/2006/main">
            <a:r>
              <a:t/>
            </a:r>
          </a:p>
          <a:p xmlns:a="http://schemas.openxmlformats.org/drawingml/2006/main">
            <a:r>
              <a:t>Caveats</a:t>
            </a:r>
            <a:endParaRPr/>
          </a:p>
          <a:p xmlns:a="http://schemas.openxmlformats.org/drawingml/2006/main">
            <a:r>
              <a:t>- This is a simplified standalone training loop, not production aircraft dynamics.</a:t>
            </a:r>
            <a:endParaRPr/>
          </a:p>
          <a:p xmlns:a="http://schemas.openxmlformats.org/drawingml/2006/main">
            <a:r>
              <a:t>- Its simulation result is MIL evidence only.</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screenshots/AircraftFeedbackControlLoop_Editor.jpg</a:t>
            </a:r>
            <a:endParaRPr/>
          </a:p>
          <a:p xmlns:a="http://schemas.openxmlformats.org/drawingml/2006/main">
            <a:r>
              <a:t>- results/AircraftFeedback_CommandTracking.csv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At the AutopilotModeLogic root, identify external mode requests, validity and fault inputs, the Stateflow subsystem, and the documented mode output. The root view is the interface contract; the transition behavior is one level down.</a:t>
            </a:r>
          </a:p>
          <a:p xmlns:a="http://schemas.openxmlformats.org/drawingml/2006/main">
            <a:r>
              <a:t/>
            </a:r>
          </a:p>
          <a:p xmlns:a="http://schemas.openxmlformats.org/drawingml/2006/main">
            <a:r>
              <a:t>Caveats</a:t>
            </a:r>
            <a:endParaRPr/>
          </a:p>
          <a:p xmlns:a="http://schemas.openxmlformats.org/drawingml/2006/main">
            <a:r>
              <a:t>- The mode codes and transitions are illustrative classroom behavior, not an approved autopilot specification.</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screenshots/AutopilotModeLogic_Model.png</a:t>
            </a:r>
            <a:endParaRPr/>
          </a:p>
          <a:p xmlns:a="http://schemas.openxmlformats.org/drawingml/2006/main">
            <a:r>
              <a:t>- data/FCSMode.m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ReferencedFlightControlArchitecture is the integration parent. It creates FlightControlBus, invokes Sensor Processing, Pitch Rate Limiter, Pitch Controller, and Actuator Command Model blocks, and exposes integrated outputs. Model-reference boundaries make ownership and interface compatibility reviewable.</a:t>
            </a:r>
          </a:p>
          <a:p xmlns:a="http://schemas.openxmlformats.org/drawingml/2006/main">
            <a:r>
              <a:t/>
            </a:r>
          </a:p>
          <a:p xmlns:a="http://schemas.openxmlformats.org/drawingml/2006/main">
            <a:r>
              <a:t>Caveats</a:t>
            </a:r>
            <a:endParaRPr/>
          </a:p>
          <a:p xmlns:a="http://schemas.openxmlformats.org/drawingml/2006/main">
            <a:r>
              <a:t>- The architecture update proves resolvable interfaces and configuration, not compliance with behavioral requirements.</a:t>
            </a:r>
            <a:endParaRPr/>
          </a:p>
          <a:p xmlns:a="http://schemas.openxmlformats.org/drawingml/2006/main">
            <a:r>
              <a:t>- On the verified student license, Accelerator Model blocks fall back to Normal mode.</a:t>
            </a:r>
            <a:endParaRPr/>
          </a:p>
          <a:p xmlns:a="http://schemas.openxmlformats.org/drawingml/2006/main">
            <a:r>
              <a:t/>
            </a:r>
            <a:endParaRPr/>
          </a:p>
          <a:p xmlns:a="http://schemas.openxmlformats.org/drawingml/2006/main">
            <a:r>
              <a:t>[Sources]</a:t>
            </a:r>
            <a:endParaRPr/>
          </a:p>
          <a:p xmlns:a="http://schemas.openxmlformats.org/drawingml/2006/main">
            <a:r>
              <a:t>- models/ReferencedFlightControlArchitecture.slx</a:t>
            </a:r>
            <a:endParaRPr/>
          </a:p>
          <a:p xmlns:a="http://schemas.openxmlformats.org/drawingml/2006/main">
            <a:r>
              <a:t>- screenshots/ReferencedFlightControlArchitecture_Editor.jpg</a:t>
            </a:r>
            <a:endParaRPr/>
          </a:p>
          <a:p xmlns:a="http://schemas.openxmlformats.org/drawingml/2006/main">
            <a:r>
              <a:t>- results/ReferencedArchitecture_Validation.csv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PitchRateLimiter is both a reviewable component model and a referenced child. Its root exposes q_cmd_in, normal_mode, input_valid, q_cmd_out, and limiter_active at the controlled 50 Hz sample time, while implementation detail remains inside Pitch Rate Limiter Logic.</a:t>
            </a:r>
          </a:p>
          <a:p xmlns:a="http://schemas.openxmlformats.org/drawingml/2006/main">
            <a:r>
              <a:t/>
            </a:r>
          </a:p>
          <a:p xmlns:a="http://schemas.openxmlformats.org/drawingml/2006/main">
            <a:r>
              <a:t>Caveats</a:t>
            </a:r>
            <a:endParaRPr/>
          </a:p>
          <a:p xmlns:a="http://schemas.openxmlformats.org/drawingml/2006/main">
            <a:r>
              <a:t>- This is a magnitude limiter, not a slew-rate limiter.</a:t>
            </a:r>
            <a:endParaRPr/>
          </a:p>
          <a:p xmlns:a="http://schemas.openxmlformats.org/drawingml/2006/main">
            <a:r>
              <a:t>- The values and requirements are illustrative training data.</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screenshots/PitchRateLimiter_Model.png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Debug &gt; Information Overlays to reveal port units, data types, signal dimensions, names, and logging or test-point badges; turn each display off again when it obscures structure. These overlays describe model semantics and instrumentation. Simulation Data Inspector markers and cursors instead annotate plotted samples after data has been logged.</a:t>
            </a:r>
          </a:p>
          <a:p xmlns:a="http://schemas.openxmlformats.org/drawingml/2006/main">
            <a:r>
              <a:t/>
            </a:r>
          </a:p>
          <a:p xmlns:a="http://schemas.openxmlformats.org/drawingml/2006/main">
            <a:r>
              <a:t>Caveats</a:t>
            </a:r>
            <a:endParaRPr/>
          </a:p>
          <a:p xmlns:a="http://schemas.openxmlformats.org/drawingml/2006/main">
            <a:r>
              <a:t>- A marker does not create or delete a logged data point.</a:t>
            </a:r>
          </a:p>
          <a:p xmlns:a="http://schemas.openxmlformats.org/drawingml/2006/main">
            <a:r>
              <a:t>- Some overlays require a successful model update before propagated attributes are available, and exact toolstrip grouping can vary by release or selection.</a:t>
            </a:r>
          </a:p>
          <a:p xmlns:a="http://schemas.openxmlformats.org/drawingml/2006/main">
            <a:r>
              <a:t/>
            </a:r>
            <a:endParaRPr/>
          </a:p>
          <a:p xmlns:a="http://schemas.openxmlformats.org/drawingml/2006/main">
            <a:r>
              <a:t>[Sources]</a:t>
            </a:r>
          </a:p>
          <a:p xmlns:a="http://schemas.openxmlformats.org/drawingml/2006/main">
            <a:r>
              <a:t>- https://www.mathworks.com/help/simulink/ug/displaying-units.html</a:t>
            </a:r>
          </a:p>
          <a:p xmlns:a="http://schemas.openxmlformats.org/drawingml/2006/main">
            <a:r>
              <a:t>- https://www.mathworks.com/help/simulink/ug/working-with-test-points.html</a:t>
            </a:r>
          </a:p>
          <a:p xmlns:a="http://schemas.openxmlformats.org/drawingml/2006/main">
            <a:r>
              <a:t>- https://www.mathworks.com/help/simulink/ug/view-the-signal-logging-configuration.html</a:t>
            </a:r>
          </a:p>
          <a:p xmlns:a="http://schemas.openxmlformats.org/drawingml/2006/main">
            <a:r>
              <a:t>- https://www.mathworks.com/help/simulink/gui/signallogging.html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Keep the two execution paths separate. The callback example calls training_callback_preload. When context is absent, preload calls training_callback_setup; setup creates the Dataset and context, and preload stores the returned state. training_callback_postload then configures the standalone PitchRateLimiter model, and the example may optionally simulate it. That lane does not invoke the retained harness driver and does not own an oracle or evidence report. Separately, run_pitch_rate_limiter_tests initializes the baseline, creates and injects q_cmd_test, normal_mode_test, and input_valid_test into PitchRateLimiter_Harness, simulates once, assesses the results, and retains CSV, MAT, HTML, and PNG.</a:t>
            </a:r>
          </a:p>
          <a:p xmlns:a="http://schemas.openxmlformats.org/drawingml/2006/main">
            <a:r>
              <a:t/>
            </a:r>
          </a:p>
          <a:p xmlns:a="http://schemas.openxmlformats.org/drawingml/2006/main">
            <a:r>
              <a:t>Caveats</a:t>
            </a:r>
            <a:endParaRPr/>
          </a:p>
          <a:p xmlns:a="http://schemas.openxmlformats.org/drawingml/2006/main">
            <a:r>
              <a:t>- The test driver is not invoked by callback_workflow_example.m.</a:t>
            </a:r>
            <a:endParaRPr/>
          </a:p>
          <a:p xmlns:a="http://schemas.openxmlformats.org/drawingml/2006/main">
            <a:r>
              <a:t>- The deterministic callback Dataset is created by training_callback_setup.m; preload obtains and stores that context.</a:t>
            </a:r>
            <a:endParaRPr/>
          </a:p>
          <a:p xmlns:a="http://schemas.openxmlformats.org/drawingml/2006/main">
            <a:r>
              <a:t>- Callbacks create context; the retained driver owns the assessment oracle and evidence files.</a:t>
            </a:r>
            <a:endParaRPr/>
          </a:p>
          <a:p xmlns:a="http://schemas.openxmlformats.org/drawingml/2006/main">
            <a:r>
              <a:t/>
            </a:r>
            <a:endParaRPr/>
          </a:p>
          <a:p xmlns:a="http://schemas.openxmlformats.org/drawingml/2006/main">
            <a:r>
              <a:t>[Sources]</a:t>
            </a:r>
            <a:endParaRPr/>
          </a:p>
          <a:p xmlns:a="http://schemas.openxmlformats.org/drawingml/2006/main">
            <a:r>
              <a:t>- scripts/callback_workflow_example.m</a:t>
            </a:r>
            <a:endParaRPr/>
          </a:p>
          <a:p xmlns:a="http://schemas.openxmlformats.org/drawingml/2006/main">
            <a:r>
              <a:t>- scripts/training_callback_preload.m</a:t>
            </a:r>
          </a:p>
          <a:p xmlns:a="http://schemas.openxmlformats.org/drawingml/2006/main">
            <a:r>
              <a:t>- scripts/training_callback_setup.m</a:t>
            </a:r>
          </a:p>
          <a:p xmlns:a="http://schemas.openxmlformats.org/drawingml/2006/main">
            <a:r>
              <a:t>- scripts/training_callback_postload.m</a:t>
            </a:r>
            <a:endParaRPr/>
          </a:p>
          <a:p xmlns:a="http://schemas.openxmlformats.org/drawingml/2006/main">
            <a:r>
              <a:t>- scripts/run_pitch_rate_limiter_tests.m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4204b9fee04d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6db93bb97546fb" /><Relationship Type="http://schemas.openxmlformats.org/officeDocument/2006/relationships/slideLayout" Target="/ppt/slideLayouts/slideLayout1.xml" Id="R6ed23185945a44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d23185945a44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f7833e3cc847de" /><Relationship Type="http://schemas.openxmlformats.org/officeDocument/2006/relationships/notesSlide" Target="/ppt/notesSlides/notesSlide1.xml" Id="R6471a3e4393048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01c53a1903443a" /><Relationship Type="http://schemas.openxmlformats.org/officeDocument/2006/relationships/notesSlide" Target="/ppt/notesSlides/notesSlide2.xml" Id="Rb41922ab327b43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472bfcf5e54163" /><Relationship Type="http://schemas.openxmlformats.org/officeDocument/2006/relationships/notesSlide" Target="/ppt/notesSlides/notesSlide3.xml" Id="Rc9430914aced4b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c9973ccdc24654" /><Relationship Type="http://schemas.openxmlformats.org/officeDocument/2006/relationships/notesSlide" Target="/ppt/notesSlides/notesSlide4.xml" Id="R8032329747f54e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40a99b2b694318" /><Relationship Type="http://schemas.openxmlformats.org/officeDocument/2006/relationships/notesSlide" Target="/ppt/notesSlides/notesSlide5.xml" Id="R873a3fe8a17549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9d5e2bba5048f5" /><Relationship Type="http://schemas.openxmlformats.org/officeDocument/2006/relationships/notesSlide" Target="/ppt/notesSlides/notesSlide6.xml" Id="R14bb088350d744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718ee85fc4749b9" /><Relationship Type="http://schemas.openxmlformats.org/officeDocument/2006/relationships/notesSlide" Target="/ppt/notesSlides/notesSlide7.xml" Id="R52985405fa2642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d43828f99f4877" /><Relationship Type="http://schemas.openxmlformats.org/officeDocument/2006/relationships/notesSlide" Target="/ppt/notesSlides/notesSlide8.xml" Id="Re83c65c56da94c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413dcbab64d4638" /><Relationship Type="http://schemas.openxmlformats.org/officeDocument/2006/relationships/notesSlide" Target="/ppt/notesSlides/notesSlide9.xml" Id="R316be167755a40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3bc8fb1fba14cc0" /><Relationship Type="http://schemas.openxmlformats.org/officeDocument/2006/relationships/notesSlide" Target="/ppt/notesSlides/notesSlide10.xml" Id="Rfc1905e7bc084e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d5fc4851a1d42cc" /><Relationship Type="http://schemas.openxmlformats.org/officeDocument/2006/relationships/notesSlide" Target="/ppt/notesSlides/notesSlide11.xml" Id="R7ecbedd5813a49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40ff8602835469f" /><Relationship Type="http://schemas.openxmlformats.org/officeDocument/2006/relationships/image" Target="/ppt/media/image.jpeg" Id="R1d0cfda526de45aa" /><Relationship Type="http://schemas.openxmlformats.org/officeDocument/2006/relationships/notesSlide" Target="/ppt/notesSlides/notesSlide12.xml" Id="R22ae92d6890e44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e1f01e924bb455a" /><Relationship Type="http://schemas.openxmlformats.org/officeDocument/2006/relationships/notesSlide" Target="/ppt/notesSlides/notesSlide13.xml" Id="R6881f1be8f3449c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67af1e913ff4e7d" /><Relationship Type="http://schemas.openxmlformats.org/officeDocument/2006/relationships/notesSlide" Target="/ppt/notesSlides/notesSlide14.xml" Id="R094ee9b95ea24c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1a05c1232604d8f" /><Relationship Type="http://schemas.openxmlformats.org/officeDocument/2006/relationships/notesSlide" Target="/ppt/notesSlides/notesSlide15.xml" Id="R225cffd34eff4e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05d5da4938a4a7d" /><Relationship Type="http://schemas.openxmlformats.org/officeDocument/2006/relationships/notesSlide" Target="/ppt/notesSlides/notesSlide16.xml" Id="Rf7d2f32ecc1547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957cc05e8e54a18" /><Relationship Type="http://schemas.openxmlformats.org/officeDocument/2006/relationships/image" Target="/ppt/media/image.png" Id="R356d4bcc25ec443c" /><Relationship Type="http://schemas.openxmlformats.org/officeDocument/2006/relationships/notesSlide" Target="/ppt/notesSlides/notesSlide17.xml" Id="R2bd9eed28c2d44b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c2d1b8a99ee4a43" /><Relationship Type="http://schemas.openxmlformats.org/officeDocument/2006/relationships/notesSlide" Target="/ppt/notesSlides/notesSlide18.xml" Id="Rcc450f064ae943f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fe678f4462b4a2a" /><Relationship Type="http://schemas.openxmlformats.org/officeDocument/2006/relationships/notesSlide" Target="/ppt/notesSlides/notesSlide19.xml" Id="R6601018a9fa64c7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2d60de2336c4c73" /><Relationship Type="http://schemas.openxmlformats.org/officeDocument/2006/relationships/image" Target="/ppt/media/image2.png" Id="Rcbd8d63fc7204263" /><Relationship Type="http://schemas.openxmlformats.org/officeDocument/2006/relationships/notesSlide" Target="/ppt/notesSlides/notesSlide20.xml" Id="Ra77f724d2efb4cb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d83bf6525744bce" /><Relationship Type="http://schemas.openxmlformats.org/officeDocument/2006/relationships/notesSlide" Target="/ppt/notesSlides/notesSlide21.xml" Id="Rdabe60aa071145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ccf4078cea3478f" /><Relationship Type="http://schemas.openxmlformats.org/officeDocument/2006/relationships/notesSlide" Target="/ppt/notesSlides/notesSlide22.xml" Id="Racb619f313cf495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6420569f6cb46bd" /><Relationship Type="http://schemas.openxmlformats.org/officeDocument/2006/relationships/notesSlide" Target="/ppt/notesSlides/notesSlide23.xml" Id="R4eb29f4f4ae547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669d374901c4488" /><Relationship Type="http://schemas.openxmlformats.org/officeDocument/2006/relationships/notesSlide" Target="/ppt/notesSlides/notesSlide24.xml" Id="R9c31945120aa450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a3a24f070d246ad" /><Relationship Type="http://schemas.openxmlformats.org/officeDocument/2006/relationships/image" Target="/ppt/media/image2.jpeg" Id="R6ce8738c803c4cba" /><Relationship Type="http://schemas.openxmlformats.org/officeDocument/2006/relationships/notesSlide" Target="/ppt/notesSlides/notesSlide25.xml" Id="Rc61e1f67f312430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2dd9327a6f14214" /><Relationship Type="http://schemas.openxmlformats.org/officeDocument/2006/relationships/image" Target="/ppt/media/image3.jpeg" Id="Rf7c9501440d148de" /><Relationship Type="http://schemas.openxmlformats.org/officeDocument/2006/relationships/notesSlide" Target="/ppt/notesSlides/notesSlide26.xml" Id="R6f86ca5d4d2149b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d99a3ca8516466d" /><Relationship Type="http://schemas.openxmlformats.org/officeDocument/2006/relationships/notesSlide" Target="/ppt/notesSlides/notesSlide27.xml" Id="R0bf3a84ce2a049e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c8813d93d0742c6" /><Relationship Type="http://schemas.openxmlformats.org/officeDocument/2006/relationships/notesSlide" Target="/ppt/notesSlides/notesSlide28.xml" Id="R9da13957518e4b9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f116bd20bae44c8" /><Relationship Type="http://schemas.openxmlformats.org/officeDocument/2006/relationships/image" Target="/ppt/media/image3.png" Id="R30fe784755f34bcd" /><Relationship Type="http://schemas.openxmlformats.org/officeDocument/2006/relationships/notesSlide" Target="/ppt/notesSlides/notesSlide29.xml" Id="Rd53ec2df2668464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bfa2a78ca384a4b" /><Relationship Type="http://schemas.openxmlformats.org/officeDocument/2006/relationships/notesSlide" Target="/ppt/notesSlides/notesSlide30.xml" Id="R382f555e362440c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4f2304bf48749da" /><Relationship Type="http://schemas.openxmlformats.org/officeDocument/2006/relationships/notesSlide" Target="/ppt/notesSlides/notesSlide31.xml" Id="Rcdf1f8fe8a254cb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7c7408261754e4b" /><Relationship Type="http://schemas.openxmlformats.org/officeDocument/2006/relationships/notesSlide" Target="/ppt/notesSlides/notesSlide32.xml" Id="Reb331e122945445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62e9d6e44834d13" /><Relationship Type="http://schemas.openxmlformats.org/officeDocument/2006/relationships/notesSlide" Target="/ppt/notesSlides/notesSlide33.xml" Id="Re8fcbdaf44a94be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7d2f974c5814ecb" /><Relationship Type="http://schemas.openxmlformats.org/officeDocument/2006/relationships/notesSlide" Target="/ppt/notesSlides/notesSlide34.xml" Id="R2647602915c944f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3e2dd93d3784f8f" /><Relationship Type="http://schemas.openxmlformats.org/officeDocument/2006/relationships/notesSlide" Target="/ppt/notesSlides/notesSlide35.xml" Id="Rf6dc085b6cbc485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2e5c646465d4f56" /><Relationship Type="http://schemas.openxmlformats.org/officeDocument/2006/relationships/notesSlide" Target="/ppt/notesSlides/notesSlide36.xml" Id="R4c33638b854244f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2928d548d124b3c" /><Relationship Type="http://schemas.openxmlformats.org/officeDocument/2006/relationships/notesSlide" Target="/ppt/notesSlides/notesSlide37.xml" Id="R6c41428821b24d6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5b49a9e95ac4c0a" /><Relationship Type="http://schemas.openxmlformats.org/officeDocument/2006/relationships/notesSlide" Target="/ppt/notesSlides/notesSlide38.xml" Id="R67def36a9e124c0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7663a0685244e22" /><Relationship Type="http://schemas.openxmlformats.org/officeDocument/2006/relationships/notesSlide" Target="/ppt/notesSlides/notesSlide39.xml" Id="Raf51244c6a29485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8aaa598049d41c2" /><Relationship Type="http://schemas.openxmlformats.org/officeDocument/2006/relationships/notesSlide" Target="/ppt/notesSlides/notesSlide40.xml" Id="R38fcaa93398f480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b7f0a7222a142f5" /><Relationship Type="http://schemas.openxmlformats.org/officeDocument/2006/relationships/notesSlide" Target="/ppt/notesSlides/notesSlide41.xml" Id="Rcfc99718d58d4fa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65c5537516ce4fa9" /><Relationship Type="http://schemas.openxmlformats.org/officeDocument/2006/relationships/notesSlide" Target="/ppt/notesSlides/notesSlide42.xml" Id="R883acc18841c409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80888a60e1143ff" /><Relationship Type="http://schemas.openxmlformats.org/officeDocument/2006/relationships/notesSlide" Target="/ppt/notesSlides/notesSlide43.xml" Id="Rcd229ea517284db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8d9e0eeb7c24b3b" /><Relationship Type="http://schemas.openxmlformats.org/officeDocument/2006/relationships/notesSlide" Target="/ppt/notesSlides/notesSlide44.xml" Id="R38af084e04584dc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6926e705c06438f" /><Relationship Type="http://schemas.openxmlformats.org/officeDocument/2006/relationships/notesSlide" Target="/ppt/notesSlides/notesSlide45.xml" Id="R0f724692da1f42c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06480b038e44662" /><Relationship Type="http://schemas.openxmlformats.org/officeDocument/2006/relationships/notesSlide" Target="/ppt/notesSlides/notesSlide46.xml" Id="R753e4af6072a44f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3777e64dbe34f2b" /><Relationship Type="http://schemas.openxmlformats.org/officeDocument/2006/relationships/notesSlide" Target="/ppt/notesSlides/notesSlide47.xml" Id="R81eb0f06e56e4bf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e847bbae9944fa4" /><Relationship Type="http://schemas.openxmlformats.org/officeDocument/2006/relationships/notesSlide" Target="/ppt/notesSlides/notesSlide48.xml" Id="R836a80f5a1e046b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62c263668204233" /><Relationship Type="http://schemas.openxmlformats.org/officeDocument/2006/relationships/notesSlide" Target="/ppt/notesSlides/notesSlide49.xml" Id="R6b9a502e881a4f5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7f781f8cc8d453b" /><Relationship Type="http://schemas.openxmlformats.org/officeDocument/2006/relationships/image" Target="/ppt/media/image4.jpeg" Id="R9b0d1fca58bc4aa7" /><Relationship Type="http://schemas.openxmlformats.org/officeDocument/2006/relationships/notesSlide" Target="/ppt/notesSlides/notesSlide50.xml" Id="R6e1a790c688e451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d7a52e2133f4fc1" /><Relationship Type="http://schemas.openxmlformats.org/officeDocument/2006/relationships/notesSlide" Target="/ppt/notesSlides/notesSlide51.xml" Id="R215c35f0e9ad490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f7a64fbf8e14020" /><Relationship Type="http://schemas.openxmlformats.org/officeDocument/2006/relationships/image" Target="/ppt/media/image5.jpeg" Id="Rfdd3e09b8a0147b0" /><Relationship Type="http://schemas.openxmlformats.org/officeDocument/2006/relationships/notesSlide" Target="/ppt/notesSlides/notesSlide52.xml" Id="R1286ea14cb0541d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204aa6a9b7214912" /><Relationship Type="http://schemas.openxmlformats.org/officeDocument/2006/relationships/notesSlide" Target="/ppt/notesSlides/notesSlide53.xml" Id="R90933e2db73844b8"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734dd08f9fda498a" /><Relationship Type="http://schemas.openxmlformats.org/officeDocument/2006/relationships/image" Target="/ppt/media/image4.png" Id="R8163ae86613e4c53" /><Relationship Type="http://schemas.openxmlformats.org/officeDocument/2006/relationships/notesSlide" Target="/ppt/notesSlides/notesSlide54.xml" Id="Rac8a835f0461489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020fa838152c437a" /><Relationship Type="http://schemas.openxmlformats.org/officeDocument/2006/relationships/notesSlide" Target="/ppt/notesSlides/notesSlide55.xml" Id="R789333ed71934227"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88000"/>
              </a:lnSpc>
              <a:buNone/>
              <a:defRPr sz="4950" b="1" i="0">
                <a:solidFill>
                  <a:srgbClr val="FFFFFF"/>
                </a:solidFill>
                <a:latin typeface="Aptos"/>
                <a:ea typeface="Aptos"/>
                <a:cs typeface="Aptos"/>
              </a:defRPr>
            </a:pPr>
            <a:r>
              <a:rPr sz="4950" b="1" i="0">
                <a:solidFill>
                  <a:srgbClr val="FFFFFF"/>
                </a:solidFill>
                <a:latin typeface="Aptos"/>
                <a:ea typeface="Aptos"/>
                <a:cs typeface="Aptos"/>
              </a:rPr>
              <a:t>Simulink in the Aerospace 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10000"/>
              </a:lnSpc>
              <a:buNone/>
              <a:defRPr sz="1800" b="0" i="0">
                <a:solidFill>
                  <a:srgbClr val="D8E8F1"/>
                </a:solidFill>
                <a:latin typeface="Aptos"/>
                <a:ea typeface="Aptos"/>
                <a:cs typeface="Aptos"/>
              </a:defRPr>
            </a:pPr>
            <a:r>
              <a:rPr sz="1800" b="0" i="0">
                <a:solidFill>
                  <a:srgbClr val="D8E8F1"/>
                </a:solidFill>
                <a:latin typeface="Aptos"/>
                <a:ea typeface="Aptos"/>
                <a:cs typeface="Aptos"/>
              </a:rPr>
              <a:t>First-session workflow • model hierarchy • desktop MIL evidence • assurance context</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17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7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7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663" b="1" i="0">
                <a:solidFill>
                  <a:srgbClr val="0B1F33"/>
                </a:solidFill>
                <a:latin typeface="Aptos"/>
                <a:ea typeface="Aptos"/>
                <a:cs typeface="Aptos"/>
              </a:defRPr>
            </a:pPr>
            <a:r>
              <a:rPr sz="2663" b="1" i="0">
                <a:solidFill>
                  <a:srgbClr val="0B1F33"/>
                </a:solidFill>
                <a:latin typeface="Aptos"/>
                <a:ea typeface="Aptos"/>
                <a:cs typeface="Aptos"/>
              </a:rPr>
              <a:t>Absolute summary: executable training evidence with bounded claims</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Tree>
    <p:extLst>
      <p:ext uri="{BB962C8B-B14F-4D97-AF65-F5344CB8AC3E}">
        <p14:creationId xmlns:p14="http://schemas.microsoft.com/office/powerpoint/2010/main" val="140704512"/>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Overall completion checklist: verified, explained, or future</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03</a:t>
            </a:r>
          </a:p>
        </p:txBody>
      </p:sp>
      <p:sp>
        <p:nvSpPr>
          <p:cNvPr id="20" name="s3-rule">
            <a:extLst xmlns:a="http://schemas.openxmlformats.org/drawingml/2006/main">
              <a:ext uri="{FF2B5EF4-FFF2-40B4-BE49-F238E27FC236}">
                <a16:creationId xmlns:a16="http://schemas.microsoft.com/office/drawing/2014/main" id="{0C6B4512-74A7-40B2-A816-42FE1FAE907D}"/>
              </a:ext>
            </a:extLst>
          </p:cNvPr>
          <p:cNvSpPr>
            <a:spLocks xmlns:a="http://schemas.openxmlformats.org/drawingml/2006/main" noGrp="1"/>
          </p:cNvSpPr>
          <p:nvPr/>
        </p:nvSpPr>
        <p:spPr>
          <a:xfrm xmlns:a="http://schemas.openxmlformats.org/drawingml/2006/main">
            <a:off x="685800" y="1438275"/>
            <a:ext cx="10820400" cy="381000"/>
          </a:xfrm>
          <a:prstGeom xmlns:a="http://schemas.openxmlformats.org/drawingml/2006/main" prst="roundRect">
            <a:avLst>
              <a:gd name="adj" fmla="val 30000"/>
            </a:avLst>
          </a:prstGeom>
          <a:solidFill xmlns:a="http://schemas.openxmlformats.org/drawingml/2006/main">
            <a:srgbClr val="0C2133"/>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STATUS WORDS ARE PART OF THE EVIDENCE: VERIFIED ≠ EXPLAINED ≠ FUTURE</a:t>
            </a:r>
          </a:p>
        </p:txBody>
      </p:sp>
      <p:sp>
        <p:nvSpPr>
          <p:cNvPr id="21" name="s3-col-0">
            <a:extLst xmlns:a="http://schemas.openxmlformats.org/drawingml/2006/main">
              <a:ext uri="{FF2B5EF4-FFF2-40B4-BE49-F238E27FC236}">
                <a16:creationId xmlns:a16="http://schemas.microsoft.com/office/drawing/2014/main" id="{89695B76-CBD5-43C1-AD41-BD7572A6D279}"/>
              </a:ext>
            </a:extLst>
          </p:cNvPr>
          <p:cNvSpPr>
            <a:spLocks xmlns:a="http://schemas.openxmlformats.org/drawingml/2006/main" noGrp="1"/>
          </p:cNvSpPr>
          <p:nvPr/>
        </p:nvSpPr>
        <p:spPr>
          <a:xfrm xmlns:a="http://schemas.openxmlformats.org/drawingml/2006/main">
            <a:off x="685800" y="2047875"/>
            <a:ext cx="3276600" cy="3333750"/>
          </a:xfrm>
          <a:prstGeom xmlns:a="http://schemas.openxmlformats.org/drawingml/2006/main" prst="roundRect">
            <a:avLst>
              <a:gd name="adj" fmla="val 3488"/>
            </a:avLst>
          </a:prstGeom>
          <a:solidFill xmlns:a="http://schemas.openxmlformats.org/drawingml/2006/main">
            <a:srgbClr val="0C2133"/>
          </a:solidFill>
          <a:ln xmlns:a="http://schemas.openxmlformats.org/drawingml/2006/main" w="19050">
            <a:solidFill>
              <a:srgbClr val="2CA56F"/>
            </a:solidFill>
            <a:prstDash val="solid"/>
          </a:ln>
        </p:spPr>
      </p:sp>
      <p:sp>
        <p:nvSpPr>
          <p:cNvPr id="22" name="s3-col-title-0">
            <a:extLst xmlns:a="http://schemas.openxmlformats.org/drawingml/2006/main">
              <a:ext uri="{FF2B5EF4-FFF2-40B4-BE49-F238E27FC236}">
                <a16:creationId xmlns:a16="http://schemas.microsoft.com/office/drawing/2014/main" id="{283E03D1-EC08-4039-94FC-801DB6D5D2E1}"/>
              </a:ext>
            </a:extLst>
          </p:cNvPr>
          <p:cNvSpPr>
            <a:spLocks xmlns:a="http://schemas.openxmlformats.org/drawingml/2006/main" noGrp="1"/>
          </p:cNvSpPr>
          <p:nvPr/>
        </p:nvSpPr>
        <p:spPr>
          <a:xfrm xmlns:a="http://schemas.openxmlformats.org/drawingml/2006/main">
            <a:off x="857250" y="22098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2CA56F"/>
                </a:solidFill>
                <a:latin typeface="Aptos"/>
                <a:ea typeface="Aptos"/>
                <a:cs typeface="Aptos"/>
              </a:defRPr>
            </a:pPr>
            <a:r>
              <a:rPr sz="1425" b="1">
                <a:solidFill>
                  <a:srgbClr val="2CA56F"/>
                </a:solidFill>
                <a:latin typeface="Aptos"/>
                <a:ea typeface="Aptos"/>
                <a:cs typeface="Aptos"/>
              </a:rPr>
              <a:t>VERIFIED NOW</a:t>
            </a:r>
          </a:p>
        </p:txBody>
      </p:sp>
      <p:sp>
        <p:nvSpPr>
          <p:cNvPr id="23" name="s3-col-body-0">
            <a:extLst xmlns:a="http://schemas.openxmlformats.org/drawingml/2006/main">
              <a:ext uri="{FF2B5EF4-FFF2-40B4-BE49-F238E27FC236}">
                <a16:creationId xmlns:a16="http://schemas.microsoft.com/office/drawing/2014/main" id="{EAEEAB14-6F09-4B19-93F5-6BAF4586E0B5}"/>
              </a:ext>
            </a:extLst>
          </p:cNvPr>
          <p:cNvSpPr>
            <a:spLocks xmlns:a="http://schemas.openxmlformats.org/drawingml/2006/main" noGrp="1"/>
          </p:cNvSpPr>
          <p:nvPr/>
        </p:nvSpPr>
        <p:spPr>
          <a:xfrm xmlns:a="http://schemas.openxmlformats.org/drawingml/2006/main">
            <a:off x="914400" y="2686050"/>
            <a:ext cx="28194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8/8 model updates</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19/19 assessed samples</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24/24 required exports</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SDI run + view + session</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5/5 GRT models built</a:t>
            </a:r>
          </a:p>
        </p:txBody>
      </p:sp>
      <p:sp>
        <p:nvSpPr>
          <p:cNvPr id="24" name="s3-col-1">
            <a:extLst xmlns:a="http://schemas.openxmlformats.org/drawingml/2006/main">
              <a:ext uri="{FF2B5EF4-FFF2-40B4-BE49-F238E27FC236}">
                <a16:creationId xmlns:a16="http://schemas.microsoft.com/office/drawing/2014/main" id="{1CB4C672-D54D-4C67-BDE3-F4D10EBDC1CC}"/>
              </a:ext>
            </a:extLst>
          </p:cNvPr>
          <p:cNvSpPr>
            <a:spLocks xmlns:a="http://schemas.openxmlformats.org/drawingml/2006/main" noGrp="1"/>
          </p:cNvSpPr>
          <p:nvPr/>
        </p:nvSpPr>
        <p:spPr>
          <a:xfrm xmlns:a="http://schemas.openxmlformats.org/drawingml/2006/main">
            <a:off x="4343400" y="2047875"/>
            <a:ext cx="3276600" cy="3333750"/>
          </a:xfrm>
          <a:prstGeom xmlns:a="http://schemas.openxmlformats.org/drawingml/2006/main" prst="roundRect">
            <a:avLst>
              <a:gd name="adj" fmla="val 3488"/>
            </a:avLst>
          </a:prstGeom>
          <a:solidFill xmlns:a="http://schemas.openxmlformats.org/drawingml/2006/main">
            <a:srgbClr val="0C2133"/>
          </a:solidFill>
          <a:ln xmlns:a="http://schemas.openxmlformats.org/drawingml/2006/main" w="19050">
            <a:solidFill>
              <a:srgbClr val="20B7C5"/>
            </a:solidFill>
            <a:prstDash val="solid"/>
          </a:ln>
        </p:spPr>
      </p:sp>
      <p:sp>
        <p:nvSpPr>
          <p:cNvPr id="25" name="s3-col-title-1">
            <a:extLst xmlns:a="http://schemas.openxmlformats.org/drawingml/2006/main">
              <a:ext uri="{FF2B5EF4-FFF2-40B4-BE49-F238E27FC236}">
                <a16:creationId xmlns:a16="http://schemas.microsoft.com/office/drawing/2014/main" id="{2E1847B4-50E3-4B1C-950C-E596C2DE9095}"/>
              </a:ext>
            </a:extLst>
          </p:cNvPr>
          <p:cNvSpPr>
            <a:spLocks xmlns:a="http://schemas.openxmlformats.org/drawingml/2006/main" noGrp="1"/>
          </p:cNvSpPr>
          <p:nvPr/>
        </p:nvSpPr>
        <p:spPr>
          <a:xfrm xmlns:a="http://schemas.openxmlformats.org/drawingml/2006/main">
            <a:off x="4514850" y="22098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20B7C5"/>
                </a:solidFill>
                <a:latin typeface="Aptos"/>
                <a:ea typeface="Aptos"/>
                <a:cs typeface="Aptos"/>
              </a:defRPr>
            </a:pPr>
            <a:r>
              <a:rPr sz="1425" b="1">
                <a:solidFill>
                  <a:srgbClr val="20B7C5"/>
                </a:solidFill>
                <a:latin typeface="Aptos"/>
                <a:ea typeface="Aptos"/>
                <a:cs typeface="Aptos"/>
              </a:rPr>
              <a:t>EXPLAINED / DEMO</a:t>
            </a:r>
          </a:p>
        </p:txBody>
      </p:sp>
      <p:sp>
        <p:nvSpPr>
          <p:cNvPr id="26" name="s3-col-body-1">
            <a:extLst xmlns:a="http://schemas.openxmlformats.org/drawingml/2006/main">
              <a:ext uri="{FF2B5EF4-FFF2-40B4-BE49-F238E27FC236}">
                <a16:creationId xmlns:a16="http://schemas.microsoft.com/office/drawing/2014/main" id="{1B38E1EA-4E7A-499A-9268-0BA3A80A79AA}"/>
              </a:ext>
            </a:extLst>
          </p:cNvPr>
          <p:cNvSpPr>
            <a:spLocks xmlns:a="http://schemas.openxmlformats.org/drawingml/2006/main" noGrp="1"/>
          </p:cNvSpPr>
          <p:nvPr/>
        </p:nvSpPr>
        <p:spPr>
          <a:xfrm xmlns:a="http://schemas.openxmlformats.org/drawingml/2006/main">
            <a:off x="4572000" y="2686050"/>
            <a:ext cx="28194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logging vs test points</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model settings review</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Ctrl+D vs Run vs Ctrl+B</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harness input provenance</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SDI + result-plot reading</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dictionary + bus access</a:t>
            </a:r>
          </a:p>
        </p:txBody>
      </p:sp>
      <p:sp>
        <p:nvSpPr>
          <p:cNvPr id="27" name="s3-col-2">
            <a:extLst xmlns:a="http://schemas.openxmlformats.org/drawingml/2006/main">
              <a:ext uri="{FF2B5EF4-FFF2-40B4-BE49-F238E27FC236}">
                <a16:creationId xmlns:a16="http://schemas.microsoft.com/office/drawing/2014/main" id="{DACBC2AA-55BC-41AF-B1D4-68D43471461B}"/>
              </a:ext>
            </a:extLst>
          </p:cNvPr>
          <p:cNvSpPr>
            <a:spLocks xmlns:a="http://schemas.openxmlformats.org/drawingml/2006/main" noGrp="1"/>
          </p:cNvSpPr>
          <p:nvPr/>
        </p:nvSpPr>
        <p:spPr>
          <a:xfrm xmlns:a="http://schemas.openxmlformats.org/drawingml/2006/main">
            <a:off x="8001000" y="2047875"/>
            <a:ext cx="3276600" cy="3333750"/>
          </a:xfrm>
          <a:prstGeom xmlns:a="http://schemas.openxmlformats.org/drawingml/2006/main" prst="roundRect">
            <a:avLst>
              <a:gd name="adj" fmla="val 3488"/>
            </a:avLst>
          </a:prstGeom>
          <a:solidFill xmlns:a="http://schemas.openxmlformats.org/drawingml/2006/main">
            <a:srgbClr val="0C2133"/>
          </a:solidFill>
          <a:ln xmlns:a="http://schemas.openxmlformats.org/drawingml/2006/main" w="19050">
            <a:solidFill>
              <a:srgbClr val="E9A23B"/>
            </a:solidFill>
            <a:prstDash val="solid"/>
          </a:ln>
        </p:spPr>
      </p:sp>
      <p:sp>
        <p:nvSpPr>
          <p:cNvPr id="28" name="s3-col-title-2">
            <a:extLst xmlns:a="http://schemas.openxmlformats.org/drawingml/2006/main">
              <a:ext uri="{FF2B5EF4-FFF2-40B4-BE49-F238E27FC236}">
                <a16:creationId xmlns:a16="http://schemas.microsoft.com/office/drawing/2014/main" id="{6DCF56F1-8A1D-4AB3-AC3C-7F58450D3376}"/>
              </a:ext>
            </a:extLst>
          </p:cNvPr>
          <p:cNvSpPr>
            <a:spLocks xmlns:a="http://schemas.openxmlformats.org/drawingml/2006/main" noGrp="1"/>
          </p:cNvSpPr>
          <p:nvPr/>
        </p:nvSpPr>
        <p:spPr>
          <a:xfrm xmlns:a="http://schemas.openxmlformats.org/drawingml/2006/main">
            <a:off x="8172450" y="22098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E9A23B"/>
                </a:solidFill>
                <a:latin typeface="Aptos"/>
                <a:ea typeface="Aptos"/>
                <a:cs typeface="Aptos"/>
              </a:defRPr>
            </a:pPr>
            <a:r>
              <a:rPr sz="1425" b="1">
                <a:solidFill>
                  <a:srgbClr val="E9A23B"/>
                </a:solidFill>
                <a:latin typeface="Aptos"/>
                <a:ea typeface="Aptos"/>
                <a:cs typeface="Aptos"/>
              </a:rPr>
              <a:t>FUTURE / OPEN</a:t>
            </a:r>
          </a:p>
        </p:txBody>
      </p:sp>
      <p:sp>
        <p:nvSpPr>
          <p:cNvPr id="29" name="s3-col-body-2">
            <a:extLst xmlns:a="http://schemas.openxmlformats.org/drawingml/2006/main">
              <a:ext uri="{FF2B5EF4-FFF2-40B4-BE49-F238E27FC236}">
                <a16:creationId xmlns:a16="http://schemas.microsoft.com/office/drawing/2014/main" id="{050E7101-7DFE-4417-9C89-E2B5DD4032ED}"/>
              </a:ext>
            </a:extLst>
          </p:cNvPr>
          <p:cNvSpPr>
            <a:spLocks xmlns:a="http://schemas.openxmlformats.org/drawingml/2006/main" noGrp="1"/>
          </p:cNvSpPr>
          <p:nvPr/>
        </p:nvSpPr>
        <p:spPr>
          <a:xfrm xmlns:a="http://schemas.openxmlformats.org/drawingml/2006/main">
            <a:off x="8229600" y="2686050"/>
            <a:ext cx="28194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retained Model Advisor report</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Bug Finder result</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Code Prover result</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project-defined RCF / required sign-off</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SIL / PIL / HIL evidence</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production-code approval</a:t>
            </a:r>
          </a:p>
        </p:txBody>
      </p:sp>
      <p:sp>
        <p:nvSpPr>
          <p:cNvPr id="30" name="s3-close">
            <a:extLst xmlns:a="http://schemas.openxmlformats.org/drawingml/2006/main">
              <a:ext uri="{FF2B5EF4-FFF2-40B4-BE49-F238E27FC236}">
                <a16:creationId xmlns:a16="http://schemas.microsoft.com/office/drawing/2014/main" id="{509C4E1C-8DA0-4C34-960A-48D8C0F4D9D6}"/>
              </a:ext>
            </a:extLst>
          </p:cNvPr>
          <p:cNvSpPr>
            <a:spLocks xmlns:a="http://schemas.openxmlformats.org/drawingml/2006/main" noGrp="1"/>
          </p:cNvSpPr>
          <p:nvPr/>
        </p:nvSpPr>
        <p:spPr>
          <a:xfrm xmlns:a="http://schemas.openxmlformats.org/drawingml/2006/main">
            <a:off x="685800" y="5581650"/>
            <a:ext cx="1082040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OVERALL COMPLETION = retained objective result + explainable workflow + explicitly owned open gate</a:t>
            </a:r>
          </a:p>
        </p:txBody>
      </p:sp>
    </p:spTree>
    <p:extLst>
      <p:ext uri="{BB962C8B-B14F-4D97-AF65-F5344CB8AC3E}">
        <p14:creationId xmlns:p14="http://schemas.microsoft.com/office/powerpoint/2010/main" val="392848478"/>
      </p:ext>
    </p:extLst>
  </p:cSld>
</p:sld>
</file>

<file path=ppt/slides/slide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Your first session: orient, execute, inspect, trace</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05</a:t>
            </a:r>
          </a:p>
        </p:txBody>
      </p:sp>
    </p:spTree>
    <p:extLst>
      <p:ext uri="{BB962C8B-B14F-4D97-AF65-F5344CB8AC3E}">
        <p14:creationId xmlns:p14="http://schemas.microsoft.com/office/powerpoint/2010/main" val="888420416"/>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237"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38"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39"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40"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Your first session: orient, execute, inspect, trace</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05</a:t>
            </a:r>
          </a:p>
        </p:txBody>
      </p:sp>
    </p:spTree>
    <p:extLst>
      <p:ext uri="{BB962C8B-B14F-4D97-AF65-F5344CB8AC3E}">
        <p14:creationId xmlns:p14="http://schemas.microsoft.com/office/powerpoint/2010/main" val="888420416"/>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Start in the repository, then distinguish every action</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Tree>
    <p:extLst>
      <p:ext uri="{BB962C8B-B14F-4D97-AF65-F5344CB8AC3E}">
        <p14:creationId xmlns:p14="http://schemas.microsoft.com/office/powerpoint/2010/main" val="254232730"/>
      </p:ext>
    </p:extLst>
  </p:cSld>
</p:sld>
</file>

<file path=ppt/slides/slide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Start in the repository, then distinguish every action</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Tree>
    <p:extLst>
      <p:ext uri="{BB962C8B-B14F-4D97-AF65-F5344CB8AC3E}">
        <p14:creationId xmlns:p14="http://schemas.microsoft.com/office/powerpoint/2010/main" val="254232730"/>
      </p:ext>
    </p:extLst>
  </p:cSld>
</p:sld>
</file>

<file path=ppt/slides/slide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job determines which model is top level</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14</a:t>
            </a:r>
          </a:p>
        </p:txBody>
      </p:sp>
      <p:sp>
        <p:nvSpPr>
          <p:cNvPr id="22" name="s8-left-v">
            <a:extLst xmlns:a="http://schemas.openxmlformats.org/drawingml/2006/main">
              <a:ext uri="{FF2B5EF4-FFF2-40B4-BE49-F238E27FC236}">
                <a16:creationId xmlns:a16="http://schemas.microsoft.com/office/drawing/2014/main" id="{18E05B59-A4C4-4A46-BA70-521E2D44F568}"/>
              </a:ext>
            </a:extLst>
          </p:cNvPr>
          <p:cNvSpPr>
            <a:spLocks xmlns:a="http://schemas.openxmlformats.org/drawingml/2006/main" noGrp="1"/>
          </p:cNvSpPr>
          <p:nvPr/>
        </p:nvSpPr>
        <p:spPr>
          <a:xfrm xmlns:a="http://schemas.openxmlformats.org/drawingml/2006/main">
            <a:off x="2362200" y="2333625"/>
            <a:ext cx="0" cy="28575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3" name="s8-mid-v">
            <a:extLst xmlns:a="http://schemas.openxmlformats.org/drawingml/2006/main">
              <a:ext uri="{FF2B5EF4-FFF2-40B4-BE49-F238E27FC236}">
                <a16:creationId xmlns:a16="http://schemas.microsoft.com/office/drawing/2014/main" id="{B4D3C86C-1AF5-4B1E-ABEF-8E616B4D1E93}"/>
              </a:ext>
            </a:extLst>
          </p:cNvPr>
          <p:cNvSpPr>
            <a:spLocks xmlns:a="http://schemas.openxmlformats.org/drawingml/2006/main" noGrp="1"/>
          </p:cNvSpPr>
          <p:nvPr/>
        </p:nvSpPr>
        <p:spPr>
          <a:xfrm xmlns:a="http://schemas.openxmlformats.org/drawingml/2006/main">
            <a:off x="5981700" y="2143125"/>
            <a:ext cx="0" cy="30480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4" name="s8-right-v1">
            <a:extLst xmlns:a="http://schemas.openxmlformats.org/drawingml/2006/main">
              <a:ext uri="{FF2B5EF4-FFF2-40B4-BE49-F238E27FC236}">
                <a16:creationId xmlns:a16="http://schemas.microsoft.com/office/drawing/2014/main" id="{78B21220-AB2C-4673-9FA7-641DD0533DD4}"/>
              </a:ext>
            </a:extLst>
          </p:cNvPr>
          <p:cNvSpPr>
            <a:spLocks xmlns:a="http://schemas.openxmlformats.org/drawingml/2006/main" noGrp="1"/>
          </p:cNvSpPr>
          <p:nvPr/>
        </p:nvSpPr>
        <p:spPr>
          <a:xfrm xmlns:a="http://schemas.openxmlformats.org/drawingml/2006/main">
            <a:off x="9601200" y="238125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5" name="s8-right-v2">
            <a:extLst xmlns:a="http://schemas.openxmlformats.org/drawingml/2006/main">
              <a:ext uri="{FF2B5EF4-FFF2-40B4-BE49-F238E27FC236}">
                <a16:creationId xmlns:a16="http://schemas.microsoft.com/office/drawing/2014/main" id="{9CD1B691-06FF-4234-BC90-EF8C01D406AA}"/>
              </a:ext>
            </a:extLst>
          </p:cNvPr>
          <p:cNvSpPr>
            <a:spLocks xmlns:a="http://schemas.openxmlformats.org/drawingml/2006/main" noGrp="1"/>
          </p:cNvSpPr>
          <p:nvPr/>
        </p:nvSpPr>
        <p:spPr>
          <a:xfrm xmlns:a="http://schemas.openxmlformats.org/drawingml/2006/main">
            <a:off x="9601200" y="400050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6" name="s8-panel-0">
            <a:extLst xmlns:a="http://schemas.openxmlformats.org/drawingml/2006/main">
              <a:ext uri="{FF2B5EF4-FFF2-40B4-BE49-F238E27FC236}">
                <a16:creationId xmlns:a16="http://schemas.microsoft.com/office/drawing/2014/main" id="{57ACD6A8-328C-4C2A-9BF3-26FCAA8D05A0}"/>
              </a:ext>
            </a:extLst>
          </p:cNvPr>
          <p:cNvSpPr>
            <a:spLocks xmlns:a="http://schemas.openxmlformats.org/drawingml/2006/main" noGrp="1"/>
          </p:cNvSpPr>
          <p:nvPr/>
        </p:nvSpPr>
        <p:spPr>
          <a:xfrm xmlns:a="http://schemas.openxmlformats.org/drawingml/2006/main">
            <a:off x="685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7" name="s8-heading-0">
            <a:extLst xmlns:a="http://schemas.openxmlformats.org/drawingml/2006/main">
              <a:ext uri="{FF2B5EF4-FFF2-40B4-BE49-F238E27FC236}">
                <a16:creationId xmlns:a16="http://schemas.microsoft.com/office/drawing/2014/main" id="{841EA2EB-B1F5-4EC1-907F-2A6975689151}"/>
              </a:ext>
            </a:extLst>
          </p:cNvPr>
          <p:cNvSpPr>
            <a:spLocks xmlns:a="http://schemas.openxmlformats.org/drawingml/2006/main" noGrp="1"/>
          </p:cNvSpPr>
          <p:nvPr/>
        </p:nvSpPr>
        <p:spPr>
          <a:xfrm xmlns:a="http://schemas.openxmlformats.org/drawingml/2006/main">
            <a:off x="828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STANDALONE CLOSED LOOP</a:t>
            </a:r>
          </a:p>
        </p:txBody>
      </p:sp>
      <p:sp>
        <p:nvSpPr>
          <p:cNvPr id="28" name="s8-panel-1">
            <a:extLst xmlns:a="http://schemas.openxmlformats.org/drawingml/2006/main">
              <a:ext uri="{FF2B5EF4-FFF2-40B4-BE49-F238E27FC236}">
                <a16:creationId xmlns:a16="http://schemas.microsoft.com/office/drawing/2014/main" id="{7112E142-F052-4471-91C9-2742DFE5F596}"/>
              </a:ext>
            </a:extLst>
          </p:cNvPr>
          <p:cNvSpPr>
            <a:spLocks xmlns:a="http://schemas.openxmlformats.org/drawingml/2006/main" noGrp="1"/>
          </p:cNvSpPr>
          <p:nvPr/>
        </p:nvSpPr>
        <p:spPr>
          <a:xfrm xmlns:a="http://schemas.openxmlformats.org/drawingml/2006/main">
            <a:off x="43053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9" name="s8-heading-1">
            <a:extLst xmlns:a="http://schemas.openxmlformats.org/drawingml/2006/main">
              <a:ext uri="{FF2B5EF4-FFF2-40B4-BE49-F238E27FC236}">
                <a16:creationId xmlns:a16="http://schemas.microsoft.com/office/drawing/2014/main" id="{F13AF169-4CCA-4A2E-9495-4C5FC7DFAB01}"/>
              </a:ext>
            </a:extLst>
          </p:cNvPr>
          <p:cNvSpPr>
            <a:spLocks xmlns:a="http://schemas.openxmlformats.org/drawingml/2006/main" noGrp="1"/>
          </p:cNvSpPr>
          <p:nvPr/>
        </p:nvSpPr>
        <p:spPr>
          <a:xfrm xmlns:a="http://schemas.openxmlformats.org/drawingml/2006/main">
            <a:off x="44481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REFERENCED INTEGRATION</a:t>
            </a:r>
          </a:p>
        </p:txBody>
      </p:sp>
      <p:sp>
        <p:nvSpPr>
          <p:cNvPr id="30" name="s8-panel-2">
            <a:extLst xmlns:a="http://schemas.openxmlformats.org/drawingml/2006/main">
              <a:ext uri="{FF2B5EF4-FFF2-40B4-BE49-F238E27FC236}">
                <a16:creationId xmlns:a16="http://schemas.microsoft.com/office/drawing/2014/main" id="{8D65A2C1-AB5F-4220-BF33-7A94F05B53E8}"/>
              </a:ext>
            </a:extLst>
          </p:cNvPr>
          <p:cNvSpPr>
            <a:spLocks xmlns:a="http://schemas.openxmlformats.org/drawingml/2006/main" noGrp="1"/>
          </p:cNvSpPr>
          <p:nvPr/>
        </p:nvSpPr>
        <p:spPr>
          <a:xfrm xmlns:a="http://schemas.openxmlformats.org/drawingml/2006/main">
            <a:off x="7924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31" name="s8-heading-2">
            <a:extLst xmlns:a="http://schemas.openxmlformats.org/drawingml/2006/main">
              <a:ext uri="{FF2B5EF4-FFF2-40B4-BE49-F238E27FC236}">
                <a16:creationId xmlns:a16="http://schemas.microsoft.com/office/drawing/2014/main" id="{72BC5934-4996-4C08-A591-F83BC185CFE8}"/>
              </a:ext>
            </a:extLst>
          </p:cNvPr>
          <p:cNvSpPr>
            <a:spLocks xmlns:a="http://schemas.openxmlformats.org/drawingml/2006/main" noGrp="1"/>
          </p:cNvSpPr>
          <p:nvPr/>
        </p:nvSpPr>
        <p:spPr>
          <a:xfrm xmlns:a="http://schemas.openxmlformats.org/drawingml/2006/main">
            <a:off x="8067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SEPARATE TRAINING MODELS</a:t>
            </a:r>
          </a:p>
        </p:txBody>
      </p:sp>
      <p:sp>
        <p:nvSpPr>
          <p:cNvPr id="32" name="s8-afcl">
            <a:extLst xmlns:a="http://schemas.openxmlformats.org/drawingml/2006/main">
              <a:ext uri="{FF2B5EF4-FFF2-40B4-BE49-F238E27FC236}">
                <a16:creationId xmlns:a16="http://schemas.microsoft.com/office/drawing/2014/main" id="{E9C98E2F-0841-4918-A9A4-7A9916CBEC88}"/>
              </a:ext>
            </a:extLst>
          </p:cNvPr>
          <p:cNvSpPr>
            <a:spLocks xmlns:a="http://schemas.openxmlformats.org/drawingml/2006/main" noGrp="1"/>
          </p:cNvSpPr>
          <p:nvPr/>
        </p:nvSpPr>
        <p:spPr>
          <a:xfrm xmlns:a="http://schemas.openxmlformats.org/drawingml/2006/main">
            <a:off x="876300" y="1857375"/>
            <a:ext cx="2971800" cy="552450"/>
          </a:xfrm>
          <a:prstGeom xmlns:a="http://schemas.openxmlformats.org/drawingml/2006/main" prst="roundRect">
            <a:avLst>
              <a:gd name="adj" fmla="val 20690"/>
            </a:avLst>
          </a:prstGeom>
          <a:solidFill xmlns:a="http://schemas.openxmlformats.org/drawingml/2006/main">
            <a:srgbClr val="2D6CDF"/>
          </a:solidFill>
          <a:ln xmlns:a="http://schemas.openxmlformats.org/drawingml/2006/main" w="14288">
            <a:solidFill>
              <a:srgbClr val="7FA4F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AircraftFeedbackControlLoop.slx</a:t>
            </a:r>
          </a:p>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standalone simulation top level</a:t>
            </a:r>
          </a:p>
        </p:txBody>
      </p:sp>
      <p:sp>
        <p:nvSpPr>
          <p:cNvPr id="33" name="s8-afcl-sub-0">
            <a:extLst xmlns:a="http://schemas.openxmlformats.org/drawingml/2006/main">
              <a:ext uri="{FF2B5EF4-FFF2-40B4-BE49-F238E27FC236}">
                <a16:creationId xmlns:a16="http://schemas.microsoft.com/office/drawing/2014/main" id="{63F32B32-C548-42A6-A965-5D646BF8CB5B}"/>
              </a:ext>
            </a:extLst>
          </p:cNvPr>
          <p:cNvSpPr>
            <a:spLocks xmlns:a="http://schemas.openxmlformats.org/drawingml/2006/main" noGrp="1"/>
          </p:cNvSpPr>
          <p:nvPr/>
        </p:nvSpPr>
        <p:spPr>
          <a:xfrm xmlns:a="http://schemas.openxmlformats.org/drawingml/2006/main">
            <a:off x="10668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Pitch Controller PI</a:t>
            </a:r>
          </a:p>
        </p:txBody>
      </p:sp>
      <p:sp>
        <p:nvSpPr>
          <p:cNvPr id="34" name="s8-afcl-sub-1">
            <a:extLst xmlns:a="http://schemas.openxmlformats.org/drawingml/2006/main">
              <a:ext uri="{FF2B5EF4-FFF2-40B4-BE49-F238E27FC236}">
                <a16:creationId xmlns:a16="http://schemas.microsoft.com/office/drawing/2014/main" id="{5FE56391-3B52-4FB2-8EDE-C45F0C02F085}"/>
              </a:ext>
            </a:extLst>
          </p:cNvPr>
          <p:cNvSpPr>
            <a:spLocks xmlns:a="http://schemas.openxmlformats.org/drawingml/2006/main" noGrp="1"/>
          </p:cNvSpPr>
          <p:nvPr/>
        </p:nvSpPr>
        <p:spPr>
          <a:xfrm xmlns:a="http://schemas.openxmlformats.org/drawingml/2006/main">
            <a:off x="10668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Actuator Dynamics</a:t>
            </a:r>
          </a:p>
        </p:txBody>
      </p:sp>
      <p:sp>
        <p:nvSpPr>
          <p:cNvPr id="35" name="s8-afcl-sub-2">
            <a:extLst xmlns:a="http://schemas.openxmlformats.org/drawingml/2006/main">
              <a:ext uri="{FF2B5EF4-FFF2-40B4-BE49-F238E27FC236}">
                <a16:creationId xmlns:a16="http://schemas.microsoft.com/office/drawing/2014/main" id="{1F4FD278-D4E2-49C5-980B-F4199BE9D595}"/>
              </a:ext>
            </a:extLst>
          </p:cNvPr>
          <p:cNvSpPr>
            <a:spLocks xmlns:a="http://schemas.openxmlformats.org/drawingml/2006/main" noGrp="1"/>
          </p:cNvSpPr>
          <p:nvPr/>
        </p:nvSpPr>
        <p:spPr>
          <a:xfrm xmlns:a="http://schemas.openxmlformats.org/drawingml/2006/main">
            <a:off x="10668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Simplified Longitudinal</a:t>
            </a:r>
          </a:p>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Aircraft Dynamics</a:t>
            </a:r>
          </a:p>
        </p:txBody>
      </p:sp>
      <p:sp>
        <p:nvSpPr>
          <p:cNvPr id="36" name="s8-afcl-sub-3">
            <a:extLst xmlns:a="http://schemas.openxmlformats.org/drawingml/2006/main">
              <a:ext uri="{FF2B5EF4-FFF2-40B4-BE49-F238E27FC236}">
                <a16:creationId xmlns:a16="http://schemas.microsoft.com/office/drawing/2014/main" id="{C5131A14-8D9B-4A62-9871-E5D9C71ED547}"/>
              </a:ext>
            </a:extLst>
          </p:cNvPr>
          <p:cNvSpPr>
            <a:spLocks xmlns:a="http://schemas.openxmlformats.org/drawingml/2006/main" noGrp="1"/>
          </p:cNvSpPr>
          <p:nvPr/>
        </p:nvSpPr>
        <p:spPr>
          <a:xfrm xmlns:a="http://schemas.openxmlformats.org/drawingml/2006/main">
            <a:off x="10668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Sensor Processing Lag</a:t>
            </a:r>
          </a:p>
        </p:txBody>
      </p:sp>
      <p:sp>
        <p:nvSpPr>
          <p:cNvPr id="37" name="s8-parent">
            <a:extLst xmlns:a="http://schemas.openxmlformats.org/drawingml/2006/main">
              <a:ext uri="{FF2B5EF4-FFF2-40B4-BE49-F238E27FC236}">
                <a16:creationId xmlns:a16="http://schemas.microsoft.com/office/drawing/2014/main" id="{C7E9F958-A887-4CF6-A629-3D8F8E36CA8B}"/>
              </a:ext>
            </a:extLst>
          </p:cNvPr>
          <p:cNvSpPr>
            <a:spLocks xmlns:a="http://schemas.openxmlformats.org/drawingml/2006/main" noGrp="1"/>
          </p:cNvSpPr>
          <p:nvPr/>
        </p:nvSpPr>
        <p:spPr>
          <a:xfrm xmlns:a="http://schemas.openxmlformats.org/drawingml/2006/main">
            <a:off x="4495800" y="1857375"/>
            <a:ext cx="2971800" cy="552450"/>
          </a:xfrm>
          <a:prstGeom xmlns:a="http://schemas.openxmlformats.org/drawingml/2006/main" prst="roundRect">
            <a:avLst>
              <a:gd name="adj" fmla="val 20690"/>
            </a:avLst>
          </a:prstGeom>
          <a:solidFill xmlns:a="http://schemas.openxmlformats.org/drawingml/2006/main">
            <a:srgbClr val="20B7C5"/>
          </a:solidFill>
          <a:ln xmlns:a="http://schemas.openxmlformats.org/drawingml/2006/main" w="14288">
            <a:solidFill>
              <a:srgbClr val="70DCE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ReferencedFlightControl</a:t>
            </a:r>
          </a:p>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Architecture.slx • integration parent</a:t>
            </a:r>
          </a:p>
        </p:txBody>
      </p:sp>
      <p:sp>
        <p:nvSpPr>
          <p:cNvPr id="38" name="s8-child-0">
            <a:extLst xmlns:a="http://schemas.openxmlformats.org/drawingml/2006/main">
              <a:ext uri="{FF2B5EF4-FFF2-40B4-BE49-F238E27FC236}">
                <a16:creationId xmlns:a16="http://schemas.microsoft.com/office/drawing/2014/main" id="{7550B7E5-2499-4F4B-9E68-A114009CB151}"/>
              </a:ext>
            </a:extLst>
          </p:cNvPr>
          <p:cNvSpPr>
            <a:spLocks xmlns:a="http://schemas.openxmlformats.org/drawingml/2006/main" noGrp="1"/>
          </p:cNvSpPr>
          <p:nvPr/>
        </p:nvSpPr>
        <p:spPr>
          <a:xfrm xmlns:a="http://schemas.openxmlformats.org/drawingml/2006/main">
            <a:off x="46863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SensorProcessingRef.slx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39" name="s8-child-1">
            <a:extLst xmlns:a="http://schemas.openxmlformats.org/drawingml/2006/main">
              <a:ext uri="{FF2B5EF4-FFF2-40B4-BE49-F238E27FC236}">
                <a16:creationId xmlns:a16="http://schemas.microsoft.com/office/drawing/2014/main" id="{CB6D1102-4976-4BD5-804D-48CCA068ECD2}"/>
              </a:ext>
            </a:extLst>
          </p:cNvPr>
          <p:cNvSpPr>
            <a:spLocks xmlns:a="http://schemas.openxmlformats.org/drawingml/2006/main" noGrp="1"/>
          </p:cNvSpPr>
          <p:nvPr/>
        </p:nvSpPr>
        <p:spPr>
          <a:xfrm xmlns:a="http://schemas.openxmlformats.org/drawingml/2006/main">
            <a:off x="46863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PitchRateLimiter.slx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Limiter Logic</a:t>
            </a:r>
          </a:p>
        </p:txBody>
      </p:sp>
      <p:sp>
        <p:nvSpPr>
          <p:cNvPr id="40" name="s8-child-2">
            <a:extLst xmlns:a="http://schemas.openxmlformats.org/drawingml/2006/main">
              <a:ext uri="{FF2B5EF4-FFF2-40B4-BE49-F238E27FC236}">
                <a16:creationId xmlns:a16="http://schemas.microsoft.com/office/drawing/2014/main" id="{65ACFD7E-20BB-4072-8FA6-E37F5B19135C}"/>
              </a:ext>
            </a:extLst>
          </p:cNvPr>
          <p:cNvSpPr>
            <a:spLocks xmlns:a="http://schemas.openxmlformats.org/drawingml/2006/main" noGrp="1"/>
          </p:cNvSpPr>
          <p:nvPr/>
        </p:nvSpPr>
        <p:spPr>
          <a:xfrm xmlns:a="http://schemas.openxmlformats.org/drawingml/2006/main">
            <a:off x="46863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PitchControllerRef.slx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PI</a:t>
            </a:r>
          </a:p>
        </p:txBody>
      </p:sp>
      <p:sp>
        <p:nvSpPr>
          <p:cNvPr id="41" name="s8-child-3">
            <a:extLst xmlns:a="http://schemas.openxmlformats.org/drawingml/2006/main">
              <a:ext uri="{FF2B5EF4-FFF2-40B4-BE49-F238E27FC236}">
                <a16:creationId xmlns:a16="http://schemas.microsoft.com/office/drawing/2014/main" id="{4C5B8235-FA69-47B2-A16F-E8FCCFB39CF9}"/>
              </a:ext>
            </a:extLst>
          </p:cNvPr>
          <p:cNvSpPr>
            <a:spLocks xmlns:a="http://schemas.openxmlformats.org/drawingml/2006/main" noGrp="1"/>
          </p:cNvSpPr>
          <p:nvPr/>
        </p:nvSpPr>
        <p:spPr>
          <a:xfrm xmlns:a="http://schemas.openxmlformats.org/drawingml/2006/main">
            <a:off x="46863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ActuatorCommandRef.slx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42" name="s8-ap-root">
            <a:extLst xmlns:a="http://schemas.openxmlformats.org/drawingml/2006/main">
              <a:ext uri="{FF2B5EF4-FFF2-40B4-BE49-F238E27FC236}">
                <a16:creationId xmlns:a16="http://schemas.microsoft.com/office/drawing/2014/main" id="{CFDE3A17-1FE3-4194-ADBC-17B41BBC86A5}"/>
              </a:ext>
            </a:extLst>
          </p:cNvPr>
          <p:cNvSpPr>
            <a:spLocks xmlns:a="http://schemas.openxmlformats.org/drawingml/2006/main" noGrp="1"/>
          </p:cNvSpPr>
          <p:nvPr/>
        </p:nvSpPr>
        <p:spPr>
          <a:xfrm xmlns:a="http://schemas.openxmlformats.org/drawingml/2006/main">
            <a:off x="8115300" y="1857375"/>
            <a:ext cx="2971800" cy="552450"/>
          </a:xfrm>
          <a:prstGeom xmlns:a="http://schemas.openxmlformats.org/drawingml/2006/main" prst="roundRect">
            <a:avLst>
              <a:gd name="adj" fmla="val 20690"/>
            </a:avLst>
          </a:prstGeom>
          <a:solidFill xmlns:a="http://schemas.openxmlformats.org/drawingml/2006/main">
            <a:srgbClr val="E9A23B"/>
          </a:solidFill>
          <a:ln xmlns:a="http://schemas.openxmlformats.org/drawingml/2006/main" w="14288">
            <a:solidFill>
              <a:srgbClr val="FFD38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071521"/>
                </a:solidFill>
                <a:latin typeface="Aptos"/>
                <a:ea typeface="Aptos"/>
                <a:cs typeface="Aptos"/>
              </a:defRPr>
            </a:pPr>
            <a:r>
              <a:rPr sz="1140" b="1">
                <a:solidFill>
                  <a:srgbClr val="071521"/>
                </a:solidFill>
                <a:latin typeface="Aptos"/>
                <a:ea typeface="Aptos"/>
                <a:cs typeface="Aptos"/>
              </a:rPr>
              <a:t>AutopilotModeLogic.slx • separate root</a:t>
            </a:r>
          </a:p>
        </p:txBody>
      </p:sp>
      <p:sp>
        <p:nvSpPr>
          <p:cNvPr id="43" name="s8-ap-sub">
            <a:extLst xmlns:a="http://schemas.openxmlformats.org/drawingml/2006/main">
              <a:ext uri="{FF2B5EF4-FFF2-40B4-BE49-F238E27FC236}">
                <a16:creationId xmlns:a16="http://schemas.microsoft.com/office/drawing/2014/main" id="{EE3224AA-93E5-49FF-872E-0C93554BAE08}"/>
              </a:ext>
            </a:extLst>
          </p:cNvPr>
          <p:cNvSpPr>
            <a:spLocks xmlns:a="http://schemas.openxmlformats.org/drawingml/2006/main" noGrp="1"/>
          </p:cNvSpPr>
          <p:nvPr/>
        </p:nvSpPr>
        <p:spPr>
          <a:xfrm xmlns:a="http://schemas.openxmlformats.org/drawingml/2006/main">
            <a:off x="8305800" y="271462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Autopilot Mode Logic</a:t>
            </a:r>
          </a:p>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Stateflow chart • internal</a:t>
            </a:r>
          </a:p>
        </p:txBody>
      </p:sp>
      <p:sp>
        <p:nvSpPr>
          <p:cNvPr id="44" name="s8-harness-root">
            <a:extLst xmlns:a="http://schemas.openxmlformats.org/drawingml/2006/main">
              <a:ext uri="{FF2B5EF4-FFF2-40B4-BE49-F238E27FC236}">
                <a16:creationId xmlns:a16="http://schemas.microsoft.com/office/drawing/2014/main" id="{6A5F1580-C84E-4D35-85FD-EE9E456F4BB3}"/>
              </a:ext>
            </a:extLst>
          </p:cNvPr>
          <p:cNvSpPr>
            <a:spLocks xmlns:a="http://schemas.openxmlformats.org/drawingml/2006/main" noGrp="1"/>
          </p:cNvSpPr>
          <p:nvPr/>
        </p:nvSpPr>
        <p:spPr>
          <a:xfrm xmlns:a="http://schemas.openxmlformats.org/drawingml/2006/main">
            <a:off x="8115300" y="3476625"/>
            <a:ext cx="2971800" cy="552450"/>
          </a:xfrm>
          <a:prstGeom xmlns:a="http://schemas.openxmlformats.org/drawingml/2006/main" prst="roundRect">
            <a:avLst>
              <a:gd name="adj" fmla="val 20690"/>
            </a:avLst>
          </a:prstGeom>
          <a:solidFill xmlns:a="http://schemas.openxmlformats.org/drawingml/2006/main">
            <a:srgbClr val="2CA56F"/>
          </a:solidFill>
          <a:ln xmlns:a="http://schemas.openxmlformats.org/drawingml/2006/main" w="14288">
            <a:solidFill>
              <a:srgbClr val="7DDBA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PitchRateLimiter_Harness.slx</a:t>
            </a:r>
          </a:p>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independent harness</a:t>
            </a:r>
          </a:p>
        </p:txBody>
      </p:sp>
      <p:sp>
        <p:nvSpPr>
          <p:cNvPr id="45" name="s8-harness-sub">
            <a:extLst xmlns:a="http://schemas.openxmlformats.org/drawingml/2006/main">
              <a:ext uri="{FF2B5EF4-FFF2-40B4-BE49-F238E27FC236}">
                <a16:creationId xmlns:a16="http://schemas.microsoft.com/office/drawing/2014/main" id="{91B084CD-AC87-4A23-9E74-2561B3B517AF}"/>
              </a:ext>
            </a:extLst>
          </p:cNvPr>
          <p:cNvSpPr>
            <a:spLocks xmlns:a="http://schemas.openxmlformats.org/drawingml/2006/main" noGrp="1"/>
          </p:cNvSpPr>
          <p:nvPr/>
        </p:nvSpPr>
        <p:spPr>
          <a:xfrm xmlns:a="http://schemas.openxmlformats.org/drawingml/2006/main">
            <a:off x="8305800" y="433387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Unit Under Test - PitchRateLimiter</a:t>
            </a:r>
          </a:p>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model reference</a:t>
            </a:r>
          </a:p>
        </p:txBody>
      </p:sp>
      <p:sp>
        <p:nvSpPr>
          <p:cNvPr id="46" name="s8-legend">
            <a:extLst xmlns:a="http://schemas.openxmlformats.org/drawingml/2006/main">
              <a:ext uri="{FF2B5EF4-FFF2-40B4-BE49-F238E27FC236}">
                <a16:creationId xmlns:a16="http://schemas.microsoft.com/office/drawing/2014/main" id="{79968503-02FB-4E4B-8627-0833C1EB2D38}"/>
              </a:ext>
            </a:extLst>
          </p:cNvPr>
          <p:cNvSpPr>
            <a:spLocks xmlns:a="http://schemas.openxmlformats.org/drawingml/2006/main" noGrp="1"/>
          </p:cNvSpPr>
          <p:nvPr/>
        </p:nvSpPr>
        <p:spPr>
          <a:xfrm xmlns:a="http://schemas.openxmlformats.org/drawingml/2006/main">
            <a:off x="8153400" y="5191125"/>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035" b="1">
                <a:solidFill>
                  <a:srgbClr val="D8E8F1"/>
                </a:solidFill>
                <a:latin typeface="Aptos"/>
                <a:ea typeface="Aptos"/>
                <a:cs typeface="Aptos"/>
              </a:defRPr>
            </a:pPr>
            <a:r>
              <a:rPr sz="1035" b="1">
                <a:solidFill>
                  <a:srgbClr val="D8E8F1"/>
                </a:solidFill>
                <a:latin typeface="Aptos"/>
                <a:ea typeface="Aptos"/>
                <a:cs typeface="Aptos"/>
              </a:rPr>
              <a:t>Root model • referenced child • internal subsystem/chart • independent harness</a:t>
            </a:r>
          </a:p>
        </p:txBody>
      </p:sp>
    </p:spTree>
    <p:extLst>
      <p:ext uri="{BB962C8B-B14F-4D97-AF65-F5344CB8AC3E}">
        <p14:creationId xmlns:p14="http://schemas.microsoft.com/office/powerpoint/2010/main" val="1442167591"/>
      </p:ext>
    </p:extLst>
  </p:cSld>
</p:sld>
</file>

<file path=ppt/slides/slide1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HARNESS DEMO</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663" b="1" i="0">
                <a:solidFill>
                  <a:srgbClr val="FFFFFF"/>
                </a:solidFill>
                <a:latin typeface="Aptos"/>
                <a:ea typeface="Aptos"/>
                <a:cs typeface="Aptos"/>
              </a:defRPr>
            </a:pPr>
            <a:r>
              <a:rPr sz="2663" b="1" i="0">
                <a:solidFill>
                  <a:srgbClr val="FFFFFF"/>
                </a:solidFill>
                <a:latin typeface="Aptos"/>
                <a:ea typeface="Aptos"/>
                <a:cs typeface="Aptos"/>
              </a:rPr>
              <a:t>In the harness, Ctrl+D validates the diagram; Ctrl+B crosses into build</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31</a:t>
            </a:r>
          </a:p>
        </p:txBody>
      </p:sp>
    </p:spTree>
    <p:extLst>
      <p:ext uri="{BB962C8B-B14F-4D97-AF65-F5344CB8AC3E}">
        <p14:creationId xmlns:p14="http://schemas.microsoft.com/office/powerpoint/2010/main" val="1612514186"/>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1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toolstrip tells you where each action lives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08</a:t>
            </a:r>
          </a:p>
        </p:txBody>
      </p:sp>
      <p:sp>
        <p:nvSpPr>
          <p:cNvPr id="30" name="section-66-v4">
            <a:extLst xmlns:a="http://schemas.openxmlformats.org/drawingml/2006/main">
              <a:ext uri="{FF2B5EF4-FFF2-40B4-BE49-F238E27FC236}">
                <a16:creationId xmlns:a16="http://schemas.microsoft.com/office/drawing/2014/main" id="{267E06D2-A4BF-4C44-B551-471001C12FE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01 • FIRST SESSION</a:t>
            </a:r>
          </a:p>
        </p:txBody>
      </p:sp>
      <p:sp>
        <p:nvSpPr>
          <p:cNvPr id="31" name="text-68-v4">
            <a:extLst xmlns:a="http://schemas.openxmlformats.org/drawingml/2006/main">
              <a:ext uri="{FF2B5EF4-FFF2-40B4-BE49-F238E27FC236}">
                <a16:creationId xmlns:a16="http://schemas.microsoft.com/office/drawing/2014/main" id="{20E1B170-1B7E-4064-BC15-C7A20B8D965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32" name="s6-image-frame">
            <a:extLst xmlns:a="http://schemas.openxmlformats.org/drawingml/2006/main">
              <a:ext uri="{FF2B5EF4-FFF2-40B4-BE49-F238E27FC236}">
                <a16:creationId xmlns:a16="http://schemas.microsoft.com/office/drawing/2014/main" id="{7E4D3621-D256-4834-B23D-BF619F1A5541}"/>
              </a:ext>
            </a:extLst>
          </p:cNvPr>
          <p:cNvSpPr>
            <a:spLocks xmlns:a="http://schemas.openxmlformats.org/drawingml/2006/main" noGrp="1"/>
          </p:cNvSpPr>
          <p:nvPr/>
        </p:nvSpPr>
        <p:spPr>
          <a:xfrm xmlns:a="http://schemas.openxmlformats.org/drawingml/2006/main">
            <a:off x="609600" y="1381125"/>
            <a:ext cx="769620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2383">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1d0cfda526de45aa"/>
          <a:stretch xmlns:a="http://schemas.openxmlformats.org/drawingml/2006/main"/>
        </p:blipFill>
        <p:spPr>
          <a:xfrm xmlns:a="http://schemas.openxmlformats.org/drawingml/2006/main">
            <a:off x="685800" y="1611154"/>
            <a:ext cx="7543800" cy="4054793"/>
          </a:xfrm>
          <a:prstGeom xmlns:a="http://schemas.openxmlformats.org/drawingml/2006/main" prst="rect">
            <a:avLst/>
          </a:prstGeom>
        </p:spPr>
      </p:pic>
      <p:sp>
        <p:nvSpPr>
          <p:cNvPr id="34" name="s6-tab-0">
            <a:extLst xmlns:a="http://schemas.openxmlformats.org/drawingml/2006/main">
              <a:ext uri="{FF2B5EF4-FFF2-40B4-BE49-F238E27FC236}">
                <a16:creationId xmlns:a16="http://schemas.microsoft.com/office/drawing/2014/main" id="{688AAE4E-5CDE-4B71-A130-9953EC669FAE}"/>
              </a:ext>
            </a:extLst>
          </p:cNvPr>
          <p:cNvSpPr>
            <a:spLocks xmlns:a="http://schemas.openxmlformats.org/drawingml/2006/main" noGrp="1"/>
          </p:cNvSpPr>
          <p:nvPr/>
        </p:nvSpPr>
        <p:spPr>
          <a:xfrm xmlns:a="http://schemas.openxmlformats.org/drawingml/2006/main">
            <a:off x="8515350" y="1438275"/>
            <a:ext cx="2990850" cy="723900"/>
          </a:xfrm>
          <a:prstGeom xmlns:a="http://schemas.openxmlformats.org/drawingml/2006/main" prst="roundRect">
            <a:avLst>
              <a:gd name="adj" fmla="val 15789"/>
            </a:avLst>
          </a:prstGeom>
          <a:solidFill xmlns:a="http://schemas.openxmlformats.org/drawingml/2006/main">
            <a:srgbClr val="DFF6F8"/>
          </a:solidFill>
          <a:ln xmlns:a="http://schemas.openxmlformats.org/drawingml/2006/main" w="16193">
            <a:solidFill>
              <a:srgbClr val="20B7C5"/>
            </a:solidFill>
            <a:prstDash val="solid"/>
          </a:ln>
        </p:spPr>
      </p:sp>
      <p:sp>
        <p:nvSpPr>
          <p:cNvPr id="35" name="s6-tab-title-0">
            <a:extLst xmlns:a="http://schemas.openxmlformats.org/drawingml/2006/main">
              <a:ext uri="{FF2B5EF4-FFF2-40B4-BE49-F238E27FC236}">
                <a16:creationId xmlns:a16="http://schemas.microsoft.com/office/drawing/2014/main" id="{6A32506A-3C4E-40FD-932A-0A83D387D428}"/>
              </a:ext>
            </a:extLst>
          </p:cNvPr>
          <p:cNvSpPr>
            <a:spLocks xmlns:a="http://schemas.openxmlformats.org/drawingml/2006/main" noGrp="1"/>
          </p:cNvSpPr>
          <p:nvPr/>
        </p:nvSpPr>
        <p:spPr>
          <a:xfrm xmlns:a="http://schemas.openxmlformats.org/drawingml/2006/main">
            <a:off x="8667750" y="15144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0B7C5"/>
                </a:solidFill>
                <a:latin typeface="Aptos"/>
                <a:ea typeface="Aptos"/>
                <a:cs typeface="Aptos"/>
              </a:defRPr>
            </a:pPr>
            <a:r>
              <a:rPr sz="1238" b="1">
                <a:solidFill>
                  <a:srgbClr val="20B7C5"/>
                </a:solidFill>
                <a:latin typeface="Aptos"/>
                <a:ea typeface="Aptos"/>
                <a:cs typeface="Aptos"/>
              </a:rPr>
              <a:t>SIMULATION</a:t>
            </a:r>
          </a:p>
        </p:txBody>
      </p:sp>
      <p:sp>
        <p:nvSpPr>
          <p:cNvPr id="36" name="s6-tab-body-0">
            <a:extLst xmlns:a="http://schemas.openxmlformats.org/drawingml/2006/main">
              <a:ext uri="{FF2B5EF4-FFF2-40B4-BE49-F238E27FC236}">
                <a16:creationId xmlns:a16="http://schemas.microsoft.com/office/drawing/2014/main" id="{5896908B-1108-48F7-9E3F-5C5E9599C079}"/>
              </a:ext>
            </a:extLst>
          </p:cNvPr>
          <p:cNvSpPr>
            <a:spLocks xmlns:a="http://schemas.openxmlformats.org/drawingml/2006/main" noGrp="1"/>
          </p:cNvSpPr>
          <p:nvPr/>
        </p:nvSpPr>
        <p:spPr>
          <a:xfrm xmlns:a="http://schemas.openxmlformats.org/drawingml/2006/main">
            <a:off x="8667750" y="17430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Open • Run • Stop • Data Inspector</a:t>
            </a:r>
          </a:p>
        </p:txBody>
      </p:sp>
      <p:sp>
        <p:nvSpPr>
          <p:cNvPr id="37" name="s6-tab-1">
            <a:extLst xmlns:a="http://schemas.openxmlformats.org/drawingml/2006/main">
              <a:ext uri="{FF2B5EF4-FFF2-40B4-BE49-F238E27FC236}">
                <a16:creationId xmlns:a16="http://schemas.microsoft.com/office/drawing/2014/main" id="{9A84B7BA-4B05-44DA-8D43-CC68931AD1B3}"/>
              </a:ext>
            </a:extLst>
          </p:cNvPr>
          <p:cNvSpPr>
            <a:spLocks xmlns:a="http://schemas.openxmlformats.org/drawingml/2006/main" noGrp="1"/>
          </p:cNvSpPr>
          <p:nvPr/>
        </p:nvSpPr>
        <p:spPr>
          <a:xfrm xmlns:a="http://schemas.openxmlformats.org/drawingml/2006/main">
            <a:off x="8515350" y="2305050"/>
            <a:ext cx="2990850" cy="723900"/>
          </a:xfrm>
          <a:prstGeom xmlns:a="http://schemas.openxmlformats.org/drawingml/2006/main" prst="roundRect">
            <a:avLst>
              <a:gd name="adj" fmla="val 15789"/>
            </a:avLst>
          </a:prstGeom>
          <a:solidFill xmlns:a="http://schemas.openxmlformats.org/drawingml/2006/main">
            <a:srgbClr val="E2ECFF"/>
          </a:solidFill>
          <a:ln xmlns:a="http://schemas.openxmlformats.org/drawingml/2006/main" w="16193">
            <a:solidFill>
              <a:srgbClr val="2D6CDF"/>
            </a:solidFill>
            <a:prstDash val="solid"/>
          </a:ln>
        </p:spPr>
      </p:sp>
      <p:sp>
        <p:nvSpPr>
          <p:cNvPr id="38" name="s6-tab-title-1">
            <a:extLst xmlns:a="http://schemas.openxmlformats.org/drawingml/2006/main">
              <a:ext uri="{FF2B5EF4-FFF2-40B4-BE49-F238E27FC236}">
                <a16:creationId xmlns:a16="http://schemas.microsoft.com/office/drawing/2014/main" id="{2AA31357-A329-4BF9-B1F0-B6F6C3EBAAA2}"/>
              </a:ext>
            </a:extLst>
          </p:cNvPr>
          <p:cNvSpPr>
            <a:spLocks xmlns:a="http://schemas.openxmlformats.org/drawingml/2006/main" noGrp="1"/>
          </p:cNvSpPr>
          <p:nvPr/>
        </p:nvSpPr>
        <p:spPr>
          <a:xfrm xmlns:a="http://schemas.openxmlformats.org/drawingml/2006/main">
            <a:off x="8667750" y="238125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D6CDF"/>
                </a:solidFill>
                <a:latin typeface="Aptos"/>
                <a:ea typeface="Aptos"/>
                <a:cs typeface="Aptos"/>
              </a:defRPr>
            </a:pPr>
            <a:r>
              <a:rPr sz="1238" b="1">
                <a:solidFill>
                  <a:srgbClr val="2D6CDF"/>
                </a:solidFill>
                <a:latin typeface="Aptos"/>
                <a:ea typeface="Aptos"/>
                <a:cs typeface="Aptos"/>
              </a:rPr>
              <a:t>DEBUG</a:t>
            </a:r>
          </a:p>
        </p:txBody>
      </p:sp>
      <p:sp>
        <p:nvSpPr>
          <p:cNvPr id="39" name="s6-tab-body-1">
            <a:extLst xmlns:a="http://schemas.openxmlformats.org/drawingml/2006/main">
              <a:ext uri="{FF2B5EF4-FFF2-40B4-BE49-F238E27FC236}">
                <a16:creationId xmlns:a16="http://schemas.microsoft.com/office/drawing/2014/main" id="{390E1D10-1067-4731-ADB8-859EAC1A4F20}"/>
              </a:ext>
            </a:extLst>
          </p:cNvPr>
          <p:cNvSpPr>
            <a:spLocks xmlns:a="http://schemas.openxmlformats.org/drawingml/2006/main" noGrp="1"/>
          </p:cNvSpPr>
          <p:nvPr/>
        </p:nvSpPr>
        <p:spPr>
          <a:xfrm xmlns:a="http://schemas.openxmlformats.org/drawingml/2006/main">
            <a:off x="8667750" y="2609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Diagnostics • Information Overlays</a:t>
            </a:r>
          </a:p>
        </p:txBody>
      </p:sp>
      <p:sp>
        <p:nvSpPr>
          <p:cNvPr id="40" name="s6-tab-2">
            <a:extLst xmlns:a="http://schemas.openxmlformats.org/drawingml/2006/main">
              <a:ext uri="{FF2B5EF4-FFF2-40B4-BE49-F238E27FC236}">
                <a16:creationId xmlns:a16="http://schemas.microsoft.com/office/drawing/2014/main" id="{17C9E070-963F-4933-A752-FBA77503CF7B}"/>
              </a:ext>
            </a:extLst>
          </p:cNvPr>
          <p:cNvSpPr>
            <a:spLocks xmlns:a="http://schemas.openxmlformats.org/drawingml/2006/main" noGrp="1"/>
          </p:cNvSpPr>
          <p:nvPr/>
        </p:nvSpPr>
        <p:spPr>
          <a:xfrm xmlns:a="http://schemas.openxmlformats.org/drawingml/2006/main">
            <a:off x="8515350" y="3171825"/>
            <a:ext cx="2990850" cy="723900"/>
          </a:xfrm>
          <a:prstGeom xmlns:a="http://schemas.openxmlformats.org/drawingml/2006/main" prst="roundRect">
            <a:avLst>
              <a:gd name="adj" fmla="val 15789"/>
            </a:avLst>
          </a:prstGeom>
          <a:solidFill xmlns:a="http://schemas.openxmlformats.org/drawingml/2006/main">
            <a:srgbClr val="E2F4EA"/>
          </a:solidFill>
          <a:ln xmlns:a="http://schemas.openxmlformats.org/drawingml/2006/main" w="16193">
            <a:solidFill>
              <a:srgbClr val="2CA56F"/>
            </a:solidFill>
            <a:prstDash val="solid"/>
          </a:ln>
        </p:spPr>
      </p:sp>
      <p:sp>
        <p:nvSpPr>
          <p:cNvPr id="41" name="s6-tab-title-2">
            <a:extLst xmlns:a="http://schemas.openxmlformats.org/drawingml/2006/main">
              <a:ext uri="{FF2B5EF4-FFF2-40B4-BE49-F238E27FC236}">
                <a16:creationId xmlns:a16="http://schemas.microsoft.com/office/drawing/2014/main" id="{A82CF547-819E-4549-B7AA-1F88DDC7A404}"/>
              </a:ext>
            </a:extLst>
          </p:cNvPr>
          <p:cNvSpPr>
            <a:spLocks xmlns:a="http://schemas.openxmlformats.org/drawingml/2006/main" noGrp="1"/>
          </p:cNvSpPr>
          <p:nvPr/>
        </p:nvSpPr>
        <p:spPr>
          <a:xfrm xmlns:a="http://schemas.openxmlformats.org/drawingml/2006/main">
            <a:off x="8667750" y="324802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CA56F"/>
                </a:solidFill>
                <a:latin typeface="Aptos"/>
                <a:ea typeface="Aptos"/>
                <a:cs typeface="Aptos"/>
              </a:defRPr>
            </a:pPr>
            <a:r>
              <a:rPr sz="1238" b="1">
                <a:solidFill>
                  <a:srgbClr val="2CA56F"/>
                </a:solidFill>
                <a:latin typeface="Aptos"/>
                <a:ea typeface="Aptos"/>
                <a:cs typeface="Aptos"/>
              </a:rPr>
              <a:t>MODELING</a:t>
            </a:r>
          </a:p>
        </p:txBody>
      </p:sp>
      <p:sp>
        <p:nvSpPr>
          <p:cNvPr id="42" name="s6-tab-body-2">
            <a:extLst xmlns:a="http://schemas.openxmlformats.org/drawingml/2006/main">
              <a:ext uri="{FF2B5EF4-FFF2-40B4-BE49-F238E27FC236}">
                <a16:creationId xmlns:a16="http://schemas.microsoft.com/office/drawing/2014/main" id="{3D6B0CBE-DE7E-436D-A0F8-4CA389F5EBC6}"/>
              </a:ext>
            </a:extLst>
          </p:cNvPr>
          <p:cNvSpPr>
            <a:spLocks xmlns:a="http://schemas.openxmlformats.org/drawingml/2006/main" noGrp="1"/>
          </p:cNvSpPr>
          <p:nvPr/>
        </p:nvSpPr>
        <p:spPr>
          <a:xfrm xmlns:a="http://schemas.openxmlformats.org/drawingml/2006/main">
            <a:off x="8667750" y="347662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Update Model • configuration</a:t>
            </a:r>
          </a:p>
        </p:txBody>
      </p:sp>
      <p:sp>
        <p:nvSpPr>
          <p:cNvPr id="43" name="s6-tab-3">
            <a:extLst xmlns:a="http://schemas.openxmlformats.org/drawingml/2006/main">
              <a:ext uri="{FF2B5EF4-FFF2-40B4-BE49-F238E27FC236}">
                <a16:creationId xmlns:a16="http://schemas.microsoft.com/office/drawing/2014/main" id="{19EE6152-AE59-40A9-B3D3-4A282E8168CB}"/>
              </a:ext>
            </a:extLst>
          </p:cNvPr>
          <p:cNvSpPr>
            <a:spLocks xmlns:a="http://schemas.openxmlformats.org/drawingml/2006/main" noGrp="1"/>
          </p:cNvSpPr>
          <p:nvPr/>
        </p:nvSpPr>
        <p:spPr>
          <a:xfrm xmlns:a="http://schemas.openxmlformats.org/drawingml/2006/main">
            <a:off x="8515350" y="4038600"/>
            <a:ext cx="2990850" cy="723900"/>
          </a:xfrm>
          <a:prstGeom xmlns:a="http://schemas.openxmlformats.org/drawingml/2006/main" prst="roundRect">
            <a:avLst>
              <a:gd name="adj" fmla="val 15789"/>
            </a:avLst>
          </a:prstGeom>
          <a:solidFill xmlns:a="http://schemas.openxmlformats.org/drawingml/2006/main">
            <a:srgbClr val="FFF0D7"/>
          </a:solidFill>
          <a:ln xmlns:a="http://schemas.openxmlformats.org/drawingml/2006/main" w="16193">
            <a:solidFill>
              <a:srgbClr val="E9A23B"/>
            </a:solidFill>
            <a:prstDash val="solid"/>
          </a:ln>
        </p:spPr>
      </p:sp>
      <p:sp>
        <p:nvSpPr>
          <p:cNvPr id="44" name="s6-tab-title-3">
            <a:extLst xmlns:a="http://schemas.openxmlformats.org/drawingml/2006/main">
              <a:ext uri="{FF2B5EF4-FFF2-40B4-BE49-F238E27FC236}">
                <a16:creationId xmlns:a16="http://schemas.microsoft.com/office/drawing/2014/main" id="{04248D1C-3725-4452-A868-6E04EE18AB49}"/>
              </a:ext>
            </a:extLst>
          </p:cNvPr>
          <p:cNvSpPr>
            <a:spLocks xmlns:a="http://schemas.openxmlformats.org/drawingml/2006/main" noGrp="1"/>
          </p:cNvSpPr>
          <p:nvPr/>
        </p:nvSpPr>
        <p:spPr>
          <a:xfrm xmlns:a="http://schemas.openxmlformats.org/drawingml/2006/main">
            <a:off x="8667750" y="411480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E9A23B"/>
                </a:solidFill>
                <a:latin typeface="Aptos"/>
                <a:ea typeface="Aptos"/>
                <a:cs typeface="Aptos"/>
              </a:defRPr>
            </a:pPr>
            <a:r>
              <a:rPr sz="1238" b="1">
                <a:solidFill>
                  <a:srgbClr val="E9A23B"/>
                </a:solidFill>
                <a:latin typeface="Aptos"/>
                <a:ea typeface="Aptos"/>
                <a:cs typeface="Aptos"/>
              </a:rPr>
              <a:t>FORMAT</a:t>
            </a:r>
          </a:p>
        </p:txBody>
      </p:sp>
      <p:sp>
        <p:nvSpPr>
          <p:cNvPr id="45" name="s6-tab-body-3">
            <a:extLst xmlns:a="http://schemas.openxmlformats.org/drawingml/2006/main">
              <a:ext uri="{FF2B5EF4-FFF2-40B4-BE49-F238E27FC236}">
                <a16:creationId xmlns:a16="http://schemas.microsoft.com/office/drawing/2014/main" id="{FCBBFD77-37F1-409E-948C-0E4A0AAF0ABC}"/>
              </a:ext>
            </a:extLst>
          </p:cNvPr>
          <p:cNvSpPr>
            <a:spLocks xmlns:a="http://schemas.openxmlformats.org/drawingml/2006/main" noGrp="1"/>
          </p:cNvSpPr>
          <p:nvPr/>
        </p:nvSpPr>
        <p:spPr>
          <a:xfrm xmlns:a="http://schemas.openxmlformats.org/drawingml/2006/main">
            <a:off x="8667750" y="43434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Layout • labels • visual review</a:t>
            </a:r>
          </a:p>
        </p:txBody>
      </p:sp>
      <p:sp>
        <p:nvSpPr>
          <p:cNvPr id="46" name="s6-tab-4">
            <a:extLst xmlns:a="http://schemas.openxmlformats.org/drawingml/2006/main">
              <a:ext uri="{FF2B5EF4-FFF2-40B4-BE49-F238E27FC236}">
                <a16:creationId xmlns:a16="http://schemas.microsoft.com/office/drawing/2014/main" id="{0D47FB3B-8BC7-4332-9F7D-403550E6C085}"/>
              </a:ext>
            </a:extLst>
          </p:cNvPr>
          <p:cNvSpPr>
            <a:spLocks xmlns:a="http://schemas.openxmlformats.org/drawingml/2006/main" noGrp="1"/>
          </p:cNvSpPr>
          <p:nvPr/>
        </p:nvSpPr>
        <p:spPr>
          <a:xfrm xmlns:a="http://schemas.openxmlformats.org/drawingml/2006/main">
            <a:off x="8515350" y="4905375"/>
            <a:ext cx="2990850" cy="723900"/>
          </a:xfrm>
          <a:prstGeom xmlns:a="http://schemas.openxmlformats.org/drawingml/2006/main" prst="roundRect">
            <a:avLst>
              <a:gd name="adj" fmla="val 15789"/>
            </a:avLst>
          </a:prstGeom>
          <a:solidFill xmlns:a="http://schemas.openxmlformats.org/drawingml/2006/main">
            <a:srgbClr val="FBE7E9"/>
          </a:solidFill>
          <a:ln xmlns:a="http://schemas.openxmlformats.org/drawingml/2006/main" w="16193">
            <a:solidFill>
              <a:srgbClr val="D75A64"/>
            </a:solidFill>
            <a:prstDash val="solid"/>
          </a:ln>
        </p:spPr>
      </p:sp>
      <p:sp>
        <p:nvSpPr>
          <p:cNvPr id="47" name="s6-tab-title-4">
            <a:extLst xmlns:a="http://schemas.openxmlformats.org/drawingml/2006/main">
              <a:ext uri="{FF2B5EF4-FFF2-40B4-BE49-F238E27FC236}">
                <a16:creationId xmlns:a16="http://schemas.microsoft.com/office/drawing/2014/main" id="{3EB1C2A7-7082-4C42-8BBE-FEB592C7F908}"/>
              </a:ext>
            </a:extLst>
          </p:cNvPr>
          <p:cNvSpPr>
            <a:spLocks xmlns:a="http://schemas.openxmlformats.org/drawingml/2006/main" noGrp="1"/>
          </p:cNvSpPr>
          <p:nvPr/>
        </p:nvSpPr>
        <p:spPr>
          <a:xfrm xmlns:a="http://schemas.openxmlformats.org/drawingml/2006/main">
            <a:off x="8667750" y="49815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D75A64"/>
                </a:solidFill>
                <a:latin typeface="Aptos"/>
                <a:ea typeface="Aptos"/>
                <a:cs typeface="Aptos"/>
              </a:defRPr>
            </a:pPr>
            <a:r>
              <a:rPr sz="1238" b="1">
                <a:solidFill>
                  <a:srgbClr val="D75A64"/>
                </a:solidFill>
                <a:latin typeface="Aptos"/>
                <a:ea typeface="Aptos"/>
                <a:cs typeface="Aptos"/>
              </a:rPr>
              <a:t>APPS</a:t>
            </a:r>
          </a:p>
        </p:txBody>
      </p:sp>
      <p:sp>
        <p:nvSpPr>
          <p:cNvPr id="48" name="s6-tab-body-4">
            <a:extLst xmlns:a="http://schemas.openxmlformats.org/drawingml/2006/main">
              <a:ext uri="{FF2B5EF4-FFF2-40B4-BE49-F238E27FC236}">
                <a16:creationId xmlns:a16="http://schemas.microsoft.com/office/drawing/2014/main" id="{3D40F04B-11F8-414B-9C02-3579BAE7EE9A}"/>
              </a:ext>
            </a:extLst>
          </p:cNvPr>
          <p:cNvSpPr>
            <a:spLocks xmlns:a="http://schemas.openxmlformats.org/drawingml/2006/main" noGrp="1"/>
          </p:cNvSpPr>
          <p:nvPr/>
        </p:nvSpPr>
        <p:spPr>
          <a:xfrm xmlns:a="http://schemas.openxmlformats.org/drawingml/2006/main">
            <a:off x="8667750" y="52101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Testing tools • code generation</a:t>
            </a:r>
          </a:p>
        </p:txBody>
      </p:sp>
      <p:sp>
        <p:nvSpPr>
          <p:cNvPr id="49" name="s6-caption">
            <a:extLst xmlns:a="http://schemas.openxmlformats.org/drawingml/2006/main">
              <a:ext uri="{FF2B5EF4-FFF2-40B4-BE49-F238E27FC236}">
                <a16:creationId xmlns:a16="http://schemas.microsoft.com/office/drawing/2014/main" id="{D8D4447C-FFCD-4FA5-A011-563152BEB398}"/>
              </a:ext>
            </a:extLst>
          </p:cNvPr>
          <p:cNvSpPr>
            <a:spLocks xmlns:a="http://schemas.openxmlformats.org/drawingml/2006/main" noGrp="1"/>
          </p:cNvSpPr>
          <p:nvPr/>
        </p:nvSpPr>
        <p:spPr>
          <a:xfrm xmlns:a="http://schemas.openxmlformats.org/drawingml/2006/main">
            <a:off x="685800" y="5953125"/>
            <a:ext cx="10820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17324A"/>
                </a:solidFill>
                <a:latin typeface="Aptos"/>
                <a:ea typeface="Aptos"/>
                <a:cs typeface="Aptos"/>
              </a:defRPr>
            </a:pPr>
            <a:r>
              <a:rPr sz="1200" b="1">
                <a:solidFill>
                  <a:srgbClr val="17324A"/>
                </a:solidFill>
                <a:latin typeface="Aptos"/>
                <a:ea typeface="Aptos"/>
                <a:cs typeface="Aptos"/>
              </a:rPr>
              <a:t>Select the tab, then the action. Open, update, run, stop, build, and test create different engineering states and evidence.</a:t>
            </a:r>
          </a:p>
        </p:txBody>
      </p:sp>
    </p:spTree>
    <p:extLst>
      <p:ext uri="{BB962C8B-B14F-4D97-AF65-F5344CB8AC3E}">
        <p14:creationId xmlns:p14="http://schemas.microsoft.com/office/powerpoint/2010/main" val="1080256114"/>
      </p:ext>
    </p:extLst>
  </p:cSld>
</p:sld>
</file>

<file path=ppt/slides/slide1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55</a:t>
            </a:r>
          </a:p>
        </p:txBody>
      </p:sp>
    </p:spTree>
    <p:extLst>
      <p:ext uri="{BB962C8B-B14F-4D97-AF65-F5344CB8AC3E}">
        <p14:creationId xmlns:p14="http://schemas.microsoft.com/office/powerpoint/2010/main" val="392848478"/>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Open FCS_Data.sldd, then inspect FlightControlBus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47</a:t>
            </a:r>
          </a:p>
        </p:txBody>
      </p:sp>
    </p:spTree>
    <p:extLst>
      <p:ext uri="{BB962C8B-B14F-4D97-AF65-F5344CB8AC3E}">
        <p14:creationId xmlns:p14="http://schemas.microsoft.com/office/powerpoint/2010/main" val="28635293"/>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 is a separately managed component</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Tree>
    <p:extLst>
      <p:ext uri="{BB962C8B-B14F-4D97-AF65-F5344CB8AC3E}">
        <p14:creationId xmlns:p14="http://schemas.microsoft.com/office/powerpoint/2010/main" val="112507120"/>
      </p:ext>
    </p:extLst>
  </p:cSld>
</p:sld>
</file>

<file path=ppt/slides/slide1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 Rate Limiter Logic clamps magnitude and controls fallback</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25</a:t>
            </a:r>
          </a:p>
        </p:txBody>
      </p:sp>
    </p:spTree>
    <p:extLst>
      <p:ext uri="{BB962C8B-B14F-4D97-AF65-F5344CB8AC3E}">
        <p14:creationId xmlns:p14="http://schemas.microsoft.com/office/powerpoint/2010/main" val="112507120"/>
      </p:ext>
    </p:extLst>
  </p:cSld>
</p:sld>
</file>

<file path=ppt/slides/slide1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663" b="1" i="0">
                <a:solidFill>
                  <a:srgbClr val="0B1F33"/>
                </a:solidFill>
                <a:latin typeface="Aptos"/>
                <a:ea typeface="Aptos"/>
                <a:cs typeface="Aptos"/>
              </a:defRPr>
            </a:pPr>
            <a:r>
              <a:rPr sz="2663" b="1" i="0">
                <a:solidFill>
                  <a:srgbClr val="0B1F33"/>
                </a:solidFill>
                <a:latin typeface="Aptos"/>
                <a:ea typeface="Aptos"/>
                <a:cs typeface="Aptos"/>
              </a:rPr>
              <a:t>Log signals for evidence; use test points for required observability</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10</a:t>
            </a:r>
          </a:p>
        </p:txBody>
      </p:sp>
      <p:sp>
        <p:nvSpPr>
          <p:cNvPr id="35" name="s8-image-frame">
            <a:extLst xmlns:a="http://schemas.openxmlformats.org/drawingml/2006/main">
              <a:ext uri="{FF2B5EF4-FFF2-40B4-BE49-F238E27FC236}">
                <a16:creationId xmlns:a16="http://schemas.microsoft.com/office/drawing/2014/main" id="{DA9F56B5-A1E4-491A-B701-3A73BB1CE4ED}"/>
              </a:ext>
            </a:extLst>
          </p:cNvPr>
          <p:cNvSpPr>
            <a:spLocks xmlns:a="http://schemas.openxmlformats.org/drawingml/2006/main" noGrp="1"/>
          </p:cNvSpPr>
          <p:nvPr/>
        </p:nvSpPr>
        <p:spPr>
          <a:xfrm xmlns:a="http://schemas.openxmlformats.org/drawingml/2006/main">
            <a:off x="609600" y="1428750"/>
            <a:ext cx="7696200" cy="434340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12383">
            <a:solidFill>
              <a:srgbClr val="C9D8E3"/>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356d4bcc25ec443c"/>
          <a:stretch xmlns:a="http://schemas.openxmlformats.org/drawingml/2006/main"/>
        </p:blipFill>
        <p:spPr>
          <a:xfrm xmlns:a="http://schemas.openxmlformats.org/drawingml/2006/main">
            <a:off x="685800" y="1573054"/>
            <a:ext cx="7543800" cy="4054793"/>
          </a:xfrm>
          <a:prstGeom xmlns:a="http://schemas.openxmlformats.org/drawingml/2006/main" prst="rect">
            <a:avLst/>
          </a:prstGeom>
        </p:spPr>
      </p:pic>
      <p:sp>
        <p:nvSpPr>
          <p:cNvPr id="37" name="s8-demo-tag">
            <a:extLst xmlns:a="http://schemas.openxmlformats.org/drawingml/2006/main">
              <a:ext uri="{FF2B5EF4-FFF2-40B4-BE49-F238E27FC236}">
                <a16:creationId xmlns:a16="http://schemas.microsoft.com/office/drawing/2014/main" id="{1EB05C8A-CA53-4110-A86D-CDA05E30BA85}"/>
              </a:ext>
            </a:extLst>
          </p:cNvPr>
          <p:cNvSpPr>
            <a:spLocks xmlns:a="http://schemas.openxmlformats.org/drawingml/2006/main" noGrp="1"/>
          </p:cNvSpPr>
          <p:nvPr/>
        </p:nvSpPr>
        <p:spPr>
          <a:xfrm xmlns:a="http://schemas.openxmlformats.org/drawingml/2006/main">
            <a:off x="8515350" y="1438275"/>
            <a:ext cx="2990850" cy="285750"/>
          </a:xfrm>
          <a:prstGeom xmlns:a="http://schemas.openxmlformats.org/drawingml/2006/main" prst="roundRect">
            <a:avLst>
              <a:gd name="adj" fmla="val 4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DO THIS LIVE</a:t>
            </a:r>
          </a:p>
        </p:txBody>
      </p:sp>
      <p:sp>
        <p:nvSpPr>
          <p:cNvPr id="38" name="s8-demo-steps">
            <a:extLst xmlns:a="http://schemas.openxmlformats.org/drawingml/2006/main">
              <a:ext uri="{FF2B5EF4-FFF2-40B4-BE49-F238E27FC236}">
                <a16:creationId xmlns:a16="http://schemas.microsoft.com/office/drawing/2014/main" id="{6938BAE5-563A-4C56-970D-4A1E62F4F0F5}"/>
              </a:ext>
            </a:extLst>
          </p:cNvPr>
          <p:cNvSpPr>
            <a:spLocks xmlns:a="http://schemas.openxmlformats.org/drawingml/2006/main" noGrp="1"/>
          </p:cNvSpPr>
          <p:nvPr/>
        </p:nvSpPr>
        <p:spPr>
          <a:xfrm xmlns:a="http://schemas.openxmlformats.org/drawingml/2006/main">
            <a:off x="8515350" y="1809750"/>
            <a:ext cx="2990850" cy="1314450"/>
          </a:xfrm>
          <a:prstGeom xmlns:a="http://schemas.openxmlformats.org/drawingml/2006/main" prst="roundRect">
            <a:avLst>
              <a:gd name="adj" fmla="val 8696"/>
            </a:avLst>
          </a:prstGeom>
          <a:solidFill xmlns:a="http://schemas.openxmlformats.org/drawingml/2006/main">
            <a:srgbClr val="DFF6F8"/>
          </a:solidFill>
          <a:ln xmlns:a="http://schemas.openxmlformats.org/drawingml/2006/main" w="13335">
            <a:solidFill>
              <a:srgbClr val="20B7C5"/>
            </a:solidFill>
            <a:prstDash val="solid"/>
          </a:ln>
        </p:spPr>
      </p:sp>
      <p:sp>
        <p:nvSpPr>
          <p:cNvPr id="39" name="s8-demo-steps-title">
            <a:extLst xmlns:a="http://schemas.openxmlformats.org/drawingml/2006/main">
              <a:ext uri="{FF2B5EF4-FFF2-40B4-BE49-F238E27FC236}">
                <a16:creationId xmlns:a16="http://schemas.microsoft.com/office/drawing/2014/main" id="{61E3BD55-EE6A-47CD-97EB-68EEB413E0D4}"/>
              </a:ext>
            </a:extLst>
          </p:cNvPr>
          <p:cNvSpPr>
            <a:spLocks xmlns:a="http://schemas.openxmlformats.org/drawingml/2006/main" noGrp="1"/>
          </p:cNvSpPr>
          <p:nvPr/>
        </p:nvSpPr>
        <p:spPr>
          <a:xfrm xmlns:a="http://schemas.openxmlformats.org/drawingml/2006/main">
            <a:off x="8667750" y="19050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0B7C5"/>
                </a:solidFill>
                <a:latin typeface="Aptos"/>
                <a:ea typeface="Aptos"/>
                <a:cs typeface="Aptos"/>
              </a:defRPr>
            </a:pPr>
            <a:r>
              <a:rPr sz="1200" b="1">
                <a:solidFill>
                  <a:srgbClr val="20B7C5"/>
                </a:solidFill>
                <a:latin typeface="Aptos"/>
                <a:ea typeface="Aptos"/>
                <a:cs typeface="Aptos"/>
              </a:rPr>
              <a:t>LOG A SIGNAL</a:t>
            </a:r>
          </a:p>
        </p:txBody>
      </p:sp>
      <p:sp>
        <p:nvSpPr>
          <p:cNvPr id="40" name="s8-demo-steps-body">
            <a:extLst xmlns:a="http://schemas.openxmlformats.org/drawingml/2006/main">
              <a:ext uri="{FF2B5EF4-FFF2-40B4-BE49-F238E27FC236}">
                <a16:creationId xmlns:a16="http://schemas.microsoft.com/office/drawing/2014/main" id="{B1199EBB-0643-4541-BC8D-65F74353B337}"/>
              </a:ext>
            </a:extLst>
          </p:cNvPr>
          <p:cNvSpPr>
            <a:spLocks xmlns:a="http://schemas.openxmlformats.org/drawingml/2006/main" noGrp="1"/>
          </p:cNvSpPr>
          <p:nvPr/>
        </p:nvSpPr>
        <p:spPr>
          <a:xfrm xmlns:a="http://schemas.openxmlformats.org/drawingml/2006/main">
            <a:off x="8667750" y="2181225"/>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1  Select the signal line</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2  Signal tab &gt; Log Signals</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3  Run the model</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4  View in Data Inspector</a:t>
            </a:r>
          </a:p>
        </p:txBody>
      </p:sp>
      <p:sp>
        <p:nvSpPr>
          <p:cNvPr id="41" name="s8-log-card">
            <a:extLst xmlns:a="http://schemas.openxmlformats.org/drawingml/2006/main">
              <a:ext uri="{FF2B5EF4-FFF2-40B4-BE49-F238E27FC236}">
                <a16:creationId xmlns:a16="http://schemas.microsoft.com/office/drawing/2014/main" id="{DD37B0CD-C903-4607-9872-4D33D4697FC4}"/>
              </a:ext>
            </a:extLst>
          </p:cNvPr>
          <p:cNvSpPr>
            <a:spLocks xmlns:a="http://schemas.openxmlformats.org/drawingml/2006/main" noGrp="1"/>
          </p:cNvSpPr>
          <p:nvPr/>
        </p:nvSpPr>
        <p:spPr>
          <a:xfrm xmlns:a="http://schemas.openxmlformats.org/drawingml/2006/main">
            <a:off x="8515350" y="3238500"/>
            <a:ext cx="2990850" cy="1200150"/>
          </a:xfrm>
          <a:prstGeom xmlns:a="http://schemas.openxmlformats.org/drawingml/2006/main" prst="roundRect">
            <a:avLst>
              <a:gd name="adj" fmla="val 9524"/>
            </a:avLst>
          </a:prstGeom>
          <a:solidFill xmlns:a="http://schemas.openxmlformats.org/drawingml/2006/main">
            <a:srgbClr val="E2ECFF"/>
          </a:solidFill>
          <a:ln xmlns:a="http://schemas.openxmlformats.org/drawingml/2006/main" w="13335">
            <a:solidFill>
              <a:srgbClr val="2D6CDF"/>
            </a:solidFill>
            <a:prstDash val="solid"/>
          </a:ln>
        </p:spPr>
      </p:sp>
      <p:sp>
        <p:nvSpPr>
          <p:cNvPr id="42" name="s8-log-title">
            <a:extLst xmlns:a="http://schemas.openxmlformats.org/drawingml/2006/main">
              <a:ext uri="{FF2B5EF4-FFF2-40B4-BE49-F238E27FC236}">
                <a16:creationId xmlns:a16="http://schemas.microsoft.com/office/drawing/2014/main" id="{443A1A20-0996-4B6C-82EC-9B80C07AD709}"/>
              </a:ext>
            </a:extLst>
          </p:cNvPr>
          <p:cNvSpPr>
            <a:spLocks xmlns:a="http://schemas.openxmlformats.org/drawingml/2006/main" noGrp="1"/>
          </p:cNvSpPr>
          <p:nvPr/>
        </p:nvSpPr>
        <p:spPr>
          <a:xfrm xmlns:a="http://schemas.openxmlformats.org/drawingml/2006/main">
            <a:off x="8648700" y="333375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D6CDF"/>
                </a:solidFill>
                <a:latin typeface="Aptos"/>
                <a:ea typeface="Aptos"/>
                <a:cs typeface="Aptos"/>
              </a:defRPr>
            </a:pPr>
            <a:r>
              <a:rPr sz="1200" b="1">
                <a:solidFill>
                  <a:srgbClr val="2D6CDF"/>
                </a:solidFill>
                <a:latin typeface="Aptos"/>
                <a:ea typeface="Aptos"/>
                <a:cs typeface="Aptos"/>
              </a:rPr>
              <a:t>LOGGED SIGNAL</a:t>
            </a:r>
          </a:p>
        </p:txBody>
      </p:sp>
      <p:sp>
        <p:nvSpPr>
          <p:cNvPr id="43" name="s8-log-body">
            <a:extLst xmlns:a="http://schemas.openxmlformats.org/drawingml/2006/main">
              <a:ext uri="{FF2B5EF4-FFF2-40B4-BE49-F238E27FC236}">
                <a16:creationId xmlns:a16="http://schemas.microsoft.com/office/drawing/2014/main" id="{F88A98C5-1D8F-4FCB-B132-D077CC9B1DE3}"/>
              </a:ext>
            </a:extLst>
          </p:cNvPr>
          <p:cNvSpPr>
            <a:spLocks xmlns:a="http://schemas.openxmlformats.org/drawingml/2006/main" noGrp="1"/>
          </p:cNvSpPr>
          <p:nvPr/>
        </p:nvSpPr>
        <p:spPr>
          <a:xfrm xmlns:a="http://schemas.openxmlformats.org/drawingml/2006/main">
            <a:off x="8648700" y="3609975"/>
            <a:ext cx="2724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Use for time history, SDI comparisons, regression plots, and retained simulation evidence. Dataset data commonly appears in logsout.</a:t>
            </a:r>
          </a:p>
        </p:txBody>
      </p:sp>
      <p:sp>
        <p:nvSpPr>
          <p:cNvPr id="44" name="s8-test-card">
            <a:extLst xmlns:a="http://schemas.openxmlformats.org/drawingml/2006/main">
              <a:ext uri="{FF2B5EF4-FFF2-40B4-BE49-F238E27FC236}">
                <a16:creationId xmlns:a16="http://schemas.microsoft.com/office/drawing/2014/main" id="{26A95B58-C514-46CA-AAD1-CC2BE6CFA4B6}"/>
              </a:ext>
            </a:extLst>
          </p:cNvPr>
          <p:cNvSpPr>
            <a:spLocks xmlns:a="http://schemas.openxmlformats.org/drawingml/2006/main" noGrp="1"/>
          </p:cNvSpPr>
          <p:nvPr/>
        </p:nvSpPr>
        <p:spPr>
          <a:xfrm xmlns:a="http://schemas.openxmlformats.org/drawingml/2006/main">
            <a:off x="8515350" y="4552950"/>
            <a:ext cx="2990850" cy="1219200"/>
          </a:xfrm>
          <a:prstGeom xmlns:a="http://schemas.openxmlformats.org/drawingml/2006/main" prst="roundRect">
            <a:avLst>
              <a:gd name="adj" fmla="val 9375"/>
            </a:avLst>
          </a:prstGeom>
          <a:solidFill xmlns:a="http://schemas.openxmlformats.org/drawingml/2006/main">
            <a:srgbClr val="FFF0D7"/>
          </a:solidFill>
          <a:ln xmlns:a="http://schemas.openxmlformats.org/drawingml/2006/main" w="13335">
            <a:solidFill>
              <a:srgbClr val="E9A23B"/>
            </a:solidFill>
            <a:prstDash val="solid"/>
          </a:ln>
        </p:spPr>
      </p:sp>
      <p:sp>
        <p:nvSpPr>
          <p:cNvPr id="45" name="s8-test-title">
            <a:extLst xmlns:a="http://schemas.openxmlformats.org/drawingml/2006/main">
              <a:ext uri="{FF2B5EF4-FFF2-40B4-BE49-F238E27FC236}">
                <a16:creationId xmlns:a16="http://schemas.microsoft.com/office/drawing/2014/main" id="{8F188412-529A-497F-A40A-4404C32A9577}"/>
              </a:ext>
            </a:extLst>
          </p:cNvPr>
          <p:cNvSpPr>
            <a:spLocks xmlns:a="http://schemas.openxmlformats.org/drawingml/2006/main" noGrp="1"/>
          </p:cNvSpPr>
          <p:nvPr/>
        </p:nvSpPr>
        <p:spPr>
          <a:xfrm xmlns:a="http://schemas.openxmlformats.org/drawingml/2006/main">
            <a:off x="8648700" y="464820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E9A23B"/>
                </a:solidFill>
                <a:latin typeface="Aptos"/>
                <a:ea typeface="Aptos"/>
                <a:cs typeface="Aptos"/>
              </a:defRPr>
            </a:pPr>
            <a:r>
              <a:rPr sz="1200" b="1">
                <a:solidFill>
                  <a:srgbClr val="E9A23B"/>
                </a:solidFill>
                <a:latin typeface="Aptos"/>
                <a:ea typeface="Aptos"/>
                <a:cs typeface="Aptos"/>
              </a:rPr>
              <a:t>TEST POINT</a:t>
            </a:r>
          </a:p>
        </p:txBody>
      </p:sp>
      <p:sp>
        <p:nvSpPr>
          <p:cNvPr id="46" name="s8-test-body">
            <a:extLst xmlns:a="http://schemas.openxmlformats.org/drawingml/2006/main">
              <a:ext uri="{FF2B5EF4-FFF2-40B4-BE49-F238E27FC236}">
                <a16:creationId xmlns:a16="http://schemas.microsoft.com/office/drawing/2014/main" id="{F5095E78-1E12-468A-BD85-F0B4813E7907}"/>
              </a:ext>
            </a:extLst>
          </p:cNvPr>
          <p:cNvSpPr>
            <a:spLocks xmlns:a="http://schemas.openxmlformats.org/drawingml/2006/main" noGrp="1"/>
          </p:cNvSpPr>
          <p:nvPr/>
        </p:nvSpPr>
        <p:spPr>
          <a:xfrm xmlns:a="http://schemas.openxmlformats.org/drawingml/2006/main">
            <a:off x="8648700" y="4924425"/>
            <a:ext cx="2724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Use when an internal signal must remain observable despite optimization. It does not enable signal logging; control and review it separately.</a:t>
            </a:r>
          </a:p>
        </p:txBody>
      </p:sp>
      <p:sp>
        <p:nvSpPr>
          <p:cNvPr id="47" name="s8-status">
            <a:extLst xmlns:a="http://schemas.openxmlformats.org/drawingml/2006/main">
              <a:ext uri="{FF2B5EF4-FFF2-40B4-BE49-F238E27FC236}">
                <a16:creationId xmlns:a16="http://schemas.microsoft.com/office/drawing/2014/main" id="{EEDD13F5-33B6-41A6-A791-EAFA59CAB91A}"/>
              </a:ext>
            </a:extLst>
          </p:cNvPr>
          <p:cNvSpPr>
            <a:spLocks xmlns:a="http://schemas.openxmlformats.org/drawingml/2006/main" noGrp="1"/>
          </p:cNvSpPr>
          <p:nvPr/>
        </p:nvSpPr>
        <p:spPr>
          <a:xfrm xmlns:a="http://schemas.openxmlformats.org/drawingml/2006/main">
            <a:off x="685800" y="5886450"/>
            <a:ext cx="10820400" cy="285750"/>
          </a:xfrm>
          <a:prstGeom xmlns:a="http://schemas.openxmlformats.org/drawingml/2006/main" prst="roundRect">
            <a:avLst>
              <a:gd name="adj" fmla="val 40000"/>
            </a:avLst>
          </a:prstGeom>
          <a:solidFill xmlns:a="http://schemas.openxmlformats.org/drawingml/2006/main">
            <a:srgbClr val="0B2438"/>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FFFFFF"/>
                </a:solidFill>
                <a:latin typeface="Aptos"/>
                <a:ea typeface="Aptos"/>
                <a:cs typeface="Aptos"/>
              </a:defRPr>
            </a:pPr>
            <a:r>
              <a:rPr sz="1088" b="1">
                <a:solidFill>
                  <a:srgbClr val="FFFFFF"/>
                </a:solidFill>
                <a:latin typeface="Aptos"/>
                <a:ea typeface="Aptos"/>
                <a:cs typeface="Aptos"/>
              </a:rPr>
              <a:t>SAVED PACKAGE  •  signal logging ON in 8/8 models  •  52 logged ports  •  0 test points</a:t>
            </a:r>
          </a:p>
        </p:txBody>
      </p:sp>
    </p:spTree>
    <p:extLst>
      <p:ext uri="{BB962C8B-B14F-4D97-AF65-F5344CB8AC3E}">
        <p14:creationId xmlns:p14="http://schemas.microsoft.com/office/powerpoint/2010/main" val="354341949"/>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Check the active model settings before update, simulation, or build</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spTree>
    <p:extLst>
      <p:ext uri="{BB962C8B-B14F-4D97-AF65-F5344CB8AC3E}">
        <p14:creationId xmlns:p14="http://schemas.microsoft.com/office/powerpoint/2010/main" val="354341949"/>
      </p:ext>
    </p:extLst>
  </p:cSld>
</p:sld>
</file>

<file path=ppt/slides/slide1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50</a:t>
            </a:r>
          </a:p>
        </p:txBody>
      </p:sp>
    </p:spTree>
    <p:extLst>
      <p:ext uri="{BB962C8B-B14F-4D97-AF65-F5344CB8AC3E}">
        <p14:creationId xmlns:p14="http://schemas.microsoft.com/office/powerpoint/2010/main" val="64423345"/>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PitchRateLimiter_Harness isolates the unit under test</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29</a:t>
            </a:r>
          </a:p>
        </p:txBody>
      </p:sp>
      <p:sp>
        <p:nvSpPr>
          <p:cNvPr id="20" name="s29-frame">
            <a:extLst xmlns:a="http://schemas.openxmlformats.org/drawingml/2006/main">
              <a:ext uri="{FF2B5EF4-FFF2-40B4-BE49-F238E27FC236}">
                <a16:creationId xmlns:a16="http://schemas.microsoft.com/office/drawing/2014/main" id="{7BB86507-AC25-4E37-A3F3-4D8B1E8F8F09}"/>
              </a:ext>
            </a:extLst>
          </p:cNvPr>
          <p:cNvSpPr>
            <a:spLocks xmlns:a="http://schemas.openxmlformats.org/drawingml/2006/main" noGrp="1"/>
          </p:cNvSpPr>
          <p:nvPr/>
        </p:nvSpPr>
        <p:spPr>
          <a:xfrm xmlns:a="http://schemas.openxmlformats.org/drawingml/2006/main">
            <a:off x="609600" y="1352550"/>
            <a:ext cx="109728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13335">
            <a:solidFill>
              <a:srgbClr val="C9D8E3"/>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cbd8d63fc7204263"/>
          <a:stretch xmlns:a="http://schemas.openxmlformats.org/drawingml/2006/main"/>
        </p:blipFill>
        <p:spPr>
          <a:xfrm xmlns:a="http://schemas.openxmlformats.org/drawingml/2006/main">
            <a:off x="2552507" y="1438275"/>
            <a:ext cx="7086986" cy="4152900"/>
          </a:xfrm>
          <a:prstGeom xmlns:a="http://schemas.openxmlformats.org/drawingml/2006/main" prst="rect">
            <a:avLst/>
          </a:prstGeom>
        </p:spPr>
      </p:pic>
      <p:sp>
        <p:nvSpPr>
          <p:cNvPr id="22" name="s29-caption">
            <a:extLst xmlns:a="http://schemas.openxmlformats.org/drawingml/2006/main">
              <a:ext uri="{FF2B5EF4-FFF2-40B4-BE49-F238E27FC236}">
                <a16:creationId xmlns:a16="http://schemas.microsoft.com/office/drawing/2014/main" id="{6EE37C57-387D-4BE0-B1CD-781A408B1A52}"/>
              </a:ext>
            </a:extLst>
          </p:cNvPr>
          <p:cNvSpPr>
            <a:spLocks xmlns:a="http://schemas.openxmlformats.org/drawingml/2006/main" noGrp="1"/>
          </p:cNvSpPr>
          <p:nvPr/>
        </p:nvSpPr>
        <p:spPr>
          <a:xfrm xmlns:a="http://schemas.openxmlformats.org/drawingml/2006/main">
            <a:off x="685800" y="5772150"/>
            <a:ext cx="10820400" cy="419100"/>
          </a:xfrm>
          <a:prstGeom xmlns:a="http://schemas.openxmlformats.org/drawingml/2006/main" prst="roundRect">
            <a:avLst>
              <a:gd name="adj" fmla="val 27273"/>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95" b="1">
                <a:solidFill>
                  <a:srgbClr val="071521"/>
                </a:solidFill>
                <a:latin typeface="Aptos"/>
                <a:ea typeface="Aptos"/>
                <a:cs typeface="Aptos"/>
              </a:defRPr>
            </a:pPr>
            <a:r>
              <a:rPr sz="1095" b="1">
                <a:solidFill>
                  <a:srgbClr val="071521"/>
                </a:solidFill>
                <a:latin typeface="Aptos"/>
                <a:ea typeface="Aptos"/>
                <a:cs typeface="Aptos"/>
              </a:rPr>
              <a:t>q_cmd_test • normal_mode_test • input_valid_test  ←  created by scripts/run_pitch_rate_limiter_tests.m  •  no standalone stimulus file</a:t>
            </a:r>
          </a:p>
        </p:txBody>
      </p:sp>
    </p:spTree>
    <p:extLst>
      <p:ext uri="{BB962C8B-B14F-4D97-AF65-F5344CB8AC3E}">
        <p14:creationId xmlns:p14="http://schemas.microsoft.com/office/powerpoint/2010/main" val="1234053405"/>
      </p:ext>
    </p:extLst>
  </p:cSld>
</p:sld>
</file>

<file path=ppt/slides/slide2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HARNESS DEMO</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The harness inputs come from one script and three timeseries</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sp>
        <p:nvSpPr>
          <p:cNvPr id="25" name="s30-source-title">
            <a:extLst xmlns:a="http://schemas.openxmlformats.org/drawingml/2006/main">
              <a:ext uri="{FF2B5EF4-FFF2-40B4-BE49-F238E27FC236}">
                <a16:creationId xmlns:a16="http://schemas.microsoft.com/office/drawing/2014/main" id="{A3FB0793-28A5-4D60-804B-68AF3000B005}"/>
              </a:ext>
            </a:extLst>
          </p:cNvPr>
          <p:cNvSpPr>
            <a:spLocks xmlns:a="http://schemas.openxmlformats.org/drawingml/2006/main" noGrp="1"/>
          </p:cNvSpPr>
          <p:nvPr/>
        </p:nvSpPr>
        <p:spPr>
          <a:xfrm xmlns:a="http://schemas.openxmlformats.org/drawingml/2006/main">
            <a:off x="685800" y="1428750"/>
            <a:ext cx="49530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28" b="1">
                <a:solidFill>
                  <a:srgbClr val="FFFFFF"/>
                </a:solidFill>
                <a:latin typeface="Aptos"/>
                <a:ea typeface="Aptos"/>
                <a:cs typeface="Aptos"/>
              </a:defRPr>
            </a:pPr>
            <a:r>
              <a:rPr sz="1028" b="1">
                <a:solidFill>
                  <a:srgbClr val="FFFFFF"/>
                </a:solidFill>
                <a:latin typeface="Aptos"/>
                <a:ea typeface="Aptos"/>
                <a:cs typeface="Aptos"/>
              </a:rPr>
              <a:t>THREE PRIMARY ARTIFACTS IN THE HARNESS EXECUTION PATH</a:t>
            </a:r>
          </a:p>
        </p:txBody>
      </p:sp>
      <p:sp>
        <p:nvSpPr>
          <p:cNvPr id="26" name="s30-source-0">
            <a:extLst xmlns:a="http://schemas.openxmlformats.org/drawingml/2006/main">
              <a:ext uri="{FF2B5EF4-FFF2-40B4-BE49-F238E27FC236}">
                <a16:creationId xmlns:a16="http://schemas.microsoft.com/office/drawing/2014/main" id="{EAF92DFE-9FF4-4A18-ABAB-CFEABEC916A6}"/>
              </a:ext>
            </a:extLst>
          </p:cNvPr>
          <p:cNvSpPr>
            <a:spLocks xmlns:a="http://schemas.openxmlformats.org/drawingml/2006/main" noGrp="1"/>
          </p:cNvSpPr>
          <p:nvPr/>
        </p:nvSpPr>
        <p:spPr>
          <a:xfrm xmlns:a="http://schemas.openxmlformats.org/drawingml/2006/main">
            <a:off x="685800" y="1885950"/>
            <a:ext cx="4953000" cy="1047750"/>
          </a:xfrm>
          <a:prstGeom xmlns:a="http://schemas.openxmlformats.org/drawingml/2006/main" prst="roundRect">
            <a:avLst>
              <a:gd name="adj" fmla="val 10909"/>
            </a:avLst>
          </a:prstGeom>
          <a:solidFill xmlns:a="http://schemas.openxmlformats.org/drawingml/2006/main">
            <a:srgbClr val="0C2133"/>
          </a:solidFill>
          <a:ln xmlns:a="http://schemas.openxmlformats.org/drawingml/2006/main" w="14288">
            <a:solidFill>
              <a:srgbClr val="20B7C5"/>
            </a:solidFill>
            <a:prstDash val="solid"/>
          </a:ln>
        </p:spPr>
      </p:sp>
      <p:sp>
        <p:nvSpPr>
          <p:cNvPr id="27" name="s30-source-num-0">
            <a:extLst xmlns:a="http://schemas.openxmlformats.org/drawingml/2006/main">
              <a:ext uri="{FF2B5EF4-FFF2-40B4-BE49-F238E27FC236}">
                <a16:creationId xmlns:a16="http://schemas.microsoft.com/office/drawing/2014/main" id="{E44A596D-C3B9-4DFD-9C08-1670E77CB5E1}"/>
              </a:ext>
            </a:extLst>
          </p:cNvPr>
          <p:cNvSpPr>
            <a:spLocks xmlns:a="http://schemas.openxmlformats.org/drawingml/2006/main" noGrp="1"/>
          </p:cNvSpPr>
          <p:nvPr/>
        </p:nvSpPr>
        <p:spPr>
          <a:xfrm xmlns:a="http://schemas.openxmlformats.org/drawingml/2006/main">
            <a:off x="819150" y="20574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1</a:t>
            </a:r>
          </a:p>
        </p:txBody>
      </p:sp>
      <p:sp>
        <p:nvSpPr>
          <p:cNvPr id="28" name="s30-source-name-0">
            <a:extLst xmlns:a="http://schemas.openxmlformats.org/drawingml/2006/main">
              <a:ext uri="{FF2B5EF4-FFF2-40B4-BE49-F238E27FC236}">
                <a16:creationId xmlns:a16="http://schemas.microsoft.com/office/drawing/2014/main" id="{E981D0EE-A991-4893-91A6-DB2F1F4CF366}"/>
              </a:ext>
            </a:extLst>
          </p:cNvPr>
          <p:cNvSpPr>
            <a:spLocks xmlns:a="http://schemas.openxmlformats.org/drawingml/2006/main" noGrp="1"/>
          </p:cNvSpPr>
          <p:nvPr/>
        </p:nvSpPr>
        <p:spPr>
          <a:xfrm xmlns:a="http://schemas.openxmlformats.org/drawingml/2006/main">
            <a:off x="1314450" y="1990725"/>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0" b="1">
                <a:solidFill>
                  <a:srgbClr val="FFFFFF"/>
                </a:solidFill>
                <a:latin typeface="Consolas"/>
                <a:ea typeface="Consolas"/>
                <a:cs typeface="Consolas"/>
              </a:defRPr>
            </a:pPr>
            <a:r>
              <a:rPr sz="1080" b="1">
                <a:solidFill>
                  <a:srgbClr val="FFFFFF"/>
                </a:solidFill>
                <a:latin typeface="Consolas"/>
                <a:ea typeface="Consolas"/>
                <a:cs typeface="Consolas"/>
              </a:rPr>
              <a:t>data/FCS_Data.sldd</a:t>
            </a:r>
          </a:p>
        </p:txBody>
      </p:sp>
      <p:sp>
        <p:nvSpPr>
          <p:cNvPr id="29" name="s30-source-body-0">
            <a:extLst xmlns:a="http://schemas.openxmlformats.org/drawingml/2006/main">
              <a:ext uri="{FF2B5EF4-FFF2-40B4-BE49-F238E27FC236}">
                <a16:creationId xmlns:a16="http://schemas.microsoft.com/office/drawing/2014/main" id="{E3E1F259-0523-4BA2-BBD2-2B93A51C6D33}"/>
              </a:ext>
            </a:extLst>
          </p:cNvPr>
          <p:cNvSpPr>
            <a:spLocks xmlns:a="http://schemas.openxmlformats.org/drawingml/2006/main" noGrp="1"/>
          </p:cNvSpPr>
          <p:nvPr/>
        </p:nvSpPr>
        <p:spPr>
          <a:xfrm xmlns:a="http://schemas.openxmlformats.org/drawingml/2006/main">
            <a:off x="1314450" y="2266950"/>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Sample_time = 0.02 s</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q_limit_normal = 12 deg/s</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fallback = 0</a:t>
            </a:r>
          </a:p>
        </p:txBody>
      </p:sp>
      <p:sp>
        <p:nvSpPr>
          <p:cNvPr id="30" name="s30-source-1">
            <a:extLst xmlns:a="http://schemas.openxmlformats.org/drawingml/2006/main">
              <a:ext uri="{FF2B5EF4-FFF2-40B4-BE49-F238E27FC236}">
                <a16:creationId xmlns:a16="http://schemas.microsoft.com/office/drawing/2014/main" id="{EDE73799-48F0-4B17-90E4-C938CC59434C}"/>
              </a:ext>
            </a:extLst>
          </p:cNvPr>
          <p:cNvSpPr>
            <a:spLocks xmlns:a="http://schemas.openxmlformats.org/drawingml/2006/main" noGrp="1"/>
          </p:cNvSpPr>
          <p:nvPr/>
        </p:nvSpPr>
        <p:spPr>
          <a:xfrm xmlns:a="http://schemas.openxmlformats.org/drawingml/2006/main">
            <a:off x="685800" y="3124200"/>
            <a:ext cx="4953000" cy="1047750"/>
          </a:xfrm>
          <a:prstGeom xmlns:a="http://schemas.openxmlformats.org/drawingml/2006/main" prst="roundRect">
            <a:avLst>
              <a:gd name="adj" fmla="val 10909"/>
            </a:avLst>
          </a:prstGeom>
          <a:solidFill xmlns:a="http://schemas.openxmlformats.org/drawingml/2006/main">
            <a:srgbClr val="0C2133"/>
          </a:solidFill>
          <a:ln xmlns:a="http://schemas.openxmlformats.org/drawingml/2006/main" w="14288">
            <a:solidFill>
              <a:srgbClr val="E9A23B"/>
            </a:solidFill>
            <a:prstDash val="solid"/>
          </a:ln>
        </p:spPr>
      </p:sp>
      <p:sp>
        <p:nvSpPr>
          <p:cNvPr id="31" name="s30-source-num-1">
            <a:extLst xmlns:a="http://schemas.openxmlformats.org/drawingml/2006/main">
              <a:ext uri="{FF2B5EF4-FFF2-40B4-BE49-F238E27FC236}">
                <a16:creationId xmlns:a16="http://schemas.microsoft.com/office/drawing/2014/main" id="{E94C5242-AB7A-48E2-909B-0457250E5E02}"/>
              </a:ext>
            </a:extLst>
          </p:cNvPr>
          <p:cNvSpPr>
            <a:spLocks xmlns:a="http://schemas.openxmlformats.org/drawingml/2006/main" noGrp="1"/>
          </p:cNvSpPr>
          <p:nvPr/>
        </p:nvSpPr>
        <p:spPr>
          <a:xfrm xmlns:a="http://schemas.openxmlformats.org/drawingml/2006/main">
            <a:off x="819150" y="32956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E9A23B"/>
                </a:solidFill>
                <a:latin typeface="Aptos"/>
                <a:ea typeface="Aptos"/>
                <a:cs typeface="Aptos"/>
              </a:defRPr>
            </a:pPr>
            <a:r>
              <a:rPr sz="1725" b="1">
                <a:solidFill>
                  <a:srgbClr val="E9A23B"/>
                </a:solidFill>
                <a:latin typeface="Aptos"/>
                <a:ea typeface="Aptos"/>
                <a:cs typeface="Aptos"/>
              </a:rPr>
              <a:t>2</a:t>
            </a:r>
          </a:p>
        </p:txBody>
      </p:sp>
      <p:sp>
        <p:nvSpPr>
          <p:cNvPr id="32" name="s30-source-name-1">
            <a:extLst xmlns:a="http://schemas.openxmlformats.org/drawingml/2006/main">
              <a:ext uri="{FF2B5EF4-FFF2-40B4-BE49-F238E27FC236}">
                <a16:creationId xmlns:a16="http://schemas.microsoft.com/office/drawing/2014/main" id="{7CE03741-0A3C-459C-B176-FA9DCAA056E2}"/>
              </a:ext>
            </a:extLst>
          </p:cNvPr>
          <p:cNvSpPr>
            <a:spLocks xmlns:a="http://schemas.openxmlformats.org/drawingml/2006/main" noGrp="1"/>
          </p:cNvSpPr>
          <p:nvPr/>
        </p:nvSpPr>
        <p:spPr>
          <a:xfrm xmlns:a="http://schemas.openxmlformats.org/drawingml/2006/main">
            <a:off x="1314450" y="3228975"/>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0" b="1">
                <a:solidFill>
                  <a:srgbClr val="FFFFFF"/>
                </a:solidFill>
                <a:latin typeface="Consolas"/>
                <a:ea typeface="Consolas"/>
                <a:cs typeface="Consolas"/>
              </a:defRPr>
            </a:pPr>
            <a:r>
              <a:rPr sz="1080" b="1">
                <a:solidFill>
                  <a:srgbClr val="FFFFFF"/>
                </a:solidFill>
                <a:latin typeface="Consolas"/>
                <a:ea typeface="Consolas"/>
                <a:cs typeface="Consolas"/>
              </a:rPr>
              <a:t>scripts/run_pitch_rate_limiter_tests.m</a:t>
            </a:r>
          </a:p>
        </p:txBody>
      </p:sp>
      <p:sp>
        <p:nvSpPr>
          <p:cNvPr id="33" name="s30-source-body-1">
            <a:extLst xmlns:a="http://schemas.openxmlformats.org/drawingml/2006/main">
              <a:ext uri="{FF2B5EF4-FFF2-40B4-BE49-F238E27FC236}">
                <a16:creationId xmlns:a16="http://schemas.microsoft.com/office/drawing/2014/main" id="{97A50B65-4498-40DF-9DF0-3698F3564513}"/>
              </a:ext>
            </a:extLst>
          </p:cNvPr>
          <p:cNvSpPr>
            <a:spLocks xmlns:a="http://schemas.openxmlformats.org/drawingml/2006/main" noGrp="1"/>
          </p:cNvSpPr>
          <p:nvPr/>
        </p:nvSpPr>
        <p:spPr>
          <a:xfrm xmlns:a="http://schemas.openxmlformats.org/drawingml/2006/main">
            <a:off x="1314450" y="3505200"/>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defines 19 rows</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creates 3 timeseries</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owns expected values + oracle</a:t>
            </a:r>
          </a:p>
        </p:txBody>
      </p:sp>
      <p:sp>
        <p:nvSpPr>
          <p:cNvPr id="34" name="s30-source-2">
            <a:extLst xmlns:a="http://schemas.openxmlformats.org/drawingml/2006/main">
              <a:ext uri="{FF2B5EF4-FFF2-40B4-BE49-F238E27FC236}">
                <a16:creationId xmlns:a16="http://schemas.microsoft.com/office/drawing/2014/main" id="{0D8BF06D-DDC4-4623-95D1-1F46A1B1138D}"/>
              </a:ext>
            </a:extLst>
          </p:cNvPr>
          <p:cNvSpPr>
            <a:spLocks xmlns:a="http://schemas.openxmlformats.org/drawingml/2006/main" noGrp="1"/>
          </p:cNvSpPr>
          <p:nvPr/>
        </p:nvSpPr>
        <p:spPr>
          <a:xfrm xmlns:a="http://schemas.openxmlformats.org/drawingml/2006/main">
            <a:off x="685800" y="4362450"/>
            <a:ext cx="4953000" cy="1047750"/>
          </a:xfrm>
          <a:prstGeom xmlns:a="http://schemas.openxmlformats.org/drawingml/2006/main" prst="roundRect">
            <a:avLst>
              <a:gd name="adj" fmla="val 10909"/>
            </a:avLst>
          </a:prstGeom>
          <a:solidFill xmlns:a="http://schemas.openxmlformats.org/drawingml/2006/main">
            <a:srgbClr val="0C2133"/>
          </a:solidFill>
          <a:ln xmlns:a="http://schemas.openxmlformats.org/drawingml/2006/main" w="14288">
            <a:solidFill>
              <a:srgbClr val="20B7C5"/>
            </a:solidFill>
            <a:prstDash val="solid"/>
          </a:ln>
        </p:spPr>
      </p:sp>
      <p:sp>
        <p:nvSpPr>
          <p:cNvPr id="35" name="s30-source-num-2">
            <a:extLst xmlns:a="http://schemas.openxmlformats.org/drawingml/2006/main">
              <a:ext uri="{FF2B5EF4-FFF2-40B4-BE49-F238E27FC236}">
                <a16:creationId xmlns:a16="http://schemas.microsoft.com/office/drawing/2014/main" id="{25251111-B0CF-4953-910B-6B759641E5D7}"/>
              </a:ext>
            </a:extLst>
          </p:cNvPr>
          <p:cNvSpPr>
            <a:spLocks xmlns:a="http://schemas.openxmlformats.org/drawingml/2006/main" noGrp="1"/>
          </p:cNvSpPr>
          <p:nvPr/>
        </p:nvSpPr>
        <p:spPr>
          <a:xfrm xmlns:a="http://schemas.openxmlformats.org/drawingml/2006/main">
            <a:off x="819150" y="45339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3</a:t>
            </a:r>
          </a:p>
        </p:txBody>
      </p:sp>
      <p:sp>
        <p:nvSpPr>
          <p:cNvPr id="36" name="s30-source-name-2">
            <a:extLst xmlns:a="http://schemas.openxmlformats.org/drawingml/2006/main">
              <a:ext uri="{FF2B5EF4-FFF2-40B4-BE49-F238E27FC236}">
                <a16:creationId xmlns:a16="http://schemas.microsoft.com/office/drawing/2014/main" id="{3E604A8A-9993-4F48-9BA5-25769D4A1746}"/>
              </a:ext>
            </a:extLst>
          </p:cNvPr>
          <p:cNvSpPr>
            <a:spLocks xmlns:a="http://schemas.openxmlformats.org/drawingml/2006/main" noGrp="1"/>
          </p:cNvSpPr>
          <p:nvPr/>
        </p:nvSpPr>
        <p:spPr>
          <a:xfrm xmlns:a="http://schemas.openxmlformats.org/drawingml/2006/main">
            <a:off x="1314450" y="4467225"/>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0" b="1">
                <a:solidFill>
                  <a:srgbClr val="FFFFFF"/>
                </a:solidFill>
                <a:latin typeface="Consolas"/>
                <a:ea typeface="Consolas"/>
                <a:cs typeface="Consolas"/>
              </a:defRPr>
            </a:pPr>
            <a:r>
              <a:rPr sz="1080" b="1">
                <a:solidFill>
                  <a:srgbClr val="FFFFFF"/>
                </a:solidFill>
                <a:latin typeface="Consolas"/>
                <a:ea typeface="Consolas"/>
                <a:cs typeface="Consolas"/>
              </a:rPr>
              <a:t>models/PitchRateLimiter_Harness.slx</a:t>
            </a:r>
          </a:p>
        </p:txBody>
      </p:sp>
      <p:sp>
        <p:nvSpPr>
          <p:cNvPr id="37" name="s30-source-body-2">
            <a:extLst xmlns:a="http://schemas.openxmlformats.org/drawingml/2006/main">
              <a:ext uri="{FF2B5EF4-FFF2-40B4-BE49-F238E27FC236}">
                <a16:creationId xmlns:a16="http://schemas.microsoft.com/office/drawing/2014/main" id="{17B16590-F4E6-48F8-9787-F4507414F7D9}"/>
              </a:ext>
            </a:extLst>
          </p:cNvPr>
          <p:cNvSpPr>
            <a:spLocks xmlns:a="http://schemas.openxmlformats.org/drawingml/2006/main" noGrp="1"/>
          </p:cNvSpPr>
          <p:nvPr/>
        </p:nvSpPr>
        <p:spPr>
          <a:xfrm xmlns:a="http://schemas.openxmlformats.org/drawingml/2006/main">
            <a:off x="1314450" y="4743450"/>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From Workspace → UUT</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Model block in Normal simulation mode</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To Workspace captures</a:t>
            </a:r>
          </a:p>
        </p:txBody>
      </p:sp>
      <p:sp>
        <p:nvSpPr>
          <p:cNvPr id="38" name="s30-vars">
            <a:extLst xmlns:a="http://schemas.openxmlformats.org/drawingml/2006/main">
              <a:ext uri="{FF2B5EF4-FFF2-40B4-BE49-F238E27FC236}">
                <a16:creationId xmlns:a16="http://schemas.microsoft.com/office/drawing/2014/main" id="{7A566F0D-43DC-40EB-9103-F21CDFC7C44B}"/>
              </a:ext>
            </a:extLst>
          </p:cNvPr>
          <p:cNvSpPr>
            <a:spLocks xmlns:a="http://schemas.openxmlformats.org/drawingml/2006/main" noGrp="1"/>
          </p:cNvSpPr>
          <p:nvPr/>
        </p:nvSpPr>
        <p:spPr>
          <a:xfrm xmlns:a="http://schemas.openxmlformats.org/drawingml/2006/main">
            <a:off x="5924550" y="1428750"/>
            <a:ext cx="5581650" cy="1028700"/>
          </a:xfrm>
          <a:prstGeom xmlns:a="http://schemas.openxmlformats.org/drawingml/2006/main" prst="roundRect">
            <a:avLst>
              <a:gd name="adj" fmla="val 11111"/>
            </a:avLst>
          </a:prstGeom>
          <a:solidFill xmlns:a="http://schemas.openxmlformats.org/drawingml/2006/main">
            <a:srgbClr val="DFF6F8"/>
          </a:solidFill>
          <a:ln xmlns:a="http://schemas.openxmlformats.org/drawingml/2006/main" w="14288">
            <a:solidFill>
              <a:srgbClr val="20B7C5"/>
            </a:solidFill>
            <a:prstDash val="solid"/>
          </a:ln>
        </p:spPr>
      </p:sp>
      <p:sp>
        <p:nvSpPr>
          <p:cNvPr id="39" name="s30-vars-title">
            <a:extLst xmlns:a="http://schemas.openxmlformats.org/drawingml/2006/main">
              <a:ext uri="{FF2B5EF4-FFF2-40B4-BE49-F238E27FC236}">
                <a16:creationId xmlns:a16="http://schemas.microsoft.com/office/drawing/2014/main" id="{3E5BCCB7-9D5A-42C0-9EC2-F5FA999C69D6}"/>
              </a:ext>
            </a:extLst>
          </p:cNvPr>
          <p:cNvSpPr>
            <a:spLocks xmlns:a="http://schemas.openxmlformats.org/drawingml/2006/main" noGrp="1"/>
          </p:cNvSpPr>
          <p:nvPr/>
        </p:nvSpPr>
        <p:spPr>
          <a:xfrm xmlns:a="http://schemas.openxmlformats.org/drawingml/2006/main">
            <a:off x="6115050" y="1543050"/>
            <a:ext cx="5200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INJECTED INTO THE HARNESS MODEL WORKSPACE</a:t>
            </a:r>
          </a:p>
        </p:txBody>
      </p:sp>
      <p:sp>
        <p:nvSpPr>
          <p:cNvPr id="40" name="s30-vars-body">
            <a:extLst xmlns:a="http://schemas.openxmlformats.org/drawingml/2006/main">
              <a:ext uri="{FF2B5EF4-FFF2-40B4-BE49-F238E27FC236}">
                <a16:creationId xmlns:a16="http://schemas.microsoft.com/office/drawing/2014/main" id="{DA1A7FCB-4778-4F51-9F3D-52E2B7647556}"/>
              </a:ext>
            </a:extLst>
          </p:cNvPr>
          <p:cNvSpPr>
            <a:spLocks xmlns:a="http://schemas.openxmlformats.org/drawingml/2006/main" noGrp="1"/>
          </p:cNvSpPr>
          <p:nvPr/>
        </p:nvSpPr>
        <p:spPr>
          <a:xfrm xmlns:a="http://schemas.openxmlformats.org/drawingml/2006/main">
            <a:off x="6115050" y="1857375"/>
            <a:ext cx="520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71521"/>
                </a:solidFill>
                <a:latin typeface="Consolas"/>
                <a:ea typeface="Consolas"/>
                <a:cs typeface="Consolas"/>
              </a:defRPr>
            </a:pPr>
            <a:r>
              <a:rPr sz="1200" b="1">
                <a:solidFill>
                  <a:srgbClr val="071521"/>
                </a:solidFill>
                <a:latin typeface="Consolas"/>
                <a:ea typeface="Consolas"/>
                <a:cs typeface="Consolas"/>
              </a:rPr>
              <a:t>q_cmd_test  •  normal_mode_test  •  input_valid_test</a:t>
            </a:r>
          </a:p>
        </p:txBody>
      </p:sp>
      <p:sp>
        <p:nvSpPr>
          <p:cNvPr id="41" name="s30-table">
            <a:extLst xmlns:a="http://schemas.openxmlformats.org/drawingml/2006/main">
              <a:ext uri="{FF2B5EF4-FFF2-40B4-BE49-F238E27FC236}">
                <a16:creationId xmlns:a16="http://schemas.microsoft.com/office/drawing/2014/main" id="{DC2D50CB-6EB2-42A9-BD51-47057157A44D}"/>
              </a:ext>
            </a:extLst>
          </p:cNvPr>
          <p:cNvSpPr>
            <a:spLocks xmlns:a="http://schemas.openxmlformats.org/drawingml/2006/main" noGrp="1"/>
          </p:cNvSpPr>
          <p:nvPr/>
        </p:nvSpPr>
        <p:spPr>
          <a:xfrm xmlns:a="http://schemas.openxmlformats.org/drawingml/2006/main">
            <a:off x="5924550" y="2647950"/>
            <a:ext cx="5581650" cy="2571750"/>
          </a:xfrm>
          <a:prstGeom xmlns:a="http://schemas.openxmlformats.org/drawingml/2006/main" prst="roundRect">
            <a:avLst>
              <a:gd name="adj" fmla="val 4444"/>
            </a:avLst>
          </a:prstGeom>
          <a:solidFill xmlns:a="http://schemas.openxmlformats.org/drawingml/2006/main">
            <a:srgbClr val="0C2133"/>
          </a:solidFill>
          <a:ln xmlns:a="http://schemas.openxmlformats.org/drawingml/2006/main" w="14288">
            <a:solidFill>
              <a:srgbClr val="E9A23B"/>
            </a:solidFill>
            <a:prstDash val="solid"/>
          </a:ln>
        </p:spPr>
      </p:sp>
      <p:sp>
        <p:nvSpPr>
          <p:cNvPr id="42" name="s30-table-title">
            <a:extLst xmlns:a="http://schemas.openxmlformats.org/drawingml/2006/main">
              <a:ext uri="{FF2B5EF4-FFF2-40B4-BE49-F238E27FC236}">
                <a16:creationId xmlns:a16="http://schemas.microsoft.com/office/drawing/2014/main" id="{975B3F24-5AA0-49CF-832D-426BC48F99A1}"/>
              </a:ext>
            </a:extLst>
          </p:cNvPr>
          <p:cNvSpPr>
            <a:spLocks xmlns:a="http://schemas.openxmlformats.org/drawingml/2006/main" noGrp="1"/>
          </p:cNvSpPr>
          <p:nvPr/>
        </p:nvSpPr>
        <p:spPr>
          <a:xfrm xmlns:a="http://schemas.openxmlformats.org/drawingml/2006/main">
            <a:off x="6115050" y="2771775"/>
            <a:ext cx="5200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E9A23B"/>
                </a:solidFill>
                <a:latin typeface="Aptos"/>
                <a:ea typeface="Aptos"/>
                <a:cs typeface="Aptos"/>
              </a:defRPr>
            </a:pPr>
            <a:r>
              <a:rPr sz="1065" b="1">
                <a:solidFill>
                  <a:srgbClr val="E9A23B"/>
                </a:solidFill>
                <a:latin typeface="Aptos"/>
                <a:ea typeface="Aptos"/>
                <a:cs typeface="Aptos"/>
              </a:rPr>
              <a:t>THREE REPRESENTATIVE ROWS FROM THE 19-POINT SEQUENCE</a:t>
            </a:r>
          </a:p>
        </p:txBody>
      </p:sp>
      <p:sp>
        <p:nvSpPr>
          <p:cNvPr id="43" name="s30-table-head">
            <a:extLst xmlns:a="http://schemas.openxmlformats.org/drawingml/2006/main">
              <a:ext uri="{FF2B5EF4-FFF2-40B4-BE49-F238E27FC236}">
                <a16:creationId xmlns:a16="http://schemas.microsoft.com/office/drawing/2014/main" id="{7F917978-66A6-4FD4-A119-9D72D61D9A75}"/>
              </a:ext>
            </a:extLst>
          </p:cNvPr>
          <p:cNvSpPr>
            <a:spLocks xmlns:a="http://schemas.openxmlformats.org/drawingml/2006/main" noGrp="1"/>
          </p:cNvSpPr>
          <p:nvPr/>
        </p:nvSpPr>
        <p:spPr>
          <a:xfrm xmlns:a="http://schemas.openxmlformats.org/drawingml/2006/main">
            <a:off x="6153150" y="3114675"/>
            <a:ext cx="5124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65" b="1">
                <a:solidFill>
                  <a:srgbClr val="20B7C5"/>
                </a:solidFill>
                <a:latin typeface="Consolas"/>
                <a:ea typeface="Consolas"/>
                <a:cs typeface="Consolas"/>
              </a:defRPr>
            </a:pPr>
            <a:r>
              <a:rPr sz="1065" b="1">
                <a:solidFill>
                  <a:srgbClr val="20B7C5"/>
                </a:solidFill>
                <a:latin typeface="Consolas"/>
                <a:ea typeface="Consolas"/>
                <a:cs typeface="Consolas"/>
              </a:rPr>
              <a:t>t(s)   q_cmd   N   V   expected   active</a:t>
            </a:r>
          </a:p>
        </p:txBody>
      </p:sp>
      <p:sp>
        <p:nvSpPr>
          <p:cNvPr id="44" name="s30-table-line">
            <a:extLst xmlns:a="http://schemas.openxmlformats.org/drawingml/2006/main">
              <a:ext uri="{FF2B5EF4-FFF2-40B4-BE49-F238E27FC236}">
                <a16:creationId xmlns:a16="http://schemas.microsoft.com/office/drawing/2014/main" id="{8FDBF8AC-5806-47EC-86E6-E5FB8B3458F0}"/>
              </a:ext>
            </a:extLst>
          </p:cNvPr>
          <p:cNvSpPr>
            <a:spLocks xmlns:a="http://schemas.openxmlformats.org/drawingml/2006/main" noGrp="1"/>
          </p:cNvSpPr>
          <p:nvPr/>
        </p:nvSpPr>
        <p:spPr>
          <a:xfrm xmlns:a="http://schemas.openxmlformats.org/drawingml/2006/main">
            <a:off x="6153150" y="3409950"/>
            <a:ext cx="5124450" cy="0"/>
          </a:xfrm>
          <a:prstGeom xmlns:a="http://schemas.openxmlformats.org/drawingml/2006/main" prst="line">
            <a:avLst/>
          </a:prstGeom>
          <a:noFill xmlns:a="http://schemas.openxmlformats.org/drawingml/2006/main"/>
          <a:ln xmlns:a="http://schemas.openxmlformats.org/drawingml/2006/main" w="9525">
            <a:solidFill>
              <a:srgbClr val="7D91A0"/>
            </a:solidFill>
            <a:prstDash val="solid"/>
          </a:ln>
        </p:spPr>
      </p:sp>
      <p:sp>
        <p:nvSpPr>
          <p:cNvPr id="45" name="s30-table-rows">
            <a:extLst xmlns:a="http://schemas.openxmlformats.org/drawingml/2006/main">
              <a:ext uri="{FF2B5EF4-FFF2-40B4-BE49-F238E27FC236}">
                <a16:creationId xmlns:a16="http://schemas.microsoft.com/office/drawing/2014/main" id="{AEE5F2E5-CDC6-4E82-AA0A-A3EAD4D50B65}"/>
              </a:ext>
            </a:extLst>
          </p:cNvPr>
          <p:cNvSpPr>
            <a:spLocks xmlns:a="http://schemas.openxmlformats.org/drawingml/2006/main" noGrp="1"/>
          </p:cNvSpPr>
          <p:nvPr/>
        </p:nvSpPr>
        <p:spPr>
          <a:xfrm xmlns:a="http://schemas.openxmlformats.org/drawingml/2006/main">
            <a:off x="6153150" y="3505200"/>
            <a:ext cx="51244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25" b="1">
                <a:solidFill>
                  <a:srgbClr val="FFFFFF"/>
                </a:solidFill>
                <a:latin typeface="Consolas"/>
                <a:ea typeface="Consolas"/>
                <a:cs typeface="Consolas"/>
              </a:defRPr>
            </a:pPr>
            <a:r>
              <a:rPr sz="1125" b="1">
                <a:solidFill>
                  <a:srgbClr val="FFFFFF"/>
                </a:solidFill>
                <a:latin typeface="Consolas"/>
                <a:ea typeface="Consolas"/>
                <a:cs typeface="Consolas"/>
              </a:rPr>
              <a:t>0.12   +12.0   1   1     +12.0      0</a:t>
            </a:r>
          </a:p>
          <a:p xmlns:a="http://schemas.openxmlformats.org/drawingml/2006/main">
            <a:r>
              <a:t/>
            </a:r>
          </a:p>
          <a:p xmlns:a="http://schemas.openxmlformats.org/drawingml/2006/main">
            <a:pPr algn="l">
              <a:buNone/>
              <a:defRPr sz="1125" b="1">
                <a:solidFill>
                  <a:srgbClr val="FFFFFF"/>
                </a:solidFill>
                <a:latin typeface="Consolas"/>
                <a:ea typeface="Consolas"/>
                <a:cs typeface="Consolas"/>
              </a:defRPr>
            </a:pPr>
            <a:r>
              <a:rPr sz="1125" b="1">
                <a:solidFill>
                  <a:srgbClr val="FFFFFF"/>
                </a:solidFill>
                <a:latin typeface="Consolas"/>
                <a:ea typeface="Consolas"/>
                <a:cs typeface="Consolas"/>
              </a:rPr>
              <a:t>0.14   +12.1   1   1     +12.0      1</a:t>
            </a:r>
          </a:p>
          <a:p xmlns:a="http://schemas.openxmlformats.org/drawingml/2006/main">
            <a:r>
              <a:t/>
            </a:r>
          </a:p>
          <a:p xmlns:a="http://schemas.openxmlformats.org/drawingml/2006/main">
            <a:pPr algn="l">
              <a:buNone/>
              <a:defRPr sz="1125" b="1">
                <a:solidFill>
                  <a:srgbClr val="FFFFFF"/>
                </a:solidFill>
                <a:latin typeface="Consolas"/>
                <a:ea typeface="Consolas"/>
                <a:cs typeface="Consolas"/>
              </a:defRPr>
            </a:pPr>
            <a:r>
              <a:rPr sz="1125" b="1">
                <a:solidFill>
                  <a:srgbClr val="FFFFFF"/>
                </a:solidFill>
                <a:latin typeface="Consolas"/>
                <a:ea typeface="Consolas"/>
                <a:cs typeface="Consolas"/>
              </a:rPr>
              <a:t>0.20    +8.0   1   0       0.0      0</a:t>
            </a:r>
          </a:p>
        </p:txBody>
      </p:sp>
      <p:sp>
        <p:nvSpPr>
          <p:cNvPr id="46" name="s30-table-key">
            <a:extLst xmlns:a="http://schemas.openxmlformats.org/drawingml/2006/main">
              <a:ext uri="{FF2B5EF4-FFF2-40B4-BE49-F238E27FC236}">
                <a16:creationId xmlns:a16="http://schemas.microsoft.com/office/drawing/2014/main" id="{230C983B-A728-4E6D-BBFC-DB8A78CBDBF8}"/>
              </a:ext>
            </a:extLst>
          </p:cNvPr>
          <p:cNvSpPr>
            <a:spLocks xmlns:a="http://schemas.openxmlformats.org/drawingml/2006/main" noGrp="1"/>
          </p:cNvSpPr>
          <p:nvPr/>
        </p:nvSpPr>
        <p:spPr>
          <a:xfrm xmlns:a="http://schemas.openxmlformats.org/drawingml/2006/main">
            <a:off x="6153150" y="4762500"/>
            <a:ext cx="512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7D91A0"/>
                </a:solidFill>
                <a:latin typeface="Aptos"/>
                <a:ea typeface="Aptos"/>
                <a:cs typeface="Aptos"/>
              </a:defRPr>
            </a:pPr>
            <a:r>
              <a:rPr sz="960" b="1">
                <a:solidFill>
                  <a:srgbClr val="7D91A0"/>
                </a:solidFill>
                <a:latin typeface="Aptos"/>
                <a:ea typeface="Aptos"/>
                <a:cs typeface="Aptos"/>
              </a:rPr>
              <a:t>N = Normal mode  •  V = Input valid</a:t>
            </a:r>
          </a:p>
        </p:txBody>
      </p:sp>
      <p:sp>
        <p:nvSpPr>
          <p:cNvPr id="47" name="s30-boundary">
            <a:extLst xmlns:a="http://schemas.openxmlformats.org/drawingml/2006/main">
              <a:ext uri="{FF2B5EF4-FFF2-40B4-BE49-F238E27FC236}">
                <a16:creationId xmlns:a16="http://schemas.microsoft.com/office/drawing/2014/main" id="{D6C56D79-A050-414A-8353-6D3C9AF6150E}"/>
              </a:ext>
            </a:extLst>
          </p:cNvPr>
          <p:cNvSpPr>
            <a:spLocks xmlns:a="http://schemas.openxmlformats.org/drawingml/2006/main" noGrp="1"/>
          </p:cNvSpPr>
          <p:nvPr/>
        </p:nvSpPr>
        <p:spPr>
          <a:xfrm xmlns:a="http://schemas.openxmlformats.org/drawingml/2006/main">
            <a:off x="685800" y="5448300"/>
            <a:ext cx="10820400" cy="647700"/>
          </a:xfrm>
          <a:prstGeom xmlns:a="http://schemas.openxmlformats.org/drawingml/2006/main" prst="roundRect">
            <a:avLst>
              <a:gd name="adj" fmla="val 17647"/>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ONE 0.36 s DESKTOP-MIL RUN  •  19 ASSESSED SAMPLE TIMES  •  NO STANDALONE STIMULUS CSV  •  NO TEST MANAGER SUITE</a:t>
            </a:r>
          </a:p>
        </p:txBody>
      </p:sp>
    </p:spTree>
    <p:extLst>
      <p:ext uri="{BB962C8B-B14F-4D97-AF65-F5344CB8AC3E}">
        <p14:creationId xmlns:p14="http://schemas.microsoft.com/office/powerpoint/2010/main" val="445827379"/>
      </p:ext>
    </p:extLst>
  </p:cSld>
</p:sld>
</file>

<file path=ppt/slides/slide2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The harness sits inside a controlled relative-file flow</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41</a:t>
            </a:r>
          </a:p>
        </p:txBody>
      </p:sp>
    </p:spTree>
    <p:extLst>
      <p:ext uri="{BB962C8B-B14F-4D97-AF65-F5344CB8AC3E}">
        <p14:creationId xmlns:p14="http://schemas.microsoft.com/office/powerpoint/2010/main" val="445827379"/>
      </p:ext>
    </p:extLst>
  </p:cSld>
</p:sld>
</file>

<file path=ppt/slides/slide2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HARNESS DEMO</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663" b="1" i="0">
                <a:solidFill>
                  <a:srgbClr val="FFFFFF"/>
                </a:solidFill>
                <a:latin typeface="Aptos"/>
                <a:ea typeface="Aptos"/>
                <a:cs typeface="Aptos"/>
              </a:defRPr>
            </a:pPr>
            <a:r>
              <a:rPr sz="2663" b="1" i="0">
                <a:solidFill>
                  <a:srgbClr val="FFFFFF"/>
                </a:solidFill>
                <a:latin typeface="Aptos"/>
                <a:ea typeface="Aptos"/>
                <a:cs typeface="Aptos"/>
              </a:rPr>
              <a:t>In the harness, Ctrl+D validates the diagram; Ctrl+B crosses into build</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31</a:t>
            </a:r>
          </a:p>
        </p:txBody>
      </p:sp>
    </p:spTree>
    <p:extLst>
      <p:ext uri="{BB962C8B-B14F-4D97-AF65-F5344CB8AC3E}">
        <p14:creationId xmlns:p14="http://schemas.microsoft.com/office/powerpoint/2010/main" val="1612514186"/>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BUILD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The retained top-level GRT build creates a traceable file tree</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32</a:t>
            </a:r>
          </a:p>
        </p:txBody>
      </p:sp>
    </p:spTree>
    <p:extLst>
      <p:ext uri="{BB962C8B-B14F-4D97-AF65-F5344CB8AC3E}">
        <p14:creationId xmlns:p14="http://schemas.microsoft.com/office/powerpoint/2010/main" val="354341949"/>
      </p:ext>
    </p:extLst>
  </p:cSld>
</p:sld>
</file>

<file path=ppt/slides/slide2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33</a:t>
            </a:r>
          </a:p>
        </p:txBody>
      </p:sp>
      <p:sp>
        <p:nvSpPr>
          <p:cNvPr id="35" name="s33-frame">
            <a:extLst xmlns:a="http://schemas.openxmlformats.org/drawingml/2006/main">
              <a:ext uri="{FF2B5EF4-FFF2-40B4-BE49-F238E27FC236}">
                <a16:creationId xmlns:a16="http://schemas.microsoft.com/office/drawing/2014/main" id="{C205B5F8-CA73-49C2-B9A7-398EAB6B0816}"/>
              </a:ext>
            </a:extLst>
          </p:cNvPr>
          <p:cNvSpPr>
            <a:spLocks xmlns:a="http://schemas.openxmlformats.org/drawingml/2006/main" noGrp="1"/>
          </p:cNvSpPr>
          <p:nvPr/>
        </p:nvSpPr>
        <p:spPr>
          <a:xfrm xmlns:a="http://schemas.openxmlformats.org/drawingml/2006/main">
            <a:off x="609600" y="1400175"/>
            <a:ext cx="786765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3335">
            <a:solidFill>
              <a:srgbClr val="C9D8E3"/>
            </a:solidFill>
            <a:prstDash val="solid"/>
          </a:ln>
        </p:spPr>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6ce8738c803c4cba"/>
          <a:stretch xmlns:a="http://schemas.openxmlformats.org/drawingml/2006/main"/>
        </p:blipFill>
        <p:spPr>
          <a:xfrm xmlns:a="http://schemas.openxmlformats.org/drawingml/2006/main">
            <a:off x="685800" y="1584127"/>
            <a:ext cx="7715250" cy="4146947"/>
          </a:xfrm>
          <a:prstGeom xmlns:a="http://schemas.openxmlformats.org/drawingml/2006/main" prst="rect">
            <a:avLst/>
          </a:prstGeom>
        </p:spPr>
      </p:pic>
      <p:sp>
        <p:nvSpPr>
          <p:cNvPr id="37" name="s33-card">
            <a:extLst xmlns:a="http://schemas.openxmlformats.org/drawingml/2006/main">
              <a:ext uri="{FF2B5EF4-FFF2-40B4-BE49-F238E27FC236}">
                <a16:creationId xmlns:a16="http://schemas.microsoft.com/office/drawing/2014/main" id="{50858869-FE31-46BF-B9D0-ACEE663855AA}"/>
              </a:ext>
            </a:extLst>
          </p:cNvPr>
          <p:cNvSpPr>
            <a:spLocks xmlns:a="http://schemas.openxmlformats.org/drawingml/2006/main" noGrp="1"/>
          </p:cNvSpPr>
          <p:nvPr/>
        </p:nvSpPr>
        <p:spPr>
          <a:xfrm xmlns:a="http://schemas.openxmlformats.org/drawingml/2006/main">
            <a:off x="8705850" y="1409700"/>
            <a:ext cx="2800350" cy="4514850"/>
          </a:xfrm>
          <a:prstGeom xmlns:a="http://schemas.openxmlformats.org/drawingml/2006/main" prst="roundRect">
            <a:avLst>
              <a:gd name="adj" fmla="val 4082"/>
            </a:avLst>
          </a:prstGeom>
          <a:solidFill xmlns:a="http://schemas.openxmlformats.org/drawingml/2006/main">
            <a:srgbClr val="DFF6F8"/>
          </a:solidFill>
          <a:ln xmlns:a="http://schemas.openxmlformats.org/drawingml/2006/main" w="15240">
            <a:solidFill>
              <a:srgbClr val="20B7C5"/>
            </a:solidFill>
            <a:prstDash val="solid"/>
          </a:ln>
        </p:spPr>
      </p:sp>
      <p:sp>
        <p:nvSpPr>
          <p:cNvPr id="38" name="s33-card-title">
            <a:extLst xmlns:a="http://schemas.openxmlformats.org/drawingml/2006/main">
              <a:ext uri="{FF2B5EF4-FFF2-40B4-BE49-F238E27FC236}">
                <a16:creationId xmlns:a16="http://schemas.microsoft.com/office/drawing/2014/main" id="{3CCF9634-B611-4070-8586-9835A17421D1}"/>
              </a:ext>
            </a:extLst>
          </p:cNvPr>
          <p:cNvSpPr>
            <a:spLocks xmlns:a="http://schemas.openxmlformats.org/drawingml/2006/main" noGrp="1"/>
          </p:cNvSpPr>
          <p:nvPr/>
        </p:nvSpPr>
        <p:spPr>
          <a:xfrm xmlns:a="http://schemas.openxmlformats.org/drawingml/2006/main">
            <a:off x="8896350" y="1581150"/>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SAVED REFERENCE</a:t>
            </a:r>
          </a:p>
        </p:txBody>
      </p:sp>
      <p:sp>
        <p:nvSpPr>
          <p:cNvPr id="39" name="s33-card-kpi">
            <a:extLst xmlns:a="http://schemas.openxmlformats.org/drawingml/2006/main">
              <a:ext uri="{FF2B5EF4-FFF2-40B4-BE49-F238E27FC236}">
                <a16:creationId xmlns:a16="http://schemas.microsoft.com/office/drawing/2014/main" id="{69556A3B-25C5-40C7-BD32-C06E72044515}"/>
              </a:ext>
            </a:extLst>
          </p:cNvPr>
          <p:cNvSpPr>
            <a:spLocks xmlns:a="http://schemas.openxmlformats.org/drawingml/2006/main" noGrp="1"/>
          </p:cNvSpPr>
          <p:nvPr/>
        </p:nvSpPr>
        <p:spPr>
          <a:xfrm xmlns:a="http://schemas.openxmlformats.org/drawingml/2006/main">
            <a:off x="8896350" y="2057400"/>
            <a:ext cx="24193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1 RUN</a:t>
            </a:r>
          </a:p>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5 SIGNALS</a:t>
            </a:r>
          </a:p>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3 PLOTS</a:t>
            </a:r>
          </a:p>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1001 POINTS / SIGNAL</a:t>
            </a:r>
          </a:p>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0.02 s SPACING</a:t>
            </a:r>
          </a:p>
        </p:txBody>
      </p:sp>
      <p:sp>
        <p:nvSpPr>
          <p:cNvPr id="40" name="s33-rule">
            <a:extLst xmlns:a="http://schemas.openxmlformats.org/drawingml/2006/main">
              <a:ext uri="{FF2B5EF4-FFF2-40B4-BE49-F238E27FC236}">
                <a16:creationId xmlns:a16="http://schemas.microsoft.com/office/drawing/2014/main" id="{A9CC027A-8FAE-403F-9054-8BE13D1CE126}"/>
              </a:ext>
            </a:extLst>
          </p:cNvPr>
          <p:cNvSpPr>
            <a:spLocks xmlns:a="http://schemas.openxmlformats.org/drawingml/2006/main" noGrp="1"/>
          </p:cNvSpPr>
          <p:nvPr/>
        </p:nvSpPr>
        <p:spPr>
          <a:xfrm xmlns:a="http://schemas.openxmlformats.org/drawingml/2006/main">
            <a:off x="8972550" y="3676650"/>
            <a:ext cx="2266950" cy="0"/>
          </a:xfrm>
          <a:prstGeom xmlns:a="http://schemas.openxmlformats.org/drawingml/2006/main" prst="line">
            <a:avLst/>
          </a:prstGeom>
          <a:noFill xmlns:a="http://schemas.openxmlformats.org/drawingml/2006/main"/>
          <a:ln xmlns:a="http://schemas.openxmlformats.org/drawingml/2006/main" w="11430">
            <a:solidFill>
              <a:srgbClr val="20B7C5"/>
            </a:solidFill>
            <a:prstDash val="solid"/>
          </a:ln>
        </p:spPr>
      </p:sp>
      <p:sp>
        <p:nvSpPr>
          <p:cNvPr id="41" name="s33-card-body">
            <a:extLst xmlns:a="http://schemas.openxmlformats.org/drawingml/2006/main">
              <a:ext uri="{FF2B5EF4-FFF2-40B4-BE49-F238E27FC236}">
                <a16:creationId xmlns:a16="http://schemas.microsoft.com/office/drawing/2014/main" id="{8D0571EA-2B38-46E3-80DA-0E8DB47D6B3D}"/>
              </a:ext>
            </a:extLst>
          </p:cNvPr>
          <p:cNvSpPr>
            <a:spLocks xmlns:a="http://schemas.openxmlformats.org/drawingml/2006/main" noGrp="1"/>
          </p:cNvSpPr>
          <p:nvPr/>
        </p:nvSpPr>
        <p:spPr>
          <a:xfrm xmlns:a="http://schemas.openxmlformats.org/drawingml/2006/main">
            <a:off x="8896350" y="3838575"/>
            <a:ext cx="24193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17324A"/>
                </a:solidFill>
                <a:latin typeface="Aptos"/>
                <a:ea typeface="Aptos"/>
                <a:cs typeface="Aptos"/>
              </a:defRPr>
            </a:pPr>
            <a:r>
              <a:rPr sz="1065" b="1">
                <a:solidFill>
                  <a:srgbClr val="17324A"/>
                </a:solidFill>
                <a:latin typeface="Aptos"/>
                <a:ea typeface="Aptos"/>
                <a:cs typeface="Aptos"/>
              </a:rPr>
              <a:t>View = layout / styling</a:t>
            </a:r>
          </a:p>
          <a:p xmlns:a="http://schemas.openxmlformats.org/drawingml/2006/main">
            <a:pPr algn="ctr">
              <a:buNone/>
              <a:defRPr sz="1065" b="1">
                <a:solidFill>
                  <a:srgbClr val="17324A"/>
                </a:solidFill>
                <a:latin typeface="Aptos"/>
                <a:ea typeface="Aptos"/>
                <a:cs typeface="Aptos"/>
              </a:defRPr>
            </a:pPr>
            <a:r>
              <a:rPr sz="1065" b="1">
                <a:solidFill>
                  <a:srgbClr val="17324A"/>
                </a:solidFill>
                <a:latin typeface="Aptos"/>
                <a:ea typeface="Aptos"/>
                <a:cs typeface="Aptos"/>
              </a:rPr>
              <a:t>Session = retained signal data</a:t>
            </a:r>
          </a:p>
          <a:p xmlns:a="http://schemas.openxmlformats.org/drawingml/2006/main">
            <a:r>
              <a:t/>
            </a:r>
          </a:p>
          <a:p xmlns:a="http://schemas.openxmlformats.org/drawingml/2006/main">
            <a:pPr algn="ctr">
              <a:buNone/>
              <a:defRPr sz="1065" b="1">
                <a:solidFill>
                  <a:srgbClr val="17324A"/>
                </a:solidFill>
                <a:latin typeface="Aptos"/>
                <a:ea typeface="Aptos"/>
                <a:cs typeface="Aptos"/>
              </a:defRPr>
            </a:pPr>
            <a:r>
              <a:rPr sz="1065" b="1">
                <a:solidFill>
                  <a:srgbClr val="17324A"/>
                </a:solidFill>
                <a:latin typeface="Aptos"/>
                <a:ea typeface="Aptos"/>
                <a:cs typeface="Aptos"/>
              </a:rPr>
              <a:t>Both .mldatx files are SDI artifacts.</a:t>
            </a:r>
          </a:p>
        </p:txBody>
      </p:sp>
      <p:sp>
        <p:nvSpPr>
          <p:cNvPr id="42" name="s33-next">
            <a:extLst xmlns:a="http://schemas.openxmlformats.org/drawingml/2006/main">
              <a:ext uri="{FF2B5EF4-FFF2-40B4-BE49-F238E27FC236}">
                <a16:creationId xmlns:a16="http://schemas.microsoft.com/office/drawing/2014/main" id="{3878013E-7B2C-4FCE-B5CE-5DE6966C6787}"/>
              </a:ext>
            </a:extLst>
          </p:cNvPr>
          <p:cNvSpPr>
            <a:spLocks xmlns:a="http://schemas.openxmlformats.org/drawingml/2006/main" noGrp="1"/>
          </p:cNvSpPr>
          <p:nvPr/>
        </p:nvSpPr>
        <p:spPr>
          <a:xfrm xmlns:a="http://schemas.openxmlformats.org/drawingml/2006/main">
            <a:off x="8896350" y="5143500"/>
            <a:ext cx="24193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65" b="1">
                <a:solidFill>
                  <a:srgbClr val="FFFFFF"/>
                </a:solidFill>
                <a:latin typeface="Aptos"/>
                <a:ea typeface="Aptos"/>
                <a:cs typeface="Aptos"/>
              </a:defRPr>
            </a:pPr>
            <a:r>
              <a:rPr sz="1065" b="1">
                <a:solidFill>
                  <a:srgbClr val="FFFFFF"/>
                </a:solidFill>
                <a:latin typeface="Aptos"/>
                <a:ea typeface="Aptos"/>
                <a:cs typeface="Aptos"/>
              </a:rPr>
              <a:t>NEXT  →  READ THE CAUSAL STORY</a:t>
            </a:r>
          </a:p>
        </p:txBody>
      </p:sp>
    </p:spTree>
    <p:extLst>
      <p:ext uri="{BB962C8B-B14F-4D97-AF65-F5344CB8AC3E}">
        <p14:creationId xmlns:p14="http://schemas.microsoft.com/office/powerpoint/2010/main" val="354341949"/>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Read the SDI run from command, to error, to control effort</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34</a:t>
            </a:r>
          </a:p>
        </p:txBody>
      </p:sp>
      <p:sp>
        <p:nvSpPr>
          <p:cNvPr id="35" name="s34-frame">
            <a:extLst xmlns:a="http://schemas.openxmlformats.org/drawingml/2006/main">
              <a:ext uri="{FF2B5EF4-FFF2-40B4-BE49-F238E27FC236}">
                <a16:creationId xmlns:a16="http://schemas.microsoft.com/office/drawing/2014/main" id="{584E10A5-E611-401A-AFEA-BF4A4500BF01}"/>
              </a:ext>
            </a:extLst>
          </p:cNvPr>
          <p:cNvSpPr>
            <a:spLocks xmlns:a="http://schemas.openxmlformats.org/drawingml/2006/main" noGrp="1"/>
          </p:cNvSpPr>
          <p:nvPr/>
        </p:nvSpPr>
        <p:spPr>
          <a:xfrm xmlns:a="http://schemas.openxmlformats.org/drawingml/2006/main">
            <a:off x="609600" y="1428750"/>
            <a:ext cx="7524750" cy="4171950"/>
          </a:xfrm>
          <a:prstGeom xmlns:a="http://schemas.openxmlformats.org/drawingml/2006/main" prst="roundRect">
            <a:avLst>
              <a:gd name="adj" fmla="val 2740"/>
            </a:avLst>
          </a:prstGeom>
          <a:solidFill xmlns:a="http://schemas.openxmlformats.org/drawingml/2006/main">
            <a:srgbClr val="FFFFFF"/>
          </a:solidFill>
          <a:ln xmlns:a="http://schemas.openxmlformats.org/drawingml/2006/main" w="13335">
            <a:solidFill>
              <a:srgbClr val="C9D8E3"/>
            </a:solidFill>
            <a:prstDash val="solid"/>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f7c9501440d148de"/>
          <a:stretch xmlns:a="http://schemas.openxmlformats.org/drawingml/2006/main"/>
        </p:blipFill>
        <p:spPr>
          <a:xfrm xmlns:a="http://schemas.openxmlformats.org/drawingml/2006/main">
            <a:off x="685800" y="1533406"/>
            <a:ext cx="7372350" cy="3962638"/>
          </a:xfrm>
          <a:prstGeom xmlns:a="http://schemas.openxmlformats.org/drawingml/2006/main" prst="rect">
            <a:avLst/>
          </a:prstGeom>
        </p:spPr>
      </p:pic>
      <p:sp>
        <p:nvSpPr>
          <p:cNvPr id="37" name="s34-card-0">
            <a:extLst xmlns:a="http://schemas.openxmlformats.org/drawingml/2006/main">
              <a:ext uri="{FF2B5EF4-FFF2-40B4-BE49-F238E27FC236}">
                <a16:creationId xmlns:a16="http://schemas.microsoft.com/office/drawing/2014/main" id="{992AACAE-7A97-4C08-A22E-CA5B93086668}"/>
              </a:ext>
            </a:extLst>
          </p:cNvPr>
          <p:cNvSpPr>
            <a:spLocks xmlns:a="http://schemas.openxmlformats.org/drawingml/2006/main" noGrp="1"/>
          </p:cNvSpPr>
          <p:nvPr/>
        </p:nvSpPr>
        <p:spPr>
          <a:xfrm xmlns:a="http://schemas.openxmlformats.org/drawingml/2006/main">
            <a:off x="8362950" y="1428750"/>
            <a:ext cx="314325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15240">
            <a:solidFill>
              <a:srgbClr val="2D6CDF"/>
            </a:solidFill>
            <a:prstDash val="solid"/>
          </a:ln>
        </p:spPr>
      </p:sp>
      <p:sp>
        <p:nvSpPr>
          <p:cNvPr id="38" name="s34-label-0">
            <a:extLst xmlns:a="http://schemas.openxmlformats.org/drawingml/2006/main">
              <a:ext uri="{FF2B5EF4-FFF2-40B4-BE49-F238E27FC236}">
                <a16:creationId xmlns:a16="http://schemas.microsoft.com/office/drawing/2014/main" id="{5C7BAB40-4442-4E64-A9C6-78B746D9EF0E}"/>
              </a:ext>
            </a:extLst>
          </p:cNvPr>
          <p:cNvSpPr>
            <a:spLocks xmlns:a="http://schemas.openxmlformats.org/drawingml/2006/main" noGrp="1"/>
          </p:cNvSpPr>
          <p:nvPr/>
        </p:nvSpPr>
        <p:spPr>
          <a:xfrm xmlns:a="http://schemas.openxmlformats.org/drawingml/2006/main">
            <a:off x="8515350" y="15430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D6CDF"/>
                </a:solidFill>
                <a:latin typeface="Aptos"/>
                <a:ea typeface="Aptos"/>
                <a:cs typeface="Aptos"/>
              </a:defRPr>
            </a:pPr>
            <a:r>
              <a:rPr sz="1163" b="1">
                <a:solidFill>
                  <a:srgbClr val="2D6CDF"/>
                </a:solidFill>
                <a:latin typeface="Aptos"/>
                <a:ea typeface="Aptos"/>
                <a:cs typeface="Aptos"/>
              </a:rPr>
              <a:t>TOP</a:t>
            </a:r>
          </a:p>
        </p:txBody>
      </p:sp>
      <p:sp>
        <p:nvSpPr>
          <p:cNvPr id="39" name="s34-body-0">
            <a:extLst xmlns:a="http://schemas.openxmlformats.org/drawingml/2006/main">
              <a:ext uri="{FF2B5EF4-FFF2-40B4-BE49-F238E27FC236}">
                <a16:creationId xmlns:a16="http://schemas.microsoft.com/office/drawing/2014/main" id="{B591E75B-E241-4CFA-AFE8-4B96B7D0ADD0}"/>
              </a:ext>
            </a:extLst>
          </p:cNvPr>
          <p:cNvSpPr>
            <a:spLocks xmlns:a="http://schemas.openxmlformats.org/drawingml/2006/main" noGrp="1"/>
          </p:cNvSpPr>
          <p:nvPr/>
        </p:nvSpPr>
        <p:spPr>
          <a:xfrm xmlns:a="http://schemas.openxmlformats.org/drawingml/2006/main">
            <a:off x="8515350" y="1809750"/>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command steps + dynamic response + model-logged tracking error</a:t>
            </a:r>
          </a:p>
        </p:txBody>
      </p:sp>
      <p:sp>
        <p:nvSpPr>
          <p:cNvPr id="40" name="s34-card-1">
            <a:extLst xmlns:a="http://schemas.openxmlformats.org/drawingml/2006/main">
              <a:ext uri="{FF2B5EF4-FFF2-40B4-BE49-F238E27FC236}">
                <a16:creationId xmlns:a16="http://schemas.microsoft.com/office/drawing/2014/main" id="{D14CA6E7-D5B5-4A62-A5DD-A1D2C19E994C}"/>
              </a:ext>
            </a:extLst>
          </p:cNvPr>
          <p:cNvSpPr>
            <a:spLocks xmlns:a="http://schemas.openxmlformats.org/drawingml/2006/main" noGrp="1"/>
          </p:cNvSpPr>
          <p:nvPr/>
        </p:nvSpPr>
        <p:spPr>
          <a:xfrm xmlns:a="http://schemas.openxmlformats.org/drawingml/2006/main">
            <a:off x="8362950" y="2733675"/>
            <a:ext cx="314325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15240">
            <a:solidFill>
              <a:srgbClr val="20B7C5"/>
            </a:solidFill>
            <a:prstDash val="solid"/>
          </a:ln>
        </p:spPr>
      </p:sp>
      <p:sp>
        <p:nvSpPr>
          <p:cNvPr id="41" name="s34-label-1">
            <a:extLst xmlns:a="http://schemas.openxmlformats.org/drawingml/2006/main">
              <a:ext uri="{FF2B5EF4-FFF2-40B4-BE49-F238E27FC236}">
                <a16:creationId xmlns:a16="http://schemas.microsoft.com/office/drawing/2014/main" id="{40E63104-E3F0-492F-8574-29E68CC9C7E1}"/>
              </a:ext>
            </a:extLst>
          </p:cNvPr>
          <p:cNvSpPr>
            <a:spLocks xmlns:a="http://schemas.openxmlformats.org/drawingml/2006/main" noGrp="1"/>
          </p:cNvSpPr>
          <p:nvPr/>
        </p:nvSpPr>
        <p:spPr>
          <a:xfrm xmlns:a="http://schemas.openxmlformats.org/drawingml/2006/main">
            <a:off x="8515350" y="2847975"/>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MIDDLE</a:t>
            </a:r>
          </a:p>
        </p:txBody>
      </p:sp>
      <p:sp>
        <p:nvSpPr>
          <p:cNvPr id="42" name="s34-body-1">
            <a:extLst xmlns:a="http://schemas.openxmlformats.org/drawingml/2006/main">
              <a:ext uri="{FF2B5EF4-FFF2-40B4-BE49-F238E27FC236}">
                <a16:creationId xmlns:a16="http://schemas.microsoft.com/office/drawing/2014/main" id="{4DCB5626-53AA-49B0-BA09-1FF12BE05CFA}"/>
              </a:ext>
            </a:extLst>
          </p:cNvPr>
          <p:cNvSpPr>
            <a:spLocks xmlns:a="http://schemas.openxmlformats.org/drawingml/2006/main" noGrp="1"/>
          </p:cNvSpPr>
          <p:nvPr/>
        </p:nvSpPr>
        <p:spPr>
          <a:xfrm xmlns:a="http://schemas.openxmlformats.org/drawingml/2006/main">
            <a:off x="8515350" y="3114675"/>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logged error alone: jumps, decay, and overshoot become legible</a:t>
            </a:r>
          </a:p>
        </p:txBody>
      </p:sp>
      <p:sp>
        <p:nvSpPr>
          <p:cNvPr id="43" name="s34-card-2">
            <a:extLst xmlns:a="http://schemas.openxmlformats.org/drawingml/2006/main">
              <a:ext uri="{FF2B5EF4-FFF2-40B4-BE49-F238E27FC236}">
                <a16:creationId xmlns:a16="http://schemas.microsoft.com/office/drawing/2014/main" id="{0681AF6B-F714-4551-9F40-3A780452D6B5}"/>
              </a:ext>
            </a:extLst>
          </p:cNvPr>
          <p:cNvSpPr>
            <a:spLocks xmlns:a="http://schemas.openxmlformats.org/drawingml/2006/main" noGrp="1"/>
          </p:cNvSpPr>
          <p:nvPr/>
        </p:nvSpPr>
        <p:spPr>
          <a:xfrm xmlns:a="http://schemas.openxmlformats.org/drawingml/2006/main">
            <a:off x="8362950" y="4038600"/>
            <a:ext cx="314325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15240">
            <a:solidFill>
              <a:srgbClr val="E9A23B"/>
            </a:solidFill>
            <a:prstDash val="solid"/>
          </a:ln>
        </p:spPr>
      </p:sp>
      <p:sp>
        <p:nvSpPr>
          <p:cNvPr id="44" name="s34-label-2">
            <a:extLst xmlns:a="http://schemas.openxmlformats.org/drawingml/2006/main">
              <a:ext uri="{FF2B5EF4-FFF2-40B4-BE49-F238E27FC236}">
                <a16:creationId xmlns:a16="http://schemas.microsoft.com/office/drawing/2014/main" id="{DE6427F0-B6D1-424C-9B64-9F3D4E4A9594}"/>
              </a:ext>
            </a:extLst>
          </p:cNvPr>
          <p:cNvSpPr>
            <a:spLocks xmlns:a="http://schemas.openxmlformats.org/drawingml/2006/main" noGrp="1"/>
          </p:cNvSpPr>
          <p:nvPr/>
        </p:nvSpPr>
        <p:spPr>
          <a:xfrm xmlns:a="http://schemas.openxmlformats.org/drawingml/2006/main">
            <a:off x="8515350" y="415290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E9A23B"/>
                </a:solidFill>
                <a:latin typeface="Aptos"/>
                <a:ea typeface="Aptos"/>
                <a:cs typeface="Aptos"/>
              </a:defRPr>
            </a:pPr>
            <a:r>
              <a:rPr sz="1163" b="1">
                <a:solidFill>
                  <a:srgbClr val="E9A23B"/>
                </a:solidFill>
                <a:latin typeface="Aptos"/>
                <a:ea typeface="Aptos"/>
                <a:cs typeface="Aptos"/>
              </a:rPr>
              <a:t>BOTTOM</a:t>
            </a:r>
          </a:p>
        </p:txBody>
      </p:sp>
      <p:sp>
        <p:nvSpPr>
          <p:cNvPr id="45" name="s34-body-2">
            <a:extLst xmlns:a="http://schemas.openxmlformats.org/drawingml/2006/main">
              <a:ext uri="{FF2B5EF4-FFF2-40B4-BE49-F238E27FC236}">
                <a16:creationId xmlns:a16="http://schemas.microsoft.com/office/drawing/2014/main" id="{907244CD-FCEE-4D08-A0D5-A85AE7512C04}"/>
              </a:ext>
            </a:extLst>
          </p:cNvPr>
          <p:cNvSpPr>
            <a:spLocks xmlns:a="http://schemas.openxmlformats.org/drawingml/2006/main" noGrp="1"/>
          </p:cNvSpPr>
          <p:nvPr/>
        </p:nvSpPr>
        <p:spPr>
          <a:xfrm xmlns:a="http://schemas.openxmlformats.org/drawingml/2006/main">
            <a:off x="8515350" y="4419600"/>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actuator effort beside disturbance timing: correlate cause and response</a:t>
            </a:r>
          </a:p>
        </p:txBody>
      </p:sp>
      <p:sp>
        <p:nvSpPr>
          <p:cNvPr id="46" name="s34-footer">
            <a:extLst xmlns:a="http://schemas.openxmlformats.org/drawingml/2006/main">
              <a:ext uri="{FF2B5EF4-FFF2-40B4-BE49-F238E27FC236}">
                <a16:creationId xmlns:a16="http://schemas.microsoft.com/office/drawing/2014/main" id="{5F9E8FCA-B72B-46F7-A398-49EB83568BA1}"/>
              </a:ext>
            </a:extLst>
          </p:cNvPr>
          <p:cNvSpPr>
            <a:spLocks xmlns:a="http://schemas.openxmlformats.org/drawingml/2006/main" noGrp="1"/>
          </p:cNvSpPr>
          <p:nvPr/>
        </p:nvSpPr>
        <p:spPr>
          <a:xfrm xmlns:a="http://schemas.openxmlformats.org/drawingml/2006/main">
            <a:off x="685800" y="5772150"/>
            <a:ext cx="10820400" cy="419100"/>
          </a:xfrm>
          <a:prstGeom xmlns:a="http://schemas.openxmlformats.org/drawingml/2006/main" prst="roundRect">
            <a:avLst>
              <a:gd name="adj" fmla="val 27273"/>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20" b="1">
                <a:solidFill>
                  <a:srgbClr val="071521"/>
                </a:solidFill>
                <a:latin typeface="Aptos"/>
                <a:ea typeface="Aptos"/>
                <a:cs typeface="Aptos"/>
              </a:defRPr>
            </a:pPr>
            <a:r>
              <a:rPr sz="1020" b="1">
                <a:solidFill>
                  <a:srgbClr val="071521"/>
                </a:solidFill>
                <a:latin typeface="Aptos"/>
                <a:ea typeface="Aptos"/>
                <a:cs typeface="Aptos"/>
              </a:rPr>
              <a:t>BOTTOM PLOT MIXES UNITS  •  actuator: deg  •  disturbance: deg/s²  •  compare timing/trend, not vertical magnitude</a:t>
            </a:r>
          </a:p>
        </p:txBody>
      </p:sp>
    </p:spTree>
    <p:extLst>
      <p:ext uri="{BB962C8B-B14F-4D97-AF65-F5344CB8AC3E}">
        <p14:creationId xmlns:p14="http://schemas.microsoft.com/office/powerpoint/2010/main" val="354341949"/>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Strong tests target boundaries, modes, failures, and timing</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42</a:t>
            </a:r>
          </a:p>
        </p:txBody>
      </p:sp>
    </p:spTree>
    <p:extLst>
      <p:ext uri="{BB962C8B-B14F-4D97-AF65-F5344CB8AC3E}">
        <p14:creationId xmlns:p14="http://schemas.microsoft.com/office/powerpoint/2010/main" val="415732081"/>
      </p:ext>
    </p:extLst>
  </p:cSld>
</p:sld>
</file>

<file path=ppt/slides/slide2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The harness sits inside a controlled relative-file flow</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41</a:t>
            </a:r>
          </a:p>
        </p:txBody>
      </p:sp>
    </p:spTree>
    <p:extLst>
      <p:ext uri="{BB962C8B-B14F-4D97-AF65-F5344CB8AC3E}">
        <p14:creationId xmlns:p14="http://schemas.microsoft.com/office/powerpoint/2010/main" val="445827379"/>
      </p:ext>
    </p:extLst>
  </p:cSld>
</p:sld>
</file>

<file path=ppt/slides/slide2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The limiter suite retains 19 passing assessments</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43</a:t>
            </a:r>
          </a:p>
        </p:txBody>
      </p:sp>
      <p:sp>
        <p:nvSpPr>
          <p:cNvPr id="27" name="s43-frame">
            <a:extLst xmlns:a="http://schemas.openxmlformats.org/drawingml/2006/main">
              <a:ext uri="{FF2B5EF4-FFF2-40B4-BE49-F238E27FC236}">
                <a16:creationId xmlns:a16="http://schemas.microsoft.com/office/drawing/2014/main" id="{EA3E4B37-D34D-432C-8390-C57CAF57B300}"/>
              </a:ext>
            </a:extLst>
          </p:cNvPr>
          <p:cNvSpPr>
            <a:spLocks xmlns:a="http://schemas.openxmlformats.org/drawingml/2006/main" noGrp="1"/>
          </p:cNvSpPr>
          <p:nvPr/>
        </p:nvSpPr>
        <p:spPr>
          <a:xfrm xmlns:a="http://schemas.openxmlformats.org/drawingml/2006/main">
            <a:off x="609600" y="1409700"/>
            <a:ext cx="7715250" cy="428625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11430">
            <a:solidFill>
              <a:srgbClr val="C9D8E3"/>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30fe784755f34bcd"/>
          <a:stretch xmlns:a="http://schemas.openxmlformats.org/drawingml/2006/main"/>
        </p:blipFill>
        <p:spPr>
          <a:xfrm xmlns:a="http://schemas.openxmlformats.org/drawingml/2006/main">
            <a:off x="822674" y="1485900"/>
            <a:ext cx="7289102" cy="4133850"/>
          </a:xfrm>
          <a:prstGeom xmlns:a="http://schemas.openxmlformats.org/drawingml/2006/main" prst="rect">
            <a:avLst/>
          </a:prstGeom>
        </p:spPr>
      </p:pic>
      <p:sp>
        <p:nvSpPr>
          <p:cNvPr id="29" name="s43-kpi">
            <a:extLst xmlns:a="http://schemas.openxmlformats.org/drawingml/2006/main">
              <a:ext uri="{FF2B5EF4-FFF2-40B4-BE49-F238E27FC236}">
                <a16:creationId xmlns:a16="http://schemas.microsoft.com/office/drawing/2014/main" id="{1DF9ACE0-AC0B-4320-AEEA-D695E32C7BBB}"/>
              </a:ext>
            </a:extLst>
          </p:cNvPr>
          <p:cNvSpPr>
            <a:spLocks xmlns:a="http://schemas.openxmlformats.org/drawingml/2006/main" noGrp="1"/>
          </p:cNvSpPr>
          <p:nvPr/>
        </p:nvSpPr>
        <p:spPr>
          <a:xfrm xmlns:a="http://schemas.openxmlformats.org/drawingml/2006/main">
            <a:off x="8553450" y="1409700"/>
            <a:ext cx="2952750" cy="4286250"/>
          </a:xfrm>
          <a:prstGeom xmlns:a="http://schemas.openxmlformats.org/drawingml/2006/main" prst="roundRect">
            <a:avLst>
              <a:gd name="adj" fmla="val 3871"/>
            </a:avLst>
          </a:prstGeom>
          <a:solidFill xmlns:a="http://schemas.openxmlformats.org/drawingml/2006/main">
            <a:srgbClr val="0C2133"/>
          </a:solidFill>
          <a:ln xmlns:a="http://schemas.openxmlformats.org/drawingml/2006/main" w="17145">
            <a:solidFill>
              <a:srgbClr val="2CA56F"/>
            </a:solidFill>
            <a:prstDash val="solid"/>
          </a:ln>
        </p:spPr>
      </p:sp>
      <p:sp>
        <p:nvSpPr>
          <p:cNvPr id="30" name="s43-value">
            <a:extLst xmlns:a="http://schemas.openxmlformats.org/drawingml/2006/main">
              <a:ext uri="{FF2B5EF4-FFF2-40B4-BE49-F238E27FC236}">
                <a16:creationId xmlns:a16="http://schemas.microsoft.com/office/drawing/2014/main" id="{ACCE1316-2961-4882-ACE7-BADB1B42BF8E}"/>
              </a:ext>
            </a:extLst>
          </p:cNvPr>
          <p:cNvSpPr>
            <a:spLocks xmlns:a="http://schemas.openxmlformats.org/drawingml/2006/main" noGrp="1"/>
          </p:cNvSpPr>
          <p:nvPr/>
        </p:nvSpPr>
        <p:spPr>
          <a:xfrm xmlns:a="http://schemas.openxmlformats.org/drawingml/2006/main">
            <a:off x="8763000" y="1619250"/>
            <a:ext cx="2533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850" b="1">
                <a:solidFill>
                  <a:srgbClr val="2CA56F"/>
                </a:solidFill>
                <a:latin typeface="Aptos"/>
                <a:ea typeface="Aptos"/>
                <a:cs typeface="Aptos"/>
              </a:defRPr>
            </a:pPr>
            <a:r>
              <a:rPr sz="2850" b="1">
                <a:solidFill>
                  <a:srgbClr val="2CA56F"/>
                </a:solidFill>
                <a:latin typeface="Aptos"/>
                <a:ea typeface="Aptos"/>
                <a:cs typeface="Aptos"/>
              </a:rPr>
              <a:t>19 / 19</a:t>
            </a:r>
          </a:p>
        </p:txBody>
      </p:sp>
      <p:sp>
        <p:nvSpPr>
          <p:cNvPr id="31" name="s43-label">
            <a:extLst xmlns:a="http://schemas.openxmlformats.org/drawingml/2006/main">
              <a:ext uri="{FF2B5EF4-FFF2-40B4-BE49-F238E27FC236}">
                <a16:creationId xmlns:a16="http://schemas.microsoft.com/office/drawing/2014/main" id="{DE3B79B4-4A04-405B-AEA9-6C0ED6C40A35}"/>
              </a:ext>
            </a:extLst>
          </p:cNvPr>
          <p:cNvSpPr>
            <a:spLocks xmlns:a="http://schemas.openxmlformats.org/drawingml/2006/main" noGrp="1"/>
          </p:cNvSpPr>
          <p:nvPr/>
        </p:nvSpPr>
        <p:spPr>
          <a:xfrm xmlns:a="http://schemas.openxmlformats.org/drawingml/2006/main">
            <a:off x="8763000" y="2343150"/>
            <a:ext cx="2533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ASSESSED SAMPLE TIMES</a:t>
            </a:r>
          </a:p>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PASSED</a:t>
            </a:r>
          </a:p>
        </p:txBody>
      </p:sp>
      <p:sp>
        <p:nvSpPr>
          <p:cNvPr id="32" name="s43-facts">
            <a:extLst xmlns:a="http://schemas.openxmlformats.org/drawingml/2006/main">
              <a:ext uri="{FF2B5EF4-FFF2-40B4-BE49-F238E27FC236}">
                <a16:creationId xmlns:a16="http://schemas.microsoft.com/office/drawing/2014/main" id="{38855473-5F69-41DF-A1FA-F4A96B6B18DC}"/>
              </a:ext>
            </a:extLst>
          </p:cNvPr>
          <p:cNvSpPr>
            <a:spLocks xmlns:a="http://schemas.openxmlformats.org/drawingml/2006/main" noGrp="1"/>
          </p:cNvSpPr>
          <p:nvPr/>
        </p:nvSpPr>
        <p:spPr>
          <a:xfrm xmlns:a="http://schemas.openxmlformats.org/drawingml/2006/main">
            <a:off x="8858250" y="3000375"/>
            <a:ext cx="2343150"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one 0.36 s MIL run</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0.02 s point spacing</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0 failed rows</a:t>
            </a:r>
          </a:p>
          <a:p xmlns:a="http://schemas.openxmlformats.org/drawingml/2006/main">
            <a:r>
              <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3 row checks:</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numeric • active • timestamp</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 suite timing copied to rows</a:t>
            </a:r>
          </a:p>
        </p:txBody>
      </p:sp>
      <p:sp>
        <p:nvSpPr>
          <p:cNvPr id="33" name="s43-next">
            <a:extLst xmlns:a="http://schemas.openxmlformats.org/drawingml/2006/main">
              <a:ext uri="{FF2B5EF4-FFF2-40B4-BE49-F238E27FC236}">
                <a16:creationId xmlns:a16="http://schemas.microsoft.com/office/drawing/2014/main" id="{1051C0C8-D748-401C-B4C8-5D824A88BB0D}"/>
              </a:ext>
            </a:extLst>
          </p:cNvPr>
          <p:cNvSpPr>
            <a:spLocks xmlns:a="http://schemas.openxmlformats.org/drawingml/2006/main" noGrp="1"/>
          </p:cNvSpPr>
          <p:nvPr/>
        </p:nvSpPr>
        <p:spPr>
          <a:xfrm xmlns:a="http://schemas.openxmlformats.org/drawingml/2006/main">
            <a:off x="8858250" y="4724400"/>
            <a:ext cx="2343150" cy="666750"/>
          </a:xfrm>
          <a:prstGeom xmlns:a="http://schemas.openxmlformats.org/drawingml/2006/main" prst="roundRect">
            <a:avLst>
              <a:gd name="adj" fmla="val 17143"/>
            </a:avLst>
          </a:prstGeom>
          <a:solidFill xmlns:a="http://schemas.openxmlformats.org/drawingml/2006/main">
            <a:srgbClr val="E2F4EA"/>
          </a:solidFill>
          <a:ln xmlns:a="http://schemas.openxmlformats.org/drawingml/2006/main" w="1333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071521"/>
                </a:solidFill>
                <a:latin typeface="Aptos"/>
                <a:ea typeface="Aptos"/>
                <a:cs typeface="Aptos"/>
              </a:defRPr>
            </a:pPr>
            <a:r>
              <a:rPr sz="1088" b="1">
                <a:solidFill>
                  <a:srgbClr val="071521"/>
                </a:solidFill>
                <a:latin typeface="Aptos"/>
                <a:ea typeface="Aptos"/>
                <a:cs typeface="Aptos"/>
              </a:rPr>
              <a:t>NEXT  →  READ ALL THREE PANELS</a:t>
            </a:r>
          </a:p>
        </p:txBody>
      </p:sp>
      <p:sp>
        <p:nvSpPr>
          <p:cNvPr id="34" name="s43-footer">
            <a:extLst xmlns:a="http://schemas.openxmlformats.org/drawingml/2006/main">
              <a:ext uri="{FF2B5EF4-FFF2-40B4-BE49-F238E27FC236}">
                <a16:creationId xmlns:a16="http://schemas.microsoft.com/office/drawing/2014/main" id="{D1D6D757-BEB1-4900-8915-9A9771C7B88C}"/>
              </a:ext>
            </a:extLst>
          </p:cNvPr>
          <p:cNvSpPr>
            <a:spLocks xmlns:a="http://schemas.openxmlformats.org/drawingml/2006/main" noGrp="1"/>
          </p:cNvSpPr>
          <p:nvPr/>
        </p:nvSpPr>
        <p:spPr>
          <a:xfrm xmlns:a="http://schemas.openxmlformats.org/drawingml/2006/main">
            <a:off x="685800" y="5810250"/>
            <a:ext cx="10820400" cy="381000"/>
          </a:xfrm>
          <a:prstGeom xmlns:a="http://schemas.openxmlformats.org/drawingml/2006/main" prst="roundRect">
            <a:avLst>
              <a:gd name="adj" fmla="val 30000"/>
            </a:avLst>
          </a:prstGeom>
          <a:solidFill xmlns:a="http://schemas.openxmlformats.org/drawingml/2006/main">
            <a:srgbClr val="0B243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Executable MATLAB assessment of a standalone Simulink harness  •  not 19 independent simulations  •  not Test Manager</a:t>
            </a:r>
          </a:p>
        </p:txBody>
      </p:sp>
    </p:spTree>
    <p:extLst>
      <p:ext uri="{BB962C8B-B14F-4D97-AF65-F5344CB8AC3E}">
        <p14:creationId xmlns:p14="http://schemas.microsoft.com/office/powerpoint/2010/main" val="1092961568"/>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Read the 19-case result plot from top to bottom</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44</a:t>
            </a:r>
          </a:p>
        </p:txBody>
      </p:sp>
    </p:spTree>
    <p:extLst>
      <p:ext uri="{BB962C8B-B14F-4D97-AF65-F5344CB8AC3E}">
        <p14:creationId xmlns:p14="http://schemas.microsoft.com/office/powerpoint/2010/main" val="1092961568"/>
      </p:ext>
    </p:extLst>
  </p:cSld>
</p:sld>
</file>

<file path=ppt/slides/slide3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One limiter requirement traces to one executed result</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40</a:t>
            </a:r>
          </a:p>
        </p:txBody>
      </p:sp>
    </p:spTree>
    <p:extLst>
      <p:ext uri="{BB962C8B-B14F-4D97-AF65-F5344CB8AC3E}">
        <p14:creationId xmlns:p14="http://schemas.microsoft.com/office/powerpoint/2010/main" val="2043144866"/>
      </p:ext>
    </p:extLst>
  </p:cSld>
</p:sld>
</file>

<file path=ppt/slides/slide3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FCS_Data.sldd controls shared parameters and interfaces</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46</a:t>
            </a:r>
          </a:p>
        </p:txBody>
      </p:sp>
    </p:spTree>
    <p:extLst>
      <p:ext uri="{BB962C8B-B14F-4D97-AF65-F5344CB8AC3E}">
        <p14:creationId xmlns:p14="http://schemas.microsoft.com/office/powerpoint/2010/main" val="786167458"/>
      </p:ext>
    </p:extLst>
  </p:cSld>
</p:sld>
</file>

<file path=ppt/slides/slide3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Open FCS_Data.sldd, then inspect FlightControlBus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47</a:t>
            </a:r>
          </a:p>
        </p:txBody>
      </p:sp>
    </p:spTree>
    <p:extLst>
      <p:ext uri="{BB962C8B-B14F-4D97-AF65-F5344CB8AC3E}">
        <p14:creationId xmlns:p14="http://schemas.microsoft.com/office/powerpoint/2010/main" val="28635293"/>
      </p:ext>
    </p:extLst>
  </p:cSld>
</p:sld>
</file>

<file path=ppt/slides/slide3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48</a:t>
            </a:r>
          </a:p>
        </p:txBody>
      </p:sp>
    </p:spTree>
    <p:extLst>
      <p:ext uri="{BB962C8B-B14F-4D97-AF65-F5344CB8AC3E}">
        <p14:creationId xmlns:p14="http://schemas.microsoft.com/office/powerpoint/2010/main" val="1772874882"/>
      </p:ext>
    </p:extLst>
  </p:cSld>
</p:sld>
</file>

<file path=ppt/slides/slide3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FFFFFF"/>
                </a:solidFill>
                <a:latin typeface="Aptos"/>
                <a:ea typeface="Aptos"/>
                <a:cs typeface="Aptos"/>
              </a:defRPr>
            </a:pPr>
            <a:r>
              <a:rPr sz="2738" b="1" i="0">
                <a:solidFill>
                  <a:srgbClr val="FFFFFF"/>
                </a:solidFill>
                <a:latin typeface="Aptos"/>
                <a:ea typeface="Aptos"/>
                <a:cs typeface="Aptos"/>
              </a:rPr>
              <a:t>Model Advisor checks the selected component against chosen rules</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12</a:t>
            </a:r>
          </a:p>
        </p:txBody>
      </p:sp>
      <p:sp>
        <p:nvSpPr>
          <p:cNvPr id="28" name="s10-banner">
            <a:extLst xmlns:a="http://schemas.openxmlformats.org/drawingml/2006/main">
              <a:ext uri="{FF2B5EF4-FFF2-40B4-BE49-F238E27FC236}">
                <a16:creationId xmlns:a16="http://schemas.microsoft.com/office/drawing/2014/main" id="{4E12A085-1887-4540-85C7-763DA2DB7D1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WORKFLOW ILLUSTRATED  •  NO RETAINED MODEL ADVISOR RESULT IN THIS PACKAGE</a:t>
            </a:r>
          </a:p>
        </p:txBody>
      </p:sp>
      <p:sp>
        <p:nvSpPr>
          <p:cNvPr id="29" name="s10-step-0">
            <a:extLst xmlns:a="http://schemas.openxmlformats.org/drawingml/2006/main">
              <a:ext uri="{FF2B5EF4-FFF2-40B4-BE49-F238E27FC236}">
                <a16:creationId xmlns:a16="http://schemas.microsoft.com/office/drawing/2014/main" id="{BC779C8E-9964-46A9-86D9-1406336A4699}"/>
              </a:ext>
            </a:extLst>
          </p:cNvPr>
          <p:cNvSpPr>
            <a:spLocks xmlns:a="http://schemas.openxmlformats.org/drawingml/2006/main" noGrp="1"/>
          </p:cNvSpPr>
          <p:nvPr/>
        </p:nvSpPr>
        <p:spPr>
          <a:xfrm xmlns:a="http://schemas.openxmlformats.org/drawingml/2006/main">
            <a:off x="6858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30" name="s10-step-num-0">
            <a:extLst xmlns:a="http://schemas.openxmlformats.org/drawingml/2006/main">
              <a:ext uri="{FF2B5EF4-FFF2-40B4-BE49-F238E27FC236}">
                <a16:creationId xmlns:a16="http://schemas.microsoft.com/office/drawing/2014/main" id="{41E0D853-C1BE-4254-85E4-3F7B60257312}"/>
              </a:ext>
            </a:extLst>
          </p:cNvPr>
          <p:cNvSpPr>
            <a:spLocks xmlns:a="http://schemas.openxmlformats.org/drawingml/2006/main" noGrp="1"/>
          </p:cNvSpPr>
          <p:nvPr/>
        </p:nvSpPr>
        <p:spPr>
          <a:xfrm xmlns:a="http://schemas.openxmlformats.org/drawingml/2006/main">
            <a:off x="8001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01</a:t>
            </a:r>
          </a:p>
        </p:txBody>
      </p:sp>
      <p:sp>
        <p:nvSpPr>
          <p:cNvPr id="31" name="s10-step-title-0">
            <a:extLst xmlns:a="http://schemas.openxmlformats.org/drawingml/2006/main">
              <a:ext uri="{FF2B5EF4-FFF2-40B4-BE49-F238E27FC236}">
                <a16:creationId xmlns:a16="http://schemas.microsoft.com/office/drawing/2014/main" id="{DD72D93D-6D20-434E-B1DA-D9B02F3B5E19}"/>
              </a:ext>
            </a:extLst>
          </p:cNvPr>
          <p:cNvSpPr>
            <a:spLocks xmlns:a="http://schemas.openxmlformats.org/drawingml/2006/main" noGrp="1"/>
          </p:cNvSpPr>
          <p:nvPr/>
        </p:nvSpPr>
        <p:spPr>
          <a:xfrm xmlns:a="http://schemas.openxmlformats.org/drawingml/2006/main">
            <a:off x="8763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SCOPE</a:t>
            </a:r>
          </a:p>
        </p:txBody>
      </p:sp>
      <p:sp>
        <p:nvSpPr>
          <p:cNvPr id="32" name="s10-step-body-0">
            <a:extLst xmlns:a="http://schemas.openxmlformats.org/drawingml/2006/main">
              <a:ext uri="{FF2B5EF4-FFF2-40B4-BE49-F238E27FC236}">
                <a16:creationId xmlns:a16="http://schemas.microsoft.com/office/drawing/2014/main" id="{0EB34A5B-B819-4EC7-9B80-ED1EECF3D02B}"/>
              </a:ext>
            </a:extLst>
          </p:cNvPr>
          <p:cNvSpPr>
            <a:spLocks xmlns:a="http://schemas.openxmlformats.org/drawingml/2006/main" noGrp="1"/>
          </p:cNvSpPr>
          <p:nvPr/>
        </p:nvSpPr>
        <p:spPr>
          <a:xfrm xmlns:a="http://schemas.openxmlformats.org/drawingml/2006/main">
            <a:off x="8382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Modeling &gt; Model Advisor</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Select the exact model or subsystem</a:t>
            </a:r>
          </a:p>
        </p:txBody>
      </p:sp>
      <p:sp>
        <p:nvSpPr>
          <p:cNvPr id="33" name="s10-link-0">
            <a:extLst xmlns:a="http://schemas.openxmlformats.org/drawingml/2006/main">
              <a:ext uri="{FF2B5EF4-FFF2-40B4-BE49-F238E27FC236}">
                <a16:creationId xmlns:a16="http://schemas.microsoft.com/office/drawing/2014/main" id="{277FB47A-A356-4AE8-953C-E91B27B05D5B}"/>
              </a:ext>
            </a:extLst>
          </p:cNvPr>
          <p:cNvSpPr>
            <a:spLocks xmlns:a="http://schemas.openxmlformats.org/drawingml/2006/main" noGrp="1"/>
          </p:cNvSpPr>
          <p:nvPr/>
        </p:nvSpPr>
        <p:spPr>
          <a:xfrm xmlns:a="http://schemas.openxmlformats.org/drawingml/2006/main">
            <a:off x="259080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34" name="s10-step-1">
            <a:extLst xmlns:a="http://schemas.openxmlformats.org/drawingml/2006/main">
              <a:ext uri="{FF2B5EF4-FFF2-40B4-BE49-F238E27FC236}">
                <a16:creationId xmlns:a16="http://schemas.microsoft.com/office/drawing/2014/main" id="{8803BD59-560C-4824-A588-16035823A232}"/>
              </a:ext>
            </a:extLst>
          </p:cNvPr>
          <p:cNvSpPr>
            <a:spLocks xmlns:a="http://schemas.openxmlformats.org/drawingml/2006/main" noGrp="1"/>
          </p:cNvSpPr>
          <p:nvPr/>
        </p:nvSpPr>
        <p:spPr>
          <a:xfrm xmlns:a="http://schemas.openxmlformats.org/drawingml/2006/main">
            <a:off x="291465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35" name="s10-step-num-1">
            <a:extLst xmlns:a="http://schemas.openxmlformats.org/drawingml/2006/main">
              <a:ext uri="{FF2B5EF4-FFF2-40B4-BE49-F238E27FC236}">
                <a16:creationId xmlns:a16="http://schemas.microsoft.com/office/drawing/2014/main" id="{293BE512-AE45-4881-A549-D0C6AD67A32F}"/>
              </a:ext>
            </a:extLst>
          </p:cNvPr>
          <p:cNvSpPr>
            <a:spLocks xmlns:a="http://schemas.openxmlformats.org/drawingml/2006/main" noGrp="1"/>
          </p:cNvSpPr>
          <p:nvPr/>
        </p:nvSpPr>
        <p:spPr>
          <a:xfrm xmlns:a="http://schemas.openxmlformats.org/drawingml/2006/main">
            <a:off x="302895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02</a:t>
            </a:r>
          </a:p>
        </p:txBody>
      </p:sp>
      <p:sp>
        <p:nvSpPr>
          <p:cNvPr id="36" name="s10-step-title-1">
            <a:extLst xmlns:a="http://schemas.openxmlformats.org/drawingml/2006/main">
              <a:ext uri="{FF2B5EF4-FFF2-40B4-BE49-F238E27FC236}">
                <a16:creationId xmlns:a16="http://schemas.microsoft.com/office/drawing/2014/main" id="{D5456776-418A-427C-B054-3D0FA86C672E}"/>
              </a:ext>
            </a:extLst>
          </p:cNvPr>
          <p:cNvSpPr>
            <a:spLocks xmlns:a="http://schemas.openxmlformats.org/drawingml/2006/main" noGrp="1"/>
          </p:cNvSpPr>
          <p:nvPr/>
        </p:nvSpPr>
        <p:spPr>
          <a:xfrm xmlns:a="http://schemas.openxmlformats.org/drawingml/2006/main">
            <a:off x="310515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SELECT</a:t>
            </a:r>
          </a:p>
        </p:txBody>
      </p:sp>
      <p:sp>
        <p:nvSpPr>
          <p:cNvPr id="37" name="s10-step-body-1">
            <a:extLst xmlns:a="http://schemas.openxmlformats.org/drawingml/2006/main">
              <a:ext uri="{FF2B5EF4-FFF2-40B4-BE49-F238E27FC236}">
                <a16:creationId xmlns:a16="http://schemas.microsoft.com/office/drawing/2014/main" id="{97CC7BA2-BC89-4511-BC56-A622692548A6}"/>
              </a:ext>
            </a:extLst>
          </p:cNvPr>
          <p:cNvSpPr>
            <a:spLocks xmlns:a="http://schemas.openxmlformats.org/drawingml/2006/main" noGrp="1"/>
          </p:cNvSpPr>
          <p:nvPr/>
        </p:nvSpPr>
        <p:spPr>
          <a:xfrm xmlns:a="http://schemas.openxmlformats.org/drawingml/2006/main">
            <a:off x="306705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Choose a named check set</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By Product or By Task</a:t>
            </a:r>
          </a:p>
        </p:txBody>
      </p:sp>
      <p:sp>
        <p:nvSpPr>
          <p:cNvPr id="38" name="s10-link-1">
            <a:extLst xmlns:a="http://schemas.openxmlformats.org/drawingml/2006/main">
              <a:ext uri="{FF2B5EF4-FFF2-40B4-BE49-F238E27FC236}">
                <a16:creationId xmlns:a16="http://schemas.microsoft.com/office/drawing/2014/main" id="{B4B97C81-746D-4B3D-94D2-834771043BE4}"/>
              </a:ext>
            </a:extLst>
          </p:cNvPr>
          <p:cNvSpPr>
            <a:spLocks xmlns:a="http://schemas.openxmlformats.org/drawingml/2006/main" noGrp="1"/>
          </p:cNvSpPr>
          <p:nvPr/>
        </p:nvSpPr>
        <p:spPr>
          <a:xfrm xmlns:a="http://schemas.openxmlformats.org/drawingml/2006/main">
            <a:off x="481965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39" name="s10-step-2">
            <a:extLst xmlns:a="http://schemas.openxmlformats.org/drawingml/2006/main">
              <a:ext uri="{FF2B5EF4-FFF2-40B4-BE49-F238E27FC236}">
                <a16:creationId xmlns:a16="http://schemas.microsoft.com/office/drawing/2014/main" id="{9B01EEE6-9E19-4DD2-A7E6-B78A4CF0BF40}"/>
              </a:ext>
            </a:extLst>
          </p:cNvPr>
          <p:cNvSpPr>
            <a:spLocks xmlns:a="http://schemas.openxmlformats.org/drawingml/2006/main" noGrp="1"/>
          </p:cNvSpPr>
          <p:nvPr/>
        </p:nvSpPr>
        <p:spPr>
          <a:xfrm xmlns:a="http://schemas.openxmlformats.org/drawingml/2006/main">
            <a:off x="51435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40" name="s10-step-num-2">
            <a:extLst xmlns:a="http://schemas.openxmlformats.org/drawingml/2006/main">
              <a:ext uri="{FF2B5EF4-FFF2-40B4-BE49-F238E27FC236}">
                <a16:creationId xmlns:a16="http://schemas.microsoft.com/office/drawing/2014/main" id="{75A86E01-5C7A-42E4-B0BC-19A882B120E9}"/>
              </a:ext>
            </a:extLst>
          </p:cNvPr>
          <p:cNvSpPr>
            <a:spLocks xmlns:a="http://schemas.openxmlformats.org/drawingml/2006/main" noGrp="1"/>
          </p:cNvSpPr>
          <p:nvPr/>
        </p:nvSpPr>
        <p:spPr>
          <a:xfrm xmlns:a="http://schemas.openxmlformats.org/drawingml/2006/main">
            <a:off x="52578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03</a:t>
            </a:r>
          </a:p>
        </p:txBody>
      </p:sp>
      <p:sp>
        <p:nvSpPr>
          <p:cNvPr id="41" name="s10-step-title-2">
            <a:extLst xmlns:a="http://schemas.openxmlformats.org/drawingml/2006/main">
              <a:ext uri="{FF2B5EF4-FFF2-40B4-BE49-F238E27FC236}">
                <a16:creationId xmlns:a16="http://schemas.microsoft.com/office/drawing/2014/main" id="{B6BA8334-C08F-4655-9BB8-7B2EBE124029}"/>
              </a:ext>
            </a:extLst>
          </p:cNvPr>
          <p:cNvSpPr>
            <a:spLocks xmlns:a="http://schemas.openxmlformats.org/drawingml/2006/main" noGrp="1"/>
          </p:cNvSpPr>
          <p:nvPr/>
        </p:nvSpPr>
        <p:spPr>
          <a:xfrm xmlns:a="http://schemas.openxmlformats.org/drawingml/2006/main">
            <a:off x="53340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RUN</a:t>
            </a:r>
          </a:p>
        </p:txBody>
      </p:sp>
      <p:sp>
        <p:nvSpPr>
          <p:cNvPr id="42" name="s10-step-body-2">
            <a:extLst xmlns:a="http://schemas.openxmlformats.org/drawingml/2006/main">
              <a:ext uri="{FF2B5EF4-FFF2-40B4-BE49-F238E27FC236}">
                <a16:creationId xmlns:a16="http://schemas.microsoft.com/office/drawing/2014/main" id="{1F2B464A-3063-4A72-A5E4-4BFF3FD4746A}"/>
              </a:ext>
            </a:extLst>
          </p:cNvPr>
          <p:cNvSpPr>
            <a:spLocks xmlns:a="http://schemas.openxmlformats.org/drawingml/2006/main" noGrp="1"/>
          </p:cNvSpPr>
          <p:nvPr/>
        </p:nvSpPr>
        <p:spPr>
          <a:xfrm xmlns:a="http://schemas.openxmlformats.org/drawingml/2006/main">
            <a:off x="52959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Run Checks</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Honor license and update requirements</a:t>
            </a:r>
          </a:p>
        </p:txBody>
      </p:sp>
      <p:sp>
        <p:nvSpPr>
          <p:cNvPr id="43" name="s10-link-2">
            <a:extLst xmlns:a="http://schemas.openxmlformats.org/drawingml/2006/main">
              <a:ext uri="{FF2B5EF4-FFF2-40B4-BE49-F238E27FC236}">
                <a16:creationId xmlns:a16="http://schemas.microsoft.com/office/drawing/2014/main" id="{7CF7B086-E66E-4F44-8D40-B7E3E6AE2E8D}"/>
              </a:ext>
            </a:extLst>
          </p:cNvPr>
          <p:cNvSpPr>
            <a:spLocks xmlns:a="http://schemas.openxmlformats.org/drawingml/2006/main" noGrp="1"/>
          </p:cNvSpPr>
          <p:nvPr/>
        </p:nvSpPr>
        <p:spPr>
          <a:xfrm xmlns:a="http://schemas.openxmlformats.org/drawingml/2006/main">
            <a:off x="704850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44" name="s10-step-3">
            <a:extLst xmlns:a="http://schemas.openxmlformats.org/drawingml/2006/main">
              <a:ext uri="{FF2B5EF4-FFF2-40B4-BE49-F238E27FC236}">
                <a16:creationId xmlns:a16="http://schemas.microsoft.com/office/drawing/2014/main" id="{EDEF3F91-FA32-4BD5-A343-49AB52CEBEC4}"/>
              </a:ext>
            </a:extLst>
          </p:cNvPr>
          <p:cNvSpPr>
            <a:spLocks xmlns:a="http://schemas.openxmlformats.org/drawingml/2006/main" noGrp="1"/>
          </p:cNvSpPr>
          <p:nvPr/>
        </p:nvSpPr>
        <p:spPr>
          <a:xfrm xmlns:a="http://schemas.openxmlformats.org/drawingml/2006/main">
            <a:off x="737235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45" name="s10-step-num-3">
            <a:extLst xmlns:a="http://schemas.openxmlformats.org/drawingml/2006/main">
              <a:ext uri="{FF2B5EF4-FFF2-40B4-BE49-F238E27FC236}">
                <a16:creationId xmlns:a16="http://schemas.microsoft.com/office/drawing/2014/main" id="{8E5D3174-7EE6-4E06-B2F0-A7B97D5C58F2}"/>
              </a:ext>
            </a:extLst>
          </p:cNvPr>
          <p:cNvSpPr>
            <a:spLocks xmlns:a="http://schemas.openxmlformats.org/drawingml/2006/main" noGrp="1"/>
          </p:cNvSpPr>
          <p:nvPr/>
        </p:nvSpPr>
        <p:spPr>
          <a:xfrm xmlns:a="http://schemas.openxmlformats.org/drawingml/2006/main">
            <a:off x="748665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04</a:t>
            </a:r>
          </a:p>
        </p:txBody>
      </p:sp>
      <p:sp>
        <p:nvSpPr>
          <p:cNvPr id="46" name="s10-step-title-3">
            <a:extLst xmlns:a="http://schemas.openxmlformats.org/drawingml/2006/main">
              <a:ext uri="{FF2B5EF4-FFF2-40B4-BE49-F238E27FC236}">
                <a16:creationId xmlns:a16="http://schemas.microsoft.com/office/drawing/2014/main" id="{F4C8C595-10C3-4D79-99D0-6D33DE47C031}"/>
              </a:ext>
            </a:extLst>
          </p:cNvPr>
          <p:cNvSpPr>
            <a:spLocks xmlns:a="http://schemas.openxmlformats.org/drawingml/2006/main" noGrp="1"/>
          </p:cNvSpPr>
          <p:nvPr/>
        </p:nvSpPr>
        <p:spPr>
          <a:xfrm xmlns:a="http://schemas.openxmlformats.org/drawingml/2006/main">
            <a:off x="756285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REVIEW</a:t>
            </a:r>
          </a:p>
        </p:txBody>
      </p:sp>
      <p:sp>
        <p:nvSpPr>
          <p:cNvPr id="47" name="s10-step-body-3">
            <a:extLst xmlns:a="http://schemas.openxmlformats.org/drawingml/2006/main">
              <a:ext uri="{FF2B5EF4-FFF2-40B4-BE49-F238E27FC236}">
                <a16:creationId xmlns:a16="http://schemas.microsoft.com/office/drawing/2014/main" id="{90FFE05D-F21F-4C04-8998-743FDF2E5CB0}"/>
              </a:ext>
            </a:extLst>
          </p:cNvPr>
          <p:cNvSpPr>
            <a:spLocks xmlns:a="http://schemas.openxmlformats.org/drawingml/2006/main" noGrp="1"/>
          </p:cNvSpPr>
          <p:nvPr/>
        </p:nvSpPr>
        <p:spPr>
          <a:xfrm xmlns:a="http://schemas.openxmlformats.org/drawingml/2006/main">
            <a:off x="752475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Read every status</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Address findings and exclusions</a:t>
            </a:r>
          </a:p>
        </p:txBody>
      </p:sp>
      <p:sp>
        <p:nvSpPr>
          <p:cNvPr id="48" name="s10-link-3">
            <a:extLst xmlns:a="http://schemas.openxmlformats.org/drawingml/2006/main">
              <a:ext uri="{FF2B5EF4-FFF2-40B4-BE49-F238E27FC236}">
                <a16:creationId xmlns:a16="http://schemas.microsoft.com/office/drawing/2014/main" id="{C72E6027-0F4E-4A33-880D-458558466FC4}"/>
              </a:ext>
            </a:extLst>
          </p:cNvPr>
          <p:cNvSpPr>
            <a:spLocks xmlns:a="http://schemas.openxmlformats.org/drawingml/2006/main" noGrp="1"/>
          </p:cNvSpPr>
          <p:nvPr/>
        </p:nvSpPr>
        <p:spPr>
          <a:xfrm xmlns:a="http://schemas.openxmlformats.org/drawingml/2006/main">
            <a:off x="927735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49" name="s10-step-4">
            <a:extLst xmlns:a="http://schemas.openxmlformats.org/drawingml/2006/main">
              <a:ext uri="{FF2B5EF4-FFF2-40B4-BE49-F238E27FC236}">
                <a16:creationId xmlns:a16="http://schemas.microsoft.com/office/drawing/2014/main" id="{FD82C81B-FBB5-4971-AE50-4D9601F34EEE}"/>
              </a:ext>
            </a:extLst>
          </p:cNvPr>
          <p:cNvSpPr>
            <a:spLocks xmlns:a="http://schemas.openxmlformats.org/drawingml/2006/main" noGrp="1"/>
          </p:cNvSpPr>
          <p:nvPr/>
        </p:nvSpPr>
        <p:spPr>
          <a:xfrm xmlns:a="http://schemas.openxmlformats.org/drawingml/2006/main">
            <a:off x="96012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CA56F"/>
            </a:solidFill>
            <a:prstDash val="solid"/>
          </a:ln>
        </p:spPr>
      </p:sp>
      <p:sp>
        <p:nvSpPr>
          <p:cNvPr id="50" name="s10-step-num-4">
            <a:extLst xmlns:a="http://schemas.openxmlformats.org/drawingml/2006/main">
              <a:ext uri="{FF2B5EF4-FFF2-40B4-BE49-F238E27FC236}">
                <a16:creationId xmlns:a16="http://schemas.microsoft.com/office/drawing/2014/main" id="{C17CCA45-CDAF-4018-B243-154602659AF9}"/>
              </a:ext>
            </a:extLst>
          </p:cNvPr>
          <p:cNvSpPr>
            <a:spLocks xmlns:a="http://schemas.openxmlformats.org/drawingml/2006/main" noGrp="1"/>
          </p:cNvSpPr>
          <p:nvPr/>
        </p:nvSpPr>
        <p:spPr>
          <a:xfrm xmlns:a="http://schemas.openxmlformats.org/drawingml/2006/main">
            <a:off x="97155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05</a:t>
            </a:r>
          </a:p>
        </p:txBody>
      </p:sp>
      <p:sp>
        <p:nvSpPr>
          <p:cNvPr id="51" name="s10-step-title-4">
            <a:extLst xmlns:a="http://schemas.openxmlformats.org/drawingml/2006/main">
              <a:ext uri="{FF2B5EF4-FFF2-40B4-BE49-F238E27FC236}">
                <a16:creationId xmlns:a16="http://schemas.microsoft.com/office/drawing/2014/main" id="{27C54826-0E88-4427-8873-5AFF0DE6DFF4}"/>
              </a:ext>
            </a:extLst>
          </p:cNvPr>
          <p:cNvSpPr>
            <a:spLocks xmlns:a="http://schemas.openxmlformats.org/drawingml/2006/main" noGrp="1"/>
          </p:cNvSpPr>
          <p:nvPr/>
        </p:nvSpPr>
        <p:spPr>
          <a:xfrm xmlns:a="http://schemas.openxmlformats.org/drawingml/2006/main">
            <a:off x="97917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2CA56F"/>
                </a:solidFill>
                <a:latin typeface="Aptos"/>
                <a:ea typeface="Aptos"/>
                <a:cs typeface="Aptos"/>
              </a:defRPr>
            </a:pPr>
            <a:r>
              <a:rPr sz="1313" b="1">
                <a:solidFill>
                  <a:srgbClr val="2CA56F"/>
                </a:solidFill>
                <a:latin typeface="Aptos"/>
                <a:ea typeface="Aptos"/>
                <a:cs typeface="Aptos"/>
              </a:rPr>
              <a:t>RETAIN</a:t>
            </a:r>
          </a:p>
        </p:txBody>
      </p:sp>
      <p:sp>
        <p:nvSpPr>
          <p:cNvPr id="52" name="s10-step-body-4">
            <a:extLst xmlns:a="http://schemas.openxmlformats.org/drawingml/2006/main">
              <a:ext uri="{FF2B5EF4-FFF2-40B4-BE49-F238E27FC236}">
                <a16:creationId xmlns:a16="http://schemas.microsoft.com/office/drawing/2014/main" id="{225F76AC-D8B8-48DA-93BB-7C7BB2D8BC62}"/>
              </a:ext>
            </a:extLst>
          </p:cNvPr>
          <p:cNvSpPr>
            <a:spLocks xmlns:a="http://schemas.openxmlformats.org/drawingml/2006/main" noGrp="1"/>
          </p:cNvSpPr>
          <p:nvPr/>
        </p:nvSpPr>
        <p:spPr>
          <a:xfrm xmlns:a="http://schemas.openxmlformats.org/drawingml/2006/main">
            <a:off x="97536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Rerun and save report</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Baseline + check IDs + results</a:t>
            </a:r>
          </a:p>
        </p:txBody>
      </p:sp>
      <p:sp>
        <p:nvSpPr>
          <p:cNvPr id="53" name="s10-retain">
            <a:extLst xmlns:a="http://schemas.openxmlformats.org/drawingml/2006/main">
              <a:ext uri="{FF2B5EF4-FFF2-40B4-BE49-F238E27FC236}">
                <a16:creationId xmlns:a16="http://schemas.microsoft.com/office/drawing/2014/main" id="{7C3B3F34-97D6-4EC2-90DF-36438154981A}"/>
              </a:ext>
            </a:extLst>
          </p:cNvPr>
          <p:cNvSpPr>
            <a:spLocks xmlns:a="http://schemas.openxmlformats.org/drawingml/2006/main" noGrp="1"/>
          </p:cNvSpPr>
          <p:nvPr/>
        </p:nvSpPr>
        <p:spPr>
          <a:xfrm xmlns:a="http://schemas.openxmlformats.org/drawingml/2006/main">
            <a:off x="685800" y="3714750"/>
            <a:ext cx="5219700" cy="1790700"/>
          </a:xfrm>
          <a:prstGeom xmlns:a="http://schemas.openxmlformats.org/drawingml/2006/main" prst="roundRect">
            <a:avLst>
              <a:gd name="adj" fmla="val 6383"/>
            </a:avLst>
          </a:prstGeom>
          <a:solidFill xmlns:a="http://schemas.openxmlformats.org/drawingml/2006/main">
            <a:srgbClr val="0C2133"/>
          </a:solidFill>
          <a:ln xmlns:a="http://schemas.openxmlformats.org/drawingml/2006/main" w="14288">
            <a:solidFill>
              <a:srgbClr val="2CA56F"/>
            </a:solidFill>
            <a:prstDash val="solid"/>
          </a:ln>
        </p:spPr>
      </p:sp>
      <p:sp>
        <p:nvSpPr>
          <p:cNvPr id="54" name="s10-retain-title">
            <a:extLst xmlns:a="http://schemas.openxmlformats.org/drawingml/2006/main">
              <a:ext uri="{FF2B5EF4-FFF2-40B4-BE49-F238E27FC236}">
                <a16:creationId xmlns:a16="http://schemas.microsoft.com/office/drawing/2014/main" id="{E29EFDE3-7FE3-4090-8381-CD1E510F60B4}"/>
              </a:ext>
            </a:extLst>
          </p:cNvPr>
          <p:cNvSpPr>
            <a:spLocks xmlns:a="http://schemas.openxmlformats.org/drawingml/2006/main" noGrp="1"/>
          </p:cNvSpPr>
          <p:nvPr/>
        </p:nvSpPr>
        <p:spPr>
          <a:xfrm xmlns:a="http://schemas.openxmlformats.org/drawingml/2006/main">
            <a:off x="876300" y="38671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RETAIN AS CONTROLLED EVIDENCE</a:t>
            </a:r>
          </a:p>
        </p:txBody>
      </p:sp>
      <p:sp>
        <p:nvSpPr>
          <p:cNvPr id="55" name="s10-retain-body">
            <a:extLst xmlns:a="http://schemas.openxmlformats.org/drawingml/2006/main">
              <a:ext uri="{FF2B5EF4-FFF2-40B4-BE49-F238E27FC236}">
                <a16:creationId xmlns:a16="http://schemas.microsoft.com/office/drawing/2014/main" id="{38D5F917-E44D-4E10-A02C-101EF4CC9E00}"/>
              </a:ext>
            </a:extLst>
          </p:cNvPr>
          <p:cNvSpPr>
            <a:spLocks xmlns:a="http://schemas.openxmlformats.org/drawingml/2006/main" noGrp="1"/>
          </p:cNvSpPr>
          <p:nvPr/>
        </p:nvSpPr>
        <p:spPr>
          <a:xfrm xmlns:a="http://schemas.openxmlformats.org/drawingml/2006/main">
            <a:off x="933450" y="424815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model / subsystem and version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selected check configuration and IDs</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Passed / Failed / Warning / Incomplete results</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exclusions, fixes, dispositions, and rerun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saved report tied to the reviewed baseline</a:t>
            </a:r>
          </a:p>
        </p:txBody>
      </p:sp>
      <p:sp>
        <p:nvSpPr>
          <p:cNvPr id="56" name="s10-limit">
            <a:extLst xmlns:a="http://schemas.openxmlformats.org/drawingml/2006/main">
              <a:ext uri="{FF2B5EF4-FFF2-40B4-BE49-F238E27FC236}">
                <a16:creationId xmlns:a16="http://schemas.microsoft.com/office/drawing/2014/main" id="{9EFF2FD1-6E27-4977-AD52-2B788AA677D6}"/>
              </a:ext>
            </a:extLst>
          </p:cNvPr>
          <p:cNvSpPr>
            <a:spLocks xmlns:a="http://schemas.openxmlformats.org/drawingml/2006/main" noGrp="1"/>
          </p:cNvSpPr>
          <p:nvPr/>
        </p:nvSpPr>
        <p:spPr>
          <a:xfrm xmlns:a="http://schemas.openxmlformats.org/drawingml/2006/main">
            <a:off x="6286500" y="3714750"/>
            <a:ext cx="5219700" cy="1790700"/>
          </a:xfrm>
          <a:prstGeom xmlns:a="http://schemas.openxmlformats.org/drawingml/2006/main" prst="roundRect">
            <a:avLst>
              <a:gd name="adj" fmla="val 6383"/>
            </a:avLst>
          </a:prstGeom>
          <a:solidFill xmlns:a="http://schemas.openxmlformats.org/drawingml/2006/main">
            <a:srgbClr val="0C2133"/>
          </a:solidFill>
          <a:ln xmlns:a="http://schemas.openxmlformats.org/drawingml/2006/main" w="14288">
            <a:solidFill>
              <a:srgbClr val="D75A64"/>
            </a:solidFill>
            <a:prstDash val="solid"/>
          </a:ln>
        </p:spPr>
      </p:sp>
      <p:sp>
        <p:nvSpPr>
          <p:cNvPr id="57" name="s10-limit-title">
            <a:extLst xmlns:a="http://schemas.openxmlformats.org/drawingml/2006/main">
              <a:ext uri="{FF2B5EF4-FFF2-40B4-BE49-F238E27FC236}">
                <a16:creationId xmlns:a16="http://schemas.microsoft.com/office/drawing/2014/main" id="{B0DD6F5D-83E2-4DF2-8263-DD5608712810}"/>
              </a:ext>
            </a:extLst>
          </p:cNvPr>
          <p:cNvSpPr>
            <a:spLocks xmlns:a="http://schemas.openxmlformats.org/drawingml/2006/main" noGrp="1"/>
          </p:cNvSpPr>
          <p:nvPr/>
        </p:nvSpPr>
        <p:spPr>
          <a:xfrm xmlns:a="http://schemas.openxmlformats.org/drawingml/2006/main">
            <a:off x="6477000" y="38671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D75A64"/>
                </a:solidFill>
                <a:latin typeface="Aptos"/>
                <a:ea typeface="Aptos"/>
                <a:cs typeface="Aptos"/>
              </a:defRPr>
            </a:pPr>
            <a:r>
              <a:rPr sz="1275" b="1">
                <a:solidFill>
                  <a:srgbClr val="D75A64"/>
                </a:solidFill>
                <a:latin typeface="Aptos"/>
                <a:ea typeface="Aptos"/>
                <a:cs typeface="Aptos"/>
              </a:rPr>
              <a:t>DOES NOT, BY ITSELF, PROVE</a:t>
            </a:r>
          </a:p>
        </p:txBody>
      </p:sp>
      <p:sp>
        <p:nvSpPr>
          <p:cNvPr id="58" name="s10-limit-body">
            <a:extLst xmlns:a="http://schemas.openxmlformats.org/drawingml/2006/main">
              <a:ext uri="{FF2B5EF4-FFF2-40B4-BE49-F238E27FC236}">
                <a16:creationId xmlns:a16="http://schemas.microsoft.com/office/drawing/2014/main" id="{3FB01813-27BE-4109-BF83-41F77F99570B}"/>
              </a:ext>
            </a:extLst>
          </p:cNvPr>
          <p:cNvSpPr>
            <a:spLocks xmlns:a="http://schemas.openxmlformats.org/drawingml/2006/main" noGrp="1"/>
          </p:cNvSpPr>
          <p:nvPr/>
        </p:nvSpPr>
        <p:spPr>
          <a:xfrm xmlns:a="http://schemas.openxmlformats.org/drawingml/2006/main">
            <a:off x="6534150" y="424815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requirements are correct and complete</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all referenced models were analyzed</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tests and coverage are adequate</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findings received independent disposition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certification or final design approval</a:t>
            </a:r>
          </a:p>
        </p:txBody>
      </p:sp>
      <p:sp>
        <p:nvSpPr>
          <p:cNvPr id="59" name="s10-hierarchy">
            <a:extLst xmlns:a="http://schemas.openxmlformats.org/drawingml/2006/main">
              <a:ext uri="{FF2B5EF4-FFF2-40B4-BE49-F238E27FC236}">
                <a16:creationId xmlns:a16="http://schemas.microsoft.com/office/drawing/2014/main" id="{20A242FB-0B43-4D53-A101-6561F4C5332B}"/>
              </a:ext>
            </a:extLst>
          </p:cNvPr>
          <p:cNvSpPr>
            <a:spLocks xmlns:a="http://schemas.openxmlformats.org/drawingml/2006/main" noGrp="1"/>
          </p:cNvSpPr>
          <p:nvPr/>
        </p:nvSpPr>
        <p:spPr>
          <a:xfrm xmlns:a="http://schemas.openxmlformats.org/drawingml/2006/main">
            <a:off x="685800" y="5657850"/>
            <a:ext cx="108204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MODEL REFERENCE NOTE  •  run the intended checks on referenced models explicitly; do not assume the top-model scan enters every Model block.</a:t>
            </a:r>
          </a:p>
        </p:txBody>
      </p:sp>
    </p:spTree>
    <p:extLst>
      <p:ext uri="{BB962C8B-B14F-4D97-AF65-F5344CB8AC3E}">
        <p14:creationId xmlns:p14="http://schemas.microsoft.com/office/powerpoint/2010/main" val="92477978"/>
      </p:ext>
    </p:extLst>
  </p:cSld>
</p:sld>
</file>

<file path=ppt/slides/slide3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Placeholders: Bug Finder screens code; Code Prover deepens proof</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13" name="s11-banner">
            <a:extLst xmlns:a="http://schemas.openxmlformats.org/drawingml/2006/main">
              <a:ext uri="{FF2B5EF4-FFF2-40B4-BE49-F238E27FC236}">
                <a16:creationId xmlns:a16="http://schemas.microsoft.com/office/drawing/2014/main" id="{26BE4AD9-8CF9-4BF3-A0C1-D596DACEA76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BE7E9"/>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FUTURE PLACEHOLDERS  •  NOT EXECUTED  •  NO POLYSPACE PRODUCT OR REPORT IN THIS PACKAGE</a:t>
            </a:r>
          </a:p>
        </p:txBody>
      </p:sp>
      <p:sp>
        <p:nvSpPr>
          <p:cNvPr id="14" name="s11-panel-0">
            <a:extLst xmlns:a="http://schemas.openxmlformats.org/drawingml/2006/main">
              <a:ext uri="{FF2B5EF4-FFF2-40B4-BE49-F238E27FC236}">
                <a16:creationId xmlns:a16="http://schemas.microsoft.com/office/drawing/2014/main" id="{14D925DA-0280-4CA8-BC60-AF19B0E71B31}"/>
              </a:ext>
            </a:extLst>
          </p:cNvPr>
          <p:cNvSpPr>
            <a:spLocks xmlns:a="http://schemas.openxmlformats.org/drawingml/2006/main" noGrp="1"/>
          </p:cNvSpPr>
          <p:nvPr/>
        </p:nvSpPr>
        <p:spPr>
          <a:xfrm xmlns:a="http://schemas.openxmlformats.org/drawingml/2006/main">
            <a:off x="685800" y="2000250"/>
            <a:ext cx="5219700" cy="3143250"/>
          </a:xfrm>
          <a:prstGeom xmlns:a="http://schemas.openxmlformats.org/drawingml/2006/main" prst="roundRect">
            <a:avLst>
              <a:gd name="adj" fmla="val 3636"/>
            </a:avLst>
          </a:prstGeom>
          <a:solidFill xmlns:a="http://schemas.openxmlformats.org/drawingml/2006/main">
            <a:srgbClr val="E2ECFF"/>
          </a:solidFill>
          <a:ln xmlns:a="http://schemas.openxmlformats.org/drawingml/2006/main" w="17145">
            <a:solidFill>
              <a:srgbClr val="2D6CDF"/>
            </a:solidFill>
            <a:prstDash val="solid"/>
          </a:ln>
        </p:spPr>
      </p:sp>
      <p:sp>
        <p:nvSpPr>
          <p:cNvPr id="15" name="s11-title-0">
            <a:extLst xmlns:a="http://schemas.openxmlformats.org/drawingml/2006/main">
              <a:ext uri="{FF2B5EF4-FFF2-40B4-BE49-F238E27FC236}">
                <a16:creationId xmlns:a16="http://schemas.microsoft.com/office/drawing/2014/main" id="{B493FBD8-3DC4-4ECA-9B49-A57DCF133325}"/>
              </a:ext>
            </a:extLst>
          </p:cNvPr>
          <p:cNvSpPr>
            <a:spLocks xmlns:a="http://schemas.openxmlformats.org/drawingml/2006/main" noGrp="1"/>
          </p:cNvSpPr>
          <p:nvPr/>
        </p:nvSpPr>
        <p:spPr>
          <a:xfrm xmlns:a="http://schemas.openxmlformats.org/drawingml/2006/main">
            <a:off x="914400" y="2171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00" b="1">
                <a:solidFill>
                  <a:srgbClr val="2D6CDF"/>
                </a:solidFill>
                <a:latin typeface="Aptos"/>
                <a:ea typeface="Aptos"/>
                <a:cs typeface="Aptos"/>
              </a:defRPr>
            </a:pPr>
            <a:r>
              <a:rPr sz="1500" b="1">
                <a:solidFill>
                  <a:srgbClr val="2D6CDF"/>
                </a:solidFill>
                <a:latin typeface="Aptos"/>
                <a:ea typeface="Aptos"/>
                <a:cs typeface="Aptos"/>
              </a:rPr>
              <a:t>POLYSPACE BUG FINDER</a:t>
            </a:r>
          </a:p>
        </p:txBody>
      </p:sp>
      <p:sp>
        <p:nvSpPr>
          <p:cNvPr id="16" name="s11-sub-0">
            <a:extLst xmlns:a="http://schemas.openxmlformats.org/drawingml/2006/main">
              <a:ext uri="{FF2B5EF4-FFF2-40B4-BE49-F238E27FC236}">
                <a16:creationId xmlns:a16="http://schemas.microsoft.com/office/drawing/2014/main" id="{41A92F47-928E-47D6-97EE-D3AED38133C0}"/>
              </a:ext>
            </a:extLst>
          </p:cNvPr>
          <p:cNvSpPr>
            <a:spLocks xmlns:a="http://schemas.openxmlformats.org/drawingml/2006/main" noGrp="1"/>
          </p:cNvSpPr>
          <p:nvPr/>
        </p:nvSpPr>
        <p:spPr>
          <a:xfrm xmlns:a="http://schemas.openxmlformats.org/drawingml/2006/main">
            <a:off x="971550" y="25622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B1F33"/>
                </a:solidFill>
                <a:latin typeface="Aptos"/>
                <a:ea typeface="Aptos"/>
                <a:cs typeface="Aptos"/>
              </a:defRPr>
            </a:pPr>
            <a:r>
              <a:rPr sz="1200" b="1">
                <a:solidFill>
                  <a:srgbClr val="0B1F33"/>
                </a:solidFill>
                <a:latin typeface="Aptos"/>
                <a:ea typeface="Aptos"/>
                <a:cs typeface="Aptos"/>
              </a:rPr>
              <a:t>Fast static scan for reported defects and rule deviations</a:t>
            </a:r>
          </a:p>
        </p:txBody>
      </p:sp>
      <p:sp>
        <p:nvSpPr>
          <p:cNvPr id="17" name="s11-body-0">
            <a:extLst xmlns:a="http://schemas.openxmlformats.org/drawingml/2006/main">
              <a:ext uri="{FF2B5EF4-FFF2-40B4-BE49-F238E27FC236}">
                <a16:creationId xmlns:a16="http://schemas.microsoft.com/office/drawing/2014/main" id="{6370D591-1214-4900-86D3-D864FC044091}"/>
              </a:ext>
            </a:extLst>
          </p:cNvPr>
          <p:cNvSpPr>
            <a:spLocks xmlns:a="http://schemas.openxmlformats.org/drawingml/2006/main" noGrp="1"/>
          </p:cNvSpPr>
          <p:nvPr/>
        </p:nvSpPr>
        <p:spPr>
          <a:xfrm xmlns:a="http://schemas.openxmlformats.org/drawingml/2006/main">
            <a:off x="990600" y="3105150"/>
            <a:ext cx="4610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probable coding defects and security issues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MISRA / CERT / CWE and project-rule findings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code metrics and early developer triage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review, fix, justify, and retain dispositions</a:t>
            </a:r>
          </a:p>
          <a:p xmlns:a="http://schemas.openxmlformats.org/drawingml/2006/main">
            <a:r>
              <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Boundary: finding-oriented; it does not prove that all defects are absent.</a:t>
            </a:r>
          </a:p>
        </p:txBody>
      </p:sp>
      <p:sp>
        <p:nvSpPr>
          <p:cNvPr id="18" name="s11-placeholder-0">
            <a:extLst xmlns:a="http://schemas.openxmlformats.org/drawingml/2006/main">
              <a:ext uri="{FF2B5EF4-FFF2-40B4-BE49-F238E27FC236}">
                <a16:creationId xmlns:a16="http://schemas.microsoft.com/office/drawing/2014/main" id="{BD889767-C9B8-4651-B84F-30975F93D144}"/>
              </a:ext>
            </a:extLst>
          </p:cNvPr>
          <p:cNvSpPr>
            <a:spLocks xmlns:a="http://schemas.openxmlformats.org/drawingml/2006/main" noGrp="1"/>
          </p:cNvSpPr>
          <p:nvPr/>
        </p:nvSpPr>
        <p:spPr>
          <a:xfrm xmlns:a="http://schemas.openxmlformats.org/drawingml/2006/main">
            <a:off x="990600" y="4572000"/>
            <a:ext cx="4610100" cy="381000"/>
          </a:xfrm>
          <a:prstGeom xmlns:a="http://schemas.openxmlformats.org/drawingml/2006/main" prst="roundRect">
            <a:avLst>
              <a:gd name="adj" fmla="val 30000"/>
            </a:avLst>
          </a:prstGeom>
          <a:solidFill xmlns:a="http://schemas.openxmlformats.org/drawingml/2006/main">
            <a:srgbClr val="FFFFFF"/>
          </a:solidFill>
          <a:ln xmlns:a="http://schemas.openxmlformats.org/drawingml/2006/main" w="11430">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2D6CDF"/>
                </a:solidFill>
                <a:latin typeface="Aptos"/>
                <a:ea typeface="Aptos"/>
                <a:cs typeface="Aptos"/>
              </a:defRPr>
            </a:pPr>
            <a:r>
              <a:rPr sz="990" b="1">
                <a:solidFill>
                  <a:srgbClr val="2D6CDF"/>
                </a:solidFill>
                <a:latin typeface="Aptos"/>
                <a:ea typeface="Aptos"/>
                <a:cs typeface="Aptos"/>
              </a:rPr>
              <a:t>FUTURE INSERT  •  BUG FINDER RESULT / REPORT</a:t>
            </a:r>
          </a:p>
        </p:txBody>
      </p:sp>
      <p:sp>
        <p:nvSpPr>
          <p:cNvPr id="19" name="s11-panel-1">
            <a:extLst xmlns:a="http://schemas.openxmlformats.org/drawingml/2006/main">
              <a:ext uri="{FF2B5EF4-FFF2-40B4-BE49-F238E27FC236}">
                <a16:creationId xmlns:a16="http://schemas.microsoft.com/office/drawing/2014/main" id="{2E2BA123-B9B3-4D60-A61B-EC2D272AFCD6}"/>
              </a:ext>
            </a:extLst>
          </p:cNvPr>
          <p:cNvSpPr>
            <a:spLocks xmlns:a="http://schemas.openxmlformats.org/drawingml/2006/main" noGrp="1"/>
          </p:cNvSpPr>
          <p:nvPr/>
        </p:nvSpPr>
        <p:spPr>
          <a:xfrm xmlns:a="http://schemas.openxmlformats.org/drawingml/2006/main">
            <a:off x="6286500" y="2000250"/>
            <a:ext cx="5219700" cy="3143250"/>
          </a:xfrm>
          <a:prstGeom xmlns:a="http://schemas.openxmlformats.org/drawingml/2006/main" prst="roundRect">
            <a:avLst>
              <a:gd name="adj" fmla="val 3636"/>
            </a:avLst>
          </a:prstGeom>
          <a:solidFill xmlns:a="http://schemas.openxmlformats.org/drawingml/2006/main">
            <a:srgbClr val="E2F4EA"/>
          </a:solidFill>
          <a:ln xmlns:a="http://schemas.openxmlformats.org/drawingml/2006/main" w="17145">
            <a:solidFill>
              <a:srgbClr val="2CA56F"/>
            </a:solidFill>
            <a:prstDash val="solid"/>
          </a:ln>
        </p:spPr>
      </p:sp>
      <p:sp>
        <p:nvSpPr>
          <p:cNvPr id="20" name="s11-title-1">
            <a:extLst xmlns:a="http://schemas.openxmlformats.org/drawingml/2006/main">
              <a:ext uri="{FF2B5EF4-FFF2-40B4-BE49-F238E27FC236}">
                <a16:creationId xmlns:a16="http://schemas.microsoft.com/office/drawing/2014/main" id="{69157C0E-942E-4750-8064-B1B28515C27C}"/>
              </a:ext>
            </a:extLst>
          </p:cNvPr>
          <p:cNvSpPr>
            <a:spLocks xmlns:a="http://schemas.openxmlformats.org/drawingml/2006/main" noGrp="1"/>
          </p:cNvSpPr>
          <p:nvPr/>
        </p:nvSpPr>
        <p:spPr>
          <a:xfrm xmlns:a="http://schemas.openxmlformats.org/drawingml/2006/main">
            <a:off x="6515100" y="2171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00" b="1">
                <a:solidFill>
                  <a:srgbClr val="2CA56F"/>
                </a:solidFill>
                <a:latin typeface="Aptos"/>
                <a:ea typeface="Aptos"/>
                <a:cs typeface="Aptos"/>
              </a:defRPr>
            </a:pPr>
            <a:r>
              <a:rPr sz="1500" b="1">
                <a:solidFill>
                  <a:srgbClr val="2CA56F"/>
                </a:solidFill>
                <a:latin typeface="Aptos"/>
                <a:ea typeface="Aptos"/>
                <a:cs typeface="Aptos"/>
              </a:rPr>
              <a:t>POLYSPACE CODE PROVER</a:t>
            </a:r>
          </a:p>
        </p:txBody>
      </p:sp>
      <p:sp>
        <p:nvSpPr>
          <p:cNvPr id="21" name="s11-sub-1">
            <a:extLst xmlns:a="http://schemas.openxmlformats.org/drawingml/2006/main">
              <a:ext uri="{FF2B5EF4-FFF2-40B4-BE49-F238E27FC236}">
                <a16:creationId xmlns:a16="http://schemas.microsoft.com/office/drawing/2014/main" id="{B136D6D9-D0A9-451C-A3A7-620937ECA246}"/>
              </a:ext>
            </a:extLst>
          </p:cNvPr>
          <p:cNvSpPr>
            <a:spLocks xmlns:a="http://schemas.openxmlformats.org/drawingml/2006/main" noGrp="1"/>
          </p:cNvSpPr>
          <p:nvPr/>
        </p:nvSpPr>
        <p:spPr>
          <a:xfrm xmlns:a="http://schemas.openxmlformats.org/drawingml/2006/main">
            <a:off x="6572250" y="25622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B1F33"/>
                </a:solidFill>
                <a:latin typeface="Aptos"/>
                <a:ea typeface="Aptos"/>
                <a:cs typeface="Aptos"/>
              </a:defRPr>
            </a:pPr>
            <a:r>
              <a:rPr sz="1200" b="1">
                <a:solidFill>
                  <a:srgbClr val="0B1F33"/>
                </a:solidFill>
                <a:latin typeface="Aptos"/>
                <a:ea typeface="Aptos"/>
                <a:cs typeface="Aptos"/>
              </a:rPr>
              <a:t>Deeper formal analysis for selected run-time error checks</a:t>
            </a:r>
          </a:p>
        </p:txBody>
      </p:sp>
      <p:sp>
        <p:nvSpPr>
          <p:cNvPr id="22" name="s11-body-1">
            <a:extLst xmlns:a="http://schemas.openxmlformats.org/drawingml/2006/main">
              <a:ext uri="{FF2B5EF4-FFF2-40B4-BE49-F238E27FC236}">
                <a16:creationId xmlns:a16="http://schemas.microsoft.com/office/drawing/2014/main" id="{3D4758F0-DE5E-42F2-B114-180C11FA2940}"/>
              </a:ext>
            </a:extLst>
          </p:cNvPr>
          <p:cNvSpPr>
            <a:spLocks xmlns:a="http://schemas.openxmlformats.org/drawingml/2006/main" noGrp="1"/>
          </p:cNvSpPr>
          <p:nvPr/>
        </p:nvSpPr>
        <p:spPr>
          <a:xfrm xmlns:a="http://schemas.openxmlformats.org/drawingml/2006/main">
            <a:off x="6591300" y="3105150"/>
            <a:ext cx="4610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analyzes control and data flow without executing code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attempts proof over the analyzed code and paths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green = proven for that check and scope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orange = possible / unproven; red = definite</a:t>
            </a:r>
          </a:p>
          <a:p xmlns:a="http://schemas.openxmlformats.org/drawingml/2006/main">
            <a:r>
              <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Boundary: conclusions depend on controlled code, configuration, and assumptions.</a:t>
            </a:r>
          </a:p>
        </p:txBody>
      </p:sp>
      <p:sp>
        <p:nvSpPr>
          <p:cNvPr id="23" name="s11-placeholder-1">
            <a:extLst xmlns:a="http://schemas.openxmlformats.org/drawingml/2006/main">
              <a:ext uri="{FF2B5EF4-FFF2-40B4-BE49-F238E27FC236}">
                <a16:creationId xmlns:a16="http://schemas.microsoft.com/office/drawing/2014/main" id="{5EDE43D7-D6AE-4815-8835-36A387D0C91A}"/>
              </a:ext>
            </a:extLst>
          </p:cNvPr>
          <p:cNvSpPr>
            <a:spLocks xmlns:a="http://schemas.openxmlformats.org/drawingml/2006/main" noGrp="1"/>
          </p:cNvSpPr>
          <p:nvPr/>
        </p:nvSpPr>
        <p:spPr>
          <a:xfrm xmlns:a="http://schemas.openxmlformats.org/drawingml/2006/main">
            <a:off x="6591300" y="4572000"/>
            <a:ext cx="4610100" cy="381000"/>
          </a:xfrm>
          <a:prstGeom xmlns:a="http://schemas.openxmlformats.org/drawingml/2006/main" prst="roundRect">
            <a:avLst>
              <a:gd name="adj" fmla="val 30000"/>
            </a:avLst>
          </a:prstGeom>
          <a:solidFill xmlns:a="http://schemas.openxmlformats.org/drawingml/2006/main">
            <a:srgbClr val="FFFFFF"/>
          </a:solidFill>
          <a:ln xmlns:a="http://schemas.openxmlformats.org/drawingml/2006/main" w="11430">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2CA56F"/>
                </a:solidFill>
                <a:latin typeface="Aptos"/>
                <a:ea typeface="Aptos"/>
                <a:cs typeface="Aptos"/>
              </a:defRPr>
            </a:pPr>
            <a:r>
              <a:rPr sz="990" b="1">
                <a:solidFill>
                  <a:srgbClr val="2CA56F"/>
                </a:solidFill>
                <a:latin typeface="Aptos"/>
                <a:ea typeface="Aptos"/>
                <a:cs typeface="Aptos"/>
              </a:rPr>
              <a:t>FUTURE INSERT  •  CODE PROVER RESULT / REPORT</a:t>
            </a:r>
          </a:p>
        </p:txBody>
      </p:sp>
      <p:sp>
        <p:nvSpPr>
          <p:cNvPr id="24" name="s11-gate">
            <a:extLst xmlns:a="http://schemas.openxmlformats.org/drawingml/2006/main">
              <a:ext uri="{FF2B5EF4-FFF2-40B4-BE49-F238E27FC236}">
                <a16:creationId xmlns:a16="http://schemas.microsoft.com/office/drawing/2014/main" id="{636CCA95-8F82-4BF8-A6C5-A5130F240C96}"/>
              </a:ext>
            </a:extLst>
          </p:cNvPr>
          <p:cNvSpPr>
            <a:spLocks xmlns:a="http://schemas.openxmlformats.org/drawingml/2006/main" noGrp="1"/>
          </p:cNvSpPr>
          <p:nvPr/>
        </p:nvSpPr>
        <p:spPr>
          <a:xfrm xmlns:a="http://schemas.openxmlformats.org/drawingml/2006/main">
            <a:off x="685800" y="5314950"/>
            <a:ext cx="10820400" cy="80010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13335">
            <a:solidFill>
              <a:srgbClr val="20B7C5"/>
            </a:solidFill>
            <a:prstDash val="solid"/>
          </a:ln>
        </p:spPr>
      </p:sp>
      <p:sp>
        <p:nvSpPr>
          <p:cNvPr id="25" name="s11-gate-title">
            <a:extLst xmlns:a="http://schemas.openxmlformats.org/drawingml/2006/main">
              <a:ext uri="{FF2B5EF4-FFF2-40B4-BE49-F238E27FC236}">
                <a16:creationId xmlns:a16="http://schemas.microsoft.com/office/drawing/2014/main" id="{3FA66FE9-44C7-40D2-9126-6808962B0817}"/>
              </a:ext>
            </a:extLst>
          </p:cNvPr>
          <p:cNvSpPr>
            <a:spLocks xmlns:a="http://schemas.openxmlformats.org/drawingml/2006/main" noGrp="1"/>
          </p:cNvSpPr>
          <p:nvPr/>
        </p:nvSpPr>
        <p:spPr>
          <a:xfrm xmlns:a="http://schemas.openxmlformats.org/drawingml/2006/main">
            <a:off x="895350" y="54102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25" b="1">
                <a:solidFill>
                  <a:srgbClr val="70DCE5"/>
                </a:solidFill>
                <a:latin typeface="Aptos"/>
                <a:ea typeface="Aptos"/>
                <a:cs typeface="Aptos"/>
              </a:defRPr>
            </a:pPr>
            <a:r>
              <a:rPr sz="1125" b="1">
                <a:solidFill>
                  <a:srgbClr val="70DCE5"/>
                </a:solidFill>
                <a:latin typeface="Aptos"/>
                <a:ea typeface="Aptos"/>
                <a:cs typeface="Aptos"/>
              </a:rPr>
              <a:t>GATE PREREQUISITES</a:t>
            </a:r>
          </a:p>
        </p:txBody>
      </p:sp>
      <p:sp>
        <p:nvSpPr>
          <p:cNvPr id="26" name="s11-gate-body">
            <a:extLst xmlns:a="http://schemas.openxmlformats.org/drawingml/2006/main">
              <a:ext uri="{FF2B5EF4-FFF2-40B4-BE49-F238E27FC236}">
                <a16:creationId xmlns:a16="http://schemas.microsoft.com/office/drawing/2014/main" id="{1748BC03-EEED-41CE-A3E7-C31B079575E3}"/>
              </a:ext>
            </a:extLst>
          </p:cNvPr>
          <p:cNvSpPr>
            <a:spLocks xmlns:a="http://schemas.openxmlformats.org/drawingml/2006/main" noGrp="1"/>
          </p:cNvSpPr>
          <p:nvPr/>
        </p:nvSpPr>
        <p:spPr>
          <a:xfrm xmlns:a="http://schemas.openxmlformats.org/drawingml/2006/main">
            <a:off x="895350" y="5695950"/>
            <a:ext cx="1040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controlled C/C++ baseline • target/compiler/options • assumptions/stubs • licensed tool/configuration • reviewed findings/report • traceability</a:t>
            </a:r>
          </a:p>
        </p:txBody>
      </p:sp>
    </p:spTree>
    <p:extLst>
      <p:ext uri="{BB962C8B-B14F-4D97-AF65-F5344CB8AC3E}">
        <p14:creationId xmlns:p14="http://schemas.microsoft.com/office/powerpoint/2010/main" val="1993218485"/>
      </p:ext>
    </p:extLst>
  </p:cSld>
</p:sld>
</file>

<file path=ppt/slides/slide3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DO-178C defines objectives; DO-331 addresses model use</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35</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3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Software levels scale rigor—and independence is planned</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36</a:t>
            </a:r>
          </a:p>
        </p:txBody>
      </p:sp>
      <p:sp>
        <p:nvSpPr>
          <p:cNvPr id="31" name="s26-level-heading">
            <a:extLst xmlns:a="http://schemas.openxmlformats.org/drawingml/2006/main">
              <a:ext uri="{FF2B5EF4-FFF2-40B4-BE49-F238E27FC236}">
                <a16:creationId xmlns:a16="http://schemas.microsoft.com/office/drawing/2014/main" id="{6550523A-3F6A-4546-A4B6-63CF8A11741C}"/>
              </a:ext>
            </a:extLst>
          </p:cNvPr>
          <p:cNvSpPr>
            <a:spLocks xmlns:a="http://schemas.openxmlformats.org/drawingml/2006/main" noGrp="1"/>
          </p:cNvSpPr>
          <p:nvPr/>
        </p:nvSpPr>
        <p:spPr>
          <a:xfrm xmlns:a="http://schemas.openxmlformats.org/drawingml/2006/main">
            <a:off x="685800" y="1381125"/>
            <a:ext cx="584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D6CDF"/>
                </a:solidFill>
                <a:latin typeface="Aptos"/>
                <a:ea typeface="Aptos"/>
                <a:cs typeface="Aptos"/>
              </a:defRPr>
            </a:pPr>
            <a:r>
              <a:rPr sz="1125" b="1">
                <a:solidFill>
                  <a:srgbClr val="2D6CDF"/>
                </a:solidFill>
                <a:latin typeface="Aptos"/>
                <a:ea typeface="Aptos"/>
                <a:cs typeface="Aptos"/>
              </a:rPr>
              <a:t>DO-178C SOFTWARE LEVEL</a:t>
            </a:r>
          </a:p>
        </p:txBody>
      </p:sp>
      <p:sp>
        <p:nvSpPr>
          <p:cNvPr id="32" name="s26-ind-heading">
            <a:extLst xmlns:a="http://schemas.openxmlformats.org/drawingml/2006/main">
              <a:ext uri="{FF2B5EF4-FFF2-40B4-BE49-F238E27FC236}">
                <a16:creationId xmlns:a16="http://schemas.microsoft.com/office/drawing/2014/main" id="{09CAB67C-8DF2-45A6-99C1-03AB4DF2F9B8}"/>
              </a:ext>
            </a:extLst>
          </p:cNvPr>
          <p:cNvSpPr>
            <a:spLocks xmlns:a="http://schemas.openxmlformats.org/drawingml/2006/main" noGrp="1"/>
          </p:cNvSpPr>
          <p:nvPr/>
        </p:nvSpPr>
        <p:spPr>
          <a:xfrm xmlns:a="http://schemas.openxmlformats.org/drawingml/2006/main">
            <a:off x="6896100" y="1381125"/>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INDEPENDENCE IS OBJECTIVE-SPECIFIC</a:t>
            </a:r>
          </a:p>
        </p:txBody>
      </p:sp>
      <p:sp>
        <p:nvSpPr>
          <p:cNvPr id="33" name="s26-level-0">
            <a:extLst xmlns:a="http://schemas.openxmlformats.org/drawingml/2006/main">
              <a:ext uri="{FF2B5EF4-FFF2-40B4-BE49-F238E27FC236}">
                <a16:creationId xmlns:a16="http://schemas.microsoft.com/office/drawing/2014/main" id="{54DB5E27-B5AD-4967-AE2D-505FB0758AF7}"/>
              </a:ext>
            </a:extLst>
          </p:cNvPr>
          <p:cNvSpPr>
            <a:spLocks xmlns:a="http://schemas.openxmlformats.org/drawingml/2006/main" noGrp="1"/>
          </p:cNvSpPr>
          <p:nvPr/>
        </p:nvSpPr>
        <p:spPr>
          <a:xfrm xmlns:a="http://schemas.openxmlformats.org/drawingml/2006/main">
            <a:off x="685800" y="1724025"/>
            <a:ext cx="5848350" cy="590550"/>
          </a:xfrm>
          <a:prstGeom xmlns:a="http://schemas.openxmlformats.org/drawingml/2006/main" prst="roundRect">
            <a:avLst>
              <a:gd name="adj" fmla="val 19355"/>
            </a:avLst>
          </a:prstGeom>
          <a:solidFill xmlns:a="http://schemas.openxmlformats.org/drawingml/2006/main">
            <a:srgbClr val="FBE7E9"/>
          </a:solidFill>
          <a:ln xmlns:a="http://schemas.openxmlformats.org/drawingml/2006/main" w="12383">
            <a:solidFill>
              <a:srgbClr val="D75A64"/>
            </a:solidFill>
            <a:prstDash val="solid"/>
          </a:ln>
        </p:spPr>
      </p:sp>
      <p:sp>
        <p:nvSpPr>
          <p:cNvPr id="34" name="s26-letter-0">
            <a:extLst xmlns:a="http://schemas.openxmlformats.org/drawingml/2006/main">
              <a:ext uri="{FF2B5EF4-FFF2-40B4-BE49-F238E27FC236}">
                <a16:creationId xmlns:a16="http://schemas.microsoft.com/office/drawing/2014/main" id="{6185B500-8345-4C27-8E5A-AE2CA85D7AEC}"/>
              </a:ext>
            </a:extLst>
          </p:cNvPr>
          <p:cNvSpPr>
            <a:spLocks xmlns:a="http://schemas.openxmlformats.org/drawingml/2006/main" noGrp="1"/>
          </p:cNvSpPr>
          <p:nvPr/>
        </p:nvSpPr>
        <p:spPr>
          <a:xfrm xmlns:a="http://schemas.openxmlformats.org/drawingml/2006/main">
            <a:off x="819150" y="1819275"/>
            <a:ext cx="447675" cy="400050"/>
          </a:xfrm>
          <a:prstGeom xmlns:a="http://schemas.openxmlformats.org/drawingml/2006/main" prst="roundRect">
            <a:avLst>
              <a:gd name="adj" fmla="val 28571"/>
            </a:avLst>
          </a:prstGeom>
          <a:solidFill xmlns:a="http://schemas.openxmlformats.org/drawingml/2006/main">
            <a:srgbClr val="D75A64"/>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A</a:t>
            </a:r>
          </a:p>
        </p:txBody>
      </p:sp>
      <p:sp>
        <p:nvSpPr>
          <p:cNvPr id="35" name="s26-cond-0">
            <a:extLst xmlns:a="http://schemas.openxmlformats.org/drawingml/2006/main">
              <a:ext uri="{FF2B5EF4-FFF2-40B4-BE49-F238E27FC236}">
                <a16:creationId xmlns:a16="http://schemas.microsoft.com/office/drawing/2014/main" id="{06E5156A-0FA7-4569-BDF3-C7554AF06615}"/>
              </a:ext>
            </a:extLst>
          </p:cNvPr>
          <p:cNvSpPr>
            <a:spLocks xmlns:a="http://schemas.openxmlformats.org/drawingml/2006/main" noGrp="1"/>
          </p:cNvSpPr>
          <p:nvPr/>
        </p:nvSpPr>
        <p:spPr>
          <a:xfrm xmlns:a="http://schemas.openxmlformats.org/drawingml/2006/main">
            <a:off x="1438275" y="18002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Catastrophic</a:t>
            </a:r>
          </a:p>
        </p:txBody>
      </p:sp>
      <p:sp>
        <p:nvSpPr>
          <p:cNvPr id="36" name="s26-impl-0">
            <a:extLst xmlns:a="http://schemas.openxmlformats.org/drawingml/2006/main">
              <a:ext uri="{FF2B5EF4-FFF2-40B4-BE49-F238E27FC236}">
                <a16:creationId xmlns:a16="http://schemas.microsoft.com/office/drawing/2014/main" id="{99760306-503F-41AB-A7DB-E76559486A10}"/>
              </a:ext>
            </a:extLst>
          </p:cNvPr>
          <p:cNvSpPr>
            <a:spLocks xmlns:a="http://schemas.openxmlformats.org/drawingml/2006/main" noGrp="1"/>
          </p:cNvSpPr>
          <p:nvPr/>
        </p:nvSpPr>
        <p:spPr>
          <a:xfrm xmlns:a="http://schemas.openxmlformats.org/drawingml/2006/main">
            <a:off x="3543300" y="18002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highest applicable rigor + independence</a:t>
            </a:r>
          </a:p>
        </p:txBody>
      </p:sp>
      <p:sp>
        <p:nvSpPr>
          <p:cNvPr id="37" name="s26-level-1">
            <a:extLst xmlns:a="http://schemas.openxmlformats.org/drawingml/2006/main">
              <a:ext uri="{FF2B5EF4-FFF2-40B4-BE49-F238E27FC236}">
                <a16:creationId xmlns:a16="http://schemas.microsoft.com/office/drawing/2014/main" id="{28FE4766-73B6-4F1B-ADB7-B2327FA3E3BD}"/>
              </a:ext>
            </a:extLst>
          </p:cNvPr>
          <p:cNvSpPr>
            <a:spLocks xmlns:a="http://schemas.openxmlformats.org/drawingml/2006/main" noGrp="1"/>
          </p:cNvSpPr>
          <p:nvPr/>
        </p:nvSpPr>
        <p:spPr>
          <a:xfrm xmlns:a="http://schemas.openxmlformats.org/drawingml/2006/main">
            <a:off x="685800" y="2447925"/>
            <a:ext cx="5848350" cy="590550"/>
          </a:xfrm>
          <a:prstGeom xmlns:a="http://schemas.openxmlformats.org/drawingml/2006/main" prst="roundRect">
            <a:avLst>
              <a:gd name="adj" fmla="val 19355"/>
            </a:avLst>
          </a:prstGeom>
          <a:solidFill xmlns:a="http://schemas.openxmlformats.org/drawingml/2006/main">
            <a:srgbClr val="FFF0D7"/>
          </a:solidFill>
          <a:ln xmlns:a="http://schemas.openxmlformats.org/drawingml/2006/main" w="12383">
            <a:solidFill>
              <a:srgbClr val="E9A23B"/>
            </a:solidFill>
            <a:prstDash val="solid"/>
          </a:ln>
        </p:spPr>
      </p:sp>
      <p:sp>
        <p:nvSpPr>
          <p:cNvPr id="38" name="s26-letter-1">
            <a:extLst xmlns:a="http://schemas.openxmlformats.org/drawingml/2006/main">
              <a:ext uri="{FF2B5EF4-FFF2-40B4-BE49-F238E27FC236}">
                <a16:creationId xmlns:a16="http://schemas.microsoft.com/office/drawing/2014/main" id="{72E01BE2-EBA8-4CCB-B69C-125E03A45F17}"/>
              </a:ext>
            </a:extLst>
          </p:cNvPr>
          <p:cNvSpPr>
            <a:spLocks xmlns:a="http://schemas.openxmlformats.org/drawingml/2006/main" noGrp="1"/>
          </p:cNvSpPr>
          <p:nvPr/>
        </p:nvSpPr>
        <p:spPr>
          <a:xfrm xmlns:a="http://schemas.openxmlformats.org/drawingml/2006/main">
            <a:off x="819150" y="2543175"/>
            <a:ext cx="447675" cy="400050"/>
          </a:xfrm>
          <a:prstGeom xmlns:a="http://schemas.openxmlformats.org/drawingml/2006/main" prst="roundRect">
            <a:avLst>
              <a:gd name="adj" fmla="val 28571"/>
            </a:avLst>
          </a:prstGeom>
          <a:solidFill xmlns:a="http://schemas.openxmlformats.org/drawingml/2006/main">
            <a:srgbClr val="E9A23B"/>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B</a:t>
            </a:r>
          </a:p>
        </p:txBody>
      </p:sp>
      <p:sp>
        <p:nvSpPr>
          <p:cNvPr id="39" name="s26-cond-1">
            <a:extLst xmlns:a="http://schemas.openxmlformats.org/drawingml/2006/main">
              <a:ext uri="{FF2B5EF4-FFF2-40B4-BE49-F238E27FC236}">
                <a16:creationId xmlns:a16="http://schemas.microsoft.com/office/drawing/2014/main" id="{66D3CF1E-3B3F-4304-8A53-3E810C564EDE}"/>
              </a:ext>
            </a:extLst>
          </p:cNvPr>
          <p:cNvSpPr>
            <a:spLocks xmlns:a="http://schemas.openxmlformats.org/drawingml/2006/main" noGrp="1"/>
          </p:cNvSpPr>
          <p:nvPr/>
        </p:nvSpPr>
        <p:spPr>
          <a:xfrm xmlns:a="http://schemas.openxmlformats.org/drawingml/2006/main">
            <a:off x="1438275" y="25241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Hazardous / Severe-Major</a:t>
            </a:r>
          </a:p>
        </p:txBody>
      </p:sp>
      <p:sp>
        <p:nvSpPr>
          <p:cNvPr id="40" name="s26-impl-1">
            <a:extLst xmlns:a="http://schemas.openxmlformats.org/drawingml/2006/main">
              <a:ext uri="{FF2B5EF4-FFF2-40B4-BE49-F238E27FC236}">
                <a16:creationId xmlns:a16="http://schemas.microsoft.com/office/drawing/2014/main" id="{D8254171-E437-473E-956F-4C2729DBF6CA}"/>
              </a:ext>
            </a:extLst>
          </p:cNvPr>
          <p:cNvSpPr>
            <a:spLocks xmlns:a="http://schemas.openxmlformats.org/drawingml/2006/main" noGrp="1"/>
          </p:cNvSpPr>
          <p:nvPr/>
        </p:nvSpPr>
        <p:spPr>
          <a:xfrm xmlns:a="http://schemas.openxmlformats.org/drawingml/2006/main">
            <a:off x="3543300" y="25241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very high rigor</a:t>
            </a:r>
          </a:p>
        </p:txBody>
      </p:sp>
      <p:sp>
        <p:nvSpPr>
          <p:cNvPr id="41" name="s26-level-2">
            <a:extLst xmlns:a="http://schemas.openxmlformats.org/drawingml/2006/main">
              <a:ext uri="{FF2B5EF4-FFF2-40B4-BE49-F238E27FC236}">
                <a16:creationId xmlns:a16="http://schemas.microsoft.com/office/drawing/2014/main" id="{C8762727-95DA-472D-AD3F-49E573C748DF}"/>
              </a:ext>
            </a:extLst>
          </p:cNvPr>
          <p:cNvSpPr>
            <a:spLocks xmlns:a="http://schemas.openxmlformats.org/drawingml/2006/main" noGrp="1"/>
          </p:cNvSpPr>
          <p:nvPr/>
        </p:nvSpPr>
        <p:spPr>
          <a:xfrm xmlns:a="http://schemas.openxmlformats.org/drawingml/2006/main">
            <a:off x="685800" y="3171825"/>
            <a:ext cx="5848350" cy="590550"/>
          </a:xfrm>
          <a:prstGeom xmlns:a="http://schemas.openxmlformats.org/drawingml/2006/main" prst="roundRect">
            <a:avLst>
              <a:gd name="adj" fmla="val 19355"/>
            </a:avLst>
          </a:prstGeom>
          <a:solidFill xmlns:a="http://schemas.openxmlformats.org/drawingml/2006/main">
            <a:srgbClr val="E2ECFF"/>
          </a:solidFill>
          <a:ln xmlns:a="http://schemas.openxmlformats.org/drawingml/2006/main" w="12383">
            <a:solidFill>
              <a:srgbClr val="2D6CDF"/>
            </a:solidFill>
            <a:prstDash val="solid"/>
          </a:ln>
        </p:spPr>
      </p:sp>
      <p:sp>
        <p:nvSpPr>
          <p:cNvPr id="42" name="s26-letter-2">
            <a:extLst xmlns:a="http://schemas.openxmlformats.org/drawingml/2006/main">
              <a:ext uri="{FF2B5EF4-FFF2-40B4-BE49-F238E27FC236}">
                <a16:creationId xmlns:a16="http://schemas.microsoft.com/office/drawing/2014/main" id="{FAAF729C-704B-4B54-A699-7E9F8C309397}"/>
              </a:ext>
            </a:extLst>
          </p:cNvPr>
          <p:cNvSpPr>
            <a:spLocks xmlns:a="http://schemas.openxmlformats.org/drawingml/2006/main" noGrp="1"/>
          </p:cNvSpPr>
          <p:nvPr/>
        </p:nvSpPr>
        <p:spPr>
          <a:xfrm xmlns:a="http://schemas.openxmlformats.org/drawingml/2006/main">
            <a:off x="819150" y="3267075"/>
            <a:ext cx="447675" cy="400050"/>
          </a:xfrm>
          <a:prstGeom xmlns:a="http://schemas.openxmlformats.org/drawingml/2006/main" prst="roundRect">
            <a:avLst>
              <a:gd name="adj" fmla="val 28571"/>
            </a:avLst>
          </a:prstGeom>
          <a:solidFill xmlns:a="http://schemas.openxmlformats.org/drawingml/2006/main">
            <a:srgbClr val="2D6CD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C</a:t>
            </a:r>
          </a:p>
        </p:txBody>
      </p:sp>
      <p:sp>
        <p:nvSpPr>
          <p:cNvPr id="43" name="s26-cond-2">
            <a:extLst xmlns:a="http://schemas.openxmlformats.org/drawingml/2006/main">
              <a:ext uri="{FF2B5EF4-FFF2-40B4-BE49-F238E27FC236}">
                <a16:creationId xmlns:a16="http://schemas.microsoft.com/office/drawing/2014/main" id="{38433486-5708-4AE2-B5C2-64AF9E6A4CC9}"/>
              </a:ext>
            </a:extLst>
          </p:cNvPr>
          <p:cNvSpPr>
            <a:spLocks xmlns:a="http://schemas.openxmlformats.org/drawingml/2006/main" noGrp="1"/>
          </p:cNvSpPr>
          <p:nvPr/>
        </p:nvSpPr>
        <p:spPr>
          <a:xfrm xmlns:a="http://schemas.openxmlformats.org/drawingml/2006/main">
            <a:off x="1438275" y="32480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Major</a:t>
            </a:r>
          </a:p>
        </p:txBody>
      </p:sp>
      <p:sp>
        <p:nvSpPr>
          <p:cNvPr id="44" name="s26-impl-2">
            <a:extLst xmlns:a="http://schemas.openxmlformats.org/drawingml/2006/main">
              <a:ext uri="{FF2B5EF4-FFF2-40B4-BE49-F238E27FC236}">
                <a16:creationId xmlns:a16="http://schemas.microsoft.com/office/drawing/2014/main" id="{9EC84567-62FD-4C87-A7E0-E70F1BC4DC62}"/>
              </a:ext>
            </a:extLst>
          </p:cNvPr>
          <p:cNvSpPr>
            <a:spLocks xmlns:a="http://schemas.openxmlformats.org/drawingml/2006/main" noGrp="1"/>
          </p:cNvSpPr>
          <p:nvPr/>
        </p:nvSpPr>
        <p:spPr>
          <a:xfrm xmlns:a="http://schemas.openxmlformats.org/drawingml/2006/main">
            <a:off x="3543300" y="32480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substantial verification rigor</a:t>
            </a:r>
          </a:p>
        </p:txBody>
      </p:sp>
      <p:sp>
        <p:nvSpPr>
          <p:cNvPr id="45" name="s26-level-3">
            <a:extLst xmlns:a="http://schemas.openxmlformats.org/drawingml/2006/main">
              <a:ext uri="{FF2B5EF4-FFF2-40B4-BE49-F238E27FC236}">
                <a16:creationId xmlns:a16="http://schemas.microsoft.com/office/drawing/2014/main" id="{3D472F9A-46F8-460E-9B45-200FD577C947}"/>
              </a:ext>
            </a:extLst>
          </p:cNvPr>
          <p:cNvSpPr>
            <a:spLocks xmlns:a="http://schemas.openxmlformats.org/drawingml/2006/main" noGrp="1"/>
          </p:cNvSpPr>
          <p:nvPr/>
        </p:nvSpPr>
        <p:spPr>
          <a:xfrm xmlns:a="http://schemas.openxmlformats.org/drawingml/2006/main">
            <a:off x="685800" y="3895725"/>
            <a:ext cx="5848350" cy="590550"/>
          </a:xfrm>
          <a:prstGeom xmlns:a="http://schemas.openxmlformats.org/drawingml/2006/main" prst="roundRect">
            <a:avLst>
              <a:gd name="adj" fmla="val 19355"/>
            </a:avLst>
          </a:prstGeom>
          <a:solidFill xmlns:a="http://schemas.openxmlformats.org/drawingml/2006/main">
            <a:srgbClr val="E2F4EA"/>
          </a:solidFill>
          <a:ln xmlns:a="http://schemas.openxmlformats.org/drawingml/2006/main" w="12383">
            <a:solidFill>
              <a:srgbClr val="2CA56F"/>
            </a:solidFill>
            <a:prstDash val="solid"/>
          </a:ln>
        </p:spPr>
      </p:sp>
      <p:sp>
        <p:nvSpPr>
          <p:cNvPr id="46" name="s26-letter-3">
            <a:extLst xmlns:a="http://schemas.openxmlformats.org/drawingml/2006/main">
              <a:ext uri="{FF2B5EF4-FFF2-40B4-BE49-F238E27FC236}">
                <a16:creationId xmlns:a16="http://schemas.microsoft.com/office/drawing/2014/main" id="{88E71B93-EA73-4CD4-81E3-9C3D3A0DB45E}"/>
              </a:ext>
            </a:extLst>
          </p:cNvPr>
          <p:cNvSpPr>
            <a:spLocks xmlns:a="http://schemas.openxmlformats.org/drawingml/2006/main" noGrp="1"/>
          </p:cNvSpPr>
          <p:nvPr/>
        </p:nvSpPr>
        <p:spPr>
          <a:xfrm xmlns:a="http://schemas.openxmlformats.org/drawingml/2006/main">
            <a:off x="819150" y="3990975"/>
            <a:ext cx="447675" cy="400050"/>
          </a:xfrm>
          <a:prstGeom xmlns:a="http://schemas.openxmlformats.org/drawingml/2006/main" prst="roundRect">
            <a:avLst>
              <a:gd name="adj" fmla="val 28571"/>
            </a:avLst>
          </a:prstGeom>
          <a:solidFill xmlns:a="http://schemas.openxmlformats.org/drawingml/2006/main">
            <a:srgbClr val="2CA56F"/>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D</a:t>
            </a:r>
          </a:p>
        </p:txBody>
      </p:sp>
      <p:sp>
        <p:nvSpPr>
          <p:cNvPr id="47" name="s26-cond-3">
            <a:extLst xmlns:a="http://schemas.openxmlformats.org/drawingml/2006/main">
              <a:ext uri="{FF2B5EF4-FFF2-40B4-BE49-F238E27FC236}">
                <a16:creationId xmlns:a16="http://schemas.microsoft.com/office/drawing/2014/main" id="{4DBF6E3A-8BCE-492A-B5E4-B32C7A733114}"/>
              </a:ext>
            </a:extLst>
          </p:cNvPr>
          <p:cNvSpPr>
            <a:spLocks xmlns:a="http://schemas.openxmlformats.org/drawingml/2006/main" noGrp="1"/>
          </p:cNvSpPr>
          <p:nvPr/>
        </p:nvSpPr>
        <p:spPr>
          <a:xfrm xmlns:a="http://schemas.openxmlformats.org/drawingml/2006/main">
            <a:off x="1438275" y="39719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Minor</a:t>
            </a:r>
          </a:p>
        </p:txBody>
      </p:sp>
      <p:sp>
        <p:nvSpPr>
          <p:cNvPr id="48" name="s26-impl-3">
            <a:extLst xmlns:a="http://schemas.openxmlformats.org/drawingml/2006/main">
              <a:ext uri="{FF2B5EF4-FFF2-40B4-BE49-F238E27FC236}">
                <a16:creationId xmlns:a16="http://schemas.microsoft.com/office/drawing/2014/main" id="{497355D2-CB6C-4075-ABAD-F4B6A4292549}"/>
              </a:ext>
            </a:extLst>
          </p:cNvPr>
          <p:cNvSpPr>
            <a:spLocks xmlns:a="http://schemas.openxmlformats.org/drawingml/2006/main" noGrp="1"/>
          </p:cNvSpPr>
          <p:nvPr/>
        </p:nvSpPr>
        <p:spPr>
          <a:xfrm xmlns:a="http://schemas.openxmlformats.org/drawingml/2006/main">
            <a:off x="3543300" y="39719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reduced objective set</a:t>
            </a:r>
          </a:p>
        </p:txBody>
      </p:sp>
      <p:sp>
        <p:nvSpPr>
          <p:cNvPr id="49" name="s26-level-4">
            <a:extLst xmlns:a="http://schemas.openxmlformats.org/drawingml/2006/main">
              <a:ext uri="{FF2B5EF4-FFF2-40B4-BE49-F238E27FC236}">
                <a16:creationId xmlns:a16="http://schemas.microsoft.com/office/drawing/2014/main" id="{D9B1DD94-ADCB-46F5-AFE4-B02ABDCA5CCC}"/>
              </a:ext>
            </a:extLst>
          </p:cNvPr>
          <p:cNvSpPr>
            <a:spLocks xmlns:a="http://schemas.openxmlformats.org/drawingml/2006/main" noGrp="1"/>
          </p:cNvSpPr>
          <p:nvPr/>
        </p:nvSpPr>
        <p:spPr>
          <a:xfrm xmlns:a="http://schemas.openxmlformats.org/drawingml/2006/main">
            <a:off x="685800" y="4619625"/>
            <a:ext cx="5848350" cy="590550"/>
          </a:xfrm>
          <a:prstGeom xmlns:a="http://schemas.openxmlformats.org/drawingml/2006/main" prst="roundRect">
            <a:avLst>
              <a:gd name="adj" fmla="val 19355"/>
            </a:avLst>
          </a:prstGeom>
          <a:solidFill xmlns:a="http://schemas.openxmlformats.org/drawingml/2006/main">
            <a:srgbClr val="EEF4F8"/>
          </a:solidFill>
          <a:ln xmlns:a="http://schemas.openxmlformats.org/drawingml/2006/main" w="12383">
            <a:solidFill>
              <a:srgbClr val="5D7487"/>
            </a:solidFill>
            <a:prstDash val="solid"/>
          </a:ln>
        </p:spPr>
      </p:sp>
      <p:sp>
        <p:nvSpPr>
          <p:cNvPr id="50" name="s26-letter-4">
            <a:extLst xmlns:a="http://schemas.openxmlformats.org/drawingml/2006/main">
              <a:ext uri="{FF2B5EF4-FFF2-40B4-BE49-F238E27FC236}">
                <a16:creationId xmlns:a16="http://schemas.microsoft.com/office/drawing/2014/main" id="{C5915E81-EFB3-497D-8147-DF6D4CBF20F9}"/>
              </a:ext>
            </a:extLst>
          </p:cNvPr>
          <p:cNvSpPr>
            <a:spLocks xmlns:a="http://schemas.openxmlformats.org/drawingml/2006/main" noGrp="1"/>
          </p:cNvSpPr>
          <p:nvPr/>
        </p:nvSpPr>
        <p:spPr>
          <a:xfrm xmlns:a="http://schemas.openxmlformats.org/drawingml/2006/main">
            <a:off x="819150" y="4714875"/>
            <a:ext cx="447675" cy="400050"/>
          </a:xfrm>
          <a:prstGeom xmlns:a="http://schemas.openxmlformats.org/drawingml/2006/main" prst="roundRect">
            <a:avLst>
              <a:gd name="adj" fmla="val 28571"/>
            </a:avLst>
          </a:prstGeom>
          <a:solidFill xmlns:a="http://schemas.openxmlformats.org/drawingml/2006/main">
            <a:srgbClr val="5D7487"/>
          </a:solidFill>
          <a:ln xmlns:a="http://schemas.openxmlformats.org/drawingml/2006/main" w="14288">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E</a:t>
            </a:r>
          </a:p>
        </p:txBody>
      </p:sp>
      <p:sp>
        <p:nvSpPr>
          <p:cNvPr id="51" name="s26-cond-4">
            <a:extLst xmlns:a="http://schemas.openxmlformats.org/drawingml/2006/main">
              <a:ext uri="{FF2B5EF4-FFF2-40B4-BE49-F238E27FC236}">
                <a16:creationId xmlns:a16="http://schemas.microsoft.com/office/drawing/2014/main" id="{7DFB2ECD-8C90-49B8-BBA8-1A04621C8427}"/>
              </a:ext>
            </a:extLst>
          </p:cNvPr>
          <p:cNvSpPr>
            <a:spLocks xmlns:a="http://schemas.openxmlformats.org/drawingml/2006/main" noGrp="1"/>
          </p:cNvSpPr>
          <p:nvPr/>
        </p:nvSpPr>
        <p:spPr>
          <a:xfrm xmlns:a="http://schemas.openxmlformats.org/drawingml/2006/main">
            <a:off x="1438275" y="46958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No Effect</a:t>
            </a:r>
          </a:p>
        </p:txBody>
      </p:sp>
      <p:sp>
        <p:nvSpPr>
          <p:cNvPr id="52" name="s26-impl-4">
            <a:extLst xmlns:a="http://schemas.openxmlformats.org/drawingml/2006/main">
              <a:ext uri="{FF2B5EF4-FFF2-40B4-BE49-F238E27FC236}">
                <a16:creationId xmlns:a16="http://schemas.microsoft.com/office/drawing/2014/main" id="{52A9B23B-084D-40F1-BF1C-FD047E058BEB}"/>
              </a:ext>
            </a:extLst>
          </p:cNvPr>
          <p:cNvSpPr>
            <a:spLocks xmlns:a="http://schemas.openxmlformats.org/drawingml/2006/main" noGrp="1"/>
          </p:cNvSpPr>
          <p:nvPr/>
        </p:nvSpPr>
        <p:spPr>
          <a:xfrm xmlns:a="http://schemas.openxmlformats.org/drawingml/2006/main">
            <a:off x="3543300" y="46958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no DO-178C objectives apply</a:t>
            </a:r>
          </a:p>
        </p:txBody>
      </p:sp>
      <p:sp>
        <p:nvSpPr>
          <p:cNvPr id="53" name="s26-ind-0">
            <a:extLst xmlns:a="http://schemas.openxmlformats.org/drawingml/2006/main">
              <a:ext uri="{FF2B5EF4-FFF2-40B4-BE49-F238E27FC236}">
                <a16:creationId xmlns:a16="http://schemas.microsoft.com/office/drawing/2014/main" id="{A4FB38A9-7D75-4E71-9873-789897AE57ED}"/>
              </a:ext>
            </a:extLst>
          </p:cNvPr>
          <p:cNvSpPr>
            <a:spLocks xmlns:a="http://schemas.openxmlformats.org/drawingml/2006/main" noGrp="1"/>
          </p:cNvSpPr>
          <p:nvPr/>
        </p:nvSpPr>
        <p:spPr>
          <a:xfrm xmlns:a="http://schemas.openxmlformats.org/drawingml/2006/main">
            <a:off x="6896100" y="1724025"/>
            <a:ext cx="4610100" cy="990600"/>
          </a:xfrm>
          <a:prstGeom xmlns:a="http://schemas.openxmlformats.org/drawingml/2006/main" prst="roundRect">
            <a:avLst>
              <a:gd name="adj" fmla="val 11538"/>
            </a:avLst>
          </a:prstGeom>
          <a:solidFill xmlns:a="http://schemas.openxmlformats.org/drawingml/2006/main">
            <a:srgbClr val="DFF6F8"/>
          </a:solidFill>
          <a:ln xmlns:a="http://schemas.openxmlformats.org/drawingml/2006/main" w="14288">
            <a:solidFill>
              <a:srgbClr val="20B7C5"/>
            </a:solidFill>
            <a:prstDash val="solid"/>
          </a:ln>
        </p:spPr>
      </p:sp>
      <p:sp>
        <p:nvSpPr>
          <p:cNvPr id="54" name="s26-ind-title-0">
            <a:extLst xmlns:a="http://schemas.openxmlformats.org/drawingml/2006/main">
              <a:ext uri="{FF2B5EF4-FFF2-40B4-BE49-F238E27FC236}">
                <a16:creationId xmlns:a16="http://schemas.microsoft.com/office/drawing/2014/main" id="{ABC2F4AE-9FD5-4DA8-A63C-FF3A2A197D40}"/>
              </a:ext>
            </a:extLst>
          </p:cNvPr>
          <p:cNvSpPr>
            <a:spLocks xmlns:a="http://schemas.openxmlformats.org/drawingml/2006/main" noGrp="1"/>
          </p:cNvSpPr>
          <p:nvPr/>
        </p:nvSpPr>
        <p:spPr>
          <a:xfrm xmlns:a="http://schemas.openxmlformats.org/drawingml/2006/main">
            <a:off x="7086600" y="18383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PLANNED</a:t>
            </a:r>
          </a:p>
        </p:txBody>
      </p:sp>
      <p:sp>
        <p:nvSpPr>
          <p:cNvPr id="55" name="s26-ind-body-0">
            <a:extLst xmlns:a="http://schemas.openxmlformats.org/drawingml/2006/main">
              <a:ext uri="{FF2B5EF4-FFF2-40B4-BE49-F238E27FC236}">
                <a16:creationId xmlns:a16="http://schemas.microsoft.com/office/drawing/2014/main" id="{A54935B2-61FB-4E65-BC56-3B08D40DF6B3}"/>
              </a:ext>
            </a:extLst>
          </p:cNvPr>
          <p:cNvSpPr>
            <a:spLocks xmlns:a="http://schemas.openxmlformats.org/drawingml/2006/main" noGrp="1"/>
          </p:cNvSpPr>
          <p:nvPr/>
        </p:nvSpPr>
        <p:spPr>
          <a:xfrm xmlns:a="http://schemas.openxmlformats.org/drawingml/2006/main">
            <a:off x="7086600" y="20859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Approved plans designate which verification objectives require independence.</a:t>
            </a:r>
          </a:p>
        </p:txBody>
      </p:sp>
      <p:sp>
        <p:nvSpPr>
          <p:cNvPr id="56" name="s26-ind-1">
            <a:extLst xmlns:a="http://schemas.openxmlformats.org/drawingml/2006/main">
              <a:ext uri="{FF2B5EF4-FFF2-40B4-BE49-F238E27FC236}">
                <a16:creationId xmlns:a16="http://schemas.microsoft.com/office/drawing/2014/main" id="{0E393ED6-46E8-49E3-9BA2-1A8C05C98876}"/>
              </a:ext>
            </a:extLst>
          </p:cNvPr>
          <p:cNvSpPr>
            <a:spLocks xmlns:a="http://schemas.openxmlformats.org/drawingml/2006/main" noGrp="1"/>
          </p:cNvSpPr>
          <p:nvPr/>
        </p:nvSpPr>
        <p:spPr>
          <a:xfrm xmlns:a="http://schemas.openxmlformats.org/drawingml/2006/main">
            <a:off x="6896100" y="292417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57" name="s26-ind-title-1">
            <a:extLst xmlns:a="http://schemas.openxmlformats.org/drawingml/2006/main">
              <a:ext uri="{FF2B5EF4-FFF2-40B4-BE49-F238E27FC236}">
                <a16:creationId xmlns:a16="http://schemas.microsoft.com/office/drawing/2014/main" id="{286C58FA-052E-4FA9-B67F-BD1FC5C09B77}"/>
              </a:ext>
            </a:extLst>
          </p:cNvPr>
          <p:cNvSpPr>
            <a:spLocks xmlns:a="http://schemas.openxmlformats.org/drawingml/2006/main" noGrp="1"/>
          </p:cNvSpPr>
          <p:nvPr/>
        </p:nvSpPr>
        <p:spPr>
          <a:xfrm xmlns:a="http://schemas.openxmlformats.org/drawingml/2006/main">
            <a:off x="7086600" y="30384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ROLE-BASED</a:t>
            </a:r>
          </a:p>
        </p:txBody>
      </p:sp>
      <p:sp>
        <p:nvSpPr>
          <p:cNvPr id="58" name="s26-ind-body-1">
            <a:extLst xmlns:a="http://schemas.openxmlformats.org/drawingml/2006/main">
              <a:ext uri="{FF2B5EF4-FFF2-40B4-BE49-F238E27FC236}">
                <a16:creationId xmlns:a16="http://schemas.microsoft.com/office/drawing/2014/main" id="{7E6AA54C-3CB2-4682-B0E3-2322FBBA2012}"/>
              </a:ext>
            </a:extLst>
          </p:cNvPr>
          <p:cNvSpPr>
            <a:spLocks xmlns:a="http://schemas.openxmlformats.org/drawingml/2006/main" noGrp="1"/>
          </p:cNvSpPr>
          <p:nvPr/>
        </p:nvSpPr>
        <p:spPr>
          <a:xfrm xmlns:a="http://schemas.openxmlformats.org/drawingml/2006/main">
            <a:off x="7086600" y="328612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Where required, the author is not the sole independent verifier of their own work.</a:t>
            </a:r>
          </a:p>
        </p:txBody>
      </p:sp>
      <p:sp>
        <p:nvSpPr>
          <p:cNvPr id="59" name="s26-ind-2">
            <a:extLst xmlns:a="http://schemas.openxmlformats.org/drawingml/2006/main">
              <a:ext uri="{FF2B5EF4-FFF2-40B4-BE49-F238E27FC236}">
                <a16:creationId xmlns:a16="http://schemas.microsoft.com/office/drawing/2014/main" id="{F14AC1A6-6269-4885-9930-D9CB64F09C67}"/>
              </a:ext>
            </a:extLst>
          </p:cNvPr>
          <p:cNvSpPr>
            <a:spLocks xmlns:a="http://schemas.openxmlformats.org/drawingml/2006/main" noGrp="1"/>
          </p:cNvSpPr>
          <p:nvPr/>
        </p:nvSpPr>
        <p:spPr>
          <a:xfrm xmlns:a="http://schemas.openxmlformats.org/drawingml/2006/main">
            <a:off x="6896100" y="412432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60" name="s26-ind-title-2">
            <a:extLst xmlns:a="http://schemas.openxmlformats.org/drawingml/2006/main">
              <a:ext uri="{FF2B5EF4-FFF2-40B4-BE49-F238E27FC236}">
                <a16:creationId xmlns:a16="http://schemas.microsoft.com/office/drawing/2014/main" id="{92325337-F0B1-4DCD-96FC-C5D9287C4D5E}"/>
              </a:ext>
            </a:extLst>
          </p:cNvPr>
          <p:cNvSpPr>
            <a:spLocks xmlns:a="http://schemas.openxmlformats.org/drawingml/2006/main" noGrp="1"/>
          </p:cNvSpPr>
          <p:nvPr/>
        </p:nvSpPr>
        <p:spPr>
          <a:xfrm xmlns:a="http://schemas.openxmlformats.org/drawingml/2006/main">
            <a:off x="7086600" y="42386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EVIDENCED</a:t>
            </a:r>
          </a:p>
        </p:txBody>
      </p:sp>
      <p:sp>
        <p:nvSpPr>
          <p:cNvPr id="61" name="s26-ind-body-2">
            <a:extLst xmlns:a="http://schemas.openxmlformats.org/drawingml/2006/main">
              <a:ext uri="{FF2B5EF4-FFF2-40B4-BE49-F238E27FC236}">
                <a16:creationId xmlns:a16="http://schemas.microsoft.com/office/drawing/2014/main" id="{FBFB5AC1-D798-4EA1-B1F5-2958447B2587}"/>
              </a:ext>
            </a:extLst>
          </p:cNvPr>
          <p:cNvSpPr>
            <a:spLocks xmlns:a="http://schemas.openxmlformats.org/drawingml/2006/main" noGrp="1"/>
          </p:cNvSpPr>
          <p:nvPr/>
        </p:nvSpPr>
        <p:spPr>
          <a:xfrm xmlns:a="http://schemas.openxmlformats.org/drawingml/2006/main">
            <a:off x="7086600" y="44862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Review records identify the verifier, activity, baseline, findings, and disposition.</a:t>
            </a:r>
          </a:p>
        </p:txBody>
      </p:sp>
      <p:sp>
        <p:nvSpPr>
          <p:cNvPr id="62" name="s26-takeaway">
            <a:extLst xmlns:a="http://schemas.openxmlformats.org/drawingml/2006/main">
              <a:ext uri="{FF2B5EF4-FFF2-40B4-BE49-F238E27FC236}">
                <a16:creationId xmlns:a16="http://schemas.microsoft.com/office/drawing/2014/main" id="{96A6152F-4749-4F3B-83D7-A0E19B84D863}"/>
              </a:ext>
            </a:extLst>
          </p:cNvPr>
          <p:cNvSpPr>
            <a:spLocks xmlns:a="http://schemas.openxmlformats.org/drawingml/2006/main" noGrp="1"/>
          </p:cNvSpPr>
          <p:nvPr/>
        </p:nvSpPr>
        <p:spPr>
          <a:xfrm xmlns:a="http://schemas.openxmlformats.org/drawingml/2006/main">
            <a:off x="6896100" y="5467350"/>
            <a:ext cx="4610100" cy="590550"/>
          </a:xfrm>
          <a:prstGeom xmlns:a="http://schemas.openxmlformats.org/drawingml/2006/main" prst="roundRect">
            <a:avLst>
              <a:gd name="adj" fmla="val 1935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Use “DO-178C Software Level A” unless discussing a broader system DAL allocation.</a:t>
            </a:r>
          </a:p>
        </p:txBody>
      </p:sp>
    </p:spTree>
    <p:extLst>
      <p:ext uri="{BB962C8B-B14F-4D97-AF65-F5344CB8AC3E}">
        <p14:creationId xmlns:p14="http://schemas.microsoft.com/office/powerpoint/2010/main" val="1670726246"/>
      </p:ext>
    </p:extLst>
  </p:cSld>
</p:sld>
</file>

<file path=ppt/slides/slide3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V-model pairs every definition with verification</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38</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buNone/>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487"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488"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489"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490"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491"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buNone/>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buNone/>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buNone/>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4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Illustrative requirements make the training chain explicit</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SYSTEM</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PSYS-001</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Before the pitch controller, constrain a valid Normal-mode pitch-rate command to |q_cmd| ≤ 12 deg/s; otherwise substitute 0 deg/s.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HLR  SWHLR-001 / PRL-001</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When normal_mode and input_valid are true, q_cmd_out = min(max(q_cmd_in, −12), +12); otherwise q_cmd_out = 0 deg/s.</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LLR / DESIGN  SWLLR-001</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Magnitude Clamp applies ±q_limit_normal; Normal AND Valid drives Select Valid Command; Training Fallback Command is 0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STATUS + TIMING  PRL-003 / PRL-004</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limiter_active is true only outside ±12 during valid Normal mode; the component updates at 50 Hz with no added state dynamics.</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215" b="1">
                <a:solidFill>
                  <a:srgbClr val="FFFFFF"/>
                </a:solidFill>
                <a:latin typeface="Aptos"/>
                <a:ea typeface="Aptos"/>
                <a:cs typeface="Aptos"/>
              </a:defRPr>
            </a:pPr>
            <a:r>
              <a:rPr sz="1215" b="1">
                <a:solidFill>
                  <a:srgbClr val="FFFFFF"/>
                </a:solidFill>
                <a:latin typeface="Aptos"/>
                <a:ea typeface="Aptos"/>
                <a:cs typeface="Aptos"/>
              </a:rPr>
              <a:t>Illustrative classroom requirements — not production aircraft data or an approved certification baseline.</a:t>
            </a:r>
          </a:p>
        </p:txBody>
      </p:sp>
      <p:sp>
        <p:nvSpPr>
          <p:cNvPr id="19" name="text-265-v4">
            <a:extLst xmlns:a="http://schemas.openxmlformats.org/drawingml/2006/main">
              <a:ext uri="{FF2B5EF4-FFF2-40B4-BE49-F238E27FC236}">
                <a16:creationId xmlns:a16="http://schemas.microsoft.com/office/drawing/2014/main" id="{28491B56-FEAB-410F-B8E0-19F9FD5C257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20" name="page-18-v4">
            <a:extLst xmlns:a="http://schemas.openxmlformats.org/drawingml/2006/main">
              <a:ext uri="{FF2B5EF4-FFF2-40B4-BE49-F238E27FC236}">
                <a16:creationId xmlns:a16="http://schemas.microsoft.com/office/drawing/2014/main" id="{03111C0C-A7EC-430B-B609-2CFE71EE254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39</a:t>
            </a:r>
          </a:p>
        </p:txBody>
      </p:sp>
    </p:spTree>
    <p:extLst>
      <p:ext uri="{BB962C8B-B14F-4D97-AF65-F5344CB8AC3E}">
        <p14:creationId xmlns:p14="http://schemas.microsoft.com/office/powerpoint/2010/main" val="125380021"/>
      </p:ext>
    </p:extLst>
  </p:cSld>
</p:sld>
</file>

<file path=ppt/slides/slide4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CI automates evidence production—not approval</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49</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278"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79"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80"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281"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82"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45" b="0" i="0">
                <a:solidFill>
                  <a:srgbClr val="D8E8F1"/>
                </a:solidFill>
                <a:latin typeface="Aptos"/>
                <a:ea typeface="Aptos"/>
                <a:cs typeface="Aptos"/>
              </a:defRPr>
            </a:pPr>
            <a:r>
              <a:rPr sz="1245" b="0" i="0">
                <a:solidFill>
                  <a:srgbClr val="D8E8F1"/>
                </a:solidFill>
                <a:latin typeface="Aptos"/>
                <a:ea typeface="Aptos"/>
                <a:cs typeface="Aptos"/>
              </a:rPr>
              <a:t>initializes the repository, updates models, runs checks and the MATLAB harness driver; the two retained .mldatx files are SDI artifacts—not Test Manager suites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5000"/>
              </a:lnSpc>
              <a:buNone/>
              <a:defRPr sz="1500" b="1" i="0">
                <a:solidFill>
                  <a:srgbClr val="70DCE5"/>
                </a:solidFill>
                <a:latin typeface="Aptos"/>
                <a:ea typeface="Aptos"/>
                <a:cs typeface="Aptos"/>
              </a:defRPr>
            </a:pPr>
            <a:r>
              <a:rPr sz="1500" b="1" i="0">
                <a:solidFill>
                  <a:srgbClr val="70DCE5"/>
                </a:solidFill>
                <a:latin typeface="Aptos"/>
                <a:ea typeface="Aptos"/>
                <a:cs typeface="Aptos"/>
              </a:rPr>
              <a:t>A green pipeline is controlled evidence input—not certification approval.</a:t>
            </a:r>
          </a:p>
        </p:txBody>
      </p:sp>
    </p:spTree>
    <p:extLst>
      <p:ext uri="{BB962C8B-B14F-4D97-AF65-F5344CB8AC3E}">
        <p14:creationId xmlns:p14="http://schemas.microsoft.com/office/powerpoint/2010/main" val="92477978"/>
      </p:ext>
    </p:extLst>
  </p:cSld>
</p:sld>
</file>

<file path=ppt/slides/slide4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50</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236"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237"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238"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39"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4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FFFFFF"/>
                </a:solidFill>
                <a:latin typeface="Aptos"/>
                <a:ea typeface="Aptos"/>
                <a:cs typeface="Aptos"/>
              </a:defRPr>
            </a:pPr>
            <a:r>
              <a:rPr sz="2850" b="1" i="0">
                <a:solidFill>
                  <a:srgbClr val="FFFFFF"/>
                </a:solidFill>
                <a:latin typeface="Aptos"/>
                <a:ea typeface="Aptos"/>
                <a:cs typeface="Aptos"/>
              </a:rPr>
              <a:t>MIL, SIL, PIL, HIL, bench, and system integration are distinct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51</a:t>
            </a:r>
          </a:p>
        </p:txBody>
      </p:sp>
      <p:sp>
        <p:nvSpPr>
          <p:cNvPr id="18" name="s39-card-0">
            <a:extLst xmlns:a="http://schemas.openxmlformats.org/drawingml/2006/main">
              <a:ext uri="{FF2B5EF4-FFF2-40B4-BE49-F238E27FC236}">
                <a16:creationId xmlns:a16="http://schemas.microsoft.com/office/drawing/2014/main" id="{4B3CFF97-D94C-4C55-8AEB-DA012DD4FF3F}"/>
              </a:ext>
            </a:extLst>
          </p:cNvPr>
          <p:cNvSpPr>
            <a:spLocks xmlns:a="http://schemas.openxmlformats.org/drawingml/2006/main" noGrp="1"/>
          </p:cNvSpPr>
          <p:nvPr/>
        </p:nvSpPr>
        <p:spPr>
          <a:xfrm xmlns:a="http://schemas.openxmlformats.org/drawingml/2006/main">
            <a:off x="685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CA56F"/>
            </a:solidFill>
            <a:prstDash val="solid"/>
          </a:ln>
        </p:spPr>
      </p:sp>
      <p:sp>
        <p:nvSpPr>
          <p:cNvPr id="19" name="s39-title-0">
            <a:extLst xmlns:a="http://schemas.openxmlformats.org/drawingml/2006/main">
              <a:ext uri="{FF2B5EF4-FFF2-40B4-BE49-F238E27FC236}">
                <a16:creationId xmlns:a16="http://schemas.microsoft.com/office/drawing/2014/main" id="{36B58256-0468-447C-ABB9-23FBB85427E7}"/>
              </a:ext>
            </a:extLst>
          </p:cNvPr>
          <p:cNvSpPr>
            <a:spLocks xmlns:a="http://schemas.openxmlformats.org/drawingml/2006/main" noGrp="1"/>
          </p:cNvSpPr>
          <p:nvPr/>
        </p:nvSpPr>
        <p:spPr>
          <a:xfrm xmlns:a="http://schemas.openxmlformats.org/drawingml/2006/main">
            <a:off x="857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CA56F"/>
                </a:solidFill>
                <a:latin typeface="Aptos"/>
                <a:ea typeface="Aptos"/>
                <a:cs typeface="Aptos"/>
              </a:defRPr>
            </a:pPr>
            <a:r>
              <a:rPr sz="1575" b="1">
                <a:solidFill>
                  <a:srgbClr val="2CA56F"/>
                </a:solidFill>
                <a:latin typeface="Aptos"/>
                <a:ea typeface="Aptos"/>
                <a:cs typeface="Aptos"/>
              </a:rPr>
              <a:t>MIL</a:t>
            </a:r>
          </a:p>
        </p:txBody>
      </p:sp>
      <p:sp>
        <p:nvSpPr>
          <p:cNvPr id="20" name="s39-body-0">
            <a:extLst xmlns:a="http://schemas.openxmlformats.org/drawingml/2006/main">
              <a:ext uri="{FF2B5EF4-FFF2-40B4-BE49-F238E27FC236}">
                <a16:creationId xmlns:a16="http://schemas.microsoft.com/office/drawing/2014/main" id="{8B41761A-9AB4-42F0-9883-29D006566A17}"/>
              </a:ext>
            </a:extLst>
          </p:cNvPr>
          <p:cNvSpPr>
            <a:spLocks xmlns:a="http://schemas.openxmlformats.org/drawingml/2006/main" noGrp="1"/>
          </p:cNvSpPr>
          <p:nvPr/>
        </p:nvSpPr>
        <p:spPr>
          <a:xfrm xmlns:a="http://schemas.openxmlformats.org/drawingml/2006/main">
            <a:off x="857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Model/control logic executes with model plant or model environment.</a:t>
            </a:r>
          </a:p>
        </p:txBody>
      </p:sp>
      <p:sp>
        <p:nvSpPr>
          <p:cNvPr id="21" name="s39-status-0">
            <a:extLst xmlns:a="http://schemas.openxmlformats.org/drawingml/2006/main">
              <a:ext uri="{FF2B5EF4-FFF2-40B4-BE49-F238E27FC236}">
                <a16:creationId xmlns:a16="http://schemas.microsoft.com/office/drawing/2014/main" id="{26745AB3-709D-4CD7-8D94-631DF79B3945}"/>
              </a:ext>
            </a:extLst>
          </p:cNvPr>
          <p:cNvSpPr>
            <a:spLocks xmlns:a="http://schemas.openxmlformats.org/drawingml/2006/main" noGrp="1"/>
          </p:cNvSpPr>
          <p:nvPr/>
        </p:nvSpPr>
        <p:spPr>
          <a:xfrm xmlns:a="http://schemas.openxmlformats.org/drawingml/2006/main">
            <a:off x="971550" y="2800350"/>
            <a:ext cx="2781300" cy="304800"/>
          </a:xfrm>
          <a:prstGeom xmlns:a="http://schemas.openxmlformats.org/drawingml/2006/main" prst="roundRect">
            <a:avLst>
              <a:gd name="adj" fmla="val 37500"/>
            </a:avLst>
          </a:prstGeom>
          <a:solidFill xmlns:a="http://schemas.openxmlformats.org/drawingml/2006/main">
            <a:srgbClr val="E2F4EA"/>
          </a:solidFill>
          <a:ln xmlns:a="http://schemas.openxmlformats.org/drawingml/2006/main" w="952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EXECUTED HERE</a:t>
            </a:r>
          </a:p>
        </p:txBody>
      </p:sp>
      <p:sp>
        <p:nvSpPr>
          <p:cNvPr id="22" name="s39-card-1">
            <a:extLst xmlns:a="http://schemas.openxmlformats.org/drawingml/2006/main">
              <a:ext uri="{FF2B5EF4-FFF2-40B4-BE49-F238E27FC236}">
                <a16:creationId xmlns:a16="http://schemas.microsoft.com/office/drawing/2014/main" id="{406EECAD-CF2C-4696-BFB1-B5ECCA5A20FF}"/>
              </a:ext>
            </a:extLst>
          </p:cNvPr>
          <p:cNvSpPr>
            <a:spLocks xmlns:a="http://schemas.openxmlformats.org/drawingml/2006/main" noGrp="1"/>
          </p:cNvSpPr>
          <p:nvPr/>
        </p:nvSpPr>
        <p:spPr>
          <a:xfrm xmlns:a="http://schemas.openxmlformats.org/drawingml/2006/main">
            <a:off x="43053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D6CDF"/>
            </a:solidFill>
            <a:prstDash val="solid"/>
          </a:ln>
        </p:spPr>
      </p:sp>
      <p:sp>
        <p:nvSpPr>
          <p:cNvPr id="23" name="s39-title-1">
            <a:extLst xmlns:a="http://schemas.openxmlformats.org/drawingml/2006/main">
              <a:ext uri="{FF2B5EF4-FFF2-40B4-BE49-F238E27FC236}">
                <a16:creationId xmlns:a16="http://schemas.microsoft.com/office/drawing/2014/main" id="{AA95DF90-C831-4F0E-A0C8-B854C2B3CCD0}"/>
              </a:ext>
            </a:extLst>
          </p:cNvPr>
          <p:cNvSpPr>
            <a:spLocks xmlns:a="http://schemas.openxmlformats.org/drawingml/2006/main" noGrp="1"/>
          </p:cNvSpPr>
          <p:nvPr/>
        </p:nvSpPr>
        <p:spPr>
          <a:xfrm xmlns:a="http://schemas.openxmlformats.org/drawingml/2006/main">
            <a:off x="44767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D6CDF"/>
                </a:solidFill>
                <a:latin typeface="Aptos"/>
                <a:ea typeface="Aptos"/>
                <a:cs typeface="Aptos"/>
              </a:defRPr>
            </a:pPr>
            <a:r>
              <a:rPr sz="1575" b="1">
                <a:solidFill>
                  <a:srgbClr val="2D6CDF"/>
                </a:solidFill>
                <a:latin typeface="Aptos"/>
                <a:ea typeface="Aptos"/>
                <a:cs typeface="Aptos"/>
              </a:rPr>
              <a:t>SIL</a:t>
            </a:r>
          </a:p>
        </p:txBody>
      </p:sp>
      <p:sp>
        <p:nvSpPr>
          <p:cNvPr id="24" name="s39-body-1">
            <a:extLst xmlns:a="http://schemas.openxmlformats.org/drawingml/2006/main">
              <a:ext uri="{FF2B5EF4-FFF2-40B4-BE49-F238E27FC236}">
                <a16:creationId xmlns:a16="http://schemas.microsoft.com/office/drawing/2014/main" id="{D1901D99-71B2-4F55-B7AB-BBDD5603CF69}"/>
              </a:ext>
            </a:extLst>
          </p:cNvPr>
          <p:cNvSpPr>
            <a:spLocks xmlns:a="http://schemas.openxmlformats.org/drawingml/2006/main" noGrp="1"/>
          </p:cNvSpPr>
          <p:nvPr/>
        </p:nvSpPr>
        <p:spPr>
          <a:xfrm xmlns:a="http://schemas.openxmlformats.org/drawingml/2006/main">
            <a:off x="44767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software executes on the host using a software build.</a:t>
            </a:r>
          </a:p>
        </p:txBody>
      </p:sp>
      <p:sp>
        <p:nvSpPr>
          <p:cNvPr id="25" name="s39-status-1">
            <a:extLst xmlns:a="http://schemas.openxmlformats.org/drawingml/2006/main">
              <a:ext uri="{FF2B5EF4-FFF2-40B4-BE49-F238E27FC236}">
                <a16:creationId xmlns:a16="http://schemas.microsoft.com/office/drawing/2014/main" id="{6E4698EF-CCFC-4318-A5D6-BD47AE9BA43D}"/>
              </a:ext>
            </a:extLst>
          </p:cNvPr>
          <p:cNvSpPr>
            <a:spLocks xmlns:a="http://schemas.openxmlformats.org/drawingml/2006/main" noGrp="1"/>
          </p:cNvSpPr>
          <p:nvPr/>
        </p:nvSpPr>
        <p:spPr>
          <a:xfrm xmlns:a="http://schemas.openxmlformats.org/drawingml/2006/main">
            <a:off x="4591050" y="2800350"/>
            <a:ext cx="2781300" cy="304800"/>
          </a:xfrm>
          <a:prstGeom xmlns:a="http://schemas.openxmlformats.org/drawingml/2006/main" prst="roundRect">
            <a:avLst>
              <a:gd name="adj" fmla="val 37500"/>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26" name="s39-card-2">
            <a:extLst xmlns:a="http://schemas.openxmlformats.org/drawingml/2006/main">
              <a:ext uri="{FF2B5EF4-FFF2-40B4-BE49-F238E27FC236}">
                <a16:creationId xmlns:a16="http://schemas.microsoft.com/office/drawing/2014/main" id="{736915CD-3F41-4D94-AD1C-41BF130381A0}"/>
              </a:ext>
            </a:extLst>
          </p:cNvPr>
          <p:cNvSpPr>
            <a:spLocks xmlns:a="http://schemas.openxmlformats.org/drawingml/2006/main" noGrp="1"/>
          </p:cNvSpPr>
          <p:nvPr/>
        </p:nvSpPr>
        <p:spPr>
          <a:xfrm xmlns:a="http://schemas.openxmlformats.org/drawingml/2006/main">
            <a:off x="7924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E9A23B"/>
            </a:solidFill>
            <a:prstDash val="solid"/>
          </a:ln>
        </p:spPr>
      </p:sp>
      <p:sp>
        <p:nvSpPr>
          <p:cNvPr id="27" name="s39-title-2">
            <a:extLst xmlns:a="http://schemas.openxmlformats.org/drawingml/2006/main">
              <a:ext uri="{FF2B5EF4-FFF2-40B4-BE49-F238E27FC236}">
                <a16:creationId xmlns:a16="http://schemas.microsoft.com/office/drawing/2014/main" id="{C2EA5C53-EB61-444E-8633-FCE3197CC7FC}"/>
              </a:ext>
            </a:extLst>
          </p:cNvPr>
          <p:cNvSpPr>
            <a:spLocks xmlns:a="http://schemas.openxmlformats.org/drawingml/2006/main" noGrp="1"/>
          </p:cNvSpPr>
          <p:nvPr/>
        </p:nvSpPr>
        <p:spPr>
          <a:xfrm xmlns:a="http://schemas.openxmlformats.org/drawingml/2006/main">
            <a:off x="8096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E9A23B"/>
                </a:solidFill>
                <a:latin typeface="Aptos"/>
                <a:ea typeface="Aptos"/>
                <a:cs typeface="Aptos"/>
              </a:defRPr>
            </a:pPr>
            <a:r>
              <a:rPr sz="1575" b="1">
                <a:solidFill>
                  <a:srgbClr val="E9A23B"/>
                </a:solidFill>
                <a:latin typeface="Aptos"/>
                <a:ea typeface="Aptos"/>
                <a:cs typeface="Aptos"/>
              </a:rPr>
              <a:t>PIL</a:t>
            </a:r>
          </a:p>
        </p:txBody>
      </p:sp>
      <p:sp>
        <p:nvSpPr>
          <p:cNvPr id="28" name="s39-body-2">
            <a:extLst xmlns:a="http://schemas.openxmlformats.org/drawingml/2006/main">
              <a:ext uri="{FF2B5EF4-FFF2-40B4-BE49-F238E27FC236}">
                <a16:creationId xmlns:a16="http://schemas.microsoft.com/office/drawing/2014/main" id="{E5C4E9A0-591C-43D6-8C19-8515EBE0D260}"/>
              </a:ext>
            </a:extLst>
          </p:cNvPr>
          <p:cNvSpPr>
            <a:spLocks xmlns:a="http://schemas.openxmlformats.org/drawingml/2006/main" noGrp="1"/>
          </p:cNvSpPr>
          <p:nvPr/>
        </p:nvSpPr>
        <p:spPr>
          <a:xfrm xmlns:a="http://schemas.openxmlformats.org/drawingml/2006/main">
            <a:off x="8096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code executes on a target processor or representative processor.</a:t>
            </a:r>
          </a:p>
        </p:txBody>
      </p:sp>
      <p:sp>
        <p:nvSpPr>
          <p:cNvPr id="29" name="s39-status-2">
            <a:extLst xmlns:a="http://schemas.openxmlformats.org/drawingml/2006/main">
              <a:ext uri="{FF2B5EF4-FFF2-40B4-BE49-F238E27FC236}">
                <a16:creationId xmlns:a16="http://schemas.microsoft.com/office/drawing/2014/main" id="{138BB933-6077-4734-B082-E7D721676F13}"/>
              </a:ext>
            </a:extLst>
          </p:cNvPr>
          <p:cNvSpPr>
            <a:spLocks xmlns:a="http://schemas.openxmlformats.org/drawingml/2006/main" noGrp="1"/>
          </p:cNvSpPr>
          <p:nvPr/>
        </p:nvSpPr>
        <p:spPr>
          <a:xfrm xmlns:a="http://schemas.openxmlformats.org/drawingml/2006/main">
            <a:off x="8210550" y="2800350"/>
            <a:ext cx="2781300" cy="304800"/>
          </a:xfrm>
          <a:prstGeom xmlns:a="http://schemas.openxmlformats.org/drawingml/2006/main" prst="roundRect">
            <a:avLst>
              <a:gd name="adj" fmla="val 37500"/>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AUTOMATICALLY UNIT TESTING</a:t>
            </a:r>
          </a:p>
        </p:txBody>
      </p:sp>
      <p:sp>
        <p:nvSpPr>
          <p:cNvPr id="30" name="s39-card-3">
            <a:extLst xmlns:a="http://schemas.openxmlformats.org/drawingml/2006/main">
              <a:ext uri="{FF2B5EF4-FFF2-40B4-BE49-F238E27FC236}">
                <a16:creationId xmlns:a16="http://schemas.microsoft.com/office/drawing/2014/main" id="{4E78FC0E-332C-46ED-B61E-B7505F9CA625}"/>
              </a:ext>
            </a:extLst>
          </p:cNvPr>
          <p:cNvSpPr>
            <a:spLocks xmlns:a="http://schemas.openxmlformats.org/drawingml/2006/main" noGrp="1"/>
          </p:cNvSpPr>
          <p:nvPr/>
        </p:nvSpPr>
        <p:spPr>
          <a:xfrm xmlns:a="http://schemas.openxmlformats.org/drawingml/2006/main">
            <a:off x="685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D75A64"/>
            </a:solidFill>
            <a:prstDash val="solid"/>
          </a:ln>
        </p:spPr>
      </p:sp>
      <p:sp>
        <p:nvSpPr>
          <p:cNvPr id="31" name="s39-title-3">
            <a:extLst xmlns:a="http://schemas.openxmlformats.org/drawingml/2006/main">
              <a:ext uri="{FF2B5EF4-FFF2-40B4-BE49-F238E27FC236}">
                <a16:creationId xmlns:a16="http://schemas.microsoft.com/office/drawing/2014/main" id="{D5427986-53CA-44CD-BCD2-0D00488D2A5C}"/>
              </a:ext>
            </a:extLst>
          </p:cNvPr>
          <p:cNvSpPr>
            <a:spLocks xmlns:a="http://schemas.openxmlformats.org/drawingml/2006/main" noGrp="1"/>
          </p:cNvSpPr>
          <p:nvPr/>
        </p:nvSpPr>
        <p:spPr>
          <a:xfrm xmlns:a="http://schemas.openxmlformats.org/drawingml/2006/main">
            <a:off x="857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D75A64"/>
                </a:solidFill>
                <a:latin typeface="Aptos"/>
                <a:ea typeface="Aptos"/>
                <a:cs typeface="Aptos"/>
              </a:defRPr>
            </a:pPr>
            <a:r>
              <a:rPr sz="1575" b="1">
                <a:solidFill>
                  <a:srgbClr val="D75A64"/>
                </a:solidFill>
                <a:latin typeface="Aptos"/>
                <a:ea typeface="Aptos"/>
                <a:cs typeface="Aptos"/>
              </a:rPr>
              <a:t>HIL</a:t>
            </a:r>
          </a:p>
        </p:txBody>
      </p:sp>
      <p:sp>
        <p:nvSpPr>
          <p:cNvPr id="32" name="s39-body-3">
            <a:extLst xmlns:a="http://schemas.openxmlformats.org/drawingml/2006/main">
              <a:ext uri="{FF2B5EF4-FFF2-40B4-BE49-F238E27FC236}">
                <a16:creationId xmlns:a16="http://schemas.microsoft.com/office/drawing/2014/main" id="{7DE9B7C7-2A4B-4E1D-8785-951D9CD25418}"/>
              </a:ext>
            </a:extLst>
          </p:cNvPr>
          <p:cNvSpPr>
            <a:spLocks xmlns:a="http://schemas.openxmlformats.org/drawingml/2006/main" noGrp="1"/>
          </p:cNvSpPr>
          <p:nvPr/>
        </p:nvSpPr>
        <p:spPr>
          <a:xfrm xmlns:a="http://schemas.openxmlformats.org/drawingml/2006/main">
            <a:off x="857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Real controller/target hardware + real-time plant + physical I/O.</a:t>
            </a:r>
          </a:p>
        </p:txBody>
      </p:sp>
      <p:sp>
        <p:nvSpPr>
          <p:cNvPr id="33" name="s39-status-3">
            <a:extLst xmlns:a="http://schemas.openxmlformats.org/drawingml/2006/main">
              <a:ext uri="{FF2B5EF4-FFF2-40B4-BE49-F238E27FC236}">
                <a16:creationId xmlns:a16="http://schemas.microsoft.com/office/drawing/2014/main" id="{6A3BFF40-F7BA-49F6-8AA9-02FC269D9245}"/>
              </a:ext>
            </a:extLst>
          </p:cNvPr>
          <p:cNvSpPr>
            <a:spLocks xmlns:a="http://schemas.openxmlformats.org/drawingml/2006/main" noGrp="1"/>
          </p:cNvSpPr>
          <p:nvPr/>
        </p:nvSpPr>
        <p:spPr>
          <a:xfrm xmlns:a="http://schemas.openxmlformats.org/drawingml/2006/main">
            <a:off x="971550" y="4848225"/>
            <a:ext cx="2781300" cy="304800"/>
          </a:xfrm>
          <a:prstGeom xmlns:a="http://schemas.openxmlformats.org/drawingml/2006/main" prst="roundRect">
            <a:avLst>
              <a:gd name="adj" fmla="val 37500"/>
            </a:avLst>
          </a:prstGeom>
          <a:solidFill xmlns:a="http://schemas.openxmlformats.org/drawingml/2006/main">
            <a:srgbClr val="FBE7E9"/>
          </a:solidFill>
          <a:ln xmlns:a="http://schemas.openxmlformats.org/drawingml/2006/main" w="9525">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34" name="s39-card-4">
            <a:extLst xmlns:a="http://schemas.openxmlformats.org/drawingml/2006/main">
              <a:ext uri="{FF2B5EF4-FFF2-40B4-BE49-F238E27FC236}">
                <a16:creationId xmlns:a16="http://schemas.microsoft.com/office/drawing/2014/main" id="{88B38B77-BEA4-460A-A99E-7BA3B14C90C1}"/>
              </a:ext>
            </a:extLst>
          </p:cNvPr>
          <p:cNvSpPr>
            <a:spLocks xmlns:a="http://schemas.openxmlformats.org/drawingml/2006/main" noGrp="1"/>
          </p:cNvSpPr>
          <p:nvPr/>
        </p:nvSpPr>
        <p:spPr>
          <a:xfrm xmlns:a="http://schemas.openxmlformats.org/drawingml/2006/main">
            <a:off x="43053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0B7C5"/>
            </a:solidFill>
            <a:prstDash val="solid"/>
          </a:ln>
        </p:spPr>
      </p:sp>
      <p:sp>
        <p:nvSpPr>
          <p:cNvPr id="35" name="s39-title-4">
            <a:extLst xmlns:a="http://schemas.openxmlformats.org/drawingml/2006/main">
              <a:ext uri="{FF2B5EF4-FFF2-40B4-BE49-F238E27FC236}">
                <a16:creationId xmlns:a16="http://schemas.microsoft.com/office/drawing/2014/main" id="{80BB881B-12C0-4BB9-A593-58D89A559742}"/>
              </a:ext>
            </a:extLst>
          </p:cNvPr>
          <p:cNvSpPr>
            <a:spLocks xmlns:a="http://schemas.openxmlformats.org/drawingml/2006/main" noGrp="1"/>
          </p:cNvSpPr>
          <p:nvPr/>
        </p:nvSpPr>
        <p:spPr>
          <a:xfrm xmlns:a="http://schemas.openxmlformats.org/drawingml/2006/main">
            <a:off x="44767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0B7C5"/>
                </a:solidFill>
                <a:latin typeface="Aptos"/>
                <a:ea typeface="Aptos"/>
                <a:cs typeface="Aptos"/>
              </a:defRPr>
            </a:pPr>
            <a:r>
              <a:rPr sz="1575" b="1">
                <a:solidFill>
                  <a:srgbClr val="20B7C5"/>
                </a:solidFill>
                <a:latin typeface="Aptos"/>
                <a:ea typeface="Aptos"/>
                <a:cs typeface="Aptos"/>
              </a:rPr>
              <a:t>BENCH</a:t>
            </a:r>
          </a:p>
        </p:txBody>
      </p:sp>
      <p:sp>
        <p:nvSpPr>
          <p:cNvPr id="36" name="s39-body-4">
            <a:extLst xmlns:a="http://schemas.openxmlformats.org/drawingml/2006/main">
              <a:ext uri="{FF2B5EF4-FFF2-40B4-BE49-F238E27FC236}">
                <a16:creationId xmlns:a16="http://schemas.microsoft.com/office/drawing/2014/main" id="{3C276CA7-5B65-431A-9336-EFA169D9DD54}"/>
              </a:ext>
            </a:extLst>
          </p:cNvPr>
          <p:cNvSpPr>
            <a:spLocks xmlns:a="http://schemas.openxmlformats.org/drawingml/2006/main" noGrp="1"/>
          </p:cNvSpPr>
          <p:nvPr/>
        </p:nvSpPr>
        <p:spPr>
          <a:xfrm xmlns:a="http://schemas.openxmlformats.org/drawingml/2006/main">
            <a:off x="44767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Hardware subsystem with instrumentation, loads, and controlled stimuli.</a:t>
            </a:r>
          </a:p>
        </p:txBody>
      </p:sp>
      <p:sp>
        <p:nvSpPr>
          <p:cNvPr id="37" name="s39-status-4">
            <a:extLst xmlns:a="http://schemas.openxmlformats.org/drawingml/2006/main">
              <a:ext uri="{FF2B5EF4-FFF2-40B4-BE49-F238E27FC236}">
                <a16:creationId xmlns:a16="http://schemas.microsoft.com/office/drawing/2014/main" id="{35BFD700-BBCE-4CB0-ADC1-6DA8DBEC6CA0}"/>
              </a:ext>
            </a:extLst>
          </p:cNvPr>
          <p:cNvSpPr>
            <a:spLocks xmlns:a="http://schemas.openxmlformats.org/drawingml/2006/main" noGrp="1"/>
          </p:cNvSpPr>
          <p:nvPr/>
        </p:nvSpPr>
        <p:spPr>
          <a:xfrm xmlns:a="http://schemas.openxmlformats.org/drawingml/2006/main">
            <a:off x="4591050" y="4848225"/>
            <a:ext cx="2781300" cy="304800"/>
          </a:xfrm>
          <a:prstGeom xmlns:a="http://schemas.openxmlformats.org/drawingml/2006/main" prst="roundRect">
            <a:avLst>
              <a:gd name="adj" fmla="val 37500"/>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38" name="s39-card-5">
            <a:extLst xmlns:a="http://schemas.openxmlformats.org/drawingml/2006/main">
              <a:ext uri="{FF2B5EF4-FFF2-40B4-BE49-F238E27FC236}">
                <a16:creationId xmlns:a16="http://schemas.microsoft.com/office/drawing/2014/main" id="{7D2FA62B-0CF1-4198-B303-3E272D68674F}"/>
              </a:ext>
            </a:extLst>
          </p:cNvPr>
          <p:cNvSpPr>
            <a:spLocks xmlns:a="http://schemas.openxmlformats.org/drawingml/2006/main" noGrp="1"/>
          </p:cNvSpPr>
          <p:nvPr/>
        </p:nvSpPr>
        <p:spPr>
          <a:xfrm xmlns:a="http://schemas.openxmlformats.org/drawingml/2006/main">
            <a:off x="7924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5D7487"/>
            </a:solidFill>
            <a:prstDash val="solid"/>
          </a:ln>
        </p:spPr>
      </p:sp>
      <p:sp>
        <p:nvSpPr>
          <p:cNvPr id="39" name="s39-title-5">
            <a:extLst xmlns:a="http://schemas.openxmlformats.org/drawingml/2006/main">
              <a:ext uri="{FF2B5EF4-FFF2-40B4-BE49-F238E27FC236}">
                <a16:creationId xmlns:a16="http://schemas.microsoft.com/office/drawing/2014/main" id="{C9615EFB-1CA6-4F26-9EF3-3CEFEB91ABF2}"/>
              </a:ext>
            </a:extLst>
          </p:cNvPr>
          <p:cNvSpPr>
            <a:spLocks xmlns:a="http://schemas.openxmlformats.org/drawingml/2006/main" noGrp="1"/>
          </p:cNvSpPr>
          <p:nvPr/>
        </p:nvSpPr>
        <p:spPr>
          <a:xfrm xmlns:a="http://schemas.openxmlformats.org/drawingml/2006/main">
            <a:off x="8096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5D7487"/>
                </a:solidFill>
                <a:latin typeface="Aptos"/>
                <a:ea typeface="Aptos"/>
                <a:cs typeface="Aptos"/>
              </a:defRPr>
            </a:pPr>
            <a:r>
              <a:rPr sz="1575" b="1">
                <a:solidFill>
                  <a:srgbClr val="5D7487"/>
                </a:solidFill>
                <a:latin typeface="Aptos"/>
                <a:ea typeface="Aptos"/>
                <a:cs typeface="Aptos"/>
              </a:rPr>
              <a:t>SYSTEM INTEGRATION</a:t>
            </a:r>
          </a:p>
        </p:txBody>
      </p:sp>
      <p:sp>
        <p:nvSpPr>
          <p:cNvPr id="40" name="s39-body-5">
            <a:extLst xmlns:a="http://schemas.openxmlformats.org/drawingml/2006/main">
              <a:ext uri="{FF2B5EF4-FFF2-40B4-BE49-F238E27FC236}">
                <a16:creationId xmlns:a16="http://schemas.microsoft.com/office/drawing/2014/main" id="{D9E81CCE-A4A0-4D19-989A-2401AFB2BCCC}"/>
              </a:ext>
            </a:extLst>
          </p:cNvPr>
          <p:cNvSpPr>
            <a:spLocks xmlns:a="http://schemas.openxmlformats.org/drawingml/2006/main" noGrp="1"/>
          </p:cNvSpPr>
          <p:nvPr/>
        </p:nvSpPr>
        <p:spPr>
          <a:xfrm xmlns:a="http://schemas.openxmlformats.org/drawingml/2006/main">
            <a:off x="8096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Integrated aircraft/system environment with representative interfaces.</a:t>
            </a:r>
          </a:p>
        </p:txBody>
      </p:sp>
      <p:sp>
        <p:nvSpPr>
          <p:cNvPr id="41" name="s39-status-5">
            <a:extLst xmlns:a="http://schemas.openxmlformats.org/drawingml/2006/main">
              <a:ext uri="{FF2B5EF4-FFF2-40B4-BE49-F238E27FC236}">
                <a16:creationId xmlns:a16="http://schemas.microsoft.com/office/drawing/2014/main" id="{DDF30BD3-536F-45B4-9098-F85ABDEB6908}"/>
              </a:ext>
            </a:extLst>
          </p:cNvPr>
          <p:cNvSpPr>
            <a:spLocks xmlns:a="http://schemas.openxmlformats.org/drawingml/2006/main" noGrp="1"/>
          </p:cNvSpPr>
          <p:nvPr/>
        </p:nvSpPr>
        <p:spPr>
          <a:xfrm xmlns:a="http://schemas.openxmlformats.org/drawingml/2006/main">
            <a:off x="8210550" y="4848225"/>
            <a:ext cx="2781300" cy="304800"/>
          </a:xfrm>
          <a:prstGeom xmlns:a="http://schemas.openxmlformats.org/drawingml/2006/main" prst="roundRect">
            <a:avLst>
              <a:gd name="adj" fmla="val 37500"/>
            </a:avLst>
          </a:prstGeom>
          <a:solidFill xmlns:a="http://schemas.openxmlformats.org/drawingml/2006/main">
            <a:srgbClr val="EEF4F8"/>
          </a:solidFill>
          <a:ln xmlns:a="http://schemas.openxmlformats.org/drawingml/2006/main" w="9525">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42" name="s39-label">
            <a:extLst xmlns:a="http://schemas.openxmlformats.org/drawingml/2006/main">
              <a:ext uri="{FF2B5EF4-FFF2-40B4-BE49-F238E27FC236}">
                <a16:creationId xmlns:a16="http://schemas.microsoft.com/office/drawing/2014/main" id="{984AC03F-54F8-4430-8A6D-DC6C7567290E}"/>
              </a:ext>
            </a:extLst>
          </p:cNvPr>
          <p:cNvSpPr>
            <a:spLocks xmlns:a="http://schemas.openxmlformats.org/drawingml/2006/main" noGrp="1"/>
          </p:cNvSpPr>
          <p:nvPr/>
        </p:nvSpPr>
        <p:spPr>
          <a:xfrm xmlns:a="http://schemas.openxmlformats.org/drawingml/2006/main">
            <a:off x="685800" y="5629275"/>
            <a:ext cx="10820400" cy="476250"/>
          </a:xfrm>
          <a:prstGeom xmlns:a="http://schemas.openxmlformats.org/drawingml/2006/main" prst="roundRect">
            <a:avLst>
              <a:gd name="adj" fmla="val 24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88" b="1">
                <a:solidFill>
                  <a:srgbClr val="0B1F33"/>
                </a:solidFill>
                <a:latin typeface="Aptos"/>
                <a:ea typeface="Aptos"/>
                <a:cs typeface="Aptos"/>
              </a:defRPr>
            </a:pPr>
            <a:r>
              <a:rPr sz="1388" b="1">
                <a:solidFill>
                  <a:srgbClr val="0B1F33"/>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198638874"/>
      </p:ext>
    </p:extLst>
  </p:cSld>
</p:sld>
</file>

<file path=ppt/slides/slide4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663" b="1" i="0">
                <a:solidFill>
                  <a:srgbClr val="FFFFFF"/>
                </a:solidFill>
                <a:latin typeface="Aptos"/>
                <a:ea typeface="Aptos"/>
                <a:cs typeface="Aptos"/>
              </a:defRPr>
            </a:pPr>
            <a:r>
              <a:rPr sz="2663" b="1" i="0">
                <a:solidFill>
                  <a:srgbClr val="FFFFFF"/>
                </a:solidFill>
                <a:latin typeface="Aptos"/>
                <a:ea typeface="Aptos"/>
                <a:cs typeface="Aptos"/>
              </a:rPr>
              <a:t>The retained status counts reconcile when their scopes stay separate</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52</a:t>
            </a:r>
          </a:p>
        </p:txBody>
      </p:sp>
    </p:spTree>
    <p:extLst>
      <p:ext uri="{BB962C8B-B14F-4D97-AF65-F5344CB8AC3E}">
        <p14:creationId xmlns:p14="http://schemas.microsoft.com/office/powerpoint/2010/main" val="807636582"/>
      </p:ext>
    </p:extLst>
  </p:cSld>
</p:sld>
</file>

<file path=ppt/slides/slide4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475" b="1" i="0">
                <a:solidFill>
                  <a:srgbClr val="0B1F33"/>
                </a:solidFill>
                <a:latin typeface="Aptos"/>
                <a:ea typeface="Aptos"/>
                <a:cs typeface="Aptos"/>
              </a:defRPr>
            </a:pPr>
            <a:r>
              <a:rPr sz="2475" b="1" i="0">
                <a:solidFill>
                  <a:srgbClr val="0B1F33"/>
                </a:solidFill>
                <a:latin typeface="Aptos"/>
                <a:ea typeface="Aptos"/>
                <a:cs typeface="Aptos"/>
              </a:rPr>
              <a:t>Demonstrated evidence is narrower than certification evidence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53</a:t>
            </a:r>
          </a:p>
        </p:txBody>
      </p:sp>
      <p:sp>
        <p:nvSpPr>
          <p:cNvPr id="31" name="s53-does">
            <a:extLst xmlns:a="http://schemas.openxmlformats.org/drawingml/2006/main">
              <a:ext uri="{FF2B5EF4-FFF2-40B4-BE49-F238E27FC236}">
                <a16:creationId xmlns:a16="http://schemas.microsoft.com/office/drawing/2014/main" id="{FBC1108E-5877-43F2-9674-7712EA5D60DF}"/>
              </a:ext>
            </a:extLst>
          </p:cNvPr>
          <p:cNvSpPr>
            <a:spLocks xmlns:a="http://schemas.openxmlformats.org/drawingml/2006/main" noGrp="1"/>
          </p:cNvSpPr>
          <p:nvPr/>
        </p:nvSpPr>
        <p:spPr>
          <a:xfrm xmlns:a="http://schemas.openxmlformats.org/drawingml/2006/main">
            <a:off x="685800" y="1476375"/>
            <a:ext cx="5162550" cy="4010025"/>
          </a:xfrm>
          <a:prstGeom xmlns:a="http://schemas.openxmlformats.org/drawingml/2006/main" prst="roundRect">
            <a:avLst>
              <a:gd name="adj" fmla="val 2850"/>
            </a:avLst>
          </a:prstGeom>
          <a:solidFill xmlns:a="http://schemas.openxmlformats.org/drawingml/2006/main">
            <a:srgbClr val="E2F4EA"/>
          </a:solidFill>
          <a:ln xmlns:a="http://schemas.openxmlformats.org/drawingml/2006/main" w="17145">
            <a:solidFill>
              <a:srgbClr val="2CA56F"/>
            </a:solidFill>
            <a:prstDash val="solid"/>
          </a:ln>
        </p:spPr>
      </p:sp>
      <p:sp>
        <p:nvSpPr>
          <p:cNvPr id="32" name="s53-does-not">
            <a:extLst xmlns:a="http://schemas.openxmlformats.org/drawingml/2006/main">
              <a:ext uri="{FF2B5EF4-FFF2-40B4-BE49-F238E27FC236}">
                <a16:creationId xmlns:a16="http://schemas.microsoft.com/office/drawing/2014/main" id="{033E0F20-006A-4DA3-B673-B66898E6BBA8}"/>
              </a:ext>
            </a:extLst>
          </p:cNvPr>
          <p:cNvSpPr>
            <a:spLocks xmlns:a="http://schemas.openxmlformats.org/drawingml/2006/main" noGrp="1"/>
          </p:cNvSpPr>
          <p:nvPr/>
        </p:nvSpPr>
        <p:spPr>
          <a:xfrm xmlns:a="http://schemas.openxmlformats.org/drawingml/2006/main">
            <a:off x="6343650" y="1476375"/>
            <a:ext cx="5162550" cy="4010025"/>
          </a:xfrm>
          <a:prstGeom xmlns:a="http://schemas.openxmlformats.org/drawingml/2006/main" prst="roundRect">
            <a:avLst>
              <a:gd name="adj" fmla="val 2850"/>
            </a:avLst>
          </a:prstGeom>
          <a:solidFill xmlns:a="http://schemas.openxmlformats.org/drawingml/2006/main">
            <a:srgbClr val="FBE7E9"/>
          </a:solidFill>
          <a:ln xmlns:a="http://schemas.openxmlformats.org/drawingml/2006/main" w="17145">
            <a:solidFill>
              <a:srgbClr val="D75A64"/>
            </a:solidFill>
            <a:prstDash val="solid"/>
          </a:ln>
        </p:spPr>
      </p:sp>
      <p:sp>
        <p:nvSpPr>
          <p:cNvPr id="33" name="s53-does-title">
            <a:extLst xmlns:a="http://schemas.openxmlformats.org/drawingml/2006/main">
              <a:ext uri="{FF2B5EF4-FFF2-40B4-BE49-F238E27FC236}">
                <a16:creationId xmlns:a16="http://schemas.microsoft.com/office/drawing/2014/main" id="{93D5F9B7-C5A5-49AB-B367-CEF871AE983C}"/>
              </a:ext>
            </a:extLst>
          </p:cNvPr>
          <p:cNvSpPr>
            <a:spLocks xmlns:a="http://schemas.openxmlformats.org/drawingml/2006/main" noGrp="1"/>
          </p:cNvSpPr>
          <p:nvPr/>
        </p:nvSpPr>
        <p:spPr>
          <a:xfrm xmlns:a="http://schemas.openxmlformats.org/drawingml/2006/main">
            <a:off x="91440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88" b="1">
                <a:solidFill>
                  <a:srgbClr val="2CA56F"/>
                </a:solidFill>
                <a:latin typeface="Aptos"/>
                <a:ea typeface="Aptos"/>
                <a:cs typeface="Aptos"/>
              </a:defRPr>
            </a:pPr>
            <a:r>
              <a:rPr sz="1388" b="1">
                <a:solidFill>
                  <a:srgbClr val="2CA56F"/>
                </a:solidFill>
                <a:latin typeface="Aptos"/>
                <a:ea typeface="Aptos"/>
                <a:cs typeface="Aptos"/>
              </a:rPr>
              <a:t>THIS PACKAGE DEMONSTRATES</a:t>
            </a:r>
          </a:p>
        </p:txBody>
      </p:sp>
      <p:sp>
        <p:nvSpPr>
          <p:cNvPr id="34" name="s53-does-body">
            <a:extLst xmlns:a="http://schemas.openxmlformats.org/drawingml/2006/main">
              <a:ext uri="{FF2B5EF4-FFF2-40B4-BE49-F238E27FC236}">
                <a16:creationId xmlns:a16="http://schemas.microsoft.com/office/drawing/2014/main" id="{A125A834-D85E-4A94-8C8B-97CEB6B3AF6A}"/>
              </a:ext>
            </a:extLst>
          </p:cNvPr>
          <p:cNvSpPr>
            <a:spLocks xmlns:a="http://schemas.openxmlformats.org/drawingml/2006/main" noGrp="1"/>
          </p:cNvSpPr>
          <p:nvPr/>
        </p:nvSpPr>
        <p:spPr>
          <a:xfrm xmlns:a="http://schemas.openxmlformats.org/drawingml/2006/main">
            <a:off x="97155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current saved models update / compile</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standalone desktop MIL behavior</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model-reference integration structure</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scripted limiter harness assessment</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CSV + script + path + result associations</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one saved SDI run, view, and session</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retained CSV, MAT, HTML, PNG, and exports</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controlled GRT build: 5/5 models built</a:t>
            </a:r>
          </a:p>
        </p:txBody>
      </p:sp>
      <p:sp>
        <p:nvSpPr>
          <p:cNvPr id="35" name="s53-does-not-title">
            <a:extLst xmlns:a="http://schemas.openxmlformats.org/drawingml/2006/main">
              <a:ext uri="{FF2B5EF4-FFF2-40B4-BE49-F238E27FC236}">
                <a16:creationId xmlns:a16="http://schemas.microsoft.com/office/drawing/2014/main" id="{8CC9F433-7C6F-4673-8EEB-291BAAD0CB87}"/>
              </a:ext>
            </a:extLst>
          </p:cNvPr>
          <p:cNvSpPr>
            <a:spLocks xmlns:a="http://schemas.openxmlformats.org/drawingml/2006/main" noGrp="1"/>
          </p:cNvSpPr>
          <p:nvPr/>
        </p:nvSpPr>
        <p:spPr>
          <a:xfrm xmlns:a="http://schemas.openxmlformats.org/drawingml/2006/main">
            <a:off x="657225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88" b="1">
                <a:solidFill>
                  <a:srgbClr val="D75A64"/>
                </a:solidFill>
                <a:latin typeface="Aptos"/>
                <a:ea typeface="Aptos"/>
                <a:cs typeface="Aptos"/>
              </a:defRPr>
            </a:pPr>
            <a:r>
              <a:rPr sz="1388" b="1">
                <a:solidFill>
                  <a:srgbClr val="D75A64"/>
                </a:solidFill>
                <a:latin typeface="Aptos"/>
                <a:ea typeface="Aptos"/>
                <a:cs typeface="Aptos"/>
              </a:rPr>
              <a:t>THIS PACKAGE DOES NOT CLAIM</a:t>
            </a:r>
          </a:p>
        </p:txBody>
      </p:sp>
      <p:sp>
        <p:nvSpPr>
          <p:cNvPr id="36" name="s53-does-not-body">
            <a:extLst xmlns:a="http://schemas.openxmlformats.org/drawingml/2006/main">
              <a:ext uri="{FF2B5EF4-FFF2-40B4-BE49-F238E27FC236}">
                <a16:creationId xmlns:a16="http://schemas.microsoft.com/office/drawing/2014/main" id="{DEECDF66-F9F9-47B3-B610-0379E940EB03}"/>
              </a:ext>
            </a:extLst>
          </p:cNvPr>
          <p:cNvSpPr>
            <a:spLocks xmlns:a="http://schemas.openxmlformats.org/drawingml/2006/main" noGrp="1"/>
          </p:cNvSpPr>
          <p:nvPr/>
        </p:nvSpPr>
        <p:spPr>
          <a:xfrm xmlns:a="http://schemas.openxmlformats.org/drawingml/2006/main">
            <a:off x="662940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production aircraft data or approved baseline</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live Simulink Requirements links</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Simulink Test / Test Manager suite</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production / embedded-airborne code approval</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generated-code verification or executable verification</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SIL, PIL, HIL, bench, or system integration</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certification approval</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automatic compliance from a model or pipeline</a:t>
            </a:r>
          </a:p>
        </p:txBody>
      </p:sp>
      <p:sp>
        <p:nvSpPr>
          <p:cNvPr id="37" name="s53-footer">
            <a:extLst xmlns:a="http://schemas.openxmlformats.org/drawingml/2006/main">
              <a:ext uri="{FF2B5EF4-FFF2-40B4-BE49-F238E27FC236}">
                <a16:creationId xmlns:a16="http://schemas.microsoft.com/office/drawing/2014/main" id="{502FCB79-5AF1-4F7D-8844-160BAF59DFBC}"/>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oundRect">
            <a:avLst>
              <a:gd name="adj" fmla="val 26667"/>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35" b="1">
                <a:solidFill>
                  <a:srgbClr val="071521"/>
                </a:solidFill>
                <a:latin typeface="Aptos"/>
                <a:ea typeface="Aptos"/>
                <a:cs typeface="Aptos"/>
              </a:defRPr>
            </a:pPr>
            <a:r>
              <a:rPr sz="1035" b="1">
                <a:solidFill>
                  <a:srgbClr val="071521"/>
                </a:solidFill>
                <a:latin typeface="Aptos"/>
                <a:ea typeface="Aptos"/>
                <a:cs typeface="Aptos"/>
              </a:rPr>
              <a:t>Exactly two .mldatx files are retained, and both are Simulation Data Inspector artifacts. The GRT executable was built—not executed.</a:t>
            </a:r>
          </a:p>
        </p:txBody>
      </p:sp>
    </p:spTree>
    <p:extLst>
      <p:ext uri="{BB962C8B-B14F-4D97-AF65-F5344CB8AC3E}">
        <p14:creationId xmlns:p14="http://schemas.microsoft.com/office/powerpoint/2010/main" val="140704512"/>
      </p:ext>
    </p:extLst>
  </p:cSld>
</p:sld>
</file>

<file path=ppt/slides/slide4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COMPLETION &amp; SIGN-OFF</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75" b="1" i="0">
                <a:solidFill>
                  <a:srgbClr val="0B1F33"/>
                </a:solidFill>
                <a:latin typeface="Aptos"/>
                <a:ea typeface="Aptos"/>
                <a:cs typeface="Aptos"/>
              </a:defRPr>
            </a:pPr>
            <a:r>
              <a:rPr sz="2775" b="1" i="0">
                <a:solidFill>
                  <a:srgbClr val="0B1F33"/>
                </a:solidFill>
                <a:latin typeface="Aptos"/>
                <a:ea typeface="Aptos"/>
                <a:cs typeface="Aptos"/>
              </a:rPr>
              <a:t>A project-defined RCF may record required review and sign-off</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54</a:t>
            </a:r>
          </a:p>
        </p:txBody>
      </p:sp>
      <p:sp>
        <p:nvSpPr>
          <p:cNvPr id="31" name="s47-banner">
            <a:extLst xmlns:a="http://schemas.openxmlformats.org/drawingml/2006/main">
              <a:ext uri="{FF2B5EF4-FFF2-40B4-BE49-F238E27FC236}">
                <a16:creationId xmlns:a16="http://schemas.microsoft.com/office/drawing/2014/main" id="{1F3A32C4-FC3D-4BF7-986C-DD9236AB3E3C}"/>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PROJECT PLACEHOLDER  •  RCF NOT SUPPLIED OR COMPLETED IN THIS TRAINING PACKAGE</a:t>
            </a:r>
          </a:p>
        </p:txBody>
      </p:sp>
      <p:sp>
        <p:nvSpPr>
          <p:cNvPr id="32" name="s47-record">
            <a:extLst xmlns:a="http://schemas.openxmlformats.org/drawingml/2006/main">
              <a:ext uri="{FF2B5EF4-FFF2-40B4-BE49-F238E27FC236}">
                <a16:creationId xmlns:a16="http://schemas.microsoft.com/office/drawing/2014/main" id="{F8B7002E-A031-45AB-AF22-87B64AB0DAB8}"/>
              </a:ext>
            </a:extLst>
          </p:cNvPr>
          <p:cNvSpPr>
            <a:spLocks xmlns:a="http://schemas.openxmlformats.org/drawingml/2006/main" noGrp="1"/>
          </p:cNvSpPr>
          <p:nvPr/>
        </p:nvSpPr>
        <p:spPr>
          <a:xfrm xmlns:a="http://schemas.openxmlformats.org/drawingml/2006/main">
            <a:off x="685800" y="1981200"/>
            <a:ext cx="5219700" cy="3200400"/>
          </a:xfrm>
          <a:prstGeom xmlns:a="http://schemas.openxmlformats.org/drawingml/2006/main" prst="roundRect">
            <a:avLst>
              <a:gd name="adj" fmla="val 3571"/>
            </a:avLst>
          </a:prstGeom>
          <a:solidFill xmlns:a="http://schemas.openxmlformats.org/drawingml/2006/main">
            <a:srgbClr val="E2F4EA"/>
          </a:solidFill>
          <a:ln xmlns:a="http://schemas.openxmlformats.org/drawingml/2006/main" w="17145">
            <a:solidFill>
              <a:srgbClr val="2CA56F"/>
            </a:solidFill>
            <a:prstDash val="solid"/>
          </a:ln>
        </p:spPr>
      </p:sp>
      <p:sp>
        <p:nvSpPr>
          <p:cNvPr id="33" name="s47-record-title">
            <a:extLst xmlns:a="http://schemas.openxmlformats.org/drawingml/2006/main">
              <a:ext uri="{FF2B5EF4-FFF2-40B4-BE49-F238E27FC236}">
                <a16:creationId xmlns:a16="http://schemas.microsoft.com/office/drawing/2014/main" id="{AAD941E4-3EE2-40B3-A789-395691445F57}"/>
              </a:ext>
            </a:extLst>
          </p:cNvPr>
          <p:cNvSpPr>
            <a:spLocks xmlns:a="http://schemas.openxmlformats.org/drawingml/2006/main" noGrp="1"/>
          </p:cNvSpPr>
          <p:nvPr/>
        </p:nvSpPr>
        <p:spPr>
          <a:xfrm xmlns:a="http://schemas.openxmlformats.org/drawingml/2006/main">
            <a:off x="895350" y="2133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2CA56F"/>
                </a:solidFill>
                <a:latin typeface="Aptos"/>
                <a:ea typeface="Aptos"/>
                <a:cs typeface="Aptos"/>
              </a:defRPr>
            </a:pPr>
            <a:r>
              <a:rPr sz="1425" b="1">
                <a:solidFill>
                  <a:srgbClr val="2CA56F"/>
                </a:solidFill>
                <a:latin typeface="Aptos"/>
                <a:ea typeface="Aptos"/>
                <a:cs typeface="Aptos"/>
              </a:rPr>
              <a:t>VERIFICATION RECORD</a:t>
            </a:r>
          </a:p>
        </p:txBody>
      </p:sp>
      <p:sp>
        <p:nvSpPr>
          <p:cNvPr id="34" name="s47-record-body">
            <a:extLst xmlns:a="http://schemas.openxmlformats.org/drawingml/2006/main">
              <a:ext uri="{FF2B5EF4-FFF2-40B4-BE49-F238E27FC236}">
                <a16:creationId xmlns:a16="http://schemas.microsoft.com/office/drawing/2014/main" id="{4FCC0999-78A3-4280-AB26-E12BD4E9801B}"/>
              </a:ext>
            </a:extLst>
          </p:cNvPr>
          <p:cNvSpPr>
            <a:spLocks xmlns:a="http://schemas.openxmlformats.org/drawingml/2006/main" noGrp="1"/>
          </p:cNvSpPr>
          <p:nvPr/>
        </p:nvSpPr>
        <p:spPr>
          <a:xfrm xmlns:a="http://schemas.openxmlformats.org/drawingml/2006/main">
            <a:off x="952500" y="2514600"/>
            <a:ext cx="46863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38100" rIns="47625" bIns="28575" anchor="t">
            <a:noAutofit/>
          </a:bodyPr>
          <a:lstStyle xmlns:a="http://schemas.openxmlformats.org/drawingml/2006/main"/>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Model / component:  __________________________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Baseline / version / checksum:  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Allocated system requirement IDs:  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Verification method and acceptance criteria:  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Executed evidence IDs and results:  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Model settings / test / build configuration:  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Findings, anomalies, and dispositions:  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Required review scope completed:  ☐ Yes  ☐ No</a:t>
            </a:r>
          </a:p>
        </p:txBody>
      </p:sp>
      <p:sp>
        <p:nvSpPr>
          <p:cNvPr id="35" name="s47-signoff">
            <a:extLst xmlns:a="http://schemas.openxmlformats.org/drawingml/2006/main">
              <a:ext uri="{FF2B5EF4-FFF2-40B4-BE49-F238E27FC236}">
                <a16:creationId xmlns:a16="http://schemas.microsoft.com/office/drawing/2014/main" id="{84216F52-792F-44FC-B70F-923692A7719B}"/>
              </a:ext>
            </a:extLst>
          </p:cNvPr>
          <p:cNvSpPr>
            <a:spLocks xmlns:a="http://schemas.openxmlformats.org/drawingml/2006/main" noGrp="1"/>
          </p:cNvSpPr>
          <p:nvPr/>
        </p:nvSpPr>
        <p:spPr>
          <a:xfrm xmlns:a="http://schemas.openxmlformats.org/drawingml/2006/main">
            <a:off x="6286500" y="1981200"/>
            <a:ext cx="5219700" cy="3200400"/>
          </a:xfrm>
          <a:prstGeom xmlns:a="http://schemas.openxmlformats.org/drawingml/2006/main" prst="roundRect">
            <a:avLst>
              <a:gd name="adj" fmla="val 3571"/>
            </a:avLst>
          </a:prstGeom>
          <a:solidFill xmlns:a="http://schemas.openxmlformats.org/drawingml/2006/main">
            <a:srgbClr val="E2ECFF"/>
          </a:solidFill>
          <a:ln xmlns:a="http://schemas.openxmlformats.org/drawingml/2006/main" w="17145">
            <a:solidFill>
              <a:srgbClr val="2D6CDF"/>
            </a:solidFill>
            <a:prstDash val="solid"/>
          </a:ln>
        </p:spPr>
      </p:sp>
      <p:sp>
        <p:nvSpPr>
          <p:cNvPr id="36" name="s47-signoff-title">
            <a:extLst xmlns:a="http://schemas.openxmlformats.org/drawingml/2006/main">
              <a:ext uri="{FF2B5EF4-FFF2-40B4-BE49-F238E27FC236}">
                <a16:creationId xmlns:a16="http://schemas.microsoft.com/office/drawing/2014/main" id="{1E088E28-9521-4999-9DB8-1799CF674947}"/>
              </a:ext>
            </a:extLst>
          </p:cNvPr>
          <p:cNvSpPr>
            <a:spLocks xmlns:a="http://schemas.openxmlformats.org/drawingml/2006/main" noGrp="1"/>
          </p:cNvSpPr>
          <p:nvPr/>
        </p:nvSpPr>
        <p:spPr>
          <a:xfrm xmlns:a="http://schemas.openxmlformats.org/drawingml/2006/main">
            <a:off x="6496050" y="2133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388" b="1">
                <a:solidFill>
                  <a:srgbClr val="2D6CDF"/>
                </a:solidFill>
                <a:latin typeface="Aptos"/>
                <a:ea typeface="Aptos"/>
                <a:cs typeface="Aptos"/>
              </a:defRPr>
            </a:pPr>
            <a:r>
              <a:rPr sz="1388" b="1">
                <a:solidFill>
                  <a:srgbClr val="2D6CDF"/>
                </a:solidFill>
                <a:latin typeface="Aptos"/>
                <a:ea typeface="Aptos"/>
                <a:cs typeface="Aptos"/>
              </a:rPr>
              <a:t>REVIEW / SIGN-OFF</a:t>
            </a:r>
          </a:p>
        </p:txBody>
      </p:sp>
      <p:sp>
        <p:nvSpPr>
          <p:cNvPr id="37" name="s47-signoff-body">
            <a:extLst xmlns:a="http://schemas.openxmlformats.org/drawingml/2006/main">
              <a:ext uri="{FF2B5EF4-FFF2-40B4-BE49-F238E27FC236}">
                <a16:creationId xmlns:a16="http://schemas.microsoft.com/office/drawing/2014/main" id="{8B5AE5E0-34EC-433B-A858-99690210C80F}"/>
              </a:ext>
            </a:extLst>
          </p:cNvPr>
          <p:cNvSpPr>
            <a:spLocks xmlns:a="http://schemas.openxmlformats.org/drawingml/2006/main" noGrp="1"/>
          </p:cNvSpPr>
          <p:nvPr/>
        </p:nvSpPr>
        <p:spPr>
          <a:xfrm xmlns:a="http://schemas.openxmlformats.org/drawingml/2006/main">
            <a:off x="6553200" y="2514600"/>
            <a:ext cx="46863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38100" rIns="47625" bIns="28575" anchor="t">
            <a:noAutofit/>
          </a:bodyPr>
          <a:lstStyle xmlns:a="http://schemas.openxmlformats.org/drawingml/2006/main"/>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Model owner / author:  ________________________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Reviewer / independent verifier (if required):  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Approver / designated authority:  _________________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Completion status:  ☐ Accepted  ☐ Conditional  ☐ Open</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Conditions / open items:  _______________________</a:t>
            </a:r>
          </a:p>
        </p:txBody>
      </p:sp>
      <p:sp>
        <p:nvSpPr>
          <p:cNvPr id="38" name="s47-exit">
            <a:extLst xmlns:a="http://schemas.openxmlformats.org/drawingml/2006/main">
              <a:ext uri="{FF2B5EF4-FFF2-40B4-BE49-F238E27FC236}">
                <a16:creationId xmlns:a16="http://schemas.microsoft.com/office/drawing/2014/main" id="{F1D3C838-1164-49DB-8101-DD31B2863E39}"/>
              </a:ext>
            </a:extLst>
          </p:cNvPr>
          <p:cNvSpPr>
            <a:spLocks xmlns:a="http://schemas.openxmlformats.org/drawingml/2006/main" noGrp="1"/>
          </p:cNvSpPr>
          <p:nvPr/>
        </p:nvSpPr>
        <p:spPr>
          <a:xfrm xmlns:a="http://schemas.openxmlformats.org/drawingml/2006/main">
            <a:off x="685800" y="5353050"/>
            <a:ext cx="10820400" cy="571500"/>
          </a:xfrm>
          <a:prstGeom xmlns:a="http://schemas.openxmlformats.org/drawingml/2006/main" prst="roundRect">
            <a:avLst>
              <a:gd name="adj" fmla="val 2000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8" b="1">
                <a:solidFill>
                  <a:srgbClr val="FFFFFF"/>
                </a:solidFill>
                <a:latin typeface="Aptos"/>
                <a:ea typeface="Aptos"/>
                <a:cs typeface="Aptos"/>
              </a:defRPr>
            </a:pPr>
            <a:r>
              <a:rPr sz="1148" b="1">
                <a:solidFill>
                  <a:srgbClr val="FFFFFF"/>
                </a:solidFill>
                <a:latin typeface="Aptos"/>
                <a:ea typeface="Aptos"/>
                <a:cs typeface="Aptos"/>
              </a:rPr>
              <a:t>EXIT CONDITION  •  controlled baseline + traceability + executed evidence + resolved findings + review/signature(s) required by approved process</a:t>
            </a:r>
          </a:p>
        </p:txBody>
      </p:sp>
      <p:sp>
        <p:nvSpPr>
          <p:cNvPr id="39" name="s47-caveat">
            <a:extLst xmlns:a="http://schemas.openxmlformats.org/drawingml/2006/main">
              <a:ext uri="{FF2B5EF4-FFF2-40B4-BE49-F238E27FC236}">
                <a16:creationId xmlns:a16="http://schemas.microsoft.com/office/drawing/2014/main" id="{3994222C-1FC8-410A-A179-55D345F4FFBD}"/>
              </a:ext>
            </a:extLst>
          </p:cNvPr>
          <p:cNvSpPr>
            <a:spLocks xmlns:a="http://schemas.openxmlformats.org/drawingml/2006/main" noGrp="1"/>
          </p:cNvSpPr>
          <p:nvPr/>
        </p:nvSpPr>
        <p:spPr>
          <a:xfrm xmlns:a="http://schemas.openxmlformats.org/drawingml/2006/main">
            <a:off x="685800" y="5953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RCF is project-defined: use the approved form and authority; do not invent an acronym expansion or treat this slide as a completed approval record.</a:t>
            </a:r>
          </a:p>
        </p:txBody>
      </p:sp>
    </p:spTree>
    <p:extLst>
      <p:ext uri="{BB962C8B-B14F-4D97-AF65-F5344CB8AC3E}">
        <p14:creationId xmlns:p14="http://schemas.microsoft.com/office/powerpoint/2010/main" val="140704512"/>
      </p:ext>
    </p:extLst>
  </p:cSld>
</p:sld>
</file>

<file path=ppt/slides/slide4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55</a:t>
            </a:r>
          </a:p>
        </p:txBody>
      </p:sp>
    </p:spTree>
    <p:extLst>
      <p:ext uri="{BB962C8B-B14F-4D97-AF65-F5344CB8AC3E}">
        <p14:creationId xmlns:p14="http://schemas.microsoft.com/office/powerpoint/2010/main" val="392848478"/>
      </p:ext>
    </p:extLst>
  </p:cSld>
</p:sld>
</file>

<file path=ppt/slides/slide4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55</a:t>
            </a:r>
          </a:p>
        </p:txBody>
      </p:sp>
    </p:spTree>
    <p:extLst>
      <p:ext uri="{BB962C8B-B14F-4D97-AF65-F5344CB8AC3E}">
        <p14:creationId xmlns:p14="http://schemas.microsoft.com/office/powerpoint/2010/main" val="392848478"/>
      </p:ext>
    </p:extLst>
  </p:cSld>
</p:sld>
</file>

<file path=ppt/slides/slide4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FCS_Data.sldd controls shared parameters and interfaces</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46</a:t>
            </a:r>
          </a:p>
        </p:txBody>
      </p:sp>
    </p:spTree>
    <p:extLst>
      <p:ext uri="{BB962C8B-B14F-4D97-AF65-F5344CB8AC3E}">
        <p14:creationId xmlns:p14="http://schemas.microsoft.com/office/powerpoint/2010/main" val="786167458"/>
      </p:ext>
    </p:extLst>
  </p:cSld>
</p:sld>
</file>

<file path=ppt/slides/slide5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AircraftFeedbackControlLoop closes the training loop</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15</a:t>
            </a:r>
          </a:p>
        </p:txBody>
      </p:sp>
      <p:sp>
        <p:nvSpPr>
          <p:cNvPr id="36" name="s9-image-frame">
            <a:extLst xmlns:a="http://schemas.openxmlformats.org/drawingml/2006/main">
              <a:ext uri="{FF2B5EF4-FFF2-40B4-BE49-F238E27FC236}">
                <a16:creationId xmlns:a16="http://schemas.microsoft.com/office/drawing/2014/main" id="{8D3613F1-0140-4C7C-A8B3-B6EE9C7BF7F1}"/>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9b0d1fca58bc4aa7"/>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8" name="s9-role">
            <a:extLst xmlns:a="http://schemas.openxmlformats.org/drawingml/2006/main">
              <a:ext uri="{FF2B5EF4-FFF2-40B4-BE49-F238E27FC236}">
                <a16:creationId xmlns:a16="http://schemas.microsoft.com/office/drawing/2014/main" id="{4AA143EC-9F55-43B4-82D4-6884097FEC64}"/>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9-caption">
            <a:extLst xmlns:a="http://schemas.openxmlformats.org/drawingml/2006/main">
              <a:ext uri="{FF2B5EF4-FFF2-40B4-BE49-F238E27FC236}">
                <a16:creationId xmlns:a16="http://schemas.microsoft.com/office/drawing/2014/main" id="{B489CB9E-B23B-42D6-AF0D-969736A2FE67}"/>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models/AircraftFeedbackControlLoop.slx • standalone closed-loop training model</a:t>
            </a:r>
          </a:p>
        </p:txBody>
      </p:sp>
    </p:spTree>
    <p:extLst>
      <p:ext uri="{BB962C8B-B14F-4D97-AF65-F5344CB8AC3E}">
        <p14:creationId xmlns:p14="http://schemas.microsoft.com/office/powerpoint/2010/main" val="1578336787"/>
      </p:ext>
    </p:extLst>
  </p:cSld>
</p:sld>
</file>

<file path=ppt/slides/slide5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AutopilotModeLogic wraps mode behavior in explicit interfaces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spTree>
    <p:extLst>
      <p:ext uri="{BB962C8B-B14F-4D97-AF65-F5344CB8AC3E}">
        <p14:creationId xmlns:p14="http://schemas.microsoft.com/office/powerpoint/2010/main" val="1578336787"/>
      </p:ext>
    </p:extLst>
  </p:cSld>
</p:sld>
</file>

<file path=ppt/slides/slide5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22</a:t>
            </a:r>
          </a:p>
        </p:txBody>
      </p:sp>
      <p:sp>
        <p:nvSpPr>
          <p:cNvPr id="20" name="s16-image-frame">
            <a:extLst xmlns:a="http://schemas.openxmlformats.org/drawingml/2006/main">
              <a:ext uri="{FF2B5EF4-FFF2-40B4-BE49-F238E27FC236}">
                <a16:creationId xmlns:a16="http://schemas.microsoft.com/office/drawing/2014/main" id="{B89EF0BE-2F40-437E-9A9B-CC8AB012874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dd3e09b8a0147b0"/>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22" name="s16-role">
            <a:extLst xmlns:a="http://schemas.openxmlformats.org/drawingml/2006/main">
              <a:ext uri="{FF2B5EF4-FFF2-40B4-BE49-F238E27FC236}">
                <a16:creationId xmlns:a16="http://schemas.microsoft.com/office/drawing/2014/main" id="{93326B14-E2B3-4254-BEAB-A25ACF38A5F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INTEGRATION PARENT</a:t>
            </a:r>
          </a:p>
        </p:txBody>
      </p:sp>
      <p:sp>
        <p:nvSpPr>
          <p:cNvPr id="23" name="s16-caption">
            <a:extLst xmlns:a="http://schemas.openxmlformats.org/drawingml/2006/main">
              <a:ext uri="{FF2B5EF4-FFF2-40B4-BE49-F238E27FC236}">
                <a16:creationId xmlns:a16="http://schemas.microsoft.com/office/drawing/2014/main" id="{ACD17429-25AE-4902-9A49-6C9E8DADDBA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models/ReferencedFlightControlArchitecture.slx • model-reference integration parent</a:t>
            </a:r>
          </a:p>
        </p:txBody>
      </p:sp>
    </p:spTree>
    <p:extLst>
      <p:ext uri="{BB962C8B-B14F-4D97-AF65-F5344CB8AC3E}">
        <p14:creationId xmlns:p14="http://schemas.microsoft.com/office/powerpoint/2010/main" val="1586749842"/>
      </p:ext>
    </p:extLst>
  </p:cSld>
</p:sld>
</file>

<file path=ppt/slides/slide5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 is a separately managed component</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Tree>
    <p:extLst>
      <p:ext uri="{BB962C8B-B14F-4D97-AF65-F5344CB8AC3E}">
        <p14:creationId xmlns:p14="http://schemas.microsoft.com/office/powerpoint/2010/main" val="112507120"/>
      </p:ext>
    </p:extLst>
  </p:cSld>
</p:sld>
</file>

<file path=ppt/slides/slide5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Turn model displays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
        <p:nvSpPr>
          <p:cNvPr id="20" name="s7-path">
            <a:extLst xmlns:a="http://schemas.openxmlformats.org/drawingml/2006/main">
              <a:ext uri="{FF2B5EF4-FFF2-40B4-BE49-F238E27FC236}">
                <a16:creationId xmlns:a16="http://schemas.microsoft.com/office/drawing/2014/main" id="{5A3DF6FA-01FD-49C4-BDA2-5F78BA5AF7C0}"/>
              </a:ext>
            </a:extLst>
          </p:cNvPr>
          <p:cNvSpPr>
            <a:spLocks xmlns:a="http://schemas.openxmlformats.org/drawingml/2006/main" noGrp="1"/>
          </p:cNvSpPr>
          <p:nvPr/>
        </p:nvSpPr>
        <p:spPr>
          <a:xfrm xmlns:a="http://schemas.openxmlformats.org/drawingml/2006/main">
            <a:off x="685800" y="1381125"/>
            <a:ext cx="3733800" cy="352425"/>
          </a:xfrm>
          <a:prstGeom xmlns:a="http://schemas.openxmlformats.org/drawingml/2006/main" prst="roundRect">
            <a:avLst>
              <a:gd name="adj" fmla="val 3243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DEBUG → INFORMATION OVERLAYS</a:t>
            </a:r>
          </a:p>
        </p:txBody>
      </p:sp>
      <p:sp>
        <p:nvSpPr>
          <p:cNvPr id="21" name="s7-row-0">
            <a:extLst xmlns:a="http://schemas.openxmlformats.org/drawingml/2006/main">
              <a:ext uri="{FF2B5EF4-FFF2-40B4-BE49-F238E27FC236}">
                <a16:creationId xmlns:a16="http://schemas.microsoft.com/office/drawing/2014/main" id="{0533A615-4FE4-44F3-86D8-2BAF7BEAE495}"/>
              </a:ext>
            </a:extLst>
          </p:cNvPr>
          <p:cNvSpPr>
            <a:spLocks xmlns:a="http://schemas.openxmlformats.org/drawingml/2006/main" noGrp="1"/>
          </p:cNvSpPr>
          <p:nvPr/>
        </p:nvSpPr>
        <p:spPr>
          <a:xfrm xmlns:a="http://schemas.openxmlformats.org/drawingml/2006/main">
            <a:off x="685800" y="18383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2" name="s7-row-title-0">
            <a:extLst xmlns:a="http://schemas.openxmlformats.org/drawingml/2006/main">
              <a:ext uri="{FF2B5EF4-FFF2-40B4-BE49-F238E27FC236}">
                <a16:creationId xmlns:a16="http://schemas.microsoft.com/office/drawing/2014/main" id="{DAA8287C-3BD3-416C-A298-D50524A2883D}"/>
              </a:ext>
            </a:extLst>
          </p:cNvPr>
          <p:cNvSpPr>
            <a:spLocks xmlns:a="http://schemas.openxmlformats.org/drawingml/2006/main" noGrp="1"/>
          </p:cNvSpPr>
          <p:nvPr/>
        </p:nvSpPr>
        <p:spPr>
          <a:xfrm xmlns:a="http://schemas.openxmlformats.org/drawingml/2006/main">
            <a:off x="819150" y="1885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PORT UNITS</a:t>
            </a:r>
          </a:p>
        </p:txBody>
      </p:sp>
      <p:sp>
        <p:nvSpPr>
          <p:cNvPr id="23" name="s7-row-body-0">
            <a:extLst xmlns:a="http://schemas.openxmlformats.org/drawingml/2006/main">
              <a:ext uri="{FF2B5EF4-FFF2-40B4-BE49-F238E27FC236}">
                <a16:creationId xmlns:a16="http://schemas.microsoft.com/office/drawing/2014/main" id="{42894842-6210-4E86-BA80-97D4A94EE71A}"/>
              </a:ext>
            </a:extLst>
          </p:cNvPr>
          <p:cNvSpPr>
            <a:spLocks xmlns:a="http://schemas.openxmlformats.org/drawingml/2006/main" noGrp="1"/>
          </p:cNvSpPr>
          <p:nvPr/>
        </p:nvSpPr>
        <p:spPr>
          <a:xfrm xmlns:a="http://schemas.openxmlformats.org/drawingml/2006/main">
            <a:off x="2200275" y="18859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ShowPortUnits</a:t>
            </a:r>
          </a:p>
        </p:txBody>
      </p:sp>
      <p:sp>
        <p:nvSpPr>
          <p:cNvPr id="24" name="s7-row-1">
            <a:extLst xmlns:a="http://schemas.openxmlformats.org/drawingml/2006/main">
              <a:ext uri="{FF2B5EF4-FFF2-40B4-BE49-F238E27FC236}">
                <a16:creationId xmlns:a16="http://schemas.microsoft.com/office/drawing/2014/main" id="{833FA44C-C9E2-4816-9487-95F3429E13D3}"/>
              </a:ext>
            </a:extLst>
          </p:cNvPr>
          <p:cNvSpPr>
            <a:spLocks xmlns:a="http://schemas.openxmlformats.org/drawingml/2006/main" noGrp="1"/>
          </p:cNvSpPr>
          <p:nvPr/>
        </p:nvSpPr>
        <p:spPr>
          <a:xfrm xmlns:a="http://schemas.openxmlformats.org/drawingml/2006/main">
            <a:off x="685800" y="23907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25" name="s7-row-title-1">
            <a:extLst xmlns:a="http://schemas.openxmlformats.org/drawingml/2006/main">
              <a:ext uri="{FF2B5EF4-FFF2-40B4-BE49-F238E27FC236}">
                <a16:creationId xmlns:a16="http://schemas.microsoft.com/office/drawing/2014/main" id="{D72B39CB-0D60-454A-A3E4-98658440FD90}"/>
              </a:ext>
            </a:extLst>
          </p:cNvPr>
          <p:cNvSpPr>
            <a:spLocks xmlns:a="http://schemas.openxmlformats.org/drawingml/2006/main" noGrp="1"/>
          </p:cNvSpPr>
          <p:nvPr/>
        </p:nvSpPr>
        <p:spPr>
          <a:xfrm xmlns:a="http://schemas.openxmlformats.org/drawingml/2006/main">
            <a:off x="819150" y="24384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DATA TYPES</a:t>
            </a:r>
          </a:p>
        </p:txBody>
      </p:sp>
      <p:sp>
        <p:nvSpPr>
          <p:cNvPr id="26" name="s7-row-body-1">
            <a:extLst xmlns:a="http://schemas.openxmlformats.org/drawingml/2006/main">
              <a:ext uri="{FF2B5EF4-FFF2-40B4-BE49-F238E27FC236}">
                <a16:creationId xmlns:a16="http://schemas.microsoft.com/office/drawing/2014/main" id="{28D4A8F9-633D-496F-987B-ACB10FD60EE4}"/>
              </a:ext>
            </a:extLst>
          </p:cNvPr>
          <p:cNvSpPr>
            <a:spLocks xmlns:a="http://schemas.openxmlformats.org/drawingml/2006/main" noGrp="1"/>
          </p:cNvSpPr>
          <p:nvPr/>
        </p:nvSpPr>
        <p:spPr>
          <a:xfrm xmlns:a="http://schemas.openxmlformats.org/drawingml/2006/main">
            <a:off x="2200275" y="24384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ShowPortDataTypes</a:t>
            </a:r>
          </a:p>
        </p:txBody>
      </p:sp>
      <p:sp>
        <p:nvSpPr>
          <p:cNvPr id="27" name="s7-row-2">
            <a:extLst xmlns:a="http://schemas.openxmlformats.org/drawingml/2006/main">
              <a:ext uri="{FF2B5EF4-FFF2-40B4-BE49-F238E27FC236}">
                <a16:creationId xmlns:a16="http://schemas.microsoft.com/office/drawing/2014/main" id="{3730825F-DA29-48C8-B69A-51E300F21EDB}"/>
              </a:ext>
            </a:extLst>
          </p:cNvPr>
          <p:cNvSpPr>
            <a:spLocks xmlns:a="http://schemas.openxmlformats.org/drawingml/2006/main" noGrp="1"/>
          </p:cNvSpPr>
          <p:nvPr/>
        </p:nvSpPr>
        <p:spPr>
          <a:xfrm xmlns:a="http://schemas.openxmlformats.org/drawingml/2006/main">
            <a:off x="685800" y="29432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8" name="s7-row-title-2">
            <a:extLst xmlns:a="http://schemas.openxmlformats.org/drawingml/2006/main">
              <a:ext uri="{FF2B5EF4-FFF2-40B4-BE49-F238E27FC236}">
                <a16:creationId xmlns:a16="http://schemas.microsoft.com/office/drawing/2014/main" id="{159CE800-95E1-477C-BBF6-9E026C12C35B}"/>
              </a:ext>
            </a:extLst>
          </p:cNvPr>
          <p:cNvSpPr>
            <a:spLocks xmlns:a="http://schemas.openxmlformats.org/drawingml/2006/main" noGrp="1"/>
          </p:cNvSpPr>
          <p:nvPr/>
        </p:nvSpPr>
        <p:spPr>
          <a:xfrm xmlns:a="http://schemas.openxmlformats.org/drawingml/2006/main">
            <a:off x="819150" y="2990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DIMENSIONS</a:t>
            </a:r>
          </a:p>
        </p:txBody>
      </p:sp>
      <p:sp>
        <p:nvSpPr>
          <p:cNvPr id="29" name="s7-row-body-2">
            <a:extLst xmlns:a="http://schemas.openxmlformats.org/drawingml/2006/main">
              <a:ext uri="{FF2B5EF4-FFF2-40B4-BE49-F238E27FC236}">
                <a16:creationId xmlns:a16="http://schemas.microsoft.com/office/drawing/2014/main" id="{340D1162-899C-4D42-9F20-C70E2A1A57EA}"/>
              </a:ext>
            </a:extLst>
          </p:cNvPr>
          <p:cNvSpPr>
            <a:spLocks xmlns:a="http://schemas.openxmlformats.org/drawingml/2006/main" noGrp="1"/>
          </p:cNvSpPr>
          <p:nvPr/>
        </p:nvSpPr>
        <p:spPr>
          <a:xfrm xmlns:a="http://schemas.openxmlformats.org/drawingml/2006/main">
            <a:off x="2200275" y="29908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ShowLineDimensions</a:t>
            </a:r>
          </a:p>
        </p:txBody>
      </p:sp>
      <p:sp>
        <p:nvSpPr>
          <p:cNvPr id="30" name="s7-row-3">
            <a:extLst xmlns:a="http://schemas.openxmlformats.org/drawingml/2006/main">
              <a:ext uri="{FF2B5EF4-FFF2-40B4-BE49-F238E27FC236}">
                <a16:creationId xmlns:a16="http://schemas.microsoft.com/office/drawing/2014/main" id="{CF43FBE7-8D34-4A07-8CAA-DEE9F34C69F4}"/>
              </a:ext>
            </a:extLst>
          </p:cNvPr>
          <p:cNvSpPr>
            <a:spLocks xmlns:a="http://schemas.openxmlformats.org/drawingml/2006/main" noGrp="1"/>
          </p:cNvSpPr>
          <p:nvPr/>
        </p:nvSpPr>
        <p:spPr>
          <a:xfrm xmlns:a="http://schemas.openxmlformats.org/drawingml/2006/main">
            <a:off x="685800" y="34956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1" name="s7-row-title-3">
            <a:extLst xmlns:a="http://schemas.openxmlformats.org/drawingml/2006/main">
              <a:ext uri="{FF2B5EF4-FFF2-40B4-BE49-F238E27FC236}">
                <a16:creationId xmlns:a16="http://schemas.microsoft.com/office/drawing/2014/main" id="{43B9E4B9-4971-45B5-88B3-CA7815F85C68}"/>
              </a:ext>
            </a:extLst>
          </p:cNvPr>
          <p:cNvSpPr>
            <a:spLocks xmlns:a="http://schemas.openxmlformats.org/drawingml/2006/main" noGrp="1"/>
          </p:cNvSpPr>
          <p:nvPr/>
        </p:nvSpPr>
        <p:spPr>
          <a:xfrm xmlns:a="http://schemas.openxmlformats.org/drawingml/2006/main">
            <a:off x="819150" y="3543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SIGNAL NAMES</a:t>
            </a:r>
          </a:p>
        </p:txBody>
      </p:sp>
      <p:sp>
        <p:nvSpPr>
          <p:cNvPr id="32" name="s7-row-body-3">
            <a:extLst xmlns:a="http://schemas.openxmlformats.org/drawingml/2006/main">
              <a:ext uri="{FF2B5EF4-FFF2-40B4-BE49-F238E27FC236}">
                <a16:creationId xmlns:a16="http://schemas.microsoft.com/office/drawing/2014/main" id="{9517D7D4-D40E-4D8B-9A11-AF2AEBD90FD5}"/>
              </a:ext>
            </a:extLst>
          </p:cNvPr>
          <p:cNvSpPr>
            <a:spLocks xmlns:a="http://schemas.openxmlformats.org/drawingml/2006/main" noGrp="1"/>
          </p:cNvSpPr>
          <p:nvPr/>
        </p:nvSpPr>
        <p:spPr>
          <a:xfrm xmlns:a="http://schemas.openxmlformats.org/drawingml/2006/main">
            <a:off x="2200275" y="35433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line labels + propagated names</a:t>
            </a:r>
          </a:p>
        </p:txBody>
      </p:sp>
      <p:sp>
        <p:nvSpPr>
          <p:cNvPr id="33" name="s7-row-4">
            <a:extLst xmlns:a="http://schemas.openxmlformats.org/drawingml/2006/main">
              <a:ext uri="{FF2B5EF4-FFF2-40B4-BE49-F238E27FC236}">
                <a16:creationId xmlns:a16="http://schemas.microsoft.com/office/drawing/2014/main" id="{2EB9B579-656C-43DB-9D4F-33DB06B4A9D2}"/>
              </a:ext>
            </a:extLst>
          </p:cNvPr>
          <p:cNvSpPr>
            <a:spLocks xmlns:a="http://schemas.openxmlformats.org/drawingml/2006/main" noGrp="1"/>
          </p:cNvSpPr>
          <p:nvPr/>
        </p:nvSpPr>
        <p:spPr>
          <a:xfrm xmlns:a="http://schemas.openxmlformats.org/drawingml/2006/main">
            <a:off x="685800" y="40481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34" name="s7-row-title-4">
            <a:extLst xmlns:a="http://schemas.openxmlformats.org/drawingml/2006/main">
              <a:ext uri="{FF2B5EF4-FFF2-40B4-BE49-F238E27FC236}">
                <a16:creationId xmlns:a16="http://schemas.microsoft.com/office/drawing/2014/main" id="{BC49A493-B59B-4517-B262-072C2EEDCEDB}"/>
              </a:ext>
            </a:extLst>
          </p:cNvPr>
          <p:cNvSpPr>
            <a:spLocks xmlns:a="http://schemas.openxmlformats.org/drawingml/2006/main" noGrp="1"/>
          </p:cNvSpPr>
          <p:nvPr/>
        </p:nvSpPr>
        <p:spPr>
          <a:xfrm xmlns:a="http://schemas.openxmlformats.org/drawingml/2006/main">
            <a:off x="819150" y="4095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LOGGING BADGES</a:t>
            </a:r>
          </a:p>
        </p:txBody>
      </p:sp>
      <p:sp>
        <p:nvSpPr>
          <p:cNvPr id="35" name="s7-row-body-4">
            <a:extLst xmlns:a="http://schemas.openxmlformats.org/drawingml/2006/main">
              <a:ext uri="{FF2B5EF4-FFF2-40B4-BE49-F238E27FC236}">
                <a16:creationId xmlns:a16="http://schemas.microsoft.com/office/drawing/2014/main" id="{3AD8C93B-97A6-4382-A81B-9AE325A11DA3}"/>
              </a:ext>
            </a:extLst>
          </p:cNvPr>
          <p:cNvSpPr>
            <a:spLocks xmlns:a="http://schemas.openxmlformats.org/drawingml/2006/main" noGrp="1"/>
          </p:cNvSpPr>
          <p:nvPr/>
        </p:nvSpPr>
        <p:spPr>
          <a:xfrm xmlns:a="http://schemas.openxmlformats.org/drawingml/2006/main">
            <a:off x="2200275" y="40957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DataLogging + model SignalLogging</a:t>
            </a:r>
          </a:p>
        </p:txBody>
      </p:sp>
      <p:sp>
        <p:nvSpPr>
          <p:cNvPr id="36" name="s7-row-5">
            <a:extLst xmlns:a="http://schemas.openxmlformats.org/drawingml/2006/main">
              <a:ext uri="{FF2B5EF4-FFF2-40B4-BE49-F238E27FC236}">
                <a16:creationId xmlns:a16="http://schemas.microsoft.com/office/drawing/2014/main" id="{BDB6B6A4-879C-4CC3-98A3-58FBFF989D01}"/>
              </a:ext>
            </a:extLst>
          </p:cNvPr>
          <p:cNvSpPr>
            <a:spLocks xmlns:a="http://schemas.openxmlformats.org/drawingml/2006/main" noGrp="1"/>
          </p:cNvSpPr>
          <p:nvPr/>
        </p:nvSpPr>
        <p:spPr>
          <a:xfrm xmlns:a="http://schemas.openxmlformats.org/drawingml/2006/main">
            <a:off x="685800" y="46005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7" name="s7-row-title-5">
            <a:extLst xmlns:a="http://schemas.openxmlformats.org/drawingml/2006/main">
              <a:ext uri="{FF2B5EF4-FFF2-40B4-BE49-F238E27FC236}">
                <a16:creationId xmlns:a16="http://schemas.microsoft.com/office/drawing/2014/main" id="{AC42A5DD-B2F7-4A27-9D43-4850CE4C44DF}"/>
              </a:ext>
            </a:extLst>
          </p:cNvPr>
          <p:cNvSpPr>
            <a:spLocks xmlns:a="http://schemas.openxmlformats.org/drawingml/2006/main" noGrp="1"/>
          </p:cNvSpPr>
          <p:nvPr/>
        </p:nvSpPr>
        <p:spPr>
          <a:xfrm xmlns:a="http://schemas.openxmlformats.org/drawingml/2006/main">
            <a:off x="819150" y="46482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TEST POINTS</a:t>
            </a:r>
          </a:p>
        </p:txBody>
      </p:sp>
      <p:sp>
        <p:nvSpPr>
          <p:cNvPr id="38" name="s7-row-body-5">
            <a:extLst xmlns:a="http://schemas.openxmlformats.org/drawingml/2006/main">
              <a:ext uri="{FF2B5EF4-FFF2-40B4-BE49-F238E27FC236}">
                <a16:creationId xmlns:a16="http://schemas.microsoft.com/office/drawing/2014/main" id="{1B4E38A8-0884-4D5D-A8D4-C9FD99B1B593}"/>
              </a:ext>
            </a:extLst>
          </p:cNvPr>
          <p:cNvSpPr>
            <a:spLocks xmlns:a="http://schemas.openxmlformats.org/drawingml/2006/main" noGrp="1"/>
          </p:cNvSpPr>
          <p:nvPr/>
        </p:nvSpPr>
        <p:spPr>
          <a:xfrm xmlns:a="http://schemas.openxmlformats.org/drawingml/2006/main">
            <a:off x="2200275" y="46482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ShowTestPointIcons, when supported</a:t>
            </a:r>
          </a:p>
        </p:txBody>
      </p:sp>
      <p:sp>
        <p:nvSpPr>
          <p:cNvPr id="39" name="s7-image-frame">
            <a:extLst xmlns:a="http://schemas.openxmlformats.org/drawingml/2006/main">
              <a:ext uri="{FF2B5EF4-FFF2-40B4-BE49-F238E27FC236}">
                <a16:creationId xmlns:a16="http://schemas.microsoft.com/office/drawing/2014/main" id="{0D2FA88E-4262-48C3-B6C1-8EF45D0DE27F}"/>
              </a:ext>
            </a:extLst>
          </p:cNvPr>
          <p:cNvSpPr>
            <a:spLocks xmlns:a="http://schemas.openxmlformats.org/drawingml/2006/main" noGrp="1"/>
          </p:cNvSpPr>
          <p:nvPr/>
        </p:nvSpPr>
        <p:spPr>
          <a:xfrm xmlns:a="http://schemas.openxmlformats.org/drawingml/2006/main">
            <a:off x="4648200" y="1381125"/>
            <a:ext cx="6858000" cy="37719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11430">
            <a:solidFill>
              <a:srgbClr val="C9D8E3"/>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8163ae86613e4c53"/>
          <a:stretch xmlns:a="http://schemas.openxmlformats.org/drawingml/2006/main"/>
        </p:blipFill>
        <p:spPr>
          <a:xfrm xmlns:a="http://schemas.openxmlformats.org/drawingml/2006/main">
            <a:off x="5141259" y="1495425"/>
            <a:ext cx="5871882" cy="3543300"/>
          </a:xfrm>
          <a:prstGeom xmlns:a="http://schemas.openxmlformats.org/drawingml/2006/main" prst="rect">
            <a:avLst/>
          </a:prstGeom>
        </p:spPr>
      </p:pic>
      <p:sp>
        <p:nvSpPr>
          <p:cNvPr id="41" name="s7-distinction">
            <a:extLst xmlns:a="http://schemas.openxmlformats.org/drawingml/2006/main">
              <a:ext uri="{FF2B5EF4-FFF2-40B4-BE49-F238E27FC236}">
                <a16:creationId xmlns:a16="http://schemas.microsoft.com/office/drawing/2014/main" id="{C11A4772-ECA3-42D5-A2DF-8A146C3F4C30}"/>
              </a:ext>
            </a:extLst>
          </p:cNvPr>
          <p:cNvSpPr>
            <a:spLocks xmlns:a="http://schemas.openxmlformats.org/drawingml/2006/main" noGrp="1"/>
          </p:cNvSpPr>
          <p:nvPr/>
        </p:nvSpPr>
        <p:spPr>
          <a:xfrm xmlns:a="http://schemas.openxmlformats.org/drawingml/2006/main">
            <a:off x="4648200" y="5295900"/>
            <a:ext cx="6858000" cy="781050"/>
          </a:xfrm>
          <a:prstGeom xmlns:a="http://schemas.openxmlformats.org/drawingml/2006/main" prst="roundRect">
            <a:avLst>
              <a:gd name="adj" fmla="val 14634"/>
            </a:avLst>
          </a:prstGeom>
          <a:solidFill xmlns:a="http://schemas.openxmlformats.org/drawingml/2006/main">
            <a:srgbClr val="EEF4F8"/>
          </a:solidFill>
          <a:ln xmlns:a="http://schemas.openxmlformats.org/drawingml/2006/main" w="14288">
            <a:solidFill>
              <a:srgbClr val="20B7C5"/>
            </a:solidFill>
            <a:prstDash val="solid"/>
          </a:ln>
        </p:spPr>
        <p:txBody>
          <a:bodyPr xmlns:a="http://schemas.openxmlformats.org/drawingml/2006/main" wrap="square" lIns="133350" tIns="85725" rIns="133350" bIns="66675" anchor="t">
            <a:noAutofit/>
          </a:bodyPr>
          <a:lstStyle xmlns:a="http://schemas.openxmlformats.org/drawingml/2006/main"/>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MODEL OVERLAYS — units, types, dimensions, names, and log/test-point badges annotate the diagram.</a:t>
            </a:r>
          </a:p>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SDI MARKERS — cursors and data points annotate logged traces. Neither display changes behavior.</a:t>
            </a:r>
          </a:p>
        </p:txBody>
      </p:sp>
    </p:spTree>
    <p:extLst>
      <p:ext uri="{BB962C8B-B14F-4D97-AF65-F5344CB8AC3E}">
        <p14:creationId xmlns:p14="http://schemas.microsoft.com/office/powerpoint/2010/main" val="28635293"/>
      </p:ext>
    </p:extLst>
  </p:cSld>
</p:sld>
</file>

<file path=ppt/slides/slide5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Callbacks create context; the test driver owns the oracle</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45</a:t>
            </a:r>
          </a:p>
        </p:txBody>
      </p:sp>
      <p:sp>
        <p:nvSpPr>
          <p:cNvPr id="23" name="s45-banner">
            <a:extLst xmlns:a="http://schemas.openxmlformats.org/drawingml/2006/main">
              <a:ext uri="{FF2B5EF4-FFF2-40B4-BE49-F238E27FC236}">
                <a16:creationId xmlns:a16="http://schemas.microsoft.com/office/drawing/2014/main" id="{37599507-69D4-4617-BC5F-E12C2F90D0E8}"/>
              </a:ext>
            </a:extLst>
          </p:cNvPr>
          <p:cNvSpPr>
            <a:spLocks xmlns:a="http://schemas.openxmlformats.org/drawingml/2006/main" noGrp="1"/>
          </p:cNvSpPr>
          <p:nvPr/>
        </p:nvSpPr>
        <p:spPr>
          <a:xfrm xmlns:a="http://schemas.openxmlformats.org/drawingml/2006/main">
            <a:off x="685800" y="1428750"/>
            <a:ext cx="10820400" cy="381000"/>
          </a:xfrm>
          <a:prstGeom xmlns:a="http://schemas.openxmlformats.org/drawingml/2006/main" prst="roundRect">
            <a:avLst>
              <a:gd name="adj" fmla="val 3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TWO SEPARATE EXECUTION PATHS  •  DO NOT DRAW A PIPELINE BETWEEN THEM</a:t>
            </a:r>
          </a:p>
        </p:txBody>
      </p:sp>
      <p:sp>
        <p:nvSpPr>
          <p:cNvPr id="24" name="s45-lane-0">
            <a:extLst xmlns:a="http://schemas.openxmlformats.org/drawingml/2006/main">
              <a:ext uri="{FF2B5EF4-FFF2-40B4-BE49-F238E27FC236}">
                <a16:creationId xmlns:a16="http://schemas.microsoft.com/office/drawing/2014/main" id="{BBE65BD6-85F6-4CC3-8DB6-A6B8B78764D3}"/>
              </a:ext>
            </a:extLst>
          </p:cNvPr>
          <p:cNvSpPr>
            <a:spLocks xmlns:a="http://schemas.openxmlformats.org/drawingml/2006/main" noGrp="1"/>
          </p:cNvSpPr>
          <p:nvPr/>
        </p:nvSpPr>
        <p:spPr>
          <a:xfrm xmlns:a="http://schemas.openxmlformats.org/drawingml/2006/main">
            <a:off x="685800" y="2009775"/>
            <a:ext cx="5219700" cy="3314700"/>
          </a:xfrm>
          <a:prstGeom xmlns:a="http://schemas.openxmlformats.org/drawingml/2006/main" prst="roundRect">
            <a:avLst>
              <a:gd name="adj" fmla="val 3448"/>
            </a:avLst>
          </a:prstGeom>
          <a:solidFill xmlns:a="http://schemas.openxmlformats.org/drawingml/2006/main">
            <a:srgbClr val="DFF6F8"/>
          </a:solidFill>
          <a:ln xmlns:a="http://schemas.openxmlformats.org/drawingml/2006/main" w="17145">
            <a:solidFill>
              <a:srgbClr val="20B7C5"/>
            </a:solidFill>
            <a:prstDash val="solid"/>
          </a:ln>
        </p:spPr>
      </p:sp>
      <p:sp>
        <p:nvSpPr>
          <p:cNvPr id="25" name="s45-lane-title-0">
            <a:extLst xmlns:a="http://schemas.openxmlformats.org/drawingml/2006/main">
              <a:ext uri="{FF2B5EF4-FFF2-40B4-BE49-F238E27FC236}">
                <a16:creationId xmlns:a16="http://schemas.microsoft.com/office/drawing/2014/main" id="{3872F86D-4BB9-440B-BAAA-2222B08CE9C9}"/>
              </a:ext>
            </a:extLst>
          </p:cNvPr>
          <p:cNvSpPr>
            <a:spLocks xmlns:a="http://schemas.openxmlformats.org/drawingml/2006/main" noGrp="1"/>
          </p:cNvSpPr>
          <p:nvPr/>
        </p:nvSpPr>
        <p:spPr>
          <a:xfrm xmlns:a="http://schemas.openxmlformats.org/drawingml/2006/main">
            <a:off x="876300" y="2152650"/>
            <a:ext cx="4838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20B7C5"/>
                </a:solidFill>
                <a:latin typeface="Aptos"/>
                <a:ea typeface="Aptos"/>
                <a:cs typeface="Aptos"/>
              </a:defRPr>
            </a:pPr>
            <a:r>
              <a:rPr sz="1313" b="1">
                <a:solidFill>
                  <a:srgbClr val="20B7C5"/>
                </a:solidFill>
                <a:latin typeface="Aptos"/>
                <a:ea typeface="Aptos"/>
                <a:cs typeface="Aptos"/>
              </a:rPr>
              <a:t>CALLBACK EXAMPLE</a:t>
            </a:r>
          </a:p>
        </p:txBody>
      </p:sp>
      <p:sp>
        <p:nvSpPr>
          <p:cNvPr id="26" name="s45-step-0-0">
            <a:extLst xmlns:a="http://schemas.openxmlformats.org/drawingml/2006/main">
              <a:ext uri="{FF2B5EF4-FFF2-40B4-BE49-F238E27FC236}">
                <a16:creationId xmlns:a16="http://schemas.microsoft.com/office/drawing/2014/main" id="{7FAA01AB-954F-4BF3-8379-499F9FE5C5A2}"/>
              </a:ext>
            </a:extLst>
          </p:cNvPr>
          <p:cNvSpPr>
            <a:spLocks xmlns:a="http://schemas.openxmlformats.org/drawingml/2006/main" noGrp="1"/>
          </p:cNvSpPr>
          <p:nvPr/>
        </p:nvSpPr>
        <p:spPr>
          <a:xfrm xmlns:a="http://schemas.openxmlformats.org/drawingml/2006/main">
            <a:off x="971550" y="25908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1  callback_workflow_example.m</a:t>
            </a:r>
          </a:p>
        </p:txBody>
      </p:sp>
      <p:sp>
        <p:nvSpPr>
          <p:cNvPr id="27" name="s45-arrow-0-0">
            <a:extLst xmlns:a="http://schemas.openxmlformats.org/drawingml/2006/main">
              <a:ext uri="{FF2B5EF4-FFF2-40B4-BE49-F238E27FC236}">
                <a16:creationId xmlns:a16="http://schemas.microsoft.com/office/drawing/2014/main" id="{982FE483-3EE6-4C1C-A5B3-CF20B7DB3169}"/>
              </a:ext>
            </a:extLst>
          </p:cNvPr>
          <p:cNvSpPr>
            <a:spLocks xmlns:a="http://schemas.openxmlformats.org/drawingml/2006/main" noGrp="1"/>
          </p:cNvSpPr>
          <p:nvPr/>
        </p:nvSpPr>
        <p:spPr>
          <a:xfrm xmlns:a="http://schemas.openxmlformats.org/drawingml/2006/main">
            <a:off x="3105150" y="29051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28" name="s45-step-0-1">
            <a:extLst xmlns:a="http://schemas.openxmlformats.org/drawingml/2006/main">
              <a:ext uri="{FF2B5EF4-FFF2-40B4-BE49-F238E27FC236}">
                <a16:creationId xmlns:a16="http://schemas.microsoft.com/office/drawing/2014/main" id="{931923A0-1684-4684-B29D-8512FE5474F8}"/>
              </a:ext>
            </a:extLst>
          </p:cNvPr>
          <p:cNvSpPr>
            <a:spLocks xmlns:a="http://schemas.openxmlformats.org/drawingml/2006/main" noGrp="1"/>
          </p:cNvSpPr>
          <p:nvPr/>
        </p:nvSpPr>
        <p:spPr>
          <a:xfrm xmlns:a="http://schemas.openxmlformats.org/drawingml/2006/main">
            <a:off x="971550" y="30480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2  preload calls setup when context is absent</a:t>
            </a:r>
          </a:p>
        </p:txBody>
      </p:sp>
      <p:sp>
        <p:nvSpPr>
          <p:cNvPr id="29" name="s45-arrow-0-1">
            <a:extLst xmlns:a="http://schemas.openxmlformats.org/drawingml/2006/main">
              <a:ext uri="{FF2B5EF4-FFF2-40B4-BE49-F238E27FC236}">
                <a16:creationId xmlns:a16="http://schemas.microsoft.com/office/drawing/2014/main" id="{BF4F988C-DB5C-4AA0-AE45-13CE112D2999}"/>
              </a:ext>
            </a:extLst>
          </p:cNvPr>
          <p:cNvSpPr>
            <a:spLocks xmlns:a="http://schemas.openxmlformats.org/drawingml/2006/main" noGrp="1"/>
          </p:cNvSpPr>
          <p:nvPr/>
        </p:nvSpPr>
        <p:spPr>
          <a:xfrm xmlns:a="http://schemas.openxmlformats.org/drawingml/2006/main">
            <a:off x="3105150" y="33623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30" name="s45-step-0-2">
            <a:extLst xmlns:a="http://schemas.openxmlformats.org/drawingml/2006/main">
              <a:ext uri="{FF2B5EF4-FFF2-40B4-BE49-F238E27FC236}">
                <a16:creationId xmlns:a16="http://schemas.microsoft.com/office/drawing/2014/main" id="{1CC233ED-08E5-4CA2-B17E-1C7AFB4542FD}"/>
              </a:ext>
            </a:extLst>
          </p:cNvPr>
          <p:cNvSpPr>
            <a:spLocks xmlns:a="http://schemas.openxmlformats.org/drawingml/2006/main" noGrp="1"/>
          </p:cNvSpPr>
          <p:nvPr/>
        </p:nvSpPr>
        <p:spPr>
          <a:xfrm xmlns:a="http://schemas.openxmlformats.org/drawingml/2006/main">
            <a:off x="971550" y="35052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3  setup creates Dataset/context; preload stores state</a:t>
            </a:r>
          </a:p>
        </p:txBody>
      </p:sp>
      <p:sp>
        <p:nvSpPr>
          <p:cNvPr id="31" name="s45-arrow-0-2">
            <a:extLst xmlns:a="http://schemas.openxmlformats.org/drawingml/2006/main">
              <a:ext uri="{FF2B5EF4-FFF2-40B4-BE49-F238E27FC236}">
                <a16:creationId xmlns:a16="http://schemas.microsoft.com/office/drawing/2014/main" id="{80B8D4F0-EF3E-426B-97FE-5761670BFC31}"/>
              </a:ext>
            </a:extLst>
          </p:cNvPr>
          <p:cNvSpPr>
            <a:spLocks xmlns:a="http://schemas.openxmlformats.org/drawingml/2006/main" noGrp="1"/>
          </p:cNvSpPr>
          <p:nvPr/>
        </p:nvSpPr>
        <p:spPr>
          <a:xfrm xmlns:a="http://schemas.openxmlformats.org/drawingml/2006/main">
            <a:off x="3105150" y="38195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32" name="s45-step-0-3">
            <a:extLst xmlns:a="http://schemas.openxmlformats.org/drawingml/2006/main">
              <a:ext uri="{FF2B5EF4-FFF2-40B4-BE49-F238E27FC236}">
                <a16:creationId xmlns:a16="http://schemas.microsoft.com/office/drawing/2014/main" id="{03BBAD82-7E5C-4905-8CA0-CA0E943C1036}"/>
              </a:ext>
            </a:extLst>
          </p:cNvPr>
          <p:cNvSpPr>
            <a:spLocks xmlns:a="http://schemas.openxmlformats.org/drawingml/2006/main" noGrp="1"/>
          </p:cNvSpPr>
          <p:nvPr/>
        </p:nvSpPr>
        <p:spPr>
          <a:xfrm xmlns:a="http://schemas.openxmlformats.org/drawingml/2006/main">
            <a:off x="971550" y="39624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4  postload configures standalone PitchRateLimiter</a:t>
            </a:r>
          </a:p>
        </p:txBody>
      </p:sp>
      <p:sp>
        <p:nvSpPr>
          <p:cNvPr id="33" name="s45-arrow-0-3">
            <a:extLst xmlns:a="http://schemas.openxmlformats.org/drawingml/2006/main">
              <a:ext uri="{FF2B5EF4-FFF2-40B4-BE49-F238E27FC236}">
                <a16:creationId xmlns:a16="http://schemas.microsoft.com/office/drawing/2014/main" id="{7ECFF15D-55F6-4FE0-B880-6936441F690D}"/>
              </a:ext>
            </a:extLst>
          </p:cNvPr>
          <p:cNvSpPr>
            <a:spLocks xmlns:a="http://schemas.openxmlformats.org/drawingml/2006/main" noGrp="1"/>
          </p:cNvSpPr>
          <p:nvPr/>
        </p:nvSpPr>
        <p:spPr>
          <a:xfrm xmlns:a="http://schemas.openxmlformats.org/drawingml/2006/main">
            <a:off x="3105150" y="42767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34" name="s45-step-0-4">
            <a:extLst xmlns:a="http://schemas.openxmlformats.org/drawingml/2006/main">
              <a:ext uri="{FF2B5EF4-FFF2-40B4-BE49-F238E27FC236}">
                <a16:creationId xmlns:a16="http://schemas.microsoft.com/office/drawing/2014/main" id="{D998898C-F161-45BB-BB00-C0D6D8189EB1}"/>
              </a:ext>
            </a:extLst>
          </p:cNvPr>
          <p:cNvSpPr>
            <a:spLocks xmlns:a="http://schemas.openxmlformats.org/drawingml/2006/main" noGrp="1"/>
          </p:cNvSpPr>
          <p:nvPr/>
        </p:nvSpPr>
        <p:spPr>
          <a:xfrm xmlns:a="http://schemas.openxmlformats.org/drawingml/2006/main">
            <a:off x="971550" y="44196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5  optional standalone simulation</a:t>
            </a:r>
          </a:p>
        </p:txBody>
      </p:sp>
      <p:sp>
        <p:nvSpPr>
          <p:cNvPr id="35" name="s45-lane-footer-0">
            <a:extLst xmlns:a="http://schemas.openxmlformats.org/drawingml/2006/main">
              <a:ext uri="{FF2B5EF4-FFF2-40B4-BE49-F238E27FC236}">
                <a16:creationId xmlns:a16="http://schemas.microsoft.com/office/drawing/2014/main" id="{816BF4EC-0949-42A0-AFDA-151F2E76A30A}"/>
              </a:ext>
            </a:extLst>
          </p:cNvPr>
          <p:cNvSpPr>
            <a:spLocks xmlns:a="http://schemas.openxmlformats.org/drawingml/2006/main" noGrp="1"/>
          </p:cNvSpPr>
          <p:nvPr/>
        </p:nvSpPr>
        <p:spPr>
          <a:xfrm xmlns:a="http://schemas.openxmlformats.org/drawingml/2006/main">
            <a:off x="895350" y="4972050"/>
            <a:ext cx="4800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15" b="1">
                <a:solidFill>
                  <a:srgbClr val="20B7C5"/>
                </a:solidFill>
                <a:latin typeface="Aptos"/>
                <a:ea typeface="Aptos"/>
                <a:cs typeface="Aptos"/>
              </a:defRPr>
            </a:pPr>
            <a:r>
              <a:rPr sz="915" b="1">
                <a:solidFill>
                  <a:srgbClr val="20B7C5"/>
                </a:solidFill>
                <a:latin typeface="Aptos"/>
                <a:ea typeface="Aptos"/>
                <a:cs typeface="Aptos"/>
              </a:rPr>
              <a:t>NO HARNESS DRIVER  •  NO ORACLE  •  NO EVIDENCE REPORT</a:t>
            </a:r>
          </a:p>
        </p:txBody>
      </p:sp>
      <p:sp>
        <p:nvSpPr>
          <p:cNvPr id="36" name="s45-lane-1">
            <a:extLst xmlns:a="http://schemas.openxmlformats.org/drawingml/2006/main">
              <a:ext uri="{FF2B5EF4-FFF2-40B4-BE49-F238E27FC236}">
                <a16:creationId xmlns:a16="http://schemas.microsoft.com/office/drawing/2014/main" id="{A5420D9F-01C3-4813-99B8-B380FF2A68E1}"/>
              </a:ext>
            </a:extLst>
          </p:cNvPr>
          <p:cNvSpPr>
            <a:spLocks xmlns:a="http://schemas.openxmlformats.org/drawingml/2006/main" noGrp="1"/>
          </p:cNvSpPr>
          <p:nvPr/>
        </p:nvSpPr>
        <p:spPr>
          <a:xfrm xmlns:a="http://schemas.openxmlformats.org/drawingml/2006/main">
            <a:off x="6286500" y="2009775"/>
            <a:ext cx="5219700" cy="3314700"/>
          </a:xfrm>
          <a:prstGeom xmlns:a="http://schemas.openxmlformats.org/drawingml/2006/main" prst="roundRect">
            <a:avLst>
              <a:gd name="adj" fmla="val 3448"/>
            </a:avLst>
          </a:prstGeom>
          <a:solidFill xmlns:a="http://schemas.openxmlformats.org/drawingml/2006/main">
            <a:srgbClr val="E2F4EA"/>
          </a:solidFill>
          <a:ln xmlns:a="http://schemas.openxmlformats.org/drawingml/2006/main" w="17145">
            <a:solidFill>
              <a:srgbClr val="2CA56F"/>
            </a:solidFill>
            <a:prstDash val="solid"/>
          </a:ln>
        </p:spPr>
      </p:sp>
      <p:sp>
        <p:nvSpPr>
          <p:cNvPr id="37" name="s45-lane-title-1">
            <a:extLst xmlns:a="http://schemas.openxmlformats.org/drawingml/2006/main">
              <a:ext uri="{FF2B5EF4-FFF2-40B4-BE49-F238E27FC236}">
                <a16:creationId xmlns:a16="http://schemas.microsoft.com/office/drawing/2014/main" id="{FAB7E30D-9ADB-4C5A-B211-85A89A929FF8}"/>
              </a:ext>
            </a:extLst>
          </p:cNvPr>
          <p:cNvSpPr>
            <a:spLocks xmlns:a="http://schemas.openxmlformats.org/drawingml/2006/main" noGrp="1"/>
          </p:cNvSpPr>
          <p:nvPr/>
        </p:nvSpPr>
        <p:spPr>
          <a:xfrm xmlns:a="http://schemas.openxmlformats.org/drawingml/2006/main">
            <a:off x="6477000" y="2152650"/>
            <a:ext cx="4838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2CA56F"/>
                </a:solidFill>
                <a:latin typeface="Aptos"/>
                <a:ea typeface="Aptos"/>
                <a:cs typeface="Aptos"/>
              </a:defRPr>
            </a:pPr>
            <a:r>
              <a:rPr sz="1313" b="1">
                <a:solidFill>
                  <a:srgbClr val="2CA56F"/>
                </a:solidFill>
                <a:latin typeface="Aptos"/>
                <a:ea typeface="Aptos"/>
                <a:cs typeface="Aptos"/>
              </a:rPr>
              <a:t>RETAINED LIMITER ASSESSMENT</a:t>
            </a:r>
          </a:p>
        </p:txBody>
      </p:sp>
      <p:sp>
        <p:nvSpPr>
          <p:cNvPr id="38" name="s45-step-1-0">
            <a:extLst xmlns:a="http://schemas.openxmlformats.org/drawingml/2006/main">
              <a:ext uri="{FF2B5EF4-FFF2-40B4-BE49-F238E27FC236}">
                <a16:creationId xmlns:a16="http://schemas.microsoft.com/office/drawing/2014/main" id="{FE87AC8C-7E25-486F-A1EA-0F28E44C0A7A}"/>
              </a:ext>
            </a:extLst>
          </p:cNvPr>
          <p:cNvSpPr>
            <a:spLocks xmlns:a="http://schemas.openxmlformats.org/drawingml/2006/main" noGrp="1"/>
          </p:cNvSpPr>
          <p:nvPr/>
        </p:nvSpPr>
        <p:spPr>
          <a:xfrm xmlns:a="http://schemas.openxmlformats.org/drawingml/2006/main">
            <a:off x="6572250" y="25908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1  initialize_training_data.m</a:t>
            </a:r>
          </a:p>
        </p:txBody>
      </p:sp>
      <p:sp>
        <p:nvSpPr>
          <p:cNvPr id="39" name="s45-arrow-1-0">
            <a:extLst xmlns:a="http://schemas.openxmlformats.org/drawingml/2006/main">
              <a:ext uri="{FF2B5EF4-FFF2-40B4-BE49-F238E27FC236}">
                <a16:creationId xmlns:a16="http://schemas.microsoft.com/office/drawing/2014/main" id="{3AD7D8C0-E553-41F8-8879-148B7304378C}"/>
              </a:ext>
            </a:extLst>
          </p:cNvPr>
          <p:cNvSpPr>
            <a:spLocks xmlns:a="http://schemas.openxmlformats.org/drawingml/2006/main" noGrp="1"/>
          </p:cNvSpPr>
          <p:nvPr/>
        </p:nvSpPr>
        <p:spPr>
          <a:xfrm xmlns:a="http://schemas.openxmlformats.org/drawingml/2006/main">
            <a:off x="8705850" y="29051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0" name="s45-step-1-1">
            <a:extLst xmlns:a="http://schemas.openxmlformats.org/drawingml/2006/main">
              <a:ext uri="{FF2B5EF4-FFF2-40B4-BE49-F238E27FC236}">
                <a16:creationId xmlns:a16="http://schemas.microsoft.com/office/drawing/2014/main" id="{38D3A214-3C2E-4993-AF3A-A422260D9ED4}"/>
              </a:ext>
            </a:extLst>
          </p:cNvPr>
          <p:cNvSpPr>
            <a:spLocks xmlns:a="http://schemas.openxmlformats.org/drawingml/2006/main" noGrp="1"/>
          </p:cNvSpPr>
          <p:nvPr/>
        </p:nvSpPr>
        <p:spPr>
          <a:xfrm xmlns:a="http://schemas.openxmlformats.org/drawingml/2006/main">
            <a:off x="6572250" y="30480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2  create + inject 3 test timeseries</a:t>
            </a:r>
          </a:p>
        </p:txBody>
      </p:sp>
      <p:sp>
        <p:nvSpPr>
          <p:cNvPr id="41" name="s45-arrow-1-1">
            <a:extLst xmlns:a="http://schemas.openxmlformats.org/drawingml/2006/main">
              <a:ext uri="{FF2B5EF4-FFF2-40B4-BE49-F238E27FC236}">
                <a16:creationId xmlns:a16="http://schemas.microsoft.com/office/drawing/2014/main" id="{AB1B2552-49BD-4CB8-82E5-2F87B27C98FB}"/>
              </a:ext>
            </a:extLst>
          </p:cNvPr>
          <p:cNvSpPr>
            <a:spLocks xmlns:a="http://schemas.openxmlformats.org/drawingml/2006/main" noGrp="1"/>
          </p:cNvSpPr>
          <p:nvPr/>
        </p:nvSpPr>
        <p:spPr>
          <a:xfrm xmlns:a="http://schemas.openxmlformats.org/drawingml/2006/main">
            <a:off x="8705850" y="33623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2" name="s45-step-1-2">
            <a:extLst xmlns:a="http://schemas.openxmlformats.org/drawingml/2006/main">
              <a:ext uri="{FF2B5EF4-FFF2-40B4-BE49-F238E27FC236}">
                <a16:creationId xmlns:a16="http://schemas.microsoft.com/office/drawing/2014/main" id="{E029648C-58A5-4A8B-8538-9C008327DB0E}"/>
              </a:ext>
            </a:extLst>
          </p:cNvPr>
          <p:cNvSpPr>
            <a:spLocks xmlns:a="http://schemas.openxmlformats.org/drawingml/2006/main" noGrp="1"/>
          </p:cNvSpPr>
          <p:nvPr/>
        </p:nvSpPr>
        <p:spPr>
          <a:xfrm xmlns:a="http://schemas.openxmlformats.org/drawingml/2006/main">
            <a:off x="6572250" y="35052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3  simulate PitchRateLimiter_Harness once</a:t>
            </a:r>
          </a:p>
        </p:txBody>
      </p:sp>
      <p:sp>
        <p:nvSpPr>
          <p:cNvPr id="43" name="s45-arrow-1-2">
            <a:extLst xmlns:a="http://schemas.openxmlformats.org/drawingml/2006/main">
              <a:ext uri="{FF2B5EF4-FFF2-40B4-BE49-F238E27FC236}">
                <a16:creationId xmlns:a16="http://schemas.microsoft.com/office/drawing/2014/main" id="{E022EC10-D983-4486-A15E-00E1C17A5005}"/>
              </a:ext>
            </a:extLst>
          </p:cNvPr>
          <p:cNvSpPr>
            <a:spLocks xmlns:a="http://schemas.openxmlformats.org/drawingml/2006/main" noGrp="1"/>
          </p:cNvSpPr>
          <p:nvPr/>
        </p:nvSpPr>
        <p:spPr>
          <a:xfrm xmlns:a="http://schemas.openxmlformats.org/drawingml/2006/main">
            <a:off x="8705850" y="38195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4" name="s45-step-1-3">
            <a:extLst xmlns:a="http://schemas.openxmlformats.org/drawingml/2006/main">
              <a:ext uri="{FF2B5EF4-FFF2-40B4-BE49-F238E27FC236}">
                <a16:creationId xmlns:a16="http://schemas.microsoft.com/office/drawing/2014/main" id="{C7C0771B-14C2-401D-83B7-012900EFC294}"/>
              </a:ext>
            </a:extLst>
          </p:cNvPr>
          <p:cNvSpPr>
            <a:spLocks xmlns:a="http://schemas.openxmlformats.org/drawingml/2006/main" noGrp="1"/>
          </p:cNvSpPr>
          <p:nvPr/>
        </p:nvSpPr>
        <p:spPr>
          <a:xfrm xmlns:a="http://schemas.openxmlformats.org/drawingml/2006/main">
            <a:off x="6572250" y="39624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4  assess outputs + status + time + suite spacing</a:t>
            </a:r>
          </a:p>
        </p:txBody>
      </p:sp>
      <p:sp>
        <p:nvSpPr>
          <p:cNvPr id="45" name="s45-arrow-1-3">
            <a:extLst xmlns:a="http://schemas.openxmlformats.org/drawingml/2006/main">
              <a:ext uri="{FF2B5EF4-FFF2-40B4-BE49-F238E27FC236}">
                <a16:creationId xmlns:a16="http://schemas.microsoft.com/office/drawing/2014/main" id="{5E12E432-2219-4EB6-892C-036BE1C46235}"/>
              </a:ext>
            </a:extLst>
          </p:cNvPr>
          <p:cNvSpPr>
            <a:spLocks xmlns:a="http://schemas.openxmlformats.org/drawingml/2006/main" noGrp="1"/>
          </p:cNvSpPr>
          <p:nvPr/>
        </p:nvSpPr>
        <p:spPr>
          <a:xfrm xmlns:a="http://schemas.openxmlformats.org/drawingml/2006/main">
            <a:off x="8705850" y="42767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6" name="s45-step-1-4">
            <a:extLst xmlns:a="http://schemas.openxmlformats.org/drawingml/2006/main">
              <a:ext uri="{FF2B5EF4-FFF2-40B4-BE49-F238E27FC236}">
                <a16:creationId xmlns:a16="http://schemas.microsoft.com/office/drawing/2014/main" id="{28549591-3509-4B9C-87B9-3F8701360F51}"/>
              </a:ext>
            </a:extLst>
          </p:cNvPr>
          <p:cNvSpPr>
            <a:spLocks xmlns:a="http://schemas.openxmlformats.org/drawingml/2006/main" noGrp="1"/>
          </p:cNvSpPr>
          <p:nvPr/>
        </p:nvSpPr>
        <p:spPr>
          <a:xfrm xmlns:a="http://schemas.openxmlformats.org/drawingml/2006/main">
            <a:off x="6572250" y="44196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5  retain CSV • MAT • HTML • PNG</a:t>
            </a:r>
          </a:p>
        </p:txBody>
      </p:sp>
      <p:sp>
        <p:nvSpPr>
          <p:cNvPr id="47" name="s45-lane-footer-1">
            <a:extLst xmlns:a="http://schemas.openxmlformats.org/drawingml/2006/main">
              <a:ext uri="{FF2B5EF4-FFF2-40B4-BE49-F238E27FC236}">
                <a16:creationId xmlns:a16="http://schemas.microsoft.com/office/drawing/2014/main" id="{F582AF1A-C41F-436E-B3AD-BA3354908514}"/>
              </a:ext>
            </a:extLst>
          </p:cNvPr>
          <p:cNvSpPr>
            <a:spLocks xmlns:a="http://schemas.openxmlformats.org/drawingml/2006/main" noGrp="1"/>
          </p:cNvSpPr>
          <p:nvPr/>
        </p:nvSpPr>
        <p:spPr>
          <a:xfrm xmlns:a="http://schemas.openxmlformats.org/drawingml/2006/main">
            <a:off x="6496050" y="4972050"/>
            <a:ext cx="4800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15" b="1">
                <a:solidFill>
                  <a:srgbClr val="2CA56F"/>
                </a:solidFill>
                <a:latin typeface="Aptos"/>
                <a:ea typeface="Aptos"/>
                <a:cs typeface="Aptos"/>
              </a:defRPr>
            </a:pPr>
            <a:r>
              <a:rPr sz="915" b="1">
                <a:solidFill>
                  <a:srgbClr val="2CA56F"/>
                </a:solidFill>
                <a:latin typeface="Aptos"/>
                <a:ea typeface="Aptos"/>
                <a:cs typeface="Aptos"/>
              </a:rPr>
              <a:t>run_pitch_rate_limiter_tests.m OWNS ORACLE + EVIDENCE</a:t>
            </a:r>
          </a:p>
        </p:txBody>
      </p:sp>
      <p:sp>
        <p:nvSpPr>
          <p:cNvPr id="48" name="s45-distinction">
            <a:extLst xmlns:a="http://schemas.openxmlformats.org/drawingml/2006/main">
              <a:ext uri="{FF2B5EF4-FFF2-40B4-BE49-F238E27FC236}">
                <a16:creationId xmlns:a16="http://schemas.microsoft.com/office/drawing/2014/main" id="{9A5973E6-886E-42A2-892D-28EF6B0E89E7}"/>
              </a:ext>
            </a:extLst>
          </p:cNvPr>
          <p:cNvSpPr>
            <a:spLocks xmlns:a="http://schemas.openxmlformats.org/drawingml/2006/main" noGrp="1"/>
          </p:cNvSpPr>
          <p:nvPr/>
        </p:nvSpPr>
        <p:spPr>
          <a:xfrm xmlns:a="http://schemas.openxmlformats.org/drawingml/2006/main">
            <a:off x="685800" y="5562600"/>
            <a:ext cx="10820400" cy="533400"/>
          </a:xfrm>
          <a:prstGeom xmlns:a="http://schemas.openxmlformats.org/drawingml/2006/main" prst="roundRect">
            <a:avLst>
              <a:gd name="adj" fmla="val 21429"/>
            </a:avLst>
          </a:prstGeom>
          <a:solidFill xmlns:a="http://schemas.openxmlformats.org/drawingml/2006/main">
            <a:srgbClr val="FFF0D7"/>
          </a:solidFill>
          <a:ln xmlns:a="http://schemas.openxmlformats.org/drawingml/2006/main" w="1333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071521"/>
                </a:solidFill>
                <a:latin typeface="Aptos"/>
                <a:ea typeface="Aptos"/>
                <a:cs typeface="Aptos"/>
              </a:defRPr>
            </a:pPr>
            <a:r>
              <a:rPr sz="1140" b="1">
                <a:solidFill>
                  <a:srgbClr val="071521"/>
                </a:solidFill>
                <a:latin typeface="Aptos"/>
                <a:ea typeface="Aptos"/>
                <a:cs typeface="Aptos"/>
              </a:rPr>
              <a:t>KEY DISTINCTION  •  callback_workflow_example.m never invokes run_pitch_rate_limiter_tests.m</a:t>
            </a:r>
          </a:p>
        </p:txBody>
      </p:sp>
    </p:spTree>
    <p:extLst>
      <p:ext uri="{BB962C8B-B14F-4D97-AF65-F5344CB8AC3E}">
        <p14:creationId xmlns:p14="http://schemas.microsoft.com/office/powerpoint/2010/main" val="1450052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2026-08-27T16:43:28.1830000Z</dcterms:created>
  <dcterms:modified xsi:type="dcterms:W3CDTF">2026-08-27T16:43:28.1830000Z</dcterms:modified>
</coreProperties>
</file>