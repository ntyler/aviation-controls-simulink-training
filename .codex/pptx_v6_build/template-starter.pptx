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ef0a4410554b0e" /><Relationship Type="http://schemas.openxmlformats.org/officeDocument/2006/relationships/extended-properties" Target="/docProps/app.xml" Id="Rd2ea797f9c6f4f12" /><Relationship Type="http://schemas.openxmlformats.org/officeDocument/2006/relationships/officeDocument" Target="/ppt/presentation.xml" Id="Raa94a0e9046d4e7c" /></Relationships>
</file>

<file path=ppt/presentation.xml><?xml version="1.0" encoding="utf-8"?>
<p:presentation xmlns:p="http://schemas.openxmlformats.org/presentationml/2006/main">
  <p:sldMasterIdLst>
    <p:sldMasterId xmlns:r="http://schemas.openxmlformats.org/officeDocument/2006/relationships" id="2147483648" r:id="Rb94bad6fe385417d"/>
  </p:sldMasterIdLst>
  <p:notesMasterIdLst>
    <p:notesMasterId xmlns:r="http://schemas.openxmlformats.org/officeDocument/2006/relationships" r:id="R04a678a004814908"/>
  </p:notesMasterIdLst>
  <p:sldIdLst>
    <p:sldId xmlns:r="http://schemas.openxmlformats.org/officeDocument/2006/relationships" id="256" r:id="R92fba6f0798d4405"/>
    <p:sldId xmlns:r="http://schemas.openxmlformats.org/officeDocument/2006/relationships" id="257" r:id="Ra79aee3db3884a29"/>
    <p:sldId xmlns:r="http://schemas.openxmlformats.org/officeDocument/2006/relationships" id="258" r:id="R350d30cdd48340de"/>
    <p:sldId xmlns:r="http://schemas.openxmlformats.org/officeDocument/2006/relationships" id="259" r:id="R0d87bbfd686540c2"/>
    <p:sldId xmlns:r="http://schemas.openxmlformats.org/officeDocument/2006/relationships" id="260" r:id="Rae59a858e9a64ff4"/>
    <p:sldId xmlns:r="http://schemas.openxmlformats.org/officeDocument/2006/relationships" id="261" r:id="R6ffc96b94f2b45c1"/>
    <p:sldId xmlns:r="http://schemas.openxmlformats.org/officeDocument/2006/relationships" id="262" r:id="R882585753ae64c98"/>
    <p:sldId xmlns:r="http://schemas.openxmlformats.org/officeDocument/2006/relationships" id="263" r:id="R1b4a4009083d4106"/>
    <p:sldId xmlns:r="http://schemas.openxmlformats.org/officeDocument/2006/relationships" id="264" r:id="R2b09e89b22994493"/>
    <p:sldId xmlns:r="http://schemas.openxmlformats.org/officeDocument/2006/relationships" id="265" r:id="R42e0ffec8e4a41e3"/>
    <p:sldId xmlns:r="http://schemas.openxmlformats.org/officeDocument/2006/relationships" id="266" r:id="Raff138a954544b15"/>
    <p:sldId xmlns:r="http://schemas.openxmlformats.org/officeDocument/2006/relationships" id="267" r:id="R471a2dc363cc4da2"/>
    <p:sldId xmlns:r="http://schemas.openxmlformats.org/officeDocument/2006/relationships" id="268" r:id="R229665ba509347af"/>
    <p:sldId xmlns:r="http://schemas.openxmlformats.org/officeDocument/2006/relationships" id="269" r:id="R0bbe7192f33d41c0"/>
    <p:sldId xmlns:r="http://schemas.openxmlformats.org/officeDocument/2006/relationships" id="270" r:id="Rdf4bc24b89e247b4"/>
    <p:sldId xmlns:r="http://schemas.openxmlformats.org/officeDocument/2006/relationships" id="271" r:id="R5f1a9285094b4a9b"/>
    <p:sldId xmlns:r="http://schemas.openxmlformats.org/officeDocument/2006/relationships" id="272" r:id="R4eb5beb443a641b4"/>
    <p:sldId xmlns:r="http://schemas.openxmlformats.org/officeDocument/2006/relationships" id="273" r:id="R81d36e539c7d4724"/>
    <p:sldId xmlns:r="http://schemas.openxmlformats.org/officeDocument/2006/relationships" id="274" r:id="Rd9e28f588dc44751"/>
    <p:sldId xmlns:r="http://schemas.openxmlformats.org/officeDocument/2006/relationships" id="275" r:id="R1af254bffb4841da"/>
    <p:sldId xmlns:r="http://schemas.openxmlformats.org/officeDocument/2006/relationships" id="276" r:id="R9c5f2502fbfc4e98"/>
    <p:sldId xmlns:r="http://schemas.openxmlformats.org/officeDocument/2006/relationships" id="277" r:id="Re2637bbe83b34871"/>
    <p:sldId xmlns:r="http://schemas.openxmlformats.org/officeDocument/2006/relationships" id="278" r:id="R3d431e69a57d4aa7"/>
    <p:sldId xmlns:r="http://schemas.openxmlformats.org/officeDocument/2006/relationships" id="279" r:id="R9365d359c94545a4"/>
    <p:sldId xmlns:r="http://schemas.openxmlformats.org/officeDocument/2006/relationships" id="280" r:id="Rde96f308a47041b4"/>
    <p:sldId xmlns:r="http://schemas.openxmlformats.org/officeDocument/2006/relationships" id="281" r:id="Rb10c2cf84be3495d"/>
    <p:sldId xmlns:r="http://schemas.openxmlformats.org/officeDocument/2006/relationships" id="282" r:id="Rcea2eb21163c487a"/>
    <p:sldId xmlns:r="http://schemas.openxmlformats.org/officeDocument/2006/relationships" id="283" r:id="R312bb6ca7e39412d"/>
    <p:sldId xmlns:r="http://schemas.openxmlformats.org/officeDocument/2006/relationships" id="284" r:id="Recc7e207cc154b68"/>
    <p:sldId xmlns:r="http://schemas.openxmlformats.org/officeDocument/2006/relationships" id="285" r:id="R879076c6c6ab4633"/>
    <p:sldId xmlns:r="http://schemas.openxmlformats.org/officeDocument/2006/relationships" id="286" r:id="Rd6041500e55d40c9"/>
    <p:sldId xmlns:r="http://schemas.openxmlformats.org/officeDocument/2006/relationships" id="287" r:id="R9d6894bc04dc4831"/>
    <p:sldId xmlns:r="http://schemas.openxmlformats.org/officeDocument/2006/relationships" id="288" r:id="R541e9d463e8a4031"/>
    <p:sldId xmlns:r="http://schemas.openxmlformats.org/officeDocument/2006/relationships" id="289" r:id="Rac4ed7db3d7140e1"/>
    <p:sldId xmlns:r="http://schemas.openxmlformats.org/officeDocument/2006/relationships" id="290" r:id="Rd59807f82c294490"/>
    <p:sldId xmlns:r="http://schemas.openxmlformats.org/officeDocument/2006/relationships" id="291" r:id="R53401858f41641eb"/>
    <p:sldId xmlns:r="http://schemas.openxmlformats.org/officeDocument/2006/relationships" id="292" r:id="Rbe907482ac544fab"/>
    <p:sldId xmlns:r="http://schemas.openxmlformats.org/officeDocument/2006/relationships" id="293" r:id="R4d071507b8794f04"/>
    <p:sldId xmlns:r="http://schemas.openxmlformats.org/officeDocument/2006/relationships" id="294" r:id="R74c3fd99612d4dee"/>
    <p:sldId xmlns:r="http://schemas.openxmlformats.org/officeDocument/2006/relationships" id="295" r:id="R4967b93c4c60433d"/>
    <p:sldId xmlns:r="http://schemas.openxmlformats.org/officeDocument/2006/relationships" id="296" r:id="R5c0cc7c079b9420d"/>
    <p:sldId xmlns:r="http://schemas.openxmlformats.org/officeDocument/2006/relationships" id="297" r:id="Rbe54d9a6d5594f3e"/>
    <p:sldId xmlns:r="http://schemas.openxmlformats.org/officeDocument/2006/relationships" id="298" r:id="R02f106fd23174cda"/>
    <p:sldId xmlns:r="http://schemas.openxmlformats.org/officeDocument/2006/relationships" id="299" r:id="Rd099c77c0d82448d"/>
    <p:sldId xmlns:r="http://schemas.openxmlformats.org/officeDocument/2006/relationships" id="300" r:id="R66a4645d2920432e"/>
    <p:sldId xmlns:r="http://schemas.openxmlformats.org/officeDocument/2006/relationships" id="301" r:id="R88bda4305c8f42a5"/>
    <p:sldId xmlns:r="http://schemas.openxmlformats.org/officeDocument/2006/relationships" id="302" r:id="Rd813bd64e89240fe"/>
    <p:sldId xmlns:r="http://schemas.openxmlformats.org/officeDocument/2006/relationships" id="303" r:id="Re528444c0e8c43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47eeb0e957e4fbe" /><Relationship Type="http://schemas.openxmlformats.org/officeDocument/2006/relationships/slideMaster" Target="/ppt/slideMasters/slideMaster1.xml" Id="Rb94bad6fe385417d" /><Relationship Type="http://schemas.openxmlformats.org/officeDocument/2006/relationships/notesMaster" Target="/ppt/notesMasters/notesMaster1.xml" Id="R04a678a004814908" /><Relationship Type="http://schemas.openxmlformats.org/officeDocument/2006/relationships/presProps" Target="/ppt/presProps.xml" Id="Rf1786b62dabf4cca" /><Relationship Type="http://schemas.openxmlformats.org/officeDocument/2006/relationships/viewProps" Target="/ppt/viewProps.xml" Id="R240fc630146443d6" /><Relationship Type="http://schemas.openxmlformats.org/officeDocument/2006/relationships/tableStyles" Target="/ppt/tableStyles.xml" Id="R41b14ded81464325" /><Relationship Type="http://schemas.openxmlformats.org/officeDocument/2006/relationships/slide" Target="/ppt/slides/slide1.xml" Id="R92fba6f0798d4405" /><Relationship Type="http://schemas.openxmlformats.org/officeDocument/2006/relationships/slide" Target="/ppt/slides/slide2.xml" Id="Ra79aee3db3884a29" /><Relationship Type="http://schemas.openxmlformats.org/officeDocument/2006/relationships/slide" Target="/ppt/slides/slide3.xml" Id="R350d30cdd48340de" /><Relationship Type="http://schemas.openxmlformats.org/officeDocument/2006/relationships/slide" Target="/ppt/slides/slide4.xml" Id="R0d87bbfd686540c2" /><Relationship Type="http://schemas.openxmlformats.org/officeDocument/2006/relationships/slide" Target="/ppt/slides/slide5.xml" Id="Rae59a858e9a64ff4" /><Relationship Type="http://schemas.openxmlformats.org/officeDocument/2006/relationships/slide" Target="/ppt/slides/slide6.xml" Id="R6ffc96b94f2b45c1" /><Relationship Type="http://schemas.openxmlformats.org/officeDocument/2006/relationships/slide" Target="/ppt/slides/slide7.xml" Id="R882585753ae64c98" /><Relationship Type="http://schemas.openxmlformats.org/officeDocument/2006/relationships/slide" Target="/ppt/slides/slide8.xml" Id="R1b4a4009083d4106" /><Relationship Type="http://schemas.openxmlformats.org/officeDocument/2006/relationships/slide" Target="/ppt/slides/slide9.xml" Id="R2b09e89b22994493" /><Relationship Type="http://schemas.openxmlformats.org/officeDocument/2006/relationships/slide" Target="/ppt/slides/slide10.xml" Id="R42e0ffec8e4a41e3" /><Relationship Type="http://schemas.openxmlformats.org/officeDocument/2006/relationships/slide" Target="/ppt/slides/slide11.xml" Id="Raff138a954544b15" /><Relationship Type="http://schemas.openxmlformats.org/officeDocument/2006/relationships/slide" Target="/ppt/slides/slide12.xml" Id="R471a2dc363cc4da2" /><Relationship Type="http://schemas.openxmlformats.org/officeDocument/2006/relationships/slide" Target="/ppt/slides/slide13.xml" Id="R229665ba509347af" /><Relationship Type="http://schemas.openxmlformats.org/officeDocument/2006/relationships/slide" Target="/ppt/slides/slide14.xml" Id="R0bbe7192f33d41c0" /><Relationship Type="http://schemas.openxmlformats.org/officeDocument/2006/relationships/slide" Target="/ppt/slides/slide15.xml" Id="Rdf4bc24b89e247b4" /><Relationship Type="http://schemas.openxmlformats.org/officeDocument/2006/relationships/slide" Target="/ppt/slides/slide16.xml" Id="R5f1a9285094b4a9b" /><Relationship Type="http://schemas.openxmlformats.org/officeDocument/2006/relationships/slide" Target="/ppt/slides/slide17.xml" Id="R4eb5beb443a641b4" /><Relationship Type="http://schemas.openxmlformats.org/officeDocument/2006/relationships/slide" Target="/ppt/slides/slide18.xml" Id="R81d36e539c7d4724" /><Relationship Type="http://schemas.openxmlformats.org/officeDocument/2006/relationships/slide" Target="/ppt/slides/slide19.xml" Id="Rd9e28f588dc44751" /><Relationship Type="http://schemas.openxmlformats.org/officeDocument/2006/relationships/slide" Target="/ppt/slides/slide20.xml" Id="R1af254bffb4841da" /><Relationship Type="http://schemas.openxmlformats.org/officeDocument/2006/relationships/slide" Target="/ppt/slides/slide21.xml" Id="R9c5f2502fbfc4e98" /><Relationship Type="http://schemas.openxmlformats.org/officeDocument/2006/relationships/slide" Target="/ppt/slides/slide22.xml" Id="Re2637bbe83b34871" /><Relationship Type="http://schemas.openxmlformats.org/officeDocument/2006/relationships/slide" Target="/ppt/slides/slide23.xml" Id="R3d431e69a57d4aa7" /><Relationship Type="http://schemas.openxmlformats.org/officeDocument/2006/relationships/slide" Target="/ppt/slides/slide24.xml" Id="R9365d359c94545a4" /><Relationship Type="http://schemas.openxmlformats.org/officeDocument/2006/relationships/slide" Target="/ppt/slides/slide25.xml" Id="Rde96f308a47041b4" /><Relationship Type="http://schemas.openxmlformats.org/officeDocument/2006/relationships/slide" Target="/ppt/slides/slide26.xml" Id="Rb10c2cf84be3495d" /><Relationship Type="http://schemas.openxmlformats.org/officeDocument/2006/relationships/slide" Target="/ppt/slides/slide27.xml" Id="Rcea2eb21163c487a" /><Relationship Type="http://schemas.openxmlformats.org/officeDocument/2006/relationships/slide" Target="/ppt/slides/slide28.xml" Id="R312bb6ca7e39412d" /><Relationship Type="http://schemas.openxmlformats.org/officeDocument/2006/relationships/slide" Target="/ppt/slides/slide29.xml" Id="Recc7e207cc154b68" /><Relationship Type="http://schemas.openxmlformats.org/officeDocument/2006/relationships/slide" Target="/ppt/slides/slide30.xml" Id="R879076c6c6ab4633" /><Relationship Type="http://schemas.openxmlformats.org/officeDocument/2006/relationships/slide" Target="/ppt/slides/slide31.xml" Id="Rd6041500e55d40c9" /><Relationship Type="http://schemas.openxmlformats.org/officeDocument/2006/relationships/slide" Target="/ppt/slides/slide32.xml" Id="R9d6894bc04dc4831" /><Relationship Type="http://schemas.openxmlformats.org/officeDocument/2006/relationships/slide" Target="/ppt/slides/slide33.xml" Id="R541e9d463e8a4031" /><Relationship Type="http://schemas.openxmlformats.org/officeDocument/2006/relationships/slide" Target="/ppt/slides/slide34.xml" Id="Rac4ed7db3d7140e1" /><Relationship Type="http://schemas.openxmlformats.org/officeDocument/2006/relationships/slide" Target="/ppt/slides/slide35.xml" Id="Rd59807f82c294490" /><Relationship Type="http://schemas.openxmlformats.org/officeDocument/2006/relationships/slide" Target="/ppt/slides/slide36.xml" Id="R53401858f41641eb" /><Relationship Type="http://schemas.openxmlformats.org/officeDocument/2006/relationships/slide" Target="/ppt/slides/slide37.xml" Id="Rbe907482ac544fab" /><Relationship Type="http://schemas.openxmlformats.org/officeDocument/2006/relationships/slide" Target="/ppt/slides/slide38.xml" Id="R4d071507b8794f04" /><Relationship Type="http://schemas.openxmlformats.org/officeDocument/2006/relationships/slide" Target="/ppt/slides/slide39.xml" Id="R74c3fd99612d4dee" /><Relationship Type="http://schemas.openxmlformats.org/officeDocument/2006/relationships/slide" Target="/ppt/slides/slide40.xml" Id="R4967b93c4c60433d" /><Relationship Type="http://schemas.openxmlformats.org/officeDocument/2006/relationships/slide" Target="/ppt/slides/slide41.xml" Id="R5c0cc7c079b9420d" /><Relationship Type="http://schemas.openxmlformats.org/officeDocument/2006/relationships/slide" Target="/ppt/slides/slide42.xml" Id="Rbe54d9a6d5594f3e" /><Relationship Type="http://schemas.openxmlformats.org/officeDocument/2006/relationships/slide" Target="/ppt/slides/slide43.xml" Id="R02f106fd23174cda" /><Relationship Type="http://schemas.openxmlformats.org/officeDocument/2006/relationships/slide" Target="/ppt/slides/slide44.xml" Id="Rd099c77c0d82448d" /><Relationship Type="http://schemas.openxmlformats.org/officeDocument/2006/relationships/slide" Target="/ppt/slides/slide45.xml" Id="R66a4645d2920432e" /><Relationship Type="http://schemas.openxmlformats.org/officeDocument/2006/relationships/slide" Target="/ppt/slides/slide46.xml" Id="R88bda4305c8f42a5" /><Relationship Type="http://schemas.openxmlformats.org/officeDocument/2006/relationships/slide" Target="/ppt/slides/slide47.xml" Id="Rd813bd64e89240fe" /><Relationship Type="http://schemas.openxmlformats.org/officeDocument/2006/relationships/slide" Target="/ppt/slides/slide48.xml" Id="Re528444c0e8c43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413c866c8542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2eb30ccf1a4ae8" /><Relationship Type="http://schemas.openxmlformats.org/officeDocument/2006/relationships/notesMaster" Target="/ppt/notesMasters/notesMaster1.xml" Id="Rc1b909e07b7844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18342513a64983" /><Relationship Type="http://schemas.openxmlformats.org/officeDocument/2006/relationships/notesMaster" Target="/ppt/notesMasters/notesMaster1.xml" Id="R74873ce2ed0e4a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5e01dee1054a40" /><Relationship Type="http://schemas.openxmlformats.org/officeDocument/2006/relationships/notesMaster" Target="/ppt/notesMasters/notesMaster1.xml" Id="Rd1e32875750f49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4bc3ac94824b87" /><Relationship Type="http://schemas.openxmlformats.org/officeDocument/2006/relationships/notesMaster" Target="/ppt/notesMasters/notesMaster1.xml" Id="Rb6fb70a9dcbe4d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11e9f8cabf4922" /><Relationship Type="http://schemas.openxmlformats.org/officeDocument/2006/relationships/notesMaster" Target="/ppt/notesMasters/notesMaster1.xml" Id="Rcddb925ee41f47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903da309ea4a6d" /><Relationship Type="http://schemas.openxmlformats.org/officeDocument/2006/relationships/notesMaster" Target="/ppt/notesMasters/notesMaster1.xml" Id="Rf0e48437c2304f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0e821b8a8e4e26" /><Relationship Type="http://schemas.openxmlformats.org/officeDocument/2006/relationships/notesMaster" Target="/ppt/notesMasters/notesMaster1.xml" Id="R3b76ae612a6e4a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4f5b01c0df430a" /><Relationship Type="http://schemas.openxmlformats.org/officeDocument/2006/relationships/notesMaster" Target="/ppt/notesMasters/notesMaster1.xml" Id="R40d239eec02043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94b9f2eec145b4" /><Relationship Type="http://schemas.openxmlformats.org/officeDocument/2006/relationships/notesMaster" Target="/ppt/notesMasters/notesMaster1.xml" Id="Rcc06b24e99694d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c90970c1a64ef5" /><Relationship Type="http://schemas.openxmlformats.org/officeDocument/2006/relationships/notesMaster" Target="/ppt/notesMasters/notesMaster1.xml" Id="R892f54cc41a24e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3a2e95d61c459a" /><Relationship Type="http://schemas.openxmlformats.org/officeDocument/2006/relationships/notesMaster" Target="/ppt/notesMasters/notesMaster1.xml" Id="R7493e08c7a194c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00e50c2d3c4c67" /><Relationship Type="http://schemas.openxmlformats.org/officeDocument/2006/relationships/notesMaster" Target="/ppt/notesMasters/notesMaster1.xml" Id="R5e581346af844f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a0bc6877e540b0" /><Relationship Type="http://schemas.openxmlformats.org/officeDocument/2006/relationships/notesMaster" Target="/ppt/notesMasters/notesMaster1.xml" Id="Rc64f488dd7e442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ed5a57463847bc" /><Relationship Type="http://schemas.openxmlformats.org/officeDocument/2006/relationships/notesMaster" Target="/ppt/notesMasters/notesMaster1.xml" Id="R73db73e66f854b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eee943a0b74205" /><Relationship Type="http://schemas.openxmlformats.org/officeDocument/2006/relationships/notesMaster" Target="/ppt/notesMasters/notesMaster1.xml" Id="R4b3de15f8be04ed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f1079c24514398" /><Relationship Type="http://schemas.openxmlformats.org/officeDocument/2006/relationships/notesMaster" Target="/ppt/notesMasters/notesMaster1.xml" Id="R25dd109935b8457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acabbc603d4f28" /><Relationship Type="http://schemas.openxmlformats.org/officeDocument/2006/relationships/notesMaster" Target="/ppt/notesMasters/notesMaster1.xml" Id="Ra6aae205b4dc4f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8f351a51b445cb" /><Relationship Type="http://schemas.openxmlformats.org/officeDocument/2006/relationships/notesMaster" Target="/ppt/notesMasters/notesMaster1.xml" Id="R25d864386ab747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8908f6207f4c0e" /><Relationship Type="http://schemas.openxmlformats.org/officeDocument/2006/relationships/notesMaster" Target="/ppt/notesMasters/notesMaster1.xml" Id="Rbc6babd849dc430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9b4c0596664890" /><Relationship Type="http://schemas.openxmlformats.org/officeDocument/2006/relationships/notesMaster" Target="/ppt/notesMasters/notesMaster1.xml" Id="R6ab8c3620eae4e6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94044731a7c4551" /><Relationship Type="http://schemas.openxmlformats.org/officeDocument/2006/relationships/notesMaster" Target="/ppt/notesMasters/notesMaster1.xml" Id="R17e4c546da1e4f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049bf8fddc64655" /><Relationship Type="http://schemas.openxmlformats.org/officeDocument/2006/relationships/notesMaster" Target="/ppt/notesMasters/notesMaster1.xml" Id="Rab16f747306a43b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ad2318145ab4f10" /><Relationship Type="http://schemas.openxmlformats.org/officeDocument/2006/relationships/notesMaster" Target="/ppt/notesMasters/notesMaster1.xml" Id="R2f4dc491ae954b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14017df2d634459" /><Relationship Type="http://schemas.openxmlformats.org/officeDocument/2006/relationships/notesMaster" Target="/ppt/notesMasters/notesMaster1.xml" Id="Rc0b6fcb21d8042b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89fc6c387464276" /><Relationship Type="http://schemas.openxmlformats.org/officeDocument/2006/relationships/notesMaster" Target="/ppt/notesMasters/notesMaster1.xml" Id="Re3a34e6c0cee412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576fa78e0df4820" /><Relationship Type="http://schemas.openxmlformats.org/officeDocument/2006/relationships/notesMaster" Target="/ppt/notesMasters/notesMaster1.xml" Id="R59fad1964822495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850d55ba86b4d5b" /><Relationship Type="http://schemas.openxmlformats.org/officeDocument/2006/relationships/notesMaster" Target="/ppt/notesMasters/notesMaster1.xml" Id="R5dc7f337c3f94d0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7583943aea64392" /><Relationship Type="http://schemas.openxmlformats.org/officeDocument/2006/relationships/notesMaster" Target="/ppt/notesMasters/notesMaster1.xml" Id="Ra038f9c8ded546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1a1c2af0e1c4f3f" /><Relationship Type="http://schemas.openxmlformats.org/officeDocument/2006/relationships/notesMaster" Target="/ppt/notesMasters/notesMaster1.xml" Id="Ra2e3c2fb65d64aa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b73969e175041c0" /><Relationship Type="http://schemas.openxmlformats.org/officeDocument/2006/relationships/notesMaster" Target="/ppt/notesMasters/notesMaster1.xml" Id="R32b633cf73f94ac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83b66467a1f49eb" /><Relationship Type="http://schemas.openxmlformats.org/officeDocument/2006/relationships/notesMaster" Target="/ppt/notesMasters/notesMaster1.xml" Id="R60b3e02c27674d6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ddac95593da43e0" /><Relationship Type="http://schemas.openxmlformats.org/officeDocument/2006/relationships/notesMaster" Target="/ppt/notesMasters/notesMaster1.xml" Id="Ra56ba77c77e3493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73adfa4aee7412f" /><Relationship Type="http://schemas.openxmlformats.org/officeDocument/2006/relationships/notesMaster" Target="/ppt/notesMasters/notesMaster1.xml" Id="R4169531211624c0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4ee3be788cc4cb3" /><Relationship Type="http://schemas.openxmlformats.org/officeDocument/2006/relationships/notesMaster" Target="/ppt/notesMasters/notesMaster1.xml" Id="R4b7aaaeb71d046d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ced68faf7964dd9" /><Relationship Type="http://schemas.openxmlformats.org/officeDocument/2006/relationships/notesMaster" Target="/ppt/notesMasters/notesMaster1.xml" Id="R33b71a0e1d50423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c9d20cba0cb46a6" /><Relationship Type="http://schemas.openxmlformats.org/officeDocument/2006/relationships/notesMaster" Target="/ppt/notesMasters/notesMaster1.xml" Id="Rc977eb658331428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fdd7ca032624d48" /><Relationship Type="http://schemas.openxmlformats.org/officeDocument/2006/relationships/notesMaster" Target="/ppt/notesMasters/notesMaster1.xml" Id="Rb6a6ec3c3a21450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b397051c78341e8" /><Relationship Type="http://schemas.openxmlformats.org/officeDocument/2006/relationships/notesMaster" Target="/ppt/notesMasters/notesMaster1.xml" Id="Rfb65c52e03d7464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9279ef2824e43df" /><Relationship Type="http://schemas.openxmlformats.org/officeDocument/2006/relationships/notesMaster" Target="/ppt/notesMasters/notesMaster1.xml" Id="Rcbcc54989d28433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434bae309d94457" /><Relationship Type="http://schemas.openxmlformats.org/officeDocument/2006/relationships/notesMaster" Target="/ppt/notesMasters/notesMaster1.xml" Id="R4bea96c08c69454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eff6c59d63a42bb" /><Relationship Type="http://schemas.openxmlformats.org/officeDocument/2006/relationships/notesMaster" Target="/ppt/notesMasters/notesMaster1.xml" Id="R0612fe0052054cd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e655128223f4d01" /><Relationship Type="http://schemas.openxmlformats.org/officeDocument/2006/relationships/notesMaster" Target="/ppt/notesMasters/notesMaster1.xml" Id="R5fadf8f39013491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376716c76fa46a2" /><Relationship Type="http://schemas.openxmlformats.org/officeDocument/2006/relationships/notesMaster" Target="/ppt/notesMasters/notesMaster1.xml" Id="R93b2a8e15b4645c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3c82c9be0634f81" /><Relationship Type="http://schemas.openxmlformats.org/officeDocument/2006/relationships/notesMaster" Target="/ppt/notesMasters/notesMaster1.xml" Id="R55764d78bbc84ce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05e4df54bd8496e" /><Relationship Type="http://schemas.openxmlformats.org/officeDocument/2006/relationships/notesMaster" Target="/ppt/notesMasters/notesMaster1.xml" Id="R22f3824f87104dc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4c94bbbb15043dc" /><Relationship Type="http://schemas.openxmlformats.org/officeDocument/2006/relationships/notesMaster" Target="/ppt/notesMasters/notesMaster1.xml" Id="Rc65dc16c4973485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2ae9beedf244272" /><Relationship Type="http://schemas.openxmlformats.org/officeDocument/2006/relationships/notesMaster" Target="/ppt/notesMasters/notesMaster1.xml" Id="R5dbe395ce8f9400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2614705317c4983" /><Relationship Type="http://schemas.openxmlformats.org/officeDocument/2006/relationships/notesMaster" Target="/ppt/notesMasters/notesMaster1.xml" Id="Ra88e1e80558b41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Frame this as first-time-user onboarding for aviation controls engineers: operate the saved Simulink models, understand their roles, inspect results, and trace one classroom requirement to retained evidence. The examples are executable and reviewable, but deliberately small and non-production.</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The package demonstrates desktop model work; it is not a completed certification package.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this hub to establish the model roles before opening files. AircraftFeedbackControlLoop is the standalone closed-loop learning model; ReferencedFlightControlArchitecture is the integration parent; four models are referenced children; AutopilotModeLogic is a separate Stateflow example; and PitchRateLimiter_Harness is the independent component-test harness.</a:t>
            </a:r>
          </a:p>
          <a:p xmlns:a="http://schemas.openxmlformats.org/drawingml/2006/main">
            <a:r>
              <a:t/>
            </a:r>
          </a:p>
          <a:p xmlns:a="http://schemas.openxmlformats.org/drawingml/2006/main">
            <a:r>
              <a:t>Caveats</a:t>
            </a:r>
            <a:endParaRPr/>
          </a:p>
          <a:p xmlns:a="http://schemas.openxmlformats.org/drawingml/2006/main">
            <a:r>
              <a:t>- A top-level model is selected for the engineering task; there is no single model that serves every role.</a:t>
            </a:r>
          </a:p>
          <a:p xmlns:a="http://schemas.openxmlformats.org/drawingml/2006/main">
            <a:r>
              <a:t>- AutopilotModeLogic is not a child of the referenced integration architecture.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models/AircraftFeedbackControlLoop.slx</a:t>
            </a:r>
          </a:p>
          <a:p xmlns:a="http://schemas.openxmlformats.org/drawingml/2006/main">
            <a:r>
              <a:t>- models/ReferencedFlightControlArchitecture.slx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Preview the learning sequence: initialize and operate a model, navigate the editor, read hierarchy and overlays, inspect logged data, then follow requirement intent into implementation and evidence. Ask throughout: which model am I in, what is visible, and what objective result supports the claim?</a:t>
            </a:r>
          </a:p>
          <a:p xmlns:a="http://schemas.openxmlformats.org/drawingml/2006/main">
            <a:r>
              <a:t/>
            </a:r>
          </a:p>
          <a:p xmlns:a="http://schemas.openxmlformats.org/drawingml/2006/main">
            <a:r>
              <a:t>Caveats</a:t>
            </a:r>
            <a:endParaRPr/>
          </a:p>
          <a:p xmlns:a="http://schemas.openxmlformats.org/drawingml/2006/main">
            <a:r>
              <a:t>- The sequence is a learning path, not a substitute for approved project procedures.</a:t>
            </a:r>
          </a:p>
          <a:p xmlns:a="http://schemas.openxmlformats.org/drawingml/2006/main">
            <a:r>
              <a:t/>
            </a:r>
          </a:p>
          <a:p xmlns:a="http://schemas.openxmlformats.org/drawingml/2006/main">
            <a:r>
              <a:t>[Sources]</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Orient learners to the Simulation, Debug, Modeling, Format, and Apps tabs. Open chooses the artifact; Update Diagram or Ctrl+D compiles and propagates model semantics; Run executes a simulation; Stop interrupts it; Build or Ctrl+B is a separate configured code-generation action; and test execution invokes the harness driver and assessments.</a:t>
            </a:r>
          </a:p>
          <a:p xmlns:a="http://schemas.openxmlformats.org/drawingml/2006/main">
            <a:r>
              <a:t/>
            </a:r>
          </a:p>
          <a:p xmlns:a="http://schemas.openxmlformats.org/drawingml/2006/main">
            <a:r>
              <a:t>Caveats</a:t>
            </a:r>
            <a:endParaRPr/>
          </a:p>
          <a:p xmlns:a="http://schemas.openxmlformats.org/drawingml/2006/main">
            <a:r>
              <a:t>- Update/compile is not simulation, and Run is not Build.</a:t>
            </a:r>
            <a:endParaRPr/>
          </a:p>
          <a:p xmlns:a="http://schemas.openxmlformats.org/drawingml/2006/main">
            <a:r>
              <a:t>- The package makes no production-code, generated-code verification, SIL, PIL, or HIL claim; Embedded Coder is unavailable.</a:t>
            </a:r>
            <a:endParaRPr/>
          </a:p>
          <a:p xmlns:a="http://schemas.openxmlformats.org/drawingml/2006/main">
            <a:r>
              <a:t/>
            </a:r>
            <a:endParaRPr/>
          </a:p>
          <a:p xmlns:a="http://schemas.openxmlformats.org/drawingml/2006/main">
            <a:r>
              <a:t>[Sources]</a:t>
            </a:r>
            <a:endParaRPr/>
          </a:p>
          <a:p xmlns:a="http://schemas.openxmlformats.org/drawingml/2006/main">
            <a:r>
              <a:t>- results/environment_inventory.txt</a:t>
            </a:r>
            <a:endParaRPr/>
          </a:p>
          <a:p xmlns:a="http://schemas.openxmlformats.org/drawingml/2006/main">
            <a:r>
              <a:t>- https://www.mathworks.com/help/simulink/slref/simulinkeditor.html</a:t>
            </a:r>
            <a:endParaRP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Read the hierarchy by role. The standalone feedback loop contains four internal subsystems; the Stateflow model contains Autopilot Mode Logic; the referenced architecture owns four child models; PitchRateLimiter and PitchControllerRef each expose one meaningful internal subsystem; and the harness references the same limiter component used by integration.</a:t>
            </a:r>
          </a:p>
          <a:p xmlns:a="http://schemas.openxmlformats.org/drawingml/2006/main">
            <a:r>
              <a:t/>
            </a:r>
          </a:p>
          <a:p xmlns:a="http://schemas.openxmlformats.org/drawingml/2006/main">
            <a:r>
              <a:t>Caveats</a:t>
            </a:r>
            <a:endParaRPr/>
          </a:p>
          <a:p xmlns:a="http://schemas.openxmlformats.org/drawingml/2006/main">
            <a:r>
              <a:t>- Use the exact saved path AutopilotModeLogic/Autopilot Mode Logic; Stateflow describes the technology, not the block name.</a:t>
            </a:r>
            <a:endParaRPr/>
          </a:p>
          <a:p xmlns:a="http://schemas.openxmlformats.org/drawingml/2006/main">
            <a:r>
              <a:t>- Referenced child models, internal subsystems, and an independent harness are different hierarchy relationships.</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screenshots/VisualManifest.csv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Trace AircraftFeedbackControlLoop from pitch command through controller, actuator, simplified longitudinal plant, and sensor lag back to the error calculation. The model logs command, response, error, actuator, and disturbance signals for the retained desktop run.</a:t>
            </a:r>
          </a:p>
          <a:p xmlns:a="http://schemas.openxmlformats.org/drawingml/2006/main">
            <a:r>
              <a:t/>
            </a:r>
          </a:p>
          <a:p xmlns:a="http://schemas.openxmlformats.org/drawingml/2006/main">
            <a:r>
              <a:t>Caveats</a:t>
            </a:r>
            <a:endParaRPr/>
          </a:p>
          <a:p xmlns:a="http://schemas.openxmlformats.org/drawingml/2006/main">
            <a:r>
              <a:t>- This is a simplified standalone training loop, not production aircraft dynamics.</a:t>
            </a:r>
            <a:endParaRPr/>
          </a:p>
          <a:p xmlns:a="http://schemas.openxmlformats.org/drawingml/2006/main">
            <a:r>
              <a:t>- Its simulation result is MIL evidence only.</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screenshots/AircraftFeedbackControlLoop_Editor.jpg</a:t>
            </a:r>
            <a:endParaRPr/>
          </a:p>
          <a:p xmlns:a="http://schemas.openxmlformats.org/drawingml/2006/main">
            <a:r>
              <a:t>- results/AircraftFeedback_CommandTracking.csv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Inside AircraftFeedbackControlLoop/Pitch Controller PI, identify proportional and integral paths and the discrete state. The separate subsystem boundary lets reviewers distinguish controller behavior from actuator saturation, plant dynamics, and sensing.</a:t>
            </a:r>
          </a:p>
          <a:p xmlns:a="http://schemas.openxmlformats.org/drawingml/2006/main">
            <a:r>
              <a:t/>
            </a:r>
          </a:p>
          <a:p xmlns:a="http://schemas.openxmlformats.org/drawingml/2006/main">
            <a:r>
              <a:t>Caveats</a:t>
            </a:r>
            <a:endParaRPr/>
          </a:p>
          <a:p xmlns:a="http://schemas.openxmlformats.org/drawingml/2006/main">
            <a:r>
              <a:t>- The gains and initial condition come from controlled training data and are not aircraft-program values.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screenshots/AircraftFeedback_PitchController.png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AircraftFeedbackControlLoop/Actuator Dynamics turns controller demand into a bounded, lagged actuator response. Point out where amplitude limiting and discrete dynamics enter, then connect those choices to explicit units, parameters, and initial state.</a:t>
            </a:r>
          </a:p>
          <a:p xmlns:a="http://schemas.openxmlformats.org/drawingml/2006/main">
            <a:r>
              <a:t/>
            </a:r>
          </a:p>
          <a:p xmlns:a="http://schemas.openxmlformats.org/drawingml/2006/main">
            <a:r>
              <a:t>Caveats</a:t>
            </a:r>
            <a:endParaRPr/>
          </a:p>
          <a:p xmlns:a="http://schemas.openxmlformats.org/drawingml/2006/main">
            <a:r>
              <a:t>- This actuator is an illustrative dynamic element, not a qualified actuator model or hardware measurement.</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screenshots/AircraftFeedback_ActuatorDynamics.png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AircraftFeedbackControlLoop/Simplified Longitudinal Aircraft Dynamics converts actuator command and disturbance into pitch-rate and pitch-angle response. Use the view to discuss state, feedback, and disturbance entry without treating the coefficients as validated aerodynamics.</a:t>
            </a:r>
          </a:p>
          <a:p xmlns:a="http://schemas.openxmlformats.org/drawingml/2006/main">
            <a:r>
              <a:t/>
            </a:r>
          </a:p>
          <a:p xmlns:a="http://schemas.openxmlformats.org/drawingml/2006/main">
            <a:r>
              <a:t>Caveats</a:t>
            </a:r>
            <a:endParaRPr/>
          </a:p>
          <a:p xmlns:a="http://schemas.openxmlformats.org/drawingml/2006/main">
            <a:r>
              <a:t>- The plant is intentionally simplified and unsuitable for aircraft-performance claims.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screenshots/AircraftFeedback_LongitudinalPlant.png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AircraftFeedbackControlLoop/Sensor Processing Lag closes the loop with a discrete filtered measurement. Ask learners to identify the filter state, controlled coefficient, initial condition, output unit, and relationship between model rate and apparent response delay.</a:t>
            </a:r>
          </a:p>
          <a:p xmlns:a="http://schemas.openxmlformats.org/drawingml/2006/main">
            <a:r>
              <a:t/>
            </a:r>
          </a:p>
          <a:p xmlns:a="http://schemas.openxmlformats.org/drawingml/2006/main">
            <a:r>
              <a:t>Caveats</a:t>
            </a:r>
            <a:endParaRPr/>
          </a:p>
          <a:p xmlns:a="http://schemas.openxmlformats.org/drawingml/2006/main">
            <a:r>
              <a:t>- A desktop sensor-lag model is not sensor qualification or bench evidence.</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screenshots/AircraftFeedback_SensorProcessingLag.png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At the AutopilotModeLogic root, identify external mode requests, validity and fault inputs, the Stateflow subsystem, and the documented mode output. The root view is the interface contract; the transition behavior is one level down.</a:t>
            </a:r>
          </a:p>
          <a:p xmlns:a="http://schemas.openxmlformats.org/drawingml/2006/main">
            <a:r>
              <a:t/>
            </a:r>
          </a:p>
          <a:p xmlns:a="http://schemas.openxmlformats.org/drawingml/2006/main">
            <a:r>
              <a:t>Caveats</a:t>
            </a:r>
            <a:endParaRPr/>
          </a:p>
          <a:p xmlns:a="http://schemas.openxmlformats.org/drawingml/2006/main">
            <a:r>
              <a:t>- The mode codes and transitions are illustrative classroom behavior, not an approved autopilot specification.</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screenshots/AutopilotModeLogic_Model.png</a:t>
            </a:r>
            <a:endParaRPr/>
          </a:p>
          <a:p xmlns:a="http://schemas.openxmlformats.org/drawingml/2006/main">
            <a:r>
              <a:t>- data/FCSMode.m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Open AutopilotModeLogic/Autopilot Mode Logic and read OFF, ARMED, ENGAGED, and DEGRADED as executable state logic. Follow guards and reset paths, then relate them to the retained mode-sequence result rather than relying only on visual inspection.</a:t>
            </a:r>
          </a:p>
          <a:p xmlns:a="http://schemas.openxmlformats.org/drawingml/2006/main">
            <a:r>
              <a:t/>
            </a:r>
          </a:p>
          <a:p xmlns:a="http://schemas.openxmlformats.org/drawingml/2006/main">
            <a:r>
              <a:t>Caveats</a:t>
            </a:r>
            <a:endParaRPr/>
          </a:p>
          <a:p xmlns:a="http://schemas.openxmlformats.org/drawingml/2006/main">
            <a:r>
              <a:t>- The exact current block and chart name is Autopilot Mode Logic; do not prefix the saved path with Stateflow.</a:t>
            </a:r>
            <a:endParaRPr/>
          </a:p>
          <a:p xmlns:a="http://schemas.openxmlformats.org/drawingml/2006/main">
            <a:r>
              <a:t>- A visited-state plot is evidence for this scenario, not exhaustive state or transition coverage.</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screenshots/AutopilotModeLogic_Stateflow_Editor.jpg</a:t>
            </a:r>
            <a:endParaRPr/>
          </a:p>
          <a:p xmlns:a="http://schemas.openxmlformats.org/drawingml/2006/main">
            <a:r>
              <a:t>- results/AutopilotModeSequence.csv</a:t>
            </a:r>
          </a:p>
          <a:p xmlns:a="http://schemas.openxmlformats.org/drawingml/2006/main">
            <a:r>
              <a:t>- https://www.mathworks.com/help/stateflow/state-transition-charts.html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ReferencedFlightControlArchitecture is the integration parent. It creates FlightControlBus, invokes Sensor Processing, Pitch Rate Limiter, Pitch Controller, and Actuator Command Model blocks, and exposes integrated outputs. Model-reference boundaries make ownership and interface compatibility reviewable.</a:t>
            </a:r>
          </a:p>
          <a:p xmlns:a="http://schemas.openxmlformats.org/drawingml/2006/main">
            <a:r>
              <a:t/>
            </a:r>
          </a:p>
          <a:p xmlns:a="http://schemas.openxmlformats.org/drawingml/2006/main">
            <a:r>
              <a:t>Caveats</a:t>
            </a:r>
            <a:endParaRPr/>
          </a:p>
          <a:p xmlns:a="http://schemas.openxmlformats.org/drawingml/2006/main">
            <a:r>
              <a:t>- The architecture update proves resolvable interfaces and configuration, not compliance with behavioral requirements.</a:t>
            </a:r>
            <a:endParaRPr/>
          </a:p>
          <a:p xmlns:a="http://schemas.openxmlformats.org/drawingml/2006/main">
            <a:r>
              <a:t>- On the verified student license, Accelerator Model blocks fall back to Normal mode.</a:t>
            </a:r>
            <a:endParaRPr/>
          </a:p>
          <a:p xmlns:a="http://schemas.openxmlformats.org/drawingml/2006/main">
            <a:r>
              <a:t/>
            </a:r>
            <a:endParaRPr/>
          </a:p>
          <a:p xmlns:a="http://schemas.openxmlformats.org/drawingml/2006/main">
            <a:r>
              <a:t>[Sources]</a:t>
            </a:r>
            <a:endParaRPr/>
          </a:p>
          <a:p xmlns:a="http://schemas.openxmlformats.org/drawingml/2006/main">
            <a:r>
              <a:t>- models/ReferencedFlightControlArchitecture.slx</a:t>
            </a:r>
            <a:endParaRPr/>
          </a:p>
          <a:p xmlns:a="http://schemas.openxmlformats.org/drawingml/2006/main">
            <a:r>
              <a:t>- screenshots/ReferencedFlightControlArchitecture_Editor.jpg</a:t>
            </a:r>
            <a:endParaRPr/>
          </a:p>
          <a:p xmlns:a="http://schemas.openxmlformats.org/drawingml/2006/main">
            <a:r>
              <a:t>- results/ReferencedArchitecture_Validation.csv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SensorProcessingRef is the referenced sensor-processing child. Review its FlightControlBus input and output, validity handling, filtering, and explicit interface rather than reading it as an isolated top-level simulation.</a:t>
            </a:r>
          </a:p>
          <a:p xmlns:a="http://schemas.openxmlformats.org/drawingml/2006/main">
            <a:r>
              <a:t/>
            </a:r>
          </a:p>
          <a:p xmlns:a="http://schemas.openxmlformats.org/drawingml/2006/main">
            <a:r>
              <a:t>Caveats</a:t>
            </a:r>
            <a:endParaRPr/>
          </a:p>
          <a:p xmlns:a="http://schemas.openxmlformats.org/drawingml/2006/main">
            <a:r>
              <a:t>- Its primary role here is a referenced integration component, not the standalone closed-loop entry point.</a:t>
            </a:r>
            <a:endParaRPr/>
          </a:p>
          <a:p xmlns:a="http://schemas.openxmlformats.org/drawingml/2006/main">
            <a:r>
              <a:t/>
            </a:r>
            <a:endParaRPr/>
          </a:p>
          <a:p xmlns:a="http://schemas.openxmlformats.org/drawingml/2006/main">
            <a:r>
              <a:t>[Sources]</a:t>
            </a:r>
            <a:endParaRPr/>
          </a:p>
          <a:p xmlns:a="http://schemas.openxmlformats.org/drawingml/2006/main">
            <a:r>
              <a:t>- models/SensorProcessingRef.slx</a:t>
            </a:r>
            <a:endParaRPr/>
          </a:p>
          <a:p xmlns:a="http://schemas.openxmlformats.org/drawingml/2006/main">
            <a:r>
              <a:t>- screenshots/SensorProcessingRef_Model.png</a:t>
            </a:r>
            <a:endParaRPr/>
          </a:p>
          <a:p xmlns:a="http://schemas.openxmlformats.org/drawingml/2006/main">
            <a:r>
              <a:t>- results/FlightControlBus_Inventory.csv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Inside PitchRateLimiter/Pitch Rate Limiter Logic, Magnitude Clamp applies the inclusive ±q_limit_normal bound; Normal AND Valid controls Select Valid Command; Training Fallback Command supplies zero; and the comparison and logic blocks form limiter_active. Use the exact block names because they anchor traceability.</a:t>
            </a:r>
          </a:p>
          <a:p xmlns:a="http://schemas.openxmlformats.org/drawingml/2006/main">
            <a:r>
              <a:t/>
            </a:r>
          </a:p>
          <a:p xmlns:a="http://schemas.openxmlformats.org/drawingml/2006/main">
            <a:r>
              <a:t>Caveats</a:t>
            </a:r>
            <a:endParaRPr/>
          </a:p>
          <a:p xmlns:a="http://schemas.openxmlformats.org/drawingml/2006/main">
            <a:r>
              <a:t>- Exactly ±12 deg/s is not clamped active; strictly outside the limits is active only during valid Normal operation.</a:t>
            </a:r>
            <a:endParaRPr/>
          </a:p>
          <a:p xmlns:a="http://schemas.openxmlformats.org/drawingml/2006/main">
            <a:r>
              <a:t>- Do not describe Magnitude Clamp as rate-of-change limiting.</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screenshots/PitchRateLimiter_Implementation.png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 is the referenced controller child used by the integration parent. Its root contract accepts limited command and feedback and produces actuator demand and tracking error, separating interface review from the internal PI implementation.</a:t>
            </a:r>
          </a:p>
          <a:p xmlns:a="http://schemas.openxmlformats.org/drawingml/2006/main">
            <a:r>
              <a:t/>
            </a:r>
          </a:p>
          <a:p xmlns:a="http://schemas.openxmlformats.org/drawingml/2006/main">
            <a:r>
              <a:t>Caveats</a:t>
            </a:r>
            <a:endParaRPr/>
          </a:p>
          <a:p xmlns:a="http://schemas.openxmlformats.org/drawingml/2006/main">
            <a:r>
              <a:t>- Do not confuse this referenced child with AircraftFeedbackControlLoop/Pitch Controller PI; they are distinct saved artifacts.</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PitchControllerRef/Pitch Rate PI exposes the referenced controller's proportional and integral behavior. Review its error formation, gains, integrator state, and output contract, then return to the parent model to see how the component is connected.</a:t>
            </a:r>
          </a:p>
          <a:p xmlns:a="http://schemas.openxmlformats.org/drawingml/2006/main">
            <a:r>
              <a:t/>
            </a:r>
          </a:p>
          <a:p xmlns:a="http://schemas.openxmlformats.org/drawingml/2006/main">
            <a:r>
              <a:t>Caveats</a:t>
            </a:r>
            <a:endParaRPr/>
          </a:p>
          <a:p xmlns:a="http://schemas.openxmlformats.org/drawingml/2006/main">
            <a:r>
              <a:t>- The exact internal path is PitchControllerRef/Pitch Rate PI.</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screenshots/PitchControllerRef_PitchRatePI.png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ActuatorCommandRef is the referenced actuator-command child. It receives actuator demand and returns the bounded command plus an active-status output, making command limiting and status propagation explicit at the integration boundary.</a:t>
            </a:r>
          </a:p>
          <a:p xmlns:a="http://schemas.openxmlformats.org/drawingml/2006/main">
            <a:r>
              <a:t/>
            </a:r>
          </a:p>
          <a:p xmlns:a="http://schemas.openxmlformats.org/drawingml/2006/main">
            <a:r>
              <a:t>Caveats</a:t>
            </a:r>
            <a:endParaRPr/>
          </a:p>
          <a:p xmlns:a="http://schemas.openxmlformats.org/drawingml/2006/main">
            <a:r>
              <a:t>- This component demonstrates interface and command-processing patterns; it is not actual actuator hardware or HIL evidence.</a:t>
            </a:r>
            <a:endParaRPr/>
          </a:p>
          <a:p xmlns:a="http://schemas.openxmlformats.org/drawingml/2006/main">
            <a:r>
              <a:t/>
            </a:r>
            <a:endParaRPr/>
          </a:p>
          <a:p xmlns:a="http://schemas.openxmlformats.org/drawingml/2006/main">
            <a:r>
              <a:t>[Sources]</a:t>
            </a:r>
            <a:endParaRPr/>
          </a:p>
          <a:p xmlns:a="http://schemas.openxmlformats.org/drawingml/2006/main">
            <a:r>
              <a:t>- models/ActuatorCommandRef.slx</a:t>
            </a:r>
            <a:endParaRPr/>
          </a:p>
          <a:p xmlns:a="http://schemas.openxmlformats.org/drawingml/2006/main">
            <a:r>
              <a:t>- screenshots/ActuatorCommandRef_Model.png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PitchRateLimiter_Harness is an independent executable Simulink model. From Workspace blocks provide the three deterministic inputs; the exact Model block PitchRateLimiter_Harness/Unit Under Test - PitchRateLimiter references the component; and To Workspace blocks retain q_cmd_out and limiter_active for external MATLAB assessments.</a:t>
            </a:r>
          </a:p>
          <a:p xmlns:a="http://schemas.openxmlformats.org/drawingml/2006/main">
            <a:r>
              <a:t/>
            </a:r>
          </a:p>
          <a:p xmlns:a="http://schemas.openxmlformats.org/drawingml/2006/main">
            <a:r>
              <a:t>Caveats</a:t>
            </a:r>
            <a:endParaRPr/>
          </a:p>
          <a:p xmlns:a="http://schemas.openxmlformats.org/drawingml/2006/main">
            <a:r>
              <a:t>- This is a standalone Simulink harness, not a Simulink Test harness or Test Manager suite.</a:t>
            </a:r>
            <a:endParaRPr/>
          </a:p>
          <a:p xmlns:a="http://schemas.openxmlformats.org/drawingml/2006/main">
            <a:r>
              <a:t>- Expected values, tolerances, and pass/fail logic live in run_pitch_rate_limiter_tests.m, not inside the harness.</a:t>
            </a:r>
            <a:endParaRPr/>
          </a:p>
          <a:p xmlns:a="http://schemas.openxmlformats.org/drawingml/2006/main">
            <a:r>
              <a:t/>
            </a:r>
            <a:endParaRPr/>
          </a:p>
          <a:p xmlns:a="http://schemas.openxmlformats.org/drawingml/2006/main">
            <a:r>
              <a:t>[Sources]</a:t>
            </a:r>
            <a:endParaRPr/>
          </a:p>
          <a:p xmlns:a="http://schemas.openxmlformats.org/drawingml/2006/main">
            <a:r>
              <a:t>- models/PitchRateLimiter_Harness.slx</a:t>
            </a:r>
            <a:endParaRPr/>
          </a:p>
          <a:p xmlns:a="http://schemas.openxmlformats.org/drawingml/2006/main">
            <a:r>
              <a:t>- screenshots/PitchRateLimiter_Harness.png</a:t>
            </a:r>
            <a:endParaRP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Software level originates in the system safety process and drives the applicable objective and independence framework. Say DO-178C Software Level A when discussing software; reserve DAL terminology for the broader system allocation context. Independence is planned for designated verification objectives and must be demonstrated through roles and evidence.</a:t>
            </a:r>
          </a:p>
          <a:p xmlns:a="http://schemas.openxmlformats.org/drawingml/2006/main">
            <a:r>
              <a:t/>
            </a:r>
          </a:p>
          <a:p xmlns:a="http://schemas.openxmlformats.org/drawingml/2006/main">
            <a:r>
              <a:t>Caveats</a:t>
            </a:r>
            <a:endParaRPr/>
          </a:p>
          <a:p xmlns:a="http://schemas.openxmlformats.org/drawingml/2006/main">
            <a:r>
              <a:t>- An author should not be the sole independent verifier of their own work where independence is required.</a:t>
            </a:r>
          </a:p>
          <a:p xmlns:a="http://schemas.openxmlformats.org/drawingml/2006/main">
            <a:r>
              <a:t>- A summary slide cannot replace the approved plans, certification basis, or objective tables.</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Traceability is bidirectional: requirement to implementing artifact and objective verification, then result and model element back to justified intent. This package demonstrates that chain through a traceability CSV, an executable script, retained CSV/MAT results, and a human-readable report.</a:t>
            </a:r>
          </a:p>
          <a:p xmlns:a="http://schemas.openxmlformats.org/drawingml/2006/main">
            <a:r>
              <a:t/>
            </a:r>
          </a:p>
          <a:p xmlns:a="http://schemas.openxmlformats.org/drawingml/2006/main">
            <a:r>
              <a:t>Caveats</a:t>
            </a:r>
            <a:endParaRPr/>
          </a:p>
          <a:p xmlns:a="http://schemas.openxmlformats.org/drawingml/2006/main">
            <a:r>
              <a:t>- The package has no live Simulink Requirements links because Simulink Requirements is unavailable.</a:t>
            </a:r>
          </a:p>
          <a:p xmlns:a="http://schemas.openxmlformats.org/drawingml/2006/main">
            <a:r>
              <a:t>- A passing pipeline or test result is evidence input, not certification approval.</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results/environment_inventory.txt</a:t>
            </a:r>
          </a:p>
          <a:p xmlns:a="http://schemas.openxmlformats.org/drawingml/2006/main">
            <a:r>
              <a:t>- https://www.faa.gov/documentLibrary/media/Order/FAA_Order_8110.49A.pdf</a:t>
            </a:r>
          </a:p>
          <a:p xmlns:a="http://schemas.openxmlformats.org/drawingml/2006/main">
            <a:r>
              <a:t>- https://www.mathworks.com/help/slrequirements/ug/create-and-store-links.html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V-model as a relationship map between definition, realization, and verification rather than as a mandate for one schedule. Agile and waterfall can both organize compliant work, but cadence never removes lifecycle data, traceability, reviews, configuration control, baselines, problem reporting, or required independence.</a:t>
            </a:r>
          </a:p>
          <a:p xmlns:a="http://schemas.openxmlformats.org/drawingml/2006/main">
            <a:r>
              <a:t/>
            </a:r>
          </a:p>
          <a:p xmlns:a="http://schemas.openxmlformats.org/drawingml/2006/main">
            <a:r>
              <a:t>Caveats</a:t>
            </a:r>
            <a:endParaRPr/>
          </a:p>
          <a:p xmlns:a="http://schemas.openxmlformats.org/drawingml/2006/main">
            <a:r>
              <a:t>- Process labels do not establish compliance; approved plans and objective evidence do.</a:t>
            </a:r>
          </a:p>
          <a:p xmlns:a="http://schemas.openxmlformats.org/drawingml/2006/main">
            <a:r>
              <a:t/>
            </a:r>
          </a:p>
          <a:p xmlns:a="http://schemas.openxmlformats.org/drawingml/2006/main">
            <a:r>
              <a:t>[Sources]</a:t>
            </a:r>
            <a:endParaRPr/>
          </a:p>
          <a:p xmlns:a="http://schemas.openxmlformats.org/drawingml/2006/main">
            <a:r>
              <a:t>- https://www.nasa.gov/reference/systems-engineering-handbook/</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from the classroom system intent through a software HLR and an implementation-oriented LLR or design statement. Connect the inclusive ±12 deg/s behavior, zero fallback, limiter status, and 50 Hz execution to PRL-001 through PRL-005 and the exact saved blocks.</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PSYS-001, SWHLR-001, and SWLLR-001 are presentation-level classroom mappings; the repository traceability CSV contains PRL-001 through PRL-005.</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chain in both directions: PSYS-001 to SWHLR-001 / PRL-001 to SWLLR-001 to PitchRateLimiter/Pitch Rate Limiter Logic/Magnitude Clamp to PitchRateLimiter_Harness/Unit Under Test - PitchRateLimiter to run_pitch_rate_limiter_tests.m, case Boundary above upper limit, to retained Iteration 8. The row records input 12.1 deg/s, expected 12, actual 12, zero numeric error, tolerance 1e-9, and PASS.</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The literal AssociatedRequirement value is: PRL-001 magnitude limiting; PRL-003 status; PRL-004 50 Hz execution.</a:t>
            </a:r>
            <a:endParaRPr/>
          </a:p>
          <a:p xmlns:a="http://schemas.openxmlformats.org/drawingml/2006/main">
            <a:r>
              <a:t>- The PSYS/SWHLR/SWLLR identifiers are illustrative mappings layered over the retained PRL association.</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results/PitchRateLimiter_TestResults.mat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companion-file flow: FCS_Data.sldd supplies controlled parameters and types; PitchRateLimiter_Harness references PitchRateLimiter; run_pitch_rate_limiter_tests drives and assesses it; the traceability CSV associates requirements; CSV and MAT retain machine-readable results; and HTML and PNG provide a reviewable report.</a:t>
            </a:r>
          </a:p>
          <a:p xmlns:a="http://schemas.openxmlformats.org/drawingml/2006/main">
            <a:r>
              <a:t/>
            </a:r>
          </a:p>
          <a:p xmlns:a="http://schemas.openxmlformats.org/drawingml/2006/main">
            <a:r>
              <a:t>Caveats</a:t>
            </a:r>
            <a:endParaRPr/>
          </a:p>
          <a:p xmlns:a="http://schemas.openxmlformats.org/drawingml/2006/main">
            <a:r>
              <a:t>- Do not claim a Simulink Test .mldatx test file exists.</a:t>
            </a:r>
          </a:p>
          <a:p xmlns:a="http://schemas.openxmlformats.org/drawingml/2006/main">
            <a:r>
              <a:t>- The two repository .mldatx files belong only to Simulation Data Inspector.</a:t>
            </a:r>
          </a:p>
          <a:p xmlns:a="http://schemas.openxmlformats.org/drawingml/2006/main">
            <a:r>
              <a:t/>
            </a:r>
            <a:endParaRPr/>
          </a:p>
          <a:p xmlns:a="http://schemas.openxmlformats.org/drawingml/2006/main">
            <a:r>
              <a:t>[Sources]</a:t>
            </a:r>
          </a:p>
          <a:p xmlns:a="http://schemas.openxmlformats.org/drawingml/2006/main">
            <a:r>
              <a:t>- data/FCS_Data.sldd</a:t>
            </a:r>
          </a:p>
          <a:p xmlns:a="http://schemas.openxmlformats.org/drawingml/2006/main">
            <a:r>
              <a:t>- models/PitchRateLimiter_Harness.slx</a:t>
            </a:r>
          </a:p>
          <a:p xmlns:a="http://schemas.openxmlformats.org/drawingml/2006/main">
            <a:r>
              <a:t>- models/PitchRateLimiter.slx</a:t>
            </a:r>
          </a:p>
          <a:p xmlns:a="http://schemas.openxmlformats.org/drawingml/2006/main">
            <a:r>
              <a:t>- scripts/run_pitch_rate_limiter_tests.m</a:t>
            </a:r>
            <a:endParaRPr/>
          </a:p>
          <a:p xmlns:a="http://schemas.openxmlformats.org/drawingml/2006/main">
            <a:r>
              <a:t>- docs/PitchRateLimiter_Requirements_Traceability.csv</a:t>
            </a:r>
          </a:p>
          <a:p xmlns:a="http://schemas.openxmlformats.org/drawingml/2006/main">
            <a:r>
              <a:t>- results/PitchRateLimiter_TestResults.csv</a:t>
            </a:r>
          </a:p>
          <a:p xmlns:a="http://schemas.openxmlformats.org/drawingml/2006/main">
            <a:r>
              <a:t>- results/PitchRateLimiter_TestResults.mat</a:t>
            </a: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19-case matrix covers initialization, nominal values, inclusive boundaries, just-outside and large magnitudes, invalid or non-Normal fallback, transitions, limiter_active, timestamps, and 50 Hz spacing. Each case records actual and expected outputs rather than relying on a visual waveform judgment.</a:t>
            </a:r>
          </a:p>
          <a:p xmlns:a="http://schemas.openxmlformats.org/drawingml/2006/main">
            <a:r>
              <a:t/>
            </a:r>
          </a:p>
          <a:p xmlns:a="http://schemas.openxmlformats.org/drawingml/2006/main">
            <a:r>
              <a:t>Caveats</a:t>
            </a:r>
            <a:endParaRPr/>
          </a:p>
          <a:p xmlns:a="http://schemas.openxmlformats.org/drawingml/2006/main">
            <a:r>
              <a:t>- The PRL-004 traceability CSV says timing within 1e-12 s, while the executable uses max(1e-12, Sample_time × 1e-9), which is 2e-11 s at 0.02 s. The retained observed step is exactly 0.02 s and passes, but do not claim the script used a 1e-12 timing tolerance without reconciling the sources.</a:t>
            </a:r>
          </a:p>
          <a:p xmlns:a="http://schemas.openxmlformats.org/drawingml/2006/main">
            <a:r>
              <a:t>- The numeric output tolerance is consistently 1e-9 deg/s.</a:t>
            </a:r>
          </a:p>
          <a:p xmlns:a="http://schemas.openxmlformats.org/drawingml/2006/main">
            <a:r>
              <a:t/>
            </a:r>
            <a:endParaRPr/>
          </a:p>
          <a:p xmlns:a="http://schemas.openxmlformats.org/drawingml/2006/main">
            <a:r>
              <a:t>[Sources]</a:t>
            </a: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retained CSV has 19 iterations and every Passed value is true; the MAT summary records Total 19, Passed 19, Failed 0; and the HTML report states PASS — 19 passed, 0 failed. The saved run used PitchRateLimiter_Harness at 50 Hz with a 0.02 s observed output step and 1e-9 deg/s numeric tolerance.</a:t>
            </a:r>
          </a:p>
          <a:p xmlns:a="http://schemas.openxmlformats.org/drawingml/2006/main">
            <a:r>
              <a:t/>
            </a:r>
          </a:p>
          <a:p xmlns:a="http://schemas.openxmlformats.org/drawingml/2006/main">
            <a:r>
              <a:t>Caveats</a:t>
            </a:r>
            <a:endParaRPr/>
          </a:p>
          <a:p xmlns:a="http://schemas.openxmlformats.org/drawingml/2006/main">
            <a:r>
              <a:t>- These are executable MATLAB assessments of a standalone Simulink harness, not Simulink Test or Test Manager results.</a:t>
            </a:r>
            <a:endParaRPr/>
          </a:p>
          <a:p xmlns:a="http://schemas.openxmlformats.org/drawingml/2006/main">
            <a:r>
              <a:t>- A pass supports the configured classroom expectations; it is not certification approval.</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Keep lifecycle callbacks narrow and reviewable: setup establishes paths and controlled data, preload prepares deterministic inputs, post-load applies solver and logging configuration, and cleanup releases only owned resources. The test driver—not a callback—contains the case definitions, expected values, tolerances, and pass/fail assessments.</a:t>
            </a:r>
          </a:p>
          <a:p xmlns:a="http://schemas.openxmlformats.org/drawingml/2006/main">
            <a:r>
              <a:t/>
            </a:r>
          </a:p>
          <a:p xmlns:a="http://schemas.openxmlformats.org/drawingml/2006/main">
            <a:r>
              <a:t>Caveats</a:t>
            </a:r>
            <a:endParaRPr/>
          </a:p>
          <a:p xmlns:a="http://schemas.openxmlformats.org/drawingml/2006/main">
            <a:r>
              <a:t>- Callbacks must not manufacture a green result or silently discard a learner's dirty model.</a:t>
            </a:r>
            <a:endParaRPr/>
          </a:p>
          <a:p xmlns:a="http://schemas.openxmlformats.org/drawingml/2006/main">
            <a:r>
              <a:t>- The delivered workflow uses external MATLAB functions rather than hidden model callback code.</a:t>
            </a:r>
            <a:endParaRPr/>
          </a:p>
          <a:p xmlns:a="http://schemas.openxmlformats.org/drawingml/2006/main">
            <a:r>
              <a:t/>
            </a:r>
            <a:endParaRPr/>
          </a:p>
          <a:p xmlns:a="http://schemas.openxmlformats.org/drawingml/2006/main">
            <a:r>
              <a:t>[Sources]</a:t>
            </a:r>
            <a:endParaRPr/>
          </a:p>
          <a:p xmlns:a="http://schemas.openxmlformats.org/drawingml/2006/main">
            <a:r>
              <a:t>- scripts/callback_workflow_example.m</a:t>
            </a:r>
            <a:endParaRPr/>
          </a:p>
          <a:p xmlns:a="http://schemas.openxmlformats.org/drawingml/2006/main">
            <a:r>
              <a:t>- scripts/training_callback_setup.m</a:t>
            </a:r>
            <a:endParaRPr/>
          </a:p>
          <a:p xmlns:a="http://schemas.openxmlformats.org/drawingml/2006/main">
            <a:r>
              <a:t>- scripts/training_callback_preload.m</a:t>
            </a:r>
          </a:p>
          <a:p xmlns:a="http://schemas.openxmlformats.org/drawingml/2006/main">
            <a:r>
              <a:t>- scripts/training_callback_postload.m</a:t>
            </a:r>
          </a:p>
          <a:p xmlns:a="http://schemas.openxmlformats.org/drawingml/2006/main">
            <a:r>
              <a:t>- scripts/training_callback_cleanup.m</a:t>
            </a:r>
            <a:endParaRPr/>
          </a:p>
          <a:p xmlns:a="http://schemas.openxmlformats.org/drawingml/2006/main">
            <a:r>
              <a:t>- scripts/run_pitch_rate_limiter_tests.m</a:t>
            </a:r>
          </a:p>
          <a:p xmlns:a="http://schemas.openxmlformats.org/drawingml/2006/main">
            <a:r>
              <a:t>- https://www.mathworks.com/help/simulink/callback-functions.html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controlled source for Sample_time, limiter bounds, controller gains, filter coefficients, initial conditions, signal definitions, and FlightControlBus. The bus exposes q_rate, pitch_angle, mach, air_data_valid, and mode with documented types, dimensions, and units so referenced-model interfaces can update consistently.</a:t>
            </a:r>
          </a:p>
          <a:p xmlns:a="http://schemas.openxmlformats.org/drawingml/2006/main">
            <a:r>
              <a:t/>
            </a:r>
          </a:p>
          <a:p xmlns:a="http://schemas.openxmlformats.org/drawingml/2006/main">
            <a:r>
              <a:t>Caveats</a:t>
            </a:r>
            <a:endParaRPr/>
          </a:p>
          <a:p xmlns:a="http://schemas.openxmlformats.org/drawingml/2006/main">
            <a:r>
              <a:t>- A dictionary and bus establish controlled data and structure; they do not by themselves prove semantic correctness.</a:t>
            </a:r>
            <a:endParaRPr/>
          </a:p>
          <a:p xmlns:a="http://schemas.openxmlformats.org/drawingml/2006/main">
            <a:r>
              <a:t>- The values are illustrative and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https://www.mathworks.com/help/simulink/ug/what-is-a-data-dictionary.html</a:t>
            </a: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Reviewability comes from explicit intent at each level: meaningful names, compact interfaces, visible units and types, controlled sample times, separated responsibilities, and hierarchy that a reviewer can summarize before opening detail. Apply the checklist to one model and ask where each claim is defined and verified.</a:t>
            </a:r>
          </a:p>
          <a:p xmlns:a="http://schemas.openxmlformats.org/drawingml/2006/main">
            <a:r>
              <a:t/>
            </a:r>
          </a:p>
          <a:p xmlns:a="http://schemas.openxmlformats.org/drawingml/2006/main">
            <a:r>
              <a:t>Caveats</a:t>
            </a:r>
            <a:endParaRPr/>
          </a:p>
          <a:p xmlns:a="http://schemas.openxmlformats.org/drawingml/2006/main">
            <a:r>
              <a:t>- Good diagram appearance supports review but does not replace requirements, objective checks, configuration control, or independent verification.</a:t>
            </a:r>
          </a:p>
          <a:p xmlns:a="http://schemas.openxmlformats.org/drawingml/2006/main">
            <a:r>
              <a:t/>
            </a:r>
          </a:p>
          <a:p xmlns:a="http://schemas.openxmlformats.org/drawingml/2006/main">
            <a:r>
              <a:t>[Sources]</a:t>
            </a:r>
            <a:endParaRPr/>
          </a:p>
          <a:p xmlns:a="http://schemas.openxmlformats.org/drawingml/2006/main">
            <a:r>
              <a:t>- screenshots/VisualManifest.csv</a:t>
            </a:r>
          </a:p>
          <a:p xmlns:a="http://schemas.openxmlformats.org/drawingml/2006/main">
            <a:r>
              <a:t>- https://www.mathworks.com/help/simulink/ug/interface-design.html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Keep execution environments distinct: MIL executes the model; SIL executes generated source code; PIL executes generated object code on a target processor; HIL uses actual controller or target hardware, physical I/O, and a real-time plant environment; bench and system-integration tests add their own controlled contexts. Name the actual environment in every retained result.</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p>
          <a:p xmlns:a="http://schemas.openxmlformats.org/drawingml/2006/main">
            <a:r>
              <a:t>- PIL is an execution environment and is not automatically synonymous with unit testing.</a:t>
            </a:r>
          </a:p>
          <a:p xmlns:a="http://schemas.openxmlformats.org/drawingml/2006/main">
            <a:r>
              <a:t>- Only call testing HIL when actual controller or target hardware, a real-time plant environment, and physical I/O are used. This package performed no HIL.</a:t>
            </a:r>
            <a:endParaRPr/>
          </a:p>
          <a:p xmlns:a="http://schemas.openxmlformats.org/drawingml/2006/main">
            <a:r>
              <a:t/>
            </a:r>
          </a:p>
          <a:p xmlns:a="http://schemas.openxmlformats.org/drawingml/2006/main">
            <a:r>
              <a:t>[Sources]</a:t>
            </a:r>
          </a:p>
          <a:p xmlns:a="http://schemas.openxmlformats.org/drawingml/2006/main">
            <a:r>
              <a:t>- results/environment_inventory.txt</a:t>
            </a:r>
          </a:p>
          <a:p xmlns:a="http://schemas.openxmlformats.org/drawingml/2006/main">
            <a:r>
              <a:t>- https://www.mathworks.com/help/sltest/sil-pil-and-hil-tests.html</a:t>
            </a:r>
          </a:p>
          <a:p xmlns:a="http://schemas.openxmlformats.org/drawingml/2006/main">
            <a:r>
              <a:t>- https://www.mathworks.com/discovery/hardware-in-the-loop-hil.html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State the verified snapshot precisely: all eight delivered models completed Simulink update/compile; all 19 retained limiter assessments passed; and all 24 files in the validator's required exported-artifact list are present. The validation ran in MATLAB R2023b Update 8 on desktop Windows.</a:t>
            </a:r>
          </a:p>
          <a:p xmlns:a="http://schemas.openxmlformats.org/drawingml/2006/main">
            <a:r>
              <a:t/>
            </a:r>
          </a:p>
          <a:p xmlns:a="http://schemas.openxmlformats.org/drawingml/2006/main">
            <a:r>
              <a:t>Caveats</a:t>
            </a:r>
            <a:endParaRPr/>
          </a:p>
          <a:p xmlns:a="http://schemas.openxmlformats.org/drawingml/2006/main">
            <a:r>
              <a:t>- 8/8 models updated means SimulationCommand='update' succeeded; it does not mean eight files were edited.</a:t>
            </a:r>
            <a:endParaRPr/>
          </a:p>
          <a:p xmlns:a="http://schemas.openxmlformats.org/drawingml/2006/main">
            <a:r>
              <a:t>- ReferencedFlightControlArchitecture and PitchRateLimiter_Harness passed with the accepted student-license fallback from Accelerator to Normal mode.</a:t>
            </a:r>
            <a:endParaRPr/>
          </a:p>
          <a:p xmlns:a="http://schemas.openxmlformats.org/drawingml/2006/main">
            <a:r>
              <a:t>- 24/24 means one HTML report, 21 visual exports, and two SDI artifacts passed existence checks; it is not a count of every repository artifact.</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scripts/validate_training_project.m</a:t>
            </a:r>
          </a:p>
          <a:p xmlns:a="http://schemas.openxmlformats.org/drawingml/2006/main">
            <a:r>
              <a:t>- results/PitchRateLimiter_TestResults.csv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demonstrates saved models, controlled data, model update, desktop simulations, a standalone limiter harness, executable MATLAB assessments, CSV/script/result traceability, retained reports, and a recoverable SDI view and session. It teaches how evidence connects without overstating what was performed.</a:t>
            </a:r>
          </a:p>
          <a:p xmlns:a="http://schemas.openxmlformats.org/drawingml/2006/main">
            <a:r>
              <a:t/>
            </a:r>
          </a:p>
          <a:p xmlns:a="http://schemas.openxmlformats.org/drawingml/2006/main">
            <a:r>
              <a:t>Caveats</a:t>
            </a:r>
            <a:endParaRPr/>
          </a:p>
          <a:p xmlns:a="http://schemas.openxmlformats.org/drawingml/2006/main">
            <a:r>
              <a:t>- It does not claim production aircraft data, an approved certification baseline, live Simulink Requirements links, a Simulink Test test-suite .mldatx, Embedded Coder output, generated-code verification, SIL, PIL, HIL, Jenkins execution, or certification approval.</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results/environment_inventory.txt</a:t>
            </a:r>
          </a:p>
          <a:p xmlns:a="http://schemas.openxmlformats.org/drawingml/2006/main">
            <a:r>
              <a:t>- results/validation_summary.txt</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demonstrates saved models, controlled data, model update, desktop simulations, a standalone limiter harness, executable MATLAB assessments, CSV/script/result traceability, retained reports, and a recoverable SDI view and session. It teaches how evidence connects without overstating what was performed.</a:t>
            </a:r>
          </a:p>
          <a:p xmlns:a="http://schemas.openxmlformats.org/drawingml/2006/main">
            <a:r>
              <a:t/>
            </a:r>
          </a:p>
          <a:p xmlns:a="http://schemas.openxmlformats.org/drawingml/2006/main">
            <a:r>
              <a:t>Caveats</a:t>
            </a:r>
            <a:endParaRPr/>
          </a:p>
          <a:p xmlns:a="http://schemas.openxmlformats.org/drawingml/2006/main">
            <a:r>
              <a:t>- It does not claim production aircraft data, an approved certification baseline, live Simulink Requirements links, a Simulink Test test-suite .mldatx, Embedded Coder output, generated-code verification, SIL, PIL, HIL, Jenkins execution, or certification approval.</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results/environment_inventory.txt</a:t>
            </a:r>
          </a:p>
          <a:p xmlns:a="http://schemas.openxmlformats.org/drawingml/2006/main">
            <a:r>
              <a:t>- results/validation_summary.txt</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Close with the working habit the learner should carry forward: choose the correct model role, make interfaces and assumptions visible, update before execution, retain objective results, and trace each claim through a controlled baseline. The next practical exercise is to reproduce one run, inspect one transient, and walk one requirement chain in both directions.</a:t>
            </a:r>
          </a:p>
          <a:p xmlns:a="http://schemas.openxmlformats.org/drawingml/2006/main">
            <a:r>
              <a:t/>
            </a:r>
          </a:p>
          <a:p xmlns:a="http://schemas.openxmlformats.org/drawingml/2006/main">
            <a:r>
              <a:t>Caveats</a:t>
            </a:r>
            <a:endParaRPr/>
          </a:p>
          <a:p xmlns:a="http://schemas.openxmlformats.org/drawingml/2006/main">
            <a:r>
              <a:t>- End on reproducible engineering practice, not on a claim of certification or HIL completion.</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7b22698d3441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b0b1dcd016425d" /><Relationship Type="http://schemas.openxmlformats.org/officeDocument/2006/relationships/slideLayout" Target="/ppt/slideLayouts/slideLayout1.xml" Id="R12f7ee41ea0c47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f7ee41ea0c47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3c355cec594b02" /><Relationship Type="http://schemas.openxmlformats.org/officeDocument/2006/relationships/notesSlide" Target="/ppt/notesSlides/notesSlide1.xml" Id="Refefbeee31904a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b3795ba806421c" /><Relationship Type="http://schemas.openxmlformats.org/officeDocument/2006/relationships/notesSlide" Target="/ppt/notesSlides/notesSlide2.xml" Id="R295a129eefba4f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379899189d4bd6" /><Relationship Type="http://schemas.openxmlformats.org/officeDocument/2006/relationships/notesSlide" Target="/ppt/notesSlides/notesSlide3.xml" Id="Rdd49fdfea1e84d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62bec7f7c54d34" /><Relationship Type="http://schemas.openxmlformats.org/officeDocument/2006/relationships/notesSlide" Target="/ppt/notesSlides/notesSlide4.xml" Id="R1de6fec4e9834f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f173d992c841cb" /><Relationship Type="http://schemas.openxmlformats.org/officeDocument/2006/relationships/notesSlide" Target="/ppt/notesSlides/notesSlide5.xml" Id="R96b6b398f31842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d73929a2ec4b96" /><Relationship Type="http://schemas.openxmlformats.org/officeDocument/2006/relationships/image" Target="/ppt/media/image.jpeg" Id="Rb1f7ddacffd44cb6" /><Relationship Type="http://schemas.openxmlformats.org/officeDocument/2006/relationships/notesSlide" Target="/ppt/notesSlides/notesSlide6.xml" Id="R5033adc4044647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a4f2d3d9184dae" /><Relationship Type="http://schemas.openxmlformats.org/officeDocument/2006/relationships/image" Target="/ppt/media/image.png" Id="Rde75ddb3ca954b1b" /><Relationship Type="http://schemas.openxmlformats.org/officeDocument/2006/relationships/notesSlide" Target="/ppt/notesSlides/notesSlide7.xml" Id="R4c5dbe17576a4b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c8b69ad3614562" /><Relationship Type="http://schemas.openxmlformats.org/officeDocument/2006/relationships/image" Target="/ppt/media/image2.jpeg" Id="R19cd1b8b44894f60" /><Relationship Type="http://schemas.openxmlformats.org/officeDocument/2006/relationships/notesSlide" Target="/ppt/notesSlides/notesSlide8.xml" Id="R5273c74c57044a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f98e7936034d9e" /><Relationship Type="http://schemas.openxmlformats.org/officeDocument/2006/relationships/image" Target="/ppt/media/image2.jpeg" Id="Rc95228b57c1448cf" /><Relationship Type="http://schemas.openxmlformats.org/officeDocument/2006/relationships/notesSlide" Target="/ppt/notesSlides/notesSlide9.xml" Id="R849878f0723a4f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7c1b4d6ee947ec" /><Relationship Type="http://schemas.openxmlformats.org/officeDocument/2006/relationships/notesSlide" Target="/ppt/notesSlides/notesSlide10.xml" Id="R1cd45663a6714f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a7cad593d54825" /><Relationship Type="http://schemas.openxmlformats.org/officeDocument/2006/relationships/notesSlide" Target="/ppt/notesSlides/notesSlide11.xml" Id="R6f701c23fa4b47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b035ddcc7a409b" /><Relationship Type="http://schemas.openxmlformats.org/officeDocument/2006/relationships/notesSlide" Target="/ppt/notesSlides/notesSlide12.xml" Id="Rb7c89aa0855e48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aae9800cd094bfa" /><Relationship Type="http://schemas.openxmlformats.org/officeDocument/2006/relationships/image" Target="/ppt/media/image3.jpeg" Id="R67bc0e3b25504430" /><Relationship Type="http://schemas.openxmlformats.org/officeDocument/2006/relationships/notesSlide" Target="/ppt/notesSlides/notesSlide13.xml" Id="Rc96dae354c2e4a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889a3793afe4fb8" /><Relationship Type="http://schemas.openxmlformats.org/officeDocument/2006/relationships/image" Target="/ppt/media/image2.png" Id="R014f569e8d7b4c1c" /><Relationship Type="http://schemas.openxmlformats.org/officeDocument/2006/relationships/notesSlide" Target="/ppt/notesSlides/notesSlide14.xml" Id="R05bce7048e8b48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2ad409f389245f2" /><Relationship Type="http://schemas.openxmlformats.org/officeDocument/2006/relationships/image" Target="/ppt/media/image3.png" Id="Rb7dd94dd9aad4d19" /><Relationship Type="http://schemas.openxmlformats.org/officeDocument/2006/relationships/notesSlide" Target="/ppt/notesSlides/notesSlide15.xml" Id="R7595e4a592a04d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8d0de268feb4097" /><Relationship Type="http://schemas.openxmlformats.org/officeDocument/2006/relationships/image" Target="/ppt/media/image4.png" Id="R99e02fbe74814751" /><Relationship Type="http://schemas.openxmlformats.org/officeDocument/2006/relationships/notesSlide" Target="/ppt/notesSlides/notesSlide16.xml" Id="Re76b3b32850b47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07a260f9d864726" /><Relationship Type="http://schemas.openxmlformats.org/officeDocument/2006/relationships/image" Target="/ppt/media/image5.png" Id="R5f0a0df5684a42e4" /><Relationship Type="http://schemas.openxmlformats.org/officeDocument/2006/relationships/notesSlide" Target="/ppt/notesSlides/notesSlide17.xml" Id="Rc8cc5be9503f4e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27f64c801904d99" /><Relationship Type="http://schemas.openxmlformats.org/officeDocument/2006/relationships/image" Target="/ppt/media/image6.png" Id="R83bba8dc423e4d1e" /><Relationship Type="http://schemas.openxmlformats.org/officeDocument/2006/relationships/notesSlide" Target="/ppt/notesSlides/notesSlide18.xml" Id="Rc0f18b1aa01c470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25f30060db04693" /><Relationship Type="http://schemas.openxmlformats.org/officeDocument/2006/relationships/image" Target="/ppt/media/image4.jpeg" Id="R45136834f95e41d1" /><Relationship Type="http://schemas.openxmlformats.org/officeDocument/2006/relationships/notesSlide" Target="/ppt/notesSlides/notesSlide19.xml" Id="R6b1842037e644c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09e2edf87fe4455" /><Relationship Type="http://schemas.openxmlformats.org/officeDocument/2006/relationships/image" Target="/ppt/media/image5.jpeg" Id="R6d0a39a358af4b39" /><Relationship Type="http://schemas.openxmlformats.org/officeDocument/2006/relationships/notesSlide" Target="/ppt/notesSlides/notesSlide20.xml" Id="R87ed136432c649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c16ac3569724226" /><Relationship Type="http://schemas.openxmlformats.org/officeDocument/2006/relationships/image" Target="/ppt/media/image7.png" Id="R65d4e29f8ebd4460" /><Relationship Type="http://schemas.openxmlformats.org/officeDocument/2006/relationships/notesSlide" Target="/ppt/notesSlides/notesSlide21.xml" Id="R996925e66ad54bc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2d5d892657d48ea" /><Relationship Type="http://schemas.openxmlformats.org/officeDocument/2006/relationships/image" Target="/ppt/media/image8.png" Id="R7057ecb648b346cf" /><Relationship Type="http://schemas.openxmlformats.org/officeDocument/2006/relationships/notesSlide" Target="/ppt/notesSlides/notesSlide22.xml" Id="R3d64e985c52043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4526abeaffb46ce" /><Relationship Type="http://schemas.openxmlformats.org/officeDocument/2006/relationships/image" Target="/ppt/media/image9.png" Id="R229f42901f0b4707" /><Relationship Type="http://schemas.openxmlformats.org/officeDocument/2006/relationships/notesSlide" Target="/ppt/notesSlides/notesSlide23.xml" Id="Rcdbcf823fc394b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005f528902e4893" /><Relationship Type="http://schemas.openxmlformats.org/officeDocument/2006/relationships/image" Target="/ppt/media/image10.png" Id="Rb33cf067bcba4a20" /><Relationship Type="http://schemas.openxmlformats.org/officeDocument/2006/relationships/notesSlide" Target="/ppt/notesSlides/notesSlide24.xml" Id="Rddb39ee589084d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d7aa29a0f9a434c" /><Relationship Type="http://schemas.openxmlformats.org/officeDocument/2006/relationships/image" Target="/ppt/media/image11.png" Id="Rc106bb56551c4cdc" /><Relationship Type="http://schemas.openxmlformats.org/officeDocument/2006/relationships/notesSlide" Target="/ppt/notesSlides/notesSlide25.xml" Id="Rcbb62575b33a48e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94c0fe07b514627" /><Relationship Type="http://schemas.openxmlformats.org/officeDocument/2006/relationships/image" Target="/ppt/media/image12.png" Id="Rb3504e737c7749d6" /><Relationship Type="http://schemas.openxmlformats.org/officeDocument/2006/relationships/notesSlide" Target="/ppt/notesSlides/notesSlide26.xml" Id="R66dde30d699c424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c0c7363a80e42f1" /><Relationship Type="http://schemas.openxmlformats.org/officeDocument/2006/relationships/image" Target="/ppt/media/image13.png" Id="Redda8e4a8b334741" /><Relationship Type="http://schemas.openxmlformats.org/officeDocument/2006/relationships/notesSlide" Target="/ppt/notesSlides/notesSlide27.xml" Id="Rce0673f0d82d426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0979176c61d43ee" /><Relationship Type="http://schemas.openxmlformats.org/officeDocument/2006/relationships/notesSlide" Target="/ppt/notesSlides/notesSlide28.xml" Id="Rdf8daa1f698f4d1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48123669445457c" /><Relationship Type="http://schemas.openxmlformats.org/officeDocument/2006/relationships/image" Target="/ppt/media/image2.jpeg" Id="Rbbface02dbbd4b3e" /><Relationship Type="http://schemas.openxmlformats.org/officeDocument/2006/relationships/notesSlide" Target="/ppt/notesSlides/notesSlide29.xml" Id="Raff44f19305047d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5f279dc79034a6a" /><Relationship Type="http://schemas.openxmlformats.org/officeDocument/2006/relationships/notesSlide" Target="/ppt/notesSlides/notesSlide30.xml" Id="Rebae06c8a64d4ef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baa3004128e4fb1" /><Relationship Type="http://schemas.openxmlformats.org/officeDocument/2006/relationships/notesSlide" Target="/ppt/notesSlides/notesSlide31.xml" Id="R6d81c3be39bc48c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26004aac7724c37" /><Relationship Type="http://schemas.openxmlformats.org/officeDocument/2006/relationships/notesSlide" Target="/ppt/notesSlides/notesSlide32.xml" Id="R1dad297048254cc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f7437d6726d4c38" /><Relationship Type="http://schemas.openxmlformats.org/officeDocument/2006/relationships/notesSlide" Target="/ppt/notesSlides/notesSlide33.xml" Id="R46b5e6fcdf634b2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238a1ab9a4441f1" /><Relationship Type="http://schemas.openxmlformats.org/officeDocument/2006/relationships/notesSlide" Target="/ppt/notesSlides/notesSlide34.xml" Id="R4a594cbc2cc8474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be29b4e8e73471e" /><Relationship Type="http://schemas.openxmlformats.org/officeDocument/2006/relationships/notesSlide" Target="/ppt/notesSlides/notesSlide35.xml" Id="Rf9990ce5dd25457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4c4d3e055c94da1" /><Relationship Type="http://schemas.openxmlformats.org/officeDocument/2006/relationships/notesSlide" Target="/ppt/notesSlides/notesSlide36.xml" Id="R09e56669066245f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7e3f6dd721e4610" /><Relationship Type="http://schemas.openxmlformats.org/officeDocument/2006/relationships/notesSlide" Target="/ppt/notesSlides/notesSlide37.xml" Id="Rce3cb5e15649484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5c1be43e5c842a5" /><Relationship Type="http://schemas.openxmlformats.org/officeDocument/2006/relationships/image" Target="/ppt/media/image14.png" Id="R1dfd659ae95b4333" /><Relationship Type="http://schemas.openxmlformats.org/officeDocument/2006/relationships/notesSlide" Target="/ppt/notesSlides/notesSlide38.xml" Id="Rabcc218ce7eb4e6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eb370dd21d14b0e" /><Relationship Type="http://schemas.openxmlformats.org/officeDocument/2006/relationships/notesSlide" Target="/ppt/notesSlides/notesSlide39.xml" Id="Re970db06ac5b469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e9abb9e097541b7" /><Relationship Type="http://schemas.openxmlformats.org/officeDocument/2006/relationships/notesSlide" Target="/ppt/notesSlides/notesSlide40.xml" Id="Rfd8e05e7743f478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dd2d6359b27408f" /><Relationship Type="http://schemas.openxmlformats.org/officeDocument/2006/relationships/notesSlide" Target="/ppt/notesSlides/notesSlide41.xml" Id="R8e679ef1f65d442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6da47e6b4a947d1" /><Relationship Type="http://schemas.openxmlformats.org/officeDocument/2006/relationships/notesSlide" Target="/ppt/notesSlides/notesSlide42.xml" Id="Rc6aa6499b6744e6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2bb63ea625a4b85" /><Relationship Type="http://schemas.openxmlformats.org/officeDocument/2006/relationships/notesSlide" Target="/ppt/notesSlides/notesSlide43.xml" Id="Rd0bd5a85c137473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5af25a60e894408" /><Relationship Type="http://schemas.openxmlformats.org/officeDocument/2006/relationships/notesSlide" Target="/ppt/notesSlides/notesSlide44.xml" Id="R695e9127b4674a3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eaf4885911eb4e81" /><Relationship Type="http://schemas.openxmlformats.org/officeDocument/2006/relationships/notesSlide" Target="/ppt/notesSlides/notesSlide45.xml" Id="R63ff180d035e450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e30d4e6e28846d2" /><Relationship Type="http://schemas.openxmlformats.org/officeDocument/2006/relationships/notesSlide" Target="/ppt/notesSlides/notesSlide46.xml" Id="R0322387205dc495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a461a5a8d80441c" /><Relationship Type="http://schemas.openxmlformats.org/officeDocument/2006/relationships/notesSlide" Target="/ppt/notesSlides/notesSlide47.xml" Id="Re04687b91a0e46d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e0235da0d1c4b03" /><Relationship Type="http://schemas.openxmlformats.org/officeDocument/2006/relationships/notesSlide" Target="/ppt/notesSlides/notesSlide48.xml" Id="R2d62c711496f4d55"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88000"/>
              </a:lnSpc>
              <a:buNone/>
              <a:defRPr sz="4950" b="1" i="0">
                <a:solidFill>
                  <a:srgbClr val="FFFFFF"/>
                </a:solidFill>
                <a:latin typeface="Aptos"/>
                <a:ea typeface="Aptos"/>
                <a:cs typeface="Aptos"/>
              </a:defRPr>
            </a:pPr>
            <a:r>
              <a:rPr sz="4950" b="1" i="0">
                <a:solidFill>
                  <a:srgbClr val="FFFFFF"/>
                </a:solidFill>
                <a:latin typeface="Aptos"/>
                <a:ea typeface="Aptos"/>
                <a:cs typeface="Aptos"/>
              </a:rPr>
              <a:t>Simulink in the Aerospace 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10000"/>
              </a:lnSpc>
              <a:buNone/>
              <a:defRPr sz="1800" b="0" i="0">
                <a:solidFill>
                  <a:srgbClr val="D8E8F1"/>
                </a:solidFill>
                <a:latin typeface="Aptos"/>
                <a:ea typeface="Aptos"/>
                <a:cs typeface="Aptos"/>
              </a:defRPr>
            </a:pPr>
            <a:r>
              <a:rPr sz="1800" b="0" i="0">
                <a:solidFill>
                  <a:srgbClr val="D8E8F1"/>
                </a:solidFill>
                <a:latin typeface="Aptos"/>
                <a:ea typeface="Aptos"/>
                <a:cs typeface="Aptos"/>
              </a:rPr>
              <a:t>First-session workflow • model hierarchy • desktop MIL evidence • assurance context</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0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0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0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139"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40"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41"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42"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57150" bIns="38100" anchor="t">
            <a:noAutofit/>
          </a:bodyPr>
          <a:lstStyle xmlns:a="http://schemas.openxmlformats.org/drawingml/2006/main"/>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Operate a model — initialize paths; open, update, run, stop, and inspect results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Navigate the editor — Simulation, Debug, Modeling, and Apps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Read semantics — units, data types, dimensions, timing, and logging</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Trace behavior — top level → component → harness → executed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START + RUN</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MODEL HIERARCHY</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OVERLAYS</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DATA INSPECTOR</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TRACEABILITY</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Keep asking: Which model am I in, what state is visible, and what evidence proves the requirement?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31" name="s5-flow-0">
            <a:extLst xmlns:a="http://schemas.openxmlformats.org/drawingml/2006/main">
              <a:ext uri="{FF2B5EF4-FFF2-40B4-BE49-F238E27FC236}">
                <a16:creationId xmlns:a16="http://schemas.microsoft.com/office/drawing/2014/main" id="{1B93A0A4-890E-46AD-B0BC-D05F3A3FC368}"/>
              </a:ext>
            </a:extLst>
          </p:cNvPr>
          <p:cNvSpPr>
            <a:spLocks xmlns:a="http://schemas.openxmlformats.org/drawingml/2006/main" noGrp="1"/>
          </p:cNvSpPr>
          <p:nvPr/>
        </p:nvSpPr>
        <p:spPr>
          <a:xfrm xmlns:a="http://schemas.openxmlformats.org/drawingml/2006/main">
            <a:off x="209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2" name="s5-flow-1">
            <a:extLst xmlns:a="http://schemas.openxmlformats.org/drawingml/2006/main">
              <a:ext uri="{FF2B5EF4-FFF2-40B4-BE49-F238E27FC236}">
                <a16:creationId xmlns:a16="http://schemas.microsoft.com/office/drawing/2014/main" id="{506FB24E-C05C-429D-9761-50DB917B6FB7}"/>
              </a:ext>
            </a:extLst>
          </p:cNvPr>
          <p:cNvSpPr>
            <a:spLocks xmlns:a="http://schemas.openxmlformats.org/drawingml/2006/main" noGrp="1"/>
          </p:cNvSpPr>
          <p:nvPr/>
        </p:nvSpPr>
        <p:spPr>
          <a:xfrm xmlns:a="http://schemas.openxmlformats.org/drawingml/2006/main">
            <a:off x="3619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3" name="s5-flow-2">
            <a:extLst xmlns:a="http://schemas.openxmlformats.org/drawingml/2006/main">
              <a:ext uri="{FF2B5EF4-FFF2-40B4-BE49-F238E27FC236}">
                <a16:creationId xmlns:a16="http://schemas.microsoft.com/office/drawing/2014/main" id="{8EB4ED8B-604C-44FC-858F-85DF392E4821}"/>
              </a:ext>
            </a:extLst>
          </p:cNvPr>
          <p:cNvSpPr>
            <a:spLocks xmlns:a="http://schemas.openxmlformats.org/drawingml/2006/main" noGrp="1"/>
          </p:cNvSpPr>
          <p:nvPr/>
        </p:nvSpPr>
        <p:spPr>
          <a:xfrm xmlns:a="http://schemas.openxmlformats.org/drawingml/2006/main">
            <a:off x="5143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4" name="s5-flow-3">
            <a:extLst xmlns:a="http://schemas.openxmlformats.org/drawingml/2006/main">
              <a:ext uri="{FF2B5EF4-FFF2-40B4-BE49-F238E27FC236}">
                <a16:creationId xmlns:a16="http://schemas.microsoft.com/office/drawing/2014/main" id="{4DFF09ED-ECD0-4926-A6C7-49AE8D52F6BD}"/>
              </a:ext>
            </a:extLst>
          </p:cNvPr>
          <p:cNvSpPr>
            <a:spLocks xmlns:a="http://schemas.openxmlformats.org/drawingml/2006/main" noGrp="1"/>
          </p:cNvSpPr>
          <p:nvPr/>
        </p:nvSpPr>
        <p:spPr>
          <a:xfrm xmlns:a="http://schemas.openxmlformats.org/drawingml/2006/main">
            <a:off x="6667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5" name="s5-flow-4">
            <a:extLst xmlns:a="http://schemas.openxmlformats.org/drawingml/2006/main">
              <a:ext uri="{FF2B5EF4-FFF2-40B4-BE49-F238E27FC236}">
                <a16:creationId xmlns:a16="http://schemas.microsoft.com/office/drawing/2014/main" id="{542F26A7-77D2-4825-B8E6-432341792514}"/>
              </a:ext>
            </a:extLst>
          </p:cNvPr>
          <p:cNvSpPr>
            <a:spLocks xmlns:a="http://schemas.openxmlformats.org/drawingml/2006/main" noGrp="1"/>
          </p:cNvSpPr>
          <p:nvPr/>
        </p:nvSpPr>
        <p:spPr>
          <a:xfrm xmlns:a="http://schemas.openxmlformats.org/drawingml/2006/main">
            <a:off x="8191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6" name="s5-flow-5">
            <a:extLst xmlns:a="http://schemas.openxmlformats.org/drawingml/2006/main">
              <a:ext uri="{FF2B5EF4-FFF2-40B4-BE49-F238E27FC236}">
                <a16:creationId xmlns:a16="http://schemas.microsoft.com/office/drawing/2014/main" id="{DF7EDB6B-E254-4C4B-A071-147582E4F5DA}"/>
              </a:ext>
            </a:extLst>
          </p:cNvPr>
          <p:cNvSpPr>
            <a:spLocks xmlns:a="http://schemas.openxmlformats.org/drawingml/2006/main" noGrp="1"/>
          </p:cNvSpPr>
          <p:nvPr/>
        </p:nvSpPr>
        <p:spPr>
          <a:xfrm xmlns:a="http://schemas.openxmlformats.org/drawingml/2006/main">
            <a:off x="971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7" name="s5-card-0">
            <a:extLst xmlns:a="http://schemas.openxmlformats.org/drawingml/2006/main">
              <a:ext uri="{FF2B5EF4-FFF2-40B4-BE49-F238E27FC236}">
                <a16:creationId xmlns:a16="http://schemas.microsoft.com/office/drawing/2014/main" id="{747DDC72-D58E-41F0-A468-4DF01CF07F70}"/>
              </a:ext>
            </a:extLst>
          </p:cNvPr>
          <p:cNvSpPr>
            <a:spLocks xmlns:a="http://schemas.openxmlformats.org/drawingml/2006/main" noGrp="1"/>
          </p:cNvSpPr>
          <p:nvPr/>
        </p:nvSpPr>
        <p:spPr>
          <a:xfrm xmlns:a="http://schemas.openxmlformats.org/drawingml/2006/main">
            <a:off x="68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38" name="s5-num-0">
            <a:extLst xmlns:a="http://schemas.openxmlformats.org/drawingml/2006/main">
              <a:ext uri="{FF2B5EF4-FFF2-40B4-BE49-F238E27FC236}">
                <a16:creationId xmlns:a16="http://schemas.microsoft.com/office/drawing/2014/main" id="{E648F802-F0FB-45D6-B023-07833C67BB2B}"/>
              </a:ext>
            </a:extLst>
          </p:cNvPr>
          <p:cNvSpPr>
            <a:spLocks xmlns:a="http://schemas.openxmlformats.org/drawingml/2006/main" noGrp="1"/>
          </p:cNvSpPr>
          <p:nvPr/>
        </p:nvSpPr>
        <p:spPr>
          <a:xfrm xmlns:a="http://schemas.openxmlformats.org/drawingml/2006/main">
            <a:off x="80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01</a:t>
            </a:r>
          </a:p>
        </p:txBody>
      </p:sp>
      <p:sp>
        <p:nvSpPr>
          <p:cNvPr id="39" name="s5-title-0">
            <a:extLst xmlns:a="http://schemas.openxmlformats.org/drawingml/2006/main">
              <a:ext uri="{FF2B5EF4-FFF2-40B4-BE49-F238E27FC236}">
                <a16:creationId xmlns:a16="http://schemas.microsoft.com/office/drawing/2014/main" id="{A21BDA39-B255-4274-BB76-6B732EBF56A8}"/>
              </a:ext>
            </a:extLst>
          </p:cNvPr>
          <p:cNvSpPr>
            <a:spLocks xmlns:a="http://schemas.openxmlformats.org/drawingml/2006/main" noGrp="1"/>
          </p:cNvSpPr>
          <p:nvPr/>
        </p:nvSpPr>
        <p:spPr>
          <a:xfrm xmlns:a="http://schemas.openxmlformats.org/drawingml/2006/main">
            <a:off x="80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INITIALIZE</a:t>
            </a:r>
          </a:p>
        </p:txBody>
      </p:sp>
      <p:sp>
        <p:nvSpPr>
          <p:cNvPr id="40" name="s5-ui-0">
            <a:extLst xmlns:a="http://schemas.openxmlformats.org/drawingml/2006/main">
              <a:ext uri="{FF2B5EF4-FFF2-40B4-BE49-F238E27FC236}">
                <a16:creationId xmlns:a16="http://schemas.microsoft.com/office/drawing/2014/main" id="{0A6ABF77-8B6A-4E53-BE71-A389EFF831D0}"/>
              </a:ext>
            </a:extLst>
          </p:cNvPr>
          <p:cNvSpPr>
            <a:spLocks xmlns:a="http://schemas.openxmlformats.org/drawingml/2006/main" noGrp="1"/>
          </p:cNvSpPr>
          <p:nvPr/>
        </p:nvSpPr>
        <p:spPr>
          <a:xfrm xmlns:a="http://schemas.openxmlformats.org/drawingml/2006/main">
            <a:off x="78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Command Window</a:t>
            </a:r>
          </a:p>
        </p:txBody>
      </p:sp>
      <p:sp>
        <p:nvSpPr>
          <p:cNvPr id="41" name="s5-purpose-0">
            <a:extLst xmlns:a="http://schemas.openxmlformats.org/drawingml/2006/main">
              <a:ext uri="{FF2B5EF4-FFF2-40B4-BE49-F238E27FC236}">
                <a16:creationId xmlns:a16="http://schemas.microsoft.com/office/drawing/2014/main" id="{64B6F29D-7A77-46FF-A25B-868FE91F4269}"/>
              </a:ext>
            </a:extLst>
          </p:cNvPr>
          <p:cNvSpPr>
            <a:spLocks xmlns:a="http://schemas.openxmlformats.org/drawingml/2006/main" noGrp="1"/>
          </p:cNvSpPr>
          <p:nvPr/>
        </p:nvSpPr>
        <p:spPr>
          <a:xfrm xmlns:a="http://schemas.openxmlformats.org/drawingml/2006/main">
            <a:off x="78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Prepare paths + FCS_Data.sldd</a:t>
            </a:r>
          </a:p>
        </p:txBody>
      </p:sp>
      <p:sp>
        <p:nvSpPr>
          <p:cNvPr id="42" name="s5-card-1">
            <a:extLst xmlns:a="http://schemas.openxmlformats.org/drawingml/2006/main">
              <a:ext uri="{FF2B5EF4-FFF2-40B4-BE49-F238E27FC236}">
                <a16:creationId xmlns:a16="http://schemas.microsoft.com/office/drawing/2014/main" id="{B20B84FE-1040-4F10-81FF-A117A9098CB7}"/>
              </a:ext>
            </a:extLst>
          </p:cNvPr>
          <p:cNvSpPr>
            <a:spLocks xmlns:a="http://schemas.openxmlformats.org/drawingml/2006/main" noGrp="1"/>
          </p:cNvSpPr>
          <p:nvPr/>
        </p:nvSpPr>
        <p:spPr>
          <a:xfrm xmlns:a="http://schemas.openxmlformats.org/drawingml/2006/main">
            <a:off x="2209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3" name="s5-num-1">
            <a:extLst xmlns:a="http://schemas.openxmlformats.org/drawingml/2006/main">
              <a:ext uri="{FF2B5EF4-FFF2-40B4-BE49-F238E27FC236}">
                <a16:creationId xmlns:a16="http://schemas.microsoft.com/office/drawing/2014/main" id="{578B0659-1074-46C4-ADDA-A31929B2E538}"/>
              </a:ext>
            </a:extLst>
          </p:cNvPr>
          <p:cNvSpPr>
            <a:spLocks xmlns:a="http://schemas.openxmlformats.org/drawingml/2006/main" noGrp="1"/>
          </p:cNvSpPr>
          <p:nvPr/>
        </p:nvSpPr>
        <p:spPr>
          <a:xfrm xmlns:a="http://schemas.openxmlformats.org/drawingml/2006/main">
            <a:off x="232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02</a:t>
            </a:r>
          </a:p>
        </p:txBody>
      </p:sp>
      <p:sp>
        <p:nvSpPr>
          <p:cNvPr id="44" name="s5-title-1">
            <a:extLst xmlns:a="http://schemas.openxmlformats.org/drawingml/2006/main">
              <a:ext uri="{FF2B5EF4-FFF2-40B4-BE49-F238E27FC236}">
                <a16:creationId xmlns:a16="http://schemas.microsoft.com/office/drawing/2014/main" id="{306C5A72-6572-493A-9198-F01CF888E2D3}"/>
              </a:ext>
            </a:extLst>
          </p:cNvPr>
          <p:cNvSpPr>
            <a:spLocks xmlns:a="http://schemas.openxmlformats.org/drawingml/2006/main" noGrp="1"/>
          </p:cNvSpPr>
          <p:nvPr/>
        </p:nvSpPr>
        <p:spPr>
          <a:xfrm xmlns:a="http://schemas.openxmlformats.org/drawingml/2006/main">
            <a:off x="232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OPEN</a:t>
            </a:r>
          </a:p>
        </p:txBody>
      </p:sp>
      <p:sp>
        <p:nvSpPr>
          <p:cNvPr id="45" name="s5-ui-1">
            <a:extLst xmlns:a="http://schemas.openxmlformats.org/drawingml/2006/main">
              <a:ext uri="{FF2B5EF4-FFF2-40B4-BE49-F238E27FC236}">
                <a16:creationId xmlns:a16="http://schemas.microsoft.com/office/drawing/2014/main" id="{944DFB2D-30C4-47FE-A72E-3AC51EA6222B}"/>
              </a:ext>
            </a:extLst>
          </p:cNvPr>
          <p:cNvSpPr>
            <a:spLocks xmlns:a="http://schemas.openxmlformats.org/drawingml/2006/main" noGrp="1"/>
          </p:cNvSpPr>
          <p:nvPr/>
        </p:nvSpPr>
        <p:spPr>
          <a:xfrm xmlns:a="http://schemas.openxmlformats.org/drawingml/2006/main">
            <a:off x="230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Ctrl+O / open_system</a:t>
            </a:r>
          </a:p>
        </p:txBody>
      </p:sp>
      <p:sp>
        <p:nvSpPr>
          <p:cNvPr id="46" name="s5-purpose-1">
            <a:extLst xmlns:a="http://schemas.openxmlformats.org/drawingml/2006/main">
              <a:ext uri="{FF2B5EF4-FFF2-40B4-BE49-F238E27FC236}">
                <a16:creationId xmlns:a16="http://schemas.microsoft.com/office/drawing/2014/main" id="{76CD7A9D-3321-4A40-BDFE-9A2674D8A86A}"/>
              </a:ext>
            </a:extLst>
          </p:cNvPr>
          <p:cNvSpPr>
            <a:spLocks xmlns:a="http://schemas.openxmlformats.org/drawingml/2006/main" noGrp="1"/>
          </p:cNvSpPr>
          <p:nvPr/>
        </p:nvSpPr>
        <p:spPr>
          <a:xfrm xmlns:a="http://schemas.openxmlformats.org/drawingml/2006/main">
            <a:off x="230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Choose the correct top level</a:t>
            </a:r>
          </a:p>
        </p:txBody>
      </p:sp>
      <p:sp>
        <p:nvSpPr>
          <p:cNvPr id="47" name="s5-card-2">
            <a:extLst xmlns:a="http://schemas.openxmlformats.org/drawingml/2006/main">
              <a:ext uri="{FF2B5EF4-FFF2-40B4-BE49-F238E27FC236}">
                <a16:creationId xmlns:a16="http://schemas.microsoft.com/office/drawing/2014/main" id="{21F9AD9E-130D-48B9-81F3-9BCAA193D679}"/>
              </a:ext>
            </a:extLst>
          </p:cNvPr>
          <p:cNvSpPr>
            <a:spLocks xmlns:a="http://schemas.openxmlformats.org/drawingml/2006/main" noGrp="1"/>
          </p:cNvSpPr>
          <p:nvPr/>
        </p:nvSpPr>
        <p:spPr>
          <a:xfrm xmlns:a="http://schemas.openxmlformats.org/drawingml/2006/main">
            <a:off x="3733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8" name="s5-num-2">
            <a:extLst xmlns:a="http://schemas.openxmlformats.org/drawingml/2006/main">
              <a:ext uri="{FF2B5EF4-FFF2-40B4-BE49-F238E27FC236}">
                <a16:creationId xmlns:a16="http://schemas.microsoft.com/office/drawing/2014/main" id="{2E0DF6A7-BA36-4253-90C4-0DB3C4A9678E}"/>
              </a:ext>
            </a:extLst>
          </p:cNvPr>
          <p:cNvSpPr>
            <a:spLocks xmlns:a="http://schemas.openxmlformats.org/drawingml/2006/main" noGrp="1"/>
          </p:cNvSpPr>
          <p:nvPr/>
        </p:nvSpPr>
        <p:spPr>
          <a:xfrm xmlns:a="http://schemas.openxmlformats.org/drawingml/2006/main">
            <a:off x="3848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03</a:t>
            </a:r>
          </a:p>
        </p:txBody>
      </p:sp>
      <p:sp>
        <p:nvSpPr>
          <p:cNvPr id="49" name="s5-title-2">
            <a:extLst xmlns:a="http://schemas.openxmlformats.org/drawingml/2006/main">
              <a:ext uri="{FF2B5EF4-FFF2-40B4-BE49-F238E27FC236}">
                <a16:creationId xmlns:a16="http://schemas.microsoft.com/office/drawing/2014/main" id="{B8C33334-6D6F-4E3B-83C4-5F46C5DE0B3F}"/>
              </a:ext>
            </a:extLst>
          </p:cNvPr>
          <p:cNvSpPr>
            <a:spLocks xmlns:a="http://schemas.openxmlformats.org/drawingml/2006/main" noGrp="1"/>
          </p:cNvSpPr>
          <p:nvPr/>
        </p:nvSpPr>
        <p:spPr>
          <a:xfrm xmlns:a="http://schemas.openxmlformats.org/drawingml/2006/main">
            <a:off x="3848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UPDATE</a:t>
            </a:r>
          </a:p>
        </p:txBody>
      </p:sp>
      <p:sp>
        <p:nvSpPr>
          <p:cNvPr id="50" name="s5-ui-2">
            <a:extLst xmlns:a="http://schemas.openxmlformats.org/drawingml/2006/main">
              <a:ext uri="{FF2B5EF4-FFF2-40B4-BE49-F238E27FC236}">
                <a16:creationId xmlns:a16="http://schemas.microsoft.com/office/drawing/2014/main" id="{C1F3B741-2AEF-4EAE-B6D2-190D3FDBFD06}"/>
              </a:ext>
            </a:extLst>
          </p:cNvPr>
          <p:cNvSpPr>
            <a:spLocks xmlns:a="http://schemas.openxmlformats.org/drawingml/2006/main" noGrp="1"/>
          </p:cNvSpPr>
          <p:nvPr/>
        </p:nvSpPr>
        <p:spPr>
          <a:xfrm xmlns:a="http://schemas.openxmlformats.org/drawingml/2006/main">
            <a:off x="3829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Modeling • Ctrl+D</a:t>
            </a:r>
          </a:p>
        </p:txBody>
      </p:sp>
      <p:sp>
        <p:nvSpPr>
          <p:cNvPr id="51" name="s5-purpose-2">
            <a:extLst xmlns:a="http://schemas.openxmlformats.org/drawingml/2006/main">
              <a:ext uri="{FF2B5EF4-FFF2-40B4-BE49-F238E27FC236}">
                <a16:creationId xmlns:a16="http://schemas.microsoft.com/office/drawing/2014/main" id="{ED560A45-8E90-474B-8274-C0E13DCCB4C2}"/>
              </a:ext>
            </a:extLst>
          </p:cNvPr>
          <p:cNvSpPr>
            <a:spLocks xmlns:a="http://schemas.openxmlformats.org/drawingml/2006/main" noGrp="1"/>
          </p:cNvSpPr>
          <p:nvPr/>
        </p:nvSpPr>
        <p:spPr>
          <a:xfrm xmlns:a="http://schemas.openxmlformats.org/drawingml/2006/main">
            <a:off x="3829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Compile and propagate semantics</a:t>
            </a:r>
          </a:p>
        </p:txBody>
      </p:sp>
      <p:sp>
        <p:nvSpPr>
          <p:cNvPr id="52" name="s5-card-3">
            <a:extLst xmlns:a="http://schemas.openxmlformats.org/drawingml/2006/main">
              <a:ext uri="{FF2B5EF4-FFF2-40B4-BE49-F238E27FC236}">
                <a16:creationId xmlns:a16="http://schemas.microsoft.com/office/drawing/2014/main" id="{F935BE4D-8811-4BA8-A982-64F881E32764}"/>
              </a:ext>
            </a:extLst>
          </p:cNvPr>
          <p:cNvSpPr>
            <a:spLocks xmlns:a="http://schemas.openxmlformats.org/drawingml/2006/main" noGrp="1"/>
          </p:cNvSpPr>
          <p:nvPr/>
        </p:nvSpPr>
        <p:spPr>
          <a:xfrm xmlns:a="http://schemas.openxmlformats.org/drawingml/2006/main">
            <a:off x="5257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3" name="s5-num-3">
            <a:extLst xmlns:a="http://schemas.openxmlformats.org/drawingml/2006/main">
              <a:ext uri="{FF2B5EF4-FFF2-40B4-BE49-F238E27FC236}">
                <a16:creationId xmlns:a16="http://schemas.microsoft.com/office/drawing/2014/main" id="{57CFBFFB-3E5F-4325-8E9F-E108E7C8674F}"/>
              </a:ext>
            </a:extLst>
          </p:cNvPr>
          <p:cNvSpPr>
            <a:spLocks xmlns:a="http://schemas.openxmlformats.org/drawingml/2006/main" noGrp="1"/>
          </p:cNvSpPr>
          <p:nvPr/>
        </p:nvSpPr>
        <p:spPr>
          <a:xfrm xmlns:a="http://schemas.openxmlformats.org/drawingml/2006/main">
            <a:off x="5372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04</a:t>
            </a:r>
          </a:p>
        </p:txBody>
      </p:sp>
      <p:sp>
        <p:nvSpPr>
          <p:cNvPr id="54" name="s5-title-3">
            <a:extLst xmlns:a="http://schemas.openxmlformats.org/drawingml/2006/main">
              <a:ext uri="{FF2B5EF4-FFF2-40B4-BE49-F238E27FC236}">
                <a16:creationId xmlns:a16="http://schemas.microsoft.com/office/drawing/2014/main" id="{7ABC74A6-236E-4E61-BB7D-017EB253ABCB}"/>
              </a:ext>
            </a:extLst>
          </p:cNvPr>
          <p:cNvSpPr>
            <a:spLocks xmlns:a="http://schemas.openxmlformats.org/drawingml/2006/main" noGrp="1"/>
          </p:cNvSpPr>
          <p:nvPr/>
        </p:nvSpPr>
        <p:spPr>
          <a:xfrm xmlns:a="http://schemas.openxmlformats.org/drawingml/2006/main">
            <a:off x="5372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RUN</a:t>
            </a:r>
          </a:p>
        </p:txBody>
      </p:sp>
      <p:sp>
        <p:nvSpPr>
          <p:cNvPr id="55" name="s5-ui-3">
            <a:extLst xmlns:a="http://schemas.openxmlformats.org/drawingml/2006/main">
              <a:ext uri="{FF2B5EF4-FFF2-40B4-BE49-F238E27FC236}">
                <a16:creationId xmlns:a16="http://schemas.microsoft.com/office/drawing/2014/main" id="{CA9CAD16-F1A6-4022-A7FA-5EC72A20DAAA}"/>
              </a:ext>
            </a:extLst>
          </p:cNvPr>
          <p:cNvSpPr>
            <a:spLocks xmlns:a="http://schemas.openxmlformats.org/drawingml/2006/main" noGrp="1"/>
          </p:cNvSpPr>
          <p:nvPr/>
        </p:nvSpPr>
        <p:spPr>
          <a:xfrm xmlns:a="http://schemas.openxmlformats.org/drawingml/2006/main">
            <a:off x="5353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Ctrl+T</a:t>
            </a:r>
          </a:p>
        </p:txBody>
      </p:sp>
      <p:sp>
        <p:nvSpPr>
          <p:cNvPr id="56" name="s5-purpose-3">
            <a:extLst xmlns:a="http://schemas.openxmlformats.org/drawingml/2006/main">
              <a:ext uri="{FF2B5EF4-FFF2-40B4-BE49-F238E27FC236}">
                <a16:creationId xmlns:a16="http://schemas.microsoft.com/office/drawing/2014/main" id="{EC9A836A-289D-48F2-A5E7-1AD45D6BE4D6}"/>
              </a:ext>
            </a:extLst>
          </p:cNvPr>
          <p:cNvSpPr>
            <a:spLocks xmlns:a="http://schemas.openxmlformats.org/drawingml/2006/main" noGrp="1"/>
          </p:cNvSpPr>
          <p:nvPr/>
        </p:nvSpPr>
        <p:spPr>
          <a:xfrm xmlns:a="http://schemas.openxmlformats.org/drawingml/2006/main">
            <a:off x="5353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Execute desktop model behavior</a:t>
            </a:r>
          </a:p>
        </p:txBody>
      </p:sp>
      <p:sp>
        <p:nvSpPr>
          <p:cNvPr id="57" name="s5-card-4">
            <a:extLst xmlns:a="http://schemas.openxmlformats.org/drawingml/2006/main">
              <a:ext uri="{FF2B5EF4-FFF2-40B4-BE49-F238E27FC236}">
                <a16:creationId xmlns:a16="http://schemas.microsoft.com/office/drawing/2014/main" id="{BC437B08-31F0-4346-8C97-EFB3210DB4F4}"/>
              </a:ext>
            </a:extLst>
          </p:cNvPr>
          <p:cNvSpPr>
            <a:spLocks xmlns:a="http://schemas.openxmlformats.org/drawingml/2006/main" noGrp="1"/>
          </p:cNvSpPr>
          <p:nvPr/>
        </p:nvSpPr>
        <p:spPr>
          <a:xfrm xmlns:a="http://schemas.openxmlformats.org/drawingml/2006/main">
            <a:off x="6781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8" name="s5-num-4">
            <a:extLst xmlns:a="http://schemas.openxmlformats.org/drawingml/2006/main">
              <a:ext uri="{FF2B5EF4-FFF2-40B4-BE49-F238E27FC236}">
                <a16:creationId xmlns:a16="http://schemas.microsoft.com/office/drawing/2014/main" id="{D1A3000A-0028-495B-B57C-D42B779E2DD7}"/>
              </a:ext>
            </a:extLst>
          </p:cNvPr>
          <p:cNvSpPr>
            <a:spLocks xmlns:a="http://schemas.openxmlformats.org/drawingml/2006/main" noGrp="1"/>
          </p:cNvSpPr>
          <p:nvPr/>
        </p:nvSpPr>
        <p:spPr>
          <a:xfrm xmlns:a="http://schemas.openxmlformats.org/drawingml/2006/main">
            <a:off x="6896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05</a:t>
            </a:r>
          </a:p>
        </p:txBody>
      </p:sp>
      <p:sp>
        <p:nvSpPr>
          <p:cNvPr id="59" name="s5-title-4">
            <a:extLst xmlns:a="http://schemas.openxmlformats.org/drawingml/2006/main">
              <a:ext uri="{FF2B5EF4-FFF2-40B4-BE49-F238E27FC236}">
                <a16:creationId xmlns:a16="http://schemas.microsoft.com/office/drawing/2014/main" id="{A9778011-344B-4744-A309-8AB98585654D}"/>
              </a:ext>
            </a:extLst>
          </p:cNvPr>
          <p:cNvSpPr>
            <a:spLocks xmlns:a="http://schemas.openxmlformats.org/drawingml/2006/main" noGrp="1"/>
          </p:cNvSpPr>
          <p:nvPr/>
        </p:nvSpPr>
        <p:spPr>
          <a:xfrm xmlns:a="http://schemas.openxmlformats.org/drawingml/2006/main">
            <a:off x="6896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STOP</a:t>
            </a:r>
          </a:p>
        </p:txBody>
      </p:sp>
      <p:sp>
        <p:nvSpPr>
          <p:cNvPr id="60" name="s5-ui-4">
            <a:extLst xmlns:a="http://schemas.openxmlformats.org/drawingml/2006/main">
              <a:ext uri="{FF2B5EF4-FFF2-40B4-BE49-F238E27FC236}">
                <a16:creationId xmlns:a16="http://schemas.microsoft.com/office/drawing/2014/main" id="{9745327E-30F4-4BC4-A34A-D0EEA69571C6}"/>
              </a:ext>
            </a:extLst>
          </p:cNvPr>
          <p:cNvSpPr>
            <a:spLocks xmlns:a="http://schemas.openxmlformats.org/drawingml/2006/main" noGrp="1"/>
          </p:cNvSpPr>
          <p:nvPr/>
        </p:nvSpPr>
        <p:spPr>
          <a:xfrm xmlns:a="http://schemas.openxmlformats.org/drawingml/2006/main">
            <a:off x="6877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Stop</a:t>
            </a:r>
          </a:p>
        </p:txBody>
      </p:sp>
      <p:sp>
        <p:nvSpPr>
          <p:cNvPr id="61" name="s5-purpose-4">
            <a:extLst xmlns:a="http://schemas.openxmlformats.org/drawingml/2006/main">
              <a:ext uri="{FF2B5EF4-FFF2-40B4-BE49-F238E27FC236}">
                <a16:creationId xmlns:a16="http://schemas.microsoft.com/office/drawing/2014/main" id="{07BEB8A7-B5B8-4AAF-877A-A278774D3C22}"/>
              </a:ext>
            </a:extLst>
          </p:cNvPr>
          <p:cNvSpPr>
            <a:spLocks xmlns:a="http://schemas.openxmlformats.org/drawingml/2006/main" noGrp="1"/>
          </p:cNvSpPr>
          <p:nvPr/>
        </p:nvSpPr>
        <p:spPr>
          <a:xfrm xmlns:a="http://schemas.openxmlformats.org/drawingml/2006/main">
            <a:off x="6877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Interrupt the current execution</a:t>
            </a:r>
          </a:p>
        </p:txBody>
      </p:sp>
      <p:sp>
        <p:nvSpPr>
          <p:cNvPr id="62" name="s5-card-5">
            <a:extLst xmlns:a="http://schemas.openxmlformats.org/drawingml/2006/main">
              <a:ext uri="{FF2B5EF4-FFF2-40B4-BE49-F238E27FC236}">
                <a16:creationId xmlns:a16="http://schemas.microsoft.com/office/drawing/2014/main" id="{08675107-7881-49BC-A791-8BD3329C8620}"/>
              </a:ext>
            </a:extLst>
          </p:cNvPr>
          <p:cNvSpPr>
            <a:spLocks xmlns:a="http://schemas.openxmlformats.org/drawingml/2006/main" noGrp="1"/>
          </p:cNvSpPr>
          <p:nvPr/>
        </p:nvSpPr>
        <p:spPr>
          <a:xfrm xmlns:a="http://schemas.openxmlformats.org/drawingml/2006/main">
            <a:off x="830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63" name="s5-num-5">
            <a:extLst xmlns:a="http://schemas.openxmlformats.org/drawingml/2006/main">
              <a:ext uri="{FF2B5EF4-FFF2-40B4-BE49-F238E27FC236}">
                <a16:creationId xmlns:a16="http://schemas.microsoft.com/office/drawing/2014/main" id="{1D17517C-D661-4317-9558-31A29BBA8F10}"/>
              </a:ext>
            </a:extLst>
          </p:cNvPr>
          <p:cNvSpPr>
            <a:spLocks xmlns:a="http://schemas.openxmlformats.org/drawingml/2006/main" noGrp="1"/>
          </p:cNvSpPr>
          <p:nvPr/>
        </p:nvSpPr>
        <p:spPr>
          <a:xfrm xmlns:a="http://schemas.openxmlformats.org/drawingml/2006/main">
            <a:off x="842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06</a:t>
            </a:r>
          </a:p>
        </p:txBody>
      </p:sp>
      <p:sp>
        <p:nvSpPr>
          <p:cNvPr id="64" name="s5-title-5">
            <a:extLst xmlns:a="http://schemas.openxmlformats.org/drawingml/2006/main">
              <a:ext uri="{FF2B5EF4-FFF2-40B4-BE49-F238E27FC236}">
                <a16:creationId xmlns:a16="http://schemas.microsoft.com/office/drawing/2014/main" id="{97F41F15-852B-483B-8FA5-E36F705751B3}"/>
              </a:ext>
            </a:extLst>
          </p:cNvPr>
          <p:cNvSpPr>
            <a:spLocks xmlns:a="http://schemas.openxmlformats.org/drawingml/2006/main" noGrp="1"/>
          </p:cNvSpPr>
          <p:nvPr/>
        </p:nvSpPr>
        <p:spPr>
          <a:xfrm xmlns:a="http://schemas.openxmlformats.org/drawingml/2006/main">
            <a:off x="842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BUILD</a:t>
            </a:r>
          </a:p>
        </p:txBody>
      </p:sp>
      <p:sp>
        <p:nvSpPr>
          <p:cNvPr id="65" name="s5-ui-5">
            <a:extLst xmlns:a="http://schemas.openxmlformats.org/drawingml/2006/main">
              <a:ext uri="{FF2B5EF4-FFF2-40B4-BE49-F238E27FC236}">
                <a16:creationId xmlns:a16="http://schemas.microsoft.com/office/drawing/2014/main" id="{C6D7FC41-0F23-4C94-8018-B604C817EF8E}"/>
              </a:ext>
            </a:extLst>
          </p:cNvPr>
          <p:cNvSpPr>
            <a:spLocks xmlns:a="http://schemas.openxmlformats.org/drawingml/2006/main" noGrp="1"/>
          </p:cNvSpPr>
          <p:nvPr/>
        </p:nvSpPr>
        <p:spPr>
          <a:xfrm xmlns:a="http://schemas.openxmlformats.org/drawingml/2006/main">
            <a:off x="840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Apps • Ctrl+B</a:t>
            </a:r>
          </a:p>
        </p:txBody>
      </p:sp>
      <p:sp>
        <p:nvSpPr>
          <p:cNvPr id="66" name="s5-purpose-5">
            <a:extLst xmlns:a="http://schemas.openxmlformats.org/drawingml/2006/main">
              <a:ext uri="{FF2B5EF4-FFF2-40B4-BE49-F238E27FC236}">
                <a16:creationId xmlns:a16="http://schemas.microsoft.com/office/drawing/2014/main" id="{9C87DC60-98E0-4B80-B707-370324DCF766}"/>
              </a:ext>
            </a:extLst>
          </p:cNvPr>
          <p:cNvSpPr>
            <a:spLocks xmlns:a="http://schemas.openxmlformats.org/drawingml/2006/main" noGrp="1"/>
          </p:cNvSpPr>
          <p:nvPr/>
        </p:nvSpPr>
        <p:spPr>
          <a:xfrm xmlns:a="http://schemas.openxmlformats.org/drawingml/2006/main">
            <a:off x="840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Configured code generation only</a:t>
            </a:r>
          </a:p>
        </p:txBody>
      </p:sp>
      <p:sp>
        <p:nvSpPr>
          <p:cNvPr id="67" name="s5-card-6">
            <a:extLst xmlns:a="http://schemas.openxmlformats.org/drawingml/2006/main">
              <a:ext uri="{FF2B5EF4-FFF2-40B4-BE49-F238E27FC236}">
                <a16:creationId xmlns:a16="http://schemas.microsoft.com/office/drawing/2014/main" id="{025B9F82-E929-4C91-A500-9A32CF95DA42}"/>
              </a:ext>
            </a:extLst>
          </p:cNvPr>
          <p:cNvSpPr>
            <a:spLocks xmlns:a="http://schemas.openxmlformats.org/drawingml/2006/main" noGrp="1"/>
          </p:cNvSpPr>
          <p:nvPr/>
        </p:nvSpPr>
        <p:spPr>
          <a:xfrm xmlns:a="http://schemas.openxmlformats.org/drawingml/2006/main">
            <a:off x="9829800" y="1504950"/>
            <a:ext cx="1409700" cy="1676400"/>
          </a:xfrm>
          <a:prstGeom xmlns:a="http://schemas.openxmlformats.org/drawingml/2006/main" prst="roundRect">
            <a:avLst>
              <a:gd name="adj" fmla="val 8108"/>
            </a:avLst>
          </a:prstGeom>
          <a:solidFill xmlns:a="http://schemas.openxmlformats.org/drawingml/2006/main">
            <a:srgbClr val="E2F4EA"/>
          </a:solidFill>
          <a:ln xmlns:a="http://schemas.openxmlformats.org/drawingml/2006/main" w="15240">
            <a:solidFill>
              <a:srgbClr val="2CA56F"/>
            </a:solidFill>
            <a:prstDash val="solid"/>
          </a:ln>
        </p:spPr>
      </p:sp>
      <p:sp>
        <p:nvSpPr>
          <p:cNvPr id="68" name="s5-num-6">
            <a:extLst xmlns:a="http://schemas.openxmlformats.org/drawingml/2006/main">
              <a:ext uri="{FF2B5EF4-FFF2-40B4-BE49-F238E27FC236}">
                <a16:creationId xmlns:a16="http://schemas.microsoft.com/office/drawing/2014/main" id="{8C5E5289-FEE8-49EC-9B61-B28D28A50B0C}"/>
              </a:ext>
            </a:extLst>
          </p:cNvPr>
          <p:cNvSpPr>
            <a:spLocks xmlns:a="http://schemas.openxmlformats.org/drawingml/2006/main" noGrp="1"/>
          </p:cNvSpPr>
          <p:nvPr/>
        </p:nvSpPr>
        <p:spPr>
          <a:xfrm xmlns:a="http://schemas.openxmlformats.org/drawingml/2006/main">
            <a:off x="994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07</a:t>
            </a:r>
          </a:p>
        </p:txBody>
      </p:sp>
      <p:sp>
        <p:nvSpPr>
          <p:cNvPr id="69" name="s5-title-6">
            <a:extLst xmlns:a="http://schemas.openxmlformats.org/drawingml/2006/main">
              <a:ext uri="{FF2B5EF4-FFF2-40B4-BE49-F238E27FC236}">
                <a16:creationId xmlns:a16="http://schemas.microsoft.com/office/drawing/2014/main" id="{6E23A9FD-D9E1-41B4-B5B2-413CD7635D34}"/>
              </a:ext>
            </a:extLst>
          </p:cNvPr>
          <p:cNvSpPr>
            <a:spLocks xmlns:a="http://schemas.openxmlformats.org/drawingml/2006/main" noGrp="1"/>
          </p:cNvSpPr>
          <p:nvPr/>
        </p:nvSpPr>
        <p:spPr>
          <a:xfrm xmlns:a="http://schemas.openxmlformats.org/drawingml/2006/main">
            <a:off x="994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TEST</a:t>
            </a:r>
          </a:p>
        </p:txBody>
      </p:sp>
      <p:sp>
        <p:nvSpPr>
          <p:cNvPr id="70" name="s5-ui-6">
            <a:extLst xmlns:a="http://schemas.openxmlformats.org/drawingml/2006/main">
              <a:ext uri="{FF2B5EF4-FFF2-40B4-BE49-F238E27FC236}">
                <a16:creationId xmlns:a16="http://schemas.microsoft.com/office/drawing/2014/main" id="{63616C58-4D85-4662-9896-C723D65F1DA3}"/>
              </a:ext>
            </a:extLst>
          </p:cNvPr>
          <p:cNvSpPr>
            <a:spLocks xmlns:a="http://schemas.openxmlformats.org/drawingml/2006/main" noGrp="1"/>
          </p:cNvSpPr>
          <p:nvPr/>
        </p:nvSpPr>
        <p:spPr>
          <a:xfrm xmlns:a="http://schemas.openxmlformats.org/drawingml/2006/main">
            <a:off x="992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MATLAB driver</a:t>
            </a:r>
          </a:p>
        </p:txBody>
      </p:sp>
      <p:sp>
        <p:nvSpPr>
          <p:cNvPr id="71" name="s5-purpose-6">
            <a:extLst xmlns:a="http://schemas.openxmlformats.org/drawingml/2006/main">
              <a:ext uri="{FF2B5EF4-FFF2-40B4-BE49-F238E27FC236}">
                <a16:creationId xmlns:a16="http://schemas.microsoft.com/office/drawing/2014/main" id="{FC4F5BFF-EDCA-4A98-A5CF-86C9755317DC}"/>
              </a:ext>
            </a:extLst>
          </p:cNvPr>
          <p:cNvSpPr>
            <a:spLocks xmlns:a="http://schemas.openxmlformats.org/drawingml/2006/main" noGrp="1"/>
          </p:cNvSpPr>
          <p:nvPr/>
        </p:nvSpPr>
        <p:spPr>
          <a:xfrm xmlns:a="http://schemas.openxmlformats.org/drawingml/2006/main">
            <a:off x="992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Run harness assessments</a:t>
            </a:r>
          </a:p>
        </p:txBody>
      </p:sp>
      <p:sp>
        <p:nvSpPr>
          <p:cNvPr id="72" name="s5-commands">
            <a:extLst xmlns:a="http://schemas.openxmlformats.org/drawingml/2006/main">
              <a:ext uri="{FF2B5EF4-FFF2-40B4-BE49-F238E27FC236}">
                <a16:creationId xmlns:a16="http://schemas.microsoft.com/office/drawing/2014/main" id="{85D19F2F-0963-45EE-8E44-EEDC267E142F}"/>
              </a:ext>
            </a:extLst>
          </p:cNvPr>
          <p:cNvSpPr>
            <a:spLocks xmlns:a="http://schemas.openxmlformats.org/drawingml/2006/main" noGrp="1"/>
          </p:cNvSpPr>
          <p:nvPr/>
        </p:nvSpPr>
        <p:spPr>
          <a:xfrm xmlns:a="http://schemas.openxmlformats.org/drawingml/2006/main">
            <a:off x="685800" y="3429000"/>
            <a:ext cx="7067550" cy="2438400"/>
          </a:xfrm>
          <a:prstGeom xmlns:a="http://schemas.openxmlformats.org/drawingml/2006/main" prst="roundRect">
            <a:avLst>
              <a:gd name="adj" fmla="val 4688"/>
            </a:avLst>
          </a:prstGeom>
          <a:solidFill xmlns:a="http://schemas.openxmlformats.org/drawingml/2006/main">
            <a:srgbClr val="0B2438"/>
          </a:solidFill>
          <a:ln xmlns:a="http://schemas.openxmlformats.org/drawingml/2006/main" w="14288">
            <a:solidFill>
              <a:srgbClr val="20B7C5"/>
            </a:solidFill>
            <a:prstDash val="solid"/>
          </a:ln>
        </p:spPr>
      </p:sp>
      <p:sp>
        <p:nvSpPr>
          <p:cNvPr id="73" name="s5-command-title">
            <a:extLst xmlns:a="http://schemas.openxmlformats.org/drawingml/2006/main">
              <a:ext uri="{FF2B5EF4-FFF2-40B4-BE49-F238E27FC236}">
                <a16:creationId xmlns:a16="http://schemas.microsoft.com/office/drawing/2014/main" id="{1E817C45-89F9-445A-9E3E-A5552CA0411D}"/>
              </a:ext>
            </a:extLst>
          </p:cNvPr>
          <p:cNvSpPr>
            <a:spLocks xmlns:a="http://schemas.openxmlformats.org/drawingml/2006/main" noGrp="1"/>
          </p:cNvSpPr>
          <p:nvPr/>
        </p:nvSpPr>
        <p:spPr>
          <a:xfrm xmlns:a="http://schemas.openxmlformats.org/drawingml/2006/main">
            <a:off x="876300" y="35814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70DCE5"/>
                </a:solidFill>
                <a:latin typeface="Aptos"/>
                <a:ea typeface="Aptos"/>
                <a:cs typeface="Aptos"/>
              </a:defRPr>
            </a:pPr>
            <a:r>
              <a:rPr sz="1125" b="1">
                <a:solidFill>
                  <a:srgbClr val="70DCE5"/>
                </a:solidFill>
                <a:latin typeface="Aptos"/>
                <a:ea typeface="Aptos"/>
                <a:cs typeface="Aptos"/>
              </a:rPr>
              <a:t>FIRST CLOSED-LOOP SESSION — MATLAB EQUIVALENTS</a:t>
            </a:r>
          </a:p>
        </p:txBody>
      </p:sp>
      <p:sp>
        <p:nvSpPr>
          <p:cNvPr id="74" name="s5-command-body">
            <a:extLst xmlns:a="http://schemas.openxmlformats.org/drawingml/2006/main">
              <a:ext uri="{FF2B5EF4-FFF2-40B4-BE49-F238E27FC236}">
                <a16:creationId xmlns:a16="http://schemas.microsoft.com/office/drawing/2014/main" id="{7FD165C4-DAFF-4618-98CC-4992069BB6D9}"/>
              </a:ext>
            </a:extLst>
          </p:cNvPr>
          <p:cNvSpPr>
            <a:spLocks xmlns:a="http://schemas.openxmlformats.org/drawingml/2006/main" noGrp="1"/>
          </p:cNvSpPr>
          <p:nvPr/>
        </p:nvSpPr>
        <p:spPr>
          <a:xfrm xmlns:a="http://schemas.openxmlformats.org/drawingml/2006/main">
            <a:off x="876300" y="3876675"/>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projectRoot = 'D:\GitHub\aviation-controls-simulink-training';</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addpath(fullfile(projectRoot,'scripts'), fullfile(projectRoot,'models'), fullfile(projectRoot,'data'));</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initialize_training_data(projectRoot);</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open_system(fullfile(projectRoot,'models','AircraftFeedbackControlLoop.slx'));</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set_param('AircraftFeedbackControlLoop','SimulationCommand','update');</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sim('AircraftFeedbackControlLoop');</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run_pitch_rate_limiter_tests(projectRoot);</a:t>
            </a:r>
          </a:p>
        </p:txBody>
      </p:sp>
      <p:sp>
        <p:nvSpPr>
          <p:cNvPr id="75" name="s5-success">
            <a:extLst xmlns:a="http://schemas.openxmlformats.org/drawingml/2006/main">
              <a:ext uri="{FF2B5EF4-FFF2-40B4-BE49-F238E27FC236}">
                <a16:creationId xmlns:a16="http://schemas.microsoft.com/office/drawing/2014/main" id="{92571B1A-1C5E-4B40-B9DD-DDF340EC24D6}"/>
              </a:ext>
            </a:extLst>
          </p:cNvPr>
          <p:cNvSpPr>
            <a:spLocks xmlns:a="http://schemas.openxmlformats.org/drawingml/2006/main" noGrp="1"/>
          </p:cNvSpPr>
          <p:nvPr/>
        </p:nvSpPr>
        <p:spPr>
          <a:xfrm xmlns:a="http://schemas.openxmlformats.org/drawingml/2006/main">
            <a:off x="7981950" y="3429000"/>
            <a:ext cx="3524250" cy="2438400"/>
          </a:xfrm>
          <a:prstGeom xmlns:a="http://schemas.openxmlformats.org/drawingml/2006/main" prst="roundRect">
            <a:avLst>
              <a:gd name="adj" fmla="val 4688"/>
            </a:avLst>
          </a:prstGeom>
          <a:solidFill xmlns:a="http://schemas.openxmlformats.org/drawingml/2006/main">
            <a:srgbClr val="DFF6F8"/>
          </a:solidFill>
          <a:ln xmlns:a="http://schemas.openxmlformats.org/drawingml/2006/main" w="14288">
            <a:solidFill>
              <a:srgbClr val="20B7C5"/>
            </a:solidFill>
            <a:prstDash val="solid"/>
          </a:ln>
        </p:spPr>
      </p:sp>
      <p:sp>
        <p:nvSpPr>
          <p:cNvPr id="76" name="s5-success-title">
            <a:extLst xmlns:a="http://schemas.openxmlformats.org/drawingml/2006/main">
              <a:ext uri="{FF2B5EF4-FFF2-40B4-BE49-F238E27FC236}">
                <a16:creationId xmlns:a16="http://schemas.microsoft.com/office/drawing/2014/main" id="{3F72605F-E776-43FE-86FB-AF0F0B413DBE}"/>
              </a:ext>
            </a:extLst>
          </p:cNvPr>
          <p:cNvSpPr>
            <a:spLocks xmlns:a="http://schemas.openxmlformats.org/drawingml/2006/main" noGrp="1"/>
          </p:cNvSpPr>
          <p:nvPr/>
        </p:nvSpPr>
        <p:spPr>
          <a:xfrm xmlns:a="http://schemas.openxmlformats.org/drawingml/2006/main">
            <a:off x="8172450" y="35814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SUCCESS LOOKS LIKE</a:t>
            </a:r>
          </a:p>
        </p:txBody>
      </p:sp>
      <p:sp>
        <p:nvSpPr>
          <p:cNvPr id="77" name="s5-success-body">
            <a:extLst xmlns:a="http://schemas.openxmlformats.org/drawingml/2006/main">
              <a:ext uri="{FF2B5EF4-FFF2-40B4-BE49-F238E27FC236}">
                <a16:creationId xmlns:a16="http://schemas.microsoft.com/office/drawing/2014/main" id="{CE77437A-C5F1-484E-B302-A4C9C7257F79}"/>
              </a:ext>
            </a:extLst>
          </p:cNvPr>
          <p:cNvSpPr>
            <a:spLocks xmlns:a="http://schemas.openxmlformats.org/drawingml/2006/main" noGrp="1"/>
          </p:cNvSpPr>
          <p:nvPr/>
        </p:nvSpPr>
        <p:spPr>
          <a:xfrm xmlns:a="http://schemas.openxmlformats.org/drawingml/2006/main">
            <a:off x="8172450" y="388620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Training data dictionary ready</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Update completes without an error</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Simulation outputs appear under results/</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Limiter driver writes CSV + MAT</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Human-readable HTML + PNG appear under reports/</a:t>
            </a:r>
          </a:p>
          <a:p xmlns:a="http://schemas.openxmlformats.org/drawingml/2006/main">
            <a:r>
              <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Build remains optional and scope-dependent; no production-code claim is made.</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01 • FIRST SESSION</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32" name="s6-image-frame">
            <a:extLst xmlns:a="http://schemas.openxmlformats.org/drawingml/2006/main">
              <a:ext uri="{FF2B5EF4-FFF2-40B4-BE49-F238E27FC236}">
                <a16:creationId xmlns:a16="http://schemas.microsoft.com/office/drawing/2014/main" id="{7E4D3621-D256-4834-B23D-BF619F1A5541}"/>
              </a:ext>
            </a:extLst>
          </p:cNvPr>
          <p:cNvSpPr>
            <a:spLocks xmlns:a="http://schemas.openxmlformats.org/drawingml/2006/main" noGrp="1"/>
          </p:cNvSpPr>
          <p:nvPr/>
        </p:nvSpPr>
        <p:spPr>
          <a:xfrm xmlns:a="http://schemas.openxmlformats.org/drawingml/2006/main">
            <a:off x="609600" y="1381125"/>
            <a:ext cx="76962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b1f7ddacffd44cb6"/>
          <a:stretch xmlns:a="http://schemas.openxmlformats.org/drawingml/2006/main"/>
        </p:blipFill>
        <p:spPr>
          <a:xfrm xmlns:a="http://schemas.openxmlformats.org/drawingml/2006/main">
            <a:off x="685800" y="1611154"/>
            <a:ext cx="7543800" cy="4054793"/>
          </a:xfrm>
          <a:prstGeom xmlns:a="http://schemas.openxmlformats.org/drawingml/2006/main" prst="rect">
            <a:avLst/>
          </a:prstGeom>
        </p:spPr>
      </p:pic>
      <p:sp>
        <p:nvSpPr>
          <p:cNvPr id="34" name="s6-tab-0">
            <a:extLst xmlns:a="http://schemas.openxmlformats.org/drawingml/2006/main">
              <a:ext uri="{FF2B5EF4-FFF2-40B4-BE49-F238E27FC236}">
                <a16:creationId xmlns:a16="http://schemas.microsoft.com/office/drawing/2014/main" id="{688AAE4E-5CDE-4B71-A130-9953EC669FAE}"/>
              </a:ext>
            </a:extLst>
          </p:cNvPr>
          <p:cNvSpPr>
            <a:spLocks xmlns:a="http://schemas.openxmlformats.org/drawingml/2006/main" noGrp="1"/>
          </p:cNvSpPr>
          <p:nvPr/>
        </p:nvSpPr>
        <p:spPr>
          <a:xfrm xmlns:a="http://schemas.openxmlformats.org/drawingml/2006/main">
            <a:off x="8515350" y="1438275"/>
            <a:ext cx="2990850" cy="723900"/>
          </a:xfrm>
          <a:prstGeom xmlns:a="http://schemas.openxmlformats.org/drawingml/2006/main" prst="roundRect">
            <a:avLst>
              <a:gd name="adj" fmla="val 15789"/>
            </a:avLst>
          </a:prstGeom>
          <a:solidFill xmlns:a="http://schemas.openxmlformats.org/drawingml/2006/main">
            <a:srgbClr val="DFF6F8"/>
          </a:solidFill>
          <a:ln xmlns:a="http://schemas.openxmlformats.org/drawingml/2006/main" w="16193">
            <a:solidFill>
              <a:srgbClr val="20B7C5"/>
            </a:solidFill>
            <a:prstDash val="solid"/>
          </a:ln>
        </p:spPr>
      </p:sp>
      <p:sp>
        <p:nvSpPr>
          <p:cNvPr id="35" name="s6-tab-title-0">
            <a:extLst xmlns:a="http://schemas.openxmlformats.org/drawingml/2006/main">
              <a:ext uri="{FF2B5EF4-FFF2-40B4-BE49-F238E27FC236}">
                <a16:creationId xmlns:a16="http://schemas.microsoft.com/office/drawing/2014/main" id="{6A32506A-3C4E-40FD-932A-0A83D387D428}"/>
              </a:ext>
            </a:extLst>
          </p:cNvPr>
          <p:cNvSpPr>
            <a:spLocks xmlns:a="http://schemas.openxmlformats.org/drawingml/2006/main" noGrp="1"/>
          </p:cNvSpPr>
          <p:nvPr/>
        </p:nvSpPr>
        <p:spPr>
          <a:xfrm xmlns:a="http://schemas.openxmlformats.org/drawingml/2006/main">
            <a:off x="8667750" y="15144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0B7C5"/>
                </a:solidFill>
                <a:latin typeface="Aptos"/>
                <a:ea typeface="Aptos"/>
                <a:cs typeface="Aptos"/>
              </a:defRPr>
            </a:pPr>
            <a:r>
              <a:rPr sz="1238" b="1">
                <a:solidFill>
                  <a:srgbClr val="20B7C5"/>
                </a:solidFill>
                <a:latin typeface="Aptos"/>
                <a:ea typeface="Aptos"/>
                <a:cs typeface="Aptos"/>
              </a:rPr>
              <a:t>SIMULATION</a:t>
            </a:r>
          </a:p>
        </p:txBody>
      </p:sp>
      <p:sp>
        <p:nvSpPr>
          <p:cNvPr id="36" name="s6-tab-body-0">
            <a:extLst xmlns:a="http://schemas.openxmlformats.org/drawingml/2006/main">
              <a:ext uri="{FF2B5EF4-FFF2-40B4-BE49-F238E27FC236}">
                <a16:creationId xmlns:a16="http://schemas.microsoft.com/office/drawing/2014/main" id="{5896908B-1108-48F7-9E3F-5C5E9599C079}"/>
              </a:ext>
            </a:extLst>
          </p:cNvPr>
          <p:cNvSpPr>
            <a:spLocks xmlns:a="http://schemas.openxmlformats.org/drawingml/2006/main" noGrp="1"/>
          </p:cNvSpPr>
          <p:nvPr/>
        </p:nvSpPr>
        <p:spPr>
          <a:xfrm xmlns:a="http://schemas.openxmlformats.org/drawingml/2006/main">
            <a:off x="8667750" y="17430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Open • Run • Stop • Data Inspector</a:t>
            </a:r>
          </a:p>
        </p:txBody>
      </p:sp>
      <p:sp>
        <p:nvSpPr>
          <p:cNvPr id="37" name="s6-tab-1">
            <a:extLst xmlns:a="http://schemas.openxmlformats.org/drawingml/2006/main">
              <a:ext uri="{FF2B5EF4-FFF2-40B4-BE49-F238E27FC236}">
                <a16:creationId xmlns:a16="http://schemas.microsoft.com/office/drawing/2014/main" id="{9A84B7BA-4B05-44DA-8D43-CC68931AD1B3}"/>
              </a:ext>
            </a:extLst>
          </p:cNvPr>
          <p:cNvSpPr>
            <a:spLocks xmlns:a="http://schemas.openxmlformats.org/drawingml/2006/main" noGrp="1"/>
          </p:cNvSpPr>
          <p:nvPr/>
        </p:nvSpPr>
        <p:spPr>
          <a:xfrm xmlns:a="http://schemas.openxmlformats.org/drawingml/2006/main">
            <a:off x="8515350" y="2305050"/>
            <a:ext cx="2990850" cy="723900"/>
          </a:xfrm>
          <a:prstGeom xmlns:a="http://schemas.openxmlformats.org/drawingml/2006/main" prst="roundRect">
            <a:avLst>
              <a:gd name="adj" fmla="val 15789"/>
            </a:avLst>
          </a:prstGeom>
          <a:solidFill xmlns:a="http://schemas.openxmlformats.org/drawingml/2006/main">
            <a:srgbClr val="E2ECFF"/>
          </a:solidFill>
          <a:ln xmlns:a="http://schemas.openxmlformats.org/drawingml/2006/main" w="16193">
            <a:solidFill>
              <a:srgbClr val="2D6CDF"/>
            </a:solidFill>
            <a:prstDash val="solid"/>
          </a:ln>
        </p:spPr>
      </p:sp>
      <p:sp>
        <p:nvSpPr>
          <p:cNvPr id="38" name="s6-tab-title-1">
            <a:extLst xmlns:a="http://schemas.openxmlformats.org/drawingml/2006/main">
              <a:ext uri="{FF2B5EF4-FFF2-40B4-BE49-F238E27FC236}">
                <a16:creationId xmlns:a16="http://schemas.microsoft.com/office/drawing/2014/main" id="{2AA31357-A329-4BF9-B1F0-B6F6C3EBAAA2}"/>
              </a:ext>
            </a:extLst>
          </p:cNvPr>
          <p:cNvSpPr>
            <a:spLocks xmlns:a="http://schemas.openxmlformats.org/drawingml/2006/main" noGrp="1"/>
          </p:cNvSpPr>
          <p:nvPr/>
        </p:nvSpPr>
        <p:spPr>
          <a:xfrm xmlns:a="http://schemas.openxmlformats.org/drawingml/2006/main">
            <a:off x="8667750" y="238125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D6CDF"/>
                </a:solidFill>
                <a:latin typeface="Aptos"/>
                <a:ea typeface="Aptos"/>
                <a:cs typeface="Aptos"/>
              </a:defRPr>
            </a:pPr>
            <a:r>
              <a:rPr sz="1238" b="1">
                <a:solidFill>
                  <a:srgbClr val="2D6CDF"/>
                </a:solidFill>
                <a:latin typeface="Aptos"/>
                <a:ea typeface="Aptos"/>
                <a:cs typeface="Aptos"/>
              </a:rPr>
              <a:t>DEBUG</a:t>
            </a:r>
          </a:p>
        </p:txBody>
      </p:sp>
      <p:sp>
        <p:nvSpPr>
          <p:cNvPr id="39" name="s6-tab-body-1">
            <a:extLst xmlns:a="http://schemas.openxmlformats.org/drawingml/2006/main">
              <a:ext uri="{FF2B5EF4-FFF2-40B4-BE49-F238E27FC236}">
                <a16:creationId xmlns:a16="http://schemas.microsoft.com/office/drawing/2014/main" id="{390E1D10-1067-4731-ADB8-859EAC1A4F20}"/>
              </a:ext>
            </a:extLst>
          </p:cNvPr>
          <p:cNvSpPr>
            <a:spLocks xmlns:a="http://schemas.openxmlformats.org/drawingml/2006/main" noGrp="1"/>
          </p:cNvSpPr>
          <p:nvPr/>
        </p:nvSpPr>
        <p:spPr>
          <a:xfrm xmlns:a="http://schemas.openxmlformats.org/drawingml/2006/main">
            <a:off x="8667750" y="2609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Diagnostics • Information Overlays</a:t>
            </a:r>
          </a:p>
        </p:txBody>
      </p:sp>
      <p:sp>
        <p:nvSpPr>
          <p:cNvPr id="40" name="s6-tab-2">
            <a:extLst xmlns:a="http://schemas.openxmlformats.org/drawingml/2006/main">
              <a:ext uri="{FF2B5EF4-FFF2-40B4-BE49-F238E27FC236}">
                <a16:creationId xmlns:a16="http://schemas.microsoft.com/office/drawing/2014/main" id="{17C9E070-963F-4933-A752-FBA77503CF7B}"/>
              </a:ext>
            </a:extLst>
          </p:cNvPr>
          <p:cNvSpPr>
            <a:spLocks xmlns:a="http://schemas.openxmlformats.org/drawingml/2006/main" noGrp="1"/>
          </p:cNvSpPr>
          <p:nvPr/>
        </p:nvSpPr>
        <p:spPr>
          <a:xfrm xmlns:a="http://schemas.openxmlformats.org/drawingml/2006/main">
            <a:off x="8515350" y="3171825"/>
            <a:ext cx="2990850" cy="723900"/>
          </a:xfrm>
          <a:prstGeom xmlns:a="http://schemas.openxmlformats.org/drawingml/2006/main" prst="roundRect">
            <a:avLst>
              <a:gd name="adj" fmla="val 15789"/>
            </a:avLst>
          </a:prstGeom>
          <a:solidFill xmlns:a="http://schemas.openxmlformats.org/drawingml/2006/main">
            <a:srgbClr val="E2F4EA"/>
          </a:solidFill>
          <a:ln xmlns:a="http://schemas.openxmlformats.org/drawingml/2006/main" w="16193">
            <a:solidFill>
              <a:srgbClr val="2CA56F"/>
            </a:solidFill>
            <a:prstDash val="solid"/>
          </a:ln>
        </p:spPr>
      </p:sp>
      <p:sp>
        <p:nvSpPr>
          <p:cNvPr id="41" name="s6-tab-title-2">
            <a:extLst xmlns:a="http://schemas.openxmlformats.org/drawingml/2006/main">
              <a:ext uri="{FF2B5EF4-FFF2-40B4-BE49-F238E27FC236}">
                <a16:creationId xmlns:a16="http://schemas.microsoft.com/office/drawing/2014/main" id="{A82CF547-819E-4549-B7AA-1F88DDC7A404}"/>
              </a:ext>
            </a:extLst>
          </p:cNvPr>
          <p:cNvSpPr>
            <a:spLocks xmlns:a="http://schemas.openxmlformats.org/drawingml/2006/main" noGrp="1"/>
          </p:cNvSpPr>
          <p:nvPr/>
        </p:nvSpPr>
        <p:spPr>
          <a:xfrm xmlns:a="http://schemas.openxmlformats.org/drawingml/2006/main">
            <a:off x="8667750" y="324802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CA56F"/>
                </a:solidFill>
                <a:latin typeface="Aptos"/>
                <a:ea typeface="Aptos"/>
                <a:cs typeface="Aptos"/>
              </a:defRPr>
            </a:pPr>
            <a:r>
              <a:rPr sz="1238" b="1">
                <a:solidFill>
                  <a:srgbClr val="2CA56F"/>
                </a:solidFill>
                <a:latin typeface="Aptos"/>
                <a:ea typeface="Aptos"/>
                <a:cs typeface="Aptos"/>
              </a:rPr>
              <a:t>MODELING</a:t>
            </a:r>
          </a:p>
        </p:txBody>
      </p:sp>
      <p:sp>
        <p:nvSpPr>
          <p:cNvPr id="42" name="s6-tab-body-2">
            <a:extLst xmlns:a="http://schemas.openxmlformats.org/drawingml/2006/main">
              <a:ext uri="{FF2B5EF4-FFF2-40B4-BE49-F238E27FC236}">
                <a16:creationId xmlns:a16="http://schemas.microsoft.com/office/drawing/2014/main" id="{3D6B0CBE-DE7E-436D-A0F8-4CA389F5EBC6}"/>
              </a:ext>
            </a:extLst>
          </p:cNvPr>
          <p:cNvSpPr>
            <a:spLocks xmlns:a="http://schemas.openxmlformats.org/drawingml/2006/main" noGrp="1"/>
          </p:cNvSpPr>
          <p:nvPr/>
        </p:nvSpPr>
        <p:spPr>
          <a:xfrm xmlns:a="http://schemas.openxmlformats.org/drawingml/2006/main">
            <a:off x="8667750" y="347662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Update Model • configuration</a:t>
            </a:r>
          </a:p>
        </p:txBody>
      </p:sp>
      <p:sp>
        <p:nvSpPr>
          <p:cNvPr id="43" name="s6-tab-3">
            <a:extLst xmlns:a="http://schemas.openxmlformats.org/drawingml/2006/main">
              <a:ext uri="{FF2B5EF4-FFF2-40B4-BE49-F238E27FC236}">
                <a16:creationId xmlns:a16="http://schemas.microsoft.com/office/drawing/2014/main" id="{19EE6152-AE59-40A9-B3D3-4A282E8168CB}"/>
              </a:ext>
            </a:extLst>
          </p:cNvPr>
          <p:cNvSpPr>
            <a:spLocks xmlns:a="http://schemas.openxmlformats.org/drawingml/2006/main" noGrp="1"/>
          </p:cNvSpPr>
          <p:nvPr/>
        </p:nvSpPr>
        <p:spPr>
          <a:xfrm xmlns:a="http://schemas.openxmlformats.org/drawingml/2006/main">
            <a:off x="8515350" y="4038600"/>
            <a:ext cx="2990850" cy="723900"/>
          </a:xfrm>
          <a:prstGeom xmlns:a="http://schemas.openxmlformats.org/drawingml/2006/main" prst="roundRect">
            <a:avLst>
              <a:gd name="adj" fmla="val 15789"/>
            </a:avLst>
          </a:prstGeom>
          <a:solidFill xmlns:a="http://schemas.openxmlformats.org/drawingml/2006/main">
            <a:srgbClr val="FFF0D7"/>
          </a:solidFill>
          <a:ln xmlns:a="http://schemas.openxmlformats.org/drawingml/2006/main" w="16193">
            <a:solidFill>
              <a:srgbClr val="E9A23B"/>
            </a:solidFill>
            <a:prstDash val="solid"/>
          </a:ln>
        </p:spPr>
      </p:sp>
      <p:sp>
        <p:nvSpPr>
          <p:cNvPr id="44" name="s6-tab-title-3">
            <a:extLst xmlns:a="http://schemas.openxmlformats.org/drawingml/2006/main">
              <a:ext uri="{FF2B5EF4-FFF2-40B4-BE49-F238E27FC236}">
                <a16:creationId xmlns:a16="http://schemas.microsoft.com/office/drawing/2014/main" id="{04248D1C-3725-4452-A868-6E04EE18AB49}"/>
              </a:ext>
            </a:extLst>
          </p:cNvPr>
          <p:cNvSpPr>
            <a:spLocks xmlns:a="http://schemas.openxmlformats.org/drawingml/2006/main" noGrp="1"/>
          </p:cNvSpPr>
          <p:nvPr/>
        </p:nvSpPr>
        <p:spPr>
          <a:xfrm xmlns:a="http://schemas.openxmlformats.org/drawingml/2006/main">
            <a:off x="8667750" y="411480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E9A23B"/>
                </a:solidFill>
                <a:latin typeface="Aptos"/>
                <a:ea typeface="Aptos"/>
                <a:cs typeface="Aptos"/>
              </a:defRPr>
            </a:pPr>
            <a:r>
              <a:rPr sz="1238" b="1">
                <a:solidFill>
                  <a:srgbClr val="E9A23B"/>
                </a:solidFill>
                <a:latin typeface="Aptos"/>
                <a:ea typeface="Aptos"/>
                <a:cs typeface="Aptos"/>
              </a:rPr>
              <a:t>FORMAT</a:t>
            </a:r>
          </a:p>
        </p:txBody>
      </p:sp>
      <p:sp>
        <p:nvSpPr>
          <p:cNvPr id="45" name="s6-tab-body-3">
            <a:extLst xmlns:a="http://schemas.openxmlformats.org/drawingml/2006/main">
              <a:ext uri="{FF2B5EF4-FFF2-40B4-BE49-F238E27FC236}">
                <a16:creationId xmlns:a16="http://schemas.microsoft.com/office/drawing/2014/main" id="{FCBBFD77-37F1-409E-948C-0E4A0AAF0ABC}"/>
              </a:ext>
            </a:extLst>
          </p:cNvPr>
          <p:cNvSpPr>
            <a:spLocks xmlns:a="http://schemas.openxmlformats.org/drawingml/2006/main" noGrp="1"/>
          </p:cNvSpPr>
          <p:nvPr/>
        </p:nvSpPr>
        <p:spPr>
          <a:xfrm xmlns:a="http://schemas.openxmlformats.org/drawingml/2006/main">
            <a:off x="8667750" y="4343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Layout • labels • visual review</a:t>
            </a:r>
          </a:p>
        </p:txBody>
      </p:sp>
      <p:sp>
        <p:nvSpPr>
          <p:cNvPr id="46" name="s6-tab-4">
            <a:extLst xmlns:a="http://schemas.openxmlformats.org/drawingml/2006/main">
              <a:ext uri="{FF2B5EF4-FFF2-40B4-BE49-F238E27FC236}">
                <a16:creationId xmlns:a16="http://schemas.microsoft.com/office/drawing/2014/main" id="{0D47FB3B-8BC7-4332-9F7D-403550E6C085}"/>
              </a:ext>
            </a:extLst>
          </p:cNvPr>
          <p:cNvSpPr>
            <a:spLocks xmlns:a="http://schemas.openxmlformats.org/drawingml/2006/main" noGrp="1"/>
          </p:cNvSpPr>
          <p:nvPr/>
        </p:nvSpPr>
        <p:spPr>
          <a:xfrm xmlns:a="http://schemas.openxmlformats.org/drawingml/2006/main">
            <a:off x="8515350" y="4905375"/>
            <a:ext cx="2990850" cy="723900"/>
          </a:xfrm>
          <a:prstGeom xmlns:a="http://schemas.openxmlformats.org/drawingml/2006/main" prst="roundRect">
            <a:avLst>
              <a:gd name="adj" fmla="val 15789"/>
            </a:avLst>
          </a:prstGeom>
          <a:solidFill xmlns:a="http://schemas.openxmlformats.org/drawingml/2006/main">
            <a:srgbClr val="FBE7E9"/>
          </a:solidFill>
          <a:ln xmlns:a="http://schemas.openxmlformats.org/drawingml/2006/main" w="16193">
            <a:solidFill>
              <a:srgbClr val="D75A64"/>
            </a:solidFill>
            <a:prstDash val="solid"/>
          </a:ln>
        </p:spPr>
      </p:sp>
      <p:sp>
        <p:nvSpPr>
          <p:cNvPr id="47" name="s6-tab-title-4">
            <a:extLst xmlns:a="http://schemas.openxmlformats.org/drawingml/2006/main">
              <a:ext uri="{FF2B5EF4-FFF2-40B4-BE49-F238E27FC236}">
                <a16:creationId xmlns:a16="http://schemas.microsoft.com/office/drawing/2014/main" id="{3EB1C2A7-7082-4C42-8BBE-FEB592C7F908}"/>
              </a:ext>
            </a:extLst>
          </p:cNvPr>
          <p:cNvSpPr>
            <a:spLocks xmlns:a="http://schemas.openxmlformats.org/drawingml/2006/main" noGrp="1"/>
          </p:cNvSpPr>
          <p:nvPr/>
        </p:nvSpPr>
        <p:spPr>
          <a:xfrm xmlns:a="http://schemas.openxmlformats.org/drawingml/2006/main">
            <a:off x="8667750" y="49815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D75A64"/>
                </a:solidFill>
                <a:latin typeface="Aptos"/>
                <a:ea typeface="Aptos"/>
                <a:cs typeface="Aptos"/>
              </a:defRPr>
            </a:pPr>
            <a:r>
              <a:rPr sz="1238" b="1">
                <a:solidFill>
                  <a:srgbClr val="D75A64"/>
                </a:solidFill>
                <a:latin typeface="Aptos"/>
                <a:ea typeface="Aptos"/>
                <a:cs typeface="Aptos"/>
              </a:rPr>
              <a:t>APPS</a:t>
            </a:r>
          </a:p>
        </p:txBody>
      </p:sp>
      <p:sp>
        <p:nvSpPr>
          <p:cNvPr id="48" name="s6-tab-body-4">
            <a:extLst xmlns:a="http://schemas.openxmlformats.org/drawingml/2006/main">
              <a:ext uri="{FF2B5EF4-FFF2-40B4-BE49-F238E27FC236}">
                <a16:creationId xmlns:a16="http://schemas.microsoft.com/office/drawing/2014/main" id="{3D40F04B-11F8-414B-9C02-3579BAE7EE9A}"/>
              </a:ext>
            </a:extLst>
          </p:cNvPr>
          <p:cNvSpPr>
            <a:spLocks xmlns:a="http://schemas.openxmlformats.org/drawingml/2006/main" noGrp="1"/>
          </p:cNvSpPr>
          <p:nvPr/>
        </p:nvSpPr>
        <p:spPr>
          <a:xfrm xmlns:a="http://schemas.openxmlformats.org/drawingml/2006/main">
            <a:off x="8667750" y="52101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Testing tools • code generation</a:t>
            </a:r>
          </a:p>
        </p:txBody>
      </p:sp>
      <p:sp>
        <p:nvSpPr>
          <p:cNvPr id="49" name="s6-caption">
            <a:extLst xmlns:a="http://schemas.openxmlformats.org/drawingml/2006/main">
              <a:ext uri="{FF2B5EF4-FFF2-40B4-BE49-F238E27FC236}">
                <a16:creationId xmlns:a16="http://schemas.microsoft.com/office/drawing/2014/main" id="{D8D4447C-FFCD-4FA5-A011-563152BEB398}"/>
              </a:ext>
            </a:extLst>
          </p:cNvPr>
          <p:cNvSpPr>
            <a:spLocks xmlns:a="http://schemas.openxmlformats.org/drawingml/2006/main" noGrp="1"/>
          </p:cNvSpPr>
          <p:nvPr/>
        </p:nvSpPr>
        <p:spPr>
          <a:xfrm xmlns:a="http://schemas.openxmlformats.org/drawingml/2006/main">
            <a:off x="685800" y="5953125"/>
            <a:ext cx="10820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17324A"/>
                </a:solidFill>
                <a:latin typeface="Aptos"/>
                <a:ea typeface="Aptos"/>
                <a:cs typeface="Aptos"/>
              </a:defRPr>
            </a:pPr>
            <a:r>
              <a:rPr sz="1200" b="1">
                <a:solidFill>
                  <a:srgbClr val="17324A"/>
                </a:solidFill>
                <a:latin typeface="Aptos"/>
                <a:ea typeface="Aptos"/>
                <a:cs typeface="Aptos"/>
              </a:rPr>
              <a:t>Select the tab, then the action. Open, update, run, stop, build, and test create different engineering states and evidence.</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de75ddb3ca954b1b"/>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35" name="s24-image-frame">
            <a:extLst xmlns:a="http://schemas.openxmlformats.org/drawingml/2006/main">
              <a:ext uri="{FF2B5EF4-FFF2-40B4-BE49-F238E27FC236}">
                <a16:creationId xmlns:a16="http://schemas.microsoft.com/office/drawing/2014/main" id="{9C6E250C-2E90-48B6-8A9F-B7E3EABBB44A}"/>
              </a:ext>
            </a:extLst>
          </p:cNvPr>
          <p:cNvSpPr>
            <a:spLocks xmlns:a="http://schemas.openxmlformats.org/drawingml/2006/main" noGrp="1"/>
          </p:cNvSpPr>
          <p:nvPr/>
        </p:nvSpPr>
        <p:spPr>
          <a:xfrm xmlns:a="http://schemas.openxmlformats.org/drawingml/2006/main">
            <a:off x="609600" y="1381125"/>
            <a:ext cx="8572500" cy="4629150"/>
          </a:xfrm>
          <a:prstGeom xmlns:a="http://schemas.openxmlformats.org/drawingml/2006/main" prst="roundRect">
            <a:avLst>
              <a:gd name="adj" fmla="val 2469"/>
            </a:avLst>
          </a:prstGeom>
          <a:solidFill xmlns:a="http://schemas.openxmlformats.org/drawingml/2006/main">
            <a:srgbClr val="FFFFFF"/>
          </a:solidFill>
          <a:ln xmlns:a="http://schemas.openxmlformats.org/drawingml/2006/main" w="11430">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19cd1b8b44894f60"/>
          <a:stretch xmlns:a="http://schemas.openxmlformats.org/drawingml/2006/main"/>
        </p:blipFill>
        <p:spPr>
          <a:xfrm xmlns:a="http://schemas.openxmlformats.org/drawingml/2006/main">
            <a:off x="731431" y="1457325"/>
            <a:ext cx="8328837" cy="4476750"/>
          </a:xfrm>
          <a:prstGeom xmlns:a="http://schemas.openxmlformats.org/drawingml/2006/main" prst="rect">
            <a:avLst/>
          </a:prstGeom>
        </p:spPr>
      </p:pic>
      <p:sp>
        <p:nvSpPr>
          <p:cNvPr id="37" name="s24-card-0">
            <a:extLst xmlns:a="http://schemas.openxmlformats.org/drawingml/2006/main">
              <a:ext uri="{FF2B5EF4-FFF2-40B4-BE49-F238E27FC236}">
                <a16:creationId xmlns:a16="http://schemas.microsoft.com/office/drawing/2014/main" id="{140640F1-93F1-4E21-84C7-70AFDA518C0F}"/>
              </a:ext>
            </a:extLst>
          </p:cNvPr>
          <p:cNvSpPr>
            <a:spLocks xmlns:a="http://schemas.openxmlformats.org/drawingml/2006/main" noGrp="1"/>
          </p:cNvSpPr>
          <p:nvPr/>
        </p:nvSpPr>
        <p:spPr>
          <a:xfrm xmlns:a="http://schemas.openxmlformats.org/drawingml/2006/main">
            <a:off x="9391650" y="143827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38" name="s24-card-title-0">
            <a:extLst xmlns:a="http://schemas.openxmlformats.org/drawingml/2006/main">
              <a:ext uri="{FF2B5EF4-FFF2-40B4-BE49-F238E27FC236}">
                <a16:creationId xmlns:a16="http://schemas.microsoft.com/office/drawing/2014/main" id="{5395C24F-C743-461D-B1EA-01A256E625C2}"/>
              </a:ext>
            </a:extLst>
          </p:cNvPr>
          <p:cNvSpPr>
            <a:spLocks xmlns:a="http://schemas.openxmlformats.org/drawingml/2006/main" noGrp="1"/>
          </p:cNvSpPr>
          <p:nvPr/>
        </p:nvSpPr>
        <p:spPr>
          <a:xfrm xmlns:a="http://schemas.openxmlformats.org/drawingml/2006/main">
            <a:off x="9525000" y="15240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ONE RUN</a:t>
            </a:r>
          </a:p>
        </p:txBody>
      </p:sp>
      <p:sp>
        <p:nvSpPr>
          <p:cNvPr id="39" name="s24-card-body-0">
            <a:extLst xmlns:a="http://schemas.openxmlformats.org/drawingml/2006/main">
              <a:ext uri="{FF2B5EF4-FFF2-40B4-BE49-F238E27FC236}">
                <a16:creationId xmlns:a16="http://schemas.microsoft.com/office/drawing/2014/main" id="{5B0EB02F-2A45-4BED-BF25-F02BECF5CA4C}"/>
              </a:ext>
            </a:extLst>
          </p:cNvPr>
          <p:cNvSpPr>
            <a:spLocks xmlns:a="http://schemas.openxmlformats.org/drawingml/2006/main" noGrp="1"/>
          </p:cNvSpPr>
          <p:nvPr/>
        </p:nvSpPr>
        <p:spPr>
          <a:xfrm xmlns:a="http://schemas.openxmlformats.org/drawingml/2006/main">
            <a:off x="9525000" y="177165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AircraftFeedbackControlLoop — onboarding reference</a:t>
            </a:r>
          </a:p>
        </p:txBody>
      </p:sp>
      <p:sp>
        <p:nvSpPr>
          <p:cNvPr id="40" name="s24-card-1">
            <a:extLst xmlns:a="http://schemas.openxmlformats.org/drawingml/2006/main">
              <a:ext uri="{FF2B5EF4-FFF2-40B4-BE49-F238E27FC236}">
                <a16:creationId xmlns:a16="http://schemas.microsoft.com/office/drawing/2014/main" id="{7F24A3C1-D346-471F-AD75-FA41CF3B67FA}"/>
              </a:ext>
            </a:extLst>
          </p:cNvPr>
          <p:cNvSpPr>
            <a:spLocks xmlns:a="http://schemas.openxmlformats.org/drawingml/2006/main" noGrp="1"/>
          </p:cNvSpPr>
          <p:nvPr/>
        </p:nvSpPr>
        <p:spPr>
          <a:xfrm xmlns:a="http://schemas.openxmlformats.org/drawingml/2006/main">
            <a:off x="9391650" y="2533650"/>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1" name="s24-card-title-1">
            <a:extLst xmlns:a="http://schemas.openxmlformats.org/drawingml/2006/main">
              <a:ext uri="{FF2B5EF4-FFF2-40B4-BE49-F238E27FC236}">
                <a16:creationId xmlns:a16="http://schemas.microsoft.com/office/drawing/2014/main" id="{4C2D4B3F-19D7-458B-B79B-5AFE40A617AB}"/>
              </a:ext>
            </a:extLst>
          </p:cNvPr>
          <p:cNvSpPr>
            <a:spLocks xmlns:a="http://schemas.openxmlformats.org/drawingml/2006/main" noGrp="1"/>
          </p:cNvSpPr>
          <p:nvPr/>
        </p:nvSpPr>
        <p:spPr>
          <a:xfrm xmlns:a="http://schemas.openxmlformats.org/drawingml/2006/main">
            <a:off x="9525000" y="261937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FIVE SIGNALS</a:t>
            </a:r>
          </a:p>
        </p:txBody>
      </p:sp>
      <p:sp>
        <p:nvSpPr>
          <p:cNvPr id="42" name="s24-card-body-1">
            <a:extLst xmlns:a="http://schemas.openxmlformats.org/drawingml/2006/main">
              <a:ext uri="{FF2B5EF4-FFF2-40B4-BE49-F238E27FC236}">
                <a16:creationId xmlns:a16="http://schemas.microsoft.com/office/drawing/2014/main" id="{787B5260-6B3E-44FE-85F7-3E4CC0250664}"/>
              </a:ext>
            </a:extLst>
          </p:cNvPr>
          <p:cNvSpPr>
            <a:spLocks xmlns:a="http://schemas.openxmlformats.org/drawingml/2006/main" noGrp="1"/>
          </p:cNvSpPr>
          <p:nvPr/>
        </p:nvSpPr>
        <p:spPr>
          <a:xfrm xmlns:a="http://schemas.openxmlformats.org/drawingml/2006/main">
            <a:off x="9525000" y="28670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command • response • error • actuator • disturbance</a:t>
            </a:r>
          </a:p>
        </p:txBody>
      </p:sp>
      <p:sp>
        <p:nvSpPr>
          <p:cNvPr id="43" name="s24-card-2">
            <a:extLst xmlns:a="http://schemas.openxmlformats.org/drawingml/2006/main">
              <a:ext uri="{FF2B5EF4-FFF2-40B4-BE49-F238E27FC236}">
                <a16:creationId xmlns:a16="http://schemas.microsoft.com/office/drawing/2014/main" id="{F115FBD4-E640-4923-8E58-4008CD2CDFB0}"/>
              </a:ext>
            </a:extLst>
          </p:cNvPr>
          <p:cNvSpPr>
            <a:spLocks xmlns:a="http://schemas.openxmlformats.org/drawingml/2006/main" noGrp="1"/>
          </p:cNvSpPr>
          <p:nvPr/>
        </p:nvSpPr>
        <p:spPr>
          <a:xfrm xmlns:a="http://schemas.openxmlformats.org/drawingml/2006/main">
            <a:off x="9391650" y="362902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4" name="s24-card-title-2">
            <a:extLst xmlns:a="http://schemas.openxmlformats.org/drawingml/2006/main">
              <a:ext uri="{FF2B5EF4-FFF2-40B4-BE49-F238E27FC236}">
                <a16:creationId xmlns:a16="http://schemas.microsoft.com/office/drawing/2014/main" id="{5654B77E-C710-4900-9FCA-962E3235B78B}"/>
              </a:ext>
            </a:extLst>
          </p:cNvPr>
          <p:cNvSpPr>
            <a:spLocks xmlns:a="http://schemas.openxmlformats.org/drawingml/2006/main" noGrp="1"/>
          </p:cNvSpPr>
          <p:nvPr/>
        </p:nvSpPr>
        <p:spPr>
          <a:xfrm xmlns:a="http://schemas.openxmlformats.org/drawingml/2006/main">
            <a:off x="9525000" y="37147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THREE PLOTS</a:t>
            </a:r>
          </a:p>
        </p:txBody>
      </p:sp>
      <p:sp>
        <p:nvSpPr>
          <p:cNvPr id="45" name="s24-card-body-2">
            <a:extLst xmlns:a="http://schemas.openxmlformats.org/drawingml/2006/main">
              <a:ext uri="{FF2B5EF4-FFF2-40B4-BE49-F238E27FC236}">
                <a16:creationId xmlns:a16="http://schemas.microsoft.com/office/drawing/2014/main" id="{F2EDFD01-85FD-4F0D-94AA-F80C2256A563}"/>
              </a:ext>
            </a:extLst>
          </p:cNvPr>
          <p:cNvSpPr>
            <a:spLocks xmlns:a="http://schemas.openxmlformats.org/drawingml/2006/main" noGrp="1"/>
          </p:cNvSpPr>
          <p:nvPr/>
        </p:nvSpPr>
        <p:spPr>
          <a:xfrm xmlns:a="http://schemas.openxmlformats.org/drawingml/2006/main">
            <a:off x="9525000" y="396240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tracking • error • actuator + disturbance</a:t>
            </a:r>
          </a:p>
        </p:txBody>
      </p:sp>
      <p:sp>
        <p:nvSpPr>
          <p:cNvPr id="46" name="s24-card-3">
            <a:extLst xmlns:a="http://schemas.openxmlformats.org/drawingml/2006/main">
              <a:ext uri="{FF2B5EF4-FFF2-40B4-BE49-F238E27FC236}">
                <a16:creationId xmlns:a16="http://schemas.microsoft.com/office/drawing/2014/main" id="{99B87BF4-FD52-4258-9FBA-746D1BC7B81E}"/>
              </a:ext>
            </a:extLst>
          </p:cNvPr>
          <p:cNvSpPr>
            <a:spLocks xmlns:a="http://schemas.openxmlformats.org/drawingml/2006/main" noGrp="1"/>
          </p:cNvSpPr>
          <p:nvPr/>
        </p:nvSpPr>
        <p:spPr>
          <a:xfrm xmlns:a="http://schemas.openxmlformats.org/drawingml/2006/main">
            <a:off x="9391650" y="4724400"/>
            <a:ext cx="2114550" cy="933450"/>
          </a:xfrm>
          <a:prstGeom xmlns:a="http://schemas.openxmlformats.org/drawingml/2006/main" prst="roundRect">
            <a:avLst>
              <a:gd name="adj" fmla="val 12245"/>
            </a:avLst>
          </a:prstGeom>
          <a:solidFill xmlns:a="http://schemas.openxmlformats.org/drawingml/2006/main">
            <a:srgbClr val="E2F4EA"/>
          </a:solidFill>
          <a:ln xmlns:a="http://schemas.openxmlformats.org/drawingml/2006/main" w="14288">
            <a:solidFill>
              <a:srgbClr val="2CA56F"/>
            </a:solidFill>
            <a:prstDash val="solid"/>
          </a:ln>
        </p:spPr>
      </p:sp>
      <p:sp>
        <p:nvSpPr>
          <p:cNvPr id="47" name="s24-card-title-3">
            <a:extLst xmlns:a="http://schemas.openxmlformats.org/drawingml/2006/main">
              <a:ext uri="{FF2B5EF4-FFF2-40B4-BE49-F238E27FC236}">
                <a16:creationId xmlns:a16="http://schemas.microsoft.com/office/drawing/2014/main" id="{87CA70EA-E768-4BFC-AC46-9C94ABE433AB}"/>
              </a:ext>
            </a:extLst>
          </p:cNvPr>
          <p:cNvSpPr>
            <a:spLocks xmlns:a="http://schemas.openxmlformats.org/drawingml/2006/main" noGrp="1"/>
          </p:cNvSpPr>
          <p:nvPr/>
        </p:nvSpPr>
        <p:spPr>
          <a:xfrm xmlns:a="http://schemas.openxmlformats.org/drawingml/2006/main">
            <a:off x="9525000" y="48101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CA56F"/>
                </a:solidFill>
                <a:latin typeface="Aptos"/>
                <a:ea typeface="Aptos"/>
                <a:cs typeface="Aptos"/>
              </a:defRPr>
            </a:pPr>
            <a:r>
              <a:rPr sz="1065" b="1">
                <a:solidFill>
                  <a:srgbClr val="2CA56F"/>
                </a:solidFill>
                <a:latin typeface="Aptos"/>
                <a:ea typeface="Aptos"/>
                <a:cs typeface="Aptos"/>
              </a:rPr>
              <a:t>WHY USE SDI</a:t>
            </a:r>
          </a:p>
        </p:txBody>
      </p:sp>
      <p:sp>
        <p:nvSpPr>
          <p:cNvPr id="48" name="s24-card-body-3">
            <a:extLst xmlns:a="http://schemas.openxmlformats.org/drawingml/2006/main">
              <a:ext uri="{FF2B5EF4-FFF2-40B4-BE49-F238E27FC236}">
                <a16:creationId xmlns:a16="http://schemas.microsoft.com/office/drawing/2014/main" id="{91D06AB6-B129-4C15-BB26-F1B763B85AF4}"/>
              </a:ext>
            </a:extLst>
          </p:cNvPr>
          <p:cNvSpPr>
            <a:spLocks xmlns:a="http://schemas.openxmlformats.org/drawingml/2006/main" noGrp="1"/>
          </p:cNvSpPr>
          <p:nvPr/>
        </p:nvSpPr>
        <p:spPr>
          <a:xfrm xmlns:a="http://schemas.openxmlformats.org/drawingml/2006/main">
            <a:off x="9525000" y="50577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inspect without model edits • compare • zoom • cursors • units • export</a:t>
            </a:r>
          </a:p>
        </p:txBody>
      </p:sp>
      <p:sp>
        <p:nvSpPr>
          <p:cNvPr id="49" name="s24-caption">
            <a:extLst xmlns:a="http://schemas.openxmlformats.org/drawingml/2006/main">
              <a:ext uri="{FF2B5EF4-FFF2-40B4-BE49-F238E27FC236}">
                <a16:creationId xmlns:a16="http://schemas.microsoft.com/office/drawing/2014/main" id="{5037B83C-A7DA-4309-A30E-5E685DB4B532}"/>
              </a:ext>
            </a:extLst>
          </p:cNvPr>
          <p:cNvSpPr>
            <a:spLocks xmlns:a="http://schemas.openxmlformats.org/drawingml/2006/main" noGrp="1"/>
          </p:cNvSpPr>
          <p:nvPr/>
        </p:nvSpPr>
        <p:spPr>
          <a:xfrm xmlns:a="http://schemas.openxmlformats.org/drawingml/2006/main">
            <a:off x="685800" y="6019800"/>
            <a:ext cx="1082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17324A"/>
                </a:solidFill>
                <a:latin typeface="Aptos"/>
                <a:ea typeface="Aptos"/>
                <a:cs typeface="Aptos"/>
              </a:defRPr>
            </a:pPr>
            <a:r>
              <a:rPr sz="1140" b="1">
                <a:solidFill>
                  <a:srgbClr val="17324A"/>
                </a:solidFill>
                <a:latin typeface="Aptos"/>
                <a:ea typeface="Aptos"/>
                <a:cs typeface="Aptos"/>
              </a:rPr>
              <a:t>Markers show logged samples; model overlays show model metadata. Opening a saved session can replace the current SDI repository.</a:t>
            </a:r>
          </a:p>
        </p:txBody>
      </p:sp>
    </p:spTree>
    <p:extLst>
      <p:ext uri="{BB962C8B-B14F-4D97-AF65-F5344CB8AC3E}">
        <p14:creationId xmlns:p14="http://schemas.microsoft.com/office/powerpoint/2010/main" val="354341949"/>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35" name="s24-image-frame">
            <a:extLst xmlns:a="http://schemas.openxmlformats.org/drawingml/2006/main">
              <a:ext uri="{FF2B5EF4-FFF2-40B4-BE49-F238E27FC236}">
                <a16:creationId xmlns:a16="http://schemas.microsoft.com/office/drawing/2014/main" id="{9C6E250C-2E90-48B6-8A9F-B7E3EABBB44A}"/>
              </a:ext>
            </a:extLst>
          </p:cNvPr>
          <p:cNvSpPr>
            <a:spLocks xmlns:a="http://schemas.openxmlformats.org/drawingml/2006/main" noGrp="1"/>
          </p:cNvSpPr>
          <p:nvPr/>
        </p:nvSpPr>
        <p:spPr>
          <a:xfrm xmlns:a="http://schemas.openxmlformats.org/drawingml/2006/main">
            <a:off x="609600" y="1381125"/>
            <a:ext cx="8572500" cy="4629150"/>
          </a:xfrm>
          <a:prstGeom xmlns:a="http://schemas.openxmlformats.org/drawingml/2006/main" prst="roundRect">
            <a:avLst>
              <a:gd name="adj" fmla="val 2469"/>
            </a:avLst>
          </a:prstGeom>
          <a:solidFill xmlns:a="http://schemas.openxmlformats.org/drawingml/2006/main">
            <a:srgbClr val="FFFFFF"/>
          </a:solidFill>
          <a:ln xmlns:a="http://schemas.openxmlformats.org/drawingml/2006/main" w="11430">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c95228b57c1448cf"/>
          <a:stretch xmlns:a="http://schemas.openxmlformats.org/drawingml/2006/main"/>
        </p:blipFill>
        <p:spPr>
          <a:xfrm xmlns:a="http://schemas.openxmlformats.org/drawingml/2006/main">
            <a:off x="731431" y="1457325"/>
            <a:ext cx="8328837" cy="4476750"/>
          </a:xfrm>
          <a:prstGeom xmlns:a="http://schemas.openxmlformats.org/drawingml/2006/main" prst="rect">
            <a:avLst/>
          </a:prstGeom>
        </p:spPr>
      </p:pic>
      <p:sp>
        <p:nvSpPr>
          <p:cNvPr id="37" name="s24-card-0">
            <a:extLst xmlns:a="http://schemas.openxmlformats.org/drawingml/2006/main">
              <a:ext uri="{FF2B5EF4-FFF2-40B4-BE49-F238E27FC236}">
                <a16:creationId xmlns:a16="http://schemas.microsoft.com/office/drawing/2014/main" id="{140640F1-93F1-4E21-84C7-70AFDA518C0F}"/>
              </a:ext>
            </a:extLst>
          </p:cNvPr>
          <p:cNvSpPr>
            <a:spLocks xmlns:a="http://schemas.openxmlformats.org/drawingml/2006/main" noGrp="1"/>
          </p:cNvSpPr>
          <p:nvPr/>
        </p:nvSpPr>
        <p:spPr>
          <a:xfrm xmlns:a="http://schemas.openxmlformats.org/drawingml/2006/main">
            <a:off x="9391650" y="143827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38" name="s24-card-title-0">
            <a:extLst xmlns:a="http://schemas.openxmlformats.org/drawingml/2006/main">
              <a:ext uri="{FF2B5EF4-FFF2-40B4-BE49-F238E27FC236}">
                <a16:creationId xmlns:a16="http://schemas.microsoft.com/office/drawing/2014/main" id="{5395C24F-C743-461D-B1EA-01A256E625C2}"/>
              </a:ext>
            </a:extLst>
          </p:cNvPr>
          <p:cNvSpPr>
            <a:spLocks xmlns:a="http://schemas.openxmlformats.org/drawingml/2006/main" noGrp="1"/>
          </p:cNvSpPr>
          <p:nvPr/>
        </p:nvSpPr>
        <p:spPr>
          <a:xfrm xmlns:a="http://schemas.openxmlformats.org/drawingml/2006/main">
            <a:off x="9525000" y="15240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ONE RUN</a:t>
            </a:r>
          </a:p>
        </p:txBody>
      </p:sp>
      <p:sp>
        <p:nvSpPr>
          <p:cNvPr id="39" name="s24-card-body-0">
            <a:extLst xmlns:a="http://schemas.openxmlformats.org/drawingml/2006/main">
              <a:ext uri="{FF2B5EF4-FFF2-40B4-BE49-F238E27FC236}">
                <a16:creationId xmlns:a16="http://schemas.microsoft.com/office/drawing/2014/main" id="{5B0EB02F-2A45-4BED-BF25-F02BECF5CA4C}"/>
              </a:ext>
            </a:extLst>
          </p:cNvPr>
          <p:cNvSpPr>
            <a:spLocks xmlns:a="http://schemas.openxmlformats.org/drawingml/2006/main" noGrp="1"/>
          </p:cNvSpPr>
          <p:nvPr/>
        </p:nvSpPr>
        <p:spPr>
          <a:xfrm xmlns:a="http://schemas.openxmlformats.org/drawingml/2006/main">
            <a:off x="9525000" y="177165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AircraftFeedbackControlLoop — onboarding reference</a:t>
            </a:r>
          </a:p>
        </p:txBody>
      </p:sp>
      <p:sp>
        <p:nvSpPr>
          <p:cNvPr id="40" name="s24-card-1">
            <a:extLst xmlns:a="http://schemas.openxmlformats.org/drawingml/2006/main">
              <a:ext uri="{FF2B5EF4-FFF2-40B4-BE49-F238E27FC236}">
                <a16:creationId xmlns:a16="http://schemas.microsoft.com/office/drawing/2014/main" id="{7F24A3C1-D346-471F-AD75-FA41CF3B67FA}"/>
              </a:ext>
            </a:extLst>
          </p:cNvPr>
          <p:cNvSpPr>
            <a:spLocks xmlns:a="http://schemas.openxmlformats.org/drawingml/2006/main" noGrp="1"/>
          </p:cNvSpPr>
          <p:nvPr/>
        </p:nvSpPr>
        <p:spPr>
          <a:xfrm xmlns:a="http://schemas.openxmlformats.org/drawingml/2006/main">
            <a:off x="9391650" y="2533650"/>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1" name="s24-card-title-1">
            <a:extLst xmlns:a="http://schemas.openxmlformats.org/drawingml/2006/main">
              <a:ext uri="{FF2B5EF4-FFF2-40B4-BE49-F238E27FC236}">
                <a16:creationId xmlns:a16="http://schemas.microsoft.com/office/drawing/2014/main" id="{4C2D4B3F-19D7-458B-B79B-5AFE40A617AB}"/>
              </a:ext>
            </a:extLst>
          </p:cNvPr>
          <p:cNvSpPr>
            <a:spLocks xmlns:a="http://schemas.openxmlformats.org/drawingml/2006/main" noGrp="1"/>
          </p:cNvSpPr>
          <p:nvPr/>
        </p:nvSpPr>
        <p:spPr>
          <a:xfrm xmlns:a="http://schemas.openxmlformats.org/drawingml/2006/main">
            <a:off x="9525000" y="261937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FIVE SIGNALS</a:t>
            </a:r>
          </a:p>
        </p:txBody>
      </p:sp>
      <p:sp>
        <p:nvSpPr>
          <p:cNvPr id="42" name="s24-card-body-1">
            <a:extLst xmlns:a="http://schemas.openxmlformats.org/drawingml/2006/main">
              <a:ext uri="{FF2B5EF4-FFF2-40B4-BE49-F238E27FC236}">
                <a16:creationId xmlns:a16="http://schemas.microsoft.com/office/drawing/2014/main" id="{787B5260-6B3E-44FE-85F7-3E4CC0250664}"/>
              </a:ext>
            </a:extLst>
          </p:cNvPr>
          <p:cNvSpPr>
            <a:spLocks xmlns:a="http://schemas.openxmlformats.org/drawingml/2006/main" noGrp="1"/>
          </p:cNvSpPr>
          <p:nvPr/>
        </p:nvSpPr>
        <p:spPr>
          <a:xfrm xmlns:a="http://schemas.openxmlformats.org/drawingml/2006/main">
            <a:off x="9525000" y="28670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command • response • error • actuator • disturbance</a:t>
            </a:r>
          </a:p>
        </p:txBody>
      </p:sp>
      <p:sp>
        <p:nvSpPr>
          <p:cNvPr id="43" name="s24-card-2">
            <a:extLst xmlns:a="http://schemas.openxmlformats.org/drawingml/2006/main">
              <a:ext uri="{FF2B5EF4-FFF2-40B4-BE49-F238E27FC236}">
                <a16:creationId xmlns:a16="http://schemas.microsoft.com/office/drawing/2014/main" id="{F115FBD4-E640-4923-8E58-4008CD2CDFB0}"/>
              </a:ext>
            </a:extLst>
          </p:cNvPr>
          <p:cNvSpPr>
            <a:spLocks xmlns:a="http://schemas.openxmlformats.org/drawingml/2006/main" noGrp="1"/>
          </p:cNvSpPr>
          <p:nvPr/>
        </p:nvSpPr>
        <p:spPr>
          <a:xfrm xmlns:a="http://schemas.openxmlformats.org/drawingml/2006/main">
            <a:off x="9391650" y="362902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4" name="s24-card-title-2">
            <a:extLst xmlns:a="http://schemas.openxmlformats.org/drawingml/2006/main">
              <a:ext uri="{FF2B5EF4-FFF2-40B4-BE49-F238E27FC236}">
                <a16:creationId xmlns:a16="http://schemas.microsoft.com/office/drawing/2014/main" id="{5654B77E-C710-4900-9FCA-962E3235B78B}"/>
              </a:ext>
            </a:extLst>
          </p:cNvPr>
          <p:cNvSpPr>
            <a:spLocks xmlns:a="http://schemas.openxmlformats.org/drawingml/2006/main" noGrp="1"/>
          </p:cNvSpPr>
          <p:nvPr/>
        </p:nvSpPr>
        <p:spPr>
          <a:xfrm xmlns:a="http://schemas.openxmlformats.org/drawingml/2006/main">
            <a:off x="9525000" y="37147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THREE PLOTS</a:t>
            </a:r>
          </a:p>
        </p:txBody>
      </p:sp>
      <p:sp>
        <p:nvSpPr>
          <p:cNvPr id="45" name="s24-card-body-2">
            <a:extLst xmlns:a="http://schemas.openxmlformats.org/drawingml/2006/main">
              <a:ext uri="{FF2B5EF4-FFF2-40B4-BE49-F238E27FC236}">
                <a16:creationId xmlns:a16="http://schemas.microsoft.com/office/drawing/2014/main" id="{F2EDFD01-85FD-4F0D-94AA-F80C2256A563}"/>
              </a:ext>
            </a:extLst>
          </p:cNvPr>
          <p:cNvSpPr>
            <a:spLocks xmlns:a="http://schemas.openxmlformats.org/drawingml/2006/main" noGrp="1"/>
          </p:cNvSpPr>
          <p:nvPr/>
        </p:nvSpPr>
        <p:spPr>
          <a:xfrm xmlns:a="http://schemas.openxmlformats.org/drawingml/2006/main">
            <a:off x="9525000" y="396240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tracking • error • actuator + disturbance</a:t>
            </a:r>
          </a:p>
        </p:txBody>
      </p:sp>
      <p:sp>
        <p:nvSpPr>
          <p:cNvPr id="46" name="s24-card-3">
            <a:extLst xmlns:a="http://schemas.openxmlformats.org/drawingml/2006/main">
              <a:ext uri="{FF2B5EF4-FFF2-40B4-BE49-F238E27FC236}">
                <a16:creationId xmlns:a16="http://schemas.microsoft.com/office/drawing/2014/main" id="{99B87BF4-FD52-4258-9FBA-746D1BC7B81E}"/>
              </a:ext>
            </a:extLst>
          </p:cNvPr>
          <p:cNvSpPr>
            <a:spLocks xmlns:a="http://schemas.openxmlformats.org/drawingml/2006/main" noGrp="1"/>
          </p:cNvSpPr>
          <p:nvPr/>
        </p:nvSpPr>
        <p:spPr>
          <a:xfrm xmlns:a="http://schemas.openxmlformats.org/drawingml/2006/main">
            <a:off x="9391650" y="4724400"/>
            <a:ext cx="2114550" cy="933450"/>
          </a:xfrm>
          <a:prstGeom xmlns:a="http://schemas.openxmlformats.org/drawingml/2006/main" prst="roundRect">
            <a:avLst>
              <a:gd name="adj" fmla="val 12245"/>
            </a:avLst>
          </a:prstGeom>
          <a:solidFill xmlns:a="http://schemas.openxmlformats.org/drawingml/2006/main">
            <a:srgbClr val="E2F4EA"/>
          </a:solidFill>
          <a:ln xmlns:a="http://schemas.openxmlformats.org/drawingml/2006/main" w="14288">
            <a:solidFill>
              <a:srgbClr val="2CA56F"/>
            </a:solidFill>
            <a:prstDash val="solid"/>
          </a:ln>
        </p:spPr>
      </p:sp>
      <p:sp>
        <p:nvSpPr>
          <p:cNvPr id="47" name="s24-card-title-3">
            <a:extLst xmlns:a="http://schemas.openxmlformats.org/drawingml/2006/main">
              <a:ext uri="{FF2B5EF4-FFF2-40B4-BE49-F238E27FC236}">
                <a16:creationId xmlns:a16="http://schemas.microsoft.com/office/drawing/2014/main" id="{87CA70EA-E768-4BFC-AC46-9C94ABE433AB}"/>
              </a:ext>
            </a:extLst>
          </p:cNvPr>
          <p:cNvSpPr>
            <a:spLocks xmlns:a="http://schemas.openxmlformats.org/drawingml/2006/main" noGrp="1"/>
          </p:cNvSpPr>
          <p:nvPr/>
        </p:nvSpPr>
        <p:spPr>
          <a:xfrm xmlns:a="http://schemas.openxmlformats.org/drawingml/2006/main">
            <a:off x="9525000" y="48101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CA56F"/>
                </a:solidFill>
                <a:latin typeface="Aptos"/>
                <a:ea typeface="Aptos"/>
                <a:cs typeface="Aptos"/>
              </a:defRPr>
            </a:pPr>
            <a:r>
              <a:rPr sz="1065" b="1">
                <a:solidFill>
                  <a:srgbClr val="2CA56F"/>
                </a:solidFill>
                <a:latin typeface="Aptos"/>
                <a:ea typeface="Aptos"/>
                <a:cs typeface="Aptos"/>
              </a:rPr>
              <a:t>WHY USE SDI</a:t>
            </a:r>
          </a:p>
        </p:txBody>
      </p:sp>
      <p:sp>
        <p:nvSpPr>
          <p:cNvPr id="48" name="s24-card-body-3">
            <a:extLst xmlns:a="http://schemas.openxmlformats.org/drawingml/2006/main">
              <a:ext uri="{FF2B5EF4-FFF2-40B4-BE49-F238E27FC236}">
                <a16:creationId xmlns:a16="http://schemas.microsoft.com/office/drawing/2014/main" id="{91D06AB6-B129-4C15-BB26-F1B763B85AF4}"/>
              </a:ext>
            </a:extLst>
          </p:cNvPr>
          <p:cNvSpPr>
            <a:spLocks xmlns:a="http://schemas.openxmlformats.org/drawingml/2006/main" noGrp="1"/>
          </p:cNvSpPr>
          <p:nvPr/>
        </p:nvSpPr>
        <p:spPr>
          <a:xfrm xmlns:a="http://schemas.openxmlformats.org/drawingml/2006/main">
            <a:off x="9525000" y="50577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inspect without model edits • compare • zoom • cursors • units • export</a:t>
            </a:r>
          </a:p>
        </p:txBody>
      </p:sp>
      <p:sp>
        <p:nvSpPr>
          <p:cNvPr id="49" name="s24-caption">
            <a:extLst xmlns:a="http://schemas.openxmlformats.org/drawingml/2006/main">
              <a:ext uri="{FF2B5EF4-FFF2-40B4-BE49-F238E27FC236}">
                <a16:creationId xmlns:a16="http://schemas.microsoft.com/office/drawing/2014/main" id="{5037B83C-A7DA-4309-A30E-5E685DB4B532}"/>
              </a:ext>
            </a:extLst>
          </p:cNvPr>
          <p:cNvSpPr>
            <a:spLocks xmlns:a="http://schemas.openxmlformats.org/drawingml/2006/main" noGrp="1"/>
          </p:cNvSpPr>
          <p:nvPr/>
        </p:nvSpPr>
        <p:spPr>
          <a:xfrm xmlns:a="http://schemas.openxmlformats.org/drawingml/2006/main">
            <a:off x="685800" y="6019800"/>
            <a:ext cx="1082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17324A"/>
                </a:solidFill>
                <a:latin typeface="Aptos"/>
                <a:ea typeface="Aptos"/>
                <a:cs typeface="Aptos"/>
              </a:defRPr>
            </a:pPr>
            <a:r>
              <a:rPr sz="1140" b="1">
                <a:solidFill>
                  <a:srgbClr val="17324A"/>
                </a:solidFill>
                <a:latin typeface="Aptos"/>
                <a:ea typeface="Aptos"/>
                <a:cs typeface="Aptos"/>
              </a:rPr>
              <a:t>Markers show logged samples; model overlays show model metadata. Opening a saved session can replace the current SDI repository.</a:t>
            </a:r>
          </a:p>
        </p:txBody>
      </p:sp>
    </p:spTree>
    <p:extLst>
      <p:ext uri="{BB962C8B-B14F-4D97-AF65-F5344CB8AC3E}">
        <p14:creationId xmlns:p14="http://schemas.microsoft.com/office/powerpoint/2010/main" val="354341949"/>
      </p:ext>
    </p:extLst>
  </p:cSld>
</p:sld>
</file>

<file path=ppt/slides/slide1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37</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166"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67"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68"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69"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70"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job determines which model is top level</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sp>
        <p:nvSpPr>
          <p:cNvPr id="22" name="s8-left-v">
            <a:extLst xmlns:a="http://schemas.openxmlformats.org/drawingml/2006/main">
              <a:ext uri="{FF2B5EF4-FFF2-40B4-BE49-F238E27FC236}">
                <a16:creationId xmlns:a16="http://schemas.microsoft.com/office/drawing/2014/main" id="{18E05B59-A4C4-4A46-BA70-521E2D44F568}"/>
              </a:ext>
            </a:extLst>
          </p:cNvPr>
          <p:cNvSpPr>
            <a:spLocks xmlns:a="http://schemas.openxmlformats.org/drawingml/2006/main" noGrp="1"/>
          </p:cNvSpPr>
          <p:nvPr/>
        </p:nvSpPr>
        <p:spPr>
          <a:xfrm xmlns:a="http://schemas.openxmlformats.org/drawingml/2006/main">
            <a:off x="2362200" y="2333625"/>
            <a:ext cx="0" cy="28575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3" name="s8-mid-v">
            <a:extLst xmlns:a="http://schemas.openxmlformats.org/drawingml/2006/main">
              <a:ext uri="{FF2B5EF4-FFF2-40B4-BE49-F238E27FC236}">
                <a16:creationId xmlns:a16="http://schemas.microsoft.com/office/drawing/2014/main" id="{B4D3C86C-1AF5-4B1E-ABEF-8E616B4D1E93}"/>
              </a:ext>
            </a:extLst>
          </p:cNvPr>
          <p:cNvSpPr>
            <a:spLocks xmlns:a="http://schemas.openxmlformats.org/drawingml/2006/main" noGrp="1"/>
          </p:cNvSpPr>
          <p:nvPr/>
        </p:nvSpPr>
        <p:spPr>
          <a:xfrm xmlns:a="http://schemas.openxmlformats.org/drawingml/2006/main">
            <a:off x="5981700" y="2143125"/>
            <a:ext cx="0" cy="30480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4" name="s8-right-v1">
            <a:extLst xmlns:a="http://schemas.openxmlformats.org/drawingml/2006/main">
              <a:ext uri="{FF2B5EF4-FFF2-40B4-BE49-F238E27FC236}">
                <a16:creationId xmlns:a16="http://schemas.microsoft.com/office/drawing/2014/main" id="{78B21220-AB2C-4673-9FA7-641DD0533DD4}"/>
              </a:ext>
            </a:extLst>
          </p:cNvPr>
          <p:cNvSpPr>
            <a:spLocks xmlns:a="http://schemas.openxmlformats.org/drawingml/2006/main" noGrp="1"/>
          </p:cNvSpPr>
          <p:nvPr/>
        </p:nvSpPr>
        <p:spPr>
          <a:xfrm xmlns:a="http://schemas.openxmlformats.org/drawingml/2006/main">
            <a:off x="9601200" y="238125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5" name="s8-right-v2">
            <a:extLst xmlns:a="http://schemas.openxmlformats.org/drawingml/2006/main">
              <a:ext uri="{FF2B5EF4-FFF2-40B4-BE49-F238E27FC236}">
                <a16:creationId xmlns:a16="http://schemas.microsoft.com/office/drawing/2014/main" id="{9CD1B691-06FF-4234-BC90-EF8C01D406AA}"/>
              </a:ext>
            </a:extLst>
          </p:cNvPr>
          <p:cNvSpPr>
            <a:spLocks xmlns:a="http://schemas.openxmlformats.org/drawingml/2006/main" noGrp="1"/>
          </p:cNvSpPr>
          <p:nvPr/>
        </p:nvSpPr>
        <p:spPr>
          <a:xfrm xmlns:a="http://schemas.openxmlformats.org/drawingml/2006/main">
            <a:off x="9601200" y="400050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6" name="s8-panel-0">
            <a:extLst xmlns:a="http://schemas.openxmlformats.org/drawingml/2006/main">
              <a:ext uri="{FF2B5EF4-FFF2-40B4-BE49-F238E27FC236}">
                <a16:creationId xmlns:a16="http://schemas.microsoft.com/office/drawing/2014/main" id="{57ACD6A8-328C-4C2A-9BF3-26FCAA8D05A0}"/>
              </a:ext>
            </a:extLst>
          </p:cNvPr>
          <p:cNvSpPr>
            <a:spLocks xmlns:a="http://schemas.openxmlformats.org/drawingml/2006/main" noGrp="1"/>
          </p:cNvSpPr>
          <p:nvPr/>
        </p:nvSpPr>
        <p:spPr>
          <a:xfrm xmlns:a="http://schemas.openxmlformats.org/drawingml/2006/main">
            <a:off x="685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7" name="s8-heading-0">
            <a:extLst xmlns:a="http://schemas.openxmlformats.org/drawingml/2006/main">
              <a:ext uri="{FF2B5EF4-FFF2-40B4-BE49-F238E27FC236}">
                <a16:creationId xmlns:a16="http://schemas.microsoft.com/office/drawing/2014/main" id="{841EA2EB-B1F5-4EC1-907F-2A6975689151}"/>
              </a:ext>
            </a:extLst>
          </p:cNvPr>
          <p:cNvSpPr>
            <a:spLocks xmlns:a="http://schemas.openxmlformats.org/drawingml/2006/main" noGrp="1"/>
          </p:cNvSpPr>
          <p:nvPr/>
        </p:nvSpPr>
        <p:spPr>
          <a:xfrm xmlns:a="http://schemas.openxmlformats.org/drawingml/2006/main">
            <a:off x="828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STANDALONE CLOSED LOOP</a:t>
            </a:r>
          </a:p>
        </p:txBody>
      </p:sp>
      <p:sp>
        <p:nvSpPr>
          <p:cNvPr id="28" name="s8-panel-1">
            <a:extLst xmlns:a="http://schemas.openxmlformats.org/drawingml/2006/main">
              <a:ext uri="{FF2B5EF4-FFF2-40B4-BE49-F238E27FC236}">
                <a16:creationId xmlns:a16="http://schemas.microsoft.com/office/drawing/2014/main" id="{7112E142-F052-4471-91C9-2742DFE5F596}"/>
              </a:ext>
            </a:extLst>
          </p:cNvPr>
          <p:cNvSpPr>
            <a:spLocks xmlns:a="http://schemas.openxmlformats.org/drawingml/2006/main" noGrp="1"/>
          </p:cNvSpPr>
          <p:nvPr/>
        </p:nvSpPr>
        <p:spPr>
          <a:xfrm xmlns:a="http://schemas.openxmlformats.org/drawingml/2006/main">
            <a:off x="43053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9" name="s8-heading-1">
            <a:extLst xmlns:a="http://schemas.openxmlformats.org/drawingml/2006/main">
              <a:ext uri="{FF2B5EF4-FFF2-40B4-BE49-F238E27FC236}">
                <a16:creationId xmlns:a16="http://schemas.microsoft.com/office/drawing/2014/main" id="{F13AF169-4CCA-4A2E-9495-4C5FC7DFAB01}"/>
              </a:ext>
            </a:extLst>
          </p:cNvPr>
          <p:cNvSpPr>
            <a:spLocks xmlns:a="http://schemas.openxmlformats.org/drawingml/2006/main" noGrp="1"/>
          </p:cNvSpPr>
          <p:nvPr/>
        </p:nvSpPr>
        <p:spPr>
          <a:xfrm xmlns:a="http://schemas.openxmlformats.org/drawingml/2006/main">
            <a:off x="44481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REFERENCED INTEGRATION</a:t>
            </a:r>
          </a:p>
        </p:txBody>
      </p:sp>
      <p:sp>
        <p:nvSpPr>
          <p:cNvPr id="30" name="s8-panel-2">
            <a:extLst xmlns:a="http://schemas.openxmlformats.org/drawingml/2006/main">
              <a:ext uri="{FF2B5EF4-FFF2-40B4-BE49-F238E27FC236}">
                <a16:creationId xmlns:a16="http://schemas.microsoft.com/office/drawing/2014/main" id="{8D65A2C1-AB5F-4220-BF33-7A94F05B53E8}"/>
              </a:ext>
            </a:extLst>
          </p:cNvPr>
          <p:cNvSpPr>
            <a:spLocks xmlns:a="http://schemas.openxmlformats.org/drawingml/2006/main" noGrp="1"/>
          </p:cNvSpPr>
          <p:nvPr/>
        </p:nvSpPr>
        <p:spPr>
          <a:xfrm xmlns:a="http://schemas.openxmlformats.org/drawingml/2006/main">
            <a:off x="7924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31" name="s8-heading-2">
            <a:extLst xmlns:a="http://schemas.openxmlformats.org/drawingml/2006/main">
              <a:ext uri="{FF2B5EF4-FFF2-40B4-BE49-F238E27FC236}">
                <a16:creationId xmlns:a16="http://schemas.microsoft.com/office/drawing/2014/main" id="{72BC5934-4996-4C08-A591-F83BC185CFE8}"/>
              </a:ext>
            </a:extLst>
          </p:cNvPr>
          <p:cNvSpPr>
            <a:spLocks xmlns:a="http://schemas.openxmlformats.org/drawingml/2006/main" noGrp="1"/>
          </p:cNvSpPr>
          <p:nvPr/>
        </p:nvSpPr>
        <p:spPr>
          <a:xfrm xmlns:a="http://schemas.openxmlformats.org/drawingml/2006/main">
            <a:off x="8067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SEPARATE TRAINING MODELS</a:t>
            </a:r>
          </a:p>
        </p:txBody>
      </p:sp>
      <p:sp>
        <p:nvSpPr>
          <p:cNvPr id="32" name="s8-afcl">
            <a:extLst xmlns:a="http://schemas.openxmlformats.org/drawingml/2006/main">
              <a:ext uri="{FF2B5EF4-FFF2-40B4-BE49-F238E27FC236}">
                <a16:creationId xmlns:a16="http://schemas.microsoft.com/office/drawing/2014/main" id="{E9C98E2F-0841-4918-A9A4-7A9916CBEC88}"/>
              </a:ext>
            </a:extLst>
          </p:cNvPr>
          <p:cNvSpPr>
            <a:spLocks xmlns:a="http://schemas.openxmlformats.org/drawingml/2006/main" noGrp="1"/>
          </p:cNvSpPr>
          <p:nvPr/>
        </p:nvSpPr>
        <p:spPr>
          <a:xfrm xmlns:a="http://schemas.openxmlformats.org/drawingml/2006/main">
            <a:off x="876300" y="1857375"/>
            <a:ext cx="2971800" cy="552450"/>
          </a:xfrm>
          <a:prstGeom xmlns:a="http://schemas.openxmlformats.org/drawingml/2006/main" prst="roundRect">
            <a:avLst>
              <a:gd name="adj" fmla="val 20690"/>
            </a:avLst>
          </a:prstGeom>
          <a:solidFill xmlns:a="http://schemas.openxmlformats.org/drawingml/2006/main">
            <a:srgbClr val="2D6CDF"/>
          </a:solidFill>
          <a:ln xmlns:a="http://schemas.openxmlformats.org/drawingml/2006/main" w="14288">
            <a:solidFill>
              <a:srgbClr val="7FA4F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AircraftFeedbackControlLoop.slx</a:t>
            </a:r>
          </a:p>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standalone simulation top level</a:t>
            </a:r>
          </a:p>
        </p:txBody>
      </p:sp>
      <p:sp>
        <p:nvSpPr>
          <p:cNvPr id="33" name="s8-afcl-sub-0">
            <a:extLst xmlns:a="http://schemas.openxmlformats.org/drawingml/2006/main">
              <a:ext uri="{FF2B5EF4-FFF2-40B4-BE49-F238E27FC236}">
                <a16:creationId xmlns:a16="http://schemas.microsoft.com/office/drawing/2014/main" id="{63F32B32-C548-42A6-A965-5D646BF8CB5B}"/>
              </a:ext>
            </a:extLst>
          </p:cNvPr>
          <p:cNvSpPr>
            <a:spLocks xmlns:a="http://schemas.openxmlformats.org/drawingml/2006/main" noGrp="1"/>
          </p:cNvSpPr>
          <p:nvPr/>
        </p:nvSpPr>
        <p:spPr>
          <a:xfrm xmlns:a="http://schemas.openxmlformats.org/drawingml/2006/main">
            <a:off x="10668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Pitch Controller PI</a:t>
            </a:r>
          </a:p>
        </p:txBody>
      </p:sp>
      <p:sp>
        <p:nvSpPr>
          <p:cNvPr id="34" name="s8-afcl-sub-1">
            <a:extLst xmlns:a="http://schemas.openxmlformats.org/drawingml/2006/main">
              <a:ext uri="{FF2B5EF4-FFF2-40B4-BE49-F238E27FC236}">
                <a16:creationId xmlns:a16="http://schemas.microsoft.com/office/drawing/2014/main" id="{5FE56391-3B52-4FB2-8EDE-C45F0C02F085}"/>
              </a:ext>
            </a:extLst>
          </p:cNvPr>
          <p:cNvSpPr>
            <a:spLocks xmlns:a="http://schemas.openxmlformats.org/drawingml/2006/main" noGrp="1"/>
          </p:cNvSpPr>
          <p:nvPr/>
        </p:nvSpPr>
        <p:spPr>
          <a:xfrm xmlns:a="http://schemas.openxmlformats.org/drawingml/2006/main">
            <a:off x="10668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Actuator Dynamics</a:t>
            </a:r>
          </a:p>
        </p:txBody>
      </p:sp>
      <p:sp>
        <p:nvSpPr>
          <p:cNvPr id="35" name="s8-afcl-sub-2">
            <a:extLst xmlns:a="http://schemas.openxmlformats.org/drawingml/2006/main">
              <a:ext uri="{FF2B5EF4-FFF2-40B4-BE49-F238E27FC236}">
                <a16:creationId xmlns:a16="http://schemas.microsoft.com/office/drawing/2014/main" id="{1F4FD278-D4E2-49C5-980B-F4199BE9D595}"/>
              </a:ext>
            </a:extLst>
          </p:cNvPr>
          <p:cNvSpPr>
            <a:spLocks xmlns:a="http://schemas.openxmlformats.org/drawingml/2006/main" noGrp="1"/>
          </p:cNvSpPr>
          <p:nvPr/>
        </p:nvSpPr>
        <p:spPr>
          <a:xfrm xmlns:a="http://schemas.openxmlformats.org/drawingml/2006/main">
            <a:off x="10668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Simplified Longitudinal</a:t>
            </a:r>
          </a:p>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Aircraft Dynamics</a:t>
            </a:r>
          </a:p>
        </p:txBody>
      </p:sp>
      <p:sp>
        <p:nvSpPr>
          <p:cNvPr id="36" name="s8-afcl-sub-3">
            <a:extLst xmlns:a="http://schemas.openxmlformats.org/drawingml/2006/main">
              <a:ext uri="{FF2B5EF4-FFF2-40B4-BE49-F238E27FC236}">
                <a16:creationId xmlns:a16="http://schemas.microsoft.com/office/drawing/2014/main" id="{C5131A14-8D9B-4A62-9871-E5D9C71ED547}"/>
              </a:ext>
            </a:extLst>
          </p:cNvPr>
          <p:cNvSpPr>
            <a:spLocks xmlns:a="http://schemas.openxmlformats.org/drawingml/2006/main" noGrp="1"/>
          </p:cNvSpPr>
          <p:nvPr/>
        </p:nvSpPr>
        <p:spPr>
          <a:xfrm xmlns:a="http://schemas.openxmlformats.org/drawingml/2006/main">
            <a:off x="10668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Sensor Processing Lag</a:t>
            </a:r>
          </a:p>
        </p:txBody>
      </p:sp>
      <p:sp>
        <p:nvSpPr>
          <p:cNvPr id="37" name="s8-parent">
            <a:extLst xmlns:a="http://schemas.openxmlformats.org/drawingml/2006/main">
              <a:ext uri="{FF2B5EF4-FFF2-40B4-BE49-F238E27FC236}">
                <a16:creationId xmlns:a16="http://schemas.microsoft.com/office/drawing/2014/main" id="{C7E9F958-A887-4CF6-A629-3D8F8E36CA8B}"/>
              </a:ext>
            </a:extLst>
          </p:cNvPr>
          <p:cNvSpPr>
            <a:spLocks xmlns:a="http://schemas.openxmlformats.org/drawingml/2006/main" noGrp="1"/>
          </p:cNvSpPr>
          <p:nvPr/>
        </p:nvSpPr>
        <p:spPr>
          <a:xfrm xmlns:a="http://schemas.openxmlformats.org/drawingml/2006/main">
            <a:off x="4495800" y="1857375"/>
            <a:ext cx="2971800" cy="552450"/>
          </a:xfrm>
          <a:prstGeom xmlns:a="http://schemas.openxmlformats.org/drawingml/2006/main" prst="roundRect">
            <a:avLst>
              <a:gd name="adj" fmla="val 20690"/>
            </a:avLst>
          </a:prstGeom>
          <a:solidFill xmlns:a="http://schemas.openxmlformats.org/drawingml/2006/main">
            <a:srgbClr val="20B7C5"/>
          </a:solidFill>
          <a:ln xmlns:a="http://schemas.openxmlformats.org/drawingml/2006/main" w="14288">
            <a:solidFill>
              <a:srgbClr val="70DCE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ReferencedFlightControl</a:t>
            </a:r>
          </a:p>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Architecture.slx • integration parent</a:t>
            </a:r>
          </a:p>
        </p:txBody>
      </p:sp>
      <p:sp>
        <p:nvSpPr>
          <p:cNvPr id="38" name="s8-child-0">
            <a:extLst xmlns:a="http://schemas.openxmlformats.org/drawingml/2006/main">
              <a:ext uri="{FF2B5EF4-FFF2-40B4-BE49-F238E27FC236}">
                <a16:creationId xmlns:a16="http://schemas.microsoft.com/office/drawing/2014/main" id="{7550B7E5-2499-4F4B-9E68-A114009CB151}"/>
              </a:ext>
            </a:extLst>
          </p:cNvPr>
          <p:cNvSpPr>
            <a:spLocks xmlns:a="http://schemas.openxmlformats.org/drawingml/2006/main" noGrp="1"/>
          </p:cNvSpPr>
          <p:nvPr/>
        </p:nvSpPr>
        <p:spPr>
          <a:xfrm xmlns:a="http://schemas.openxmlformats.org/drawingml/2006/main">
            <a:off x="46863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SensorProcessingRef.slx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39" name="s8-child-1">
            <a:extLst xmlns:a="http://schemas.openxmlformats.org/drawingml/2006/main">
              <a:ext uri="{FF2B5EF4-FFF2-40B4-BE49-F238E27FC236}">
                <a16:creationId xmlns:a16="http://schemas.microsoft.com/office/drawing/2014/main" id="{CB6D1102-4976-4BD5-804D-48CCA068ECD2}"/>
              </a:ext>
            </a:extLst>
          </p:cNvPr>
          <p:cNvSpPr>
            <a:spLocks xmlns:a="http://schemas.openxmlformats.org/drawingml/2006/main" noGrp="1"/>
          </p:cNvSpPr>
          <p:nvPr/>
        </p:nvSpPr>
        <p:spPr>
          <a:xfrm xmlns:a="http://schemas.openxmlformats.org/drawingml/2006/main">
            <a:off x="46863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PitchRateLimiter.slx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Limiter Logic</a:t>
            </a:r>
          </a:p>
        </p:txBody>
      </p:sp>
      <p:sp>
        <p:nvSpPr>
          <p:cNvPr id="40" name="s8-child-2">
            <a:extLst xmlns:a="http://schemas.openxmlformats.org/drawingml/2006/main">
              <a:ext uri="{FF2B5EF4-FFF2-40B4-BE49-F238E27FC236}">
                <a16:creationId xmlns:a16="http://schemas.microsoft.com/office/drawing/2014/main" id="{65ACFD7E-20BB-4072-8FA6-E37F5B19135C}"/>
              </a:ext>
            </a:extLst>
          </p:cNvPr>
          <p:cNvSpPr>
            <a:spLocks xmlns:a="http://schemas.openxmlformats.org/drawingml/2006/main" noGrp="1"/>
          </p:cNvSpPr>
          <p:nvPr/>
        </p:nvSpPr>
        <p:spPr>
          <a:xfrm xmlns:a="http://schemas.openxmlformats.org/drawingml/2006/main">
            <a:off x="46863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PitchControllerRef.slx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PI</a:t>
            </a:r>
          </a:p>
        </p:txBody>
      </p:sp>
      <p:sp>
        <p:nvSpPr>
          <p:cNvPr id="41" name="s8-child-3">
            <a:extLst xmlns:a="http://schemas.openxmlformats.org/drawingml/2006/main">
              <a:ext uri="{FF2B5EF4-FFF2-40B4-BE49-F238E27FC236}">
                <a16:creationId xmlns:a16="http://schemas.microsoft.com/office/drawing/2014/main" id="{4C5B8235-FA69-47B2-A16F-E8FCCFB39CF9}"/>
              </a:ext>
            </a:extLst>
          </p:cNvPr>
          <p:cNvSpPr>
            <a:spLocks xmlns:a="http://schemas.openxmlformats.org/drawingml/2006/main" noGrp="1"/>
          </p:cNvSpPr>
          <p:nvPr/>
        </p:nvSpPr>
        <p:spPr>
          <a:xfrm xmlns:a="http://schemas.openxmlformats.org/drawingml/2006/main">
            <a:off x="46863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ActuatorCommandRef.slx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42" name="s8-ap-root">
            <a:extLst xmlns:a="http://schemas.openxmlformats.org/drawingml/2006/main">
              <a:ext uri="{FF2B5EF4-FFF2-40B4-BE49-F238E27FC236}">
                <a16:creationId xmlns:a16="http://schemas.microsoft.com/office/drawing/2014/main" id="{CFDE3A17-1FE3-4194-ADBC-17B41BBC86A5}"/>
              </a:ext>
            </a:extLst>
          </p:cNvPr>
          <p:cNvSpPr>
            <a:spLocks xmlns:a="http://schemas.openxmlformats.org/drawingml/2006/main" noGrp="1"/>
          </p:cNvSpPr>
          <p:nvPr/>
        </p:nvSpPr>
        <p:spPr>
          <a:xfrm xmlns:a="http://schemas.openxmlformats.org/drawingml/2006/main">
            <a:off x="8115300" y="1857375"/>
            <a:ext cx="2971800" cy="552450"/>
          </a:xfrm>
          <a:prstGeom xmlns:a="http://schemas.openxmlformats.org/drawingml/2006/main" prst="roundRect">
            <a:avLst>
              <a:gd name="adj" fmla="val 20690"/>
            </a:avLst>
          </a:prstGeom>
          <a:solidFill xmlns:a="http://schemas.openxmlformats.org/drawingml/2006/main">
            <a:srgbClr val="E9A23B"/>
          </a:solidFill>
          <a:ln xmlns:a="http://schemas.openxmlformats.org/drawingml/2006/main" w="14288">
            <a:solidFill>
              <a:srgbClr val="FFD38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AutopilotModeLogic.slx • separate root</a:t>
            </a:r>
          </a:p>
        </p:txBody>
      </p:sp>
      <p:sp>
        <p:nvSpPr>
          <p:cNvPr id="43" name="s8-ap-sub">
            <a:extLst xmlns:a="http://schemas.openxmlformats.org/drawingml/2006/main">
              <a:ext uri="{FF2B5EF4-FFF2-40B4-BE49-F238E27FC236}">
                <a16:creationId xmlns:a16="http://schemas.microsoft.com/office/drawing/2014/main" id="{EE3224AA-93E5-49FF-872E-0C93554BAE08}"/>
              </a:ext>
            </a:extLst>
          </p:cNvPr>
          <p:cNvSpPr>
            <a:spLocks xmlns:a="http://schemas.openxmlformats.org/drawingml/2006/main" noGrp="1"/>
          </p:cNvSpPr>
          <p:nvPr/>
        </p:nvSpPr>
        <p:spPr>
          <a:xfrm xmlns:a="http://schemas.openxmlformats.org/drawingml/2006/main">
            <a:off x="8305800" y="271462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Autopilot Mode Logic</a:t>
            </a:r>
          </a:p>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Stateflow chart • internal</a:t>
            </a:r>
          </a:p>
        </p:txBody>
      </p:sp>
      <p:sp>
        <p:nvSpPr>
          <p:cNvPr id="44" name="s8-harness-root">
            <a:extLst xmlns:a="http://schemas.openxmlformats.org/drawingml/2006/main">
              <a:ext uri="{FF2B5EF4-FFF2-40B4-BE49-F238E27FC236}">
                <a16:creationId xmlns:a16="http://schemas.microsoft.com/office/drawing/2014/main" id="{6A5F1580-C84E-4D35-85FD-EE9E456F4BB3}"/>
              </a:ext>
            </a:extLst>
          </p:cNvPr>
          <p:cNvSpPr>
            <a:spLocks xmlns:a="http://schemas.openxmlformats.org/drawingml/2006/main" noGrp="1"/>
          </p:cNvSpPr>
          <p:nvPr/>
        </p:nvSpPr>
        <p:spPr>
          <a:xfrm xmlns:a="http://schemas.openxmlformats.org/drawingml/2006/main">
            <a:off x="8115300" y="3476625"/>
            <a:ext cx="2971800" cy="552450"/>
          </a:xfrm>
          <a:prstGeom xmlns:a="http://schemas.openxmlformats.org/drawingml/2006/main" prst="roundRect">
            <a:avLst>
              <a:gd name="adj" fmla="val 20690"/>
            </a:avLst>
          </a:prstGeom>
          <a:solidFill xmlns:a="http://schemas.openxmlformats.org/drawingml/2006/main">
            <a:srgbClr val="2CA56F"/>
          </a:solidFill>
          <a:ln xmlns:a="http://schemas.openxmlformats.org/drawingml/2006/main" w="14288">
            <a:solidFill>
              <a:srgbClr val="7DDBA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PitchRateLimiter_Harness.slx</a:t>
            </a:r>
          </a:p>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independent harness</a:t>
            </a:r>
          </a:p>
        </p:txBody>
      </p:sp>
      <p:sp>
        <p:nvSpPr>
          <p:cNvPr id="45" name="s8-harness-sub">
            <a:extLst xmlns:a="http://schemas.openxmlformats.org/drawingml/2006/main">
              <a:ext uri="{FF2B5EF4-FFF2-40B4-BE49-F238E27FC236}">
                <a16:creationId xmlns:a16="http://schemas.microsoft.com/office/drawing/2014/main" id="{91B084CD-AC87-4A23-9E74-2561B3B517AF}"/>
              </a:ext>
            </a:extLst>
          </p:cNvPr>
          <p:cNvSpPr>
            <a:spLocks xmlns:a="http://schemas.openxmlformats.org/drawingml/2006/main" noGrp="1"/>
          </p:cNvSpPr>
          <p:nvPr/>
        </p:nvSpPr>
        <p:spPr>
          <a:xfrm xmlns:a="http://schemas.openxmlformats.org/drawingml/2006/main">
            <a:off x="8305800" y="433387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Unit Under Test - PitchRateLimiter</a:t>
            </a:r>
          </a:p>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model reference</a:t>
            </a:r>
          </a:p>
        </p:txBody>
      </p:sp>
      <p:sp>
        <p:nvSpPr>
          <p:cNvPr id="46" name="s8-legend">
            <a:extLst xmlns:a="http://schemas.openxmlformats.org/drawingml/2006/main">
              <a:ext uri="{FF2B5EF4-FFF2-40B4-BE49-F238E27FC236}">
                <a16:creationId xmlns:a16="http://schemas.microsoft.com/office/drawing/2014/main" id="{79968503-02FB-4E4B-8627-0833C1EB2D38}"/>
              </a:ext>
            </a:extLst>
          </p:cNvPr>
          <p:cNvSpPr>
            <a:spLocks xmlns:a="http://schemas.openxmlformats.org/drawingml/2006/main" noGrp="1"/>
          </p:cNvSpPr>
          <p:nvPr/>
        </p:nvSpPr>
        <p:spPr>
          <a:xfrm xmlns:a="http://schemas.openxmlformats.org/drawingml/2006/main">
            <a:off x="8153400" y="5191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035" b="1">
                <a:solidFill>
                  <a:srgbClr val="D8E8F1"/>
                </a:solidFill>
                <a:latin typeface="Aptos"/>
                <a:ea typeface="Aptos"/>
                <a:cs typeface="Aptos"/>
              </a:defRPr>
            </a:pPr>
            <a:r>
              <a:rPr sz="1035" b="1">
                <a:solidFill>
                  <a:srgbClr val="D8E8F1"/>
                </a:solidFill>
                <a:latin typeface="Aptos"/>
                <a:ea typeface="Aptos"/>
                <a:cs typeface="Aptos"/>
              </a:rPr>
              <a:t>Root model • referenced child • internal subsystem/chart • independent harness</a:t>
            </a:r>
          </a:p>
        </p:txBody>
      </p:sp>
    </p:spTree>
    <p:extLst>
      <p:ext uri="{BB962C8B-B14F-4D97-AF65-F5344CB8AC3E}">
        <p14:creationId xmlns:p14="http://schemas.microsoft.com/office/powerpoint/2010/main" val="1442167591"/>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AircraftFeedbackControlLoop closes the training loop</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36" name="s9-image-frame">
            <a:extLst xmlns:a="http://schemas.openxmlformats.org/drawingml/2006/main">
              <a:ext uri="{FF2B5EF4-FFF2-40B4-BE49-F238E27FC236}">
                <a16:creationId xmlns:a16="http://schemas.microsoft.com/office/drawing/2014/main" id="{8D3613F1-0140-4C7C-A8B3-B6EE9C7BF7F1}"/>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7bc0e3b25504430"/>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8" name="s9-role">
            <a:extLst xmlns:a="http://schemas.openxmlformats.org/drawingml/2006/main">
              <a:ext uri="{FF2B5EF4-FFF2-40B4-BE49-F238E27FC236}">
                <a16:creationId xmlns:a16="http://schemas.microsoft.com/office/drawing/2014/main" id="{4AA143EC-9F55-43B4-82D4-6884097FEC64}"/>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9-caption">
            <a:extLst xmlns:a="http://schemas.openxmlformats.org/drawingml/2006/main">
              <a:ext uri="{FF2B5EF4-FFF2-40B4-BE49-F238E27FC236}">
                <a16:creationId xmlns:a16="http://schemas.microsoft.com/office/drawing/2014/main" id="{B489CB9E-B23B-42D6-AF0D-969736A2FE67}"/>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models/AircraftFeedbackControlLoop.slx • standalone closed-loop training model</a:t>
            </a:r>
          </a:p>
        </p:txBody>
      </p:sp>
    </p:spTree>
    <p:extLst>
      <p:ext uri="{BB962C8B-B14F-4D97-AF65-F5344CB8AC3E}">
        <p14:creationId xmlns:p14="http://schemas.microsoft.com/office/powerpoint/2010/main" val="1578336787"/>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Controller PI turns tracking error into demand</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sp>
        <p:nvSpPr>
          <p:cNvPr id="36" name="s10-image-frame">
            <a:extLst xmlns:a="http://schemas.openxmlformats.org/drawingml/2006/main">
              <a:ext uri="{FF2B5EF4-FFF2-40B4-BE49-F238E27FC236}">
                <a16:creationId xmlns:a16="http://schemas.microsoft.com/office/drawing/2014/main" id="{0FD00060-E8F4-46B1-BE7E-855BAB6F27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14f569e8d7b4c1c"/>
          <a:stretch xmlns:a="http://schemas.openxmlformats.org/drawingml/2006/main"/>
        </p:blipFill>
        <p:spPr>
          <a:xfrm xmlns:a="http://schemas.openxmlformats.org/drawingml/2006/main">
            <a:off x="2085198" y="1438275"/>
            <a:ext cx="8021604" cy="4457700"/>
          </a:xfrm>
          <a:prstGeom xmlns:a="http://schemas.openxmlformats.org/drawingml/2006/main" prst="rect">
            <a:avLst/>
          </a:prstGeom>
        </p:spPr>
      </p:pic>
      <p:sp>
        <p:nvSpPr>
          <p:cNvPr id="38" name="s10-role">
            <a:extLst xmlns:a="http://schemas.openxmlformats.org/drawingml/2006/main">
              <a:ext uri="{FF2B5EF4-FFF2-40B4-BE49-F238E27FC236}">
                <a16:creationId xmlns:a16="http://schemas.microsoft.com/office/drawing/2014/main" id="{1E057519-B56F-4663-A72E-9B1AD948421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0-caption">
            <a:extLst xmlns:a="http://schemas.openxmlformats.org/drawingml/2006/main">
              <a:ext uri="{FF2B5EF4-FFF2-40B4-BE49-F238E27FC236}">
                <a16:creationId xmlns:a16="http://schemas.microsoft.com/office/drawing/2014/main" id="{F6144206-BF67-42E0-BF60-2D92F36CAF9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AircraftFeedbackControlLoop/Pitch Controller PI</a:t>
            </a:r>
          </a:p>
        </p:txBody>
      </p:sp>
    </p:spTree>
    <p:extLst>
      <p:ext uri="{BB962C8B-B14F-4D97-AF65-F5344CB8AC3E}">
        <p14:creationId xmlns:p14="http://schemas.microsoft.com/office/powerpoint/2010/main" val="1578336787"/>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 Dynamics converts demand into position</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
        <p:nvSpPr>
          <p:cNvPr id="36" name="s11-image-frame">
            <a:extLst xmlns:a="http://schemas.openxmlformats.org/drawingml/2006/main">
              <a:ext uri="{FF2B5EF4-FFF2-40B4-BE49-F238E27FC236}">
                <a16:creationId xmlns:a16="http://schemas.microsoft.com/office/drawing/2014/main" id="{77C20563-96F3-4C95-99CA-0FB69811F72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7dd94dd9aad4d19"/>
          <a:stretch xmlns:a="http://schemas.openxmlformats.org/drawingml/2006/main"/>
        </p:blipFill>
        <p:spPr>
          <a:xfrm xmlns:a="http://schemas.openxmlformats.org/drawingml/2006/main">
            <a:off x="2116213" y="1438275"/>
            <a:ext cx="7959574" cy="4457700"/>
          </a:xfrm>
          <a:prstGeom xmlns:a="http://schemas.openxmlformats.org/drawingml/2006/main" prst="rect">
            <a:avLst/>
          </a:prstGeom>
        </p:spPr>
      </p:pic>
      <p:sp>
        <p:nvSpPr>
          <p:cNvPr id="38" name="s11-role">
            <a:extLst xmlns:a="http://schemas.openxmlformats.org/drawingml/2006/main">
              <a:ext uri="{FF2B5EF4-FFF2-40B4-BE49-F238E27FC236}">
                <a16:creationId xmlns:a16="http://schemas.microsoft.com/office/drawing/2014/main" id="{8A7F81C6-E180-46C4-864E-0E43B7C96E0E}"/>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1-caption">
            <a:extLst xmlns:a="http://schemas.openxmlformats.org/drawingml/2006/main">
              <a:ext uri="{FF2B5EF4-FFF2-40B4-BE49-F238E27FC236}">
                <a16:creationId xmlns:a16="http://schemas.microsoft.com/office/drawing/2014/main" id="{0592EE79-674D-4236-A66E-07F4FCF5D76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AircraftFeedbackControlLoop/Actuator Dynamics</a:t>
            </a:r>
          </a:p>
        </p:txBody>
      </p:sp>
    </p:spTree>
    <p:extLst>
      <p:ext uri="{BB962C8B-B14F-4D97-AF65-F5344CB8AC3E}">
        <p14:creationId xmlns:p14="http://schemas.microsoft.com/office/powerpoint/2010/main" val="1578336787"/>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Longitudinal dynamics turn actuator motion into response</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12</a:t>
            </a:r>
          </a:p>
        </p:txBody>
      </p:sp>
      <p:sp>
        <p:nvSpPr>
          <p:cNvPr id="36" name="s12-image-frame">
            <a:extLst xmlns:a="http://schemas.openxmlformats.org/drawingml/2006/main">
              <a:ext uri="{FF2B5EF4-FFF2-40B4-BE49-F238E27FC236}">
                <a16:creationId xmlns:a16="http://schemas.microsoft.com/office/drawing/2014/main" id="{3A12BB18-B7CF-498E-A8FF-CFC09AC345F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99e02fbe74814751"/>
          <a:stretch xmlns:a="http://schemas.openxmlformats.org/drawingml/2006/main"/>
        </p:blipFill>
        <p:spPr>
          <a:xfrm xmlns:a="http://schemas.openxmlformats.org/drawingml/2006/main">
            <a:off x="2075329" y="1438275"/>
            <a:ext cx="8041341" cy="4457700"/>
          </a:xfrm>
          <a:prstGeom xmlns:a="http://schemas.openxmlformats.org/drawingml/2006/main" prst="rect">
            <a:avLst/>
          </a:prstGeom>
        </p:spPr>
      </p:pic>
      <p:sp>
        <p:nvSpPr>
          <p:cNvPr id="38" name="s12-role">
            <a:extLst xmlns:a="http://schemas.openxmlformats.org/drawingml/2006/main">
              <a:ext uri="{FF2B5EF4-FFF2-40B4-BE49-F238E27FC236}">
                <a16:creationId xmlns:a16="http://schemas.microsoft.com/office/drawing/2014/main" id="{2BEA4BB5-2104-4E91-A129-BF7BF86D66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2-caption">
            <a:extLst xmlns:a="http://schemas.openxmlformats.org/drawingml/2006/main">
              <a:ext uri="{FF2B5EF4-FFF2-40B4-BE49-F238E27FC236}">
                <a16:creationId xmlns:a16="http://schemas.microsoft.com/office/drawing/2014/main" id="{DCE5DF34-10F2-457A-B8C2-CA82109821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AircraftFeedbackControlLoop/Simplified Longitudinal Aircraft Dynamics</a:t>
            </a:r>
          </a:p>
        </p:txBody>
      </p:sp>
    </p:spTree>
    <p:extLst>
      <p:ext uri="{BB962C8B-B14F-4D97-AF65-F5344CB8AC3E}">
        <p14:creationId xmlns:p14="http://schemas.microsoft.com/office/powerpoint/2010/main" val="1578336787"/>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 Processing Lag exposes measurement dynamics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36" name="s13-image-frame">
            <a:extLst xmlns:a="http://schemas.openxmlformats.org/drawingml/2006/main">
              <a:ext uri="{FF2B5EF4-FFF2-40B4-BE49-F238E27FC236}">
                <a16:creationId xmlns:a16="http://schemas.microsoft.com/office/drawing/2014/main" id="{52FBA5B8-C03F-449C-9C7F-3054EF14A86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5f0a0df5684a42e4"/>
          <a:stretch xmlns:a="http://schemas.openxmlformats.org/drawingml/2006/main"/>
        </p:blipFill>
        <p:spPr>
          <a:xfrm xmlns:a="http://schemas.openxmlformats.org/drawingml/2006/main">
            <a:off x="2117623" y="1438275"/>
            <a:ext cx="7956755" cy="4457700"/>
          </a:xfrm>
          <a:prstGeom xmlns:a="http://schemas.openxmlformats.org/drawingml/2006/main" prst="rect">
            <a:avLst/>
          </a:prstGeom>
        </p:spPr>
      </p:pic>
      <p:sp>
        <p:nvSpPr>
          <p:cNvPr id="38" name="s13-role">
            <a:extLst xmlns:a="http://schemas.openxmlformats.org/drawingml/2006/main">
              <a:ext uri="{FF2B5EF4-FFF2-40B4-BE49-F238E27FC236}">
                <a16:creationId xmlns:a16="http://schemas.microsoft.com/office/drawing/2014/main" id="{57CE753A-2954-474F-8AC4-324EF7045E3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3-caption">
            <a:extLst xmlns:a="http://schemas.openxmlformats.org/drawingml/2006/main">
              <a:ext uri="{FF2B5EF4-FFF2-40B4-BE49-F238E27FC236}">
                <a16:creationId xmlns:a16="http://schemas.microsoft.com/office/drawing/2014/main" id="{7D06E577-8055-47E3-B1CF-BEC248FF0E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AircraftFeedbackControlLoop/Sensor Processing Lag</a:t>
            </a:r>
          </a:p>
        </p:txBody>
      </p:sp>
    </p:spTree>
    <p:extLst>
      <p:ext uri="{BB962C8B-B14F-4D97-AF65-F5344CB8AC3E}">
        <p14:creationId xmlns:p14="http://schemas.microsoft.com/office/powerpoint/2010/main" val="1578336787"/>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AutopilotModeLogic wraps mode behavior in explicit interfaces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36" name="s14-image-frame">
            <a:extLst xmlns:a="http://schemas.openxmlformats.org/drawingml/2006/main">
              <a:ext uri="{FF2B5EF4-FFF2-40B4-BE49-F238E27FC236}">
                <a16:creationId xmlns:a16="http://schemas.microsoft.com/office/drawing/2014/main" id="{029643F4-4283-464D-A148-D4EB3873B81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83bba8dc423e4d1e"/>
          <a:stretch xmlns:a="http://schemas.openxmlformats.org/drawingml/2006/main"/>
        </p:blipFill>
        <p:spPr>
          <a:xfrm xmlns:a="http://schemas.openxmlformats.org/drawingml/2006/main">
            <a:off x="3100234" y="1438275"/>
            <a:ext cx="5991532" cy="4457700"/>
          </a:xfrm>
          <a:prstGeom xmlns:a="http://schemas.openxmlformats.org/drawingml/2006/main" prst="rect">
            <a:avLst/>
          </a:prstGeom>
        </p:spPr>
      </p:pic>
      <p:sp>
        <p:nvSpPr>
          <p:cNvPr id="38" name="s14-role">
            <a:extLst xmlns:a="http://schemas.openxmlformats.org/drawingml/2006/main">
              <a:ext uri="{FF2B5EF4-FFF2-40B4-BE49-F238E27FC236}">
                <a16:creationId xmlns:a16="http://schemas.microsoft.com/office/drawing/2014/main" id="{0E897472-283D-44B2-8BF0-CF6C6447D85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14-caption">
            <a:extLst xmlns:a="http://schemas.openxmlformats.org/drawingml/2006/main">
              <a:ext uri="{FF2B5EF4-FFF2-40B4-BE49-F238E27FC236}">
                <a16:creationId xmlns:a16="http://schemas.microsoft.com/office/drawing/2014/main" id="{EC39C94B-0D31-4BD9-A4AE-DF885316D910}"/>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models/AutopilotModeLogic.slx • separate Stateflow training model</a:t>
            </a:r>
          </a:p>
        </p:txBody>
      </p:sp>
    </p:spTree>
    <p:extLst>
      <p:ext uri="{BB962C8B-B14F-4D97-AF65-F5344CB8AC3E}">
        <p14:creationId xmlns:p14="http://schemas.microsoft.com/office/powerpoint/2010/main" val="1578336787"/>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Stateflow guards OFF, ARMED, ENGAGED, and DEGRADED</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15</a:t>
            </a:r>
          </a:p>
        </p:txBody>
      </p:sp>
      <p:sp>
        <p:nvSpPr>
          <p:cNvPr id="31" name="s15-image-frame">
            <a:extLst xmlns:a="http://schemas.openxmlformats.org/drawingml/2006/main">
              <a:ext uri="{FF2B5EF4-FFF2-40B4-BE49-F238E27FC236}">
                <a16:creationId xmlns:a16="http://schemas.microsoft.com/office/drawing/2014/main" id="{2DD9EA5C-035B-45CF-8FD3-0FFC0AEE1860}"/>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45136834f95e41d1"/>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3" name="s15-role">
            <a:extLst xmlns:a="http://schemas.openxmlformats.org/drawingml/2006/main">
              <a:ext uri="{FF2B5EF4-FFF2-40B4-BE49-F238E27FC236}">
                <a16:creationId xmlns:a16="http://schemas.microsoft.com/office/drawing/2014/main" id="{E9726D10-41C5-4318-8538-40537069CE7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STATEFLOW VIEW</a:t>
            </a:r>
          </a:p>
        </p:txBody>
      </p:sp>
      <p:sp>
        <p:nvSpPr>
          <p:cNvPr id="34" name="s15-caption">
            <a:extLst xmlns:a="http://schemas.openxmlformats.org/drawingml/2006/main">
              <a:ext uri="{FF2B5EF4-FFF2-40B4-BE49-F238E27FC236}">
                <a16:creationId xmlns:a16="http://schemas.microsoft.com/office/drawing/2014/main" id="{CF716051-DA55-4CCB-8670-694CF0C444E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AutopilotModeLogic/Autopilot Mode Logic • Stateflow chart</a:t>
            </a:r>
          </a:p>
        </p:txBody>
      </p:sp>
    </p:spTree>
    <p:extLst>
      <p:ext uri="{BB962C8B-B14F-4D97-AF65-F5344CB8AC3E}">
        <p14:creationId xmlns:p14="http://schemas.microsoft.com/office/powerpoint/2010/main" val="812255478"/>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16</a:t>
            </a:r>
          </a:p>
        </p:txBody>
      </p:sp>
      <p:sp>
        <p:nvSpPr>
          <p:cNvPr id="20" name="s16-image-frame">
            <a:extLst xmlns:a="http://schemas.openxmlformats.org/drawingml/2006/main">
              <a:ext uri="{FF2B5EF4-FFF2-40B4-BE49-F238E27FC236}">
                <a16:creationId xmlns:a16="http://schemas.microsoft.com/office/drawing/2014/main" id="{B89EF0BE-2F40-437E-9A9B-CC8AB012874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d0a39a358af4b39"/>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22" name="s16-role">
            <a:extLst xmlns:a="http://schemas.openxmlformats.org/drawingml/2006/main">
              <a:ext uri="{FF2B5EF4-FFF2-40B4-BE49-F238E27FC236}">
                <a16:creationId xmlns:a16="http://schemas.microsoft.com/office/drawing/2014/main" id="{93326B14-E2B3-4254-BEAB-A25ACF38A5F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INTEGRATION PARENT</a:t>
            </a:r>
          </a:p>
        </p:txBody>
      </p:sp>
      <p:sp>
        <p:nvSpPr>
          <p:cNvPr id="23" name="s16-caption">
            <a:extLst xmlns:a="http://schemas.openxmlformats.org/drawingml/2006/main">
              <a:ext uri="{FF2B5EF4-FFF2-40B4-BE49-F238E27FC236}">
                <a16:creationId xmlns:a16="http://schemas.microsoft.com/office/drawing/2014/main" id="{ACD17429-25AE-4902-9A49-6C9E8DADDBA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models/ReferencedFlightControlArchitecture.slx • model-reference integration parent</a:t>
            </a:r>
          </a:p>
        </p:txBody>
      </p:sp>
    </p:spTree>
    <p:extLst>
      <p:ext uri="{BB962C8B-B14F-4D97-AF65-F5344CB8AC3E}">
        <p14:creationId xmlns:p14="http://schemas.microsoft.com/office/powerpoint/2010/main" val="1586749842"/>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SensorProcessingRef owns the referenced sensor contract</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20" name="s17-image-frame">
            <a:extLst xmlns:a="http://schemas.openxmlformats.org/drawingml/2006/main">
              <a:ext uri="{FF2B5EF4-FFF2-40B4-BE49-F238E27FC236}">
                <a16:creationId xmlns:a16="http://schemas.microsoft.com/office/drawing/2014/main" id="{F54A011E-D66A-44D8-8AED-9EE30952CDF5}"/>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5d4e29f8ebd4460"/>
          <a:stretch xmlns:a="http://schemas.openxmlformats.org/drawingml/2006/main"/>
        </p:blipFill>
        <p:spPr>
          <a:xfrm xmlns:a="http://schemas.openxmlformats.org/drawingml/2006/main">
            <a:off x="2097886" y="1438275"/>
            <a:ext cx="7996228" cy="4457700"/>
          </a:xfrm>
          <a:prstGeom xmlns:a="http://schemas.openxmlformats.org/drawingml/2006/main" prst="rect">
            <a:avLst/>
          </a:prstGeom>
        </p:spPr>
      </p:pic>
      <p:sp>
        <p:nvSpPr>
          <p:cNvPr id="22" name="s17-role">
            <a:extLst xmlns:a="http://schemas.openxmlformats.org/drawingml/2006/main">
              <a:ext uri="{FF2B5EF4-FFF2-40B4-BE49-F238E27FC236}">
                <a16:creationId xmlns:a16="http://schemas.microsoft.com/office/drawing/2014/main" id="{31ABF467-45AC-4081-87EB-48D8BE3DA34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17-caption">
            <a:extLst xmlns:a="http://schemas.openxmlformats.org/drawingml/2006/main">
              <a:ext uri="{FF2B5EF4-FFF2-40B4-BE49-F238E27FC236}">
                <a16:creationId xmlns:a16="http://schemas.microsoft.com/office/drawing/2014/main" id="{27291693-9177-4D9B-B157-D8DBC7934C1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models/SensorProcessingRef.slx</a:t>
            </a:r>
          </a:p>
        </p:txBody>
      </p:sp>
    </p:spTree>
    <p:extLst>
      <p:ext uri="{BB962C8B-B14F-4D97-AF65-F5344CB8AC3E}">
        <p14:creationId xmlns:p14="http://schemas.microsoft.com/office/powerpoint/2010/main" val="1586749842"/>
      </p:ext>
    </p:extLst>
  </p:cSld>
</p:sld>
</file>

<file path=ppt/slides/slide2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18</a:t>
            </a:r>
          </a:p>
        </p:txBody>
      </p:sp>
      <p:sp>
        <p:nvSpPr>
          <p:cNvPr id="26" name="s18-image-frame">
            <a:extLst xmlns:a="http://schemas.openxmlformats.org/drawingml/2006/main">
              <a:ext uri="{FF2B5EF4-FFF2-40B4-BE49-F238E27FC236}">
                <a16:creationId xmlns:a16="http://schemas.microsoft.com/office/drawing/2014/main" id="{2C287DBD-BD84-4AA4-AF4E-D9FDE24E9163}"/>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057ecb648b346cf"/>
          <a:stretch xmlns:a="http://schemas.openxmlformats.org/drawingml/2006/main"/>
        </p:blipFill>
        <p:spPr>
          <a:xfrm xmlns:a="http://schemas.openxmlformats.org/drawingml/2006/main">
            <a:off x="2402397" y="1438275"/>
            <a:ext cx="7387207" cy="4457700"/>
          </a:xfrm>
          <a:prstGeom xmlns:a="http://schemas.openxmlformats.org/drawingml/2006/main" prst="rect">
            <a:avLst/>
          </a:prstGeom>
        </p:spPr>
      </p:pic>
      <p:sp>
        <p:nvSpPr>
          <p:cNvPr id="28" name="s18-role">
            <a:extLst xmlns:a="http://schemas.openxmlformats.org/drawingml/2006/main">
              <a:ext uri="{FF2B5EF4-FFF2-40B4-BE49-F238E27FC236}">
                <a16:creationId xmlns:a16="http://schemas.microsoft.com/office/drawing/2014/main" id="{D70CE83D-7904-4E70-B6DA-B69524689A5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 / COMPONENT</a:t>
            </a:r>
          </a:p>
        </p:txBody>
      </p:sp>
      <p:sp>
        <p:nvSpPr>
          <p:cNvPr id="29" name="s18-caption">
            <a:extLst xmlns:a="http://schemas.openxmlformats.org/drawingml/2006/main">
              <a:ext uri="{FF2B5EF4-FFF2-40B4-BE49-F238E27FC236}">
                <a16:creationId xmlns:a16="http://schemas.microsoft.com/office/drawing/2014/main" id="{86A4A533-05B7-473F-B65C-CB16370DBDC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models/PitchRateLimiter.slx • standalone component and referenced child</a:t>
            </a:r>
          </a:p>
        </p:txBody>
      </p:sp>
    </p:spTree>
    <p:extLst>
      <p:ext uri="{BB962C8B-B14F-4D97-AF65-F5344CB8AC3E}">
        <p14:creationId xmlns:p14="http://schemas.microsoft.com/office/powerpoint/2010/main" val="112507120"/>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 Rate Limiter Logic clamps magnitude and controls fallback</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sp>
        <p:nvSpPr>
          <p:cNvPr id="26" name="s19-image-frame">
            <a:extLst xmlns:a="http://schemas.openxmlformats.org/drawingml/2006/main">
              <a:ext uri="{FF2B5EF4-FFF2-40B4-BE49-F238E27FC236}">
                <a16:creationId xmlns:a16="http://schemas.microsoft.com/office/drawing/2014/main" id="{6DB39B56-2D4A-44C9-A6C0-9CFA90EAE646}"/>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29f42901f0b4707"/>
          <a:stretch xmlns:a="http://schemas.openxmlformats.org/drawingml/2006/main"/>
        </p:blipFill>
        <p:spPr>
          <a:xfrm xmlns:a="http://schemas.openxmlformats.org/drawingml/2006/main">
            <a:off x="3238392" y="1438275"/>
            <a:ext cx="5715217" cy="4457700"/>
          </a:xfrm>
          <a:prstGeom xmlns:a="http://schemas.openxmlformats.org/drawingml/2006/main" prst="rect">
            <a:avLst/>
          </a:prstGeom>
        </p:spPr>
      </p:pic>
      <p:sp>
        <p:nvSpPr>
          <p:cNvPr id="28" name="s19-role">
            <a:extLst xmlns:a="http://schemas.openxmlformats.org/drawingml/2006/main">
              <a:ext uri="{FF2B5EF4-FFF2-40B4-BE49-F238E27FC236}">
                <a16:creationId xmlns:a16="http://schemas.microsoft.com/office/drawing/2014/main" id="{5C269675-CCFA-4CE1-B6B3-0711A16DFA7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29" name="s19-caption">
            <a:extLst xmlns:a="http://schemas.openxmlformats.org/drawingml/2006/main">
              <a:ext uri="{FF2B5EF4-FFF2-40B4-BE49-F238E27FC236}">
                <a16:creationId xmlns:a16="http://schemas.microsoft.com/office/drawing/2014/main" id="{6A118B28-AE7E-4066-9D40-CFDB987C8898}"/>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PitchRateLimiter/Pitch Rate Limiter Logic</a:t>
            </a:r>
          </a:p>
        </p:txBody>
      </p:sp>
    </p:spTree>
    <p:extLst>
      <p:ext uri="{BB962C8B-B14F-4D97-AF65-F5344CB8AC3E}">
        <p14:creationId xmlns:p14="http://schemas.microsoft.com/office/powerpoint/2010/main" val="112507120"/>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PitchControllerRef defines the referenced controller boundary</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
        <p:nvSpPr>
          <p:cNvPr id="20" name="s20-image-frame">
            <a:extLst xmlns:a="http://schemas.openxmlformats.org/drawingml/2006/main">
              <a:ext uri="{FF2B5EF4-FFF2-40B4-BE49-F238E27FC236}">
                <a16:creationId xmlns:a16="http://schemas.microsoft.com/office/drawing/2014/main" id="{610C1686-E68B-4A11-89CA-BB77DD5D41BA}"/>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33cf067bcba4a20"/>
          <a:stretch xmlns:a="http://schemas.openxmlformats.org/drawingml/2006/main"/>
        </p:blipFill>
        <p:spPr>
          <a:xfrm xmlns:a="http://schemas.openxmlformats.org/drawingml/2006/main">
            <a:off x="2104935" y="1438275"/>
            <a:ext cx="7982131" cy="4457700"/>
          </a:xfrm>
          <a:prstGeom xmlns:a="http://schemas.openxmlformats.org/drawingml/2006/main" prst="rect">
            <a:avLst/>
          </a:prstGeom>
        </p:spPr>
      </p:pic>
      <p:sp>
        <p:nvSpPr>
          <p:cNvPr id="22" name="s20-role">
            <a:extLst xmlns:a="http://schemas.openxmlformats.org/drawingml/2006/main">
              <a:ext uri="{FF2B5EF4-FFF2-40B4-BE49-F238E27FC236}">
                <a16:creationId xmlns:a16="http://schemas.microsoft.com/office/drawing/2014/main" id="{602EDCB5-E6DD-4D03-AFCB-F0ADB5320BE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0-caption">
            <a:extLst xmlns:a="http://schemas.openxmlformats.org/drawingml/2006/main">
              <a:ext uri="{FF2B5EF4-FFF2-40B4-BE49-F238E27FC236}">
                <a16:creationId xmlns:a16="http://schemas.microsoft.com/office/drawing/2014/main" id="{8F58D5BF-0D04-49D2-8773-92386E29AB4B}"/>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models/PitchControllerRef.slx</a:t>
            </a:r>
          </a:p>
        </p:txBody>
      </p:sp>
    </p:spTree>
    <p:extLst>
      <p:ext uri="{BB962C8B-B14F-4D97-AF65-F5344CB8AC3E}">
        <p14:creationId xmlns:p14="http://schemas.microsoft.com/office/powerpoint/2010/main" val="1586749842"/>
      </p:ext>
    </p:extLst>
  </p:cSld>
</p:sld>
</file>

<file path=ppt/slides/slide2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Rate PI implements the referenced control law</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sp>
        <p:nvSpPr>
          <p:cNvPr id="36" name="s21-image-frame">
            <a:extLst xmlns:a="http://schemas.openxmlformats.org/drawingml/2006/main">
              <a:ext uri="{FF2B5EF4-FFF2-40B4-BE49-F238E27FC236}">
                <a16:creationId xmlns:a16="http://schemas.microsoft.com/office/drawing/2014/main" id="{5894E343-B40F-46C7-B41A-4FA2DF93420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106bb56551c4cdc"/>
          <a:stretch xmlns:a="http://schemas.openxmlformats.org/drawingml/2006/main"/>
        </p:blipFill>
        <p:spPr>
          <a:xfrm xmlns:a="http://schemas.openxmlformats.org/drawingml/2006/main">
            <a:off x="2103525" y="1438275"/>
            <a:ext cx="7984950" cy="4457700"/>
          </a:xfrm>
          <a:prstGeom xmlns:a="http://schemas.openxmlformats.org/drawingml/2006/main" prst="rect">
            <a:avLst/>
          </a:prstGeom>
        </p:spPr>
      </p:pic>
      <p:sp>
        <p:nvSpPr>
          <p:cNvPr id="38" name="s21-role">
            <a:extLst xmlns:a="http://schemas.openxmlformats.org/drawingml/2006/main">
              <a:ext uri="{FF2B5EF4-FFF2-40B4-BE49-F238E27FC236}">
                <a16:creationId xmlns:a16="http://schemas.microsoft.com/office/drawing/2014/main" id="{19CC6A5A-FEB1-49B3-9AAD-49E2D7049CD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21-caption">
            <a:extLst xmlns:a="http://schemas.openxmlformats.org/drawingml/2006/main">
              <a:ext uri="{FF2B5EF4-FFF2-40B4-BE49-F238E27FC236}">
                <a16:creationId xmlns:a16="http://schemas.microsoft.com/office/drawing/2014/main" id="{657F2B42-DDF8-4E14-85EE-F2ECCACE0BF1}"/>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PitchControllerRef/Pitch Rate PI</a:t>
            </a:r>
          </a:p>
        </p:txBody>
      </p:sp>
    </p:spTree>
    <p:extLst>
      <p:ext uri="{BB962C8B-B14F-4D97-AF65-F5344CB8AC3E}">
        <p14:creationId xmlns:p14="http://schemas.microsoft.com/office/powerpoint/2010/main" val="1578336787"/>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ActuatorCommandRef owns command limiting and status</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sp>
        <p:nvSpPr>
          <p:cNvPr id="20" name="s22-image-frame">
            <a:extLst xmlns:a="http://schemas.openxmlformats.org/drawingml/2006/main">
              <a:ext uri="{FF2B5EF4-FFF2-40B4-BE49-F238E27FC236}">
                <a16:creationId xmlns:a16="http://schemas.microsoft.com/office/drawing/2014/main" id="{3363F7CA-2EC3-4104-A2C5-67A1E088CCD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3504e737c7749d6"/>
          <a:stretch xmlns:a="http://schemas.openxmlformats.org/drawingml/2006/main"/>
        </p:blipFill>
        <p:spPr>
          <a:xfrm xmlns:a="http://schemas.openxmlformats.org/drawingml/2006/main">
            <a:off x="2247322" y="1438275"/>
            <a:ext cx="7697357" cy="4457700"/>
          </a:xfrm>
          <a:prstGeom xmlns:a="http://schemas.openxmlformats.org/drawingml/2006/main" prst="rect">
            <a:avLst/>
          </a:prstGeom>
        </p:spPr>
      </p:pic>
      <p:sp>
        <p:nvSpPr>
          <p:cNvPr id="22" name="s22-role">
            <a:extLst xmlns:a="http://schemas.openxmlformats.org/drawingml/2006/main">
              <a:ext uri="{FF2B5EF4-FFF2-40B4-BE49-F238E27FC236}">
                <a16:creationId xmlns:a16="http://schemas.microsoft.com/office/drawing/2014/main" id="{EFA30B06-F2D0-4A95-B9F8-432C09DB6E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2-caption">
            <a:extLst xmlns:a="http://schemas.openxmlformats.org/drawingml/2006/main">
              <a:ext uri="{FF2B5EF4-FFF2-40B4-BE49-F238E27FC236}">
                <a16:creationId xmlns:a16="http://schemas.microsoft.com/office/drawing/2014/main" id="{153586AB-D411-43F2-976C-40FC6BE62A6C}"/>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models/ActuatorCommandRef.slx</a:t>
            </a:r>
          </a:p>
        </p:txBody>
      </p:sp>
    </p:spTree>
    <p:extLst>
      <p:ext uri="{BB962C8B-B14F-4D97-AF65-F5344CB8AC3E}">
        <p14:creationId xmlns:p14="http://schemas.microsoft.com/office/powerpoint/2010/main" val="1586749842"/>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PitchRateLimiter_Harness isolates the unit under test</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
        <p:nvSpPr>
          <p:cNvPr id="20" name="s23-image-frame">
            <a:extLst xmlns:a="http://schemas.openxmlformats.org/drawingml/2006/main">
              <a:ext uri="{FF2B5EF4-FFF2-40B4-BE49-F238E27FC236}">
                <a16:creationId xmlns:a16="http://schemas.microsoft.com/office/drawing/2014/main" id="{94942EF4-6215-430A-842B-86B06BF1FA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dda8e4a8b334741"/>
          <a:stretch xmlns:a="http://schemas.openxmlformats.org/drawingml/2006/main"/>
        </p:blipFill>
        <p:spPr>
          <a:xfrm xmlns:a="http://schemas.openxmlformats.org/drawingml/2006/main">
            <a:off x="2292434" y="1438275"/>
            <a:ext cx="7607131" cy="4457700"/>
          </a:xfrm>
          <a:prstGeom xmlns:a="http://schemas.openxmlformats.org/drawingml/2006/main" prst="rect">
            <a:avLst/>
          </a:prstGeom>
        </p:spPr>
      </p:pic>
      <p:sp>
        <p:nvSpPr>
          <p:cNvPr id="22" name="s23-role">
            <a:extLst xmlns:a="http://schemas.openxmlformats.org/drawingml/2006/main">
              <a:ext uri="{FF2B5EF4-FFF2-40B4-BE49-F238E27FC236}">
                <a16:creationId xmlns:a16="http://schemas.microsoft.com/office/drawing/2014/main" id="{8E57BF9F-62F2-404C-B08E-18AEAC478C7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INDEPENDENT TEST HARNESS</a:t>
            </a:r>
          </a:p>
        </p:txBody>
      </p:sp>
      <p:sp>
        <p:nvSpPr>
          <p:cNvPr id="23" name="s23-caption">
            <a:extLst xmlns:a="http://schemas.openxmlformats.org/drawingml/2006/main">
              <a:ext uri="{FF2B5EF4-FFF2-40B4-BE49-F238E27FC236}">
                <a16:creationId xmlns:a16="http://schemas.microsoft.com/office/drawing/2014/main" id="{726190F5-3283-42E6-9B20-FD0164EDA2E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models/PitchRateLimiter_Harness.slx • references PitchRateLimiter</a:t>
            </a:r>
          </a:p>
        </p:txBody>
      </p:sp>
    </p:spTree>
    <p:extLst>
      <p:ext uri="{BB962C8B-B14F-4D97-AF65-F5344CB8AC3E}">
        <p14:creationId xmlns:p14="http://schemas.microsoft.com/office/powerpoint/2010/main" val="1234053405"/>
      </p:ext>
    </p:extLst>
  </p:cSld>
</p:sld>
</file>

<file path=ppt/slides/slide2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25</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35" name="s24-image-frame">
            <a:extLst xmlns:a="http://schemas.openxmlformats.org/drawingml/2006/main">
              <a:ext uri="{FF2B5EF4-FFF2-40B4-BE49-F238E27FC236}">
                <a16:creationId xmlns:a16="http://schemas.microsoft.com/office/drawing/2014/main" id="{9C6E250C-2E90-48B6-8A9F-B7E3EABBB44A}"/>
              </a:ext>
            </a:extLst>
          </p:cNvPr>
          <p:cNvSpPr>
            <a:spLocks xmlns:a="http://schemas.openxmlformats.org/drawingml/2006/main" noGrp="1"/>
          </p:cNvSpPr>
          <p:nvPr/>
        </p:nvSpPr>
        <p:spPr>
          <a:xfrm xmlns:a="http://schemas.openxmlformats.org/drawingml/2006/main">
            <a:off x="609600" y="1381125"/>
            <a:ext cx="8572500" cy="4629150"/>
          </a:xfrm>
          <a:prstGeom xmlns:a="http://schemas.openxmlformats.org/drawingml/2006/main" prst="roundRect">
            <a:avLst>
              <a:gd name="adj" fmla="val 2469"/>
            </a:avLst>
          </a:prstGeom>
          <a:solidFill xmlns:a="http://schemas.openxmlformats.org/drawingml/2006/main">
            <a:srgbClr val="FFFFFF"/>
          </a:solidFill>
          <a:ln xmlns:a="http://schemas.openxmlformats.org/drawingml/2006/main" w="11430">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bbface02dbbd4b3e"/>
          <a:stretch xmlns:a="http://schemas.openxmlformats.org/drawingml/2006/main"/>
        </p:blipFill>
        <p:spPr>
          <a:xfrm xmlns:a="http://schemas.openxmlformats.org/drawingml/2006/main">
            <a:off x="731431" y="1457325"/>
            <a:ext cx="8328837" cy="4476750"/>
          </a:xfrm>
          <a:prstGeom xmlns:a="http://schemas.openxmlformats.org/drawingml/2006/main" prst="rect">
            <a:avLst/>
          </a:prstGeom>
        </p:spPr>
      </p:pic>
      <p:sp>
        <p:nvSpPr>
          <p:cNvPr id="37" name="s24-card-0">
            <a:extLst xmlns:a="http://schemas.openxmlformats.org/drawingml/2006/main">
              <a:ext uri="{FF2B5EF4-FFF2-40B4-BE49-F238E27FC236}">
                <a16:creationId xmlns:a16="http://schemas.microsoft.com/office/drawing/2014/main" id="{140640F1-93F1-4E21-84C7-70AFDA518C0F}"/>
              </a:ext>
            </a:extLst>
          </p:cNvPr>
          <p:cNvSpPr>
            <a:spLocks xmlns:a="http://schemas.openxmlformats.org/drawingml/2006/main" noGrp="1"/>
          </p:cNvSpPr>
          <p:nvPr/>
        </p:nvSpPr>
        <p:spPr>
          <a:xfrm xmlns:a="http://schemas.openxmlformats.org/drawingml/2006/main">
            <a:off x="9391650" y="143827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38" name="s24-card-title-0">
            <a:extLst xmlns:a="http://schemas.openxmlformats.org/drawingml/2006/main">
              <a:ext uri="{FF2B5EF4-FFF2-40B4-BE49-F238E27FC236}">
                <a16:creationId xmlns:a16="http://schemas.microsoft.com/office/drawing/2014/main" id="{5395C24F-C743-461D-B1EA-01A256E625C2}"/>
              </a:ext>
            </a:extLst>
          </p:cNvPr>
          <p:cNvSpPr>
            <a:spLocks xmlns:a="http://schemas.openxmlformats.org/drawingml/2006/main" noGrp="1"/>
          </p:cNvSpPr>
          <p:nvPr/>
        </p:nvSpPr>
        <p:spPr>
          <a:xfrm xmlns:a="http://schemas.openxmlformats.org/drawingml/2006/main">
            <a:off x="9525000" y="15240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ONE RUN</a:t>
            </a:r>
          </a:p>
        </p:txBody>
      </p:sp>
      <p:sp>
        <p:nvSpPr>
          <p:cNvPr id="39" name="s24-card-body-0">
            <a:extLst xmlns:a="http://schemas.openxmlformats.org/drawingml/2006/main">
              <a:ext uri="{FF2B5EF4-FFF2-40B4-BE49-F238E27FC236}">
                <a16:creationId xmlns:a16="http://schemas.microsoft.com/office/drawing/2014/main" id="{5B0EB02F-2A45-4BED-BF25-F02BECF5CA4C}"/>
              </a:ext>
            </a:extLst>
          </p:cNvPr>
          <p:cNvSpPr>
            <a:spLocks xmlns:a="http://schemas.openxmlformats.org/drawingml/2006/main" noGrp="1"/>
          </p:cNvSpPr>
          <p:nvPr/>
        </p:nvSpPr>
        <p:spPr>
          <a:xfrm xmlns:a="http://schemas.openxmlformats.org/drawingml/2006/main">
            <a:off x="9525000" y="177165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AircraftFeedbackControlLoop — onboarding reference</a:t>
            </a:r>
          </a:p>
        </p:txBody>
      </p:sp>
      <p:sp>
        <p:nvSpPr>
          <p:cNvPr id="40" name="s24-card-1">
            <a:extLst xmlns:a="http://schemas.openxmlformats.org/drawingml/2006/main">
              <a:ext uri="{FF2B5EF4-FFF2-40B4-BE49-F238E27FC236}">
                <a16:creationId xmlns:a16="http://schemas.microsoft.com/office/drawing/2014/main" id="{7F24A3C1-D346-471F-AD75-FA41CF3B67FA}"/>
              </a:ext>
            </a:extLst>
          </p:cNvPr>
          <p:cNvSpPr>
            <a:spLocks xmlns:a="http://schemas.openxmlformats.org/drawingml/2006/main" noGrp="1"/>
          </p:cNvSpPr>
          <p:nvPr/>
        </p:nvSpPr>
        <p:spPr>
          <a:xfrm xmlns:a="http://schemas.openxmlformats.org/drawingml/2006/main">
            <a:off x="9391650" y="2533650"/>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1" name="s24-card-title-1">
            <a:extLst xmlns:a="http://schemas.openxmlformats.org/drawingml/2006/main">
              <a:ext uri="{FF2B5EF4-FFF2-40B4-BE49-F238E27FC236}">
                <a16:creationId xmlns:a16="http://schemas.microsoft.com/office/drawing/2014/main" id="{4C2D4B3F-19D7-458B-B79B-5AFE40A617AB}"/>
              </a:ext>
            </a:extLst>
          </p:cNvPr>
          <p:cNvSpPr>
            <a:spLocks xmlns:a="http://schemas.openxmlformats.org/drawingml/2006/main" noGrp="1"/>
          </p:cNvSpPr>
          <p:nvPr/>
        </p:nvSpPr>
        <p:spPr>
          <a:xfrm xmlns:a="http://schemas.openxmlformats.org/drawingml/2006/main">
            <a:off x="9525000" y="261937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FIVE SIGNALS</a:t>
            </a:r>
          </a:p>
        </p:txBody>
      </p:sp>
      <p:sp>
        <p:nvSpPr>
          <p:cNvPr id="42" name="s24-card-body-1">
            <a:extLst xmlns:a="http://schemas.openxmlformats.org/drawingml/2006/main">
              <a:ext uri="{FF2B5EF4-FFF2-40B4-BE49-F238E27FC236}">
                <a16:creationId xmlns:a16="http://schemas.microsoft.com/office/drawing/2014/main" id="{787B5260-6B3E-44FE-85F7-3E4CC0250664}"/>
              </a:ext>
            </a:extLst>
          </p:cNvPr>
          <p:cNvSpPr>
            <a:spLocks xmlns:a="http://schemas.openxmlformats.org/drawingml/2006/main" noGrp="1"/>
          </p:cNvSpPr>
          <p:nvPr/>
        </p:nvSpPr>
        <p:spPr>
          <a:xfrm xmlns:a="http://schemas.openxmlformats.org/drawingml/2006/main">
            <a:off x="9525000" y="28670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command • response • error • actuator • disturbance</a:t>
            </a:r>
          </a:p>
        </p:txBody>
      </p:sp>
      <p:sp>
        <p:nvSpPr>
          <p:cNvPr id="43" name="s24-card-2">
            <a:extLst xmlns:a="http://schemas.openxmlformats.org/drawingml/2006/main">
              <a:ext uri="{FF2B5EF4-FFF2-40B4-BE49-F238E27FC236}">
                <a16:creationId xmlns:a16="http://schemas.microsoft.com/office/drawing/2014/main" id="{F115FBD4-E640-4923-8E58-4008CD2CDFB0}"/>
              </a:ext>
            </a:extLst>
          </p:cNvPr>
          <p:cNvSpPr>
            <a:spLocks xmlns:a="http://schemas.openxmlformats.org/drawingml/2006/main" noGrp="1"/>
          </p:cNvSpPr>
          <p:nvPr/>
        </p:nvSpPr>
        <p:spPr>
          <a:xfrm xmlns:a="http://schemas.openxmlformats.org/drawingml/2006/main">
            <a:off x="9391650" y="362902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4" name="s24-card-title-2">
            <a:extLst xmlns:a="http://schemas.openxmlformats.org/drawingml/2006/main">
              <a:ext uri="{FF2B5EF4-FFF2-40B4-BE49-F238E27FC236}">
                <a16:creationId xmlns:a16="http://schemas.microsoft.com/office/drawing/2014/main" id="{5654B77E-C710-4900-9FCA-962E3235B78B}"/>
              </a:ext>
            </a:extLst>
          </p:cNvPr>
          <p:cNvSpPr>
            <a:spLocks xmlns:a="http://schemas.openxmlformats.org/drawingml/2006/main" noGrp="1"/>
          </p:cNvSpPr>
          <p:nvPr/>
        </p:nvSpPr>
        <p:spPr>
          <a:xfrm xmlns:a="http://schemas.openxmlformats.org/drawingml/2006/main">
            <a:off x="9525000" y="37147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0B7C5"/>
                </a:solidFill>
                <a:latin typeface="Aptos"/>
                <a:ea typeface="Aptos"/>
                <a:cs typeface="Aptos"/>
              </a:defRPr>
            </a:pPr>
            <a:r>
              <a:rPr sz="1065" b="1">
                <a:solidFill>
                  <a:srgbClr val="20B7C5"/>
                </a:solidFill>
                <a:latin typeface="Aptos"/>
                <a:ea typeface="Aptos"/>
                <a:cs typeface="Aptos"/>
              </a:rPr>
              <a:t>THREE PLOTS</a:t>
            </a:r>
          </a:p>
        </p:txBody>
      </p:sp>
      <p:sp>
        <p:nvSpPr>
          <p:cNvPr id="45" name="s24-card-body-2">
            <a:extLst xmlns:a="http://schemas.openxmlformats.org/drawingml/2006/main">
              <a:ext uri="{FF2B5EF4-FFF2-40B4-BE49-F238E27FC236}">
                <a16:creationId xmlns:a16="http://schemas.microsoft.com/office/drawing/2014/main" id="{F2EDFD01-85FD-4F0D-94AA-F80C2256A563}"/>
              </a:ext>
            </a:extLst>
          </p:cNvPr>
          <p:cNvSpPr>
            <a:spLocks xmlns:a="http://schemas.openxmlformats.org/drawingml/2006/main" noGrp="1"/>
          </p:cNvSpPr>
          <p:nvPr/>
        </p:nvSpPr>
        <p:spPr>
          <a:xfrm xmlns:a="http://schemas.openxmlformats.org/drawingml/2006/main">
            <a:off x="9525000" y="396240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tracking • error • actuator + disturbance</a:t>
            </a:r>
          </a:p>
        </p:txBody>
      </p:sp>
      <p:sp>
        <p:nvSpPr>
          <p:cNvPr id="46" name="s24-card-3">
            <a:extLst xmlns:a="http://schemas.openxmlformats.org/drawingml/2006/main">
              <a:ext uri="{FF2B5EF4-FFF2-40B4-BE49-F238E27FC236}">
                <a16:creationId xmlns:a16="http://schemas.microsoft.com/office/drawing/2014/main" id="{99B87BF4-FD52-4258-9FBA-746D1BC7B81E}"/>
              </a:ext>
            </a:extLst>
          </p:cNvPr>
          <p:cNvSpPr>
            <a:spLocks xmlns:a="http://schemas.openxmlformats.org/drawingml/2006/main" noGrp="1"/>
          </p:cNvSpPr>
          <p:nvPr/>
        </p:nvSpPr>
        <p:spPr>
          <a:xfrm xmlns:a="http://schemas.openxmlformats.org/drawingml/2006/main">
            <a:off x="9391650" y="4724400"/>
            <a:ext cx="2114550" cy="933450"/>
          </a:xfrm>
          <a:prstGeom xmlns:a="http://schemas.openxmlformats.org/drawingml/2006/main" prst="roundRect">
            <a:avLst>
              <a:gd name="adj" fmla="val 12245"/>
            </a:avLst>
          </a:prstGeom>
          <a:solidFill xmlns:a="http://schemas.openxmlformats.org/drawingml/2006/main">
            <a:srgbClr val="E2F4EA"/>
          </a:solidFill>
          <a:ln xmlns:a="http://schemas.openxmlformats.org/drawingml/2006/main" w="14288">
            <a:solidFill>
              <a:srgbClr val="2CA56F"/>
            </a:solidFill>
            <a:prstDash val="solid"/>
          </a:ln>
        </p:spPr>
      </p:sp>
      <p:sp>
        <p:nvSpPr>
          <p:cNvPr id="47" name="s24-card-title-3">
            <a:extLst xmlns:a="http://schemas.openxmlformats.org/drawingml/2006/main">
              <a:ext uri="{FF2B5EF4-FFF2-40B4-BE49-F238E27FC236}">
                <a16:creationId xmlns:a16="http://schemas.microsoft.com/office/drawing/2014/main" id="{87CA70EA-E768-4BFC-AC46-9C94ABE433AB}"/>
              </a:ext>
            </a:extLst>
          </p:cNvPr>
          <p:cNvSpPr>
            <a:spLocks xmlns:a="http://schemas.openxmlformats.org/drawingml/2006/main" noGrp="1"/>
          </p:cNvSpPr>
          <p:nvPr/>
        </p:nvSpPr>
        <p:spPr>
          <a:xfrm xmlns:a="http://schemas.openxmlformats.org/drawingml/2006/main">
            <a:off x="9525000" y="48101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2CA56F"/>
                </a:solidFill>
                <a:latin typeface="Aptos"/>
                <a:ea typeface="Aptos"/>
                <a:cs typeface="Aptos"/>
              </a:defRPr>
            </a:pPr>
            <a:r>
              <a:rPr sz="1065" b="1">
                <a:solidFill>
                  <a:srgbClr val="2CA56F"/>
                </a:solidFill>
                <a:latin typeface="Aptos"/>
                <a:ea typeface="Aptos"/>
                <a:cs typeface="Aptos"/>
              </a:rPr>
              <a:t>WHY USE SDI</a:t>
            </a:r>
          </a:p>
        </p:txBody>
      </p:sp>
      <p:sp>
        <p:nvSpPr>
          <p:cNvPr id="48" name="s24-card-body-3">
            <a:extLst xmlns:a="http://schemas.openxmlformats.org/drawingml/2006/main">
              <a:ext uri="{FF2B5EF4-FFF2-40B4-BE49-F238E27FC236}">
                <a16:creationId xmlns:a16="http://schemas.microsoft.com/office/drawing/2014/main" id="{91D06AB6-B129-4C15-BB26-F1B763B85AF4}"/>
              </a:ext>
            </a:extLst>
          </p:cNvPr>
          <p:cNvSpPr>
            <a:spLocks xmlns:a="http://schemas.openxmlformats.org/drawingml/2006/main" noGrp="1"/>
          </p:cNvSpPr>
          <p:nvPr/>
        </p:nvSpPr>
        <p:spPr>
          <a:xfrm xmlns:a="http://schemas.openxmlformats.org/drawingml/2006/main">
            <a:off x="9525000" y="50577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inspect without model edits • compare • zoom • cursors • units • export</a:t>
            </a:r>
          </a:p>
        </p:txBody>
      </p:sp>
      <p:sp>
        <p:nvSpPr>
          <p:cNvPr id="49" name="s24-caption">
            <a:extLst xmlns:a="http://schemas.openxmlformats.org/drawingml/2006/main">
              <a:ext uri="{FF2B5EF4-FFF2-40B4-BE49-F238E27FC236}">
                <a16:creationId xmlns:a16="http://schemas.microsoft.com/office/drawing/2014/main" id="{5037B83C-A7DA-4309-A30E-5E685DB4B532}"/>
              </a:ext>
            </a:extLst>
          </p:cNvPr>
          <p:cNvSpPr>
            <a:spLocks xmlns:a="http://schemas.openxmlformats.org/drawingml/2006/main" noGrp="1"/>
          </p:cNvSpPr>
          <p:nvPr/>
        </p:nvSpPr>
        <p:spPr>
          <a:xfrm xmlns:a="http://schemas.openxmlformats.org/drawingml/2006/main">
            <a:off x="685800" y="6019800"/>
            <a:ext cx="1082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17324A"/>
                </a:solidFill>
                <a:latin typeface="Aptos"/>
                <a:ea typeface="Aptos"/>
                <a:cs typeface="Aptos"/>
              </a:defRPr>
            </a:pPr>
            <a:r>
              <a:rPr sz="1140" b="1">
                <a:solidFill>
                  <a:srgbClr val="17324A"/>
                </a:solidFill>
                <a:latin typeface="Aptos"/>
                <a:ea typeface="Aptos"/>
                <a:cs typeface="Aptos"/>
              </a:rPr>
              <a:t>Markers show logged samples; model overlays show model metadata. Opening a saved session can replace the current SDI repository.</a:t>
            </a:r>
          </a:p>
        </p:txBody>
      </p:sp>
    </p:spTree>
    <p:extLst>
      <p:ext uri="{BB962C8B-B14F-4D97-AF65-F5344CB8AC3E}">
        <p14:creationId xmlns:p14="http://schemas.microsoft.com/office/powerpoint/2010/main" val="354341949"/>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25</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3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Software levels scale rigor—and independence is planned</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sp>
        <p:nvSpPr>
          <p:cNvPr id="31" name="s26-level-heading">
            <a:extLst xmlns:a="http://schemas.openxmlformats.org/drawingml/2006/main">
              <a:ext uri="{FF2B5EF4-FFF2-40B4-BE49-F238E27FC236}">
                <a16:creationId xmlns:a16="http://schemas.microsoft.com/office/drawing/2014/main" id="{6550523A-3F6A-4546-A4B6-63CF8A11741C}"/>
              </a:ext>
            </a:extLst>
          </p:cNvPr>
          <p:cNvSpPr>
            <a:spLocks xmlns:a="http://schemas.openxmlformats.org/drawingml/2006/main" noGrp="1"/>
          </p:cNvSpPr>
          <p:nvPr/>
        </p:nvSpPr>
        <p:spPr>
          <a:xfrm xmlns:a="http://schemas.openxmlformats.org/drawingml/2006/main">
            <a:off x="685800" y="1381125"/>
            <a:ext cx="584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DO-178C SOFTWARE LEVEL</a:t>
            </a:r>
          </a:p>
        </p:txBody>
      </p:sp>
      <p:sp>
        <p:nvSpPr>
          <p:cNvPr id="32" name="s26-ind-heading">
            <a:extLst xmlns:a="http://schemas.openxmlformats.org/drawingml/2006/main">
              <a:ext uri="{FF2B5EF4-FFF2-40B4-BE49-F238E27FC236}">
                <a16:creationId xmlns:a16="http://schemas.microsoft.com/office/drawing/2014/main" id="{09CAB67C-8DF2-45A6-99C1-03AB4DF2F9B8}"/>
              </a:ext>
            </a:extLst>
          </p:cNvPr>
          <p:cNvSpPr>
            <a:spLocks xmlns:a="http://schemas.openxmlformats.org/drawingml/2006/main" noGrp="1"/>
          </p:cNvSpPr>
          <p:nvPr/>
        </p:nvSpPr>
        <p:spPr>
          <a:xfrm xmlns:a="http://schemas.openxmlformats.org/drawingml/2006/main">
            <a:off x="6896100" y="1381125"/>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INDEPENDENCE IS OBJECTIVE-SPECIFIC</a:t>
            </a:r>
          </a:p>
        </p:txBody>
      </p:sp>
      <p:sp>
        <p:nvSpPr>
          <p:cNvPr id="33" name="s26-level-0">
            <a:extLst xmlns:a="http://schemas.openxmlformats.org/drawingml/2006/main">
              <a:ext uri="{FF2B5EF4-FFF2-40B4-BE49-F238E27FC236}">
                <a16:creationId xmlns:a16="http://schemas.microsoft.com/office/drawing/2014/main" id="{54DB5E27-B5AD-4967-AE2D-505FB0758AF7}"/>
              </a:ext>
            </a:extLst>
          </p:cNvPr>
          <p:cNvSpPr>
            <a:spLocks xmlns:a="http://schemas.openxmlformats.org/drawingml/2006/main" noGrp="1"/>
          </p:cNvSpPr>
          <p:nvPr/>
        </p:nvSpPr>
        <p:spPr>
          <a:xfrm xmlns:a="http://schemas.openxmlformats.org/drawingml/2006/main">
            <a:off x="685800" y="1724025"/>
            <a:ext cx="5848350" cy="590550"/>
          </a:xfrm>
          <a:prstGeom xmlns:a="http://schemas.openxmlformats.org/drawingml/2006/main" prst="roundRect">
            <a:avLst>
              <a:gd name="adj" fmla="val 19355"/>
            </a:avLst>
          </a:prstGeom>
          <a:solidFill xmlns:a="http://schemas.openxmlformats.org/drawingml/2006/main">
            <a:srgbClr val="FBE7E9"/>
          </a:solidFill>
          <a:ln xmlns:a="http://schemas.openxmlformats.org/drawingml/2006/main" w="12383">
            <a:solidFill>
              <a:srgbClr val="D75A64"/>
            </a:solidFill>
            <a:prstDash val="solid"/>
          </a:ln>
        </p:spPr>
      </p:sp>
      <p:sp>
        <p:nvSpPr>
          <p:cNvPr id="34" name="s26-letter-0">
            <a:extLst xmlns:a="http://schemas.openxmlformats.org/drawingml/2006/main">
              <a:ext uri="{FF2B5EF4-FFF2-40B4-BE49-F238E27FC236}">
                <a16:creationId xmlns:a16="http://schemas.microsoft.com/office/drawing/2014/main" id="{6185B500-8345-4C27-8E5A-AE2CA85D7AEC}"/>
              </a:ext>
            </a:extLst>
          </p:cNvPr>
          <p:cNvSpPr>
            <a:spLocks xmlns:a="http://schemas.openxmlformats.org/drawingml/2006/main" noGrp="1"/>
          </p:cNvSpPr>
          <p:nvPr/>
        </p:nvSpPr>
        <p:spPr>
          <a:xfrm xmlns:a="http://schemas.openxmlformats.org/drawingml/2006/main">
            <a:off x="819150" y="1819275"/>
            <a:ext cx="447675" cy="400050"/>
          </a:xfrm>
          <a:prstGeom xmlns:a="http://schemas.openxmlformats.org/drawingml/2006/main" prst="roundRect">
            <a:avLst>
              <a:gd name="adj" fmla="val 28571"/>
            </a:avLst>
          </a:prstGeom>
          <a:solidFill xmlns:a="http://schemas.openxmlformats.org/drawingml/2006/main">
            <a:srgbClr val="D75A64"/>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A</a:t>
            </a:r>
          </a:p>
        </p:txBody>
      </p:sp>
      <p:sp>
        <p:nvSpPr>
          <p:cNvPr id="35" name="s26-cond-0">
            <a:extLst xmlns:a="http://schemas.openxmlformats.org/drawingml/2006/main">
              <a:ext uri="{FF2B5EF4-FFF2-40B4-BE49-F238E27FC236}">
                <a16:creationId xmlns:a16="http://schemas.microsoft.com/office/drawing/2014/main" id="{06E5156A-0FA7-4569-BDF3-C7554AF06615}"/>
              </a:ext>
            </a:extLst>
          </p:cNvPr>
          <p:cNvSpPr>
            <a:spLocks xmlns:a="http://schemas.openxmlformats.org/drawingml/2006/main" noGrp="1"/>
          </p:cNvSpPr>
          <p:nvPr/>
        </p:nvSpPr>
        <p:spPr>
          <a:xfrm xmlns:a="http://schemas.openxmlformats.org/drawingml/2006/main">
            <a:off x="1438275" y="18002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Catastrophic</a:t>
            </a:r>
          </a:p>
        </p:txBody>
      </p:sp>
      <p:sp>
        <p:nvSpPr>
          <p:cNvPr id="36" name="s26-impl-0">
            <a:extLst xmlns:a="http://schemas.openxmlformats.org/drawingml/2006/main">
              <a:ext uri="{FF2B5EF4-FFF2-40B4-BE49-F238E27FC236}">
                <a16:creationId xmlns:a16="http://schemas.microsoft.com/office/drawing/2014/main" id="{99760306-503F-41AB-A7DB-E76559486A10}"/>
              </a:ext>
            </a:extLst>
          </p:cNvPr>
          <p:cNvSpPr>
            <a:spLocks xmlns:a="http://schemas.openxmlformats.org/drawingml/2006/main" noGrp="1"/>
          </p:cNvSpPr>
          <p:nvPr/>
        </p:nvSpPr>
        <p:spPr>
          <a:xfrm xmlns:a="http://schemas.openxmlformats.org/drawingml/2006/main">
            <a:off x="3543300" y="18002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highest applicable rigor + independence</a:t>
            </a:r>
          </a:p>
        </p:txBody>
      </p:sp>
      <p:sp>
        <p:nvSpPr>
          <p:cNvPr id="37" name="s26-level-1">
            <a:extLst xmlns:a="http://schemas.openxmlformats.org/drawingml/2006/main">
              <a:ext uri="{FF2B5EF4-FFF2-40B4-BE49-F238E27FC236}">
                <a16:creationId xmlns:a16="http://schemas.microsoft.com/office/drawing/2014/main" id="{28FE4766-73B6-4F1B-ADB7-B2327FA3E3BD}"/>
              </a:ext>
            </a:extLst>
          </p:cNvPr>
          <p:cNvSpPr>
            <a:spLocks xmlns:a="http://schemas.openxmlformats.org/drawingml/2006/main" noGrp="1"/>
          </p:cNvSpPr>
          <p:nvPr/>
        </p:nvSpPr>
        <p:spPr>
          <a:xfrm xmlns:a="http://schemas.openxmlformats.org/drawingml/2006/main">
            <a:off x="685800" y="2447925"/>
            <a:ext cx="5848350" cy="590550"/>
          </a:xfrm>
          <a:prstGeom xmlns:a="http://schemas.openxmlformats.org/drawingml/2006/main" prst="roundRect">
            <a:avLst>
              <a:gd name="adj" fmla="val 19355"/>
            </a:avLst>
          </a:prstGeom>
          <a:solidFill xmlns:a="http://schemas.openxmlformats.org/drawingml/2006/main">
            <a:srgbClr val="FFF0D7"/>
          </a:solidFill>
          <a:ln xmlns:a="http://schemas.openxmlformats.org/drawingml/2006/main" w="12383">
            <a:solidFill>
              <a:srgbClr val="E9A23B"/>
            </a:solidFill>
            <a:prstDash val="solid"/>
          </a:ln>
        </p:spPr>
      </p:sp>
      <p:sp>
        <p:nvSpPr>
          <p:cNvPr id="38" name="s26-letter-1">
            <a:extLst xmlns:a="http://schemas.openxmlformats.org/drawingml/2006/main">
              <a:ext uri="{FF2B5EF4-FFF2-40B4-BE49-F238E27FC236}">
                <a16:creationId xmlns:a16="http://schemas.microsoft.com/office/drawing/2014/main" id="{72E01BE2-EBA8-4CCB-B69C-125E03A45F17}"/>
              </a:ext>
            </a:extLst>
          </p:cNvPr>
          <p:cNvSpPr>
            <a:spLocks xmlns:a="http://schemas.openxmlformats.org/drawingml/2006/main" noGrp="1"/>
          </p:cNvSpPr>
          <p:nvPr/>
        </p:nvSpPr>
        <p:spPr>
          <a:xfrm xmlns:a="http://schemas.openxmlformats.org/drawingml/2006/main">
            <a:off x="819150" y="2543175"/>
            <a:ext cx="447675" cy="400050"/>
          </a:xfrm>
          <a:prstGeom xmlns:a="http://schemas.openxmlformats.org/drawingml/2006/main" prst="roundRect">
            <a:avLst>
              <a:gd name="adj" fmla="val 28571"/>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B</a:t>
            </a:r>
          </a:p>
        </p:txBody>
      </p:sp>
      <p:sp>
        <p:nvSpPr>
          <p:cNvPr id="39" name="s26-cond-1">
            <a:extLst xmlns:a="http://schemas.openxmlformats.org/drawingml/2006/main">
              <a:ext uri="{FF2B5EF4-FFF2-40B4-BE49-F238E27FC236}">
                <a16:creationId xmlns:a16="http://schemas.microsoft.com/office/drawing/2014/main" id="{66D3CF1E-3B3F-4304-8A53-3E810C564EDE}"/>
              </a:ext>
            </a:extLst>
          </p:cNvPr>
          <p:cNvSpPr>
            <a:spLocks xmlns:a="http://schemas.openxmlformats.org/drawingml/2006/main" noGrp="1"/>
          </p:cNvSpPr>
          <p:nvPr/>
        </p:nvSpPr>
        <p:spPr>
          <a:xfrm xmlns:a="http://schemas.openxmlformats.org/drawingml/2006/main">
            <a:off x="1438275" y="25241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Hazardous / Severe-Major</a:t>
            </a:r>
          </a:p>
        </p:txBody>
      </p:sp>
      <p:sp>
        <p:nvSpPr>
          <p:cNvPr id="40" name="s26-impl-1">
            <a:extLst xmlns:a="http://schemas.openxmlformats.org/drawingml/2006/main">
              <a:ext uri="{FF2B5EF4-FFF2-40B4-BE49-F238E27FC236}">
                <a16:creationId xmlns:a16="http://schemas.microsoft.com/office/drawing/2014/main" id="{D8254171-E437-473E-956F-4C2729DBF6CA}"/>
              </a:ext>
            </a:extLst>
          </p:cNvPr>
          <p:cNvSpPr>
            <a:spLocks xmlns:a="http://schemas.openxmlformats.org/drawingml/2006/main" noGrp="1"/>
          </p:cNvSpPr>
          <p:nvPr/>
        </p:nvSpPr>
        <p:spPr>
          <a:xfrm xmlns:a="http://schemas.openxmlformats.org/drawingml/2006/main">
            <a:off x="3543300" y="25241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very high rigor</a:t>
            </a:r>
          </a:p>
        </p:txBody>
      </p:sp>
      <p:sp>
        <p:nvSpPr>
          <p:cNvPr id="41" name="s26-level-2">
            <a:extLst xmlns:a="http://schemas.openxmlformats.org/drawingml/2006/main">
              <a:ext uri="{FF2B5EF4-FFF2-40B4-BE49-F238E27FC236}">
                <a16:creationId xmlns:a16="http://schemas.microsoft.com/office/drawing/2014/main" id="{C8762727-95DA-472D-AD3F-49E573C748DF}"/>
              </a:ext>
            </a:extLst>
          </p:cNvPr>
          <p:cNvSpPr>
            <a:spLocks xmlns:a="http://schemas.openxmlformats.org/drawingml/2006/main" noGrp="1"/>
          </p:cNvSpPr>
          <p:nvPr/>
        </p:nvSpPr>
        <p:spPr>
          <a:xfrm xmlns:a="http://schemas.openxmlformats.org/drawingml/2006/main">
            <a:off x="685800" y="3171825"/>
            <a:ext cx="5848350" cy="590550"/>
          </a:xfrm>
          <a:prstGeom xmlns:a="http://schemas.openxmlformats.org/drawingml/2006/main" prst="roundRect">
            <a:avLst>
              <a:gd name="adj" fmla="val 19355"/>
            </a:avLst>
          </a:prstGeom>
          <a:solidFill xmlns:a="http://schemas.openxmlformats.org/drawingml/2006/main">
            <a:srgbClr val="E2ECFF"/>
          </a:solidFill>
          <a:ln xmlns:a="http://schemas.openxmlformats.org/drawingml/2006/main" w="12383">
            <a:solidFill>
              <a:srgbClr val="2D6CDF"/>
            </a:solidFill>
            <a:prstDash val="solid"/>
          </a:ln>
        </p:spPr>
      </p:sp>
      <p:sp>
        <p:nvSpPr>
          <p:cNvPr id="42" name="s26-letter-2">
            <a:extLst xmlns:a="http://schemas.openxmlformats.org/drawingml/2006/main">
              <a:ext uri="{FF2B5EF4-FFF2-40B4-BE49-F238E27FC236}">
                <a16:creationId xmlns:a16="http://schemas.microsoft.com/office/drawing/2014/main" id="{FAAF729C-704B-4B54-A699-7E9F8C309397}"/>
              </a:ext>
            </a:extLst>
          </p:cNvPr>
          <p:cNvSpPr>
            <a:spLocks xmlns:a="http://schemas.openxmlformats.org/drawingml/2006/main" noGrp="1"/>
          </p:cNvSpPr>
          <p:nvPr/>
        </p:nvSpPr>
        <p:spPr>
          <a:xfrm xmlns:a="http://schemas.openxmlformats.org/drawingml/2006/main">
            <a:off x="819150" y="3267075"/>
            <a:ext cx="447675" cy="40005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C</a:t>
            </a:r>
          </a:p>
        </p:txBody>
      </p:sp>
      <p:sp>
        <p:nvSpPr>
          <p:cNvPr id="43" name="s26-cond-2">
            <a:extLst xmlns:a="http://schemas.openxmlformats.org/drawingml/2006/main">
              <a:ext uri="{FF2B5EF4-FFF2-40B4-BE49-F238E27FC236}">
                <a16:creationId xmlns:a16="http://schemas.microsoft.com/office/drawing/2014/main" id="{38433486-5708-4AE2-B5C2-64AF9E6A4CC9}"/>
              </a:ext>
            </a:extLst>
          </p:cNvPr>
          <p:cNvSpPr>
            <a:spLocks xmlns:a="http://schemas.openxmlformats.org/drawingml/2006/main" noGrp="1"/>
          </p:cNvSpPr>
          <p:nvPr/>
        </p:nvSpPr>
        <p:spPr>
          <a:xfrm xmlns:a="http://schemas.openxmlformats.org/drawingml/2006/main">
            <a:off x="1438275" y="32480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Major</a:t>
            </a:r>
          </a:p>
        </p:txBody>
      </p:sp>
      <p:sp>
        <p:nvSpPr>
          <p:cNvPr id="44" name="s26-impl-2">
            <a:extLst xmlns:a="http://schemas.openxmlformats.org/drawingml/2006/main">
              <a:ext uri="{FF2B5EF4-FFF2-40B4-BE49-F238E27FC236}">
                <a16:creationId xmlns:a16="http://schemas.microsoft.com/office/drawing/2014/main" id="{9EC84567-62FD-4C87-A7E0-E70F1BC4DC62}"/>
              </a:ext>
            </a:extLst>
          </p:cNvPr>
          <p:cNvSpPr>
            <a:spLocks xmlns:a="http://schemas.openxmlformats.org/drawingml/2006/main" noGrp="1"/>
          </p:cNvSpPr>
          <p:nvPr/>
        </p:nvSpPr>
        <p:spPr>
          <a:xfrm xmlns:a="http://schemas.openxmlformats.org/drawingml/2006/main">
            <a:off x="3543300" y="32480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substantial verification rigor</a:t>
            </a:r>
          </a:p>
        </p:txBody>
      </p:sp>
      <p:sp>
        <p:nvSpPr>
          <p:cNvPr id="45" name="s26-level-3">
            <a:extLst xmlns:a="http://schemas.openxmlformats.org/drawingml/2006/main">
              <a:ext uri="{FF2B5EF4-FFF2-40B4-BE49-F238E27FC236}">
                <a16:creationId xmlns:a16="http://schemas.microsoft.com/office/drawing/2014/main" id="{3D472F9A-46F8-460E-9B45-200FD577C947}"/>
              </a:ext>
            </a:extLst>
          </p:cNvPr>
          <p:cNvSpPr>
            <a:spLocks xmlns:a="http://schemas.openxmlformats.org/drawingml/2006/main" noGrp="1"/>
          </p:cNvSpPr>
          <p:nvPr/>
        </p:nvSpPr>
        <p:spPr>
          <a:xfrm xmlns:a="http://schemas.openxmlformats.org/drawingml/2006/main">
            <a:off x="685800" y="3895725"/>
            <a:ext cx="5848350" cy="590550"/>
          </a:xfrm>
          <a:prstGeom xmlns:a="http://schemas.openxmlformats.org/drawingml/2006/main" prst="roundRect">
            <a:avLst>
              <a:gd name="adj" fmla="val 19355"/>
            </a:avLst>
          </a:prstGeom>
          <a:solidFill xmlns:a="http://schemas.openxmlformats.org/drawingml/2006/main">
            <a:srgbClr val="E2F4EA"/>
          </a:solidFill>
          <a:ln xmlns:a="http://schemas.openxmlformats.org/drawingml/2006/main" w="12383">
            <a:solidFill>
              <a:srgbClr val="2CA56F"/>
            </a:solidFill>
            <a:prstDash val="solid"/>
          </a:ln>
        </p:spPr>
      </p:sp>
      <p:sp>
        <p:nvSpPr>
          <p:cNvPr id="46" name="s26-letter-3">
            <a:extLst xmlns:a="http://schemas.openxmlformats.org/drawingml/2006/main">
              <a:ext uri="{FF2B5EF4-FFF2-40B4-BE49-F238E27FC236}">
                <a16:creationId xmlns:a16="http://schemas.microsoft.com/office/drawing/2014/main" id="{88E71B93-EA73-4CD4-81E3-9C3D3A0DB45E}"/>
              </a:ext>
            </a:extLst>
          </p:cNvPr>
          <p:cNvSpPr>
            <a:spLocks xmlns:a="http://schemas.openxmlformats.org/drawingml/2006/main" noGrp="1"/>
          </p:cNvSpPr>
          <p:nvPr/>
        </p:nvSpPr>
        <p:spPr>
          <a:xfrm xmlns:a="http://schemas.openxmlformats.org/drawingml/2006/main">
            <a:off x="819150" y="3990975"/>
            <a:ext cx="447675" cy="400050"/>
          </a:xfrm>
          <a:prstGeom xmlns:a="http://schemas.openxmlformats.org/drawingml/2006/main" prst="roundRect">
            <a:avLst>
              <a:gd name="adj" fmla="val 28571"/>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D</a:t>
            </a:r>
          </a:p>
        </p:txBody>
      </p:sp>
      <p:sp>
        <p:nvSpPr>
          <p:cNvPr id="47" name="s26-cond-3">
            <a:extLst xmlns:a="http://schemas.openxmlformats.org/drawingml/2006/main">
              <a:ext uri="{FF2B5EF4-FFF2-40B4-BE49-F238E27FC236}">
                <a16:creationId xmlns:a16="http://schemas.microsoft.com/office/drawing/2014/main" id="{4DBF6E3A-8BCE-492A-B5E4-B32C7A733114}"/>
              </a:ext>
            </a:extLst>
          </p:cNvPr>
          <p:cNvSpPr>
            <a:spLocks xmlns:a="http://schemas.openxmlformats.org/drawingml/2006/main" noGrp="1"/>
          </p:cNvSpPr>
          <p:nvPr/>
        </p:nvSpPr>
        <p:spPr>
          <a:xfrm xmlns:a="http://schemas.openxmlformats.org/drawingml/2006/main">
            <a:off x="1438275" y="39719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Minor</a:t>
            </a:r>
          </a:p>
        </p:txBody>
      </p:sp>
      <p:sp>
        <p:nvSpPr>
          <p:cNvPr id="48" name="s26-impl-3">
            <a:extLst xmlns:a="http://schemas.openxmlformats.org/drawingml/2006/main">
              <a:ext uri="{FF2B5EF4-FFF2-40B4-BE49-F238E27FC236}">
                <a16:creationId xmlns:a16="http://schemas.microsoft.com/office/drawing/2014/main" id="{497355D2-CB6C-4075-ABAD-F4B6A4292549}"/>
              </a:ext>
            </a:extLst>
          </p:cNvPr>
          <p:cNvSpPr>
            <a:spLocks xmlns:a="http://schemas.openxmlformats.org/drawingml/2006/main" noGrp="1"/>
          </p:cNvSpPr>
          <p:nvPr/>
        </p:nvSpPr>
        <p:spPr>
          <a:xfrm xmlns:a="http://schemas.openxmlformats.org/drawingml/2006/main">
            <a:off x="3543300" y="39719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reduced objective set</a:t>
            </a:r>
          </a:p>
        </p:txBody>
      </p:sp>
      <p:sp>
        <p:nvSpPr>
          <p:cNvPr id="49" name="s26-level-4">
            <a:extLst xmlns:a="http://schemas.openxmlformats.org/drawingml/2006/main">
              <a:ext uri="{FF2B5EF4-FFF2-40B4-BE49-F238E27FC236}">
                <a16:creationId xmlns:a16="http://schemas.microsoft.com/office/drawing/2014/main" id="{D9B1DD94-ADCB-46F5-AFE4-B02ABDCA5CCC}"/>
              </a:ext>
            </a:extLst>
          </p:cNvPr>
          <p:cNvSpPr>
            <a:spLocks xmlns:a="http://schemas.openxmlformats.org/drawingml/2006/main" noGrp="1"/>
          </p:cNvSpPr>
          <p:nvPr/>
        </p:nvSpPr>
        <p:spPr>
          <a:xfrm xmlns:a="http://schemas.openxmlformats.org/drawingml/2006/main">
            <a:off x="685800" y="4619625"/>
            <a:ext cx="5848350" cy="590550"/>
          </a:xfrm>
          <a:prstGeom xmlns:a="http://schemas.openxmlformats.org/drawingml/2006/main" prst="roundRect">
            <a:avLst>
              <a:gd name="adj" fmla="val 19355"/>
            </a:avLst>
          </a:prstGeom>
          <a:solidFill xmlns:a="http://schemas.openxmlformats.org/drawingml/2006/main">
            <a:srgbClr val="EEF4F8"/>
          </a:solidFill>
          <a:ln xmlns:a="http://schemas.openxmlformats.org/drawingml/2006/main" w="12383">
            <a:solidFill>
              <a:srgbClr val="5D7487"/>
            </a:solidFill>
            <a:prstDash val="solid"/>
          </a:ln>
        </p:spPr>
      </p:sp>
      <p:sp>
        <p:nvSpPr>
          <p:cNvPr id="50" name="s26-letter-4">
            <a:extLst xmlns:a="http://schemas.openxmlformats.org/drawingml/2006/main">
              <a:ext uri="{FF2B5EF4-FFF2-40B4-BE49-F238E27FC236}">
                <a16:creationId xmlns:a16="http://schemas.microsoft.com/office/drawing/2014/main" id="{C5915E81-EFB3-497D-8147-DF6D4CBF20F9}"/>
              </a:ext>
            </a:extLst>
          </p:cNvPr>
          <p:cNvSpPr>
            <a:spLocks xmlns:a="http://schemas.openxmlformats.org/drawingml/2006/main" noGrp="1"/>
          </p:cNvSpPr>
          <p:nvPr/>
        </p:nvSpPr>
        <p:spPr>
          <a:xfrm xmlns:a="http://schemas.openxmlformats.org/drawingml/2006/main">
            <a:off x="819150" y="4714875"/>
            <a:ext cx="447675" cy="400050"/>
          </a:xfrm>
          <a:prstGeom xmlns:a="http://schemas.openxmlformats.org/drawingml/2006/main" prst="roundRect">
            <a:avLst>
              <a:gd name="adj" fmla="val 28571"/>
            </a:avLst>
          </a:prstGeom>
          <a:solidFill xmlns:a="http://schemas.openxmlformats.org/drawingml/2006/main">
            <a:srgbClr val="5D7487"/>
          </a:solidFill>
          <a:ln xmlns:a="http://schemas.openxmlformats.org/drawingml/2006/main" w="14288">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a:t>
            </a:r>
          </a:p>
        </p:txBody>
      </p:sp>
      <p:sp>
        <p:nvSpPr>
          <p:cNvPr id="51" name="s26-cond-4">
            <a:extLst xmlns:a="http://schemas.openxmlformats.org/drawingml/2006/main">
              <a:ext uri="{FF2B5EF4-FFF2-40B4-BE49-F238E27FC236}">
                <a16:creationId xmlns:a16="http://schemas.microsoft.com/office/drawing/2014/main" id="{7DFB2ECD-8C90-49B8-BBA8-1A04621C8427}"/>
              </a:ext>
            </a:extLst>
          </p:cNvPr>
          <p:cNvSpPr>
            <a:spLocks xmlns:a="http://schemas.openxmlformats.org/drawingml/2006/main" noGrp="1"/>
          </p:cNvSpPr>
          <p:nvPr/>
        </p:nvSpPr>
        <p:spPr>
          <a:xfrm xmlns:a="http://schemas.openxmlformats.org/drawingml/2006/main">
            <a:off x="1438275" y="46958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No Effect</a:t>
            </a:r>
          </a:p>
        </p:txBody>
      </p:sp>
      <p:sp>
        <p:nvSpPr>
          <p:cNvPr id="52" name="s26-impl-4">
            <a:extLst xmlns:a="http://schemas.openxmlformats.org/drawingml/2006/main">
              <a:ext uri="{FF2B5EF4-FFF2-40B4-BE49-F238E27FC236}">
                <a16:creationId xmlns:a16="http://schemas.microsoft.com/office/drawing/2014/main" id="{52A9B23B-084D-40F1-BF1C-FD047E058BEB}"/>
              </a:ext>
            </a:extLst>
          </p:cNvPr>
          <p:cNvSpPr>
            <a:spLocks xmlns:a="http://schemas.openxmlformats.org/drawingml/2006/main" noGrp="1"/>
          </p:cNvSpPr>
          <p:nvPr/>
        </p:nvSpPr>
        <p:spPr>
          <a:xfrm xmlns:a="http://schemas.openxmlformats.org/drawingml/2006/main">
            <a:off x="3543300" y="46958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no DO-178C objectives apply</a:t>
            </a:r>
          </a:p>
        </p:txBody>
      </p:sp>
      <p:sp>
        <p:nvSpPr>
          <p:cNvPr id="53" name="s26-ind-0">
            <a:extLst xmlns:a="http://schemas.openxmlformats.org/drawingml/2006/main">
              <a:ext uri="{FF2B5EF4-FFF2-40B4-BE49-F238E27FC236}">
                <a16:creationId xmlns:a16="http://schemas.microsoft.com/office/drawing/2014/main" id="{A4FB38A9-7D75-4E71-9873-789897AE57ED}"/>
              </a:ext>
            </a:extLst>
          </p:cNvPr>
          <p:cNvSpPr>
            <a:spLocks xmlns:a="http://schemas.openxmlformats.org/drawingml/2006/main" noGrp="1"/>
          </p:cNvSpPr>
          <p:nvPr/>
        </p:nvSpPr>
        <p:spPr>
          <a:xfrm xmlns:a="http://schemas.openxmlformats.org/drawingml/2006/main">
            <a:off x="6896100" y="1724025"/>
            <a:ext cx="4610100" cy="990600"/>
          </a:xfrm>
          <a:prstGeom xmlns:a="http://schemas.openxmlformats.org/drawingml/2006/main" prst="roundRect">
            <a:avLst>
              <a:gd name="adj" fmla="val 11538"/>
            </a:avLst>
          </a:prstGeom>
          <a:solidFill xmlns:a="http://schemas.openxmlformats.org/drawingml/2006/main">
            <a:srgbClr val="DFF6F8"/>
          </a:solidFill>
          <a:ln xmlns:a="http://schemas.openxmlformats.org/drawingml/2006/main" w="14288">
            <a:solidFill>
              <a:srgbClr val="20B7C5"/>
            </a:solidFill>
            <a:prstDash val="solid"/>
          </a:ln>
        </p:spPr>
      </p:sp>
      <p:sp>
        <p:nvSpPr>
          <p:cNvPr id="54" name="s26-ind-title-0">
            <a:extLst xmlns:a="http://schemas.openxmlformats.org/drawingml/2006/main">
              <a:ext uri="{FF2B5EF4-FFF2-40B4-BE49-F238E27FC236}">
                <a16:creationId xmlns:a16="http://schemas.microsoft.com/office/drawing/2014/main" id="{ABC2F4AE-9FD5-4DA8-A63C-FF3A2A197D40}"/>
              </a:ext>
            </a:extLst>
          </p:cNvPr>
          <p:cNvSpPr>
            <a:spLocks xmlns:a="http://schemas.openxmlformats.org/drawingml/2006/main" noGrp="1"/>
          </p:cNvSpPr>
          <p:nvPr/>
        </p:nvSpPr>
        <p:spPr>
          <a:xfrm xmlns:a="http://schemas.openxmlformats.org/drawingml/2006/main">
            <a:off x="7086600" y="18383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PLANNED</a:t>
            </a:r>
          </a:p>
        </p:txBody>
      </p:sp>
      <p:sp>
        <p:nvSpPr>
          <p:cNvPr id="55" name="s26-ind-body-0">
            <a:extLst xmlns:a="http://schemas.openxmlformats.org/drawingml/2006/main">
              <a:ext uri="{FF2B5EF4-FFF2-40B4-BE49-F238E27FC236}">
                <a16:creationId xmlns:a16="http://schemas.microsoft.com/office/drawing/2014/main" id="{A54935B2-61FB-4E65-BC56-3B08D40DF6B3}"/>
              </a:ext>
            </a:extLst>
          </p:cNvPr>
          <p:cNvSpPr>
            <a:spLocks xmlns:a="http://schemas.openxmlformats.org/drawingml/2006/main" noGrp="1"/>
          </p:cNvSpPr>
          <p:nvPr/>
        </p:nvSpPr>
        <p:spPr>
          <a:xfrm xmlns:a="http://schemas.openxmlformats.org/drawingml/2006/main">
            <a:off x="7086600" y="20859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Approved plans designate which verification objectives require independence.</a:t>
            </a:r>
          </a:p>
        </p:txBody>
      </p:sp>
      <p:sp>
        <p:nvSpPr>
          <p:cNvPr id="56" name="s26-ind-1">
            <a:extLst xmlns:a="http://schemas.openxmlformats.org/drawingml/2006/main">
              <a:ext uri="{FF2B5EF4-FFF2-40B4-BE49-F238E27FC236}">
                <a16:creationId xmlns:a16="http://schemas.microsoft.com/office/drawing/2014/main" id="{0E393ED6-46E8-49E3-9BA2-1A8C05C98876}"/>
              </a:ext>
            </a:extLst>
          </p:cNvPr>
          <p:cNvSpPr>
            <a:spLocks xmlns:a="http://schemas.openxmlformats.org/drawingml/2006/main" noGrp="1"/>
          </p:cNvSpPr>
          <p:nvPr/>
        </p:nvSpPr>
        <p:spPr>
          <a:xfrm xmlns:a="http://schemas.openxmlformats.org/drawingml/2006/main">
            <a:off x="6896100" y="292417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57" name="s26-ind-title-1">
            <a:extLst xmlns:a="http://schemas.openxmlformats.org/drawingml/2006/main">
              <a:ext uri="{FF2B5EF4-FFF2-40B4-BE49-F238E27FC236}">
                <a16:creationId xmlns:a16="http://schemas.microsoft.com/office/drawing/2014/main" id="{286C58FA-052E-4FA9-B67F-BD1FC5C09B77}"/>
              </a:ext>
            </a:extLst>
          </p:cNvPr>
          <p:cNvSpPr>
            <a:spLocks xmlns:a="http://schemas.openxmlformats.org/drawingml/2006/main" noGrp="1"/>
          </p:cNvSpPr>
          <p:nvPr/>
        </p:nvSpPr>
        <p:spPr>
          <a:xfrm xmlns:a="http://schemas.openxmlformats.org/drawingml/2006/main">
            <a:off x="7086600" y="30384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ROLE-BASED</a:t>
            </a:r>
          </a:p>
        </p:txBody>
      </p:sp>
      <p:sp>
        <p:nvSpPr>
          <p:cNvPr id="58" name="s26-ind-body-1">
            <a:extLst xmlns:a="http://schemas.openxmlformats.org/drawingml/2006/main">
              <a:ext uri="{FF2B5EF4-FFF2-40B4-BE49-F238E27FC236}">
                <a16:creationId xmlns:a16="http://schemas.microsoft.com/office/drawing/2014/main" id="{7E6AA54C-3CB2-4682-B0E3-2322FBBA2012}"/>
              </a:ext>
            </a:extLst>
          </p:cNvPr>
          <p:cNvSpPr>
            <a:spLocks xmlns:a="http://schemas.openxmlformats.org/drawingml/2006/main" noGrp="1"/>
          </p:cNvSpPr>
          <p:nvPr/>
        </p:nvSpPr>
        <p:spPr>
          <a:xfrm xmlns:a="http://schemas.openxmlformats.org/drawingml/2006/main">
            <a:off x="7086600" y="328612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Where required, the author is not the sole independent verifier of their own work.</a:t>
            </a:r>
          </a:p>
        </p:txBody>
      </p:sp>
      <p:sp>
        <p:nvSpPr>
          <p:cNvPr id="59" name="s26-ind-2">
            <a:extLst xmlns:a="http://schemas.openxmlformats.org/drawingml/2006/main">
              <a:ext uri="{FF2B5EF4-FFF2-40B4-BE49-F238E27FC236}">
                <a16:creationId xmlns:a16="http://schemas.microsoft.com/office/drawing/2014/main" id="{F14AC1A6-6269-4885-9930-D9CB64F09C67}"/>
              </a:ext>
            </a:extLst>
          </p:cNvPr>
          <p:cNvSpPr>
            <a:spLocks xmlns:a="http://schemas.openxmlformats.org/drawingml/2006/main" noGrp="1"/>
          </p:cNvSpPr>
          <p:nvPr/>
        </p:nvSpPr>
        <p:spPr>
          <a:xfrm xmlns:a="http://schemas.openxmlformats.org/drawingml/2006/main">
            <a:off x="6896100" y="412432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60" name="s26-ind-title-2">
            <a:extLst xmlns:a="http://schemas.openxmlformats.org/drawingml/2006/main">
              <a:ext uri="{FF2B5EF4-FFF2-40B4-BE49-F238E27FC236}">
                <a16:creationId xmlns:a16="http://schemas.microsoft.com/office/drawing/2014/main" id="{92325337-F0B1-4DCD-96FC-C5D9287C4D5E}"/>
              </a:ext>
            </a:extLst>
          </p:cNvPr>
          <p:cNvSpPr>
            <a:spLocks xmlns:a="http://schemas.openxmlformats.org/drawingml/2006/main" noGrp="1"/>
          </p:cNvSpPr>
          <p:nvPr/>
        </p:nvSpPr>
        <p:spPr>
          <a:xfrm xmlns:a="http://schemas.openxmlformats.org/drawingml/2006/main">
            <a:off x="7086600" y="42386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EVIDENCED</a:t>
            </a:r>
          </a:p>
        </p:txBody>
      </p:sp>
      <p:sp>
        <p:nvSpPr>
          <p:cNvPr id="61" name="s26-ind-body-2">
            <a:extLst xmlns:a="http://schemas.openxmlformats.org/drawingml/2006/main">
              <a:ext uri="{FF2B5EF4-FFF2-40B4-BE49-F238E27FC236}">
                <a16:creationId xmlns:a16="http://schemas.microsoft.com/office/drawing/2014/main" id="{FBFB5AC1-D798-4EA1-B1F5-2958447B2587}"/>
              </a:ext>
            </a:extLst>
          </p:cNvPr>
          <p:cNvSpPr>
            <a:spLocks xmlns:a="http://schemas.openxmlformats.org/drawingml/2006/main" noGrp="1"/>
          </p:cNvSpPr>
          <p:nvPr/>
        </p:nvSpPr>
        <p:spPr>
          <a:xfrm xmlns:a="http://schemas.openxmlformats.org/drawingml/2006/main">
            <a:off x="7086600" y="44862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Review records identify the verifier, activity, baseline, findings, and disposition.</a:t>
            </a:r>
          </a:p>
        </p:txBody>
      </p:sp>
      <p:sp>
        <p:nvSpPr>
          <p:cNvPr id="62" name="s26-takeaway">
            <a:extLst xmlns:a="http://schemas.openxmlformats.org/drawingml/2006/main">
              <a:ext uri="{FF2B5EF4-FFF2-40B4-BE49-F238E27FC236}">
                <a16:creationId xmlns:a16="http://schemas.microsoft.com/office/drawing/2014/main" id="{96A6152F-4749-4F3B-83D7-A0E19B84D863}"/>
              </a:ext>
            </a:extLst>
          </p:cNvPr>
          <p:cNvSpPr>
            <a:spLocks xmlns:a="http://schemas.openxmlformats.org/drawingml/2006/main" noGrp="1"/>
          </p:cNvSpPr>
          <p:nvPr/>
        </p:nvSpPr>
        <p:spPr>
          <a:xfrm xmlns:a="http://schemas.openxmlformats.org/drawingml/2006/main">
            <a:off x="6896100" y="5467350"/>
            <a:ext cx="4610100" cy="590550"/>
          </a:xfrm>
          <a:prstGeom xmlns:a="http://schemas.openxmlformats.org/drawingml/2006/main" prst="roundRect">
            <a:avLst>
              <a:gd name="adj" fmla="val 1935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Use “DO-178C Software Level A” unless discussing a broader system DAL allocation.</a:t>
            </a:r>
          </a:p>
        </p:txBody>
      </p:sp>
    </p:spTree>
    <p:extLst>
      <p:ext uri="{BB962C8B-B14F-4D97-AF65-F5344CB8AC3E}">
        <p14:creationId xmlns:p14="http://schemas.microsoft.com/office/powerpoint/2010/main" val="1670726246"/>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11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11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11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04 • ASSURANCE CONTEXT</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3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V-model pairs every definition with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28</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270"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71"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72"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73"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74"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3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Illustrative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HLR  SWHLR-001 / PRL-001</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LLR / DESIGN  SWLLR-001</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STATUS + TIMING  PRL-003 / PRL-004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215" b="1">
                <a:solidFill>
                  <a:srgbClr val="FFFFFF"/>
                </a:solidFill>
                <a:latin typeface="Aptos"/>
                <a:ea typeface="Aptos"/>
                <a:cs typeface="Aptos"/>
              </a:defRPr>
            </a:pPr>
            <a:r>
              <a:rPr sz="1215"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29</a:t>
            </a:r>
          </a:p>
        </p:txBody>
      </p:sp>
    </p:spTree>
    <p:extLst>
      <p:ext uri="{BB962C8B-B14F-4D97-AF65-F5344CB8AC3E}">
        <p14:creationId xmlns:p14="http://schemas.microsoft.com/office/powerpoint/2010/main" val="125380021"/>
      </p:ext>
    </p:extLst>
  </p:cSld>
</p:sld>
</file>

<file path=ppt/slides/slide3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One limiter requirement traces to one executed result</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21" name="s30-top-link-0">
            <a:extLst xmlns:a="http://schemas.openxmlformats.org/drawingml/2006/main">
              <a:ext uri="{FF2B5EF4-FFF2-40B4-BE49-F238E27FC236}">
                <a16:creationId xmlns:a16="http://schemas.microsoft.com/office/drawing/2014/main" id="{E4241066-EF35-4EB9-A5C7-D6E3BF332DCB}"/>
              </a:ext>
            </a:extLst>
          </p:cNvPr>
          <p:cNvSpPr>
            <a:spLocks xmlns:a="http://schemas.openxmlformats.org/drawingml/2006/main" noGrp="1"/>
          </p:cNvSpPr>
          <p:nvPr/>
        </p:nvSpPr>
        <p:spPr>
          <a:xfrm xmlns:a="http://schemas.openxmlformats.org/drawingml/2006/main">
            <a:off x="30099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2" name="s30-top-link-1">
            <a:extLst xmlns:a="http://schemas.openxmlformats.org/drawingml/2006/main">
              <a:ext uri="{FF2B5EF4-FFF2-40B4-BE49-F238E27FC236}">
                <a16:creationId xmlns:a16="http://schemas.microsoft.com/office/drawing/2014/main" id="{59B85A38-FBB7-4278-82F7-492F4E274457}"/>
              </a:ext>
            </a:extLst>
          </p:cNvPr>
          <p:cNvSpPr>
            <a:spLocks xmlns:a="http://schemas.openxmlformats.org/drawingml/2006/main" noGrp="1"/>
          </p:cNvSpPr>
          <p:nvPr/>
        </p:nvSpPr>
        <p:spPr>
          <a:xfrm xmlns:a="http://schemas.openxmlformats.org/drawingml/2006/main">
            <a:off x="57150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3" name="s30-top-link-2">
            <a:extLst xmlns:a="http://schemas.openxmlformats.org/drawingml/2006/main">
              <a:ext uri="{FF2B5EF4-FFF2-40B4-BE49-F238E27FC236}">
                <a16:creationId xmlns:a16="http://schemas.microsoft.com/office/drawing/2014/main" id="{3652B6AF-A3D8-4615-A4DB-286A4E43945B}"/>
              </a:ext>
            </a:extLst>
          </p:cNvPr>
          <p:cNvSpPr>
            <a:spLocks xmlns:a="http://schemas.openxmlformats.org/drawingml/2006/main" noGrp="1"/>
          </p:cNvSpPr>
          <p:nvPr/>
        </p:nvSpPr>
        <p:spPr>
          <a:xfrm xmlns:a="http://schemas.openxmlformats.org/drawingml/2006/main">
            <a:off x="84201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4" name="s30-turn-link">
            <a:extLst xmlns:a="http://schemas.openxmlformats.org/drawingml/2006/main">
              <a:ext uri="{FF2B5EF4-FFF2-40B4-BE49-F238E27FC236}">
                <a16:creationId xmlns:a16="http://schemas.microsoft.com/office/drawing/2014/main" id="{EA297504-FD82-461C-9E34-54D01FE97BF4}"/>
              </a:ext>
            </a:extLst>
          </p:cNvPr>
          <p:cNvSpPr>
            <a:spLocks xmlns:a="http://schemas.openxmlformats.org/drawingml/2006/main" noGrp="1"/>
          </p:cNvSpPr>
          <p:nvPr/>
        </p:nvSpPr>
        <p:spPr>
          <a:xfrm xmlns:a="http://schemas.openxmlformats.org/drawingml/2006/main">
            <a:off x="11125200" y="2000250"/>
            <a:ext cx="0" cy="135255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5" name="s30-bottom-link-0">
            <a:extLst xmlns:a="http://schemas.openxmlformats.org/drawingml/2006/main">
              <a:ext uri="{FF2B5EF4-FFF2-40B4-BE49-F238E27FC236}">
                <a16:creationId xmlns:a16="http://schemas.microsoft.com/office/drawing/2014/main" id="{6FC1A7E5-ED6D-46A6-B13B-DCA5947A77E2}"/>
              </a:ext>
            </a:extLst>
          </p:cNvPr>
          <p:cNvSpPr>
            <a:spLocks xmlns:a="http://schemas.openxmlformats.org/drawingml/2006/main" noGrp="1"/>
          </p:cNvSpPr>
          <p:nvPr/>
        </p:nvSpPr>
        <p:spPr>
          <a:xfrm xmlns:a="http://schemas.openxmlformats.org/drawingml/2006/main">
            <a:off x="84201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6" name="s30-bottom-link-1">
            <a:extLst xmlns:a="http://schemas.openxmlformats.org/drawingml/2006/main">
              <a:ext uri="{FF2B5EF4-FFF2-40B4-BE49-F238E27FC236}">
                <a16:creationId xmlns:a16="http://schemas.microsoft.com/office/drawing/2014/main" id="{9003C0E7-6D5D-4768-9AA9-5DAF10032325}"/>
              </a:ext>
            </a:extLst>
          </p:cNvPr>
          <p:cNvSpPr>
            <a:spLocks xmlns:a="http://schemas.openxmlformats.org/drawingml/2006/main" noGrp="1"/>
          </p:cNvSpPr>
          <p:nvPr/>
        </p:nvSpPr>
        <p:spPr>
          <a:xfrm xmlns:a="http://schemas.openxmlformats.org/drawingml/2006/main">
            <a:off x="57150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7" name="s30-bottom-link-2">
            <a:extLst xmlns:a="http://schemas.openxmlformats.org/drawingml/2006/main">
              <a:ext uri="{FF2B5EF4-FFF2-40B4-BE49-F238E27FC236}">
                <a16:creationId xmlns:a16="http://schemas.microsoft.com/office/drawing/2014/main" id="{CF4F4F64-1AA1-4E72-947E-DC6C1E258AB4}"/>
              </a:ext>
            </a:extLst>
          </p:cNvPr>
          <p:cNvSpPr>
            <a:spLocks xmlns:a="http://schemas.openxmlformats.org/drawingml/2006/main" noGrp="1"/>
          </p:cNvSpPr>
          <p:nvPr/>
        </p:nvSpPr>
        <p:spPr>
          <a:xfrm xmlns:a="http://schemas.openxmlformats.org/drawingml/2006/main">
            <a:off x="30099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8" name="s30-node-0">
            <a:extLst xmlns:a="http://schemas.openxmlformats.org/drawingml/2006/main">
              <a:ext uri="{FF2B5EF4-FFF2-40B4-BE49-F238E27FC236}">
                <a16:creationId xmlns:a16="http://schemas.microsoft.com/office/drawing/2014/main" id="{436EF7E7-5C1F-4E28-92F9-DF5286541D9F}"/>
              </a:ext>
            </a:extLst>
          </p:cNvPr>
          <p:cNvSpPr>
            <a:spLocks xmlns:a="http://schemas.openxmlformats.org/drawingml/2006/main" noGrp="1"/>
          </p:cNvSpPr>
          <p:nvPr/>
        </p:nvSpPr>
        <p:spPr>
          <a:xfrm xmlns:a="http://schemas.openxmlformats.org/drawingml/2006/main">
            <a:off x="6858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29" name="s30-node-title-0">
            <a:extLst xmlns:a="http://schemas.openxmlformats.org/drawingml/2006/main">
              <a:ext uri="{FF2B5EF4-FFF2-40B4-BE49-F238E27FC236}">
                <a16:creationId xmlns:a16="http://schemas.microsoft.com/office/drawing/2014/main" id="{D91684E7-BE10-4827-B6F5-D8252852D7B7}"/>
              </a:ext>
            </a:extLst>
          </p:cNvPr>
          <p:cNvSpPr>
            <a:spLocks xmlns:a="http://schemas.openxmlformats.org/drawingml/2006/main" noGrp="1"/>
          </p:cNvSpPr>
          <p:nvPr/>
        </p:nvSpPr>
        <p:spPr>
          <a:xfrm xmlns:a="http://schemas.openxmlformats.org/drawingml/2006/main">
            <a:off x="8001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1 • SYSTEM</a:t>
            </a:r>
          </a:p>
        </p:txBody>
      </p:sp>
      <p:sp>
        <p:nvSpPr>
          <p:cNvPr id="30" name="s30-node-body-0">
            <a:extLst xmlns:a="http://schemas.openxmlformats.org/drawingml/2006/main">
              <a:ext uri="{FF2B5EF4-FFF2-40B4-BE49-F238E27FC236}">
                <a16:creationId xmlns:a16="http://schemas.microsoft.com/office/drawing/2014/main" id="{5588796A-854A-4D15-BC29-9AFC91480C75}"/>
              </a:ext>
            </a:extLst>
          </p:cNvPr>
          <p:cNvSpPr>
            <a:spLocks xmlns:a="http://schemas.openxmlformats.org/drawingml/2006/main" noGrp="1"/>
          </p:cNvSpPr>
          <p:nvPr/>
        </p:nvSpPr>
        <p:spPr>
          <a:xfrm xmlns:a="http://schemas.openxmlformats.org/drawingml/2006/main">
            <a:off x="8001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PSYS-001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command-path protection</a:t>
            </a:r>
          </a:p>
        </p:txBody>
      </p:sp>
      <p:sp>
        <p:nvSpPr>
          <p:cNvPr id="31" name="s30-node-1">
            <a:extLst xmlns:a="http://schemas.openxmlformats.org/drawingml/2006/main">
              <a:ext uri="{FF2B5EF4-FFF2-40B4-BE49-F238E27FC236}">
                <a16:creationId xmlns:a16="http://schemas.microsoft.com/office/drawing/2014/main" id="{A120D565-5A14-4BFD-AADB-61ABA9446959}"/>
              </a:ext>
            </a:extLst>
          </p:cNvPr>
          <p:cNvSpPr>
            <a:spLocks xmlns:a="http://schemas.openxmlformats.org/drawingml/2006/main" noGrp="1"/>
          </p:cNvSpPr>
          <p:nvPr/>
        </p:nvSpPr>
        <p:spPr>
          <a:xfrm xmlns:a="http://schemas.openxmlformats.org/drawingml/2006/main">
            <a:off x="33909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2" name="s30-node-title-1">
            <a:extLst xmlns:a="http://schemas.openxmlformats.org/drawingml/2006/main">
              <a:ext uri="{FF2B5EF4-FFF2-40B4-BE49-F238E27FC236}">
                <a16:creationId xmlns:a16="http://schemas.microsoft.com/office/drawing/2014/main" id="{4F2F9F21-0C5E-4E12-B91C-14E5E1EEF5FA}"/>
              </a:ext>
            </a:extLst>
          </p:cNvPr>
          <p:cNvSpPr>
            <a:spLocks xmlns:a="http://schemas.openxmlformats.org/drawingml/2006/main" noGrp="1"/>
          </p:cNvSpPr>
          <p:nvPr/>
        </p:nvSpPr>
        <p:spPr>
          <a:xfrm xmlns:a="http://schemas.openxmlformats.org/drawingml/2006/main">
            <a:off x="35052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2 • SOFTWARE HLR</a:t>
            </a:r>
          </a:p>
        </p:txBody>
      </p:sp>
      <p:sp>
        <p:nvSpPr>
          <p:cNvPr id="33" name="s30-node-body-1">
            <a:extLst xmlns:a="http://schemas.openxmlformats.org/drawingml/2006/main">
              <a:ext uri="{FF2B5EF4-FFF2-40B4-BE49-F238E27FC236}">
                <a16:creationId xmlns:a16="http://schemas.microsoft.com/office/drawing/2014/main" id="{94421765-FA94-42D4-A7EF-74B87B1E680D}"/>
              </a:ext>
            </a:extLst>
          </p:cNvPr>
          <p:cNvSpPr>
            <a:spLocks xmlns:a="http://schemas.openxmlformats.org/drawingml/2006/main" noGrp="1"/>
          </p:cNvSpPr>
          <p:nvPr/>
        </p:nvSpPr>
        <p:spPr>
          <a:xfrm xmlns:a="http://schemas.openxmlformats.org/drawingml/2006/main">
            <a:off x="35052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SWHLR-001 / PRL-001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inclusive ±12 deg/s allocation</a:t>
            </a:r>
          </a:p>
        </p:txBody>
      </p:sp>
      <p:sp>
        <p:nvSpPr>
          <p:cNvPr id="34" name="s30-node-2">
            <a:extLst xmlns:a="http://schemas.openxmlformats.org/drawingml/2006/main">
              <a:ext uri="{FF2B5EF4-FFF2-40B4-BE49-F238E27FC236}">
                <a16:creationId xmlns:a16="http://schemas.microsoft.com/office/drawing/2014/main" id="{6F5BA54D-39D9-42D9-A57C-5E398431D0AF}"/>
              </a:ext>
            </a:extLst>
          </p:cNvPr>
          <p:cNvSpPr>
            <a:spLocks xmlns:a="http://schemas.openxmlformats.org/drawingml/2006/main" noGrp="1"/>
          </p:cNvSpPr>
          <p:nvPr/>
        </p:nvSpPr>
        <p:spPr>
          <a:xfrm xmlns:a="http://schemas.openxmlformats.org/drawingml/2006/main">
            <a:off x="60960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5" name="s30-node-title-2">
            <a:extLst xmlns:a="http://schemas.openxmlformats.org/drawingml/2006/main">
              <a:ext uri="{FF2B5EF4-FFF2-40B4-BE49-F238E27FC236}">
                <a16:creationId xmlns:a16="http://schemas.microsoft.com/office/drawing/2014/main" id="{52077638-A8A2-479E-848C-A39EF2EDB9FF}"/>
              </a:ext>
            </a:extLst>
          </p:cNvPr>
          <p:cNvSpPr>
            <a:spLocks xmlns:a="http://schemas.openxmlformats.org/drawingml/2006/main" noGrp="1"/>
          </p:cNvSpPr>
          <p:nvPr/>
        </p:nvSpPr>
        <p:spPr>
          <a:xfrm xmlns:a="http://schemas.openxmlformats.org/drawingml/2006/main">
            <a:off x="62103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3 • SOFTWARE LLR</a:t>
            </a:r>
          </a:p>
        </p:txBody>
      </p:sp>
      <p:sp>
        <p:nvSpPr>
          <p:cNvPr id="36" name="s30-node-body-2">
            <a:extLst xmlns:a="http://schemas.openxmlformats.org/drawingml/2006/main">
              <a:ext uri="{FF2B5EF4-FFF2-40B4-BE49-F238E27FC236}">
                <a16:creationId xmlns:a16="http://schemas.microsoft.com/office/drawing/2014/main" id="{E67F19CD-9347-4F4F-B5FA-0D7E8B906B52}"/>
              </a:ext>
            </a:extLst>
          </p:cNvPr>
          <p:cNvSpPr>
            <a:spLocks xmlns:a="http://schemas.openxmlformats.org/drawingml/2006/main" noGrp="1"/>
          </p:cNvSpPr>
          <p:nvPr/>
        </p:nvSpPr>
        <p:spPr>
          <a:xfrm xmlns:a="http://schemas.openxmlformats.org/drawingml/2006/main">
            <a:off x="62103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SWLLR-001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apply the magnitude clamp</a:t>
            </a:r>
          </a:p>
        </p:txBody>
      </p:sp>
      <p:sp>
        <p:nvSpPr>
          <p:cNvPr id="37" name="s30-node-3">
            <a:extLst xmlns:a="http://schemas.openxmlformats.org/drawingml/2006/main">
              <a:ext uri="{FF2B5EF4-FFF2-40B4-BE49-F238E27FC236}">
                <a16:creationId xmlns:a16="http://schemas.microsoft.com/office/drawing/2014/main" id="{812C41D1-A8A7-465F-A8D1-504C0C0E85B5}"/>
              </a:ext>
            </a:extLst>
          </p:cNvPr>
          <p:cNvSpPr>
            <a:spLocks xmlns:a="http://schemas.openxmlformats.org/drawingml/2006/main" noGrp="1"/>
          </p:cNvSpPr>
          <p:nvPr/>
        </p:nvSpPr>
        <p:spPr>
          <a:xfrm xmlns:a="http://schemas.openxmlformats.org/drawingml/2006/main">
            <a:off x="88011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38" name="s30-node-title-3">
            <a:extLst xmlns:a="http://schemas.openxmlformats.org/drawingml/2006/main">
              <a:ext uri="{FF2B5EF4-FFF2-40B4-BE49-F238E27FC236}">
                <a16:creationId xmlns:a16="http://schemas.microsoft.com/office/drawing/2014/main" id="{413FC223-4573-453B-AE3C-0AA019709314}"/>
              </a:ext>
            </a:extLst>
          </p:cNvPr>
          <p:cNvSpPr>
            <a:spLocks xmlns:a="http://schemas.openxmlformats.org/drawingml/2006/main" noGrp="1"/>
          </p:cNvSpPr>
          <p:nvPr/>
        </p:nvSpPr>
        <p:spPr>
          <a:xfrm xmlns:a="http://schemas.openxmlformats.org/drawingml/2006/main">
            <a:off x="89154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4 • MODEL ELEMENT</a:t>
            </a:r>
          </a:p>
        </p:txBody>
      </p:sp>
      <p:sp>
        <p:nvSpPr>
          <p:cNvPr id="39" name="s30-node-body-3">
            <a:extLst xmlns:a="http://schemas.openxmlformats.org/drawingml/2006/main">
              <a:ext uri="{FF2B5EF4-FFF2-40B4-BE49-F238E27FC236}">
                <a16:creationId xmlns:a16="http://schemas.microsoft.com/office/drawing/2014/main" id="{660C097A-22E7-4EA0-B5E8-F8837DFCFB79}"/>
              </a:ext>
            </a:extLst>
          </p:cNvPr>
          <p:cNvSpPr>
            <a:spLocks xmlns:a="http://schemas.openxmlformats.org/drawingml/2006/main" noGrp="1"/>
          </p:cNvSpPr>
          <p:nvPr/>
        </p:nvSpPr>
        <p:spPr>
          <a:xfrm xmlns:a="http://schemas.openxmlformats.org/drawingml/2006/main">
            <a:off x="89154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PitchRateLimiter/Pitch Rate Limiter Logic/Magnitude Clamp</a:t>
            </a:r>
          </a:p>
        </p:txBody>
      </p:sp>
      <p:sp>
        <p:nvSpPr>
          <p:cNvPr id="40" name="s30-node-4">
            <a:extLst xmlns:a="http://schemas.openxmlformats.org/drawingml/2006/main">
              <a:ext uri="{FF2B5EF4-FFF2-40B4-BE49-F238E27FC236}">
                <a16:creationId xmlns:a16="http://schemas.microsoft.com/office/drawing/2014/main" id="{EACB2528-F5F3-4BFB-8155-4320A02FA488}"/>
              </a:ext>
            </a:extLst>
          </p:cNvPr>
          <p:cNvSpPr>
            <a:spLocks xmlns:a="http://schemas.openxmlformats.org/drawingml/2006/main" noGrp="1"/>
          </p:cNvSpPr>
          <p:nvPr/>
        </p:nvSpPr>
        <p:spPr>
          <a:xfrm xmlns:a="http://schemas.openxmlformats.org/drawingml/2006/main">
            <a:off x="88011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1" name="s30-node-title-4">
            <a:extLst xmlns:a="http://schemas.openxmlformats.org/drawingml/2006/main">
              <a:ext uri="{FF2B5EF4-FFF2-40B4-BE49-F238E27FC236}">
                <a16:creationId xmlns:a16="http://schemas.microsoft.com/office/drawing/2014/main" id="{F74AF5FE-51D0-4E0A-A79B-33AE35456E9C}"/>
              </a:ext>
            </a:extLst>
          </p:cNvPr>
          <p:cNvSpPr>
            <a:spLocks xmlns:a="http://schemas.openxmlformats.org/drawingml/2006/main" noGrp="1"/>
          </p:cNvSpPr>
          <p:nvPr/>
        </p:nvSpPr>
        <p:spPr>
          <a:xfrm xmlns:a="http://schemas.openxmlformats.org/drawingml/2006/main">
            <a:off x="89154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5 • HARNESS</a:t>
            </a:r>
          </a:p>
        </p:txBody>
      </p:sp>
      <p:sp>
        <p:nvSpPr>
          <p:cNvPr id="42" name="s30-node-body-4">
            <a:extLst xmlns:a="http://schemas.openxmlformats.org/drawingml/2006/main">
              <a:ext uri="{FF2B5EF4-FFF2-40B4-BE49-F238E27FC236}">
                <a16:creationId xmlns:a16="http://schemas.microsoft.com/office/drawing/2014/main" id="{9E2FC49A-F61A-4147-B2F6-0F0349F7E88B}"/>
              </a:ext>
            </a:extLst>
          </p:cNvPr>
          <p:cNvSpPr>
            <a:spLocks xmlns:a="http://schemas.openxmlformats.org/drawingml/2006/main" noGrp="1"/>
          </p:cNvSpPr>
          <p:nvPr/>
        </p:nvSpPr>
        <p:spPr>
          <a:xfrm xmlns:a="http://schemas.openxmlformats.org/drawingml/2006/main">
            <a:off x="89154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PitchRateLimiter_Harness/Unit Under Test - PitchRateLimiter</a:t>
            </a:r>
          </a:p>
        </p:txBody>
      </p:sp>
      <p:sp>
        <p:nvSpPr>
          <p:cNvPr id="43" name="s30-node-5">
            <a:extLst xmlns:a="http://schemas.openxmlformats.org/drawingml/2006/main">
              <a:ext uri="{FF2B5EF4-FFF2-40B4-BE49-F238E27FC236}">
                <a16:creationId xmlns:a16="http://schemas.microsoft.com/office/drawing/2014/main" id="{460129E9-16B3-4CA0-A8E7-6C6E840C5110}"/>
              </a:ext>
            </a:extLst>
          </p:cNvPr>
          <p:cNvSpPr>
            <a:spLocks xmlns:a="http://schemas.openxmlformats.org/drawingml/2006/main" noGrp="1"/>
          </p:cNvSpPr>
          <p:nvPr/>
        </p:nvSpPr>
        <p:spPr>
          <a:xfrm xmlns:a="http://schemas.openxmlformats.org/drawingml/2006/main">
            <a:off x="60960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4" name="s30-node-title-5">
            <a:extLst xmlns:a="http://schemas.openxmlformats.org/drawingml/2006/main">
              <a:ext uri="{FF2B5EF4-FFF2-40B4-BE49-F238E27FC236}">
                <a16:creationId xmlns:a16="http://schemas.microsoft.com/office/drawing/2014/main" id="{AE07A6DC-2E05-415E-A0F0-E18E653B3CDA}"/>
              </a:ext>
            </a:extLst>
          </p:cNvPr>
          <p:cNvSpPr>
            <a:spLocks xmlns:a="http://schemas.openxmlformats.org/drawingml/2006/main" noGrp="1"/>
          </p:cNvSpPr>
          <p:nvPr/>
        </p:nvSpPr>
        <p:spPr>
          <a:xfrm xmlns:a="http://schemas.openxmlformats.org/drawingml/2006/main">
            <a:off x="62103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6 • EXECUTED CASE</a:t>
            </a:r>
          </a:p>
        </p:txBody>
      </p:sp>
      <p:sp>
        <p:nvSpPr>
          <p:cNvPr id="45" name="s30-node-body-5">
            <a:extLst xmlns:a="http://schemas.openxmlformats.org/drawingml/2006/main">
              <a:ext uri="{FF2B5EF4-FFF2-40B4-BE49-F238E27FC236}">
                <a16:creationId xmlns:a16="http://schemas.microsoft.com/office/drawing/2014/main" id="{1BA9950D-368F-4951-8A99-6D47034DA8CE}"/>
              </a:ext>
            </a:extLst>
          </p:cNvPr>
          <p:cNvSpPr>
            <a:spLocks xmlns:a="http://schemas.openxmlformats.org/drawingml/2006/main" noGrp="1"/>
          </p:cNvSpPr>
          <p:nvPr/>
        </p:nvSpPr>
        <p:spPr>
          <a:xfrm xmlns:a="http://schemas.openxmlformats.org/drawingml/2006/main">
            <a:off x="62103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run_pitch_rate_limiter_tests.m</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“Boundary above upper limit”</a:t>
            </a:r>
          </a:p>
        </p:txBody>
      </p:sp>
      <p:sp>
        <p:nvSpPr>
          <p:cNvPr id="46" name="s30-node-6">
            <a:extLst xmlns:a="http://schemas.openxmlformats.org/drawingml/2006/main">
              <a:ext uri="{FF2B5EF4-FFF2-40B4-BE49-F238E27FC236}">
                <a16:creationId xmlns:a16="http://schemas.microsoft.com/office/drawing/2014/main" id="{56F533FC-2499-4B99-884C-FCC6FBD6FEB5}"/>
              </a:ext>
            </a:extLst>
          </p:cNvPr>
          <p:cNvSpPr>
            <a:spLocks xmlns:a="http://schemas.openxmlformats.org/drawingml/2006/main" noGrp="1"/>
          </p:cNvSpPr>
          <p:nvPr/>
        </p:nvSpPr>
        <p:spPr>
          <a:xfrm xmlns:a="http://schemas.openxmlformats.org/drawingml/2006/main">
            <a:off x="33909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47" name="s30-node-title-6">
            <a:extLst xmlns:a="http://schemas.openxmlformats.org/drawingml/2006/main">
              <a:ext uri="{FF2B5EF4-FFF2-40B4-BE49-F238E27FC236}">
                <a16:creationId xmlns:a16="http://schemas.microsoft.com/office/drawing/2014/main" id="{A8DE721C-6618-4B13-B868-59A27AAE4394}"/>
              </a:ext>
            </a:extLst>
          </p:cNvPr>
          <p:cNvSpPr>
            <a:spLocks xmlns:a="http://schemas.openxmlformats.org/drawingml/2006/main" noGrp="1"/>
          </p:cNvSpPr>
          <p:nvPr/>
        </p:nvSpPr>
        <p:spPr>
          <a:xfrm xmlns:a="http://schemas.openxmlformats.org/drawingml/2006/main">
            <a:off x="35052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7 • ITERATION 8</a:t>
            </a:r>
          </a:p>
        </p:txBody>
      </p:sp>
      <p:sp>
        <p:nvSpPr>
          <p:cNvPr id="48" name="s30-node-body-6">
            <a:extLst xmlns:a="http://schemas.openxmlformats.org/drawingml/2006/main">
              <a:ext uri="{FF2B5EF4-FFF2-40B4-BE49-F238E27FC236}">
                <a16:creationId xmlns:a16="http://schemas.microsoft.com/office/drawing/2014/main" id="{55E038E7-848B-414C-BC15-93018B3EC65E}"/>
              </a:ext>
            </a:extLst>
          </p:cNvPr>
          <p:cNvSpPr>
            <a:spLocks xmlns:a="http://schemas.openxmlformats.org/drawingml/2006/main" noGrp="1"/>
          </p:cNvSpPr>
          <p:nvPr/>
        </p:nvSpPr>
        <p:spPr>
          <a:xfrm xmlns:a="http://schemas.openxmlformats.org/drawingml/2006/main">
            <a:off x="35052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input 12.1 • expected 12 • actual 12</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error 0 • tolerance 1e-9 • PASS</a:t>
            </a:r>
          </a:p>
        </p:txBody>
      </p:sp>
      <p:sp>
        <p:nvSpPr>
          <p:cNvPr id="49" name="s30-node-7">
            <a:extLst xmlns:a="http://schemas.openxmlformats.org/drawingml/2006/main">
              <a:ext uri="{FF2B5EF4-FFF2-40B4-BE49-F238E27FC236}">
                <a16:creationId xmlns:a16="http://schemas.microsoft.com/office/drawing/2014/main" id="{8B942BED-C89D-40F0-831E-B84BD05723A2}"/>
              </a:ext>
            </a:extLst>
          </p:cNvPr>
          <p:cNvSpPr>
            <a:spLocks xmlns:a="http://schemas.openxmlformats.org/drawingml/2006/main" noGrp="1"/>
          </p:cNvSpPr>
          <p:nvPr/>
        </p:nvSpPr>
        <p:spPr>
          <a:xfrm xmlns:a="http://schemas.openxmlformats.org/drawingml/2006/main">
            <a:off x="6858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50" name="s30-node-title-7">
            <a:extLst xmlns:a="http://schemas.openxmlformats.org/drawingml/2006/main">
              <a:ext uri="{FF2B5EF4-FFF2-40B4-BE49-F238E27FC236}">
                <a16:creationId xmlns:a16="http://schemas.microsoft.com/office/drawing/2014/main" id="{FD3D41A7-CD8D-4763-9CEB-F031DB208857}"/>
              </a:ext>
            </a:extLst>
          </p:cNvPr>
          <p:cNvSpPr>
            <a:spLocks xmlns:a="http://schemas.openxmlformats.org/drawingml/2006/main" noGrp="1"/>
          </p:cNvSpPr>
          <p:nvPr/>
        </p:nvSpPr>
        <p:spPr>
          <a:xfrm xmlns:a="http://schemas.openxmlformats.org/drawingml/2006/main">
            <a:off x="8001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8 • ASSOCIATION</a:t>
            </a:r>
          </a:p>
        </p:txBody>
      </p:sp>
      <p:sp>
        <p:nvSpPr>
          <p:cNvPr id="51" name="s30-node-body-7">
            <a:extLst xmlns:a="http://schemas.openxmlformats.org/drawingml/2006/main">
              <a:ext uri="{FF2B5EF4-FFF2-40B4-BE49-F238E27FC236}">
                <a16:creationId xmlns:a16="http://schemas.microsoft.com/office/drawing/2014/main" id="{AD97A932-CAE6-451F-985F-FBFF340D6C52}"/>
              </a:ext>
            </a:extLst>
          </p:cNvPr>
          <p:cNvSpPr>
            <a:spLocks xmlns:a="http://schemas.openxmlformats.org/drawingml/2006/main" noGrp="1"/>
          </p:cNvSpPr>
          <p:nvPr/>
        </p:nvSpPr>
        <p:spPr>
          <a:xfrm xmlns:a="http://schemas.openxmlformats.org/drawingml/2006/main">
            <a:off x="8001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PRL-001, PRL-003, PRL-004</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trace backward to intent</a:t>
            </a:r>
          </a:p>
        </p:txBody>
      </p:sp>
      <p:sp>
        <p:nvSpPr>
          <p:cNvPr id="52" name="s30-arrow-0">
            <a:extLst xmlns:a="http://schemas.openxmlformats.org/drawingml/2006/main">
              <a:ext uri="{FF2B5EF4-FFF2-40B4-BE49-F238E27FC236}">
                <a16:creationId xmlns:a16="http://schemas.microsoft.com/office/drawing/2014/main" id="{FD0E3458-6BB4-4367-95A0-0A902DBE39E6}"/>
              </a:ext>
            </a:extLst>
          </p:cNvPr>
          <p:cNvSpPr>
            <a:spLocks xmlns:a="http://schemas.openxmlformats.org/drawingml/2006/main" noGrp="1"/>
          </p:cNvSpPr>
          <p:nvPr/>
        </p:nvSpPr>
        <p:spPr>
          <a:xfrm xmlns:a="http://schemas.openxmlformats.org/drawingml/2006/main">
            <a:off x="30289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3" name="s30-arrow-1">
            <a:extLst xmlns:a="http://schemas.openxmlformats.org/drawingml/2006/main">
              <a:ext uri="{FF2B5EF4-FFF2-40B4-BE49-F238E27FC236}">
                <a16:creationId xmlns:a16="http://schemas.microsoft.com/office/drawing/2014/main" id="{011FBFC5-99F0-4BBB-B39C-53FAE24CB4BA}"/>
              </a:ext>
            </a:extLst>
          </p:cNvPr>
          <p:cNvSpPr>
            <a:spLocks xmlns:a="http://schemas.openxmlformats.org/drawingml/2006/main" noGrp="1"/>
          </p:cNvSpPr>
          <p:nvPr/>
        </p:nvSpPr>
        <p:spPr>
          <a:xfrm xmlns:a="http://schemas.openxmlformats.org/drawingml/2006/main">
            <a:off x="57340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4" name="s30-arrow-2">
            <a:extLst xmlns:a="http://schemas.openxmlformats.org/drawingml/2006/main">
              <a:ext uri="{FF2B5EF4-FFF2-40B4-BE49-F238E27FC236}">
                <a16:creationId xmlns:a16="http://schemas.microsoft.com/office/drawing/2014/main" id="{E04B1A1F-86FF-4C4F-8B32-86901AB103E2}"/>
              </a:ext>
            </a:extLst>
          </p:cNvPr>
          <p:cNvSpPr>
            <a:spLocks xmlns:a="http://schemas.openxmlformats.org/drawingml/2006/main" noGrp="1"/>
          </p:cNvSpPr>
          <p:nvPr/>
        </p:nvSpPr>
        <p:spPr>
          <a:xfrm xmlns:a="http://schemas.openxmlformats.org/drawingml/2006/main">
            <a:off x="84391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5" name="s30-arrow-3">
            <a:extLst xmlns:a="http://schemas.openxmlformats.org/drawingml/2006/main">
              <a:ext uri="{FF2B5EF4-FFF2-40B4-BE49-F238E27FC236}">
                <a16:creationId xmlns:a16="http://schemas.microsoft.com/office/drawing/2014/main" id="{A911F84E-E901-48C0-B7E6-C850FA956A1F}"/>
              </a:ext>
            </a:extLst>
          </p:cNvPr>
          <p:cNvSpPr>
            <a:spLocks xmlns:a="http://schemas.openxmlformats.org/drawingml/2006/main" noGrp="1"/>
          </p:cNvSpPr>
          <p:nvPr/>
        </p:nvSpPr>
        <p:spPr>
          <a:xfrm xmlns:a="http://schemas.openxmlformats.org/drawingml/2006/main">
            <a:off x="10934700" y="252412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6" name="s30-arrow-4">
            <a:extLst xmlns:a="http://schemas.openxmlformats.org/drawingml/2006/main">
              <a:ext uri="{FF2B5EF4-FFF2-40B4-BE49-F238E27FC236}">
                <a16:creationId xmlns:a16="http://schemas.microsoft.com/office/drawing/2014/main" id="{8B211C82-10DB-4D2F-A572-722535D247FD}"/>
              </a:ext>
            </a:extLst>
          </p:cNvPr>
          <p:cNvSpPr>
            <a:spLocks xmlns:a="http://schemas.openxmlformats.org/drawingml/2006/main" noGrp="1"/>
          </p:cNvSpPr>
          <p:nvPr/>
        </p:nvSpPr>
        <p:spPr>
          <a:xfrm xmlns:a="http://schemas.openxmlformats.org/drawingml/2006/main">
            <a:off x="57340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7" name="s30-arrow-5">
            <a:extLst xmlns:a="http://schemas.openxmlformats.org/drawingml/2006/main">
              <a:ext uri="{FF2B5EF4-FFF2-40B4-BE49-F238E27FC236}">
                <a16:creationId xmlns:a16="http://schemas.microsoft.com/office/drawing/2014/main" id="{46144294-7D81-4CCA-B94A-00A5E7B19866}"/>
              </a:ext>
            </a:extLst>
          </p:cNvPr>
          <p:cNvSpPr>
            <a:spLocks xmlns:a="http://schemas.openxmlformats.org/drawingml/2006/main" noGrp="1"/>
          </p:cNvSpPr>
          <p:nvPr/>
        </p:nvSpPr>
        <p:spPr>
          <a:xfrm xmlns:a="http://schemas.openxmlformats.org/drawingml/2006/main">
            <a:off x="30289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8" name="s30-arrow-6">
            <a:extLst xmlns:a="http://schemas.openxmlformats.org/drawingml/2006/main">
              <a:ext uri="{FF2B5EF4-FFF2-40B4-BE49-F238E27FC236}">
                <a16:creationId xmlns:a16="http://schemas.microsoft.com/office/drawing/2014/main" id="{9EB3DADD-D124-4EDD-93C3-5F6F3CD78A0C}"/>
              </a:ext>
            </a:extLst>
          </p:cNvPr>
          <p:cNvSpPr>
            <a:spLocks xmlns:a="http://schemas.openxmlformats.org/drawingml/2006/main" noGrp="1"/>
          </p:cNvSpPr>
          <p:nvPr/>
        </p:nvSpPr>
        <p:spPr>
          <a:xfrm xmlns:a="http://schemas.openxmlformats.org/drawingml/2006/main">
            <a:off x="3238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9" name="s30-evidence">
            <a:extLst xmlns:a="http://schemas.openxmlformats.org/drawingml/2006/main">
              <a:ext uri="{FF2B5EF4-FFF2-40B4-BE49-F238E27FC236}">
                <a16:creationId xmlns:a16="http://schemas.microsoft.com/office/drawing/2014/main" id="{5948A748-D978-4D71-BD4A-74F7F4D6486B}"/>
              </a:ext>
            </a:extLst>
          </p:cNvPr>
          <p:cNvSpPr>
            <a:spLocks xmlns:a="http://schemas.openxmlformats.org/drawingml/2006/main" noGrp="1"/>
          </p:cNvSpPr>
          <p:nvPr/>
        </p:nvSpPr>
        <p:spPr>
          <a:xfrm xmlns:a="http://schemas.openxmlformats.org/drawingml/2006/main">
            <a:off x="685800" y="4171950"/>
            <a:ext cx="10820400" cy="857250"/>
          </a:xfrm>
          <a:prstGeom xmlns:a="http://schemas.openxmlformats.org/drawingml/2006/main" prst="roundRect">
            <a:avLst>
              <a:gd name="adj" fmla="val 1333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90" b="1">
                <a:solidFill>
                  <a:srgbClr val="0B1F33"/>
                </a:solidFill>
                <a:latin typeface="Aptos"/>
                <a:ea typeface="Aptos"/>
                <a:cs typeface="Aptos"/>
              </a:defRPr>
            </a:pPr>
            <a:r>
              <a:rPr sz="1290" b="1">
                <a:solidFill>
                  <a:srgbClr val="0B1F33"/>
                </a:solidFill>
                <a:latin typeface="Aptos"/>
                <a:ea typeface="Aptos"/>
                <a:cs typeface="Aptos"/>
              </a:rPr>
              <a:t>VISIBLE RESULT  •  t = 0.14 s  •  normal_mode = true  •  input_valid = true  •  limiter_active expected/actual = true  •  every recorded check passed</a:t>
            </a:r>
          </a:p>
        </p:txBody>
      </p:sp>
      <p:sp>
        <p:nvSpPr>
          <p:cNvPr id="60" name="s30-env">
            <a:extLst xmlns:a="http://schemas.openxmlformats.org/drawingml/2006/main">
              <a:ext uri="{FF2B5EF4-FFF2-40B4-BE49-F238E27FC236}">
                <a16:creationId xmlns:a16="http://schemas.microsoft.com/office/drawing/2014/main" id="{2A93A536-8149-41AD-97F7-2F54D8326521}"/>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1818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Desktop Simulink model execution (MIL); not SIL, PIL, or HIL.</a:t>
            </a:r>
          </a:p>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Traceability is demonstrated through CSV, script, model-path, and result associations—not live Simulink Requirements links.</a:t>
            </a:r>
          </a:p>
        </p:txBody>
      </p:sp>
    </p:spTree>
    <p:extLst>
      <p:ext uri="{BB962C8B-B14F-4D97-AF65-F5344CB8AC3E}">
        <p14:creationId xmlns:p14="http://schemas.microsoft.com/office/powerpoint/2010/main" val="2043144866"/>
      </p:ext>
    </p:extLst>
  </p:cSld>
</p:sld>
</file>

<file path=ppt/slides/slide3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sp>
        <p:nvSpPr>
          <p:cNvPr id="25" name="s31-down-0">
            <a:extLst xmlns:a="http://schemas.openxmlformats.org/drawingml/2006/main">
              <a:ext uri="{FF2B5EF4-FFF2-40B4-BE49-F238E27FC236}">
                <a16:creationId xmlns:a16="http://schemas.microsoft.com/office/drawing/2014/main" id="{4616FC85-18A4-4963-AB60-BABF6DDAAEF2}"/>
              </a:ext>
            </a:extLst>
          </p:cNvPr>
          <p:cNvSpPr>
            <a:spLocks xmlns:a="http://schemas.openxmlformats.org/drawingml/2006/main" noGrp="1"/>
          </p:cNvSpPr>
          <p:nvPr/>
        </p:nvSpPr>
        <p:spPr>
          <a:xfrm xmlns:a="http://schemas.openxmlformats.org/drawingml/2006/main">
            <a:off x="3438525" y="21050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6" name="s31-down-1">
            <a:extLst xmlns:a="http://schemas.openxmlformats.org/drawingml/2006/main">
              <a:ext uri="{FF2B5EF4-FFF2-40B4-BE49-F238E27FC236}">
                <a16:creationId xmlns:a16="http://schemas.microsoft.com/office/drawing/2014/main" id="{4E975D15-721C-4220-89E0-5D56DE826FD3}"/>
              </a:ext>
            </a:extLst>
          </p:cNvPr>
          <p:cNvSpPr>
            <a:spLocks xmlns:a="http://schemas.openxmlformats.org/drawingml/2006/main" noGrp="1"/>
          </p:cNvSpPr>
          <p:nvPr/>
        </p:nvSpPr>
        <p:spPr>
          <a:xfrm xmlns:a="http://schemas.openxmlformats.org/drawingml/2006/main">
            <a:off x="3438525" y="29813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7" name="s31-down-2">
            <a:extLst xmlns:a="http://schemas.openxmlformats.org/drawingml/2006/main">
              <a:ext uri="{FF2B5EF4-FFF2-40B4-BE49-F238E27FC236}">
                <a16:creationId xmlns:a16="http://schemas.microsoft.com/office/drawing/2014/main" id="{B9DBF7E7-BDF6-4746-8B64-AEF31AF420E1}"/>
              </a:ext>
            </a:extLst>
          </p:cNvPr>
          <p:cNvSpPr>
            <a:spLocks xmlns:a="http://schemas.openxmlformats.org/drawingml/2006/main" noGrp="1"/>
          </p:cNvSpPr>
          <p:nvPr/>
        </p:nvSpPr>
        <p:spPr>
          <a:xfrm xmlns:a="http://schemas.openxmlformats.org/drawingml/2006/main">
            <a:off x="3438525" y="38576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8" name="s31-down-3">
            <a:extLst xmlns:a="http://schemas.openxmlformats.org/drawingml/2006/main">
              <a:ext uri="{FF2B5EF4-FFF2-40B4-BE49-F238E27FC236}">
                <a16:creationId xmlns:a16="http://schemas.microsoft.com/office/drawing/2014/main" id="{AC014577-47CC-4353-8AFA-9E32145313F9}"/>
              </a:ext>
            </a:extLst>
          </p:cNvPr>
          <p:cNvSpPr>
            <a:spLocks xmlns:a="http://schemas.openxmlformats.org/drawingml/2006/main" noGrp="1"/>
          </p:cNvSpPr>
          <p:nvPr/>
        </p:nvSpPr>
        <p:spPr>
          <a:xfrm xmlns:a="http://schemas.openxmlformats.org/drawingml/2006/main">
            <a:off x="3438525" y="47339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9" name="s31-ref-link">
            <a:extLst xmlns:a="http://schemas.openxmlformats.org/drawingml/2006/main">
              <a:ext uri="{FF2B5EF4-FFF2-40B4-BE49-F238E27FC236}">
                <a16:creationId xmlns:a16="http://schemas.microsoft.com/office/drawing/2014/main" id="{480BC147-7196-4065-8D1E-D63ADFEB8FC0}"/>
              </a:ext>
            </a:extLst>
          </p:cNvPr>
          <p:cNvSpPr>
            <a:spLocks xmlns:a="http://schemas.openxmlformats.org/drawingml/2006/main" noGrp="1"/>
          </p:cNvSpPr>
          <p:nvPr/>
        </p:nvSpPr>
        <p:spPr>
          <a:xfrm xmlns:a="http://schemas.openxmlformats.org/drawingml/2006/main">
            <a:off x="5810250" y="2667000"/>
            <a:ext cx="742950" cy="0"/>
          </a:xfrm>
          <a:prstGeom xmlns:a="http://schemas.openxmlformats.org/drawingml/2006/main" prst="line">
            <a:avLst/>
          </a:prstGeom>
          <a:noFill xmlns:a="http://schemas.openxmlformats.org/drawingml/2006/main"/>
          <a:ln xmlns:a="http://schemas.openxmlformats.org/drawingml/2006/main" w="22860">
            <a:solidFill>
              <a:srgbClr val="2CA56F"/>
            </a:solidFill>
            <a:prstDash val="solid"/>
          </a:ln>
        </p:spPr>
      </p:sp>
      <p:sp>
        <p:nvSpPr>
          <p:cNvPr id="30" name="s31-trace-link">
            <a:extLst xmlns:a="http://schemas.openxmlformats.org/drawingml/2006/main">
              <a:ext uri="{FF2B5EF4-FFF2-40B4-BE49-F238E27FC236}">
                <a16:creationId xmlns:a16="http://schemas.microsoft.com/office/drawing/2014/main" id="{4889D4BA-D119-4E17-9A74-C1C59B2FDF75}"/>
              </a:ext>
            </a:extLst>
          </p:cNvPr>
          <p:cNvSpPr>
            <a:spLocks xmlns:a="http://schemas.openxmlformats.org/drawingml/2006/main" noGrp="1"/>
          </p:cNvSpPr>
          <p:nvPr/>
        </p:nvSpPr>
        <p:spPr>
          <a:xfrm xmlns:a="http://schemas.openxmlformats.org/drawingml/2006/main">
            <a:off x="5810250" y="3543300"/>
            <a:ext cx="742950" cy="0"/>
          </a:xfrm>
          <a:prstGeom xmlns:a="http://schemas.openxmlformats.org/drawingml/2006/main" prst="line">
            <a:avLst/>
          </a:prstGeom>
          <a:noFill xmlns:a="http://schemas.openxmlformats.org/drawingml/2006/main"/>
          <a:ln xmlns:a="http://schemas.openxmlformats.org/drawingml/2006/main" w="22860">
            <a:solidFill>
              <a:srgbClr val="2D6CDF"/>
            </a:solidFill>
            <a:prstDash val="solid"/>
          </a:ln>
        </p:spPr>
      </p:sp>
      <p:sp>
        <p:nvSpPr>
          <p:cNvPr id="31" name="s31-flow-0">
            <a:extLst xmlns:a="http://schemas.openxmlformats.org/drawingml/2006/main">
              <a:ext uri="{FF2B5EF4-FFF2-40B4-BE49-F238E27FC236}">
                <a16:creationId xmlns:a16="http://schemas.microsoft.com/office/drawing/2014/main" id="{11454C18-4165-42AC-90D4-A6B2461AD47E}"/>
              </a:ext>
            </a:extLst>
          </p:cNvPr>
          <p:cNvSpPr>
            <a:spLocks xmlns:a="http://schemas.openxmlformats.org/drawingml/2006/main" noGrp="1"/>
          </p:cNvSpPr>
          <p:nvPr/>
        </p:nvSpPr>
        <p:spPr>
          <a:xfrm xmlns:a="http://schemas.openxmlformats.org/drawingml/2006/main">
            <a:off x="685800" y="14763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2" name="s31-flow-path-0">
            <a:extLst xmlns:a="http://schemas.openxmlformats.org/drawingml/2006/main">
              <a:ext uri="{FF2B5EF4-FFF2-40B4-BE49-F238E27FC236}">
                <a16:creationId xmlns:a16="http://schemas.microsoft.com/office/drawing/2014/main" id="{CAFFC582-E087-4FE4-B5AD-D0286AFF57F4}"/>
              </a:ext>
            </a:extLst>
          </p:cNvPr>
          <p:cNvSpPr>
            <a:spLocks xmlns:a="http://schemas.openxmlformats.org/drawingml/2006/main" noGrp="1"/>
          </p:cNvSpPr>
          <p:nvPr/>
        </p:nvSpPr>
        <p:spPr>
          <a:xfrm xmlns:a="http://schemas.openxmlformats.org/drawingml/2006/main">
            <a:off x="857250" y="15430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data/FCS_Data.sldd</a:t>
            </a:r>
          </a:p>
        </p:txBody>
      </p:sp>
      <p:sp>
        <p:nvSpPr>
          <p:cNvPr id="33" name="s31-flow-role-0">
            <a:extLst xmlns:a="http://schemas.openxmlformats.org/drawingml/2006/main">
              <a:ext uri="{FF2B5EF4-FFF2-40B4-BE49-F238E27FC236}">
                <a16:creationId xmlns:a16="http://schemas.microsoft.com/office/drawing/2014/main" id="{6EB40220-B8E3-45D9-8C4E-99AA8ED3D920}"/>
              </a:ext>
            </a:extLst>
          </p:cNvPr>
          <p:cNvSpPr>
            <a:spLocks xmlns:a="http://schemas.openxmlformats.org/drawingml/2006/main" noGrp="1"/>
          </p:cNvSpPr>
          <p:nvPr/>
        </p:nvSpPr>
        <p:spPr>
          <a:xfrm xmlns:a="http://schemas.openxmlformats.org/drawingml/2006/main">
            <a:off x="857250" y="17907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controlled parameters, buses, units, ranges</a:t>
            </a:r>
          </a:p>
        </p:txBody>
      </p:sp>
      <p:sp>
        <p:nvSpPr>
          <p:cNvPr id="34" name="s31-flow-1">
            <a:extLst xmlns:a="http://schemas.openxmlformats.org/drawingml/2006/main">
              <a:ext uri="{FF2B5EF4-FFF2-40B4-BE49-F238E27FC236}">
                <a16:creationId xmlns:a16="http://schemas.microsoft.com/office/drawing/2014/main" id="{28C91B52-238C-4263-8118-4069A0B734A7}"/>
              </a:ext>
            </a:extLst>
          </p:cNvPr>
          <p:cNvSpPr>
            <a:spLocks xmlns:a="http://schemas.openxmlformats.org/drawingml/2006/main" noGrp="1"/>
          </p:cNvSpPr>
          <p:nvPr/>
        </p:nvSpPr>
        <p:spPr>
          <a:xfrm xmlns:a="http://schemas.openxmlformats.org/drawingml/2006/main">
            <a:off x="685800" y="23526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5" name="s31-flow-path-1">
            <a:extLst xmlns:a="http://schemas.openxmlformats.org/drawingml/2006/main">
              <a:ext uri="{FF2B5EF4-FFF2-40B4-BE49-F238E27FC236}">
                <a16:creationId xmlns:a16="http://schemas.microsoft.com/office/drawing/2014/main" id="{AAE1302A-D831-401C-8BD2-079687F7C466}"/>
              </a:ext>
            </a:extLst>
          </p:cNvPr>
          <p:cNvSpPr>
            <a:spLocks xmlns:a="http://schemas.openxmlformats.org/drawingml/2006/main" noGrp="1"/>
          </p:cNvSpPr>
          <p:nvPr/>
        </p:nvSpPr>
        <p:spPr>
          <a:xfrm xmlns:a="http://schemas.openxmlformats.org/drawingml/2006/main">
            <a:off x="857250" y="24193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models/PitchRateLimiter_Harness.slx</a:t>
            </a:r>
          </a:p>
        </p:txBody>
      </p:sp>
      <p:sp>
        <p:nvSpPr>
          <p:cNvPr id="36" name="s31-flow-role-1">
            <a:extLst xmlns:a="http://schemas.openxmlformats.org/drawingml/2006/main">
              <a:ext uri="{FF2B5EF4-FFF2-40B4-BE49-F238E27FC236}">
                <a16:creationId xmlns:a16="http://schemas.microsoft.com/office/drawing/2014/main" id="{2B6FFE49-5830-4FE5-B59A-59FD59AA1C72}"/>
              </a:ext>
            </a:extLst>
          </p:cNvPr>
          <p:cNvSpPr>
            <a:spLocks xmlns:a="http://schemas.openxmlformats.org/drawingml/2006/main" noGrp="1"/>
          </p:cNvSpPr>
          <p:nvPr/>
        </p:nvSpPr>
        <p:spPr>
          <a:xfrm xmlns:a="http://schemas.openxmlformats.org/drawingml/2006/main">
            <a:off x="857250" y="26670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stimulus + capture around the UUT</a:t>
            </a:r>
          </a:p>
        </p:txBody>
      </p:sp>
      <p:sp>
        <p:nvSpPr>
          <p:cNvPr id="37" name="s31-flow-2">
            <a:extLst xmlns:a="http://schemas.openxmlformats.org/drawingml/2006/main">
              <a:ext uri="{FF2B5EF4-FFF2-40B4-BE49-F238E27FC236}">
                <a16:creationId xmlns:a16="http://schemas.microsoft.com/office/drawing/2014/main" id="{0DF6F4F0-8B3F-40E9-8B8B-A4ACFDACEF67}"/>
              </a:ext>
            </a:extLst>
          </p:cNvPr>
          <p:cNvSpPr>
            <a:spLocks xmlns:a="http://schemas.openxmlformats.org/drawingml/2006/main" noGrp="1"/>
          </p:cNvSpPr>
          <p:nvPr/>
        </p:nvSpPr>
        <p:spPr>
          <a:xfrm xmlns:a="http://schemas.openxmlformats.org/drawingml/2006/main">
            <a:off x="685800" y="3228975"/>
            <a:ext cx="5505450" cy="628650"/>
          </a:xfrm>
          <a:prstGeom xmlns:a="http://schemas.openxmlformats.org/drawingml/2006/main" prst="roundRect">
            <a:avLst>
              <a:gd name="adj" fmla="val 18182"/>
            </a:avLst>
          </a:prstGeom>
          <a:solidFill xmlns:a="http://schemas.openxmlformats.org/drawingml/2006/main">
            <a:srgbClr val="DFF6F8"/>
          </a:solidFill>
          <a:ln xmlns:a="http://schemas.openxmlformats.org/drawingml/2006/main" w="14288">
            <a:solidFill>
              <a:srgbClr val="20B7C5"/>
            </a:solidFill>
            <a:prstDash val="solid"/>
          </a:ln>
        </p:spPr>
      </p:sp>
      <p:sp>
        <p:nvSpPr>
          <p:cNvPr id="38" name="s31-flow-path-2">
            <a:extLst xmlns:a="http://schemas.openxmlformats.org/drawingml/2006/main">
              <a:ext uri="{FF2B5EF4-FFF2-40B4-BE49-F238E27FC236}">
                <a16:creationId xmlns:a16="http://schemas.microsoft.com/office/drawing/2014/main" id="{03247712-36D5-4CF6-8600-375C83797B4D}"/>
              </a:ext>
            </a:extLst>
          </p:cNvPr>
          <p:cNvSpPr>
            <a:spLocks xmlns:a="http://schemas.openxmlformats.org/drawingml/2006/main" noGrp="1"/>
          </p:cNvSpPr>
          <p:nvPr/>
        </p:nvSpPr>
        <p:spPr>
          <a:xfrm xmlns:a="http://schemas.openxmlformats.org/drawingml/2006/main">
            <a:off x="857250" y="32956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scripts/run_pitch_rate_limiter_tests.m</a:t>
            </a:r>
          </a:p>
        </p:txBody>
      </p:sp>
      <p:sp>
        <p:nvSpPr>
          <p:cNvPr id="39" name="s31-flow-role-2">
            <a:extLst xmlns:a="http://schemas.openxmlformats.org/drawingml/2006/main">
              <a:ext uri="{FF2B5EF4-FFF2-40B4-BE49-F238E27FC236}">
                <a16:creationId xmlns:a16="http://schemas.microsoft.com/office/drawing/2014/main" id="{6C1FB1C6-AACE-4FEB-A321-AA824338E828}"/>
              </a:ext>
            </a:extLst>
          </p:cNvPr>
          <p:cNvSpPr>
            <a:spLocks xmlns:a="http://schemas.openxmlformats.org/drawingml/2006/main" noGrp="1"/>
          </p:cNvSpPr>
          <p:nvPr/>
        </p:nvSpPr>
        <p:spPr>
          <a:xfrm xmlns:a="http://schemas.openxmlformats.org/drawingml/2006/main">
            <a:off x="857250" y="35433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test driver + visible pass/fail oracle</a:t>
            </a:r>
          </a:p>
        </p:txBody>
      </p:sp>
      <p:sp>
        <p:nvSpPr>
          <p:cNvPr id="40" name="s31-flow-3">
            <a:extLst xmlns:a="http://schemas.openxmlformats.org/drawingml/2006/main">
              <a:ext uri="{FF2B5EF4-FFF2-40B4-BE49-F238E27FC236}">
                <a16:creationId xmlns:a16="http://schemas.microsoft.com/office/drawing/2014/main" id="{378694B5-6F92-469F-8BA2-983906F356D2}"/>
              </a:ext>
            </a:extLst>
          </p:cNvPr>
          <p:cNvSpPr>
            <a:spLocks xmlns:a="http://schemas.openxmlformats.org/drawingml/2006/main" noGrp="1"/>
          </p:cNvSpPr>
          <p:nvPr/>
        </p:nvSpPr>
        <p:spPr>
          <a:xfrm xmlns:a="http://schemas.openxmlformats.org/drawingml/2006/main">
            <a:off x="685800" y="41052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1" name="s31-flow-path-3">
            <a:extLst xmlns:a="http://schemas.openxmlformats.org/drawingml/2006/main">
              <a:ext uri="{FF2B5EF4-FFF2-40B4-BE49-F238E27FC236}">
                <a16:creationId xmlns:a16="http://schemas.microsoft.com/office/drawing/2014/main" id="{49C08F3B-8059-471C-A148-A6BA036F1862}"/>
              </a:ext>
            </a:extLst>
          </p:cNvPr>
          <p:cNvSpPr>
            <a:spLocks xmlns:a="http://schemas.openxmlformats.org/drawingml/2006/main" noGrp="1"/>
          </p:cNvSpPr>
          <p:nvPr/>
        </p:nvSpPr>
        <p:spPr>
          <a:xfrm xmlns:a="http://schemas.openxmlformats.org/drawingml/2006/main">
            <a:off x="857250" y="41719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results/PitchRateLimiter_TestResults.csv + .mat</a:t>
            </a:r>
          </a:p>
        </p:txBody>
      </p:sp>
      <p:sp>
        <p:nvSpPr>
          <p:cNvPr id="42" name="s31-flow-role-3">
            <a:extLst xmlns:a="http://schemas.openxmlformats.org/drawingml/2006/main">
              <a:ext uri="{FF2B5EF4-FFF2-40B4-BE49-F238E27FC236}">
                <a16:creationId xmlns:a16="http://schemas.microsoft.com/office/drawing/2014/main" id="{5B900847-E050-40BB-B3E0-7461DBCA7B64}"/>
              </a:ext>
            </a:extLst>
          </p:cNvPr>
          <p:cNvSpPr>
            <a:spLocks xmlns:a="http://schemas.openxmlformats.org/drawingml/2006/main" noGrp="1"/>
          </p:cNvSpPr>
          <p:nvPr/>
        </p:nvSpPr>
        <p:spPr>
          <a:xfrm xmlns:a="http://schemas.openxmlformats.org/drawingml/2006/main">
            <a:off x="857250" y="44196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retained machine-readable results</a:t>
            </a:r>
          </a:p>
        </p:txBody>
      </p:sp>
      <p:sp>
        <p:nvSpPr>
          <p:cNvPr id="43" name="s31-flow-4">
            <a:extLst xmlns:a="http://schemas.openxmlformats.org/drawingml/2006/main">
              <a:ext uri="{FF2B5EF4-FFF2-40B4-BE49-F238E27FC236}">
                <a16:creationId xmlns:a16="http://schemas.microsoft.com/office/drawing/2014/main" id="{33566793-D39C-4323-B48A-99614664A797}"/>
              </a:ext>
            </a:extLst>
          </p:cNvPr>
          <p:cNvSpPr>
            <a:spLocks xmlns:a="http://schemas.openxmlformats.org/drawingml/2006/main" noGrp="1"/>
          </p:cNvSpPr>
          <p:nvPr/>
        </p:nvSpPr>
        <p:spPr>
          <a:xfrm xmlns:a="http://schemas.openxmlformats.org/drawingml/2006/main">
            <a:off x="685800" y="49815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4" name="s31-flow-path-4">
            <a:extLst xmlns:a="http://schemas.openxmlformats.org/drawingml/2006/main">
              <a:ext uri="{FF2B5EF4-FFF2-40B4-BE49-F238E27FC236}">
                <a16:creationId xmlns:a16="http://schemas.microsoft.com/office/drawing/2014/main" id="{E73DC37D-6019-4F7B-86C5-DEA20B4167E9}"/>
              </a:ext>
            </a:extLst>
          </p:cNvPr>
          <p:cNvSpPr>
            <a:spLocks xmlns:a="http://schemas.openxmlformats.org/drawingml/2006/main" noGrp="1"/>
          </p:cNvSpPr>
          <p:nvPr/>
        </p:nvSpPr>
        <p:spPr>
          <a:xfrm xmlns:a="http://schemas.openxmlformats.org/drawingml/2006/main">
            <a:off x="857250" y="50482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8" b="1">
                <a:solidFill>
                  <a:srgbClr val="2D6CDF"/>
                </a:solidFill>
                <a:latin typeface="Aptos"/>
                <a:ea typeface="Aptos"/>
                <a:cs typeface="Aptos"/>
              </a:defRPr>
            </a:pPr>
            <a:r>
              <a:rPr sz="1208" b="1">
                <a:solidFill>
                  <a:srgbClr val="2D6CDF"/>
                </a:solidFill>
                <a:latin typeface="Aptos"/>
                <a:ea typeface="Aptos"/>
                <a:cs typeface="Aptos"/>
              </a:rPr>
              <a:t>reports/PitchRateLimiter_TestReport.html + .png</a:t>
            </a:r>
          </a:p>
        </p:txBody>
      </p:sp>
      <p:sp>
        <p:nvSpPr>
          <p:cNvPr id="45" name="s31-flow-role-4">
            <a:extLst xmlns:a="http://schemas.openxmlformats.org/drawingml/2006/main">
              <a:ext uri="{FF2B5EF4-FFF2-40B4-BE49-F238E27FC236}">
                <a16:creationId xmlns:a16="http://schemas.microsoft.com/office/drawing/2014/main" id="{E7A505E3-D01B-424F-A1E8-3E98F960F493}"/>
              </a:ext>
            </a:extLst>
          </p:cNvPr>
          <p:cNvSpPr>
            <a:spLocks xmlns:a="http://schemas.openxmlformats.org/drawingml/2006/main" noGrp="1"/>
          </p:cNvSpPr>
          <p:nvPr/>
        </p:nvSpPr>
        <p:spPr>
          <a:xfrm xmlns:a="http://schemas.openxmlformats.org/drawingml/2006/main">
            <a:off x="857250" y="52959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17324A"/>
                </a:solidFill>
                <a:latin typeface="Aptos"/>
                <a:ea typeface="Aptos"/>
                <a:cs typeface="Aptos"/>
              </a:defRPr>
            </a:pPr>
            <a:r>
              <a:rPr sz="1088" b="1">
                <a:solidFill>
                  <a:srgbClr val="17324A"/>
                </a:solidFill>
                <a:latin typeface="Aptos"/>
                <a:ea typeface="Aptos"/>
                <a:cs typeface="Aptos"/>
              </a:rPr>
              <a:t>human-readable evidence report</a:t>
            </a:r>
          </a:p>
        </p:txBody>
      </p:sp>
      <p:sp>
        <p:nvSpPr>
          <p:cNvPr id="46" name="s31-component">
            <a:extLst xmlns:a="http://schemas.openxmlformats.org/drawingml/2006/main">
              <a:ext uri="{FF2B5EF4-FFF2-40B4-BE49-F238E27FC236}">
                <a16:creationId xmlns:a16="http://schemas.microsoft.com/office/drawing/2014/main" id="{3EC98C4C-089D-4DC9-BB3D-67C10B1FE790}"/>
              </a:ext>
            </a:extLst>
          </p:cNvPr>
          <p:cNvSpPr>
            <a:spLocks xmlns:a="http://schemas.openxmlformats.org/drawingml/2006/main" noGrp="1"/>
          </p:cNvSpPr>
          <p:nvPr/>
        </p:nvSpPr>
        <p:spPr>
          <a:xfrm xmlns:a="http://schemas.openxmlformats.org/drawingml/2006/main">
            <a:off x="6553200" y="2333625"/>
            <a:ext cx="495300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38" b="1">
                <a:solidFill>
                  <a:srgbClr val="0B1F33"/>
                </a:solidFill>
                <a:latin typeface="Aptos"/>
                <a:ea typeface="Aptos"/>
                <a:cs typeface="Aptos"/>
              </a:defRPr>
            </a:pPr>
            <a:r>
              <a:rPr sz="1238" b="1">
                <a:solidFill>
                  <a:srgbClr val="0B1F33"/>
                </a:solidFill>
                <a:latin typeface="Aptos"/>
                <a:ea typeface="Aptos"/>
                <a:cs typeface="Aptos"/>
              </a:rPr>
              <a:t>└ references  models/PitchRateLimiter.slx</a:t>
            </a:r>
          </a:p>
          <a:p xmlns:a="http://schemas.openxmlformats.org/drawingml/2006/main">
            <a:pPr algn="l">
              <a:buNone/>
              <a:defRPr sz="1238" b="1">
                <a:solidFill>
                  <a:srgbClr val="0B1F33"/>
                </a:solidFill>
                <a:latin typeface="Aptos"/>
                <a:ea typeface="Aptos"/>
                <a:cs typeface="Aptos"/>
              </a:defRPr>
            </a:pPr>
            <a:r>
              <a:rPr sz="1238" b="1">
                <a:solidFill>
                  <a:srgbClr val="0B1F33"/>
                </a:solidFill>
                <a:latin typeface="Aptos"/>
                <a:ea typeface="Aptos"/>
                <a:cs typeface="Aptos"/>
              </a:rPr>
              <a:t>component implementation under test</a:t>
            </a:r>
          </a:p>
        </p:txBody>
      </p:sp>
      <p:sp>
        <p:nvSpPr>
          <p:cNvPr id="47" name="s31-trace">
            <a:extLst xmlns:a="http://schemas.openxmlformats.org/drawingml/2006/main">
              <a:ext uri="{FF2B5EF4-FFF2-40B4-BE49-F238E27FC236}">
                <a16:creationId xmlns:a16="http://schemas.microsoft.com/office/drawing/2014/main" id="{CD11BC40-8D4E-429D-837E-12B54818CF50}"/>
              </a:ext>
            </a:extLst>
          </p:cNvPr>
          <p:cNvSpPr>
            <a:spLocks xmlns:a="http://schemas.openxmlformats.org/drawingml/2006/main" noGrp="1"/>
          </p:cNvSpPr>
          <p:nvPr/>
        </p:nvSpPr>
        <p:spPr>
          <a:xfrm xmlns:a="http://schemas.openxmlformats.org/drawingml/2006/main">
            <a:off x="6553200" y="3209925"/>
            <a:ext cx="4953000" cy="666750"/>
          </a:xfrm>
          <a:prstGeom xmlns:a="http://schemas.openxmlformats.org/drawingml/2006/main" prst="roundRect">
            <a:avLst>
              <a:gd name="adj" fmla="val 17143"/>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00" b="1">
                <a:solidFill>
                  <a:srgbClr val="0B1F33"/>
                </a:solidFill>
                <a:latin typeface="Aptos"/>
                <a:ea typeface="Aptos"/>
                <a:cs typeface="Aptos"/>
              </a:defRPr>
            </a:pPr>
            <a:r>
              <a:rPr sz="1200" b="1">
                <a:solidFill>
                  <a:srgbClr val="0B1F33"/>
                </a:solidFill>
                <a:latin typeface="Aptos"/>
                <a:ea typeface="Aptos"/>
                <a:cs typeface="Aptos"/>
              </a:rPr>
              <a:t>↔  docs/PitchRateLimiter_Requirements_Traceability.csv</a:t>
            </a:r>
          </a:p>
          <a:p xmlns:a="http://schemas.openxmlformats.org/drawingml/2006/main">
            <a:pPr algn="l">
              <a:buNone/>
              <a:defRPr sz="1200" b="1">
                <a:solidFill>
                  <a:srgbClr val="0B1F33"/>
                </a:solidFill>
                <a:latin typeface="Aptos"/>
                <a:ea typeface="Aptos"/>
                <a:cs typeface="Aptos"/>
              </a:defRPr>
            </a:pPr>
            <a:r>
              <a:rPr sz="1200" b="1">
                <a:solidFill>
                  <a:srgbClr val="0B1F33"/>
                </a:solidFill>
                <a:latin typeface="Aptos"/>
                <a:ea typeface="Aptos"/>
                <a:cs typeface="Aptos"/>
              </a:rPr>
              <a:t>requirement-to-model/test association</a:t>
            </a:r>
          </a:p>
        </p:txBody>
      </p:sp>
      <p:sp>
        <p:nvSpPr>
          <p:cNvPr id="48" name="s31-roles">
            <a:extLst xmlns:a="http://schemas.openxmlformats.org/drawingml/2006/main">
              <a:ext uri="{FF2B5EF4-FFF2-40B4-BE49-F238E27FC236}">
                <a16:creationId xmlns:a16="http://schemas.microsoft.com/office/drawing/2014/main" id="{9B130294-D6EF-45C1-B05A-C508347D3EB0}"/>
              </a:ext>
            </a:extLst>
          </p:cNvPr>
          <p:cNvSpPr>
            <a:spLocks xmlns:a="http://schemas.openxmlformats.org/drawingml/2006/main" noGrp="1"/>
          </p:cNvSpPr>
          <p:nvPr/>
        </p:nvSpPr>
        <p:spPr>
          <a:xfrm xmlns:a="http://schemas.openxmlformats.org/drawingml/2006/main">
            <a:off x="6553200" y="4105275"/>
            <a:ext cx="4953000" cy="1504950"/>
          </a:xfrm>
          <a:prstGeom xmlns:a="http://schemas.openxmlformats.org/drawingml/2006/main" prst="roundRect">
            <a:avLst>
              <a:gd name="adj" fmla="val 759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buNone/>
              <a:defRPr sz="1230" b="1">
                <a:solidFill>
                  <a:srgbClr val="FFFFFF"/>
                </a:solidFill>
                <a:latin typeface="Aptos"/>
                <a:ea typeface="Aptos"/>
                <a:cs typeface="Aptos"/>
              </a:defRPr>
            </a:pPr>
            <a:r>
              <a:rPr sz="1230" b="1">
                <a:solidFill>
                  <a:srgbClr val="FFFFFF"/>
                </a:solidFill>
                <a:latin typeface="Aptos"/>
                <a:ea typeface="Aptos"/>
                <a:cs typeface="Aptos"/>
              </a:rPr>
              <a:t>HARNESS ≠ COMPONENT ≠ DRIVER ≠ REQUIREMENTS ≠ RESULTS ≠ REPORT</a:t>
            </a:r>
          </a:p>
          <a:p xmlns:a="http://schemas.openxmlformats.org/drawingml/2006/main">
            <a:r>
              <a:t/>
            </a:r>
          </a:p>
          <a:p xmlns:a="http://schemas.openxmlformats.org/drawingml/2006/main">
            <a:pPr algn="l">
              <a:buNone/>
              <a:defRPr sz="1230" b="1">
                <a:solidFill>
                  <a:srgbClr val="FFFFFF"/>
                </a:solidFill>
                <a:latin typeface="Aptos"/>
                <a:ea typeface="Aptos"/>
                <a:cs typeface="Aptos"/>
              </a:defRPr>
            </a:pPr>
            <a:r>
              <a:rPr sz="1230" b="1">
                <a:solidFill>
                  <a:srgbClr val="FFFFFF"/>
                </a:solidFill>
                <a:latin typeface="Aptos"/>
                <a:ea typeface="Aptos"/>
                <a:cs typeface="Aptos"/>
              </a:rPr>
              <a:t>The two retained .mldatx files are SDI view/session artifacts. No Simulink Test or Test Manager test-suite .mldatx file is claimed.</a:t>
            </a:r>
          </a:p>
        </p:txBody>
      </p:sp>
      <p:sp>
        <p:nvSpPr>
          <p:cNvPr id="49" name="s31-env">
            <a:extLst xmlns:a="http://schemas.openxmlformats.org/drawingml/2006/main">
              <a:ext uri="{FF2B5EF4-FFF2-40B4-BE49-F238E27FC236}">
                <a16:creationId xmlns:a16="http://schemas.microsoft.com/office/drawing/2014/main" id="{06E23B09-4703-4AD7-9070-0A95685943DE}"/>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445827379"/>
      </p:ext>
    </p:extLst>
  </p:cSld>
</p:sld>
</file>

<file path=ppt/slides/slide3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Strong tests target boundaries, modes, failures, and timing</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32</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3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33</a:t>
            </a:r>
          </a:p>
        </p:txBody>
      </p:sp>
      <p:sp>
        <p:nvSpPr>
          <p:cNvPr id="27" name="s33-report-frame">
            <a:extLst xmlns:a="http://schemas.openxmlformats.org/drawingml/2006/main">
              <a:ext uri="{FF2B5EF4-FFF2-40B4-BE49-F238E27FC236}">
                <a16:creationId xmlns:a16="http://schemas.microsoft.com/office/drawing/2014/main" id="{054B3C4F-7160-44D2-8E19-D97E2B1C8980}"/>
              </a:ext>
            </a:extLst>
          </p:cNvPr>
          <p:cNvSpPr>
            <a:spLocks xmlns:a="http://schemas.openxmlformats.org/drawingml/2006/main" noGrp="1"/>
          </p:cNvSpPr>
          <p:nvPr/>
        </p:nvSpPr>
        <p:spPr>
          <a:xfrm xmlns:a="http://schemas.openxmlformats.org/drawingml/2006/main">
            <a:off x="609600" y="1381125"/>
            <a:ext cx="8058150" cy="4638675"/>
          </a:xfrm>
          <a:prstGeom xmlns:a="http://schemas.openxmlformats.org/drawingml/2006/main" prst="roundRect">
            <a:avLst>
              <a:gd name="adj" fmla="val 2464"/>
            </a:avLst>
          </a:prstGeom>
          <a:solidFill xmlns:a="http://schemas.openxmlformats.org/drawingml/2006/main">
            <a:srgbClr val="0C2133"/>
          </a:solidFill>
          <a:ln xmlns:a="http://schemas.openxmlformats.org/drawingml/2006/main" w="11430">
            <a:solidFill>
              <a:srgbClr val="21465E"/>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1dfd659ae95b4333"/>
          <a:stretch xmlns:a="http://schemas.openxmlformats.org/drawingml/2006/main"/>
        </p:blipFill>
        <p:spPr>
          <a:xfrm xmlns:a="http://schemas.openxmlformats.org/drawingml/2006/main">
            <a:off x="685800" y="1458678"/>
            <a:ext cx="7905750" cy="4483568"/>
          </a:xfrm>
          <a:prstGeom xmlns:a="http://schemas.openxmlformats.org/drawingml/2006/main" prst="rect">
            <a:avLst/>
          </a:prstGeom>
        </p:spPr>
      </p:pic>
      <p:sp>
        <p:nvSpPr>
          <p:cNvPr id="29" name="s33-metric-0">
            <a:extLst xmlns:a="http://schemas.openxmlformats.org/drawingml/2006/main">
              <a:ext uri="{FF2B5EF4-FFF2-40B4-BE49-F238E27FC236}">
                <a16:creationId xmlns:a16="http://schemas.microsoft.com/office/drawing/2014/main" id="{3F808B9D-452F-4DCB-9452-4FEADEE00E47}"/>
              </a:ext>
            </a:extLst>
          </p:cNvPr>
          <p:cNvSpPr>
            <a:spLocks xmlns:a="http://schemas.openxmlformats.org/drawingml/2006/main" noGrp="1"/>
          </p:cNvSpPr>
          <p:nvPr/>
        </p:nvSpPr>
        <p:spPr>
          <a:xfrm xmlns:a="http://schemas.openxmlformats.org/drawingml/2006/main">
            <a:off x="8877300" y="1438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CA56F"/>
            </a:solidFill>
            <a:prstDash val="solid"/>
          </a:ln>
        </p:spPr>
      </p:sp>
      <p:sp>
        <p:nvSpPr>
          <p:cNvPr id="30" name="s33-metric-value-0">
            <a:extLst xmlns:a="http://schemas.openxmlformats.org/drawingml/2006/main">
              <a:ext uri="{FF2B5EF4-FFF2-40B4-BE49-F238E27FC236}">
                <a16:creationId xmlns:a16="http://schemas.microsoft.com/office/drawing/2014/main" id="{32A6F227-93AC-4619-B6BE-2D5ED21C23F8}"/>
              </a:ext>
            </a:extLst>
          </p:cNvPr>
          <p:cNvSpPr>
            <a:spLocks xmlns:a="http://schemas.openxmlformats.org/drawingml/2006/main" noGrp="1"/>
          </p:cNvSpPr>
          <p:nvPr/>
        </p:nvSpPr>
        <p:spPr>
          <a:xfrm xmlns:a="http://schemas.openxmlformats.org/drawingml/2006/main">
            <a:off x="9048750" y="1552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CA56F"/>
                </a:solidFill>
                <a:latin typeface="Aptos"/>
                <a:ea typeface="Aptos"/>
                <a:cs typeface="Aptos"/>
              </a:defRPr>
            </a:pPr>
            <a:r>
              <a:rPr sz="2175" b="1">
                <a:solidFill>
                  <a:srgbClr val="2CA56F"/>
                </a:solidFill>
                <a:latin typeface="Aptos"/>
                <a:ea typeface="Aptos"/>
                <a:cs typeface="Aptos"/>
              </a:rPr>
              <a:t>19 / 19</a:t>
            </a:r>
          </a:p>
        </p:txBody>
      </p:sp>
      <p:sp>
        <p:nvSpPr>
          <p:cNvPr id="31" name="s33-metric-label-0">
            <a:extLst xmlns:a="http://schemas.openxmlformats.org/drawingml/2006/main">
              <a:ext uri="{FF2B5EF4-FFF2-40B4-BE49-F238E27FC236}">
                <a16:creationId xmlns:a16="http://schemas.microsoft.com/office/drawing/2014/main" id="{3771BBD7-1FED-4D3B-B396-80211FE47E94}"/>
              </a:ext>
            </a:extLst>
          </p:cNvPr>
          <p:cNvSpPr>
            <a:spLocks xmlns:a="http://schemas.openxmlformats.org/drawingml/2006/main" noGrp="1"/>
          </p:cNvSpPr>
          <p:nvPr/>
        </p:nvSpPr>
        <p:spPr>
          <a:xfrm xmlns:a="http://schemas.openxmlformats.org/drawingml/2006/main">
            <a:off x="9048750" y="1971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ASSESSMENTS PASSED</a:t>
            </a:r>
          </a:p>
        </p:txBody>
      </p:sp>
      <p:sp>
        <p:nvSpPr>
          <p:cNvPr id="32" name="s33-metric-1">
            <a:extLst xmlns:a="http://schemas.openxmlformats.org/drawingml/2006/main">
              <a:ext uri="{FF2B5EF4-FFF2-40B4-BE49-F238E27FC236}">
                <a16:creationId xmlns:a16="http://schemas.microsoft.com/office/drawing/2014/main" id="{86949787-76B1-4E5F-BD3F-029A0816BC01}"/>
              </a:ext>
            </a:extLst>
          </p:cNvPr>
          <p:cNvSpPr>
            <a:spLocks xmlns:a="http://schemas.openxmlformats.org/drawingml/2006/main" noGrp="1"/>
          </p:cNvSpPr>
          <p:nvPr/>
        </p:nvSpPr>
        <p:spPr>
          <a:xfrm xmlns:a="http://schemas.openxmlformats.org/drawingml/2006/main">
            <a:off x="8877300" y="2581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0B7C5"/>
            </a:solidFill>
            <a:prstDash val="solid"/>
          </a:ln>
        </p:spPr>
      </p:sp>
      <p:sp>
        <p:nvSpPr>
          <p:cNvPr id="33" name="s33-metric-value-1">
            <a:extLst xmlns:a="http://schemas.openxmlformats.org/drawingml/2006/main">
              <a:ext uri="{FF2B5EF4-FFF2-40B4-BE49-F238E27FC236}">
                <a16:creationId xmlns:a16="http://schemas.microsoft.com/office/drawing/2014/main" id="{271DB4EE-96A7-4438-A36B-A5D2C73CDB1E}"/>
              </a:ext>
            </a:extLst>
          </p:cNvPr>
          <p:cNvSpPr>
            <a:spLocks xmlns:a="http://schemas.openxmlformats.org/drawingml/2006/main" noGrp="1"/>
          </p:cNvSpPr>
          <p:nvPr/>
        </p:nvSpPr>
        <p:spPr>
          <a:xfrm xmlns:a="http://schemas.openxmlformats.org/drawingml/2006/main">
            <a:off x="9048750" y="2695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0B7C5"/>
                </a:solidFill>
                <a:latin typeface="Aptos"/>
                <a:ea typeface="Aptos"/>
                <a:cs typeface="Aptos"/>
              </a:defRPr>
            </a:pPr>
            <a:r>
              <a:rPr sz="2175" b="1">
                <a:solidFill>
                  <a:srgbClr val="20B7C5"/>
                </a:solidFill>
                <a:latin typeface="Aptos"/>
                <a:ea typeface="Aptos"/>
                <a:cs typeface="Aptos"/>
              </a:rPr>
              <a:t>0</a:t>
            </a:r>
          </a:p>
        </p:txBody>
      </p:sp>
      <p:sp>
        <p:nvSpPr>
          <p:cNvPr id="34" name="s33-metric-label-1">
            <a:extLst xmlns:a="http://schemas.openxmlformats.org/drawingml/2006/main">
              <a:ext uri="{FF2B5EF4-FFF2-40B4-BE49-F238E27FC236}">
                <a16:creationId xmlns:a16="http://schemas.microsoft.com/office/drawing/2014/main" id="{E4419534-127A-41D9-BD4A-9ED1B23654A1}"/>
              </a:ext>
            </a:extLst>
          </p:cNvPr>
          <p:cNvSpPr>
            <a:spLocks xmlns:a="http://schemas.openxmlformats.org/drawingml/2006/main" noGrp="1"/>
          </p:cNvSpPr>
          <p:nvPr/>
        </p:nvSpPr>
        <p:spPr>
          <a:xfrm xmlns:a="http://schemas.openxmlformats.org/drawingml/2006/main">
            <a:off x="9048750" y="3114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FAILED</a:t>
            </a:r>
          </a:p>
        </p:txBody>
      </p:sp>
      <p:sp>
        <p:nvSpPr>
          <p:cNvPr id="35" name="s33-metric-2">
            <a:extLst xmlns:a="http://schemas.openxmlformats.org/drawingml/2006/main">
              <a:ext uri="{FF2B5EF4-FFF2-40B4-BE49-F238E27FC236}">
                <a16:creationId xmlns:a16="http://schemas.microsoft.com/office/drawing/2014/main" id="{DA47A7E5-FE8F-421D-ABEC-1644182DCA45}"/>
              </a:ext>
            </a:extLst>
          </p:cNvPr>
          <p:cNvSpPr>
            <a:spLocks xmlns:a="http://schemas.openxmlformats.org/drawingml/2006/main" noGrp="1"/>
          </p:cNvSpPr>
          <p:nvPr/>
        </p:nvSpPr>
        <p:spPr>
          <a:xfrm xmlns:a="http://schemas.openxmlformats.org/drawingml/2006/main">
            <a:off x="8877300" y="3724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D6CDF"/>
            </a:solidFill>
            <a:prstDash val="solid"/>
          </a:ln>
        </p:spPr>
      </p:sp>
      <p:sp>
        <p:nvSpPr>
          <p:cNvPr id="36" name="s33-metric-value-2">
            <a:extLst xmlns:a="http://schemas.openxmlformats.org/drawingml/2006/main">
              <a:ext uri="{FF2B5EF4-FFF2-40B4-BE49-F238E27FC236}">
                <a16:creationId xmlns:a16="http://schemas.microsoft.com/office/drawing/2014/main" id="{DF37309B-2325-4F8C-9268-49FC67B7D7CC}"/>
              </a:ext>
            </a:extLst>
          </p:cNvPr>
          <p:cNvSpPr>
            <a:spLocks xmlns:a="http://schemas.openxmlformats.org/drawingml/2006/main" noGrp="1"/>
          </p:cNvSpPr>
          <p:nvPr/>
        </p:nvSpPr>
        <p:spPr>
          <a:xfrm xmlns:a="http://schemas.openxmlformats.org/drawingml/2006/main">
            <a:off x="9048750" y="3838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175" b="1">
                <a:solidFill>
                  <a:srgbClr val="2D6CDF"/>
                </a:solidFill>
                <a:latin typeface="Aptos"/>
                <a:ea typeface="Aptos"/>
                <a:cs typeface="Aptos"/>
              </a:defRPr>
            </a:pPr>
            <a:r>
              <a:rPr sz="2175" b="1">
                <a:solidFill>
                  <a:srgbClr val="2D6CDF"/>
                </a:solidFill>
                <a:latin typeface="Aptos"/>
                <a:ea typeface="Aptos"/>
                <a:cs typeface="Aptos"/>
              </a:rPr>
              <a:t>50 Hz</a:t>
            </a:r>
          </a:p>
        </p:txBody>
      </p:sp>
      <p:sp>
        <p:nvSpPr>
          <p:cNvPr id="37" name="s33-metric-label-2">
            <a:extLst xmlns:a="http://schemas.openxmlformats.org/drawingml/2006/main">
              <a:ext uri="{FF2B5EF4-FFF2-40B4-BE49-F238E27FC236}">
                <a16:creationId xmlns:a16="http://schemas.microsoft.com/office/drawing/2014/main" id="{E5C70175-3FA3-4BA2-B96E-E3A651E801AF}"/>
              </a:ext>
            </a:extLst>
          </p:cNvPr>
          <p:cNvSpPr>
            <a:spLocks xmlns:a="http://schemas.openxmlformats.org/drawingml/2006/main" noGrp="1"/>
          </p:cNvSpPr>
          <p:nvPr/>
        </p:nvSpPr>
        <p:spPr>
          <a:xfrm xmlns:a="http://schemas.openxmlformats.org/drawingml/2006/main">
            <a:off x="9048750" y="4257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20" b="1">
                <a:solidFill>
                  <a:srgbClr val="D8E8F1"/>
                </a:solidFill>
                <a:latin typeface="Aptos"/>
                <a:ea typeface="Aptos"/>
                <a:cs typeface="Aptos"/>
              </a:defRPr>
            </a:pPr>
            <a:r>
              <a:rPr sz="1020" b="1">
                <a:solidFill>
                  <a:srgbClr val="D8E8F1"/>
                </a:solidFill>
                <a:latin typeface="Aptos"/>
                <a:ea typeface="Aptos"/>
                <a:cs typeface="Aptos"/>
              </a:rPr>
              <a:t>0.02 s SAMPLE TIME</a:t>
            </a:r>
          </a:p>
        </p:txBody>
      </p:sp>
      <p:sp>
        <p:nvSpPr>
          <p:cNvPr id="38" name="s33-method">
            <a:extLst xmlns:a="http://schemas.openxmlformats.org/drawingml/2006/main">
              <a:ext uri="{FF2B5EF4-FFF2-40B4-BE49-F238E27FC236}">
                <a16:creationId xmlns:a16="http://schemas.microsoft.com/office/drawing/2014/main" id="{613259BA-102D-4019-B331-871675935394}"/>
              </a:ext>
            </a:extLst>
          </p:cNvPr>
          <p:cNvSpPr>
            <a:spLocks xmlns:a="http://schemas.openxmlformats.org/drawingml/2006/main" noGrp="1"/>
          </p:cNvSpPr>
          <p:nvPr/>
        </p:nvSpPr>
        <p:spPr>
          <a:xfrm xmlns:a="http://schemas.openxmlformats.org/drawingml/2006/main">
            <a:off x="8877300" y="4914900"/>
            <a:ext cx="2628900" cy="1066800"/>
          </a:xfrm>
          <a:prstGeom xmlns:a="http://schemas.openxmlformats.org/drawingml/2006/main" prst="roundRect">
            <a:avLst>
              <a:gd name="adj" fmla="val 10714"/>
            </a:avLst>
          </a:prstGeom>
          <a:solidFill xmlns:a="http://schemas.openxmlformats.org/drawingml/2006/main">
            <a:srgbClr val="0C2133"/>
          </a:solidFill>
          <a:ln xmlns:a="http://schemas.openxmlformats.org/drawingml/2006/main" w="1524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Executed MATLAB assessments</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using the standalone Simulink harness</a:t>
            </a:r>
          </a:p>
          <a:p xmlns:a="http://schemas.openxmlformats.org/drawingml/2006/main">
            <a:r>
              <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SimulinkTestUsed = false</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TestManagerFileCreated = false</a:t>
            </a:r>
          </a:p>
        </p:txBody>
      </p:sp>
    </p:spTree>
    <p:extLst>
      <p:ext uri="{BB962C8B-B14F-4D97-AF65-F5344CB8AC3E}">
        <p14:creationId xmlns:p14="http://schemas.microsoft.com/office/powerpoint/2010/main" val="1092961568"/>
      </p:ext>
    </p:extLst>
  </p:cSld>
</p:sld>
</file>

<file path=ppt/slides/slide3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Callbacks create context; the test driver owns the oracle</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34</a:t>
            </a:r>
          </a:p>
        </p:txBody>
      </p:sp>
      <p:sp>
        <p:nvSpPr>
          <p:cNvPr id="23" name="s34-link-0">
            <a:extLst xmlns:a="http://schemas.openxmlformats.org/drawingml/2006/main">
              <a:ext uri="{FF2B5EF4-FFF2-40B4-BE49-F238E27FC236}">
                <a16:creationId xmlns:a16="http://schemas.microsoft.com/office/drawing/2014/main" id="{1613ED5C-9015-437F-AB30-06D99B06C46E}"/>
              </a:ext>
            </a:extLst>
          </p:cNvPr>
          <p:cNvSpPr>
            <a:spLocks xmlns:a="http://schemas.openxmlformats.org/drawingml/2006/main" noGrp="1"/>
          </p:cNvSpPr>
          <p:nvPr/>
        </p:nvSpPr>
        <p:spPr>
          <a:xfrm xmlns:a="http://schemas.openxmlformats.org/drawingml/2006/main">
            <a:off x="25146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4" name="s34-link-1">
            <a:extLst xmlns:a="http://schemas.openxmlformats.org/drawingml/2006/main">
              <a:ext uri="{FF2B5EF4-FFF2-40B4-BE49-F238E27FC236}">
                <a16:creationId xmlns:a16="http://schemas.microsoft.com/office/drawing/2014/main" id="{1D800947-D722-4237-9582-E3FC759EF6A3}"/>
              </a:ext>
            </a:extLst>
          </p:cNvPr>
          <p:cNvSpPr>
            <a:spLocks xmlns:a="http://schemas.openxmlformats.org/drawingml/2006/main" noGrp="1"/>
          </p:cNvSpPr>
          <p:nvPr/>
        </p:nvSpPr>
        <p:spPr>
          <a:xfrm xmlns:a="http://schemas.openxmlformats.org/drawingml/2006/main">
            <a:off x="47244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5" name="s34-link-2">
            <a:extLst xmlns:a="http://schemas.openxmlformats.org/drawingml/2006/main">
              <a:ext uri="{FF2B5EF4-FFF2-40B4-BE49-F238E27FC236}">
                <a16:creationId xmlns:a16="http://schemas.microsoft.com/office/drawing/2014/main" id="{C34D7FED-817C-4480-BE81-D2C14887F118}"/>
              </a:ext>
            </a:extLst>
          </p:cNvPr>
          <p:cNvSpPr>
            <a:spLocks xmlns:a="http://schemas.openxmlformats.org/drawingml/2006/main" noGrp="1"/>
          </p:cNvSpPr>
          <p:nvPr/>
        </p:nvSpPr>
        <p:spPr>
          <a:xfrm xmlns:a="http://schemas.openxmlformats.org/drawingml/2006/main">
            <a:off x="69342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6" name="s34-link-3">
            <a:extLst xmlns:a="http://schemas.openxmlformats.org/drawingml/2006/main">
              <a:ext uri="{FF2B5EF4-FFF2-40B4-BE49-F238E27FC236}">
                <a16:creationId xmlns:a16="http://schemas.microsoft.com/office/drawing/2014/main" id="{9285CF81-2E27-486A-A4FB-724A368CC834}"/>
              </a:ext>
            </a:extLst>
          </p:cNvPr>
          <p:cNvSpPr>
            <a:spLocks xmlns:a="http://schemas.openxmlformats.org/drawingml/2006/main" noGrp="1"/>
          </p:cNvSpPr>
          <p:nvPr/>
        </p:nvSpPr>
        <p:spPr>
          <a:xfrm xmlns:a="http://schemas.openxmlformats.org/drawingml/2006/main">
            <a:off x="91440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7" name="s34-stage-0">
            <a:extLst xmlns:a="http://schemas.openxmlformats.org/drawingml/2006/main">
              <a:ext uri="{FF2B5EF4-FFF2-40B4-BE49-F238E27FC236}">
                <a16:creationId xmlns:a16="http://schemas.microsoft.com/office/drawing/2014/main" id="{11CD3531-0DA0-4585-A346-72CC0A7E9D19}"/>
              </a:ext>
            </a:extLst>
          </p:cNvPr>
          <p:cNvSpPr>
            <a:spLocks xmlns:a="http://schemas.openxmlformats.org/drawingml/2006/main" noGrp="1"/>
          </p:cNvSpPr>
          <p:nvPr/>
        </p:nvSpPr>
        <p:spPr>
          <a:xfrm xmlns:a="http://schemas.openxmlformats.org/drawingml/2006/main">
            <a:off x="6858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28" name="s34-stage-title-0">
            <a:extLst xmlns:a="http://schemas.openxmlformats.org/drawingml/2006/main">
              <a:ext uri="{FF2B5EF4-FFF2-40B4-BE49-F238E27FC236}">
                <a16:creationId xmlns:a16="http://schemas.microsoft.com/office/drawing/2014/main" id="{F8394E1A-4D44-4CC1-998E-CE1677314639}"/>
              </a:ext>
            </a:extLst>
          </p:cNvPr>
          <p:cNvSpPr>
            <a:spLocks xmlns:a="http://schemas.openxmlformats.org/drawingml/2006/main" noGrp="1"/>
          </p:cNvSpPr>
          <p:nvPr/>
        </p:nvSpPr>
        <p:spPr>
          <a:xfrm xmlns:a="http://schemas.openxmlformats.org/drawingml/2006/main">
            <a:off x="8001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SETUP</a:t>
            </a:r>
          </a:p>
        </p:txBody>
      </p:sp>
      <p:sp>
        <p:nvSpPr>
          <p:cNvPr id="29" name="s34-stage-file-0">
            <a:extLst xmlns:a="http://schemas.openxmlformats.org/drawingml/2006/main">
              <a:ext uri="{FF2B5EF4-FFF2-40B4-BE49-F238E27FC236}">
                <a16:creationId xmlns:a16="http://schemas.microsoft.com/office/drawing/2014/main" id="{375DDE31-B078-4EA4-BD5A-00B94EAD8278}"/>
              </a:ext>
            </a:extLst>
          </p:cNvPr>
          <p:cNvSpPr>
            <a:spLocks xmlns:a="http://schemas.openxmlformats.org/drawingml/2006/main" noGrp="1"/>
          </p:cNvSpPr>
          <p:nvPr/>
        </p:nvSpPr>
        <p:spPr>
          <a:xfrm xmlns:a="http://schemas.openxmlformats.org/drawingml/2006/main">
            <a:off x="7810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setup.m</a:t>
            </a:r>
          </a:p>
        </p:txBody>
      </p:sp>
      <p:sp>
        <p:nvSpPr>
          <p:cNvPr id="30" name="s34-stage-body-0">
            <a:extLst xmlns:a="http://schemas.openxmlformats.org/drawingml/2006/main">
              <a:ext uri="{FF2B5EF4-FFF2-40B4-BE49-F238E27FC236}">
                <a16:creationId xmlns:a16="http://schemas.microsoft.com/office/drawing/2014/main" id="{807FAA97-51CD-4438-8878-96B961D08315}"/>
              </a:ext>
            </a:extLst>
          </p:cNvPr>
          <p:cNvSpPr>
            <a:spLocks xmlns:a="http://schemas.openxmlformats.org/drawingml/2006/main" noGrp="1"/>
          </p:cNvSpPr>
          <p:nvPr/>
        </p:nvSpPr>
        <p:spPr>
          <a:xfrm xmlns:a="http://schemas.openxmlformats.org/drawingml/2006/main">
            <a:off x="8001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paths • dictionary • initial state</a:t>
            </a:r>
          </a:p>
        </p:txBody>
      </p:sp>
      <p:sp>
        <p:nvSpPr>
          <p:cNvPr id="31" name="s34-stage-1">
            <a:extLst xmlns:a="http://schemas.openxmlformats.org/drawingml/2006/main">
              <a:ext uri="{FF2B5EF4-FFF2-40B4-BE49-F238E27FC236}">
                <a16:creationId xmlns:a16="http://schemas.microsoft.com/office/drawing/2014/main" id="{EE04B751-7AA2-4052-815C-C082968C1210}"/>
              </a:ext>
            </a:extLst>
          </p:cNvPr>
          <p:cNvSpPr>
            <a:spLocks xmlns:a="http://schemas.openxmlformats.org/drawingml/2006/main" noGrp="1"/>
          </p:cNvSpPr>
          <p:nvPr/>
        </p:nvSpPr>
        <p:spPr>
          <a:xfrm xmlns:a="http://schemas.openxmlformats.org/drawingml/2006/main">
            <a:off x="28956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32" name="s34-stage-title-1">
            <a:extLst xmlns:a="http://schemas.openxmlformats.org/drawingml/2006/main">
              <a:ext uri="{FF2B5EF4-FFF2-40B4-BE49-F238E27FC236}">
                <a16:creationId xmlns:a16="http://schemas.microsoft.com/office/drawing/2014/main" id="{D3B169D0-A7B8-49C7-A8C1-785D018411E8}"/>
              </a:ext>
            </a:extLst>
          </p:cNvPr>
          <p:cNvSpPr>
            <a:spLocks xmlns:a="http://schemas.openxmlformats.org/drawingml/2006/main" noGrp="1"/>
          </p:cNvSpPr>
          <p:nvPr/>
        </p:nvSpPr>
        <p:spPr>
          <a:xfrm xmlns:a="http://schemas.openxmlformats.org/drawingml/2006/main">
            <a:off x="30099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PRELOAD</a:t>
            </a:r>
          </a:p>
        </p:txBody>
      </p:sp>
      <p:sp>
        <p:nvSpPr>
          <p:cNvPr id="33" name="s34-stage-file-1">
            <a:extLst xmlns:a="http://schemas.openxmlformats.org/drawingml/2006/main">
              <a:ext uri="{FF2B5EF4-FFF2-40B4-BE49-F238E27FC236}">
                <a16:creationId xmlns:a16="http://schemas.microsoft.com/office/drawing/2014/main" id="{C294FF68-9B68-4E77-BD2F-A2B441CAC8C6}"/>
              </a:ext>
            </a:extLst>
          </p:cNvPr>
          <p:cNvSpPr>
            <a:spLocks xmlns:a="http://schemas.openxmlformats.org/drawingml/2006/main" noGrp="1"/>
          </p:cNvSpPr>
          <p:nvPr/>
        </p:nvSpPr>
        <p:spPr>
          <a:xfrm xmlns:a="http://schemas.openxmlformats.org/drawingml/2006/main">
            <a:off x="29908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preload.m</a:t>
            </a:r>
          </a:p>
        </p:txBody>
      </p:sp>
      <p:sp>
        <p:nvSpPr>
          <p:cNvPr id="34" name="s34-stage-body-1">
            <a:extLst xmlns:a="http://schemas.openxmlformats.org/drawingml/2006/main">
              <a:ext uri="{FF2B5EF4-FFF2-40B4-BE49-F238E27FC236}">
                <a16:creationId xmlns:a16="http://schemas.microsoft.com/office/drawing/2014/main" id="{870ECB79-33FD-4DFC-983E-48841A230FDF}"/>
              </a:ext>
            </a:extLst>
          </p:cNvPr>
          <p:cNvSpPr>
            <a:spLocks xmlns:a="http://schemas.openxmlformats.org/drawingml/2006/main" noGrp="1"/>
          </p:cNvSpPr>
          <p:nvPr/>
        </p:nvSpPr>
        <p:spPr>
          <a:xfrm xmlns:a="http://schemas.openxmlformats.org/drawingml/2006/main">
            <a:off x="30099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deterministic stimulus</a:t>
            </a:r>
          </a:p>
        </p:txBody>
      </p:sp>
      <p:sp>
        <p:nvSpPr>
          <p:cNvPr id="35" name="s34-stage-2">
            <a:extLst xmlns:a="http://schemas.openxmlformats.org/drawingml/2006/main">
              <a:ext uri="{FF2B5EF4-FFF2-40B4-BE49-F238E27FC236}">
                <a16:creationId xmlns:a16="http://schemas.microsoft.com/office/drawing/2014/main" id="{84146C8C-743B-4E08-B815-8924C813955C}"/>
              </a:ext>
            </a:extLst>
          </p:cNvPr>
          <p:cNvSpPr>
            <a:spLocks xmlns:a="http://schemas.openxmlformats.org/drawingml/2006/main" noGrp="1"/>
          </p:cNvSpPr>
          <p:nvPr/>
        </p:nvSpPr>
        <p:spPr>
          <a:xfrm xmlns:a="http://schemas.openxmlformats.org/drawingml/2006/main">
            <a:off x="51054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36" name="s34-stage-title-2">
            <a:extLst xmlns:a="http://schemas.openxmlformats.org/drawingml/2006/main">
              <a:ext uri="{FF2B5EF4-FFF2-40B4-BE49-F238E27FC236}">
                <a16:creationId xmlns:a16="http://schemas.microsoft.com/office/drawing/2014/main" id="{99E4E1B4-9EAF-435F-9F25-C338AF743C25}"/>
              </a:ext>
            </a:extLst>
          </p:cNvPr>
          <p:cNvSpPr>
            <a:spLocks xmlns:a="http://schemas.openxmlformats.org/drawingml/2006/main" noGrp="1"/>
          </p:cNvSpPr>
          <p:nvPr/>
        </p:nvSpPr>
        <p:spPr>
          <a:xfrm xmlns:a="http://schemas.openxmlformats.org/drawingml/2006/main">
            <a:off x="52197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POSTLOAD</a:t>
            </a:r>
          </a:p>
        </p:txBody>
      </p:sp>
      <p:sp>
        <p:nvSpPr>
          <p:cNvPr id="37" name="s34-stage-file-2">
            <a:extLst xmlns:a="http://schemas.openxmlformats.org/drawingml/2006/main">
              <a:ext uri="{FF2B5EF4-FFF2-40B4-BE49-F238E27FC236}">
                <a16:creationId xmlns:a16="http://schemas.microsoft.com/office/drawing/2014/main" id="{D3DD8DA9-B3C0-486C-B295-53339A5820E1}"/>
              </a:ext>
            </a:extLst>
          </p:cNvPr>
          <p:cNvSpPr>
            <a:spLocks xmlns:a="http://schemas.openxmlformats.org/drawingml/2006/main" noGrp="1"/>
          </p:cNvSpPr>
          <p:nvPr/>
        </p:nvSpPr>
        <p:spPr>
          <a:xfrm xmlns:a="http://schemas.openxmlformats.org/drawingml/2006/main">
            <a:off x="52006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postload.m</a:t>
            </a:r>
          </a:p>
        </p:txBody>
      </p:sp>
      <p:sp>
        <p:nvSpPr>
          <p:cNvPr id="38" name="s34-stage-body-2">
            <a:extLst xmlns:a="http://schemas.openxmlformats.org/drawingml/2006/main">
              <a:ext uri="{FF2B5EF4-FFF2-40B4-BE49-F238E27FC236}">
                <a16:creationId xmlns:a16="http://schemas.microsoft.com/office/drawing/2014/main" id="{A3012A61-58A3-4A25-92BE-36C1BEC6B6F1}"/>
              </a:ext>
            </a:extLst>
          </p:cNvPr>
          <p:cNvSpPr>
            <a:spLocks xmlns:a="http://schemas.openxmlformats.org/drawingml/2006/main" noGrp="1"/>
          </p:cNvSpPr>
          <p:nvPr/>
        </p:nvSpPr>
        <p:spPr>
          <a:xfrm xmlns:a="http://schemas.openxmlformats.org/drawingml/2006/main">
            <a:off x="52197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solver • logging configuration</a:t>
            </a:r>
          </a:p>
        </p:txBody>
      </p:sp>
      <p:sp>
        <p:nvSpPr>
          <p:cNvPr id="39" name="s34-stage-3">
            <a:extLst xmlns:a="http://schemas.openxmlformats.org/drawingml/2006/main">
              <a:ext uri="{FF2B5EF4-FFF2-40B4-BE49-F238E27FC236}">
                <a16:creationId xmlns:a16="http://schemas.microsoft.com/office/drawing/2014/main" id="{256E0CA4-3156-4061-92AA-8CE2B3833D41}"/>
              </a:ext>
            </a:extLst>
          </p:cNvPr>
          <p:cNvSpPr>
            <a:spLocks xmlns:a="http://schemas.openxmlformats.org/drawingml/2006/main" noGrp="1"/>
          </p:cNvSpPr>
          <p:nvPr/>
        </p:nvSpPr>
        <p:spPr>
          <a:xfrm xmlns:a="http://schemas.openxmlformats.org/drawingml/2006/main">
            <a:off x="7315200" y="1714500"/>
            <a:ext cx="1828800" cy="1381125"/>
          </a:xfrm>
          <a:prstGeom xmlns:a="http://schemas.openxmlformats.org/drawingml/2006/main" prst="roundRect">
            <a:avLst>
              <a:gd name="adj" fmla="val 8276"/>
            </a:avLst>
          </a:prstGeom>
          <a:solidFill xmlns:a="http://schemas.openxmlformats.org/drawingml/2006/main">
            <a:srgbClr val="E2F4EA"/>
          </a:solidFill>
          <a:ln xmlns:a="http://schemas.openxmlformats.org/drawingml/2006/main" w="14288">
            <a:solidFill>
              <a:srgbClr val="2CA56F"/>
            </a:solidFill>
            <a:prstDash val="solid"/>
          </a:ln>
        </p:spPr>
      </p:sp>
      <p:sp>
        <p:nvSpPr>
          <p:cNvPr id="40" name="s34-stage-title-3">
            <a:extLst xmlns:a="http://schemas.openxmlformats.org/drawingml/2006/main">
              <a:ext uri="{FF2B5EF4-FFF2-40B4-BE49-F238E27FC236}">
                <a16:creationId xmlns:a16="http://schemas.microsoft.com/office/drawing/2014/main" id="{F27E142A-90AE-4B5A-92F1-3B6A9AB0218B}"/>
              </a:ext>
            </a:extLst>
          </p:cNvPr>
          <p:cNvSpPr>
            <a:spLocks xmlns:a="http://schemas.openxmlformats.org/drawingml/2006/main" noGrp="1"/>
          </p:cNvSpPr>
          <p:nvPr/>
        </p:nvSpPr>
        <p:spPr>
          <a:xfrm xmlns:a="http://schemas.openxmlformats.org/drawingml/2006/main">
            <a:off x="74295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CA56F"/>
                </a:solidFill>
                <a:latin typeface="Aptos"/>
                <a:ea typeface="Aptos"/>
                <a:cs typeface="Aptos"/>
              </a:defRPr>
            </a:pPr>
            <a:r>
              <a:rPr sz="1140" b="1">
                <a:solidFill>
                  <a:srgbClr val="2CA56F"/>
                </a:solidFill>
                <a:latin typeface="Aptos"/>
                <a:ea typeface="Aptos"/>
                <a:cs typeface="Aptos"/>
              </a:rPr>
              <a:t>EXECUTE</a:t>
            </a:r>
          </a:p>
        </p:txBody>
      </p:sp>
      <p:sp>
        <p:nvSpPr>
          <p:cNvPr id="41" name="s34-stage-file-3">
            <a:extLst xmlns:a="http://schemas.openxmlformats.org/drawingml/2006/main">
              <a:ext uri="{FF2B5EF4-FFF2-40B4-BE49-F238E27FC236}">
                <a16:creationId xmlns:a16="http://schemas.microsoft.com/office/drawing/2014/main" id="{EF8EAE54-58EE-42EA-8D80-9D25021E174A}"/>
              </a:ext>
            </a:extLst>
          </p:cNvPr>
          <p:cNvSpPr>
            <a:spLocks xmlns:a="http://schemas.openxmlformats.org/drawingml/2006/main" noGrp="1"/>
          </p:cNvSpPr>
          <p:nvPr/>
        </p:nvSpPr>
        <p:spPr>
          <a:xfrm xmlns:a="http://schemas.openxmlformats.org/drawingml/2006/main">
            <a:off x="74104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run_pitch_rate_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limiter_tests.m</a:t>
            </a:r>
          </a:p>
        </p:txBody>
      </p:sp>
      <p:sp>
        <p:nvSpPr>
          <p:cNvPr id="42" name="s34-stage-body-3">
            <a:extLst xmlns:a="http://schemas.openxmlformats.org/drawingml/2006/main">
              <a:ext uri="{FF2B5EF4-FFF2-40B4-BE49-F238E27FC236}">
                <a16:creationId xmlns:a16="http://schemas.microsoft.com/office/drawing/2014/main" id="{9561AFF4-B393-4AF8-BC11-BC478BAEAB6B}"/>
              </a:ext>
            </a:extLst>
          </p:cNvPr>
          <p:cNvSpPr>
            <a:spLocks xmlns:a="http://schemas.openxmlformats.org/drawingml/2006/main" noGrp="1"/>
          </p:cNvSpPr>
          <p:nvPr/>
        </p:nvSpPr>
        <p:spPr>
          <a:xfrm xmlns:a="http://schemas.openxmlformats.org/drawingml/2006/main">
            <a:off x="74295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harness run + visible oracle</a:t>
            </a:r>
          </a:p>
        </p:txBody>
      </p:sp>
      <p:sp>
        <p:nvSpPr>
          <p:cNvPr id="43" name="s34-stage-4">
            <a:extLst xmlns:a="http://schemas.openxmlformats.org/drawingml/2006/main">
              <a:ext uri="{FF2B5EF4-FFF2-40B4-BE49-F238E27FC236}">
                <a16:creationId xmlns:a16="http://schemas.microsoft.com/office/drawing/2014/main" id="{9AFCE74D-CB9A-4F6B-B52E-8D2D2213FF06}"/>
              </a:ext>
            </a:extLst>
          </p:cNvPr>
          <p:cNvSpPr>
            <a:spLocks xmlns:a="http://schemas.openxmlformats.org/drawingml/2006/main" noGrp="1"/>
          </p:cNvSpPr>
          <p:nvPr/>
        </p:nvSpPr>
        <p:spPr>
          <a:xfrm xmlns:a="http://schemas.openxmlformats.org/drawingml/2006/main">
            <a:off x="95250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44" name="s34-stage-title-4">
            <a:extLst xmlns:a="http://schemas.openxmlformats.org/drawingml/2006/main">
              <a:ext uri="{FF2B5EF4-FFF2-40B4-BE49-F238E27FC236}">
                <a16:creationId xmlns:a16="http://schemas.microsoft.com/office/drawing/2014/main" id="{32682F9D-1D8B-4181-80D3-B31FD919B603}"/>
              </a:ext>
            </a:extLst>
          </p:cNvPr>
          <p:cNvSpPr>
            <a:spLocks xmlns:a="http://schemas.openxmlformats.org/drawingml/2006/main" noGrp="1"/>
          </p:cNvSpPr>
          <p:nvPr/>
        </p:nvSpPr>
        <p:spPr>
          <a:xfrm xmlns:a="http://schemas.openxmlformats.org/drawingml/2006/main">
            <a:off x="96393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20B7C5"/>
                </a:solidFill>
                <a:latin typeface="Aptos"/>
                <a:ea typeface="Aptos"/>
                <a:cs typeface="Aptos"/>
              </a:defRPr>
            </a:pPr>
            <a:r>
              <a:rPr sz="1140" b="1">
                <a:solidFill>
                  <a:srgbClr val="20B7C5"/>
                </a:solidFill>
                <a:latin typeface="Aptos"/>
                <a:ea typeface="Aptos"/>
                <a:cs typeface="Aptos"/>
              </a:rPr>
              <a:t>CLEANUP</a:t>
            </a:r>
          </a:p>
        </p:txBody>
      </p:sp>
      <p:sp>
        <p:nvSpPr>
          <p:cNvPr id="45" name="s34-stage-file-4">
            <a:extLst xmlns:a="http://schemas.openxmlformats.org/drawingml/2006/main">
              <a:ext uri="{FF2B5EF4-FFF2-40B4-BE49-F238E27FC236}">
                <a16:creationId xmlns:a16="http://schemas.microsoft.com/office/drawing/2014/main" id="{BE776F2E-F3A2-4589-B04B-72B01E79F327}"/>
              </a:ext>
            </a:extLst>
          </p:cNvPr>
          <p:cNvSpPr>
            <a:spLocks xmlns:a="http://schemas.openxmlformats.org/drawingml/2006/main" noGrp="1"/>
          </p:cNvSpPr>
          <p:nvPr/>
        </p:nvSpPr>
        <p:spPr>
          <a:xfrm xmlns:a="http://schemas.openxmlformats.org/drawingml/2006/main">
            <a:off x="96202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buNone/>
              <a:defRPr sz="960" b="1">
                <a:solidFill>
                  <a:srgbClr val="2D6CDF"/>
                </a:solidFill>
                <a:latin typeface="Aptos"/>
                <a:ea typeface="Aptos"/>
                <a:cs typeface="Aptos"/>
              </a:defRPr>
            </a:pPr>
            <a:r>
              <a:rPr sz="960" b="1">
                <a:solidFill>
                  <a:srgbClr val="2D6CDF"/>
                </a:solidFill>
                <a:latin typeface="Aptos"/>
                <a:ea typeface="Aptos"/>
                <a:cs typeface="Aptos"/>
              </a:rPr>
              <a:t>cleanup.m</a:t>
            </a:r>
          </a:p>
        </p:txBody>
      </p:sp>
      <p:sp>
        <p:nvSpPr>
          <p:cNvPr id="46" name="s34-stage-body-4">
            <a:extLst xmlns:a="http://schemas.openxmlformats.org/drawingml/2006/main">
              <a:ext uri="{FF2B5EF4-FFF2-40B4-BE49-F238E27FC236}">
                <a16:creationId xmlns:a16="http://schemas.microsoft.com/office/drawing/2014/main" id="{1C99E313-1AB2-40B7-B406-185A3000C708}"/>
              </a:ext>
            </a:extLst>
          </p:cNvPr>
          <p:cNvSpPr>
            <a:spLocks xmlns:a="http://schemas.openxmlformats.org/drawingml/2006/main" noGrp="1"/>
          </p:cNvSpPr>
          <p:nvPr/>
        </p:nvSpPr>
        <p:spPr>
          <a:xfrm xmlns:a="http://schemas.openxmlformats.org/drawingml/2006/main">
            <a:off x="96393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release only owned state</a:t>
            </a:r>
          </a:p>
        </p:txBody>
      </p:sp>
      <p:sp>
        <p:nvSpPr>
          <p:cNvPr id="47" name="s34-principle-0">
            <a:extLst xmlns:a="http://schemas.openxmlformats.org/drawingml/2006/main">
              <a:ext uri="{FF2B5EF4-FFF2-40B4-BE49-F238E27FC236}">
                <a16:creationId xmlns:a16="http://schemas.microsoft.com/office/drawing/2014/main" id="{5ECA5762-8B37-4E7E-91C7-8758F8ED2599}"/>
              </a:ext>
            </a:extLst>
          </p:cNvPr>
          <p:cNvSpPr>
            <a:spLocks xmlns:a="http://schemas.openxmlformats.org/drawingml/2006/main" noGrp="1"/>
          </p:cNvSpPr>
          <p:nvPr/>
        </p:nvSpPr>
        <p:spPr>
          <a:xfrm xmlns:a="http://schemas.openxmlformats.org/drawingml/2006/main">
            <a:off x="685800" y="3600450"/>
            <a:ext cx="3390900" cy="1200150"/>
          </a:xfrm>
          <a:prstGeom xmlns:a="http://schemas.openxmlformats.org/drawingml/2006/main" prst="roundRect">
            <a:avLst>
              <a:gd name="adj" fmla="val 9524"/>
            </a:avLst>
          </a:prstGeom>
          <a:solidFill xmlns:a="http://schemas.openxmlformats.org/drawingml/2006/main">
            <a:srgbClr val="EEF4F8"/>
          </a:solidFill>
          <a:ln xmlns:a="http://schemas.openxmlformats.org/drawingml/2006/main" w="1428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CONTEXT</a:t>
            </a:r>
          </a:p>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Callbacks establish reproducible state.</a:t>
            </a:r>
          </a:p>
        </p:txBody>
      </p:sp>
      <p:sp>
        <p:nvSpPr>
          <p:cNvPr id="48" name="s34-principle-1">
            <a:extLst xmlns:a="http://schemas.openxmlformats.org/drawingml/2006/main">
              <a:ext uri="{FF2B5EF4-FFF2-40B4-BE49-F238E27FC236}">
                <a16:creationId xmlns:a16="http://schemas.microsoft.com/office/drawing/2014/main" id="{3321E1B9-1DD6-4A65-929F-49071314BA3A}"/>
              </a:ext>
            </a:extLst>
          </p:cNvPr>
          <p:cNvSpPr>
            <a:spLocks xmlns:a="http://schemas.openxmlformats.org/drawingml/2006/main" noGrp="1"/>
          </p:cNvSpPr>
          <p:nvPr/>
        </p:nvSpPr>
        <p:spPr>
          <a:xfrm xmlns:a="http://schemas.openxmlformats.org/drawingml/2006/main">
            <a:off x="4305300" y="3600450"/>
            <a:ext cx="3390900" cy="1200150"/>
          </a:xfrm>
          <a:prstGeom xmlns:a="http://schemas.openxmlformats.org/drawingml/2006/main" prst="roundRect">
            <a:avLst>
              <a:gd name="adj" fmla="val 9524"/>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ORACLE</a:t>
            </a:r>
          </a:p>
          <a:p xmlns:a="http://schemas.openxmlformats.org/drawingml/2006/main">
            <a:pPr algn="ctr">
              <a:buNone/>
              <a:defRPr sz="1350" b="1">
                <a:solidFill>
                  <a:srgbClr val="FFFFFF"/>
                </a:solidFill>
                <a:latin typeface="Aptos"/>
                <a:ea typeface="Aptos"/>
                <a:cs typeface="Aptos"/>
              </a:defRPr>
            </a:pPr>
            <a:r>
              <a:rPr sz="1350" b="1">
                <a:solidFill>
                  <a:srgbClr val="FFFFFF"/>
                </a:solidFill>
                <a:latin typeface="Aptos"/>
                <a:ea typeface="Aptos"/>
                <a:cs typeface="Aptos"/>
              </a:rPr>
              <a:t>Expected values and pass/fail logic stay in the test driver.</a:t>
            </a:r>
          </a:p>
        </p:txBody>
      </p:sp>
      <p:sp>
        <p:nvSpPr>
          <p:cNvPr id="49" name="s34-principle-2">
            <a:extLst xmlns:a="http://schemas.openxmlformats.org/drawingml/2006/main">
              <a:ext uri="{FF2B5EF4-FFF2-40B4-BE49-F238E27FC236}">
                <a16:creationId xmlns:a16="http://schemas.microsoft.com/office/drawing/2014/main" id="{F0D763B5-54A8-46EF-AEA3-FE4EFECDD9D2}"/>
              </a:ext>
            </a:extLst>
          </p:cNvPr>
          <p:cNvSpPr>
            <a:spLocks xmlns:a="http://schemas.openxmlformats.org/drawingml/2006/main" noGrp="1"/>
          </p:cNvSpPr>
          <p:nvPr/>
        </p:nvSpPr>
        <p:spPr>
          <a:xfrm xmlns:a="http://schemas.openxmlformats.org/drawingml/2006/main">
            <a:off x="7924800" y="3600450"/>
            <a:ext cx="3390900" cy="1200150"/>
          </a:xfrm>
          <a:prstGeom xmlns:a="http://schemas.openxmlformats.org/drawingml/2006/main" prst="roundRect">
            <a:avLst>
              <a:gd name="adj" fmla="val 9524"/>
            </a:avLst>
          </a:prstGeom>
          <a:solidFill xmlns:a="http://schemas.openxmlformats.org/drawingml/2006/main">
            <a:srgbClr val="EEF4F8"/>
          </a:solidFill>
          <a:ln xmlns:a="http://schemas.openxmlformats.org/drawingml/2006/main" w="1428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EVIDENCE</a:t>
            </a:r>
          </a:p>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CSV, MAT, HTML, and PNG retain the controlled outcome.</a:t>
            </a:r>
          </a:p>
        </p:txBody>
      </p:sp>
      <p:sp>
        <p:nvSpPr>
          <p:cNvPr id="50" name="s34-repeat">
            <a:extLst xmlns:a="http://schemas.openxmlformats.org/drawingml/2006/main">
              <a:ext uri="{FF2B5EF4-FFF2-40B4-BE49-F238E27FC236}">
                <a16:creationId xmlns:a16="http://schemas.microsoft.com/office/drawing/2014/main" id="{25E600EB-D492-4BF7-9FA2-C0A154BD392D}"/>
              </a:ext>
            </a:extLst>
          </p:cNvPr>
          <p:cNvSpPr>
            <a:spLocks xmlns:a="http://schemas.openxmlformats.org/drawingml/2006/main" noGrp="1"/>
          </p:cNvSpPr>
          <p:nvPr/>
        </p:nvSpPr>
        <p:spPr>
          <a:xfrm xmlns:a="http://schemas.openxmlformats.org/drawingml/2006/main">
            <a:off x="685800" y="5067300"/>
            <a:ext cx="10820400" cy="781050"/>
          </a:xfrm>
          <a:prstGeom xmlns:a="http://schemas.openxmlformats.org/drawingml/2006/main" prst="roundRect">
            <a:avLst>
              <a:gd name="adj" fmla="val 14634"/>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Repeatability rule: prepare → execute → assess → retain → clean up. Dirty learner models are preserved so cleanup does not discard unsaved work.</a:t>
            </a:r>
          </a:p>
        </p:txBody>
      </p:sp>
    </p:spTree>
    <p:extLst>
      <p:ext uri="{BB962C8B-B14F-4D97-AF65-F5344CB8AC3E}">
        <p14:creationId xmlns:p14="http://schemas.microsoft.com/office/powerpoint/2010/main" val="1450052894"/>
      </p:ext>
    </p:extLst>
  </p:cSld>
</p:sld>
</file>

<file path=ppt/slides/slide4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35</a:t>
            </a:r>
          </a:p>
        </p:txBody>
      </p:sp>
      <p:sp>
        <p:nvSpPr>
          <p:cNvPr id="17" name="s35-path">
            <a:extLst xmlns:a="http://schemas.openxmlformats.org/drawingml/2006/main">
              <a:ext uri="{FF2B5EF4-FFF2-40B4-BE49-F238E27FC236}">
                <a16:creationId xmlns:a16="http://schemas.microsoft.com/office/drawing/2014/main" id="{3A6611F2-B048-45EB-9CF4-D80DC37D0ECF}"/>
              </a:ext>
            </a:extLst>
          </p:cNvPr>
          <p:cNvSpPr>
            <a:spLocks xmlns:a="http://schemas.openxmlformats.org/drawingml/2006/main" noGrp="1"/>
          </p:cNvSpPr>
          <p:nvPr/>
        </p:nvSpPr>
        <p:spPr>
          <a:xfrm xmlns:a="http://schemas.openxmlformats.org/drawingml/2006/main">
            <a:off x="685800" y="1381125"/>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data/FCS_Data.sldd  •  shared by all eight delivered models  •  controlled fixed-step Sample_time = 0.02 s (50 Hz)</a:t>
            </a:r>
          </a:p>
        </p:txBody>
      </p:sp>
      <p:sp>
        <p:nvSpPr>
          <p:cNvPr id="18" name="s35-param-heading">
            <a:extLst xmlns:a="http://schemas.openxmlformats.org/drawingml/2006/main">
              <a:ext uri="{FF2B5EF4-FFF2-40B4-BE49-F238E27FC236}">
                <a16:creationId xmlns:a16="http://schemas.microsoft.com/office/drawing/2014/main" id="{E891095B-CEF8-4D9A-8051-DA9B748BAC3E}"/>
              </a:ext>
            </a:extLst>
          </p:cNvPr>
          <p:cNvSpPr>
            <a:spLocks xmlns:a="http://schemas.openxmlformats.org/drawingml/2006/main" noGrp="1"/>
          </p:cNvSpPr>
          <p:nvPr/>
        </p:nvSpPr>
        <p:spPr>
          <a:xfrm xmlns:a="http://schemas.openxmlformats.org/drawingml/2006/main">
            <a:off x="685800" y="19145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ILLUSTRATIVE CONTROLLED PARAMETERS</a:t>
            </a:r>
          </a:p>
        </p:txBody>
      </p:sp>
      <p:sp>
        <p:nvSpPr>
          <p:cNvPr id="19" name="s35-bus-heading">
            <a:extLst xmlns:a="http://schemas.openxmlformats.org/drawingml/2006/main">
              <a:ext uri="{FF2B5EF4-FFF2-40B4-BE49-F238E27FC236}">
                <a16:creationId xmlns:a16="http://schemas.microsoft.com/office/drawing/2014/main" id="{B45598B7-AA24-40AA-8DF9-2A11A0F7D6B3}"/>
              </a:ext>
            </a:extLst>
          </p:cNvPr>
          <p:cNvSpPr>
            <a:spLocks xmlns:a="http://schemas.openxmlformats.org/drawingml/2006/main" noGrp="1"/>
          </p:cNvSpPr>
          <p:nvPr/>
        </p:nvSpPr>
        <p:spPr>
          <a:xfrm xmlns:a="http://schemas.openxmlformats.org/drawingml/2006/main">
            <a:off x="6248400" y="19145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FlightControlBus — EXPLICIT INTERFACE CONTRACT</a:t>
            </a:r>
          </a:p>
        </p:txBody>
      </p:sp>
      <p:sp>
        <p:nvSpPr>
          <p:cNvPr id="20" name="s35-param-0">
            <a:extLst xmlns:a="http://schemas.openxmlformats.org/drawingml/2006/main">
              <a:ext uri="{FF2B5EF4-FFF2-40B4-BE49-F238E27FC236}">
                <a16:creationId xmlns:a16="http://schemas.microsoft.com/office/drawing/2014/main" id="{CF4CC462-81BD-4FB3-9D1A-8C8B23D4F9E2}"/>
              </a:ext>
            </a:extLst>
          </p:cNvPr>
          <p:cNvSpPr>
            <a:spLocks xmlns:a="http://schemas.openxmlformats.org/drawingml/2006/main" noGrp="1"/>
          </p:cNvSpPr>
          <p:nvPr/>
        </p:nvSpPr>
        <p:spPr>
          <a:xfrm xmlns:a="http://schemas.openxmlformats.org/drawingml/2006/main">
            <a:off x="685800" y="22669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21" name="s35-param-name-0">
            <a:extLst xmlns:a="http://schemas.openxmlformats.org/drawingml/2006/main">
              <a:ext uri="{FF2B5EF4-FFF2-40B4-BE49-F238E27FC236}">
                <a16:creationId xmlns:a16="http://schemas.microsoft.com/office/drawing/2014/main" id="{BD489A8E-0DCC-40C6-BE90-901E5CEC200A}"/>
              </a:ext>
            </a:extLst>
          </p:cNvPr>
          <p:cNvSpPr>
            <a:spLocks xmlns:a="http://schemas.openxmlformats.org/drawingml/2006/main" noGrp="1"/>
          </p:cNvSpPr>
          <p:nvPr/>
        </p:nvSpPr>
        <p:spPr>
          <a:xfrm xmlns:a="http://schemas.openxmlformats.org/drawingml/2006/main">
            <a:off x="819150" y="23050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Sample_time</a:t>
            </a:r>
          </a:p>
        </p:txBody>
      </p:sp>
      <p:sp>
        <p:nvSpPr>
          <p:cNvPr id="22" name="s35-param-value-0">
            <a:extLst xmlns:a="http://schemas.openxmlformats.org/drawingml/2006/main">
              <a:ext uri="{FF2B5EF4-FFF2-40B4-BE49-F238E27FC236}">
                <a16:creationId xmlns:a16="http://schemas.microsoft.com/office/drawing/2014/main" id="{8BD2267C-F92C-4E27-A2A9-94B09F7B27A0}"/>
              </a:ext>
            </a:extLst>
          </p:cNvPr>
          <p:cNvSpPr>
            <a:spLocks xmlns:a="http://schemas.openxmlformats.org/drawingml/2006/main" noGrp="1"/>
          </p:cNvSpPr>
          <p:nvPr/>
        </p:nvSpPr>
        <p:spPr>
          <a:xfrm xmlns:a="http://schemas.openxmlformats.org/drawingml/2006/main">
            <a:off x="3048000" y="23050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0.02 s</a:t>
            </a:r>
          </a:p>
        </p:txBody>
      </p:sp>
      <p:sp>
        <p:nvSpPr>
          <p:cNvPr id="23" name="s35-param-type-0">
            <a:extLst xmlns:a="http://schemas.openxmlformats.org/drawingml/2006/main">
              <a:ext uri="{FF2B5EF4-FFF2-40B4-BE49-F238E27FC236}">
                <a16:creationId xmlns:a16="http://schemas.microsoft.com/office/drawing/2014/main" id="{2F70D834-EE6F-4A7C-AD83-3783ACC65F5B}"/>
              </a:ext>
            </a:extLst>
          </p:cNvPr>
          <p:cNvSpPr>
            <a:spLocks xmlns:a="http://schemas.openxmlformats.org/drawingml/2006/main" noGrp="1"/>
          </p:cNvSpPr>
          <p:nvPr/>
        </p:nvSpPr>
        <p:spPr>
          <a:xfrm xmlns:a="http://schemas.openxmlformats.org/drawingml/2006/main">
            <a:off x="4762500" y="23050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24" name="s35-param-1">
            <a:extLst xmlns:a="http://schemas.openxmlformats.org/drawingml/2006/main">
              <a:ext uri="{FF2B5EF4-FFF2-40B4-BE49-F238E27FC236}">
                <a16:creationId xmlns:a16="http://schemas.microsoft.com/office/drawing/2014/main" id="{95F6E0F5-E295-4A05-A9BC-6E50739EEDAD}"/>
              </a:ext>
            </a:extLst>
          </p:cNvPr>
          <p:cNvSpPr>
            <a:spLocks xmlns:a="http://schemas.openxmlformats.org/drawingml/2006/main" noGrp="1"/>
          </p:cNvSpPr>
          <p:nvPr/>
        </p:nvSpPr>
        <p:spPr>
          <a:xfrm xmlns:a="http://schemas.openxmlformats.org/drawingml/2006/main">
            <a:off x="685800" y="27813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25" name="s35-param-name-1">
            <a:extLst xmlns:a="http://schemas.openxmlformats.org/drawingml/2006/main">
              <a:ext uri="{FF2B5EF4-FFF2-40B4-BE49-F238E27FC236}">
                <a16:creationId xmlns:a16="http://schemas.microsoft.com/office/drawing/2014/main" id="{9A077507-3434-4162-BF07-B00BAF8DF003}"/>
              </a:ext>
            </a:extLst>
          </p:cNvPr>
          <p:cNvSpPr>
            <a:spLocks xmlns:a="http://schemas.openxmlformats.org/drawingml/2006/main" noGrp="1"/>
          </p:cNvSpPr>
          <p:nvPr/>
        </p:nvSpPr>
        <p:spPr>
          <a:xfrm xmlns:a="http://schemas.openxmlformats.org/drawingml/2006/main">
            <a:off x="819150" y="28194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q_limit_normal</a:t>
            </a:r>
          </a:p>
        </p:txBody>
      </p:sp>
      <p:sp>
        <p:nvSpPr>
          <p:cNvPr id="26" name="s35-param-value-1">
            <a:extLst xmlns:a="http://schemas.openxmlformats.org/drawingml/2006/main">
              <a:ext uri="{FF2B5EF4-FFF2-40B4-BE49-F238E27FC236}">
                <a16:creationId xmlns:a16="http://schemas.microsoft.com/office/drawing/2014/main" id="{93A1A999-F884-443A-A8F5-CD23532B7F12}"/>
              </a:ext>
            </a:extLst>
          </p:cNvPr>
          <p:cNvSpPr>
            <a:spLocks xmlns:a="http://schemas.openxmlformats.org/drawingml/2006/main" noGrp="1"/>
          </p:cNvSpPr>
          <p:nvPr/>
        </p:nvSpPr>
        <p:spPr>
          <a:xfrm xmlns:a="http://schemas.openxmlformats.org/drawingml/2006/main">
            <a:off x="3048000" y="28194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12 deg/s</a:t>
            </a:r>
          </a:p>
        </p:txBody>
      </p:sp>
      <p:sp>
        <p:nvSpPr>
          <p:cNvPr id="27" name="s35-param-type-1">
            <a:extLst xmlns:a="http://schemas.openxmlformats.org/drawingml/2006/main">
              <a:ext uri="{FF2B5EF4-FFF2-40B4-BE49-F238E27FC236}">
                <a16:creationId xmlns:a16="http://schemas.microsoft.com/office/drawing/2014/main" id="{C772B499-B236-4BE9-8E01-0CE71CC11BD2}"/>
              </a:ext>
            </a:extLst>
          </p:cNvPr>
          <p:cNvSpPr>
            <a:spLocks xmlns:a="http://schemas.openxmlformats.org/drawingml/2006/main" noGrp="1"/>
          </p:cNvSpPr>
          <p:nvPr/>
        </p:nvSpPr>
        <p:spPr>
          <a:xfrm xmlns:a="http://schemas.openxmlformats.org/drawingml/2006/main">
            <a:off x="4762500" y="28194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28" name="s35-param-2">
            <a:extLst xmlns:a="http://schemas.openxmlformats.org/drawingml/2006/main">
              <a:ext uri="{FF2B5EF4-FFF2-40B4-BE49-F238E27FC236}">
                <a16:creationId xmlns:a16="http://schemas.microsoft.com/office/drawing/2014/main" id="{6D1EF078-8790-45C6-9D25-1632EEA38B05}"/>
              </a:ext>
            </a:extLst>
          </p:cNvPr>
          <p:cNvSpPr>
            <a:spLocks xmlns:a="http://schemas.openxmlformats.org/drawingml/2006/main" noGrp="1"/>
          </p:cNvSpPr>
          <p:nvPr/>
        </p:nvSpPr>
        <p:spPr>
          <a:xfrm xmlns:a="http://schemas.openxmlformats.org/drawingml/2006/main">
            <a:off x="685800" y="32956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29" name="s35-param-name-2">
            <a:extLst xmlns:a="http://schemas.openxmlformats.org/drawingml/2006/main">
              <a:ext uri="{FF2B5EF4-FFF2-40B4-BE49-F238E27FC236}">
                <a16:creationId xmlns:a16="http://schemas.microsoft.com/office/drawing/2014/main" id="{A4B1245B-242F-4D05-9CBE-DA4B5B0CBFF4}"/>
              </a:ext>
            </a:extLst>
          </p:cNvPr>
          <p:cNvSpPr>
            <a:spLocks xmlns:a="http://schemas.openxmlformats.org/drawingml/2006/main" noGrp="1"/>
          </p:cNvSpPr>
          <p:nvPr/>
        </p:nvSpPr>
        <p:spPr>
          <a:xfrm xmlns:a="http://schemas.openxmlformats.org/drawingml/2006/main">
            <a:off x="819150" y="33337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pitch_Kp</a:t>
            </a:r>
          </a:p>
        </p:txBody>
      </p:sp>
      <p:sp>
        <p:nvSpPr>
          <p:cNvPr id="30" name="s35-param-value-2">
            <a:extLst xmlns:a="http://schemas.openxmlformats.org/drawingml/2006/main">
              <a:ext uri="{FF2B5EF4-FFF2-40B4-BE49-F238E27FC236}">
                <a16:creationId xmlns:a16="http://schemas.microsoft.com/office/drawing/2014/main" id="{CD4041DE-DCFB-4FC0-B358-99793690EE32}"/>
              </a:ext>
            </a:extLst>
          </p:cNvPr>
          <p:cNvSpPr>
            <a:spLocks xmlns:a="http://schemas.openxmlformats.org/drawingml/2006/main" noGrp="1"/>
          </p:cNvSpPr>
          <p:nvPr/>
        </p:nvSpPr>
        <p:spPr>
          <a:xfrm xmlns:a="http://schemas.openxmlformats.org/drawingml/2006/main">
            <a:off x="3048000" y="33337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0.60</a:t>
            </a:r>
          </a:p>
        </p:txBody>
      </p:sp>
      <p:sp>
        <p:nvSpPr>
          <p:cNvPr id="31" name="s35-param-type-2">
            <a:extLst xmlns:a="http://schemas.openxmlformats.org/drawingml/2006/main">
              <a:ext uri="{FF2B5EF4-FFF2-40B4-BE49-F238E27FC236}">
                <a16:creationId xmlns:a16="http://schemas.microsoft.com/office/drawing/2014/main" id="{5C1E0DD0-CA37-48C9-A89E-C9A5C4BA9B17}"/>
              </a:ext>
            </a:extLst>
          </p:cNvPr>
          <p:cNvSpPr>
            <a:spLocks xmlns:a="http://schemas.openxmlformats.org/drawingml/2006/main" noGrp="1"/>
          </p:cNvSpPr>
          <p:nvPr/>
        </p:nvSpPr>
        <p:spPr>
          <a:xfrm xmlns:a="http://schemas.openxmlformats.org/drawingml/2006/main">
            <a:off x="4762500" y="33337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32" name="s35-param-3">
            <a:extLst xmlns:a="http://schemas.openxmlformats.org/drawingml/2006/main">
              <a:ext uri="{FF2B5EF4-FFF2-40B4-BE49-F238E27FC236}">
                <a16:creationId xmlns:a16="http://schemas.microsoft.com/office/drawing/2014/main" id="{1D086A47-58CA-47D8-AC2F-DA58F0728A58}"/>
              </a:ext>
            </a:extLst>
          </p:cNvPr>
          <p:cNvSpPr>
            <a:spLocks xmlns:a="http://schemas.openxmlformats.org/drawingml/2006/main" noGrp="1"/>
          </p:cNvSpPr>
          <p:nvPr/>
        </p:nvSpPr>
        <p:spPr>
          <a:xfrm xmlns:a="http://schemas.openxmlformats.org/drawingml/2006/main">
            <a:off x="685800" y="38100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33" name="s35-param-name-3">
            <a:extLst xmlns:a="http://schemas.openxmlformats.org/drawingml/2006/main">
              <a:ext uri="{FF2B5EF4-FFF2-40B4-BE49-F238E27FC236}">
                <a16:creationId xmlns:a16="http://schemas.microsoft.com/office/drawing/2014/main" id="{A72168E7-535E-4AA7-8207-CBFD3AE1560E}"/>
              </a:ext>
            </a:extLst>
          </p:cNvPr>
          <p:cNvSpPr>
            <a:spLocks xmlns:a="http://schemas.openxmlformats.org/drawingml/2006/main" noGrp="1"/>
          </p:cNvSpPr>
          <p:nvPr/>
        </p:nvSpPr>
        <p:spPr>
          <a:xfrm xmlns:a="http://schemas.openxmlformats.org/drawingml/2006/main">
            <a:off x="819150" y="38481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pitch_Ki</a:t>
            </a:r>
          </a:p>
        </p:txBody>
      </p:sp>
      <p:sp>
        <p:nvSpPr>
          <p:cNvPr id="34" name="s35-param-value-3">
            <a:extLst xmlns:a="http://schemas.openxmlformats.org/drawingml/2006/main">
              <a:ext uri="{FF2B5EF4-FFF2-40B4-BE49-F238E27FC236}">
                <a16:creationId xmlns:a16="http://schemas.microsoft.com/office/drawing/2014/main" id="{D36363ED-3DA3-49A2-9A1A-859774D1F779}"/>
              </a:ext>
            </a:extLst>
          </p:cNvPr>
          <p:cNvSpPr>
            <a:spLocks xmlns:a="http://schemas.openxmlformats.org/drawingml/2006/main" noGrp="1"/>
          </p:cNvSpPr>
          <p:nvPr/>
        </p:nvSpPr>
        <p:spPr>
          <a:xfrm xmlns:a="http://schemas.openxmlformats.org/drawingml/2006/main">
            <a:off x="3048000" y="38481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0.025 1/s</a:t>
            </a:r>
          </a:p>
        </p:txBody>
      </p:sp>
      <p:sp>
        <p:nvSpPr>
          <p:cNvPr id="35" name="s35-param-type-3">
            <a:extLst xmlns:a="http://schemas.openxmlformats.org/drawingml/2006/main">
              <a:ext uri="{FF2B5EF4-FFF2-40B4-BE49-F238E27FC236}">
                <a16:creationId xmlns:a16="http://schemas.microsoft.com/office/drawing/2014/main" id="{65673B00-80F4-4FB6-ABD0-24316B15F40F}"/>
              </a:ext>
            </a:extLst>
          </p:cNvPr>
          <p:cNvSpPr>
            <a:spLocks xmlns:a="http://schemas.openxmlformats.org/drawingml/2006/main" noGrp="1"/>
          </p:cNvSpPr>
          <p:nvPr/>
        </p:nvSpPr>
        <p:spPr>
          <a:xfrm xmlns:a="http://schemas.openxmlformats.org/drawingml/2006/main">
            <a:off x="4762500" y="38481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36" name="s35-param-4">
            <a:extLst xmlns:a="http://schemas.openxmlformats.org/drawingml/2006/main">
              <a:ext uri="{FF2B5EF4-FFF2-40B4-BE49-F238E27FC236}">
                <a16:creationId xmlns:a16="http://schemas.microsoft.com/office/drawing/2014/main" id="{3CEBB3B4-457D-410B-A9B1-5ABC65BCC0FE}"/>
              </a:ext>
            </a:extLst>
          </p:cNvPr>
          <p:cNvSpPr>
            <a:spLocks xmlns:a="http://schemas.openxmlformats.org/drawingml/2006/main" noGrp="1"/>
          </p:cNvSpPr>
          <p:nvPr/>
        </p:nvSpPr>
        <p:spPr>
          <a:xfrm xmlns:a="http://schemas.openxmlformats.org/drawingml/2006/main">
            <a:off x="685800" y="43243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37" name="s35-param-name-4">
            <a:extLst xmlns:a="http://schemas.openxmlformats.org/drawingml/2006/main">
              <a:ext uri="{FF2B5EF4-FFF2-40B4-BE49-F238E27FC236}">
                <a16:creationId xmlns:a16="http://schemas.microsoft.com/office/drawing/2014/main" id="{76326D0D-9141-432F-810C-4EB3C0F08743}"/>
              </a:ext>
            </a:extLst>
          </p:cNvPr>
          <p:cNvSpPr>
            <a:spLocks xmlns:a="http://schemas.openxmlformats.org/drawingml/2006/main" noGrp="1"/>
          </p:cNvSpPr>
          <p:nvPr/>
        </p:nvSpPr>
        <p:spPr>
          <a:xfrm xmlns:a="http://schemas.openxmlformats.org/drawingml/2006/main">
            <a:off x="819150" y="43624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pitch_rate_Kp</a:t>
            </a:r>
          </a:p>
        </p:txBody>
      </p:sp>
      <p:sp>
        <p:nvSpPr>
          <p:cNvPr id="38" name="s35-param-value-4">
            <a:extLst xmlns:a="http://schemas.openxmlformats.org/drawingml/2006/main">
              <a:ext uri="{FF2B5EF4-FFF2-40B4-BE49-F238E27FC236}">
                <a16:creationId xmlns:a16="http://schemas.microsoft.com/office/drawing/2014/main" id="{7626062B-B7E9-49A4-B81A-9E08214F7EBB}"/>
              </a:ext>
            </a:extLst>
          </p:cNvPr>
          <p:cNvSpPr>
            <a:spLocks xmlns:a="http://schemas.openxmlformats.org/drawingml/2006/main" noGrp="1"/>
          </p:cNvSpPr>
          <p:nvPr/>
        </p:nvSpPr>
        <p:spPr>
          <a:xfrm xmlns:a="http://schemas.openxmlformats.org/drawingml/2006/main">
            <a:off x="3048000" y="43624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0.30 s</a:t>
            </a:r>
          </a:p>
        </p:txBody>
      </p:sp>
      <p:sp>
        <p:nvSpPr>
          <p:cNvPr id="39" name="s35-param-type-4">
            <a:extLst xmlns:a="http://schemas.openxmlformats.org/drawingml/2006/main">
              <a:ext uri="{FF2B5EF4-FFF2-40B4-BE49-F238E27FC236}">
                <a16:creationId xmlns:a16="http://schemas.microsoft.com/office/drawing/2014/main" id="{E0AB59EB-34AA-499B-AC20-885563BC7B87}"/>
              </a:ext>
            </a:extLst>
          </p:cNvPr>
          <p:cNvSpPr>
            <a:spLocks xmlns:a="http://schemas.openxmlformats.org/drawingml/2006/main" noGrp="1"/>
          </p:cNvSpPr>
          <p:nvPr/>
        </p:nvSpPr>
        <p:spPr>
          <a:xfrm xmlns:a="http://schemas.openxmlformats.org/drawingml/2006/main">
            <a:off x="4762500" y="4362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40" name="s35-param-5">
            <a:extLst xmlns:a="http://schemas.openxmlformats.org/drawingml/2006/main">
              <a:ext uri="{FF2B5EF4-FFF2-40B4-BE49-F238E27FC236}">
                <a16:creationId xmlns:a16="http://schemas.microsoft.com/office/drawing/2014/main" id="{E6BD3B59-CF04-4355-A204-D1C2CDCA7320}"/>
              </a:ext>
            </a:extLst>
          </p:cNvPr>
          <p:cNvSpPr>
            <a:spLocks xmlns:a="http://schemas.openxmlformats.org/drawingml/2006/main" noGrp="1"/>
          </p:cNvSpPr>
          <p:nvPr/>
        </p:nvSpPr>
        <p:spPr>
          <a:xfrm xmlns:a="http://schemas.openxmlformats.org/drawingml/2006/main">
            <a:off x="685800" y="48387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41" name="s35-param-name-5">
            <a:extLst xmlns:a="http://schemas.openxmlformats.org/drawingml/2006/main">
              <a:ext uri="{FF2B5EF4-FFF2-40B4-BE49-F238E27FC236}">
                <a16:creationId xmlns:a16="http://schemas.microsoft.com/office/drawing/2014/main" id="{6AAB9C5D-7A98-4D0F-BB68-13A68C73C425}"/>
              </a:ext>
            </a:extLst>
          </p:cNvPr>
          <p:cNvSpPr>
            <a:spLocks xmlns:a="http://schemas.openxmlformats.org/drawingml/2006/main" noGrp="1"/>
          </p:cNvSpPr>
          <p:nvPr/>
        </p:nvSpPr>
        <p:spPr>
          <a:xfrm xmlns:a="http://schemas.openxmlformats.org/drawingml/2006/main">
            <a:off x="819150" y="48768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00" b="1">
                <a:solidFill>
                  <a:srgbClr val="2D6CDF"/>
                </a:solidFill>
                <a:latin typeface="Aptos"/>
                <a:ea typeface="Aptos"/>
                <a:cs typeface="Aptos"/>
              </a:defRPr>
            </a:pPr>
            <a:r>
              <a:rPr sz="1200" b="1">
                <a:solidFill>
                  <a:srgbClr val="2D6CDF"/>
                </a:solidFill>
                <a:latin typeface="Aptos"/>
                <a:ea typeface="Aptos"/>
                <a:cs typeface="Aptos"/>
              </a:rPr>
              <a:t>pitch_rate_Ki</a:t>
            </a:r>
          </a:p>
        </p:txBody>
      </p:sp>
      <p:sp>
        <p:nvSpPr>
          <p:cNvPr id="42" name="s35-param-value-5">
            <a:extLst xmlns:a="http://schemas.openxmlformats.org/drawingml/2006/main">
              <a:ext uri="{FF2B5EF4-FFF2-40B4-BE49-F238E27FC236}">
                <a16:creationId xmlns:a16="http://schemas.microsoft.com/office/drawing/2014/main" id="{9DBEC7B7-BFA9-44D4-B1E4-C5D2648E6499}"/>
              </a:ext>
            </a:extLst>
          </p:cNvPr>
          <p:cNvSpPr>
            <a:spLocks xmlns:a="http://schemas.openxmlformats.org/drawingml/2006/main" noGrp="1"/>
          </p:cNvSpPr>
          <p:nvPr/>
        </p:nvSpPr>
        <p:spPr>
          <a:xfrm xmlns:a="http://schemas.openxmlformats.org/drawingml/2006/main">
            <a:off x="3048000" y="48768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200" b="1">
                <a:solidFill>
                  <a:srgbClr val="0B1F33"/>
                </a:solidFill>
                <a:latin typeface="Aptos"/>
                <a:ea typeface="Aptos"/>
                <a:cs typeface="Aptos"/>
              </a:defRPr>
            </a:pPr>
            <a:r>
              <a:rPr sz="1200" b="1">
                <a:solidFill>
                  <a:srgbClr val="0B1F33"/>
                </a:solidFill>
                <a:latin typeface="Aptos"/>
                <a:ea typeface="Aptos"/>
                <a:cs typeface="Aptos"/>
              </a:rPr>
              <a:t>0.20</a:t>
            </a:r>
          </a:p>
        </p:txBody>
      </p:sp>
      <p:sp>
        <p:nvSpPr>
          <p:cNvPr id="43" name="s35-param-type-5">
            <a:extLst xmlns:a="http://schemas.openxmlformats.org/drawingml/2006/main">
              <a:ext uri="{FF2B5EF4-FFF2-40B4-BE49-F238E27FC236}">
                <a16:creationId xmlns:a16="http://schemas.microsoft.com/office/drawing/2014/main" id="{D3105C8E-BC08-44EB-89A5-E43A987C8473}"/>
              </a:ext>
            </a:extLst>
          </p:cNvPr>
          <p:cNvSpPr>
            <a:spLocks xmlns:a="http://schemas.openxmlformats.org/drawingml/2006/main" noGrp="1"/>
          </p:cNvSpPr>
          <p:nvPr/>
        </p:nvSpPr>
        <p:spPr>
          <a:xfrm xmlns:a="http://schemas.openxmlformats.org/drawingml/2006/main">
            <a:off x="4762500" y="48768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44" name="s35-bus-0">
            <a:extLst xmlns:a="http://schemas.openxmlformats.org/drawingml/2006/main">
              <a:ext uri="{FF2B5EF4-FFF2-40B4-BE49-F238E27FC236}">
                <a16:creationId xmlns:a16="http://schemas.microsoft.com/office/drawing/2014/main" id="{18290F3F-A78F-4C39-AB10-F9E58EF4400B}"/>
              </a:ext>
            </a:extLst>
          </p:cNvPr>
          <p:cNvSpPr>
            <a:spLocks xmlns:a="http://schemas.openxmlformats.org/drawingml/2006/main" noGrp="1"/>
          </p:cNvSpPr>
          <p:nvPr/>
        </p:nvSpPr>
        <p:spPr>
          <a:xfrm xmlns:a="http://schemas.openxmlformats.org/drawingml/2006/main">
            <a:off x="6248400" y="226695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45" name="s35-bus-name-0">
            <a:extLst xmlns:a="http://schemas.openxmlformats.org/drawingml/2006/main">
              <a:ext uri="{FF2B5EF4-FFF2-40B4-BE49-F238E27FC236}">
                <a16:creationId xmlns:a16="http://schemas.microsoft.com/office/drawing/2014/main" id="{EEBA10EA-7EE9-4F3B-B57F-E17D1744863A}"/>
              </a:ext>
            </a:extLst>
          </p:cNvPr>
          <p:cNvSpPr>
            <a:spLocks xmlns:a="http://schemas.openxmlformats.org/drawingml/2006/main" noGrp="1"/>
          </p:cNvSpPr>
          <p:nvPr/>
        </p:nvSpPr>
        <p:spPr>
          <a:xfrm xmlns:a="http://schemas.openxmlformats.org/drawingml/2006/main">
            <a:off x="6381750" y="23050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q_rate</a:t>
            </a:r>
          </a:p>
        </p:txBody>
      </p:sp>
      <p:sp>
        <p:nvSpPr>
          <p:cNvPr id="46" name="s35-bus-meta-0">
            <a:extLst xmlns:a="http://schemas.openxmlformats.org/drawingml/2006/main">
              <a:ext uri="{FF2B5EF4-FFF2-40B4-BE49-F238E27FC236}">
                <a16:creationId xmlns:a16="http://schemas.microsoft.com/office/drawing/2014/main" id="{9BCD1BD0-BABF-4B67-A8F9-4BF2AC324A06}"/>
              </a:ext>
            </a:extLst>
          </p:cNvPr>
          <p:cNvSpPr>
            <a:spLocks xmlns:a="http://schemas.openxmlformats.org/drawingml/2006/main" noGrp="1"/>
          </p:cNvSpPr>
          <p:nvPr/>
        </p:nvSpPr>
        <p:spPr>
          <a:xfrm xmlns:a="http://schemas.openxmlformats.org/drawingml/2006/main">
            <a:off x="7896225" y="23050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deg/s</a:t>
            </a:r>
          </a:p>
        </p:txBody>
      </p:sp>
      <p:sp>
        <p:nvSpPr>
          <p:cNvPr id="47" name="s35-bus-desc-0">
            <a:extLst xmlns:a="http://schemas.openxmlformats.org/drawingml/2006/main">
              <a:ext uri="{FF2B5EF4-FFF2-40B4-BE49-F238E27FC236}">
                <a16:creationId xmlns:a16="http://schemas.microsoft.com/office/drawing/2014/main" id="{E9C9EC00-EF2E-482B-AA5A-A3C6AF2DB7C2}"/>
              </a:ext>
            </a:extLst>
          </p:cNvPr>
          <p:cNvSpPr>
            <a:spLocks xmlns:a="http://schemas.openxmlformats.org/drawingml/2006/main" noGrp="1"/>
          </p:cNvSpPr>
          <p:nvPr/>
        </p:nvSpPr>
        <p:spPr>
          <a:xfrm xmlns:a="http://schemas.openxmlformats.org/drawingml/2006/main">
            <a:off x="6381750" y="2533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Measured pitch rate</a:t>
            </a:r>
          </a:p>
        </p:txBody>
      </p:sp>
      <p:sp>
        <p:nvSpPr>
          <p:cNvPr id="48" name="s35-bus-1">
            <a:extLst xmlns:a="http://schemas.openxmlformats.org/drawingml/2006/main">
              <a:ext uri="{FF2B5EF4-FFF2-40B4-BE49-F238E27FC236}">
                <a16:creationId xmlns:a16="http://schemas.microsoft.com/office/drawing/2014/main" id="{68342C14-3A88-42B6-901D-4ED12B4663D5}"/>
              </a:ext>
            </a:extLst>
          </p:cNvPr>
          <p:cNvSpPr>
            <a:spLocks xmlns:a="http://schemas.openxmlformats.org/drawingml/2006/main" noGrp="1"/>
          </p:cNvSpPr>
          <p:nvPr/>
        </p:nvSpPr>
        <p:spPr>
          <a:xfrm xmlns:a="http://schemas.openxmlformats.org/drawingml/2006/main">
            <a:off x="6248400" y="2886075"/>
            <a:ext cx="5257800" cy="523875"/>
          </a:xfrm>
          <a:prstGeom xmlns:a="http://schemas.openxmlformats.org/drawingml/2006/main" prst="roundRect">
            <a:avLst>
              <a:gd name="adj" fmla="val 21818"/>
            </a:avLst>
          </a:prstGeom>
          <a:solidFill xmlns:a="http://schemas.openxmlformats.org/drawingml/2006/main">
            <a:srgbClr val="DFF6F8"/>
          </a:solidFill>
          <a:ln xmlns:a="http://schemas.openxmlformats.org/drawingml/2006/main" w="9525">
            <a:solidFill>
              <a:srgbClr val="C9D8E3"/>
            </a:solidFill>
            <a:prstDash val="solid"/>
          </a:ln>
        </p:spPr>
      </p:sp>
      <p:sp>
        <p:nvSpPr>
          <p:cNvPr id="49" name="s35-bus-name-1">
            <a:extLst xmlns:a="http://schemas.openxmlformats.org/drawingml/2006/main">
              <a:ext uri="{FF2B5EF4-FFF2-40B4-BE49-F238E27FC236}">
                <a16:creationId xmlns:a16="http://schemas.microsoft.com/office/drawing/2014/main" id="{AA4FECE6-1284-41DF-AD57-AEFC311FFEFC}"/>
              </a:ext>
            </a:extLst>
          </p:cNvPr>
          <p:cNvSpPr>
            <a:spLocks xmlns:a="http://schemas.openxmlformats.org/drawingml/2006/main" noGrp="1"/>
          </p:cNvSpPr>
          <p:nvPr/>
        </p:nvSpPr>
        <p:spPr>
          <a:xfrm xmlns:a="http://schemas.openxmlformats.org/drawingml/2006/main">
            <a:off x="6381750" y="292417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pitch_angle</a:t>
            </a:r>
          </a:p>
        </p:txBody>
      </p:sp>
      <p:sp>
        <p:nvSpPr>
          <p:cNvPr id="50" name="s35-bus-meta-1">
            <a:extLst xmlns:a="http://schemas.openxmlformats.org/drawingml/2006/main">
              <a:ext uri="{FF2B5EF4-FFF2-40B4-BE49-F238E27FC236}">
                <a16:creationId xmlns:a16="http://schemas.microsoft.com/office/drawing/2014/main" id="{5C0F6D64-F17D-4ABD-AA7C-806D8BD82386}"/>
              </a:ext>
            </a:extLst>
          </p:cNvPr>
          <p:cNvSpPr>
            <a:spLocks xmlns:a="http://schemas.openxmlformats.org/drawingml/2006/main" noGrp="1"/>
          </p:cNvSpPr>
          <p:nvPr/>
        </p:nvSpPr>
        <p:spPr>
          <a:xfrm xmlns:a="http://schemas.openxmlformats.org/drawingml/2006/main">
            <a:off x="7896225" y="292417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deg</a:t>
            </a:r>
          </a:p>
        </p:txBody>
      </p:sp>
      <p:sp>
        <p:nvSpPr>
          <p:cNvPr id="51" name="s35-bus-desc-1">
            <a:extLst xmlns:a="http://schemas.openxmlformats.org/drawingml/2006/main">
              <a:ext uri="{FF2B5EF4-FFF2-40B4-BE49-F238E27FC236}">
                <a16:creationId xmlns:a16="http://schemas.microsoft.com/office/drawing/2014/main" id="{C9B9DFF4-AF25-4D45-AEF4-A5077E97486B}"/>
              </a:ext>
            </a:extLst>
          </p:cNvPr>
          <p:cNvSpPr>
            <a:spLocks xmlns:a="http://schemas.openxmlformats.org/drawingml/2006/main" noGrp="1"/>
          </p:cNvSpPr>
          <p:nvPr/>
        </p:nvSpPr>
        <p:spPr>
          <a:xfrm xmlns:a="http://schemas.openxmlformats.org/drawingml/2006/main">
            <a:off x="6381750" y="31527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Measured pitch attitude</a:t>
            </a:r>
          </a:p>
        </p:txBody>
      </p:sp>
      <p:sp>
        <p:nvSpPr>
          <p:cNvPr id="52" name="s35-bus-2">
            <a:extLst xmlns:a="http://schemas.openxmlformats.org/drawingml/2006/main">
              <a:ext uri="{FF2B5EF4-FFF2-40B4-BE49-F238E27FC236}">
                <a16:creationId xmlns:a16="http://schemas.microsoft.com/office/drawing/2014/main" id="{B7CC50DB-4AD9-447F-B6F4-F6701014552D}"/>
              </a:ext>
            </a:extLst>
          </p:cNvPr>
          <p:cNvSpPr>
            <a:spLocks xmlns:a="http://schemas.openxmlformats.org/drawingml/2006/main" noGrp="1"/>
          </p:cNvSpPr>
          <p:nvPr/>
        </p:nvSpPr>
        <p:spPr>
          <a:xfrm xmlns:a="http://schemas.openxmlformats.org/drawingml/2006/main">
            <a:off x="6248400" y="350520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53" name="s35-bus-name-2">
            <a:extLst xmlns:a="http://schemas.openxmlformats.org/drawingml/2006/main">
              <a:ext uri="{FF2B5EF4-FFF2-40B4-BE49-F238E27FC236}">
                <a16:creationId xmlns:a16="http://schemas.microsoft.com/office/drawing/2014/main" id="{751EC5E8-E082-4C6D-9C00-C1CA94CFB1BF}"/>
              </a:ext>
            </a:extLst>
          </p:cNvPr>
          <p:cNvSpPr>
            <a:spLocks xmlns:a="http://schemas.openxmlformats.org/drawingml/2006/main" noGrp="1"/>
          </p:cNvSpPr>
          <p:nvPr/>
        </p:nvSpPr>
        <p:spPr>
          <a:xfrm xmlns:a="http://schemas.openxmlformats.org/drawingml/2006/main">
            <a:off x="6381750" y="35433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mach</a:t>
            </a:r>
          </a:p>
        </p:txBody>
      </p:sp>
      <p:sp>
        <p:nvSpPr>
          <p:cNvPr id="54" name="s35-bus-meta-2">
            <a:extLst xmlns:a="http://schemas.openxmlformats.org/drawingml/2006/main">
              <a:ext uri="{FF2B5EF4-FFF2-40B4-BE49-F238E27FC236}">
                <a16:creationId xmlns:a16="http://schemas.microsoft.com/office/drawing/2014/main" id="{68B8D947-0325-4ECA-9355-C5E2D2AE05E3}"/>
              </a:ext>
            </a:extLst>
          </p:cNvPr>
          <p:cNvSpPr>
            <a:spLocks xmlns:a="http://schemas.openxmlformats.org/drawingml/2006/main" noGrp="1"/>
          </p:cNvSpPr>
          <p:nvPr/>
        </p:nvSpPr>
        <p:spPr>
          <a:xfrm xmlns:a="http://schemas.openxmlformats.org/drawingml/2006/main">
            <a:off x="7896225" y="35433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double • 1</a:t>
            </a:r>
          </a:p>
        </p:txBody>
      </p:sp>
      <p:sp>
        <p:nvSpPr>
          <p:cNvPr id="55" name="s35-bus-desc-2">
            <a:extLst xmlns:a="http://schemas.openxmlformats.org/drawingml/2006/main">
              <a:ext uri="{FF2B5EF4-FFF2-40B4-BE49-F238E27FC236}">
                <a16:creationId xmlns:a16="http://schemas.microsoft.com/office/drawing/2014/main" id="{AA8DF03E-B13B-49CB-85A3-17D65D4E62AE}"/>
              </a:ext>
            </a:extLst>
          </p:cNvPr>
          <p:cNvSpPr>
            <a:spLocks xmlns:a="http://schemas.openxmlformats.org/drawingml/2006/main" noGrp="1"/>
          </p:cNvSpPr>
          <p:nvPr/>
        </p:nvSpPr>
        <p:spPr>
          <a:xfrm xmlns:a="http://schemas.openxmlformats.org/drawingml/2006/main">
            <a:off x="6381750" y="3771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Illustrative Mach number</a:t>
            </a:r>
          </a:p>
        </p:txBody>
      </p:sp>
      <p:sp>
        <p:nvSpPr>
          <p:cNvPr id="56" name="s35-bus-3">
            <a:extLst xmlns:a="http://schemas.openxmlformats.org/drawingml/2006/main">
              <a:ext uri="{FF2B5EF4-FFF2-40B4-BE49-F238E27FC236}">
                <a16:creationId xmlns:a16="http://schemas.microsoft.com/office/drawing/2014/main" id="{520D100B-C964-4FA4-AB3D-4C829301A28A}"/>
              </a:ext>
            </a:extLst>
          </p:cNvPr>
          <p:cNvSpPr>
            <a:spLocks xmlns:a="http://schemas.openxmlformats.org/drawingml/2006/main" noGrp="1"/>
          </p:cNvSpPr>
          <p:nvPr/>
        </p:nvSpPr>
        <p:spPr>
          <a:xfrm xmlns:a="http://schemas.openxmlformats.org/drawingml/2006/main">
            <a:off x="6248400" y="4124325"/>
            <a:ext cx="5257800" cy="523875"/>
          </a:xfrm>
          <a:prstGeom xmlns:a="http://schemas.openxmlformats.org/drawingml/2006/main" prst="roundRect">
            <a:avLst>
              <a:gd name="adj" fmla="val 21818"/>
            </a:avLst>
          </a:prstGeom>
          <a:solidFill xmlns:a="http://schemas.openxmlformats.org/drawingml/2006/main">
            <a:srgbClr val="DFF6F8"/>
          </a:solidFill>
          <a:ln xmlns:a="http://schemas.openxmlformats.org/drawingml/2006/main" w="9525">
            <a:solidFill>
              <a:srgbClr val="C9D8E3"/>
            </a:solidFill>
            <a:prstDash val="solid"/>
          </a:ln>
        </p:spPr>
      </p:sp>
      <p:sp>
        <p:nvSpPr>
          <p:cNvPr id="57" name="s35-bus-name-3">
            <a:extLst xmlns:a="http://schemas.openxmlformats.org/drawingml/2006/main">
              <a:ext uri="{FF2B5EF4-FFF2-40B4-BE49-F238E27FC236}">
                <a16:creationId xmlns:a16="http://schemas.microsoft.com/office/drawing/2014/main" id="{99FC99E8-A288-436B-BD16-B3CC9371AC5F}"/>
              </a:ext>
            </a:extLst>
          </p:cNvPr>
          <p:cNvSpPr>
            <a:spLocks xmlns:a="http://schemas.openxmlformats.org/drawingml/2006/main" noGrp="1"/>
          </p:cNvSpPr>
          <p:nvPr/>
        </p:nvSpPr>
        <p:spPr>
          <a:xfrm xmlns:a="http://schemas.openxmlformats.org/drawingml/2006/main">
            <a:off x="6381750" y="41624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air_data_valid</a:t>
            </a:r>
          </a:p>
        </p:txBody>
      </p:sp>
      <p:sp>
        <p:nvSpPr>
          <p:cNvPr id="58" name="s35-bus-meta-3">
            <a:extLst xmlns:a="http://schemas.openxmlformats.org/drawingml/2006/main">
              <a:ext uri="{FF2B5EF4-FFF2-40B4-BE49-F238E27FC236}">
                <a16:creationId xmlns:a16="http://schemas.microsoft.com/office/drawing/2014/main" id="{3489597D-FE42-4CB3-8D73-42FEBAC42E67}"/>
              </a:ext>
            </a:extLst>
          </p:cNvPr>
          <p:cNvSpPr>
            <a:spLocks xmlns:a="http://schemas.openxmlformats.org/drawingml/2006/main" noGrp="1"/>
          </p:cNvSpPr>
          <p:nvPr/>
        </p:nvSpPr>
        <p:spPr>
          <a:xfrm xmlns:a="http://schemas.openxmlformats.org/drawingml/2006/main">
            <a:off x="7896225" y="41624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boolean • 1</a:t>
            </a:r>
          </a:p>
        </p:txBody>
      </p:sp>
      <p:sp>
        <p:nvSpPr>
          <p:cNvPr id="59" name="s35-bus-desc-3">
            <a:extLst xmlns:a="http://schemas.openxmlformats.org/drawingml/2006/main">
              <a:ext uri="{FF2B5EF4-FFF2-40B4-BE49-F238E27FC236}">
                <a16:creationId xmlns:a16="http://schemas.microsoft.com/office/drawing/2014/main" id="{6E1C1701-4D80-499D-BA52-26BD95F29C34}"/>
              </a:ext>
            </a:extLst>
          </p:cNvPr>
          <p:cNvSpPr>
            <a:spLocks xmlns:a="http://schemas.openxmlformats.org/drawingml/2006/main" noGrp="1"/>
          </p:cNvSpPr>
          <p:nvPr/>
        </p:nvSpPr>
        <p:spPr>
          <a:xfrm xmlns:a="http://schemas.openxmlformats.org/drawingml/2006/main">
            <a:off x="6381750" y="439102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Validity flag</a:t>
            </a:r>
          </a:p>
        </p:txBody>
      </p:sp>
      <p:sp>
        <p:nvSpPr>
          <p:cNvPr id="60" name="s35-bus-4">
            <a:extLst xmlns:a="http://schemas.openxmlformats.org/drawingml/2006/main">
              <a:ext uri="{FF2B5EF4-FFF2-40B4-BE49-F238E27FC236}">
                <a16:creationId xmlns:a16="http://schemas.microsoft.com/office/drawing/2014/main" id="{4FA529C5-888B-4540-A725-70B516BA6C34}"/>
              </a:ext>
            </a:extLst>
          </p:cNvPr>
          <p:cNvSpPr>
            <a:spLocks xmlns:a="http://schemas.openxmlformats.org/drawingml/2006/main" noGrp="1"/>
          </p:cNvSpPr>
          <p:nvPr/>
        </p:nvSpPr>
        <p:spPr>
          <a:xfrm xmlns:a="http://schemas.openxmlformats.org/drawingml/2006/main">
            <a:off x="6248400" y="474345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61" name="s35-bus-name-4">
            <a:extLst xmlns:a="http://schemas.openxmlformats.org/drawingml/2006/main">
              <a:ext uri="{FF2B5EF4-FFF2-40B4-BE49-F238E27FC236}">
                <a16:creationId xmlns:a16="http://schemas.microsoft.com/office/drawing/2014/main" id="{7611D67E-E6D7-435D-BAF0-25CB872A8854}"/>
              </a:ext>
            </a:extLst>
          </p:cNvPr>
          <p:cNvSpPr>
            <a:spLocks xmlns:a="http://schemas.openxmlformats.org/drawingml/2006/main" noGrp="1"/>
          </p:cNvSpPr>
          <p:nvPr/>
        </p:nvSpPr>
        <p:spPr>
          <a:xfrm xmlns:a="http://schemas.openxmlformats.org/drawingml/2006/main">
            <a:off x="6381750" y="47815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40" b="1">
                <a:solidFill>
                  <a:srgbClr val="20B7C5"/>
                </a:solidFill>
                <a:latin typeface="Aptos"/>
                <a:ea typeface="Aptos"/>
                <a:cs typeface="Aptos"/>
              </a:defRPr>
            </a:pPr>
            <a:r>
              <a:rPr sz="1140" b="1">
                <a:solidFill>
                  <a:srgbClr val="20B7C5"/>
                </a:solidFill>
                <a:latin typeface="Aptos"/>
                <a:ea typeface="Aptos"/>
                <a:cs typeface="Aptos"/>
              </a:rPr>
              <a:t>mode</a:t>
            </a:r>
          </a:p>
        </p:txBody>
      </p:sp>
      <p:sp>
        <p:nvSpPr>
          <p:cNvPr id="62" name="s35-bus-meta-4">
            <a:extLst xmlns:a="http://schemas.openxmlformats.org/drawingml/2006/main">
              <a:ext uri="{FF2B5EF4-FFF2-40B4-BE49-F238E27FC236}">
                <a16:creationId xmlns:a16="http://schemas.microsoft.com/office/drawing/2014/main" id="{3B366A71-08CE-4B3F-BAE7-4C84147BD8A1}"/>
              </a:ext>
            </a:extLst>
          </p:cNvPr>
          <p:cNvSpPr>
            <a:spLocks xmlns:a="http://schemas.openxmlformats.org/drawingml/2006/main" noGrp="1"/>
          </p:cNvSpPr>
          <p:nvPr/>
        </p:nvSpPr>
        <p:spPr>
          <a:xfrm xmlns:a="http://schemas.openxmlformats.org/drawingml/2006/main">
            <a:off x="7896225" y="47815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065" b="1">
                <a:solidFill>
                  <a:srgbClr val="0B1F33"/>
                </a:solidFill>
                <a:latin typeface="Aptos"/>
                <a:ea typeface="Aptos"/>
                <a:cs typeface="Aptos"/>
              </a:defRPr>
            </a:pPr>
            <a:r>
              <a:rPr sz="1065" b="1">
                <a:solidFill>
                  <a:srgbClr val="0B1F33"/>
                </a:solidFill>
                <a:latin typeface="Aptos"/>
                <a:ea typeface="Aptos"/>
                <a:cs typeface="Aptos"/>
              </a:rPr>
              <a:t>uint8 • 1</a:t>
            </a:r>
          </a:p>
        </p:txBody>
      </p:sp>
      <p:sp>
        <p:nvSpPr>
          <p:cNvPr id="63" name="s35-bus-desc-4">
            <a:extLst xmlns:a="http://schemas.openxmlformats.org/drawingml/2006/main">
              <a:ext uri="{FF2B5EF4-FFF2-40B4-BE49-F238E27FC236}">
                <a16:creationId xmlns:a16="http://schemas.microsoft.com/office/drawing/2014/main" id="{C1802BCA-7075-46CF-AB6C-2179A6E41560}"/>
              </a:ext>
            </a:extLst>
          </p:cNvPr>
          <p:cNvSpPr>
            <a:spLocks xmlns:a="http://schemas.openxmlformats.org/drawingml/2006/main" noGrp="1"/>
          </p:cNvSpPr>
          <p:nvPr/>
        </p:nvSpPr>
        <p:spPr>
          <a:xfrm xmlns:a="http://schemas.openxmlformats.org/drawingml/2006/main">
            <a:off x="6381750" y="5010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35" b="1">
                <a:solidFill>
                  <a:srgbClr val="17324A"/>
                </a:solidFill>
                <a:latin typeface="Aptos"/>
                <a:ea typeface="Aptos"/>
                <a:cs typeface="Aptos"/>
              </a:defRPr>
            </a:pPr>
            <a:r>
              <a:rPr sz="1035" b="1">
                <a:solidFill>
                  <a:srgbClr val="17324A"/>
                </a:solidFill>
                <a:latin typeface="Aptos"/>
                <a:ea typeface="Aptos"/>
                <a:cs typeface="Aptos"/>
              </a:rPr>
              <a:t>0 OFF • 1 ARMED • 2 ENGAGED • 3 DEGRADED</a:t>
            </a:r>
          </a:p>
        </p:txBody>
      </p:sp>
      <p:sp>
        <p:nvSpPr>
          <p:cNvPr id="64" name="s35-takeaway">
            <a:extLst xmlns:a="http://schemas.openxmlformats.org/drawingml/2006/main">
              <a:ext uri="{FF2B5EF4-FFF2-40B4-BE49-F238E27FC236}">
                <a16:creationId xmlns:a16="http://schemas.microsoft.com/office/drawing/2014/main" id="{26A3611A-5504-49CD-8B79-E0AEE17A951D}"/>
              </a:ext>
            </a:extLst>
          </p:cNvPr>
          <p:cNvSpPr>
            <a:spLocks xmlns:a="http://schemas.openxmlformats.org/drawingml/2006/main" noGrp="1"/>
          </p:cNvSpPr>
          <p:nvPr/>
        </p:nvSpPr>
        <p:spPr>
          <a:xfrm xmlns:a="http://schemas.openxmlformats.org/drawingml/2006/main">
            <a:off x="685800" y="5543550"/>
            <a:ext cx="10820400" cy="533400"/>
          </a:xfrm>
          <a:prstGeom xmlns:a="http://schemas.openxmlformats.org/drawingml/2006/main" prst="roundRect">
            <a:avLst>
              <a:gd name="adj" fmla="val 21429"/>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50" b="1">
                <a:solidFill>
                  <a:srgbClr val="0B1F33"/>
                </a:solidFill>
                <a:latin typeface="Aptos"/>
                <a:ea typeface="Aptos"/>
                <a:cs typeface="Aptos"/>
              </a:defRPr>
            </a:pPr>
            <a:r>
              <a:rPr sz="1350" b="1">
                <a:solidFill>
                  <a:srgbClr val="0B1F33"/>
                </a:solidFill>
                <a:latin typeface="Aptos"/>
                <a:ea typeface="Aptos"/>
                <a:cs typeface="Aptos"/>
              </a:rPr>
              <a:t>Explicit units, types, dimensions, ranges, validity, and ownership make integration predictable—and reviewable.</a:t>
            </a:r>
          </a:p>
        </p:txBody>
      </p:sp>
    </p:spTree>
    <p:extLst>
      <p:ext uri="{BB962C8B-B14F-4D97-AF65-F5344CB8AC3E}">
        <p14:creationId xmlns:p14="http://schemas.microsoft.com/office/powerpoint/2010/main" val="786167458"/>
      </p:ext>
    </p:extLst>
  </p:cSld>
</p:sld>
</file>

<file path=ppt/slides/slide4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36</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4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37</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166"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67"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68"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69"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70"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4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38</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138"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139"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140"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41"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4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FFFFFF"/>
                </a:solidFill>
                <a:latin typeface="Aptos"/>
                <a:ea typeface="Aptos"/>
                <a:cs typeface="Aptos"/>
              </a:defRPr>
            </a:pPr>
            <a:r>
              <a:rPr sz="2850" b="1" i="0">
                <a:solidFill>
                  <a:srgbClr val="FFFFFF"/>
                </a:solidFill>
                <a:latin typeface="Aptos"/>
                <a:ea typeface="Aptos"/>
                <a:cs typeface="Aptos"/>
              </a:rPr>
              <a:t>MIL, SIL, PIL, HIL, bench, and system integration are distinct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39</a:t>
            </a:r>
          </a:p>
        </p:txBody>
      </p:sp>
      <p:sp>
        <p:nvSpPr>
          <p:cNvPr id="18" name="s39-card-0">
            <a:extLst xmlns:a="http://schemas.openxmlformats.org/drawingml/2006/main">
              <a:ext uri="{FF2B5EF4-FFF2-40B4-BE49-F238E27FC236}">
                <a16:creationId xmlns:a16="http://schemas.microsoft.com/office/drawing/2014/main" id="{4B3CFF97-D94C-4C55-8AEB-DA012DD4FF3F}"/>
              </a:ext>
            </a:extLst>
          </p:cNvPr>
          <p:cNvSpPr>
            <a:spLocks xmlns:a="http://schemas.openxmlformats.org/drawingml/2006/main" noGrp="1"/>
          </p:cNvSpPr>
          <p:nvPr/>
        </p:nvSpPr>
        <p:spPr>
          <a:xfrm xmlns:a="http://schemas.openxmlformats.org/drawingml/2006/main">
            <a:off x="685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CA56F"/>
            </a:solidFill>
            <a:prstDash val="solid"/>
          </a:ln>
        </p:spPr>
      </p:sp>
      <p:sp>
        <p:nvSpPr>
          <p:cNvPr id="19" name="s39-title-0">
            <a:extLst xmlns:a="http://schemas.openxmlformats.org/drawingml/2006/main">
              <a:ext uri="{FF2B5EF4-FFF2-40B4-BE49-F238E27FC236}">
                <a16:creationId xmlns:a16="http://schemas.microsoft.com/office/drawing/2014/main" id="{36B58256-0468-447C-ABB9-23FBB85427E7}"/>
              </a:ext>
            </a:extLst>
          </p:cNvPr>
          <p:cNvSpPr>
            <a:spLocks xmlns:a="http://schemas.openxmlformats.org/drawingml/2006/main" noGrp="1"/>
          </p:cNvSpPr>
          <p:nvPr/>
        </p:nvSpPr>
        <p:spPr>
          <a:xfrm xmlns:a="http://schemas.openxmlformats.org/drawingml/2006/main">
            <a:off x="857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CA56F"/>
                </a:solidFill>
                <a:latin typeface="Aptos"/>
                <a:ea typeface="Aptos"/>
                <a:cs typeface="Aptos"/>
              </a:defRPr>
            </a:pPr>
            <a:r>
              <a:rPr sz="1575" b="1">
                <a:solidFill>
                  <a:srgbClr val="2CA56F"/>
                </a:solidFill>
                <a:latin typeface="Aptos"/>
                <a:ea typeface="Aptos"/>
                <a:cs typeface="Aptos"/>
              </a:rPr>
              <a:t>MIL</a:t>
            </a:r>
          </a:p>
        </p:txBody>
      </p:sp>
      <p:sp>
        <p:nvSpPr>
          <p:cNvPr id="20" name="s39-body-0">
            <a:extLst xmlns:a="http://schemas.openxmlformats.org/drawingml/2006/main">
              <a:ext uri="{FF2B5EF4-FFF2-40B4-BE49-F238E27FC236}">
                <a16:creationId xmlns:a16="http://schemas.microsoft.com/office/drawing/2014/main" id="{8B41761A-9AB4-42F0-9883-29D006566A17}"/>
              </a:ext>
            </a:extLst>
          </p:cNvPr>
          <p:cNvSpPr>
            <a:spLocks xmlns:a="http://schemas.openxmlformats.org/drawingml/2006/main" noGrp="1"/>
          </p:cNvSpPr>
          <p:nvPr/>
        </p:nvSpPr>
        <p:spPr>
          <a:xfrm xmlns:a="http://schemas.openxmlformats.org/drawingml/2006/main">
            <a:off x="857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Model/control logic executes with model plant or model environment.</a:t>
            </a:r>
          </a:p>
        </p:txBody>
      </p:sp>
      <p:sp>
        <p:nvSpPr>
          <p:cNvPr id="21" name="s39-status-0">
            <a:extLst xmlns:a="http://schemas.openxmlformats.org/drawingml/2006/main">
              <a:ext uri="{FF2B5EF4-FFF2-40B4-BE49-F238E27FC236}">
                <a16:creationId xmlns:a16="http://schemas.microsoft.com/office/drawing/2014/main" id="{26745AB3-709D-4CD7-8D94-631DF79B3945}"/>
              </a:ext>
            </a:extLst>
          </p:cNvPr>
          <p:cNvSpPr>
            <a:spLocks xmlns:a="http://schemas.openxmlformats.org/drawingml/2006/main" noGrp="1"/>
          </p:cNvSpPr>
          <p:nvPr/>
        </p:nvSpPr>
        <p:spPr>
          <a:xfrm xmlns:a="http://schemas.openxmlformats.org/drawingml/2006/main">
            <a:off x="971550" y="2800350"/>
            <a:ext cx="2781300" cy="304800"/>
          </a:xfrm>
          <a:prstGeom xmlns:a="http://schemas.openxmlformats.org/drawingml/2006/main" prst="roundRect">
            <a:avLst>
              <a:gd name="adj" fmla="val 37500"/>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EXECUTED HERE</a:t>
            </a:r>
          </a:p>
        </p:txBody>
      </p:sp>
      <p:sp>
        <p:nvSpPr>
          <p:cNvPr id="22" name="s39-card-1">
            <a:extLst xmlns:a="http://schemas.openxmlformats.org/drawingml/2006/main">
              <a:ext uri="{FF2B5EF4-FFF2-40B4-BE49-F238E27FC236}">
                <a16:creationId xmlns:a16="http://schemas.microsoft.com/office/drawing/2014/main" id="{406EECAD-CF2C-4696-BFB1-B5ECCA5A20FF}"/>
              </a:ext>
            </a:extLst>
          </p:cNvPr>
          <p:cNvSpPr>
            <a:spLocks xmlns:a="http://schemas.openxmlformats.org/drawingml/2006/main" noGrp="1"/>
          </p:cNvSpPr>
          <p:nvPr/>
        </p:nvSpPr>
        <p:spPr>
          <a:xfrm xmlns:a="http://schemas.openxmlformats.org/drawingml/2006/main">
            <a:off x="43053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D6CDF"/>
            </a:solidFill>
            <a:prstDash val="solid"/>
          </a:ln>
        </p:spPr>
      </p:sp>
      <p:sp>
        <p:nvSpPr>
          <p:cNvPr id="23" name="s39-title-1">
            <a:extLst xmlns:a="http://schemas.openxmlformats.org/drawingml/2006/main">
              <a:ext uri="{FF2B5EF4-FFF2-40B4-BE49-F238E27FC236}">
                <a16:creationId xmlns:a16="http://schemas.microsoft.com/office/drawing/2014/main" id="{AA95DF90-C831-4F0E-A0C8-B854C2B3CCD0}"/>
              </a:ext>
            </a:extLst>
          </p:cNvPr>
          <p:cNvSpPr>
            <a:spLocks xmlns:a="http://schemas.openxmlformats.org/drawingml/2006/main" noGrp="1"/>
          </p:cNvSpPr>
          <p:nvPr/>
        </p:nvSpPr>
        <p:spPr>
          <a:xfrm xmlns:a="http://schemas.openxmlformats.org/drawingml/2006/main">
            <a:off x="44767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D6CDF"/>
                </a:solidFill>
                <a:latin typeface="Aptos"/>
                <a:ea typeface="Aptos"/>
                <a:cs typeface="Aptos"/>
              </a:defRPr>
            </a:pPr>
            <a:r>
              <a:rPr sz="1575" b="1">
                <a:solidFill>
                  <a:srgbClr val="2D6CDF"/>
                </a:solidFill>
                <a:latin typeface="Aptos"/>
                <a:ea typeface="Aptos"/>
                <a:cs typeface="Aptos"/>
              </a:rPr>
              <a:t>SIL</a:t>
            </a:r>
          </a:p>
        </p:txBody>
      </p:sp>
      <p:sp>
        <p:nvSpPr>
          <p:cNvPr id="24" name="s39-body-1">
            <a:extLst xmlns:a="http://schemas.openxmlformats.org/drawingml/2006/main">
              <a:ext uri="{FF2B5EF4-FFF2-40B4-BE49-F238E27FC236}">
                <a16:creationId xmlns:a16="http://schemas.microsoft.com/office/drawing/2014/main" id="{D1901D99-71B2-4F55-B7AB-BBDD5603CF69}"/>
              </a:ext>
            </a:extLst>
          </p:cNvPr>
          <p:cNvSpPr>
            <a:spLocks xmlns:a="http://schemas.openxmlformats.org/drawingml/2006/main" noGrp="1"/>
          </p:cNvSpPr>
          <p:nvPr/>
        </p:nvSpPr>
        <p:spPr>
          <a:xfrm xmlns:a="http://schemas.openxmlformats.org/drawingml/2006/main">
            <a:off x="44767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software executes on the host using a software build.</a:t>
            </a:r>
          </a:p>
        </p:txBody>
      </p:sp>
      <p:sp>
        <p:nvSpPr>
          <p:cNvPr id="25" name="s39-status-1">
            <a:extLst xmlns:a="http://schemas.openxmlformats.org/drawingml/2006/main">
              <a:ext uri="{FF2B5EF4-FFF2-40B4-BE49-F238E27FC236}">
                <a16:creationId xmlns:a16="http://schemas.microsoft.com/office/drawing/2014/main" id="{6E4698EF-CCFC-4318-A5D6-BD47AE9BA43D}"/>
              </a:ext>
            </a:extLst>
          </p:cNvPr>
          <p:cNvSpPr>
            <a:spLocks xmlns:a="http://schemas.openxmlformats.org/drawingml/2006/main" noGrp="1"/>
          </p:cNvSpPr>
          <p:nvPr/>
        </p:nvSpPr>
        <p:spPr>
          <a:xfrm xmlns:a="http://schemas.openxmlformats.org/drawingml/2006/main">
            <a:off x="4591050" y="2800350"/>
            <a:ext cx="2781300" cy="304800"/>
          </a:xfrm>
          <a:prstGeom xmlns:a="http://schemas.openxmlformats.org/drawingml/2006/main" prst="roundRect">
            <a:avLst>
              <a:gd name="adj" fmla="val 3750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26" name="s39-card-2">
            <a:extLst xmlns:a="http://schemas.openxmlformats.org/drawingml/2006/main">
              <a:ext uri="{FF2B5EF4-FFF2-40B4-BE49-F238E27FC236}">
                <a16:creationId xmlns:a16="http://schemas.microsoft.com/office/drawing/2014/main" id="{736915CD-3F41-4D94-AD1C-41BF130381A0}"/>
              </a:ext>
            </a:extLst>
          </p:cNvPr>
          <p:cNvSpPr>
            <a:spLocks xmlns:a="http://schemas.openxmlformats.org/drawingml/2006/main" noGrp="1"/>
          </p:cNvSpPr>
          <p:nvPr/>
        </p:nvSpPr>
        <p:spPr>
          <a:xfrm xmlns:a="http://schemas.openxmlformats.org/drawingml/2006/main">
            <a:off x="7924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E9A23B"/>
            </a:solidFill>
            <a:prstDash val="solid"/>
          </a:ln>
        </p:spPr>
      </p:sp>
      <p:sp>
        <p:nvSpPr>
          <p:cNvPr id="27" name="s39-title-2">
            <a:extLst xmlns:a="http://schemas.openxmlformats.org/drawingml/2006/main">
              <a:ext uri="{FF2B5EF4-FFF2-40B4-BE49-F238E27FC236}">
                <a16:creationId xmlns:a16="http://schemas.microsoft.com/office/drawing/2014/main" id="{C2EA5C53-EB61-444E-8633-FCE3197CC7FC}"/>
              </a:ext>
            </a:extLst>
          </p:cNvPr>
          <p:cNvSpPr>
            <a:spLocks xmlns:a="http://schemas.openxmlformats.org/drawingml/2006/main" noGrp="1"/>
          </p:cNvSpPr>
          <p:nvPr/>
        </p:nvSpPr>
        <p:spPr>
          <a:xfrm xmlns:a="http://schemas.openxmlformats.org/drawingml/2006/main">
            <a:off x="8096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E9A23B"/>
                </a:solidFill>
                <a:latin typeface="Aptos"/>
                <a:ea typeface="Aptos"/>
                <a:cs typeface="Aptos"/>
              </a:defRPr>
            </a:pPr>
            <a:r>
              <a:rPr sz="1575" b="1">
                <a:solidFill>
                  <a:srgbClr val="E9A23B"/>
                </a:solidFill>
                <a:latin typeface="Aptos"/>
                <a:ea typeface="Aptos"/>
                <a:cs typeface="Aptos"/>
              </a:rPr>
              <a:t>PIL</a:t>
            </a:r>
          </a:p>
        </p:txBody>
      </p:sp>
      <p:sp>
        <p:nvSpPr>
          <p:cNvPr id="28" name="s39-body-2">
            <a:extLst xmlns:a="http://schemas.openxmlformats.org/drawingml/2006/main">
              <a:ext uri="{FF2B5EF4-FFF2-40B4-BE49-F238E27FC236}">
                <a16:creationId xmlns:a16="http://schemas.microsoft.com/office/drawing/2014/main" id="{E5C4E9A0-591C-43D6-8C19-8515EBE0D260}"/>
              </a:ext>
            </a:extLst>
          </p:cNvPr>
          <p:cNvSpPr>
            <a:spLocks xmlns:a="http://schemas.openxmlformats.org/drawingml/2006/main" noGrp="1"/>
          </p:cNvSpPr>
          <p:nvPr/>
        </p:nvSpPr>
        <p:spPr>
          <a:xfrm xmlns:a="http://schemas.openxmlformats.org/drawingml/2006/main">
            <a:off x="8096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code executes on a target processor or representative processor.</a:t>
            </a:r>
          </a:p>
        </p:txBody>
      </p:sp>
      <p:sp>
        <p:nvSpPr>
          <p:cNvPr id="29" name="s39-status-2">
            <a:extLst xmlns:a="http://schemas.openxmlformats.org/drawingml/2006/main">
              <a:ext uri="{FF2B5EF4-FFF2-40B4-BE49-F238E27FC236}">
                <a16:creationId xmlns:a16="http://schemas.microsoft.com/office/drawing/2014/main" id="{138BB933-6077-4734-B082-E7D721676F13}"/>
              </a:ext>
            </a:extLst>
          </p:cNvPr>
          <p:cNvSpPr>
            <a:spLocks xmlns:a="http://schemas.openxmlformats.org/drawingml/2006/main" noGrp="1"/>
          </p:cNvSpPr>
          <p:nvPr/>
        </p:nvSpPr>
        <p:spPr>
          <a:xfrm xmlns:a="http://schemas.openxmlformats.org/drawingml/2006/main">
            <a:off x="8210550" y="2800350"/>
            <a:ext cx="2781300" cy="304800"/>
          </a:xfrm>
          <a:prstGeom xmlns:a="http://schemas.openxmlformats.org/drawingml/2006/main" prst="roundRect">
            <a:avLst>
              <a:gd name="adj" fmla="val 37500"/>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AUTOMATICALLY UNIT TESTING</a:t>
            </a:r>
          </a:p>
        </p:txBody>
      </p:sp>
      <p:sp>
        <p:nvSpPr>
          <p:cNvPr id="30" name="s39-card-3">
            <a:extLst xmlns:a="http://schemas.openxmlformats.org/drawingml/2006/main">
              <a:ext uri="{FF2B5EF4-FFF2-40B4-BE49-F238E27FC236}">
                <a16:creationId xmlns:a16="http://schemas.microsoft.com/office/drawing/2014/main" id="{4E78FC0E-332C-46ED-B61E-B7505F9CA625}"/>
              </a:ext>
            </a:extLst>
          </p:cNvPr>
          <p:cNvSpPr>
            <a:spLocks xmlns:a="http://schemas.openxmlformats.org/drawingml/2006/main" noGrp="1"/>
          </p:cNvSpPr>
          <p:nvPr/>
        </p:nvSpPr>
        <p:spPr>
          <a:xfrm xmlns:a="http://schemas.openxmlformats.org/drawingml/2006/main">
            <a:off x="685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D75A64"/>
            </a:solidFill>
            <a:prstDash val="solid"/>
          </a:ln>
        </p:spPr>
      </p:sp>
      <p:sp>
        <p:nvSpPr>
          <p:cNvPr id="31" name="s39-title-3">
            <a:extLst xmlns:a="http://schemas.openxmlformats.org/drawingml/2006/main">
              <a:ext uri="{FF2B5EF4-FFF2-40B4-BE49-F238E27FC236}">
                <a16:creationId xmlns:a16="http://schemas.microsoft.com/office/drawing/2014/main" id="{D5427986-53CA-44CD-BCD2-0D00488D2A5C}"/>
              </a:ext>
            </a:extLst>
          </p:cNvPr>
          <p:cNvSpPr>
            <a:spLocks xmlns:a="http://schemas.openxmlformats.org/drawingml/2006/main" noGrp="1"/>
          </p:cNvSpPr>
          <p:nvPr/>
        </p:nvSpPr>
        <p:spPr>
          <a:xfrm xmlns:a="http://schemas.openxmlformats.org/drawingml/2006/main">
            <a:off x="857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D75A64"/>
                </a:solidFill>
                <a:latin typeface="Aptos"/>
                <a:ea typeface="Aptos"/>
                <a:cs typeface="Aptos"/>
              </a:defRPr>
            </a:pPr>
            <a:r>
              <a:rPr sz="1575" b="1">
                <a:solidFill>
                  <a:srgbClr val="D75A64"/>
                </a:solidFill>
                <a:latin typeface="Aptos"/>
                <a:ea typeface="Aptos"/>
                <a:cs typeface="Aptos"/>
              </a:rPr>
              <a:t>HIL</a:t>
            </a:r>
          </a:p>
        </p:txBody>
      </p:sp>
      <p:sp>
        <p:nvSpPr>
          <p:cNvPr id="32" name="s39-body-3">
            <a:extLst xmlns:a="http://schemas.openxmlformats.org/drawingml/2006/main">
              <a:ext uri="{FF2B5EF4-FFF2-40B4-BE49-F238E27FC236}">
                <a16:creationId xmlns:a16="http://schemas.microsoft.com/office/drawing/2014/main" id="{7DE9B7C7-2A4B-4E1D-8785-951D9CD25418}"/>
              </a:ext>
            </a:extLst>
          </p:cNvPr>
          <p:cNvSpPr>
            <a:spLocks xmlns:a="http://schemas.openxmlformats.org/drawingml/2006/main" noGrp="1"/>
          </p:cNvSpPr>
          <p:nvPr/>
        </p:nvSpPr>
        <p:spPr>
          <a:xfrm xmlns:a="http://schemas.openxmlformats.org/drawingml/2006/main">
            <a:off x="857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Real controller/target hardware + real-time plant + physical I/O.</a:t>
            </a:r>
          </a:p>
        </p:txBody>
      </p:sp>
      <p:sp>
        <p:nvSpPr>
          <p:cNvPr id="33" name="s39-status-3">
            <a:extLst xmlns:a="http://schemas.openxmlformats.org/drawingml/2006/main">
              <a:ext uri="{FF2B5EF4-FFF2-40B4-BE49-F238E27FC236}">
                <a16:creationId xmlns:a16="http://schemas.microsoft.com/office/drawing/2014/main" id="{6A3BFF40-F7BA-49F6-8AA9-02FC269D9245}"/>
              </a:ext>
            </a:extLst>
          </p:cNvPr>
          <p:cNvSpPr>
            <a:spLocks xmlns:a="http://schemas.openxmlformats.org/drawingml/2006/main" noGrp="1"/>
          </p:cNvSpPr>
          <p:nvPr/>
        </p:nvSpPr>
        <p:spPr>
          <a:xfrm xmlns:a="http://schemas.openxmlformats.org/drawingml/2006/main">
            <a:off x="971550" y="4848225"/>
            <a:ext cx="2781300" cy="304800"/>
          </a:xfrm>
          <a:prstGeom xmlns:a="http://schemas.openxmlformats.org/drawingml/2006/main" prst="roundRect">
            <a:avLst>
              <a:gd name="adj" fmla="val 37500"/>
            </a:avLst>
          </a:prstGeom>
          <a:solidFill xmlns:a="http://schemas.openxmlformats.org/drawingml/2006/main">
            <a:srgbClr val="FBE7E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4" name="s39-card-4">
            <a:extLst xmlns:a="http://schemas.openxmlformats.org/drawingml/2006/main">
              <a:ext uri="{FF2B5EF4-FFF2-40B4-BE49-F238E27FC236}">
                <a16:creationId xmlns:a16="http://schemas.microsoft.com/office/drawing/2014/main" id="{88B38B77-BEA4-460A-A99E-7BA3B14C90C1}"/>
              </a:ext>
            </a:extLst>
          </p:cNvPr>
          <p:cNvSpPr>
            <a:spLocks xmlns:a="http://schemas.openxmlformats.org/drawingml/2006/main" noGrp="1"/>
          </p:cNvSpPr>
          <p:nvPr/>
        </p:nvSpPr>
        <p:spPr>
          <a:xfrm xmlns:a="http://schemas.openxmlformats.org/drawingml/2006/main">
            <a:off x="43053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0B7C5"/>
            </a:solidFill>
            <a:prstDash val="solid"/>
          </a:ln>
        </p:spPr>
      </p:sp>
      <p:sp>
        <p:nvSpPr>
          <p:cNvPr id="35" name="s39-title-4">
            <a:extLst xmlns:a="http://schemas.openxmlformats.org/drawingml/2006/main">
              <a:ext uri="{FF2B5EF4-FFF2-40B4-BE49-F238E27FC236}">
                <a16:creationId xmlns:a16="http://schemas.microsoft.com/office/drawing/2014/main" id="{80BB881B-12C0-4BB9-A593-58D89A559742}"/>
              </a:ext>
            </a:extLst>
          </p:cNvPr>
          <p:cNvSpPr>
            <a:spLocks xmlns:a="http://schemas.openxmlformats.org/drawingml/2006/main" noGrp="1"/>
          </p:cNvSpPr>
          <p:nvPr/>
        </p:nvSpPr>
        <p:spPr>
          <a:xfrm xmlns:a="http://schemas.openxmlformats.org/drawingml/2006/main">
            <a:off x="44767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0B7C5"/>
                </a:solidFill>
                <a:latin typeface="Aptos"/>
                <a:ea typeface="Aptos"/>
                <a:cs typeface="Aptos"/>
              </a:defRPr>
            </a:pPr>
            <a:r>
              <a:rPr sz="1575" b="1">
                <a:solidFill>
                  <a:srgbClr val="20B7C5"/>
                </a:solidFill>
                <a:latin typeface="Aptos"/>
                <a:ea typeface="Aptos"/>
                <a:cs typeface="Aptos"/>
              </a:rPr>
              <a:t>BENCH</a:t>
            </a:r>
          </a:p>
        </p:txBody>
      </p:sp>
      <p:sp>
        <p:nvSpPr>
          <p:cNvPr id="36" name="s39-body-4">
            <a:extLst xmlns:a="http://schemas.openxmlformats.org/drawingml/2006/main">
              <a:ext uri="{FF2B5EF4-FFF2-40B4-BE49-F238E27FC236}">
                <a16:creationId xmlns:a16="http://schemas.microsoft.com/office/drawing/2014/main" id="{3C276CA7-5B65-431A-9336-EFA169D9DD54}"/>
              </a:ext>
            </a:extLst>
          </p:cNvPr>
          <p:cNvSpPr>
            <a:spLocks xmlns:a="http://schemas.openxmlformats.org/drawingml/2006/main" noGrp="1"/>
          </p:cNvSpPr>
          <p:nvPr/>
        </p:nvSpPr>
        <p:spPr>
          <a:xfrm xmlns:a="http://schemas.openxmlformats.org/drawingml/2006/main">
            <a:off x="44767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Hardware subsystem with instrumentation, loads, and controlled stimuli.</a:t>
            </a:r>
          </a:p>
        </p:txBody>
      </p:sp>
      <p:sp>
        <p:nvSpPr>
          <p:cNvPr id="37" name="s39-status-4">
            <a:extLst xmlns:a="http://schemas.openxmlformats.org/drawingml/2006/main">
              <a:ext uri="{FF2B5EF4-FFF2-40B4-BE49-F238E27FC236}">
                <a16:creationId xmlns:a16="http://schemas.microsoft.com/office/drawing/2014/main" id="{35BFD700-BBCE-4CB0-ADC1-6DA8DBEC6CA0}"/>
              </a:ext>
            </a:extLst>
          </p:cNvPr>
          <p:cNvSpPr>
            <a:spLocks xmlns:a="http://schemas.openxmlformats.org/drawingml/2006/main" noGrp="1"/>
          </p:cNvSpPr>
          <p:nvPr/>
        </p:nvSpPr>
        <p:spPr>
          <a:xfrm xmlns:a="http://schemas.openxmlformats.org/drawingml/2006/main">
            <a:off x="4591050" y="4848225"/>
            <a:ext cx="2781300" cy="304800"/>
          </a:xfrm>
          <a:prstGeom xmlns:a="http://schemas.openxmlformats.org/drawingml/2006/main" prst="roundRect">
            <a:avLst>
              <a:gd name="adj" fmla="val 3750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38" name="s39-card-5">
            <a:extLst xmlns:a="http://schemas.openxmlformats.org/drawingml/2006/main">
              <a:ext uri="{FF2B5EF4-FFF2-40B4-BE49-F238E27FC236}">
                <a16:creationId xmlns:a16="http://schemas.microsoft.com/office/drawing/2014/main" id="{7D2FA62B-0CF1-4198-B303-3E272D68674F}"/>
              </a:ext>
            </a:extLst>
          </p:cNvPr>
          <p:cNvSpPr>
            <a:spLocks xmlns:a="http://schemas.openxmlformats.org/drawingml/2006/main" noGrp="1"/>
          </p:cNvSpPr>
          <p:nvPr/>
        </p:nvSpPr>
        <p:spPr>
          <a:xfrm xmlns:a="http://schemas.openxmlformats.org/drawingml/2006/main">
            <a:off x="7924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5D7487"/>
            </a:solidFill>
            <a:prstDash val="solid"/>
          </a:ln>
        </p:spPr>
      </p:sp>
      <p:sp>
        <p:nvSpPr>
          <p:cNvPr id="39" name="s39-title-5">
            <a:extLst xmlns:a="http://schemas.openxmlformats.org/drawingml/2006/main">
              <a:ext uri="{FF2B5EF4-FFF2-40B4-BE49-F238E27FC236}">
                <a16:creationId xmlns:a16="http://schemas.microsoft.com/office/drawing/2014/main" id="{C9615EFB-1CA6-4F26-9EF3-3CEFEB91ABF2}"/>
              </a:ext>
            </a:extLst>
          </p:cNvPr>
          <p:cNvSpPr>
            <a:spLocks xmlns:a="http://schemas.openxmlformats.org/drawingml/2006/main" noGrp="1"/>
          </p:cNvSpPr>
          <p:nvPr/>
        </p:nvSpPr>
        <p:spPr>
          <a:xfrm xmlns:a="http://schemas.openxmlformats.org/drawingml/2006/main">
            <a:off x="8096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5D7487"/>
                </a:solidFill>
                <a:latin typeface="Aptos"/>
                <a:ea typeface="Aptos"/>
                <a:cs typeface="Aptos"/>
              </a:defRPr>
            </a:pPr>
            <a:r>
              <a:rPr sz="1575" b="1">
                <a:solidFill>
                  <a:srgbClr val="5D7487"/>
                </a:solidFill>
                <a:latin typeface="Aptos"/>
                <a:ea typeface="Aptos"/>
                <a:cs typeface="Aptos"/>
              </a:rPr>
              <a:t>SYSTEM INTEGRATION</a:t>
            </a:r>
          </a:p>
        </p:txBody>
      </p:sp>
      <p:sp>
        <p:nvSpPr>
          <p:cNvPr id="40" name="s39-body-5">
            <a:extLst xmlns:a="http://schemas.openxmlformats.org/drawingml/2006/main">
              <a:ext uri="{FF2B5EF4-FFF2-40B4-BE49-F238E27FC236}">
                <a16:creationId xmlns:a16="http://schemas.microsoft.com/office/drawing/2014/main" id="{D9E81CCE-A4A0-4D19-989A-2401AFB2BCCC}"/>
              </a:ext>
            </a:extLst>
          </p:cNvPr>
          <p:cNvSpPr>
            <a:spLocks xmlns:a="http://schemas.openxmlformats.org/drawingml/2006/main" noGrp="1"/>
          </p:cNvSpPr>
          <p:nvPr/>
        </p:nvSpPr>
        <p:spPr>
          <a:xfrm xmlns:a="http://schemas.openxmlformats.org/drawingml/2006/main">
            <a:off x="8096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Integrated aircraft/system environment with representative interfaces.</a:t>
            </a:r>
          </a:p>
        </p:txBody>
      </p:sp>
      <p:sp>
        <p:nvSpPr>
          <p:cNvPr id="41" name="s39-status-5">
            <a:extLst xmlns:a="http://schemas.openxmlformats.org/drawingml/2006/main">
              <a:ext uri="{FF2B5EF4-FFF2-40B4-BE49-F238E27FC236}">
                <a16:creationId xmlns:a16="http://schemas.microsoft.com/office/drawing/2014/main" id="{DDF30BD3-536F-45B4-9098-F85ABDEB6908}"/>
              </a:ext>
            </a:extLst>
          </p:cNvPr>
          <p:cNvSpPr>
            <a:spLocks xmlns:a="http://schemas.openxmlformats.org/drawingml/2006/main" noGrp="1"/>
          </p:cNvSpPr>
          <p:nvPr/>
        </p:nvSpPr>
        <p:spPr>
          <a:xfrm xmlns:a="http://schemas.openxmlformats.org/drawingml/2006/main">
            <a:off x="8210550" y="4848225"/>
            <a:ext cx="2781300" cy="304800"/>
          </a:xfrm>
          <a:prstGeom xmlns:a="http://schemas.openxmlformats.org/drawingml/2006/main" prst="roundRect">
            <a:avLst>
              <a:gd name="adj" fmla="val 37500"/>
            </a:avLst>
          </a:prstGeom>
          <a:solidFill xmlns:a="http://schemas.openxmlformats.org/drawingml/2006/main">
            <a:srgbClr val="EEF4F8"/>
          </a:solidFill>
          <a:ln xmlns:a="http://schemas.openxmlformats.org/drawingml/2006/main" w="9525">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42" name="s39-label">
            <a:extLst xmlns:a="http://schemas.openxmlformats.org/drawingml/2006/main">
              <a:ext uri="{FF2B5EF4-FFF2-40B4-BE49-F238E27FC236}">
                <a16:creationId xmlns:a16="http://schemas.microsoft.com/office/drawing/2014/main" id="{984AC03F-54F8-4430-8A6D-DC6C7567290E}"/>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oundRect">
            <a:avLst>
              <a:gd name="adj" fmla="val 24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88" b="1">
                <a:solidFill>
                  <a:srgbClr val="0B1F33"/>
                </a:solidFill>
                <a:latin typeface="Aptos"/>
                <a:ea typeface="Aptos"/>
                <a:cs typeface="Aptos"/>
              </a:defRPr>
            </a:pPr>
            <a:r>
              <a:rPr sz="1388" b="1">
                <a:solidFill>
                  <a:srgbClr val="0B1F33"/>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198638874"/>
      </p:ext>
    </p:extLst>
  </p:cSld>
</p:sld>
</file>

<file path=ppt/slides/slide4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training package is internally consistent</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40</a:t>
            </a:r>
          </a:p>
        </p:txBody>
      </p:sp>
      <p:sp>
        <p:nvSpPr>
          <p:cNvPr id="24" name="s40-card-0">
            <a:extLst xmlns:a="http://schemas.openxmlformats.org/drawingml/2006/main">
              <a:ext uri="{FF2B5EF4-FFF2-40B4-BE49-F238E27FC236}">
                <a16:creationId xmlns:a16="http://schemas.microsoft.com/office/drawing/2014/main" id="{63609224-FF25-4A65-9757-158BA3E1AAC0}"/>
              </a:ext>
            </a:extLst>
          </p:cNvPr>
          <p:cNvSpPr>
            <a:spLocks xmlns:a="http://schemas.openxmlformats.org/drawingml/2006/main" noGrp="1"/>
          </p:cNvSpPr>
          <p:nvPr/>
        </p:nvSpPr>
        <p:spPr>
          <a:xfrm xmlns:a="http://schemas.openxmlformats.org/drawingml/2006/main">
            <a:off x="6858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0B7C5"/>
            </a:solidFill>
            <a:prstDash val="solid"/>
          </a:ln>
        </p:spPr>
      </p:sp>
      <p:sp>
        <p:nvSpPr>
          <p:cNvPr id="25" name="s40-value-0">
            <a:extLst xmlns:a="http://schemas.openxmlformats.org/drawingml/2006/main">
              <a:ext uri="{FF2B5EF4-FFF2-40B4-BE49-F238E27FC236}">
                <a16:creationId xmlns:a16="http://schemas.microsoft.com/office/drawing/2014/main" id="{A07E76C4-5D03-49EA-8DC4-CCF13C36D386}"/>
              </a:ext>
            </a:extLst>
          </p:cNvPr>
          <p:cNvSpPr>
            <a:spLocks xmlns:a="http://schemas.openxmlformats.org/drawingml/2006/main" noGrp="1"/>
          </p:cNvSpPr>
          <p:nvPr/>
        </p:nvSpPr>
        <p:spPr>
          <a:xfrm xmlns:a="http://schemas.openxmlformats.org/drawingml/2006/main">
            <a:off x="8763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0B7C5"/>
                </a:solidFill>
                <a:latin typeface="Aptos"/>
                <a:ea typeface="Aptos"/>
                <a:cs typeface="Aptos"/>
              </a:defRPr>
            </a:pPr>
            <a:r>
              <a:rPr sz="3600" b="1">
                <a:solidFill>
                  <a:srgbClr val="20B7C5"/>
                </a:solidFill>
                <a:latin typeface="Aptos"/>
                <a:ea typeface="Aptos"/>
                <a:cs typeface="Aptos"/>
              </a:rPr>
              <a:t>8 / 8</a:t>
            </a:r>
          </a:p>
        </p:txBody>
      </p:sp>
      <p:sp>
        <p:nvSpPr>
          <p:cNvPr id="26" name="s40-label-0">
            <a:extLst xmlns:a="http://schemas.openxmlformats.org/drawingml/2006/main">
              <a:ext uri="{FF2B5EF4-FFF2-40B4-BE49-F238E27FC236}">
                <a16:creationId xmlns:a16="http://schemas.microsoft.com/office/drawing/2014/main" id="{7DECE567-741B-42C3-B10D-52EB96B92820}"/>
              </a:ext>
            </a:extLst>
          </p:cNvPr>
          <p:cNvSpPr>
            <a:spLocks xmlns:a="http://schemas.openxmlformats.org/drawingml/2006/main" noGrp="1"/>
          </p:cNvSpPr>
          <p:nvPr/>
        </p:nvSpPr>
        <p:spPr>
          <a:xfrm xmlns:a="http://schemas.openxmlformats.org/drawingml/2006/main">
            <a:off x="8763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DELIVERED MODELS</a:t>
            </a:r>
          </a:p>
        </p:txBody>
      </p:sp>
      <p:sp>
        <p:nvSpPr>
          <p:cNvPr id="27" name="s40-sub-0">
            <a:extLst xmlns:a="http://schemas.openxmlformats.org/drawingml/2006/main">
              <a:ext uri="{FF2B5EF4-FFF2-40B4-BE49-F238E27FC236}">
                <a16:creationId xmlns:a16="http://schemas.microsoft.com/office/drawing/2014/main" id="{01DB4ADC-2528-44E5-890C-203A59156E0A}"/>
              </a:ext>
            </a:extLst>
          </p:cNvPr>
          <p:cNvSpPr>
            <a:spLocks xmlns:a="http://schemas.openxmlformats.org/drawingml/2006/main" noGrp="1"/>
          </p:cNvSpPr>
          <p:nvPr/>
        </p:nvSpPr>
        <p:spPr>
          <a:xfrm xmlns:a="http://schemas.openxmlformats.org/drawingml/2006/main">
            <a:off x="8763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updated / compiled</a:t>
            </a:r>
          </a:p>
        </p:txBody>
      </p:sp>
      <p:sp>
        <p:nvSpPr>
          <p:cNvPr id="28" name="s40-def-0">
            <a:extLst xmlns:a="http://schemas.openxmlformats.org/drawingml/2006/main">
              <a:ext uri="{FF2B5EF4-FFF2-40B4-BE49-F238E27FC236}">
                <a16:creationId xmlns:a16="http://schemas.microsoft.com/office/drawing/2014/main" id="{76809E68-C541-4EE3-8C31-8AE1D2DA9CCD}"/>
              </a:ext>
            </a:extLst>
          </p:cNvPr>
          <p:cNvSpPr>
            <a:spLocks xmlns:a="http://schemas.openxmlformats.org/drawingml/2006/main" noGrp="1"/>
          </p:cNvSpPr>
          <p:nvPr/>
        </p:nvSpPr>
        <p:spPr>
          <a:xfrm xmlns:a="http://schemas.openxmlformats.org/drawingml/2006/main">
            <a:off x="9144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Simulink diagram update succeeded for all eight model files.</a:t>
            </a:r>
          </a:p>
        </p:txBody>
      </p:sp>
      <p:sp>
        <p:nvSpPr>
          <p:cNvPr id="29" name="s40-card-1">
            <a:extLst xmlns:a="http://schemas.openxmlformats.org/drawingml/2006/main">
              <a:ext uri="{FF2B5EF4-FFF2-40B4-BE49-F238E27FC236}">
                <a16:creationId xmlns:a16="http://schemas.microsoft.com/office/drawing/2014/main" id="{433FF65A-7669-45F8-AE2C-1523B224BB89}"/>
              </a:ext>
            </a:extLst>
          </p:cNvPr>
          <p:cNvSpPr>
            <a:spLocks xmlns:a="http://schemas.openxmlformats.org/drawingml/2006/main" noGrp="1"/>
          </p:cNvSpPr>
          <p:nvPr/>
        </p:nvSpPr>
        <p:spPr>
          <a:xfrm xmlns:a="http://schemas.openxmlformats.org/drawingml/2006/main">
            <a:off x="43053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CA56F"/>
            </a:solidFill>
            <a:prstDash val="solid"/>
          </a:ln>
        </p:spPr>
      </p:sp>
      <p:sp>
        <p:nvSpPr>
          <p:cNvPr id="30" name="s40-value-1">
            <a:extLst xmlns:a="http://schemas.openxmlformats.org/drawingml/2006/main">
              <a:ext uri="{FF2B5EF4-FFF2-40B4-BE49-F238E27FC236}">
                <a16:creationId xmlns:a16="http://schemas.microsoft.com/office/drawing/2014/main" id="{B9D6E2BF-93C9-4132-98FD-0728C43AA340}"/>
              </a:ext>
            </a:extLst>
          </p:cNvPr>
          <p:cNvSpPr>
            <a:spLocks xmlns:a="http://schemas.openxmlformats.org/drawingml/2006/main" noGrp="1"/>
          </p:cNvSpPr>
          <p:nvPr/>
        </p:nvSpPr>
        <p:spPr>
          <a:xfrm xmlns:a="http://schemas.openxmlformats.org/drawingml/2006/main">
            <a:off x="44958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CA56F"/>
                </a:solidFill>
                <a:latin typeface="Aptos"/>
                <a:ea typeface="Aptos"/>
                <a:cs typeface="Aptos"/>
              </a:defRPr>
            </a:pPr>
            <a:r>
              <a:rPr sz="3600" b="1">
                <a:solidFill>
                  <a:srgbClr val="2CA56F"/>
                </a:solidFill>
                <a:latin typeface="Aptos"/>
                <a:ea typeface="Aptos"/>
                <a:cs typeface="Aptos"/>
              </a:rPr>
              <a:t>19 / 19</a:t>
            </a:r>
          </a:p>
        </p:txBody>
      </p:sp>
      <p:sp>
        <p:nvSpPr>
          <p:cNvPr id="31" name="s40-label-1">
            <a:extLst xmlns:a="http://schemas.openxmlformats.org/drawingml/2006/main">
              <a:ext uri="{FF2B5EF4-FFF2-40B4-BE49-F238E27FC236}">
                <a16:creationId xmlns:a16="http://schemas.microsoft.com/office/drawing/2014/main" id="{10B2F861-5E0B-4361-8680-199C9F4D4C56}"/>
              </a:ext>
            </a:extLst>
          </p:cNvPr>
          <p:cNvSpPr>
            <a:spLocks xmlns:a="http://schemas.openxmlformats.org/drawingml/2006/main" noGrp="1"/>
          </p:cNvSpPr>
          <p:nvPr/>
        </p:nvSpPr>
        <p:spPr>
          <a:xfrm xmlns:a="http://schemas.openxmlformats.org/drawingml/2006/main">
            <a:off x="44958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LIMITER ASSESSMENTS</a:t>
            </a:r>
          </a:p>
        </p:txBody>
      </p:sp>
      <p:sp>
        <p:nvSpPr>
          <p:cNvPr id="32" name="s40-sub-1">
            <a:extLst xmlns:a="http://schemas.openxmlformats.org/drawingml/2006/main">
              <a:ext uri="{FF2B5EF4-FFF2-40B4-BE49-F238E27FC236}">
                <a16:creationId xmlns:a16="http://schemas.microsoft.com/office/drawing/2014/main" id="{CAAA7CBD-31F8-44A3-A458-49F6007717C6}"/>
              </a:ext>
            </a:extLst>
          </p:cNvPr>
          <p:cNvSpPr>
            <a:spLocks xmlns:a="http://schemas.openxmlformats.org/drawingml/2006/main" noGrp="1"/>
          </p:cNvSpPr>
          <p:nvPr/>
        </p:nvSpPr>
        <p:spPr>
          <a:xfrm xmlns:a="http://schemas.openxmlformats.org/drawingml/2006/main">
            <a:off x="44958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passed • 0 failed</a:t>
            </a:r>
          </a:p>
        </p:txBody>
      </p:sp>
      <p:sp>
        <p:nvSpPr>
          <p:cNvPr id="33" name="s40-def-1">
            <a:extLst xmlns:a="http://schemas.openxmlformats.org/drawingml/2006/main">
              <a:ext uri="{FF2B5EF4-FFF2-40B4-BE49-F238E27FC236}">
                <a16:creationId xmlns:a16="http://schemas.microsoft.com/office/drawing/2014/main" id="{A94DF4CA-72F1-4868-B7BC-E32946C952D3}"/>
              </a:ext>
            </a:extLst>
          </p:cNvPr>
          <p:cNvSpPr>
            <a:spLocks xmlns:a="http://schemas.openxmlformats.org/drawingml/2006/main" noGrp="1"/>
          </p:cNvSpPr>
          <p:nvPr/>
        </p:nvSpPr>
        <p:spPr>
          <a:xfrm xmlns:a="http://schemas.openxmlformats.org/drawingml/2006/main">
            <a:off x="45339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Executable MATLAB assessments using the standalone Simulink harness.</a:t>
            </a:r>
          </a:p>
        </p:txBody>
      </p:sp>
      <p:sp>
        <p:nvSpPr>
          <p:cNvPr id="34" name="s40-card-2">
            <a:extLst xmlns:a="http://schemas.openxmlformats.org/drawingml/2006/main">
              <a:ext uri="{FF2B5EF4-FFF2-40B4-BE49-F238E27FC236}">
                <a16:creationId xmlns:a16="http://schemas.microsoft.com/office/drawing/2014/main" id="{44CC8DD0-D466-4424-BBA8-57405233B6C2}"/>
              </a:ext>
            </a:extLst>
          </p:cNvPr>
          <p:cNvSpPr>
            <a:spLocks xmlns:a="http://schemas.openxmlformats.org/drawingml/2006/main" noGrp="1"/>
          </p:cNvSpPr>
          <p:nvPr/>
        </p:nvSpPr>
        <p:spPr>
          <a:xfrm xmlns:a="http://schemas.openxmlformats.org/drawingml/2006/main">
            <a:off x="79248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D6CDF"/>
            </a:solidFill>
            <a:prstDash val="solid"/>
          </a:ln>
        </p:spPr>
      </p:sp>
      <p:sp>
        <p:nvSpPr>
          <p:cNvPr id="35" name="s40-value-2">
            <a:extLst xmlns:a="http://schemas.openxmlformats.org/drawingml/2006/main">
              <a:ext uri="{FF2B5EF4-FFF2-40B4-BE49-F238E27FC236}">
                <a16:creationId xmlns:a16="http://schemas.microsoft.com/office/drawing/2014/main" id="{7EF28DDF-B039-4E49-A385-B39E58211AC5}"/>
              </a:ext>
            </a:extLst>
          </p:cNvPr>
          <p:cNvSpPr>
            <a:spLocks xmlns:a="http://schemas.openxmlformats.org/drawingml/2006/main" noGrp="1"/>
          </p:cNvSpPr>
          <p:nvPr/>
        </p:nvSpPr>
        <p:spPr>
          <a:xfrm xmlns:a="http://schemas.openxmlformats.org/drawingml/2006/main">
            <a:off x="81153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3600" b="1">
                <a:solidFill>
                  <a:srgbClr val="2D6CDF"/>
                </a:solidFill>
                <a:latin typeface="Aptos"/>
                <a:ea typeface="Aptos"/>
                <a:cs typeface="Aptos"/>
              </a:defRPr>
            </a:pPr>
            <a:r>
              <a:rPr sz="3600" b="1">
                <a:solidFill>
                  <a:srgbClr val="2D6CDF"/>
                </a:solidFill>
                <a:latin typeface="Aptos"/>
                <a:ea typeface="Aptos"/>
                <a:cs typeface="Aptos"/>
              </a:rPr>
              <a:t>24 / 24</a:t>
            </a:r>
          </a:p>
        </p:txBody>
      </p:sp>
      <p:sp>
        <p:nvSpPr>
          <p:cNvPr id="36" name="s40-label-2">
            <a:extLst xmlns:a="http://schemas.openxmlformats.org/drawingml/2006/main">
              <a:ext uri="{FF2B5EF4-FFF2-40B4-BE49-F238E27FC236}">
                <a16:creationId xmlns:a16="http://schemas.microsoft.com/office/drawing/2014/main" id="{340AC186-3410-4588-9E30-96A4B46E5EED}"/>
              </a:ext>
            </a:extLst>
          </p:cNvPr>
          <p:cNvSpPr>
            <a:spLocks xmlns:a="http://schemas.openxmlformats.org/drawingml/2006/main" noGrp="1"/>
          </p:cNvSpPr>
          <p:nvPr/>
        </p:nvSpPr>
        <p:spPr>
          <a:xfrm xmlns:a="http://schemas.openxmlformats.org/drawingml/2006/main">
            <a:off x="81153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REQUIRED EXPORTS</a:t>
            </a:r>
          </a:p>
        </p:txBody>
      </p:sp>
      <p:sp>
        <p:nvSpPr>
          <p:cNvPr id="37" name="s40-sub-2">
            <a:extLst xmlns:a="http://schemas.openxmlformats.org/drawingml/2006/main">
              <a:ext uri="{FF2B5EF4-FFF2-40B4-BE49-F238E27FC236}">
                <a16:creationId xmlns:a16="http://schemas.microsoft.com/office/drawing/2014/main" id="{A32C6442-B730-4B22-A769-51181A981F8B}"/>
              </a:ext>
            </a:extLst>
          </p:cNvPr>
          <p:cNvSpPr>
            <a:spLocks xmlns:a="http://schemas.openxmlformats.org/drawingml/2006/main" noGrp="1"/>
          </p:cNvSpPr>
          <p:nvPr/>
        </p:nvSpPr>
        <p:spPr>
          <a:xfrm xmlns:a="http://schemas.openxmlformats.org/drawingml/2006/main">
            <a:off x="81153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present</a:t>
            </a:r>
          </a:p>
        </p:txBody>
      </p:sp>
      <p:sp>
        <p:nvSpPr>
          <p:cNvPr id="38" name="s40-def-2">
            <a:extLst xmlns:a="http://schemas.openxmlformats.org/drawingml/2006/main">
              <a:ext uri="{FF2B5EF4-FFF2-40B4-BE49-F238E27FC236}">
                <a16:creationId xmlns:a16="http://schemas.microsoft.com/office/drawing/2014/main" id="{6C59E417-5366-4CA6-AEC6-0FCF68F1A03E}"/>
              </a:ext>
            </a:extLst>
          </p:cNvPr>
          <p:cNvSpPr>
            <a:spLocks xmlns:a="http://schemas.openxmlformats.org/drawingml/2006/main" noGrp="1"/>
          </p:cNvSpPr>
          <p:nvPr/>
        </p:nvSpPr>
        <p:spPr>
          <a:xfrm xmlns:a="http://schemas.openxmlformats.org/drawingml/2006/main">
            <a:off x="81534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D8E8F1"/>
                </a:solidFill>
                <a:latin typeface="Aptos"/>
                <a:ea typeface="Aptos"/>
                <a:cs typeface="Aptos"/>
              </a:defRPr>
            </a:pPr>
            <a:r>
              <a:rPr sz="1065" b="1">
                <a:solidFill>
                  <a:srgbClr val="D8E8F1"/>
                </a:solidFill>
                <a:latin typeface="Aptos"/>
                <a:ea typeface="Aptos"/>
                <a:cs typeface="Aptos"/>
              </a:rPr>
              <a:t>1 HTML report • 21 visual exports • 2 SDI .mldatx artifacts.</a:t>
            </a:r>
          </a:p>
        </p:txBody>
      </p:sp>
      <p:sp>
        <p:nvSpPr>
          <p:cNvPr id="39" name="s40-models">
            <a:extLst xmlns:a="http://schemas.openxmlformats.org/drawingml/2006/main">
              <a:ext uri="{FF2B5EF4-FFF2-40B4-BE49-F238E27FC236}">
                <a16:creationId xmlns:a16="http://schemas.microsoft.com/office/drawing/2014/main" id="{3C153B29-AED7-46D2-8067-04CBB1F6F9EF}"/>
              </a:ext>
            </a:extLst>
          </p:cNvPr>
          <p:cNvSpPr>
            <a:spLocks xmlns:a="http://schemas.openxmlformats.org/drawingml/2006/main" noGrp="1"/>
          </p:cNvSpPr>
          <p:nvPr/>
        </p:nvSpPr>
        <p:spPr>
          <a:xfrm xmlns:a="http://schemas.openxmlformats.org/drawingml/2006/main">
            <a:off x="685800" y="4533900"/>
            <a:ext cx="10820400" cy="990600"/>
          </a:xfrm>
          <a:prstGeom xmlns:a="http://schemas.openxmlformats.org/drawingml/2006/main" prst="roundRect">
            <a:avLst>
              <a:gd name="adj" fmla="val 11538"/>
            </a:avLst>
          </a:prstGeom>
          <a:solidFill xmlns:a="http://schemas.openxmlformats.org/drawingml/2006/main">
            <a:srgbClr val="0C2133"/>
          </a:solidFill>
          <a:ln xmlns:a="http://schemas.openxmlformats.org/drawingml/2006/main" w="12383">
            <a:solidFill>
              <a:srgbClr val="21465E"/>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MODEL SET</a:t>
            </a:r>
          </a:p>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AircraftFeedbackControlLoop • AutopilotModeLogic • ReferencedFlightControlArchitecture • SensorProcessingRef</a:t>
            </a:r>
          </a:p>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PitchRateLimiter • PitchControllerRef • ActuatorCommandRef • PitchRateLimiter_Harness</a:t>
            </a:r>
          </a:p>
        </p:txBody>
      </p:sp>
      <p:sp>
        <p:nvSpPr>
          <p:cNvPr id="40" name="s40-warning">
            <a:extLst xmlns:a="http://schemas.openxmlformats.org/drawingml/2006/main">
              <a:ext uri="{FF2B5EF4-FFF2-40B4-BE49-F238E27FC236}">
                <a16:creationId xmlns:a16="http://schemas.microsoft.com/office/drawing/2014/main" id="{D11B5ADA-2133-4525-9653-E5650079D38D}"/>
              </a:ext>
            </a:extLst>
          </p:cNvPr>
          <p:cNvSpPr>
            <a:spLocks xmlns:a="http://schemas.openxmlformats.org/drawingml/2006/main" noGrp="1"/>
          </p:cNvSpPr>
          <p:nvPr/>
        </p:nvSpPr>
        <p:spPr>
          <a:xfrm xmlns:a="http://schemas.openxmlformats.org/drawingml/2006/main">
            <a:off x="685800" y="5705475"/>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70DCE5"/>
                </a:solidFill>
                <a:latin typeface="Aptos"/>
                <a:ea typeface="Aptos"/>
                <a:cs typeface="Aptos"/>
              </a:defRPr>
            </a:pPr>
            <a:r>
              <a:rPr sz="1200" b="1">
                <a:solidFill>
                  <a:srgbClr val="70DCE5"/>
                </a:solidFill>
                <a:latin typeface="Aptos"/>
                <a:ea typeface="Aptos"/>
                <a:cs typeface="Aptos"/>
              </a:rPr>
              <a:t>“Updated” means validation compile/update succeeded; it does not mean eight files were edited.</a:t>
            </a:r>
          </a:p>
        </p:txBody>
      </p:sp>
    </p:spTree>
    <p:extLst>
      <p:ext uri="{BB962C8B-B14F-4D97-AF65-F5344CB8AC3E}">
        <p14:creationId xmlns:p14="http://schemas.microsoft.com/office/powerpoint/2010/main" val="807636582"/>
      </p:ext>
    </p:extLst>
  </p:cSld>
</p:sld>
</file>

<file path=ppt/slides/slide4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41</a:t>
            </a:r>
          </a:p>
        </p:txBody>
      </p:sp>
      <p:sp>
        <p:nvSpPr>
          <p:cNvPr id="31" name="s41-does">
            <a:extLst xmlns:a="http://schemas.openxmlformats.org/drawingml/2006/main">
              <a:ext uri="{FF2B5EF4-FFF2-40B4-BE49-F238E27FC236}">
                <a16:creationId xmlns:a16="http://schemas.microsoft.com/office/drawing/2014/main" id="{F5F9EF5D-5D03-496F-8C1B-A1C3340EEC8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41-does-not">
            <a:extLst xmlns:a="http://schemas.openxmlformats.org/drawingml/2006/main">
              <a:ext uri="{FF2B5EF4-FFF2-40B4-BE49-F238E27FC236}">
                <a16:creationId xmlns:a16="http://schemas.microsoft.com/office/drawing/2014/main" id="{378E76A9-265E-40F2-8C27-61D0A5A83A79}"/>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41-does-title">
            <a:extLst xmlns:a="http://schemas.openxmlformats.org/drawingml/2006/main">
              <a:ext uri="{FF2B5EF4-FFF2-40B4-BE49-F238E27FC236}">
                <a16:creationId xmlns:a16="http://schemas.microsoft.com/office/drawing/2014/main" id="{C6BF4BB0-8986-4F7B-86A9-91DF17A0D1F9}"/>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2CA56F"/>
                </a:solidFill>
                <a:latin typeface="Aptos"/>
                <a:ea typeface="Aptos"/>
                <a:cs typeface="Aptos"/>
              </a:defRPr>
            </a:pPr>
            <a:r>
              <a:rPr sz="1350" b="1">
                <a:solidFill>
                  <a:srgbClr val="2CA56F"/>
                </a:solidFill>
                <a:latin typeface="Aptos"/>
                <a:ea typeface="Aptos"/>
                <a:cs typeface="Aptos"/>
              </a:rPr>
              <a:t>THIS PACKAGE DEMONSTRATES</a:t>
            </a:r>
          </a:p>
        </p:txBody>
      </p:sp>
      <p:sp>
        <p:nvSpPr>
          <p:cNvPr id="34" name="s41-does-body">
            <a:extLst xmlns:a="http://schemas.openxmlformats.org/drawingml/2006/main">
              <a:ext uri="{FF2B5EF4-FFF2-40B4-BE49-F238E27FC236}">
                <a16:creationId xmlns:a16="http://schemas.microsoft.com/office/drawing/2014/main" id="{3EE6A7F1-2B95-409F-B226-EC1C40BC7DF5}"/>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Current saved models update / compile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Standalone desktop MIL behavior</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Model-reference integration structure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MATLAB-driven limiter harness assessments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CSV + script + path + result associations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One saved SDI run, view, and session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Retained CSV, MAT, HTML, PNG, and visual exports</a:t>
            </a:r>
          </a:p>
        </p:txBody>
      </p:sp>
      <p:sp>
        <p:nvSpPr>
          <p:cNvPr id="35" name="s41-does-not-title">
            <a:extLst xmlns:a="http://schemas.openxmlformats.org/drawingml/2006/main">
              <a:ext uri="{FF2B5EF4-FFF2-40B4-BE49-F238E27FC236}">
                <a16:creationId xmlns:a16="http://schemas.microsoft.com/office/drawing/2014/main" id="{DBA765CC-E539-4411-A6B9-8382F9C3EF05}"/>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D75A64"/>
                </a:solidFill>
                <a:latin typeface="Aptos"/>
                <a:ea typeface="Aptos"/>
                <a:cs typeface="Aptos"/>
              </a:defRPr>
            </a:pPr>
            <a:r>
              <a:rPr sz="1350" b="1">
                <a:solidFill>
                  <a:srgbClr val="D75A64"/>
                </a:solidFill>
                <a:latin typeface="Aptos"/>
                <a:ea typeface="Aptos"/>
                <a:cs typeface="Aptos"/>
              </a:rPr>
              <a:t>THIS PACKAGE DOES NOT CLAIM</a:t>
            </a:r>
          </a:p>
        </p:txBody>
      </p:sp>
      <p:sp>
        <p:nvSpPr>
          <p:cNvPr id="36" name="s41-does-not-body">
            <a:extLst xmlns:a="http://schemas.openxmlformats.org/drawingml/2006/main">
              <a:ext uri="{FF2B5EF4-FFF2-40B4-BE49-F238E27FC236}">
                <a16:creationId xmlns:a16="http://schemas.microsoft.com/office/drawing/2014/main" id="{73B9E9D7-AB6D-4188-B99C-6DA43D289248}"/>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 aircraft data or approved baseline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Live Simulink Requirements links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Simulink Test / Test Manager suite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Production-code generation or code verification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SIL, PIL, HIL, bench, or system-integration execution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Certification approval</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Automatic compliance from a model or pipeline</a:t>
            </a:r>
          </a:p>
        </p:txBody>
      </p:sp>
      <p:sp>
        <p:nvSpPr>
          <p:cNvPr id="37" name="s41-mldatx">
            <a:extLst xmlns:a="http://schemas.openxmlformats.org/drawingml/2006/main">
              <a:ext uri="{FF2B5EF4-FFF2-40B4-BE49-F238E27FC236}">
                <a16:creationId xmlns:a16="http://schemas.microsoft.com/office/drawing/2014/main" id="{BE1CD416-1F61-4543-96E3-36F1D084C602}"/>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Exactly two .mldatx files are retained, and both are Simulation Data Inspector artifacts.</a:t>
            </a:r>
          </a:p>
        </p:txBody>
      </p:sp>
    </p:spTree>
    <p:extLst>
      <p:ext uri="{BB962C8B-B14F-4D97-AF65-F5344CB8AC3E}">
        <p14:creationId xmlns:p14="http://schemas.microsoft.com/office/powerpoint/2010/main" val="140704512"/>
      </p:ext>
    </p:extLst>
  </p:cSld>
</p:sld>
</file>

<file path=ppt/slides/slide4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41</a:t>
            </a:r>
          </a:p>
        </p:txBody>
      </p:sp>
      <p:sp>
        <p:nvSpPr>
          <p:cNvPr id="31" name="s41-does">
            <a:extLst xmlns:a="http://schemas.openxmlformats.org/drawingml/2006/main">
              <a:ext uri="{FF2B5EF4-FFF2-40B4-BE49-F238E27FC236}">
                <a16:creationId xmlns:a16="http://schemas.microsoft.com/office/drawing/2014/main" id="{F5F9EF5D-5D03-496F-8C1B-A1C3340EEC8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41-does-not">
            <a:extLst xmlns:a="http://schemas.openxmlformats.org/drawingml/2006/main">
              <a:ext uri="{FF2B5EF4-FFF2-40B4-BE49-F238E27FC236}">
                <a16:creationId xmlns:a16="http://schemas.microsoft.com/office/drawing/2014/main" id="{378E76A9-265E-40F2-8C27-61D0A5A83A79}"/>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41-does-title">
            <a:extLst xmlns:a="http://schemas.openxmlformats.org/drawingml/2006/main">
              <a:ext uri="{FF2B5EF4-FFF2-40B4-BE49-F238E27FC236}">
                <a16:creationId xmlns:a16="http://schemas.microsoft.com/office/drawing/2014/main" id="{C6BF4BB0-8986-4F7B-86A9-91DF17A0D1F9}"/>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2CA56F"/>
                </a:solidFill>
                <a:latin typeface="Aptos"/>
                <a:ea typeface="Aptos"/>
                <a:cs typeface="Aptos"/>
              </a:defRPr>
            </a:pPr>
            <a:r>
              <a:rPr sz="1350" b="1">
                <a:solidFill>
                  <a:srgbClr val="2CA56F"/>
                </a:solidFill>
                <a:latin typeface="Aptos"/>
                <a:ea typeface="Aptos"/>
                <a:cs typeface="Aptos"/>
              </a:rPr>
              <a:t>THIS PACKAGE DEMONSTRATES</a:t>
            </a:r>
          </a:p>
        </p:txBody>
      </p:sp>
      <p:sp>
        <p:nvSpPr>
          <p:cNvPr id="34" name="s41-does-body">
            <a:extLst xmlns:a="http://schemas.openxmlformats.org/drawingml/2006/main">
              <a:ext uri="{FF2B5EF4-FFF2-40B4-BE49-F238E27FC236}">
                <a16:creationId xmlns:a16="http://schemas.microsoft.com/office/drawing/2014/main" id="{3EE6A7F1-2B95-409F-B226-EC1C40BC7DF5}"/>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Current saved models update / compile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Standalone desktop MIL behavior</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Model-reference integration structure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MATLAB-driven limiter harness assessments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CSV + script + path + result associations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One saved SDI run, view, and session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Retained CSV, MAT, HTML, PNG, and visual exports</a:t>
            </a:r>
          </a:p>
        </p:txBody>
      </p:sp>
      <p:sp>
        <p:nvSpPr>
          <p:cNvPr id="35" name="s41-does-not-title">
            <a:extLst xmlns:a="http://schemas.openxmlformats.org/drawingml/2006/main">
              <a:ext uri="{FF2B5EF4-FFF2-40B4-BE49-F238E27FC236}">
                <a16:creationId xmlns:a16="http://schemas.microsoft.com/office/drawing/2014/main" id="{DBA765CC-E539-4411-A6B9-8382F9C3EF05}"/>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D75A64"/>
                </a:solidFill>
                <a:latin typeface="Aptos"/>
                <a:ea typeface="Aptos"/>
                <a:cs typeface="Aptos"/>
              </a:defRPr>
            </a:pPr>
            <a:r>
              <a:rPr sz="1350" b="1">
                <a:solidFill>
                  <a:srgbClr val="D75A64"/>
                </a:solidFill>
                <a:latin typeface="Aptos"/>
                <a:ea typeface="Aptos"/>
                <a:cs typeface="Aptos"/>
              </a:rPr>
              <a:t>THIS PACKAGE DOES NOT CLAIM</a:t>
            </a:r>
          </a:p>
        </p:txBody>
      </p:sp>
      <p:sp>
        <p:nvSpPr>
          <p:cNvPr id="36" name="s41-does-not-body">
            <a:extLst xmlns:a="http://schemas.openxmlformats.org/drawingml/2006/main">
              <a:ext uri="{FF2B5EF4-FFF2-40B4-BE49-F238E27FC236}">
                <a16:creationId xmlns:a16="http://schemas.microsoft.com/office/drawing/2014/main" id="{73B9E9D7-AB6D-4188-B99C-6DA43D289248}"/>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 aircraft data or approved baseline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Live Simulink Requirements links</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Simulink Test / Test Manager suite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Production-code generation or code verification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SIL, PIL, HIL, bench, or system-integration execution</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Certification approval</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 Automatic compliance from a model or pipeline</a:t>
            </a:r>
          </a:p>
        </p:txBody>
      </p:sp>
      <p:sp>
        <p:nvSpPr>
          <p:cNvPr id="37" name="s41-mldatx">
            <a:extLst xmlns:a="http://schemas.openxmlformats.org/drawingml/2006/main">
              <a:ext uri="{FF2B5EF4-FFF2-40B4-BE49-F238E27FC236}">
                <a16:creationId xmlns:a16="http://schemas.microsoft.com/office/drawing/2014/main" id="{BE1CD416-1F61-4543-96E3-36F1D084C602}"/>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Exactly two .mldatx files are retained, and both are Simulation Data Inspector artifacts.</a:t>
            </a:r>
          </a:p>
        </p:txBody>
      </p:sp>
    </p:spTree>
    <p:extLst>
      <p:ext uri="{BB962C8B-B14F-4D97-AF65-F5344CB8AC3E}">
        <p14:creationId xmlns:p14="http://schemas.microsoft.com/office/powerpoint/2010/main" val="140704512"/>
      </p:ext>
    </p:extLst>
  </p:cSld>
</p:sld>
</file>

<file path=ppt/slides/slide4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WEEK</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01  initialize folders + open the correct top level</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02  update, run, stop, build, and test distinctly</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03  toggle units, types, dimensions, names + badges</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04  inspect one run and five signals in Data Inspector</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05  trace PSYS-001 to the executed Iteration 8 PASS</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06  make one controlled change; rerun affected evidence</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463" b="1">
                <a:solidFill>
                  <a:srgbClr val="FFFFFF"/>
                </a:solidFill>
                <a:latin typeface="Aptos"/>
                <a:ea typeface="Aptos"/>
                <a:cs typeface="Aptos"/>
              </a:defRPr>
            </a:pPr>
            <a:r>
              <a:rPr sz="1463" b="1">
                <a:solidFill>
                  <a:srgbClr val="FFFFFF"/>
                </a:solidFill>
                <a:latin typeface="Aptos"/>
                <a:ea typeface="Aptos"/>
                <a:cs typeface="Aptos"/>
              </a:rPr>
              <a:t>VERIFIED STARTING POINT  •  8/8 models updated  •  19/19 assessments passed  •  24/24 required exports present</a:t>
            </a:r>
          </a:p>
        </p:txBody>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42</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2026-08-27T12:41:53.3770000Z</dcterms:created>
  <dcterms:modified xsi:type="dcterms:W3CDTF">2026-08-27T12:41:53.3770000Z</dcterms:modified>
</coreProperties>
</file>