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5abb41d3e64d74" /><Relationship Type="http://schemas.openxmlformats.org/officeDocument/2006/relationships/extended-properties" Target="/docProps/app.xml" Id="Racf19db109bd49b6" /><Relationship Type="http://schemas.openxmlformats.org/officeDocument/2006/relationships/officeDocument" Target="/ppt/presentation.xml" Id="Rb041062022f54f63" /></Relationships>
</file>

<file path=ppt/presentation.xml><?xml version="1.0" encoding="utf-8"?>
<p:presentation xmlns:p="http://schemas.openxmlformats.org/presentationml/2006/main">
  <p:sldMasterIdLst>
    <p:sldMasterId xmlns:r="http://schemas.openxmlformats.org/officeDocument/2006/relationships" id="2147483648" r:id="Re8ce817179cd460b"/>
  </p:sldMasterIdLst>
  <p:notesMasterIdLst>
    <p:notesMasterId xmlns:r="http://schemas.openxmlformats.org/officeDocument/2006/relationships" r:id="Rcdc39d41f7654d3a"/>
  </p:notesMasterIdLst>
  <p:sldIdLst>
    <p:sldId xmlns:r="http://schemas.openxmlformats.org/officeDocument/2006/relationships" id="256" r:id="Rf6ef26b467a9490a"/>
    <p:sldId xmlns:r="http://schemas.openxmlformats.org/officeDocument/2006/relationships" id="257" r:id="R4ece3e9758cc4777"/>
    <p:sldId xmlns:r="http://schemas.openxmlformats.org/officeDocument/2006/relationships" id="258" r:id="Rbea735bd1c2a473c"/>
    <p:sldId xmlns:r="http://schemas.openxmlformats.org/officeDocument/2006/relationships" id="259" r:id="Ra42a8050fb394eda"/>
    <p:sldId xmlns:r="http://schemas.openxmlformats.org/officeDocument/2006/relationships" id="260" r:id="R0317752d04294c4e"/>
    <p:sldId xmlns:r="http://schemas.openxmlformats.org/officeDocument/2006/relationships" id="261" r:id="R95abe6be015b4afd"/>
    <p:sldId xmlns:r="http://schemas.openxmlformats.org/officeDocument/2006/relationships" id="262" r:id="Rb45bac690b924099"/>
    <p:sldId xmlns:r="http://schemas.openxmlformats.org/officeDocument/2006/relationships" id="263" r:id="R085e59d25b394323"/>
    <p:sldId xmlns:r="http://schemas.openxmlformats.org/officeDocument/2006/relationships" id="264" r:id="R7ba8877b83094627"/>
    <p:sldId xmlns:r="http://schemas.openxmlformats.org/officeDocument/2006/relationships" id="265" r:id="Rda4097fcb85f4988"/>
    <p:sldId xmlns:r="http://schemas.openxmlformats.org/officeDocument/2006/relationships" id="266" r:id="Rb246fd5a730b444e"/>
    <p:sldId xmlns:r="http://schemas.openxmlformats.org/officeDocument/2006/relationships" id="267" r:id="Rbad5d656a8dd4d52"/>
    <p:sldId xmlns:r="http://schemas.openxmlformats.org/officeDocument/2006/relationships" id="268" r:id="R92b7bc0fb9be49ca"/>
    <p:sldId xmlns:r="http://schemas.openxmlformats.org/officeDocument/2006/relationships" id="269" r:id="Rcac60665e3a2421d"/>
    <p:sldId xmlns:r="http://schemas.openxmlformats.org/officeDocument/2006/relationships" id="270" r:id="Raec8b3b179884004"/>
    <p:sldId xmlns:r="http://schemas.openxmlformats.org/officeDocument/2006/relationships" id="271" r:id="R146f42380a724283"/>
    <p:sldId xmlns:r="http://schemas.openxmlformats.org/officeDocument/2006/relationships" id="272" r:id="Rbce69527703f4ee5"/>
    <p:sldId xmlns:r="http://schemas.openxmlformats.org/officeDocument/2006/relationships" id="273" r:id="R490db2d38def4f46"/>
    <p:sldId xmlns:r="http://schemas.openxmlformats.org/officeDocument/2006/relationships" id="274" r:id="R2c270cccd6d74666"/>
    <p:sldId xmlns:r="http://schemas.openxmlformats.org/officeDocument/2006/relationships" id="275" r:id="R5624a51a36a2482c"/>
    <p:sldId xmlns:r="http://schemas.openxmlformats.org/officeDocument/2006/relationships" id="276" r:id="R8647b15cbfec4a58"/>
    <p:sldId xmlns:r="http://schemas.openxmlformats.org/officeDocument/2006/relationships" id="277" r:id="R29b7aac1297843cc"/>
    <p:sldId xmlns:r="http://schemas.openxmlformats.org/officeDocument/2006/relationships" id="278" r:id="Ra9197f293bca432f"/>
    <p:sldId xmlns:r="http://schemas.openxmlformats.org/officeDocument/2006/relationships" id="279" r:id="R42db36c99f954006"/>
    <p:sldId xmlns:r="http://schemas.openxmlformats.org/officeDocument/2006/relationships" id="280" r:id="Rce1699d7206341f4"/>
    <p:sldId xmlns:r="http://schemas.openxmlformats.org/officeDocument/2006/relationships" id="281" r:id="Rb019f1f1264148ca"/>
    <p:sldId xmlns:r="http://schemas.openxmlformats.org/officeDocument/2006/relationships" id="282" r:id="R32919a7263184d43"/>
    <p:sldId xmlns:r="http://schemas.openxmlformats.org/officeDocument/2006/relationships" id="283" r:id="Rc3da70eb82b745a0"/>
    <p:sldId xmlns:r="http://schemas.openxmlformats.org/officeDocument/2006/relationships" id="284" r:id="Rc30ec4ab1f0949c6"/>
    <p:sldId xmlns:r="http://schemas.openxmlformats.org/officeDocument/2006/relationships" id="285" r:id="R6f5963117d024ba5"/>
    <p:sldId xmlns:r="http://schemas.openxmlformats.org/officeDocument/2006/relationships" id="286" r:id="R83902fc48e3b4f67"/>
    <p:sldId xmlns:r="http://schemas.openxmlformats.org/officeDocument/2006/relationships" id="287" r:id="R9b967c34f82b4af9"/>
    <p:sldId xmlns:r="http://schemas.openxmlformats.org/officeDocument/2006/relationships" id="288" r:id="R81a88047fbbb44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4bc44c7eb3d44e2" /><Relationship Type="http://schemas.openxmlformats.org/officeDocument/2006/relationships/slideMaster" Target="/ppt/slideMasters/slideMaster1.xml" Id="Re8ce817179cd460b" /><Relationship Type="http://schemas.openxmlformats.org/officeDocument/2006/relationships/notesMaster" Target="/ppt/notesMasters/notesMaster1.xml" Id="Rcdc39d41f7654d3a" /><Relationship Type="http://schemas.openxmlformats.org/officeDocument/2006/relationships/presProps" Target="/ppt/presProps.xml" Id="Rc68712cfb55a428a" /><Relationship Type="http://schemas.openxmlformats.org/officeDocument/2006/relationships/viewProps" Target="/ppt/viewProps.xml" Id="R41108010be9e4087" /><Relationship Type="http://schemas.openxmlformats.org/officeDocument/2006/relationships/tableStyles" Target="/ppt/tableStyles.xml" Id="R83b07dd6b399431f" /><Relationship Type="http://schemas.openxmlformats.org/officeDocument/2006/relationships/slide" Target="/ppt/slides/slide1.xml" Id="Rf6ef26b467a9490a" /><Relationship Type="http://schemas.openxmlformats.org/officeDocument/2006/relationships/slide" Target="/ppt/slides/slide2.xml" Id="R4ece3e9758cc4777" /><Relationship Type="http://schemas.openxmlformats.org/officeDocument/2006/relationships/slide" Target="/ppt/slides/slide3.xml" Id="Rbea735bd1c2a473c" /><Relationship Type="http://schemas.openxmlformats.org/officeDocument/2006/relationships/slide" Target="/ppt/slides/slide4.xml" Id="Ra42a8050fb394eda" /><Relationship Type="http://schemas.openxmlformats.org/officeDocument/2006/relationships/slide" Target="/ppt/slides/slide5.xml" Id="R0317752d04294c4e" /><Relationship Type="http://schemas.openxmlformats.org/officeDocument/2006/relationships/slide" Target="/ppt/slides/slide6.xml" Id="R95abe6be015b4afd" /><Relationship Type="http://schemas.openxmlformats.org/officeDocument/2006/relationships/slide" Target="/ppt/slides/slide7.xml" Id="Rb45bac690b924099" /><Relationship Type="http://schemas.openxmlformats.org/officeDocument/2006/relationships/slide" Target="/ppt/slides/slide8.xml" Id="R085e59d25b394323" /><Relationship Type="http://schemas.openxmlformats.org/officeDocument/2006/relationships/slide" Target="/ppt/slides/slide9.xml" Id="R7ba8877b83094627" /><Relationship Type="http://schemas.openxmlformats.org/officeDocument/2006/relationships/slide" Target="/ppt/slides/slide10.xml" Id="Rda4097fcb85f4988" /><Relationship Type="http://schemas.openxmlformats.org/officeDocument/2006/relationships/slide" Target="/ppt/slides/slide11.xml" Id="Rb246fd5a730b444e" /><Relationship Type="http://schemas.openxmlformats.org/officeDocument/2006/relationships/slide" Target="/ppt/slides/slide12.xml" Id="Rbad5d656a8dd4d52" /><Relationship Type="http://schemas.openxmlformats.org/officeDocument/2006/relationships/slide" Target="/ppt/slides/slide13.xml" Id="R92b7bc0fb9be49ca" /><Relationship Type="http://schemas.openxmlformats.org/officeDocument/2006/relationships/slide" Target="/ppt/slides/slide14.xml" Id="Rcac60665e3a2421d" /><Relationship Type="http://schemas.openxmlformats.org/officeDocument/2006/relationships/slide" Target="/ppt/slides/slide15.xml" Id="Raec8b3b179884004" /><Relationship Type="http://schemas.openxmlformats.org/officeDocument/2006/relationships/slide" Target="/ppt/slides/slide16.xml" Id="R146f42380a724283" /><Relationship Type="http://schemas.openxmlformats.org/officeDocument/2006/relationships/slide" Target="/ppt/slides/slide17.xml" Id="Rbce69527703f4ee5" /><Relationship Type="http://schemas.openxmlformats.org/officeDocument/2006/relationships/slide" Target="/ppt/slides/slide18.xml" Id="R490db2d38def4f46" /><Relationship Type="http://schemas.openxmlformats.org/officeDocument/2006/relationships/slide" Target="/ppt/slides/slide19.xml" Id="R2c270cccd6d74666" /><Relationship Type="http://schemas.openxmlformats.org/officeDocument/2006/relationships/slide" Target="/ppt/slides/slide20.xml" Id="R5624a51a36a2482c" /><Relationship Type="http://schemas.openxmlformats.org/officeDocument/2006/relationships/slide" Target="/ppt/slides/slide21.xml" Id="R8647b15cbfec4a58" /><Relationship Type="http://schemas.openxmlformats.org/officeDocument/2006/relationships/slide" Target="/ppt/slides/slide22.xml" Id="R29b7aac1297843cc" /><Relationship Type="http://schemas.openxmlformats.org/officeDocument/2006/relationships/slide" Target="/ppt/slides/slide23.xml" Id="Ra9197f293bca432f" /><Relationship Type="http://schemas.openxmlformats.org/officeDocument/2006/relationships/slide" Target="/ppt/slides/slide24.xml" Id="R42db36c99f954006" /><Relationship Type="http://schemas.openxmlformats.org/officeDocument/2006/relationships/slide" Target="/ppt/slides/slide25.xml" Id="Rce1699d7206341f4" /><Relationship Type="http://schemas.openxmlformats.org/officeDocument/2006/relationships/slide" Target="/ppt/slides/slide26.xml" Id="Rb019f1f1264148ca" /><Relationship Type="http://schemas.openxmlformats.org/officeDocument/2006/relationships/slide" Target="/ppt/slides/slide27.xml" Id="R32919a7263184d43" /><Relationship Type="http://schemas.openxmlformats.org/officeDocument/2006/relationships/slide" Target="/ppt/slides/slide28.xml" Id="Rc3da70eb82b745a0" /><Relationship Type="http://schemas.openxmlformats.org/officeDocument/2006/relationships/slide" Target="/ppt/slides/slide29.xml" Id="Rc30ec4ab1f0949c6" /><Relationship Type="http://schemas.openxmlformats.org/officeDocument/2006/relationships/slide" Target="/ppt/slides/slide30.xml" Id="R6f5963117d024ba5" /><Relationship Type="http://schemas.openxmlformats.org/officeDocument/2006/relationships/slide" Target="/ppt/slides/slide31.xml" Id="R83902fc48e3b4f67" /><Relationship Type="http://schemas.openxmlformats.org/officeDocument/2006/relationships/slide" Target="/ppt/slides/slide32.xml" Id="R9b967c34f82b4af9" /><Relationship Type="http://schemas.openxmlformats.org/officeDocument/2006/relationships/slide" Target="/ppt/slides/slide33.xml" Id="R81a88047fbbb44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c97685574343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8d5d76844745ca" /><Relationship Type="http://schemas.openxmlformats.org/officeDocument/2006/relationships/notesMaster" Target="/ppt/notesMasters/notesMaster1.xml" Id="R7476c432af374a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34b33d535d41c0" /><Relationship Type="http://schemas.openxmlformats.org/officeDocument/2006/relationships/notesMaster" Target="/ppt/notesMasters/notesMaster1.xml" Id="Rd91ee397fef14c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c64109c534494d" /><Relationship Type="http://schemas.openxmlformats.org/officeDocument/2006/relationships/notesMaster" Target="/ppt/notesMasters/notesMaster1.xml" Id="R5dd201462b5c4e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56c047b0a540d9" /><Relationship Type="http://schemas.openxmlformats.org/officeDocument/2006/relationships/notesMaster" Target="/ppt/notesMasters/notesMaster1.xml" Id="Rce317841ae9346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9098281ac54c51" /><Relationship Type="http://schemas.openxmlformats.org/officeDocument/2006/relationships/notesMaster" Target="/ppt/notesMasters/notesMaster1.xml" Id="R933087f9061749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c3f236727e41a0" /><Relationship Type="http://schemas.openxmlformats.org/officeDocument/2006/relationships/notesMaster" Target="/ppt/notesMasters/notesMaster1.xml" Id="R1956b533d52c45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63dd6c14a142a5" /><Relationship Type="http://schemas.openxmlformats.org/officeDocument/2006/relationships/notesMaster" Target="/ppt/notesMasters/notesMaster1.xml" Id="Rdfd945a5d98342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810432eb9946be" /><Relationship Type="http://schemas.openxmlformats.org/officeDocument/2006/relationships/notesMaster" Target="/ppt/notesMasters/notesMaster1.xml" Id="R96c85a886f2349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77d5c4b6de487b" /><Relationship Type="http://schemas.openxmlformats.org/officeDocument/2006/relationships/notesMaster" Target="/ppt/notesMasters/notesMaster1.xml" Id="Rd70d30e70deb4a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e8112b24e34820" /><Relationship Type="http://schemas.openxmlformats.org/officeDocument/2006/relationships/notesMaster" Target="/ppt/notesMasters/notesMaster1.xml" Id="Rdf2fe5ad8d2c40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474347d832404d" /><Relationship Type="http://schemas.openxmlformats.org/officeDocument/2006/relationships/notesMaster" Target="/ppt/notesMasters/notesMaster1.xml" Id="R4c3d2de1062148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a074a302e64db5" /><Relationship Type="http://schemas.openxmlformats.org/officeDocument/2006/relationships/notesMaster" Target="/ppt/notesMasters/notesMaster1.xml" Id="R8b64dde9dc7e45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a20a79e1724ebf" /><Relationship Type="http://schemas.openxmlformats.org/officeDocument/2006/relationships/notesMaster" Target="/ppt/notesMasters/notesMaster1.xml" Id="R43b86e03737d4d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e0986efcf14ed6" /><Relationship Type="http://schemas.openxmlformats.org/officeDocument/2006/relationships/notesMaster" Target="/ppt/notesMasters/notesMaster1.xml" Id="Rda0ad4bf7ce544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53e4fdc7774ee5" /><Relationship Type="http://schemas.openxmlformats.org/officeDocument/2006/relationships/notesMaster" Target="/ppt/notesMasters/notesMaster1.xml" Id="Rec0160979d1943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1c24f3721c43b6" /><Relationship Type="http://schemas.openxmlformats.org/officeDocument/2006/relationships/notesMaster" Target="/ppt/notesMasters/notesMaster1.xml" Id="R6f4347392af541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16dfa13efb4d14" /><Relationship Type="http://schemas.openxmlformats.org/officeDocument/2006/relationships/notesMaster" Target="/ppt/notesMasters/notesMaster1.xml" Id="Ra5ed30d240314d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9389ec51024188" /><Relationship Type="http://schemas.openxmlformats.org/officeDocument/2006/relationships/notesMaster" Target="/ppt/notesMasters/notesMaster1.xml" Id="Rbc489ac55abf45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bf470cfe5046dc" /><Relationship Type="http://schemas.openxmlformats.org/officeDocument/2006/relationships/notesMaster" Target="/ppt/notesMasters/notesMaster1.xml" Id="R8a80ba4b7dd949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ce7c05419854a65" /><Relationship Type="http://schemas.openxmlformats.org/officeDocument/2006/relationships/notesMaster" Target="/ppt/notesMasters/notesMaster1.xml" Id="Rf219b874ecd341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f62fe4844f417d" /><Relationship Type="http://schemas.openxmlformats.org/officeDocument/2006/relationships/notesMaster" Target="/ppt/notesMasters/notesMaster1.xml" Id="Rf5f6f36e973244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5bb53f50551425c" /><Relationship Type="http://schemas.openxmlformats.org/officeDocument/2006/relationships/notesMaster" Target="/ppt/notesMasters/notesMaster1.xml" Id="R41f40020dfc5429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d53b4eb6604553" /><Relationship Type="http://schemas.openxmlformats.org/officeDocument/2006/relationships/notesMaster" Target="/ppt/notesMasters/notesMaster1.xml" Id="R5ec3dc92559048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056399aea44f56" /><Relationship Type="http://schemas.openxmlformats.org/officeDocument/2006/relationships/notesMaster" Target="/ppt/notesMasters/notesMaster1.xml" Id="Rc18bf677bee849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67ea2d49164413" /><Relationship Type="http://schemas.openxmlformats.org/officeDocument/2006/relationships/notesMaster" Target="/ppt/notesMasters/notesMaster1.xml" Id="Rf7f97f58c94a43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b5fd5261e5430a" /><Relationship Type="http://schemas.openxmlformats.org/officeDocument/2006/relationships/notesMaster" Target="/ppt/notesMasters/notesMaster1.xml" Id="R691477ddf6b44c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8b7fcc986274f20" /><Relationship Type="http://schemas.openxmlformats.org/officeDocument/2006/relationships/notesMaster" Target="/ppt/notesMasters/notesMaster1.xml" Id="R0d919b82db5341a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d2769646c342d2" /><Relationship Type="http://schemas.openxmlformats.org/officeDocument/2006/relationships/notesMaster" Target="/ppt/notesMasters/notesMaster1.xml" Id="R2e82eaa8ade0451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b5da2062ec4f25" /><Relationship Type="http://schemas.openxmlformats.org/officeDocument/2006/relationships/notesMaster" Target="/ppt/notesMasters/notesMaster1.xml" Id="Rd818ffd55aca4a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6bc50f6c1e24733" /><Relationship Type="http://schemas.openxmlformats.org/officeDocument/2006/relationships/notesMaster" Target="/ppt/notesMasters/notesMaster1.xml" Id="Rd077cd95090a4bf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a41bd6f1d534228" /><Relationship Type="http://schemas.openxmlformats.org/officeDocument/2006/relationships/notesMaster" Target="/ppt/notesMasters/notesMaster1.xml" Id="Re9e1a476e0894b9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52dcf2704224e07" /><Relationship Type="http://schemas.openxmlformats.org/officeDocument/2006/relationships/notesMaster" Target="/ppt/notesMasters/notesMaster1.xml" Id="R9a3bb2dd2fac435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b4d5fa48bf94b79" /><Relationship Type="http://schemas.openxmlformats.org/officeDocument/2006/relationships/notesMaster" Target="/ppt/notesMasters/notesMaster1.xml" Id="Rc1d8430e0fd84a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endParaRP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endParaRP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endParaRP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endParaRP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This orientation now previews the first-session actions that follow. The key distinction is between operating the tool, understanding the model hierarchy, reviewing displayed semantics, inspecting logged data, and tracing behavior to evidence. Keep “top level” tied to the current job: simulation, integration, development, or unit verification.</a:t>
            </a:r>
          </a:p>
          <a:p xmlns:a="http://schemas.openxmlformats.org/drawingml/2006/main">
            <a:r>
              <a:t/>
            </a:r>
          </a:p>
          <a:p xmlns:a="http://schemas.openxmlformats.org/drawingml/2006/main">
            <a:r>
              <a:t>[Sources]</a:t>
            </a:r>
            <a:endParaRPr/>
          </a:p>
          <a:p xmlns:a="http://schemas.openxmlformats.org/drawingml/2006/main">
            <a:r>
              <a:t>- https://www.mathworks.com/help/simulink/slref/simulinkeditor.html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endParaRP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endParaRP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First-session command path:</a:t>
            </a:r>
          </a:p>
          <a:p xmlns:a="http://schemas.openxmlformats.org/drawingml/2006/main">
            <a:r>
              <a:t>1. projectRoot = pwd;</a:t>
            </a:r>
          </a:p>
          <a:p xmlns:a="http://schemas.openxmlformats.org/drawingml/2006/main">
            <a:r>
              <a:t>2. addpath(fullfile(projectRoot,'scripts'), fullfile(projectRoot,'models'), fullfile(projectRoot,'data'));</a:t>
            </a:r>
            <a:endParaRPr/>
          </a:p>
          <a:p xmlns:a="http://schemas.openxmlformats.org/drawingml/2006/main">
            <a:r>
              <a:t>3. initialize_training_data(projectRoot);</a:t>
            </a:r>
          </a:p>
          <a:p xmlns:a="http://schemas.openxmlformats.org/drawingml/2006/main">
            <a:r>
              <a:t>4. open_system(fullfile(projectRoot,'models','AircraftFeedbackControlLoop.slx'));</a:t>
            </a:r>
          </a:p>
          <a:p xmlns:a="http://schemas.openxmlformats.org/drawingml/2006/main">
            <a:r>
              <a:t>5. Update Model with Ctrl+D before the first run; run with Ctrl+T or F5; stop with Ctrl+Shift+T.</a:t>
            </a:r>
            <a:endParaRPr/>
          </a:p>
          <a:p xmlns:a="http://schemas.openxmlformats.org/drawingml/2006/main">
            <a:r>
              <a:t/>
            </a:r>
          </a:p>
          <a:p xmlns:a="http://schemas.openxmlformats.org/drawingml/2006/main">
            <a:r>
              <a:t>Update/compile resolves and propagates model semantics; it is not a simulation. Run executes the desktop model. Ctrl+B is a configured code-generation build, which is a separate action. This training package does not claim generated-code, PIL, or HIL evidence.</a:t>
            </a:r>
          </a:p>
          <a:p xmlns:a="http://schemas.openxmlformats.org/drawingml/2006/main">
            <a:r>
              <a:t/>
            </a:r>
          </a:p>
          <a:p xmlns:a="http://schemas.openxmlformats.org/drawingml/2006/main">
            <a:r>
              <a:t>The displaced file-type lesson remains useful: .slx is a model, .m is MATLAB code, .mlx is live code, .sldd is controlled design data, and .mldatx is a Simulink Test artifact. This package does not supply a .mldatx file.</a:t>
            </a:r>
          </a:p>
          <a:p xmlns:a="http://schemas.openxmlformats.org/drawingml/2006/main">
            <a:r>
              <a:t/>
            </a:r>
            <a:endParaRPr/>
          </a:p>
          <a:p xmlns:a="http://schemas.openxmlformats.org/drawingml/2006/main">
            <a:r>
              <a:t>[Sources]</a:t>
            </a: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Use this authentic local R2023b editor capture to orient the learner. Start at the toolstrip:</a:t>
            </a:r>
          </a:p>
          <a:p xmlns:a="http://schemas.openxmlformats.org/drawingml/2006/main">
            <a:r>
              <a:t>- Simulation: Run, Stop, and Data Inspector.</a:t>
            </a:r>
          </a:p>
          <a:p xmlns:a="http://schemas.openxmlformats.org/drawingml/2006/main">
            <a:r>
              <a:t>- Debug: diagnostics and Information Overlays.</a:t>
            </a:r>
            <a:endParaRPr/>
          </a:p>
          <a:p xmlns:a="http://schemas.openxmlformats.org/drawingml/2006/main">
            <a:r>
              <a:t>- Modeling: Update Model and model configuration/settings.</a:t>
            </a:r>
            <a:endParaRPr/>
          </a:p>
          <a:p xmlns:a="http://schemas.openxmlformats.org/drawingml/2006/main">
            <a:r>
              <a:t>- Apps: optional products such as testing and code generation.</a:t>
            </a:r>
            <a:endParaRPr/>
          </a:p>
          <a:p xmlns:a="http://schemas.openxmlformats.org/drawingml/2006/main">
            <a:r>
              <a:t/>
            </a:r>
            <a:endParaRPr/>
          </a:p>
          <a:p xmlns:a="http://schemas.openxmlformats.org/drawingml/2006/main">
            <a:r>
              <a:t>The visible model is models/AircraftFeedbackControlLoop.slx, the runnable closed-loop training simulation. The title-bar asterisk reflects temporary display settings used for the capture; the source model was not saved or modified.</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p>
          <a:p xmlns:a="http://schemas.openxmlformats.org/drawingml/2006/main">
            <a:r>
              <a:t>- https://www.mathworks.com/help/simulink/ug/summary-of-mouse-and-keyboard-actions.html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From Debug &gt; Information Overlays, show or hide Units, Base Data Types, Signal Dimensions, and Log &amp; Testpoint indicators. Use overlays while reviewing interfaces, then reduce them when the diagram becomes visually crowded. The displayed unit is metadata associated with the port or signal; turning the overlay off does not remove the underlying unit.</a:t>
            </a:r>
          </a:p>
          <a:p xmlns:a="http://schemas.openxmlformats.org/drawingml/2006/main">
            <a:r>
              <a:t/>
            </a:r>
          </a:p>
          <a:p xmlns:a="http://schemas.openxmlformats.org/drawingml/2006/main">
            <a:r>
              <a:t>Distinguish three ideas:</a:t>
            </a:r>
            <a:endParaRPr/>
          </a:p>
          <a:p xmlns:a="http://schemas.openxmlformats.org/drawingml/2006/main">
            <a:r>
              <a:t>- A signal can be configured for logging.</a:t>
            </a:r>
          </a:p>
          <a:p xmlns:a="http://schemas.openxmlformats.org/drawingml/2006/main">
            <a:r>
              <a:t>- A model overlay can show the logging/test-point badge and other metadata on the diagram.</a:t>
            </a:r>
          </a:p>
          <a:p xmlns:a="http://schemas.openxmlformats.org/drawingml/2006/main">
            <a:r>
              <a:t>- An SDI marker shows an exact logged sample on a plotted trace.</a:t>
            </a:r>
            <a:endParaRPr/>
          </a:p>
          <a:p xmlns:a="http://schemas.openxmlformats.org/drawingml/2006/main">
            <a:r>
              <a:t/>
            </a:r>
          </a:p>
          <a:p xmlns:a="http://schemas.openxmlformats.org/drawingml/2006/main">
            <a:r>
              <a:t>[Sources]</a:t>
            </a:r>
          </a:p>
          <a:p xmlns:a="http://schemas.openxmlformats.org/drawingml/2006/main">
            <a:r>
              <a:t>- https://www.mathworks.com/help/simulink/slref/simulinkeditor.html</a:t>
            </a:r>
          </a:p>
          <a:p xmlns:a="http://schemas.openxmlformats.org/drawingml/2006/main">
            <a:r>
              <a:t>- https://www.mathworks.com/help/simulink/ug/displaying-units.html</a:t>
            </a:r>
          </a:p>
          <a:p xmlns:a="http://schemas.openxmlformats.org/drawingml/2006/main">
            <a:r>
              <a:t>- https://www.mathworks.com/help/simulink/gui/signallogging.html</a:t>
            </a:r>
            <a:endParaRP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Four entry points are visible because they answer different questions:</a:t>
            </a:r>
          </a:p>
          <a:p xmlns:a="http://schemas.openxmlformats.org/drawingml/2006/main">
            <a:r>
              <a:t>- AircraftFeedbackControlLoop.slx: runnable closed-loop system-level training simulation.</a:t>
            </a:r>
          </a:p>
          <a:p xmlns:a="http://schemas.openxmlformats.org/drawingml/2006/main">
            <a:r>
              <a:t>- ReferencedFlightControlArchitecture.slx: integration parent containing SensorProcessingRef, PitchRateLimiter, PitchControllerRef, and ActuatorCommandRef model references.</a:t>
            </a:r>
            <a:endParaRPr/>
          </a:p>
          <a:p xmlns:a="http://schemas.openxmlformats.org/drawingml/2006/main">
            <a:r>
              <a:t>- PitchRateLimiter.slx: software component implementation.</a:t>
            </a:r>
            <a:endParaRPr/>
          </a:p>
          <a:p xmlns:a="http://schemas.openxmlformats.org/drawingml/2006/main">
            <a:r>
              <a:t>- PitchRateLimiter_Harness.slx: separate unit harness that points to PitchRateLimiter.</a:t>
            </a:r>
            <a:endParaRPr/>
          </a:p>
          <a:p xmlns:a="http://schemas.openxmlformats.org/drawingml/2006/main">
            <a:r>
              <a:t/>
            </a:r>
            <a:endParaRPr/>
          </a:p>
          <a:p xmlns:a="http://schemas.openxmlformats.org/drawingml/2006/main">
            <a:r>
              <a:t>Do not imply that AircraftFeedbackControlLoop is the parent of ReferencedFlightControlArchitecture; they are separate top-level models for different jobs.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The visible plot is the authentic retained desktop result from results/AircraftFeedback_CommandTracking.mat. In a live R2023b demonstration:</a:t>
            </a:r>
          </a:p>
          <a:p xmlns:a="http://schemas.openxmlformats.org/drawingml/2006/main">
            <a:r>
              <a:t>1. Configure the relevant signals for logging.</a:t>
            </a:r>
          </a:p>
          <a:p xmlns:a="http://schemas.openxmlformats.org/drawingml/2006/main">
            <a:r>
              <a:t>2. Run the model, then open Simulation &gt; Data Inspector.</a:t>
            </a:r>
            <a:endParaRPr/>
          </a:p>
          <a:p xmlns:a="http://schemas.openxmlformats.org/drawingml/2006/main">
            <a:r>
              <a:t>3. Select a run and plot command, response, tracking error, and actuator command.</a:t>
            </a:r>
            <a:endParaRPr/>
          </a:p>
          <a:p xmlns:a="http://schemas.openxmlformats.org/drawingml/2006/main">
            <a:r>
              <a:t>4. Turn markers on to expose exact logged samples; use cursors to read values and time differences.</a:t>
            </a:r>
            <a:endParaRPr/>
          </a:p>
          <a:p xmlns:a="http://schemas.openxmlformats.org/drawingml/2006/main">
            <a:r>
              <a:t>5. Use Compare for baseline-versus-candidate results with planned time, absolute, and relative tolerances.</a:t>
            </a:r>
            <a:endParaRPr/>
          </a:p>
          <a:p xmlns:a="http://schemas.openxmlformats.org/drawingml/2006/main">
            <a:r>
              <a:t>6. Retain run/session metadata with the controlled model and configuration.</a:t>
            </a:r>
            <a:endParaRPr/>
          </a:p>
          <a:p xmlns:a="http://schemas.openxmlformats.org/drawingml/2006/main">
            <a:r>
              <a:t/>
            </a:r>
            <a:endParaRPr/>
          </a:p>
          <a:p xmlns:a="http://schemas.openxmlformats.org/drawingml/2006/main">
            <a:r>
              <a:t>Data points are the logged samples. Markers merely make those samples visible; hiding markers does not discard them. A passing comparison remains evidence input, not certification approval by itself.</a:t>
            </a:r>
            <a:endParaRPr/>
          </a:p>
          <a:p xmlns:a="http://schemas.openxmlformats.org/drawingml/2006/main">
            <a:r>
              <a:t/>
            </a:r>
          </a:p>
          <a:p xmlns:a="http://schemas.openxmlformats.org/drawingml/2006/main">
            <a:r>
              <a:t>[Sources]</a:t>
            </a:r>
          </a:p>
          <a:p xmlns:a="http://schemas.openxmlformats.org/drawingml/2006/main">
            <a:r>
              <a:t>- https://www.mathworks.com/help/simulink/gui/signallogging.html</a:t>
            </a:r>
            <a:endParaRPr/>
          </a:p>
          <a:p xmlns:a="http://schemas.openxmlformats.org/drawingml/2006/main">
            <a:r>
              <a:t>- https://www.mathworks.com/help/simulink/slref/simulationdatainspector.html</a:t>
            </a:r>
          </a:p>
          <a:p xmlns:a="http://schemas.openxmlformats.org/drawingml/2006/main">
            <a:r>
              <a:t>- https://www.mathworks.com/help/simulink/slref/simulink.sdi.setmarkerson.html</a:t>
            </a:r>
          </a:p>
          <a:p xmlns:a="http://schemas.openxmlformats.org/drawingml/2006/main">
            <a:r>
              <a:t>- https://www.mathworks.com/help/simulink/ug/compare-simulation-data.html</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Stateflow chart shows OFF, ARMED, ENGAGED, and DEGRADED states with guarded transitions.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endParaRP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endParaRP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endParaRP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V3 terminology clarification:
- Prefer the training-example title “Gas Turbine Controls: Model-Based Development with Independent Verification,” not “independent compliance.”
- DO-178C is an accepted means of compliance, not a standalone software certificate. DO-331 supplements DO-178C for model-based development and verification.
- A Simulink model is not automatically compliant; its planned role, traceability, reviews, verification, configuration control, and lifecycle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endParaRP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endParaRP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endParaRP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a:p xmlns:a="http://schemas.openxmlformats.org/drawingml/2006/main">
            <a:r>
              <a:t>
V3 software-level and independence clarification:
- Say “DO-178C Software Level A” when discussing software objectives. Use a broader system Development Assurance Level only when discussing the system-level allocation that informed the software level.
- Independence applies to designated verification objectives under approved plans. Avoid the blanket claim that an author can never participate in review; where independence is required, the author should not be the sole independent verifier of their own work.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a:p xmlns:a="http://schemas.openxmlformats.org/drawingml/2006/main">
            <a:r>
              <a:t>
V3 evidence clarification:
- A passing pipeline or test result is an evidence input. It is not certification approval by itself.
- MIL, SIL, PIL, HIL, bench, and system-integration testing are different verification environments. This training project did not perform HIL testing.
[Sources]
- https://www.faa.gov/documentLibrary/media/Order/FAA_Order_8110.49A.pdf</a:t>
            </a:r>
          </a:p>
          <a:p xmlns:a="http://schemas.openxmlformats.org/drawingml/2006/main">
            <a:r>
              <a:t>
V4 first-user connection:
- Update, simulation, scripted tests, and CI are different evidence-producing actions. A pass from any one action is input to review, not automatic approval.
- This training package did not perform HIL.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the V down the left from system/engine requirements through HLR, architecture/design and low-level requirements, model/source implementation, and executable object code. The controlled software baseline is the configuration-controlled vertex. Then walk up the right through target and integration environments, MIL/SIL analysis and coverage, component or unit verification, software integration verification, and system verification and validation. The dashed two-headed links emphasize bidirectional traceability: each definition has planned verification, and every result identifies the definition and controlled configuration it covers.</a:t>
            </a:r>
          </a:p>
          <a:p xmlns:a="http://schemas.openxmlformats.org/drawingml/2006/main">
            <a:r>
              <a:t/>
            </a:r>
          </a:p>
          <a:p xmlns:a="http://schemas.openxmlformats.org/drawingml/2006/main">
            <a:r>
              <a:t>Use the four callouts to separate responsibilities:</a:t>
            </a:r>
            <a:endParaRPr/>
          </a:p>
          <a:p xmlns:a="http://schemas.openxmlformats.org/drawingml/2006/main">
            <a:r>
              <a:t>- Model-based software development uses MATLAB/Simulink as planned lifecycle tools and artifacts; a Simulink model is not automatically compliant.</a:t>
            </a:r>
          </a:p>
          <a:p xmlns:a="http://schemas.openxmlformats.org/drawingml/2006/main">
            <a:r>
              <a:t>- Requirements need bidirectional traceability into implementation, verification procedures, results, reviews, and problem dispositions.</a:t>
            </a:r>
          </a:p>
          <a:p xmlns:a="http://schemas.openxmlformats.org/drawingml/2006/main">
            <a:r>
              <a:t>- Independence applies to designated verification objectives under approved plans. An author is not categorically prohibited from participating in review, but should not be the sole independent verifier of their own work where independence is required.</a:t>
            </a:r>
            <a:endParaRPr/>
          </a:p>
          <a:p xmlns:a="http://schemas.openxmlformats.org/drawingml/2006/main">
            <a:r>
              <a:t>- MIL, SIL, PIL, HIL, bench, and system-integration testing are distinct verification environments. PIL is an execution environment and is not automatically synonymous with unit testing. Call a test HIL only when actual controller or target hardware, a real-time plant environment, and physical I/O are used. This training project performed no HIL testing.</a:t>
            </a:r>
          </a:p>
          <a:p xmlns:a="http://schemas.openxmlformats.org/drawingml/2006/main">
            <a:r>
              <a:t/>
            </a:r>
          </a:p>
          <a:p xmlns:a="http://schemas.openxmlformats.org/drawingml/2006/main">
            <a:r>
              <a:t>Certification and lifecycle language:</a:t>
            </a:r>
          </a:p>
          <a:p xmlns:a="http://schemas.openxmlformats.org/drawingml/2006/main">
            <a:r>
              <a:t>- Prefer the example title “Gas Turbine Controls: Model-Based Development with Independent Verification,” not “independent compliance.”</a:t>
            </a:r>
          </a:p>
          <a:p xmlns:a="http://schemas.openxmlformats.org/drawingml/2006/main">
            <a:r>
              <a:t>- DO-178C is an accepted means of compliance, not a standalone software certificate. DO-331 supplements DO-178C for model-based development and verification.</a:t>
            </a:r>
            <a:endParaRPr/>
          </a:p>
          <a:p xmlns:a="http://schemas.openxmlformats.org/drawingml/2006/main">
            <a:r>
              <a:t>- Use “DO-178C Software Level A” unless the discussion is explicitly about a broader system Development Assurance Level allocation.</a:t>
            </a:r>
          </a:p>
          <a:p xmlns:a="http://schemas.openxmlformats.org/drawingml/2006/main">
            <a:r>
              <a:t>- Agile and waterfall can both be used. Agile changes cadence, not the need for lifecycle data, ordered reviews, traceability, configuration control, controlled baselines, planned verification, or designated independence.</a:t>
            </a:r>
          </a:p>
          <a:p xmlns:a="http://schemas.openxmlformats.org/drawingml/2006/main">
            <a:r>
              <a:t>- A passing pipeline or test result is evidence input, not certification approval by itself.</a:t>
            </a: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a:p xmlns:a="http://schemas.openxmlformats.org/drawingml/2006/main">
            <a:r>
              <a:t>- https://www.nasa.gov/reference/systems-engineering-handbook/</a:t>
            </a:r>
          </a:p>
          <a:p xmlns:a="http://schemas.openxmlformats.org/drawingml/2006/main">
            <a:r>
              <a:t>
V4 first-user connection:
- The visible pseudo requirements on slide 18 and trace chain on slide 19 are classroom artifacts. A Simulink model is not automatically compliant; its planned lifecycle role, reviews, traceability, configuration control, and verification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endParaRP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endParaRP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a:p xmlns:a="http://schemas.openxmlformats.org/drawingml/2006/main">
            <a:r>
              <a:t>
V3 lifecycle clarification:
- Agile and waterfall are both usable lifecycle organizations. Whichever cadence is selected, approved plans still have to account for lifecycle data, traceability, reviews, configuration control, controlled baselines, verification objectives, and planned independence.
- Review gates should be ordered around stable inputs and exit criteria even when development iterates in short increments.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second nine-step serpentine flow covers integration, compile, CI failure loops, HIL, and final evidence.</a:t>
            </a:r>
          </a:p>
          <a:p xmlns:a="http://schemas.openxmlformats.org/drawingml/2006/main">
            <a:endParaRPr/>
          </a:p>
          <a:p xmlns:a="http://schemas.openxmlformats.org/drawingml/2006/main">
            <a:r>
              <a:t>Speaker notes:</a:t>
            </a:r>
          </a:p>
          <a:p xmlns:a="http://schemas.openxmlformats.org/drawingml/2006/main">
            <a:r>
              <a:t>Continue from verified component behavior. Integration places the component into a referenced-model or architecture framework and connects controlled interfaces. Compile or model update is a semantic gate: it resolves references and catches type, dimension, rate, variant, and configuration problems. Jenkins then orchestrates repeatable checks, builds, tests, and reports. When the pipeline fails, investigate the first meaningful failure rather than treating every downstream message as independent. Fix the root cause, add a regression test or check where appropriate, re-run the affected scope, and then run the controlled full pipeline. A passing configuration can proceed to HIL, where real hardware, real I/O, real-time execution, faults, and closed-loop plant behavior are evaluated. Final evidence assembles results with configuration identity, trace links, reviews, and dispositions.</a:t>
            </a:r>
          </a:p>
          <a:p xmlns:a="http://schemas.openxmlformats.org/drawingml/2006/main">
            <a:endParaRPr/>
          </a:p>
          <a:p xmlns:a="http://schemas.openxmlformats.org/drawingml/2006/main">
            <a:r>
              <a:t>Key teaching points:</a:t>
            </a:r>
          </a:p>
          <a:p xmlns:a="http://schemas.openxmlformats.org/drawingml/2006/main">
            <a:r>
              <a:t>• Compile validates model semantics, not requirements compliance.</a:t>
            </a:r>
          </a:p>
          <a:p xmlns:a="http://schemas.openxmlformats.org/drawingml/2006/main">
            <a:r>
              <a:t>• CI failures are a feedback loop, not a paperwork step.</a:t>
            </a:r>
          </a:p>
          <a:p xmlns:a="http://schemas.openxmlformats.org/drawingml/2006/main">
            <a:r>
              <a:t>• HIL and pipeline results must remain linked to requirements and configuration.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r>
              <a:t>- https://www.faa.gov/documentLibrary/media/Advisory_Circular/AC_20-115D.pdf</a:t>
            </a:r>
          </a:p>
          <a:p xmlns:a="http://schemas.openxmlformats.org/drawingml/2006/main">
            <a:r>
              <a:t>
V3 environment clarification:
- The visible sequence is conceptual; this project did not execute Jenkins or HIL. “Execute planned integration tests” means use the environments required by the approved verification strategy.
- MIL, SIL, PIL, HIL, bench, and system-integration testing are different environments. PIL is target-code execution and is not automatically unit testing.
- Use “HIL” only when actual controller or target hardware, a real-time plant environment, and physical I/O are present.
- A green pipeline or passing test is evidence input, not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These are illustrative classroom requirements, not production aircraft data and not an approved certification baseline. Whether a Simulink model represents HLR, LLR, design, or verification data is established by approved project plans; a Simulink model is not automatically compliant. This package has no live Simulink Requirements links, so the demonstration uses CSV/script/result associations.</a:t>
            </a:r>
          </a:p>
          <a:p xmlns:a="http://schemas.openxmlformats.org/drawingml/2006/main">
            <a:r>
              <a:t/>
            </a:r>
          </a:p>
          <a:p xmlns:a="http://schemas.openxmlformats.org/drawingml/2006/main">
            <a:r>
              <a:t>Complete training set:</a:t>
            </a:r>
            <a:endParaRPr/>
          </a:p>
          <a:p xmlns:a="http://schemas.openxmlformats.org/drawingml/2006/main">
            <a:r>
              <a:t>- PSYS-001: command-path protection allocated to ReferencedFlightControlArchitecture/Pitch Rate Limiter and PitchRateLimiter.</a:t>
            </a:r>
          </a:p>
          <a:p xmlns:a="http://schemas.openxmlformats.org/drawingml/2006/main">
            <a:r>
              <a:t>- SWHLR-001 / PRL-001: inclusive clamp to ±12 deg/s while valid and Normal.</a:t>
            </a:r>
          </a:p>
          <a:p xmlns:a="http://schemas.openxmlformats.org/drawingml/2006/main">
            <a:r>
              <a:t>- SWHLR-002 / PRL-002: zero fallback when mode or validity is false.</a:t>
            </a:r>
            <a:endParaRPr/>
          </a:p>
          <a:p xmlns:a="http://schemas.openxmlformats.org/drawingml/2006/main">
            <a:r>
              <a:t>- SWHLR-003 / PRL-003: limiter_active only for strictly out-of-limit valid Normal inputs; false at exactly ±12 and during fallback.</a:t>
            </a:r>
          </a:p>
          <a:p xmlns:a="http://schemas.openxmlformats.org/drawingml/2006/main">
            <a:r>
              <a:t>- SWHLR-004 / PRL-004/005: 50 Hz, same-sample output, no added slew/state dynamics.</a:t>
            </a:r>
          </a:p>
          <a:p xmlns:a="http://schemas.openxmlformats.org/drawingml/2006/main">
            <a:r>
              <a:t>- SWLLR-001..004: exact blocks, strict comparisons, types, units, Boolean status, and fixed-step 0.02 s contract.</a:t>
            </a:r>
          </a:p>
          <a:p xmlns:a="http://schemas.openxmlformats.org/drawingml/2006/main">
            <a:r>
              <a:t/>
            </a:r>
          </a:p>
          <a:p xmlns:a="http://schemas.openxmlformats.org/drawingml/2006/main">
            <a:r>
              <a:t>[Sources]</a:t>
            </a:r>
            <a:endParaRP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Walk left to right, then return right to left:</a:t>
            </a:r>
          </a:p>
          <a:p xmlns:a="http://schemas.openxmlformats.org/drawingml/2006/main">
            <a:r>
              <a:t>PSYS-001 → SWHLR-001 / PRL-001 → SWLLR-001 → PitchRateLimiter/Pitch Rate Limiter Logic/Magnitude Clamp → PitchRateLimiter_Harness/Unit Under Test - PitchRateLimiter → scripts/run_pitch_rate_limiter_tests.m, case “Boundary above upper limit” → retained result Iteration 8.</a:t>
            </a:r>
          </a:p>
          <a:p xmlns:a="http://schemas.openxmlformats.org/drawingml/2006/main">
            <a:r>
              <a:t/>
            </a:r>
            <a:endParaRPr/>
          </a:p>
          <a:p xmlns:a="http://schemas.openxmlformats.org/drawingml/2006/main">
            <a:r>
              <a:t>Result detail: t=0.14 s; input=12.1 deg/s; expected=12; actual=12; error=0; tolerance=1e−9; timestamp/timing PASS; overall PASS. The retained CSV result field AssociatedRequirement lists PRL-001, PRL-003, and PRL-004; this slide focuses the chain on the PRL-001 clamp allocation while preserving the complete association. Environment: desktop Simulink model execution (MIL), not SIL, PIL, or HIL.</a:t>
            </a:r>
            <a:endParaRPr/>
          </a:p>
          <a:p xmlns:a="http://schemas.openxmlformats.org/drawingml/2006/main">
            <a:r>
              <a:t/>
            </a:r>
            <a:endParaRPr/>
          </a:p>
          <a:p xmlns:a="http://schemas.openxmlformats.org/drawingml/2006/main">
            <a:r>
              <a:t>Use the corrected live-model names: Magnitude Clamp, Select Valid Command, and Valid Clamp Active. The package uses CSV/script/result associations, not live Simulink Requirements links. A passing result is evidence input, not certification approval.</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dictionary-derived inventory shows FlightControlBus elements and controlled training parameters from FCS_Data.sldd.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endParaRP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endParaRP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endParaRP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endParaRP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standalone PitchRateLimiter_Harness model shows sources, referenced component, and retained outputs.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endParaRP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endParaRP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endParaRP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endParaRP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actual report summary shows the executable MATLAB fallback used because Simulink Test is unavailable.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endParaRP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generated view of the delivered external callback functions shows setup through cleanup.</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endParaRP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endParaRP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endParaRP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endParaRP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a:p xmlns:a="http://schemas.openxmlformats.org/drawingml/2006/main">
            <a:r>
              <a:t>
V3 pipeline clarification:
- A passing pipeline shows that configured steps passed on a controlled agent and baseline. It is evidence input, not certification approval by itself, and does not remove review, traceability, configuration, problem-report, or independence objectives.
[Sources]
- https://www.faa.gov/documentLibrary/media/Order/FAA_Order_8110.49A.pdf</a:t>
            </a:r>
          </a:p>
          <a:p xmlns:a="http://schemas.openxmlformats.org/drawingml/2006/main">
            <a:r>
              <a:t>
V4 first-user clarification:
- The supplied package uses MATLAB scripts and retained CSV/MAT/PNG/HTML-style artifacts; it does not contain a .mldatx suite.
- A green CI stage is evidence input from the controlled agent/configuration. It is not certification approval and does not replace traceability, review, configuration control, problem reporting, or designated independence.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endParaRP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endParaRP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endParaRP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endParaRP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V3 HIL clarification:
- This slide describes a possible program verification environment; this training project did not perform HIL.
- Only call testing HIL when actual controller or target hardware, a real-time plant environment, and physical I/O are used. PIL/target execution, bench testing, and system integration are distinct environments and should be named precisely.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endParaRP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endParaRP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a:p xmlns:a="http://schemas.openxmlformats.org/drawingml/2006/main">
            <a:r>
              <a:t>
V3 execution-environment clarification:
- HIL criteria are meaningful only for a setup with actual controller or target hardware, real-time plant execution, and physical I/O. No such setup was used by this project.
- MIL, SIL, PIL, HIL, bench, and system-integration results answer different questions. PIL is an execution environment and is not automatically synonymous with unit testing.
- Passing results remain evidence inputs and do not constitute certification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desktop evidence summary connects requirements, controlled artifacts, tests, results, and validation without HIL claims.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a:p xmlns:a="http://schemas.openxmlformats.org/drawingml/2006/main">
            <a:r>
              <a:t>
V3 evidence-chain clarification:
- For this training project, the demonstrated chain ends with controlled desktop models, harnesses, assessments, retained results, and architecture update/compile evidence. It does not extend to HIL.
- Any future PIL, target, bench, HIL, or system-integration evidence must identify its specific execution environment and controlled baseline.
[Sources]
- https://www.faa.gov/documentLibrary/media/Order/FAA_Order_8110.49A.pdf</a:t>
            </a:r>
          </a:p>
          <a:p xmlns:a="http://schemas.openxmlformats.org/drawingml/2006/main">
            <a:r>
              <a:t>
V4 first-user clarification:
- The requirement remains visible through each executed environment. This package stops at desktop model execution and architecture update; it does not extend to HIL.
- Use the exact execution-environment name in retained evidence. PIL is not automatically unit testing, and HIL requires actual controller/target hardware, a real-time plant environment, and physical I/O.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The learner’s first week should end with one reproducible chain, not only passive familiarity with screenshots. Use the illustrative PSYS/SWHLR/PRL requirements in this training package; transition to approved program requirements only under the project’s actual plans and data controls.</a:t>
            </a:r>
          </a:p>
          <a:p xmlns:a="http://schemas.openxmlformats.org/drawingml/2006/main">
            <a:r>
              <a:t/>
            </a:r>
          </a:p>
          <a:p xmlns:a="http://schemas.openxmlformats.org/drawingml/2006/main">
            <a:r>
              <a:t>This package stops at desktop model execution and architecture update. It did not perform HIL. DO-178C is an accepted means of compliance, not a standalone software certificate; DO-331 supplements it for model-based development and verification. A passing test or pipeline is evidence input, not approval by itself.</a:t>
            </a:r>
            <a:endParaRP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endParaRP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1f1b0e37a748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684d04ebc24884" /><Relationship Type="http://schemas.openxmlformats.org/officeDocument/2006/relationships/slideLayout" Target="/ppt/slideLayouts/slideLayout1.xml" Id="R79763d2e896340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763d2e896340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babb0b69994906" /><Relationship Type="http://schemas.openxmlformats.org/officeDocument/2006/relationships/notesSlide" Target="/ppt/notesSlides/notesSlide1.xml" Id="R6fa76eccd9d54e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68ddd759104992" /><Relationship Type="http://schemas.openxmlformats.org/officeDocument/2006/relationships/notesSlide" Target="/ppt/notesSlides/notesSlide2.xml" Id="R3e81acc1573b4f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4d2891324c4493" /><Relationship Type="http://schemas.openxmlformats.org/officeDocument/2006/relationships/notesSlide" Target="/ppt/notesSlides/notesSlide3.xml" Id="R692d7ec2e7f34a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28c431d98045f8" /><Relationship Type="http://schemas.openxmlformats.org/officeDocument/2006/relationships/notesSlide" Target="/ppt/notesSlides/notesSlide4.xml" Id="Rf35b63c83dcf48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fe804c6c734a13" /><Relationship Type="http://schemas.openxmlformats.org/officeDocument/2006/relationships/notesSlide" Target="/ppt/notesSlides/notesSlide5.xml" Id="R017424c89e4d4a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f68e6e2e0d466f" /><Relationship Type="http://schemas.openxmlformats.org/officeDocument/2006/relationships/image" Target="/ppt/media/image.png" Id="R48d2b2acc7854dad" /><Relationship Type="http://schemas.openxmlformats.org/officeDocument/2006/relationships/notesSlide" Target="/ppt/notesSlides/notesSlide6.xml" Id="R1b06fae83ffd42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72d40518534b65" /><Relationship Type="http://schemas.openxmlformats.org/officeDocument/2006/relationships/image" Target="/ppt/media/image2.png" Id="R5cbb4434c6834b0c" /><Relationship Type="http://schemas.openxmlformats.org/officeDocument/2006/relationships/image" Target="/ppt/media/image3.png" Id="R28a6b6313d4c4c59" /><Relationship Type="http://schemas.openxmlformats.org/officeDocument/2006/relationships/notesSlide" Target="/ppt/notesSlides/notesSlide7.xml" Id="Rc8bdbc85fc1a46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3b86da066a409f" /><Relationship Type="http://schemas.openxmlformats.org/officeDocument/2006/relationships/image" Target="/ppt/media/image4.png" Id="R48076796f9214335" /><Relationship Type="http://schemas.openxmlformats.org/officeDocument/2006/relationships/notesSlide" Target="/ppt/notesSlides/notesSlide8.xml" Id="Ra9c2a9c3d74d46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f47b57903948e0" /><Relationship Type="http://schemas.openxmlformats.org/officeDocument/2006/relationships/image" Target="/ppt/media/image5.png" Id="Re99e64f020b84565" /><Relationship Type="http://schemas.openxmlformats.org/officeDocument/2006/relationships/notesSlide" Target="/ppt/notesSlides/notesSlide9.xml" Id="R127b239ac5654e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663538869ba4ddf" /><Relationship Type="http://schemas.openxmlformats.org/officeDocument/2006/relationships/image" Target="/ppt/media/image6.png" Id="R2dfba55852bd4909" /><Relationship Type="http://schemas.openxmlformats.org/officeDocument/2006/relationships/notesSlide" Target="/ppt/notesSlides/notesSlide10.xml" Id="R858999ef8b214f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ef5ff3327c4735" /><Relationship Type="http://schemas.openxmlformats.org/officeDocument/2006/relationships/image" Target="/ppt/media/image7.png" Id="Rc8f9fb991d87427d" /><Relationship Type="http://schemas.openxmlformats.org/officeDocument/2006/relationships/notesSlide" Target="/ppt/notesSlides/notesSlide11.xml" Id="R53bf4953c3eb42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96bedc179af4a96" /><Relationship Type="http://schemas.openxmlformats.org/officeDocument/2006/relationships/notesSlide" Target="/ppt/notesSlides/notesSlide12.xml" Id="R6c9df8b3927840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82fd76c278433a" /><Relationship Type="http://schemas.openxmlformats.org/officeDocument/2006/relationships/notesSlide" Target="/ppt/notesSlides/notesSlide13.xml" Id="R4ae2f3d54b564e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83cb8cbdad4cb5" /><Relationship Type="http://schemas.openxmlformats.org/officeDocument/2006/relationships/notesSlide" Target="/ppt/notesSlides/notesSlide14.xml" Id="Reb85544aa41f4c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f6e8f5606241ed" /><Relationship Type="http://schemas.openxmlformats.org/officeDocument/2006/relationships/notesSlide" Target="/ppt/notesSlides/notesSlide15.xml" Id="R06beb63337564b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b7f68f233f4b6e" /><Relationship Type="http://schemas.openxmlformats.org/officeDocument/2006/relationships/notesSlide" Target="/ppt/notesSlides/notesSlide16.xml" Id="Rcf138326451846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dda03d0cd1d4aa7" /><Relationship Type="http://schemas.openxmlformats.org/officeDocument/2006/relationships/notesSlide" Target="/ppt/notesSlides/notesSlide17.xml" Id="Re8bb174f3fe742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d2408f58ee4075" /><Relationship Type="http://schemas.openxmlformats.org/officeDocument/2006/relationships/notesSlide" Target="/ppt/notesSlides/notesSlide18.xml" Id="R95986f521b3947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4de3511ef404c8b" /><Relationship Type="http://schemas.openxmlformats.org/officeDocument/2006/relationships/image" Target="/ppt/media/image8.png" Id="Raec52286d85b45c4" /><Relationship Type="http://schemas.openxmlformats.org/officeDocument/2006/relationships/notesSlide" Target="/ppt/notesSlides/notesSlide19.xml" Id="R1e682fbf8b344b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8faba9f9824567" /><Relationship Type="http://schemas.openxmlformats.org/officeDocument/2006/relationships/image" Target="/ppt/media/image9.png" Id="Rf64aa63de84c45ff" /><Relationship Type="http://schemas.openxmlformats.org/officeDocument/2006/relationships/notesSlide" Target="/ppt/notesSlides/notesSlide20.xml" Id="R941346fea64e4a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e961ad0ad7d4e8f" /><Relationship Type="http://schemas.openxmlformats.org/officeDocument/2006/relationships/image" Target="/ppt/media/image10.png" Id="Rb4c0c65940194368" /><Relationship Type="http://schemas.openxmlformats.org/officeDocument/2006/relationships/notesSlide" Target="/ppt/notesSlides/notesSlide21.xml" Id="R5db83f02235941e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701b7e87e084208" /><Relationship Type="http://schemas.openxmlformats.org/officeDocument/2006/relationships/notesSlide" Target="/ppt/notesSlides/notesSlide22.xml" Id="Rb7a25a3711e3497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1ad9e298ed74876" /><Relationship Type="http://schemas.openxmlformats.org/officeDocument/2006/relationships/image" Target="/ppt/media/image11.png" Id="Rbcfb41e86ffe43e5" /><Relationship Type="http://schemas.openxmlformats.org/officeDocument/2006/relationships/notesSlide" Target="/ppt/notesSlides/notesSlide23.xml" Id="R9d7e50a7416b4e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45967a366364cda" /><Relationship Type="http://schemas.openxmlformats.org/officeDocument/2006/relationships/notesSlide" Target="/ppt/notesSlides/notesSlide24.xml" Id="R0ddfa66bcc724ce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defef5a983143d4" /><Relationship Type="http://schemas.openxmlformats.org/officeDocument/2006/relationships/image" Target="/ppt/media/image12.png" Id="Ra9d1d849395d4858" /><Relationship Type="http://schemas.openxmlformats.org/officeDocument/2006/relationships/notesSlide" Target="/ppt/notesSlides/notesSlide25.xml" Id="R97eb7a77a4d348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aabc6c3ff414b95" /><Relationship Type="http://schemas.openxmlformats.org/officeDocument/2006/relationships/image" Target="/ppt/media/image13.png" Id="R7c4817a2ff474805" /><Relationship Type="http://schemas.openxmlformats.org/officeDocument/2006/relationships/notesSlide" Target="/ppt/notesSlides/notesSlide26.xml" Id="R5c92778431f2416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9bc6edcde8e4e9b" /><Relationship Type="http://schemas.openxmlformats.org/officeDocument/2006/relationships/image" Target="/ppt/media/image14.png" Id="R55397f3becb8417f" /><Relationship Type="http://schemas.openxmlformats.org/officeDocument/2006/relationships/notesSlide" Target="/ppt/notesSlides/notesSlide27.xml" Id="R401991df28fb48a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f2534e189954197" /><Relationship Type="http://schemas.openxmlformats.org/officeDocument/2006/relationships/notesSlide" Target="/ppt/notesSlides/notesSlide28.xml" Id="Refe1f203a0644c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96ac764ed544696" /><Relationship Type="http://schemas.openxmlformats.org/officeDocument/2006/relationships/notesSlide" Target="/ppt/notesSlides/notesSlide29.xml" Id="Rfda83218999f47f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43c1bf01a214758" /><Relationship Type="http://schemas.openxmlformats.org/officeDocument/2006/relationships/notesSlide" Target="/ppt/notesSlides/notesSlide30.xml" Id="Rcb711c35cf0041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5ea401efbc54877" /><Relationship Type="http://schemas.openxmlformats.org/officeDocument/2006/relationships/notesSlide" Target="/ppt/notesSlides/notesSlide31.xml" Id="Rfe2ba9747e46474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4db097096a74462" /><Relationship Type="http://schemas.openxmlformats.org/officeDocument/2006/relationships/image" Target="/ppt/media/image15.png" Id="R8ae35e5dea404338" /><Relationship Type="http://schemas.openxmlformats.org/officeDocument/2006/relationships/notesSlide" Target="/ppt/notesSlides/notesSlide32.xml" Id="Rf630ac511de84c7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37cea1ae9dc4136" /><Relationship Type="http://schemas.openxmlformats.org/officeDocument/2006/relationships/notesSlide" Target="/ppt/notesSlides/notesSlide33.xml" Id="R18460a1c6f3c47ee"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6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6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6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83"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84"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5"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6"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00" b="1" i="0">
                <a:solidFill>
                  <a:srgbClr val="FFFFFF"/>
                </a:solidFill>
                <a:latin typeface="Aptos"/>
                <a:ea typeface="Aptos"/>
                <a:cs typeface="Aptos"/>
              </a:defRPr>
            </a:pPr>
            <a:r>
              <a:rPr sz="33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0B1F33"/>
                </a:solidFill>
                <a:latin typeface="Aptos"/>
                <a:ea typeface="Aptos"/>
                <a:cs typeface="Aptos"/>
              </a:defRPr>
            </a:pPr>
            <a:r>
              <a:rPr sz="3225" b="1" i="0">
                <a:solidFill>
                  <a:srgbClr val="0B1F33"/>
                </a:solidFill>
                <a:latin typeface="Aptos"/>
                <a:ea typeface="Aptos"/>
                <a:cs typeface="Aptos"/>
              </a:rPr>
              <a:t>Five actions start every first Simulink session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xmlns:a="http://schemas.openxmlformats.org/drawingml/2006/main">
              <a:ext uri="{FF2B5EF4-FFF2-40B4-BE49-F238E27FC236}">
                <a16:creationId xmlns:a16="http://schemas.microsoft.com/office/drawing/2014/main" id="{2F493ACD-FE23-4AE2-B100-FA28BD8217DE}"/>
              </a:ext>
            </a:extLst>
          </p:cNvPr>
          <p:cNvSpPr>
            <a:spLocks xmlns:a="http://schemas.openxmlformats.org/drawingml/2006/main" noGrp="1"/>
          </p:cNvSpPr>
          <p:nvPr/>
        </p:nvSpPr>
        <p:spPr>
          <a:xfrm xmlns:a="http://schemas.openxmlformats.org/drawingml/2006/main">
            <a:off x="685800" y="1504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ACTION</a:t>
            </a:r>
          </a:p>
        </p:txBody>
      </p:sp>
      <p:sp>
        <p:nvSpPr>
          <p:cNvPr id="7" name="text-44">
            <a:extLst xmlns:a="http://schemas.openxmlformats.org/drawingml/2006/main">
              <a:ext uri="{FF2B5EF4-FFF2-40B4-BE49-F238E27FC236}">
                <a16:creationId xmlns:a16="http://schemas.microsoft.com/office/drawing/2014/main" id="{8A28FF2F-949D-4BEF-8E19-936D4A1FD417}"/>
              </a:ext>
            </a:extLst>
          </p:cNvPr>
          <p:cNvSpPr>
            <a:spLocks xmlns:a="http://schemas.openxmlformats.org/drawingml/2006/main" noGrp="1"/>
          </p:cNvSpPr>
          <p:nvPr/>
        </p:nvSpPr>
        <p:spPr>
          <a:xfrm xmlns:a="http://schemas.openxmlformats.org/drawingml/2006/main">
            <a:off x="2381250" y="150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WHERE</a:t>
            </a:r>
          </a:p>
        </p:txBody>
      </p:sp>
      <p:sp>
        <p:nvSpPr>
          <p:cNvPr id="8" name="text-45">
            <a:extLst xmlns:a="http://schemas.openxmlformats.org/drawingml/2006/main">
              <a:ext uri="{FF2B5EF4-FFF2-40B4-BE49-F238E27FC236}">
                <a16:creationId xmlns:a16="http://schemas.microsoft.com/office/drawing/2014/main" id="{237E6982-8B28-4B28-A9EC-F64B644F9F64}"/>
              </a:ext>
            </a:extLst>
          </p:cNvPr>
          <p:cNvSpPr>
            <a:spLocks xmlns:a="http://schemas.openxmlformats.org/drawingml/2006/main" noGrp="1"/>
          </p:cNvSpPr>
          <p:nvPr/>
        </p:nvSpPr>
        <p:spPr>
          <a:xfrm xmlns:a="http://schemas.openxmlformats.org/drawingml/2006/main">
            <a:off x="5429250" y="15049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PURPOSE</a:t>
            </a:r>
          </a:p>
        </p:txBody>
      </p:sp>
      <p:sp>
        <p:nvSpPr>
          <p:cNvPr id="9" name="line-46">
            <a:extLst xmlns:a="http://schemas.openxmlformats.org/drawingml/2006/main">
              <a:ext uri="{FF2B5EF4-FFF2-40B4-BE49-F238E27FC236}">
                <a16:creationId xmlns:a16="http://schemas.microsoft.com/office/drawing/2014/main" id="{FE96FF62-7105-445F-B987-283DBD5800B3}"/>
              </a:ext>
            </a:extLst>
          </p:cNvPr>
          <p:cNvSpPr>
            <a:spLocks xmlns:a="http://schemas.openxmlformats.org/drawingml/2006/main" noGrp="1"/>
          </p:cNvSpPr>
          <p:nvPr/>
        </p:nvSpPr>
        <p:spPr>
          <a:xfrm xmlns:a="http://schemas.openxmlformats.org/drawingml/2006/main">
            <a:off x="685800" y="25336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0" name="text-47">
            <a:extLst xmlns:a="http://schemas.openxmlformats.org/drawingml/2006/main">
              <a:ext uri="{FF2B5EF4-FFF2-40B4-BE49-F238E27FC236}">
                <a16:creationId xmlns:a16="http://schemas.microsoft.com/office/drawing/2014/main" id="{D423DCA9-EF15-480B-A599-F6AC875EF519}"/>
              </a:ext>
            </a:extLst>
          </p:cNvPr>
          <p:cNvSpPr>
            <a:spLocks xmlns:a="http://schemas.openxmlformats.org/drawingml/2006/main" noGrp="1"/>
          </p:cNvSpPr>
          <p:nvPr/>
        </p:nvSpPr>
        <p:spPr>
          <a:xfrm xmlns:a="http://schemas.openxmlformats.org/drawingml/2006/main">
            <a:off x="685800" y="1866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INITIALIZE</a:t>
            </a:r>
          </a:p>
        </p:txBody>
      </p:sp>
      <p:sp>
        <p:nvSpPr>
          <p:cNvPr id="11" name="text-48">
            <a:extLst xmlns:a="http://schemas.openxmlformats.org/drawingml/2006/main">
              <a:ext uri="{FF2B5EF4-FFF2-40B4-BE49-F238E27FC236}">
                <a16:creationId xmlns:a16="http://schemas.microsoft.com/office/drawing/2014/main" id="{99752240-8DF1-4012-972F-350D46E96A4E}"/>
              </a:ext>
            </a:extLst>
          </p:cNvPr>
          <p:cNvSpPr>
            <a:spLocks xmlns:a="http://schemas.openxmlformats.org/drawingml/2006/main" noGrp="1"/>
          </p:cNvSpPr>
          <p:nvPr/>
        </p:nvSpPr>
        <p:spPr>
          <a:xfrm xmlns:a="http://schemas.openxmlformats.org/drawingml/2006/main">
            <a:off x="2381250" y="186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MATLAB Command Window</a:t>
            </a:r>
          </a:p>
        </p:txBody>
      </p:sp>
      <p:sp>
        <p:nvSpPr>
          <p:cNvPr id="12" name="text-49">
            <a:extLst xmlns:a="http://schemas.openxmlformats.org/drawingml/2006/main">
              <a:ext uri="{FF2B5EF4-FFF2-40B4-BE49-F238E27FC236}">
                <a16:creationId xmlns:a16="http://schemas.microsoft.com/office/drawing/2014/main" id="{0B2D5B0B-A78C-4F93-83C4-E4B4962E49ED}"/>
              </a:ext>
            </a:extLst>
          </p:cNvPr>
          <p:cNvSpPr>
            <a:spLocks xmlns:a="http://schemas.openxmlformats.org/drawingml/2006/main" noGrp="1"/>
          </p:cNvSpPr>
          <p:nvPr/>
        </p:nvSpPr>
        <p:spPr>
          <a:xfrm xmlns:a="http://schemas.openxmlformats.org/drawingml/2006/main">
            <a:off x="5429250" y="18669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Run initialize_training_data(projectRoot); add scripts, models, and data to the path.</a:t>
            </a:r>
          </a:p>
        </p:txBody>
      </p:sp>
      <p:sp>
        <p:nvSpPr>
          <p:cNvPr id="13" name="line-50">
            <a:extLst xmlns:a="http://schemas.openxmlformats.org/drawingml/2006/main">
              <a:ext uri="{FF2B5EF4-FFF2-40B4-BE49-F238E27FC236}">
                <a16:creationId xmlns:a16="http://schemas.microsoft.com/office/drawing/2014/main" id="{98C16CE9-D7E8-490C-9A1B-F53A9FF7158D}"/>
              </a:ext>
            </a:extLst>
          </p:cNvPr>
          <p:cNvSpPr>
            <a:spLocks xmlns:a="http://schemas.openxmlformats.org/drawingml/2006/main" noGrp="1"/>
          </p:cNvSpPr>
          <p:nvPr/>
        </p:nvSpPr>
        <p:spPr>
          <a:xfrm xmlns:a="http://schemas.openxmlformats.org/drawingml/2006/main">
            <a:off x="685800" y="33147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4" name="text-51">
            <a:extLst xmlns:a="http://schemas.openxmlformats.org/drawingml/2006/main">
              <a:ext uri="{FF2B5EF4-FFF2-40B4-BE49-F238E27FC236}">
                <a16:creationId xmlns:a16="http://schemas.microsoft.com/office/drawing/2014/main" id="{E3F76D13-A7D7-43AA-871F-5A459FF83FC6}"/>
              </a:ext>
            </a:extLst>
          </p:cNvPr>
          <p:cNvSpPr>
            <a:spLocks xmlns:a="http://schemas.openxmlformats.org/drawingml/2006/main" noGrp="1"/>
          </p:cNvSpPr>
          <p:nvPr/>
        </p:nvSpPr>
        <p:spPr>
          <a:xfrm xmlns:a="http://schemas.openxmlformats.org/drawingml/2006/main">
            <a:off x="685800" y="2647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OPEN</a:t>
            </a:r>
          </a:p>
        </p:txBody>
      </p:sp>
      <p:sp>
        <p:nvSpPr>
          <p:cNvPr id="15" name="text-52">
            <a:extLst xmlns:a="http://schemas.openxmlformats.org/drawingml/2006/main">
              <a:ext uri="{FF2B5EF4-FFF2-40B4-BE49-F238E27FC236}">
                <a16:creationId xmlns:a16="http://schemas.microsoft.com/office/drawing/2014/main" id="{A0033C3F-6442-4B86-8AAC-7FFBBF9D0C7D}"/>
              </a:ext>
            </a:extLst>
          </p:cNvPr>
          <p:cNvSpPr>
            <a:spLocks xmlns:a="http://schemas.openxmlformats.org/drawingml/2006/main" noGrp="1"/>
          </p:cNvSpPr>
          <p:nvPr/>
        </p:nvSpPr>
        <p:spPr>
          <a:xfrm xmlns:a="http://schemas.openxmlformats.org/drawingml/2006/main">
            <a:off x="2381250" y="2647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open_system(...) or Ctrl+O</a:t>
            </a:r>
          </a:p>
        </p:txBody>
      </p:sp>
      <p:sp>
        <p:nvSpPr>
          <p:cNvPr id="16" name="text-53">
            <a:extLst xmlns:a="http://schemas.openxmlformats.org/drawingml/2006/main">
              <a:ext uri="{FF2B5EF4-FFF2-40B4-BE49-F238E27FC236}">
                <a16:creationId xmlns:a16="http://schemas.microsoft.com/office/drawing/2014/main" id="{4E4B721F-4AE4-46E2-B159-BF98ED8B69A0}"/>
              </a:ext>
            </a:extLst>
          </p:cNvPr>
          <p:cNvSpPr>
            <a:spLocks xmlns:a="http://schemas.openxmlformats.org/drawingml/2006/main" noGrp="1"/>
          </p:cNvSpPr>
          <p:nvPr/>
        </p:nvSpPr>
        <p:spPr>
          <a:xfrm xmlns:a="http://schemas.openxmlformats.org/drawingml/2006/main">
            <a:off x="5429250" y="26479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Open AircraftFeedbackControlLoop.slx — the runnable closed-loop simulation entry point.</a:t>
            </a:r>
          </a:p>
        </p:txBody>
      </p:sp>
      <p:sp>
        <p:nvSpPr>
          <p:cNvPr id="17" name="line-54">
            <a:extLst xmlns:a="http://schemas.openxmlformats.org/drawingml/2006/main">
              <a:ext uri="{FF2B5EF4-FFF2-40B4-BE49-F238E27FC236}">
                <a16:creationId xmlns:a16="http://schemas.microsoft.com/office/drawing/2014/main" id="{CFAA708E-3565-4799-BF14-F52A7A926CA6}"/>
              </a:ext>
            </a:extLst>
          </p:cNvPr>
          <p:cNvSpPr>
            <a:spLocks xmlns:a="http://schemas.openxmlformats.org/drawingml/2006/main" noGrp="1"/>
          </p:cNvSpPr>
          <p:nvPr/>
        </p:nvSpPr>
        <p:spPr>
          <a:xfrm xmlns:a="http://schemas.openxmlformats.org/drawingml/2006/main">
            <a:off x="685800" y="40957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8" name="text-55">
            <a:extLst xmlns:a="http://schemas.openxmlformats.org/drawingml/2006/main">
              <a:ext uri="{FF2B5EF4-FFF2-40B4-BE49-F238E27FC236}">
                <a16:creationId xmlns:a16="http://schemas.microsoft.com/office/drawing/2014/main" id="{130234CC-6A13-49AE-838B-03155F3C5A21}"/>
              </a:ext>
            </a:extLst>
          </p:cNvPr>
          <p:cNvSpPr>
            <a:spLocks xmlns:a="http://schemas.openxmlformats.org/drawingml/2006/main" noGrp="1"/>
          </p:cNvSpPr>
          <p:nvPr/>
        </p:nvSpPr>
        <p:spPr>
          <a:xfrm xmlns:a="http://schemas.openxmlformats.org/drawingml/2006/main">
            <a:off x="685800" y="3429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UPDATE</a:t>
            </a:r>
          </a:p>
        </p:txBody>
      </p:sp>
      <p:sp>
        <p:nvSpPr>
          <p:cNvPr id="19" name="text-56">
            <a:extLst xmlns:a="http://schemas.openxmlformats.org/drawingml/2006/main">
              <a:ext uri="{FF2B5EF4-FFF2-40B4-BE49-F238E27FC236}">
                <a16:creationId xmlns:a16="http://schemas.microsoft.com/office/drawing/2014/main" id="{64A0670B-A428-4D25-80F2-4B64E6811052}"/>
              </a:ext>
            </a:extLst>
          </p:cNvPr>
          <p:cNvSpPr>
            <a:spLocks xmlns:a="http://schemas.openxmlformats.org/drawingml/2006/main" noGrp="1"/>
          </p:cNvSpPr>
          <p:nvPr/>
        </p:nvSpPr>
        <p:spPr>
          <a:xfrm xmlns:a="http://schemas.openxmlformats.org/drawingml/2006/main">
            <a:off x="2381250" y="3429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Modeling → Update Model • Ctrl+D</a:t>
            </a:r>
          </a:p>
        </p:txBody>
      </p:sp>
      <p:sp>
        <p:nvSpPr>
          <p:cNvPr id="20" name="text-57">
            <a:extLst xmlns:a="http://schemas.openxmlformats.org/drawingml/2006/main">
              <a:ext uri="{FF2B5EF4-FFF2-40B4-BE49-F238E27FC236}">
                <a16:creationId xmlns:a16="http://schemas.microsoft.com/office/drawing/2014/main" id="{F0F48253-9263-4776-B3D2-6E7754B1E336}"/>
              </a:ext>
            </a:extLst>
          </p:cNvPr>
          <p:cNvSpPr>
            <a:spLocks xmlns:a="http://schemas.openxmlformats.org/drawingml/2006/main" noGrp="1"/>
          </p:cNvSpPr>
          <p:nvPr/>
        </p:nvSpPr>
        <p:spPr>
          <a:xfrm xmlns:a="http://schemas.openxmlformats.org/drawingml/2006/main">
            <a:off x="5429250" y="34290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Compile and propagate types, dimensions, units, and rates; update does not simulate.</a:t>
            </a:r>
          </a:p>
        </p:txBody>
      </p:sp>
      <p:sp>
        <p:nvSpPr>
          <p:cNvPr id="21" name="line-58">
            <a:extLst xmlns:a="http://schemas.openxmlformats.org/drawingml/2006/main">
              <a:ext uri="{FF2B5EF4-FFF2-40B4-BE49-F238E27FC236}">
                <a16:creationId xmlns:a16="http://schemas.microsoft.com/office/drawing/2014/main" id="{59D220CB-1EEC-4046-9E8D-1D50B57A9A2D}"/>
              </a:ext>
            </a:extLst>
          </p:cNvPr>
          <p:cNvSpPr>
            <a:spLocks xmlns:a="http://schemas.openxmlformats.org/drawingml/2006/main" noGrp="1"/>
          </p:cNvSpPr>
          <p:nvPr/>
        </p:nvSpPr>
        <p:spPr>
          <a:xfrm xmlns:a="http://schemas.openxmlformats.org/drawingml/2006/main">
            <a:off x="685800" y="48768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2" name="text-59">
            <a:extLst xmlns:a="http://schemas.openxmlformats.org/drawingml/2006/main">
              <a:ext uri="{FF2B5EF4-FFF2-40B4-BE49-F238E27FC236}">
                <a16:creationId xmlns:a16="http://schemas.microsoft.com/office/drawing/2014/main" id="{018E046F-EFEA-48AC-923E-CEC1E3CBF6DD}"/>
              </a:ext>
            </a:extLst>
          </p:cNvPr>
          <p:cNvSpPr>
            <a:spLocks xmlns:a="http://schemas.openxmlformats.org/drawingml/2006/main" noGrp="1"/>
          </p:cNvSpPr>
          <p:nvPr/>
        </p:nvSpPr>
        <p:spPr>
          <a:xfrm xmlns:a="http://schemas.openxmlformats.org/drawingml/2006/main">
            <a:off x="685800" y="42100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RUN / STOP</a:t>
            </a:r>
          </a:p>
        </p:txBody>
      </p:sp>
      <p:sp>
        <p:nvSpPr>
          <p:cNvPr id="23" name="text-60">
            <a:extLst xmlns:a="http://schemas.openxmlformats.org/drawingml/2006/main">
              <a:ext uri="{FF2B5EF4-FFF2-40B4-BE49-F238E27FC236}">
                <a16:creationId xmlns:a16="http://schemas.microsoft.com/office/drawing/2014/main" id="{098A5770-B49D-4C11-986D-1E7655E2A523}"/>
              </a:ext>
            </a:extLst>
          </p:cNvPr>
          <p:cNvSpPr>
            <a:spLocks xmlns:a="http://schemas.openxmlformats.org/drawingml/2006/main" noGrp="1"/>
          </p:cNvSpPr>
          <p:nvPr/>
        </p:nvSpPr>
        <p:spPr>
          <a:xfrm xmlns:a="http://schemas.openxmlformats.org/drawingml/2006/main">
            <a:off x="2381250" y="4210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Simulation → Run • Ctrl+T / F5</a:t>
            </a:r>
          </a:p>
        </p:txBody>
      </p:sp>
      <p:sp>
        <p:nvSpPr>
          <p:cNvPr id="24" name="text-61">
            <a:extLst xmlns:a="http://schemas.openxmlformats.org/drawingml/2006/main">
              <a:ext uri="{FF2B5EF4-FFF2-40B4-BE49-F238E27FC236}">
                <a16:creationId xmlns:a16="http://schemas.microsoft.com/office/drawing/2014/main" id="{E1FE0D66-A88C-4FD6-8F46-01A380F21D61}"/>
              </a:ext>
            </a:extLst>
          </p:cNvPr>
          <p:cNvSpPr>
            <a:spLocks xmlns:a="http://schemas.openxmlformats.org/drawingml/2006/main" noGrp="1"/>
          </p:cNvSpPr>
          <p:nvPr/>
        </p:nvSpPr>
        <p:spPr>
          <a:xfrm xmlns:a="http://schemas.openxmlformats.org/drawingml/2006/main">
            <a:off x="5429250" y="42100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Execute the desktop simulation; stop with Ctrl+Shift+T.</a:t>
            </a:r>
          </a:p>
        </p:txBody>
      </p:sp>
      <p:sp>
        <p:nvSpPr>
          <p:cNvPr id="25" name="line-62">
            <a:extLst xmlns:a="http://schemas.openxmlformats.org/drawingml/2006/main">
              <a:ext uri="{FF2B5EF4-FFF2-40B4-BE49-F238E27FC236}">
                <a16:creationId xmlns:a16="http://schemas.microsoft.com/office/drawing/2014/main" id="{F573DFBB-B957-4D8E-8FA9-72C9B73E95ED}"/>
              </a:ext>
            </a:extLst>
          </p:cNvPr>
          <p:cNvSpPr>
            <a:spLocks xmlns:a="http://schemas.openxmlformats.org/drawingml/2006/main" noGrp="1"/>
          </p:cNvSpPr>
          <p:nvPr/>
        </p:nvSpPr>
        <p:spPr>
          <a:xfrm xmlns:a="http://schemas.openxmlformats.org/drawingml/2006/main">
            <a:off x="685800" y="56578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6" name="text-63">
            <a:extLst xmlns:a="http://schemas.openxmlformats.org/drawingml/2006/main">
              <a:ext uri="{FF2B5EF4-FFF2-40B4-BE49-F238E27FC236}">
                <a16:creationId xmlns:a16="http://schemas.microsoft.com/office/drawing/2014/main" id="{77422703-9FAB-4DA7-B93C-5C52FD8A2317}"/>
              </a:ext>
            </a:extLst>
          </p:cNvPr>
          <p:cNvSpPr>
            <a:spLocks xmlns:a="http://schemas.openxmlformats.org/drawingml/2006/main" noGrp="1"/>
          </p:cNvSpPr>
          <p:nvPr/>
        </p:nvSpPr>
        <p:spPr>
          <a:xfrm xmlns:a="http://schemas.openxmlformats.org/drawingml/2006/main">
            <a:off x="685800" y="4991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BUILD</a:t>
            </a:r>
          </a:p>
        </p:txBody>
      </p:sp>
      <p:sp>
        <p:nvSpPr>
          <p:cNvPr id="27" name="text-64">
            <a:extLst xmlns:a="http://schemas.openxmlformats.org/drawingml/2006/main">
              <a:ext uri="{FF2B5EF4-FFF2-40B4-BE49-F238E27FC236}">
                <a16:creationId xmlns:a16="http://schemas.microsoft.com/office/drawing/2014/main" id="{CE00C8F2-60E4-4157-B174-9429A3F4D8E1}"/>
              </a:ext>
            </a:extLst>
          </p:cNvPr>
          <p:cNvSpPr>
            <a:spLocks xmlns:a="http://schemas.openxmlformats.org/drawingml/2006/main" noGrp="1"/>
          </p:cNvSpPr>
          <p:nvPr/>
        </p:nvSpPr>
        <p:spPr>
          <a:xfrm xmlns:a="http://schemas.openxmlformats.org/drawingml/2006/main">
            <a:off x="23812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Apps → Simulink Coder • Ctrl+B</a:t>
            </a:r>
          </a:p>
        </p:txBody>
      </p:sp>
      <p:sp>
        <p:nvSpPr>
          <p:cNvPr id="28" name="text-65">
            <a:extLst xmlns:a="http://schemas.openxmlformats.org/drawingml/2006/main">
              <a:ext uri="{FF2B5EF4-FFF2-40B4-BE49-F238E27FC236}">
                <a16:creationId xmlns:a16="http://schemas.microsoft.com/office/drawing/2014/main" id="{91F7DB1B-AFC4-4871-AD04-25EB557285D1}"/>
              </a:ext>
            </a:extLst>
          </p:cNvPr>
          <p:cNvSpPr>
            <a:spLocks xmlns:a="http://schemas.openxmlformats.org/drawingml/2006/main" noGrp="1"/>
          </p:cNvSpPr>
          <p:nvPr/>
        </p:nvSpPr>
        <p:spPr>
          <a:xfrm xmlns:a="http://schemas.openxmlformats.org/drawingml/2006/main">
            <a:off x="5429250" y="49911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Generate and compile code only when the configured coder and toolchain are in scope.</a:t>
            </a:r>
          </a:p>
        </p:txBody>
      </p:sp>
      <p:sp>
        <p:nvSpPr>
          <p:cNvPr id="29" name="text-66">
            <a:extLst xmlns:a="http://schemas.openxmlformats.org/drawingml/2006/main">
              <a:ext uri="{FF2B5EF4-FFF2-40B4-BE49-F238E27FC236}">
                <a16:creationId xmlns:a16="http://schemas.microsoft.com/office/drawing/2014/main" id="{1A6C0058-DEDD-400D-A72A-E96BF70E291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613" b="1" i="0">
                <a:solidFill>
                  <a:srgbClr val="20B7C5"/>
                </a:solidFill>
                <a:latin typeface="Aptos"/>
                <a:ea typeface="Aptos"/>
                <a:cs typeface="Aptos"/>
              </a:defRPr>
            </a:pPr>
            <a:r>
              <a:rPr sz="1613" b="1" i="0">
                <a:solidFill>
                  <a:srgbClr val="20B7C5"/>
                </a:solidFill>
                <a:latin typeface="Aptos"/>
                <a:ea typeface="Aptos"/>
                <a:cs typeface="Aptos"/>
              </a:rPr>
              <a:t>Update ≠ run ≠ code-generation build. Record which action produced each result.</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63" b="1" i="0">
                <a:solidFill>
                  <a:srgbClr val="0B1F33"/>
                </a:solidFill>
                <a:latin typeface="Aptos"/>
                <a:ea typeface="Aptos"/>
                <a:cs typeface="Aptos"/>
              </a:defRPr>
            </a:pPr>
            <a:r>
              <a:rPr sz="3263"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pic>
        <p:nvPicPr>
          <p:cNvPr id="47" name="Picture 8"/>
          <p:cNvPicPr>
            <a:picLocks xmlns:a="http://schemas.openxmlformats.org/drawingml/2006/main" noChangeAspect="1"/>
          </p:cNvPicPr>
          <p:nvPr/>
        </p:nvPicPr>
        <p:blipFill>
          <a:blip xmlns:r="http://schemas.openxmlformats.org/officeDocument/2006/relationships" xmlns:a="http://schemas.openxmlformats.org/drawingml/2006/main" r:embed="R48d2b2acc7854dad"/>
          <a:srcRect xmlns:a="http://schemas.openxmlformats.org/drawingml/2006/main" l="0" t="11579" r="0" b="11579"/>
          <a:stretch xmlns:a="http://schemas.openxmlformats.org/drawingml/2006/main">
            <a:fillRect l="0" t="0" r="0" b="0"/>
          </a:stretch>
        </p:blipFill>
        <p:spPr>
          <a:xfrm xmlns:a="http://schemas.openxmlformats.org/drawingml/2006/main">
            <a:off x="685800" y="1419225"/>
            <a:ext cx="7524750" cy="424815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F59A33CD-9B8E-C041-ECBF-467BB827C532}"/>
              </a:ext>
            </a:extLst>
          </p:cNvPr>
          <p:cNvSpPr>
            <a:spLocks xmlns:a="http://schemas.openxmlformats.org/drawingml/2006/main" noGrp="1"/>
          </p:cNvSpPr>
          <p:nvPr/>
        </p:nvSpPr>
        <p:spPr>
          <a:xfrm xmlns:a="http://schemas.openxmlformats.org/drawingml/2006/main">
            <a:off x="685800" y="5838825"/>
            <a:ext cx="10820400" cy="257175"/>
          </a:xfrm>
          <a:prstGeom xmlns:a="http://schemas.openxmlformats.org/drawingml/2006/main" prst="rect">
            <a:avLst/>
          </a:prstGeom>
          <a:noFill xmlns:a="http://schemas.openxmlformats.org/drawingml/2006/main"/>
        </p:spPr>
        <p:txBody>
          <a:bodyPr xmlns:a="http://schemas.openxmlformats.org/drawingml/2006/main" vert="horz" wrap="square" lIns="28575" tIns="0" rIns="28575" bIns="0" anchor="ctr">
            <a:noAutofit/>
          </a:bodyPr>
          <a:lstStyle xmlns:a="http://schemas.openxmlformats.org/drawingml/2006/main"/>
          <a:p xmlns:a="http://schemas.openxmlformats.org/drawingml/2006/main">
            <a:pPr algn="ctr">
              <a:buNone/>
              <a:defRPr sz="1238" b="1">
                <a:solidFill>
                  <a:srgbClr val="17324A"/>
                </a:solidFill>
                <a:latin typeface="Aptos"/>
                <a:ea typeface="Aptos"/>
                <a:cs typeface="Aptos"/>
              </a:defRPr>
            </a:pPr>
            <a:r>
              <a:rPr sz="1238" b="1">
                <a:solidFill>
                  <a:srgbClr val="17324A"/>
                </a:solidFill>
                <a:latin typeface="Aptos"/>
                <a:ea typeface="Aptos"/>
                <a:cs typeface="Aptos"/>
              </a:rPr>
              <a:t>Authentic R2023b editor • select a tab first, then the action • update, run, inspect, and build are different operations</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defRPr sz="1125" b="1">
                <a:solidFill>
                  <a:srgbClr val="20B7C5"/>
                </a:solidFill>
                <a:latin typeface="Aptos"/>
                <a:ea typeface="Aptos"/>
                <a:cs typeface="Aptos"/>
              </a:defRPr>
            </a:pPr>
            <a:r>
              <a:rPr sz="1125" b="1">
                <a:solidFill>
                  <a:srgbClr val="20B7C5"/>
                </a:solidFill>
                <a:latin typeface="Aptos"/>
                <a:ea typeface="Aptos"/>
                <a:cs typeface="Aptos"/>
              </a:rPr>
              <a:t>01 • INTRODUCTION TO SIMULINK</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32" name="s6-card-1">
            <a:extLst xmlns:a="http://schemas.openxmlformats.org/drawingml/2006/main">
              <a:ext uri="{FF2B5EF4-FFF2-40B4-BE49-F238E27FC236}">
                <a16:creationId xmlns:a16="http://schemas.microsoft.com/office/drawing/2014/main" id="{A620B2B4-C2D9-4598-91CB-932C6D5F7A74}"/>
              </a:ext>
            </a:extLst>
          </p:cNvPr>
          <p:cNvSpPr>
            <a:spLocks xmlns:a="http://schemas.openxmlformats.org/drawingml/2006/main" noGrp="1"/>
          </p:cNvSpPr>
          <p:nvPr/>
        </p:nvSpPr>
        <p:spPr>
          <a:xfrm xmlns:a="http://schemas.openxmlformats.org/drawingml/2006/main">
            <a:off x="8429625" y="1419225"/>
            <a:ext cx="3076575" cy="828675"/>
          </a:xfrm>
          <a:prstGeom xmlns:a="http://schemas.openxmlformats.org/drawingml/2006/main" prst="roundRect">
            <a:avLst>
              <a:gd name="adj" fmla="val 13793"/>
            </a:avLst>
          </a:prstGeom>
          <a:solidFill xmlns:a="http://schemas.openxmlformats.org/drawingml/2006/main">
            <a:srgbClr val="DFF6F8"/>
          </a:solidFill>
          <a:ln xmlns:a="http://schemas.openxmlformats.org/drawingml/2006/main" w="19050">
            <a:solidFill>
              <a:srgbClr val="20B7C5"/>
            </a:solidFill>
            <a:prstDash val="solid"/>
          </a:ln>
        </p:spPr>
      </p:sp>
      <p:sp>
        <p:nvSpPr>
          <p:cNvPr id="33" name="s6-card-title-1">
            <a:extLst xmlns:a="http://schemas.openxmlformats.org/drawingml/2006/main">
              <a:ext uri="{FF2B5EF4-FFF2-40B4-BE49-F238E27FC236}">
                <a16:creationId xmlns:a16="http://schemas.microsoft.com/office/drawing/2014/main" id="{7B5592A1-6028-4803-8439-C5D043D26283}"/>
              </a:ext>
            </a:extLst>
          </p:cNvPr>
          <p:cNvSpPr>
            <a:spLocks xmlns:a="http://schemas.openxmlformats.org/drawingml/2006/main" noGrp="1"/>
          </p:cNvSpPr>
          <p:nvPr/>
        </p:nvSpPr>
        <p:spPr>
          <a:xfrm xmlns:a="http://schemas.openxmlformats.org/drawingml/2006/main">
            <a:off x="8572500" y="1514475"/>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350" b="1">
                <a:solidFill>
                  <a:srgbClr val="20B7C5"/>
                </a:solidFill>
                <a:latin typeface="Aptos"/>
                <a:ea typeface="Aptos"/>
                <a:cs typeface="Aptos"/>
              </a:defRPr>
            </a:pPr>
            <a:r>
              <a:rPr sz="1350" b="1">
                <a:solidFill>
                  <a:srgbClr val="20B7C5"/>
                </a:solidFill>
                <a:latin typeface="Aptos"/>
                <a:ea typeface="Aptos"/>
                <a:cs typeface="Aptos"/>
              </a:rPr>
              <a:t>SIMULATION</a:t>
            </a:r>
          </a:p>
        </p:txBody>
      </p:sp>
      <p:sp>
        <p:nvSpPr>
          <p:cNvPr id="34" name="s6-card-body-1">
            <a:extLst xmlns:a="http://schemas.openxmlformats.org/drawingml/2006/main">
              <a:ext uri="{FF2B5EF4-FFF2-40B4-BE49-F238E27FC236}">
                <a16:creationId xmlns:a16="http://schemas.microsoft.com/office/drawing/2014/main" id="{3F1BA593-3823-4296-961E-0097037C645C}"/>
              </a:ext>
            </a:extLst>
          </p:cNvPr>
          <p:cNvSpPr>
            <a:spLocks xmlns:a="http://schemas.openxmlformats.org/drawingml/2006/main" noGrp="1"/>
          </p:cNvSpPr>
          <p:nvPr/>
        </p:nvSpPr>
        <p:spPr>
          <a:xfrm xmlns:a="http://schemas.openxmlformats.org/drawingml/2006/main">
            <a:off x="8572500" y="1762125"/>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17324A"/>
                </a:solidFill>
                <a:latin typeface="Aptos"/>
                <a:ea typeface="Aptos"/>
                <a:cs typeface="Aptos"/>
              </a:defRPr>
            </a:pPr>
            <a:r>
              <a:rPr sz="1238" b="1">
                <a:solidFill>
                  <a:srgbClr val="17324A"/>
                </a:solidFill>
                <a:latin typeface="Aptos"/>
                <a:ea typeface="Aptos"/>
                <a:cs typeface="Aptos"/>
              </a:rPr>
              <a:t>Run • Stop • Data Inspector</a:t>
            </a:r>
          </a:p>
        </p:txBody>
      </p:sp>
      <p:sp>
        <p:nvSpPr>
          <p:cNvPr id="35" name="s6-card-2">
            <a:extLst xmlns:a="http://schemas.openxmlformats.org/drawingml/2006/main">
              <a:ext uri="{FF2B5EF4-FFF2-40B4-BE49-F238E27FC236}">
                <a16:creationId xmlns:a16="http://schemas.microsoft.com/office/drawing/2014/main" id="{ACF442E0-F902-441A-B32F-A08D96658150}"/>
              </a:ext>
            </a:extLst>
          </p:cNvPr>
          <p:cNvSpPr>
            <a:spLocks xmlns:a="http://schemas.openxmlformats.org/drawingml/2006/main" noGrp="1"/>
          </p:cNvSpPr>
          <p:nvPr/>
        </p:nvSpPr>
        <p:spPr>
          <a:xfrm xmlns:a="http://schemas.openxmlformats.org/drawingml/2006/main">
            <a:off x="8429625" y="2400300"/>
            <a:ext cx="3076575" cy="828675"/>
          </a:xfrm>
          <a:prstGeom xmlns:a="http://schemas.openxmlformats.org/drawingml/2006/main" prst="roundRect">
            <a:avLst>
              <a:gd name="adj" fmla="val 13793"/>
            </a:avLst>
          </a:prstGeom>
          <a:solidFill xmlns:a="http://schemas.openxmlformats.org/drawingml/2006/main">
            <a:srgbClr val="E2ECFF"/>
          </a:solidFill>
          <a:ln xmlns:a="http://schemas.openxmlformats.org/drawingml/2006/main" w="19050">
            <a:solidFill>
              <a:srgbClr val="2D6CDF"/>
            </a:solidFill>
            <a:prstDash val="solid"/>
          </a:ln>
        </p:spPr>
      </p:sp>
      <p:sp>
        <p:nvSpPr>
          <p:cNvPr id="36" name="s6-card-title-2">
            <a:extLst xmlns:a="http://schemas.openxmlformats.org/drawingml/2006/main">
              <a:ext uri="{FF2B5EF4-FFF2-40B4-BE49-F238E27FC236}">
                <a16:creationId xmlns:a16="http://schemas.microsoft.com/office/drawing/2014/main" id="{0DE7A158-FC1D-4630-952A-E5FEE1200167}"/>
              </a:ext>
            </a:extLst>
          </p:cNvPr>
          <p:cNvSpPr>
            <a:spLocks xmlns:a="http://schemas.openxmlformats.org/drawingml/2006/main" noGrp="1"/>
          </p:cNvSpPr>
          <p:nvPr/>
        </p:nvSpPr>
        <p:spPr>
          <a:xfrm xmlns:a="http://schemas.openxmlformats.org/drawingml/2006/main">
            <a:off x="8572500" y="2495550"/>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350" b="1">
                <a:solidFill>
                  <a:srgbClr val="2D6CDF"/>
                </a:solidFill>
                <a:latin typeface="Aptos"/>
                <a:ea typeface="Aptos"/>
                <a:cs typeface="Aptos"/>
              </a:defRPr>
            </a:pPr>
            <a:r>
              <a:rPr sz="1350" b="1">
                <a:solidFill>
                  <a:srgbClr val="2D6CDF"/>
                </a:solidFill>
                <a:latin typeface="Aptos"/>
                <a:ea typeface="Aptos"/>
                <a:cs typeface="Aptos"/>
              </a:rPr>
              <a:t>DEBUG</a:t>
            </a:r>
          </a:p>
        </p:txBody>
      </p:sp>
      <p:sp>
        <p:nvSpPr>
          <p:cNvPr id="37" name="s6-card-body-2">
            <a:extLst xmlns:a="http://schemas.openxmlformats.org/drawingml/2006/main">
              <a:ext uri="{FF2B5EF4-FFF2-40B4-BE49-F238E27FC236}">
                <a16:creationId xmlns:a16="http://schemas.microsoft.com/office/drawing/2014/main" id="{BE42A040-8B8E-4257-9748-1C503227BE40}"/>
              </a:ext>
            </a:extLst>
          </p:cNvPr>
          <p:cNvSpPr>
            <a:spLocks xmlns:a="http://schemas.openxmlformats.org/drawingml/2006/main" noGrp="1"/>
          </p:cNvSpPr>
          <p:nvPr/>
        </p:nvSpPr>
        <p:spPr>
          <a:xfrm xmlns:a="http://schemas.openxmlformats.org/drawingml/2006/main">
            <a:off x="8572500" y="2743200"/>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17324A"/>
                </a:solidFill>
                <a:latin typeface="Aptos"/>
                <a:ea typeface="Aptos"/>
                <a:cs typeface="Aptos"/>
              </a:defRPr>
            </a:pPr>
            <a:r>
              <a:rPr sz="1238" b="1">
                <a:solidFill>
                  <a:srgbClr val="17324A"/>
                </a:solidFill>
                <a:latin typeface="Aptos"/>
                <a:ea typeface="Aptos"/>
                <a:cs typeface="Aptos"/>
              </a:rPr>
              <a:t>Diagnostics • overlays • signal review</a:t>
            </a:r>
          </a:p>
        </p:txBody>
      </p:sp>
      <p:sp>
        <p:nvSpPr>
          <p:cNvPr id="38" name="s6-card-3">
            <a:extLst xmlns:a="http://schemas.openxmlformats.org/drawingml/2006/main">
              <a:ext uri="{FF2B5EF4-FFF2-40B4-BE49-F238E27FC236}">
                <a16:creationId xmlns:a16="http://schemas.microsoft.com/office/drawing/2014/main" id="{5A0CB937-826F-447D-BB86-66CAD9AFAE6A}"/>
              </a:ext>
            </a:extLst>
          </p:cNvPr>
          <p:cNvSpPr>
            <a:spLocks xmlns:a="http://schemas.openxmlformats.org/drawingml/2006/main" noGrp="1"/>
          </p:cNvSpPr>
          <p:nvPr/>
        </p:nvSpPr>
        <p:spPr>
          <a:xfrm xmlns:a="http://schemas.openxmlformats.org/drawingml/2006/main">
            <a:off x="8429625" y="3381375"/>
            <a:ext cx="3076575" cy="828675"/>
          </a:xfrm>
          <a:prstGeom xmlns:a="http://schemas.openxmlformats.org/drawingml/2006/main" prst="roundRect">
            <a:avLst>
              <a:gd name="adj" fmla="val 13793"/>
            </a:avLst>
          </a:prstGeom>
          <a:solidFill xmlns:a="http://schemas.openxmlformats.org/drawingml/2006/main">
            <a:srgbClr val="E2F4EA"/>
          </a:solidFill>
          <a:ln xmlns:a="http://schemas.openxmlformats.org/drawingml/2006/main" w="19050">
            <a:solidFill>
              <a:srgbClr val="2CA56F"/>
            </a:solidFill>
            <a:prstDash val="solid"/>
          </a:ln>
        </p:spPr>
      </p:sp>
      <p:sp>
        <p:nvSpPr>
          <p:cNvPr id="39" name="s6-card-title-3">
            <a:extLst xmlns:a="http://schemas.openxmlformats.org/drawingml/2006/main">
              <a:ext uri="{FF2B5EF4-FFF2-40B4-BE49-F238E27FC236}">
                <a16:creationId xmlns:a16="http://schemas.microsoft.com/office/drawing/2014/main" id="{A31BB9C1-5811-4CEA-8A29-69A7C1FF4C89}"/>
              </a:ext>
            </a:extLst>
          </p:cNvPr>
          <p:cNvSpPr>
            <a:spLocks xmlns:a="http://schemas.openxmlformats.org/drawingml/2006/main" noGrp="1"/>
          </p:cNvSpPr>
          <p:nvPr/>
        </p:nvSpPr>
        <p:spPr>
          <a:xfrm xmlns:a="http://schemas.openxmlformats.org/drawingml/2006/main">
            <a:off x="8572500" y="3476625"/>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350" b="1">
                <a:solidFill>
                  <a:srgbClr val="2CA56F"/>
                </a:solidFill>
                <a:latin typeface="Aptos"/>
                <a:ea typeface="Aptos"/>
                <a:cs typeface="Aptos"/>
              </a:defRPr>
            </a:pPr>
            <a:r>
              <a:rPr sz="1350" b="1">
                <a:solidFill>
                  <a:srgbClr val="2CA56F"/>
                </a:solidFill>
                <a:latin typeface="Aptos"/>
                <a:ea typeface="Aptos"/>
                <a:cs typeface="Aptos"/>
              </a:rPr>
              <a:t>MODELING</a:t>
            </a:r>
          </a:p>
        </p:txBody>
      </p:sp>
      <p:sp>
        <p:nvSpPr>
          <p:cNvPr id="40" name="s6-card-body-3">
            <a:extLst xmlns:a="http://schemas.openxmlformats.org/drawingml/2006/main">
              <a:ext uri="{FF2B5EF4-FFF2-40B4-BE49-F238E27FC236}">
                <a16:creationId xmlns:a16="http://schemas.microsoft.com/office/drawing/2014/main" id="{C481D29C-3D32-49C6-84DD-BE8CCD6FD3A6}"/>
              </a:ext>
            </a:extLst>
          </p:cNvPr>
          <p:cNvSpPr>
            <a:spLocks xmlns:a="http://schemas.openxmlformats.org/drawingml/2006/main" noGrp="1"/>
          </p:cNvSpPr>
          <p:nvPr/>
        </p:nvSpPr>
        <p:spPr>
          <a:xfrm xmlns:a="http://schemas.openxmlformats.org/drawingml/2006/main">
            <a:off x="8572500" y="3724275"/>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17324A"/>
                </a:solidFill>
                <a:latin typeface="Aptos"/>
                <a:ea typeface="Aptos"/>
                <a:cs typeface="Aptos"/>
              </a:defRPr>
            </a:pPr>
            <a:r>
              <a:rPr sz="1238" b="1">
                <a:solidFill>
                  <a:srgbClr val="17324A"/>
                </a:solidFill>
                <a:latin typeface="Aptos"/>
                <a:ea typeface="Aptos"/>
                <a:cs typeface="Aptos"/>
              </a:rPr>
              <a:t>Update Model • settings • interfaces</a:t>
            </a:r>
          </a:p>
        </p:txBody>
      </p:sp>
      <p:sp>
        <p:nvSpPr>
          <p:cNvPr id="41" name="s6-card-4">
            <a:extLst xmlns:a="http://schemas.openxmlformats.org/drawingml/2006/main">
              <a:ext uri="{FF2B5EF4-FFF2-40B4-BE49-F238E27FC236}">
                <a16:creationId xmlns:a16="http://schemas.microsoft.com/office/drawing/2014/main" id="{674267FE-BE05-4696-9EA4-4B554274337A}"/>
              </a:ext>
            </a:extLst>
          </p:cNvPr>
          <p:cNvSpPr>
            <a:spLocks xmlns:a="http://schemas.openxmlformats.org/drawingml/2006/main" noGrp="1"/>
          </p:cNvSpPr>
          <p:nvPr/>
        </p:nvSpPr>
        <p:spPr>
          <a:xfrm xmlns:a="http://schemas.openxmlformats.org/drawingml/2006/main">
            <a:off x="8429625" y="4362450"/>
            <a:ext cx="3076575" cy="828675"/>
          </a:xfrm>
          <a:prstGeom xmlns:a="http://schemas.openxmlformats.org/drawingml/2006/main" prst="roundRect">
            <a:avLst>
              <a:gd name="adj" fmla="val 13793"/>
            </a:avLst>
          </a:prstGeom>
          <a:solidFill xmlns:a="http://schemas.openxmlformats.org/drawingml/2006/main">
            <a:srgbClr val="FFF0D7"/>
          </a:solidFill>
          <a:ln xmlns:a="http://schemas.openxmlformats.org/drawingml/2006/main" w="19050">
            <a:solidFill>
              <a:srgbClr val="E9A23B"/>
            </a:solidFill>
            <a:prstDash val="solid"/>
          </a:ln>
        </p:spPr>
      </p:sp>
      <p:sp>
        <p:nvSpPr>
          <p:cNvPr id="42" name="s6-card-title-4">
            <a:extLst xmlns:a="http://schemas.openxmlformats.org/drawingml/2006/main">
              <a:ext uri="{FF2B5EF4-FFF2-40B4-BE49-F238E27FC236}">
                <a16:creationId xmlns:a16="http://schemas.microsoft.com/office/drawing/2014/main" id="{D6EC8A9B-225A-4BFC-86FD-828F2DCB0A18}"/>
              </a:ext>
            </a:extLst>
          </p:cNvPr>
          <p:cNvSpPr>
            <a:spLocks xmlns:a="http://schemas.openxmlformats.org/drawingml/2006/main" noGrp="1"/>
          </p:cNvSpPr>
          <p:nvPr/>
        </p:nvSpPr>
        <p:spPr>
          <a:xfrm xmlns:a="http://schemas.openxmlformats.org/drawingml/2006/main">
            <a:off x="8572500" y="4457700"/>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350" b="1">
                <a:solidFill>
                  <a:srgbClr val="E9A23B"/>
                </a:solidFill>
                <a:latin typeface="Aptos"/>
                <a:ea typeface="Aptos"/>
                <a:cs typeface="Aptos"/>
              </a:defRPr>
            </a:pPr>
            <a:r>
              <a:rPr sz="1350" b="1">
                <a:solidFill>
                  <a:srgbClr val="E9A23B"/>
                </a:solidFill>
                <a:latin typeface="Aptos"/>
                <a:ea typeface="Aptos"/>
                <a:cs typeface="Aptos"/>
              </a:rPr>
              <a:t>APPS</a:t>
            </a:r>
          </a:p>
        </p:txBody>
      </p:sp>
      <p:sp>
        <p:nvSpPr>
          <p:cNvPr id="43" name="s6-card-body-4">
            <a:extLst xmlns:a="http://schemas.openxmlformats.org/drawingml/2006/main">
              <a:ext uri="{FF2B5EF4-FFF2-40B4-BE49-F238E27FC236}">
                <a16:creationId xmlns:a16="http://schemas.microsoft.com/office/drawing/2014/main" id="{D57DC3E1-738D-4E06-B4CD-A0684A856E4E}"/>
              </a:ext>
            </a:extLst>
          </p:cNvPr>
          <p:cNvSpPr>
            <a:spLocks xmlns:a="http://schemas.openxmlformats.org/drawingml/2006/main" noGrp="1"/>
          </p:cNvSpPr>
          <p:nvPr/>
        </p:nvSpPr>
        <p:spPr>
          <a:xfrm xmlns:a="http://schemas.openxmlformats.org/drawingml/2006/main">
            <a:off x="8572500" y="4705350"/>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17324A"/>
                </a:solidFill>
                <a:latin typeface="Aptos"/>
                <a:ea typeface="Aptos"/>
                <a:cs typeface="Aptos"/>
              </a:defRPr>
            </a:pPr>
            <a:r>
              <a:rPr sz="1238" b="1">
                <a:solidFill>
                  <a:srgbClr val="17324A"/>
                </a:solidFill>
                <a:latin typeface="Aptos"/>
                <a:ea typeface="Aptos"/>
                <a:cs typeface="Aptos"/>
              </a:rPr>
              <a:t>Testing tools • code generation</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63" b="1" i="0">
                <a:solidFill>
                  <a:srgbClr val="0B1F33"/>
                </a:solidFill>
                <a:latin typeface="Aptos"/>
                <a:ea typeface="Aptos"/>
                <a:cs typeface="Aptos"/>
              </a:defRPr>
            </a:pPr>
            <a:r>
              <a:rPr sz="3263" b="1" i="0">
                <a:solidFill>
                  <a:srgbClr val="0B1F33"/>
                </a:solidFill>
                <a:latin typeface="Aptos"/>
                <a:ea typeface="Aptos"/>
                <a:cs typeface="Aptos"/>
              </a:rPr>
              <a:t>Turn review overlays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91F0BF28-E35B-4611-AD31-D6E2EB6C286A}"/>
              </a:ext>
            </a:extLst>
          </p:cNvPr>
          <p:cNvSpPr>
            <a:spLocks xmlns:a="http://schemas.openxmlformats.org/drawingml/2006/main" noGrp="1"/>
          </p:cNvSpPr>
          <p:nvPr/>
        </p:nvSpPr>
        <p:spPr>
          <a:xfrm xmlns:a="http://schemas.openxmlformats.org/drawingml/2006/main">
            <a:off x="685800" y="1409700"/>
            <a:ext cx="10820400" cy="323850"/>
          </a:xfrm>
          <a:prstGeom xmlns:a="http://schemas.openxmlformats.org/drawingml/2006/main" prst="roundRect">
            <a:avLst>
              <a:gd name="adj" fmla="val 3529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DEBUG → INFORMATION OVERLAYS</a:t>
            </a:r>
          </a:p>
        </p:txBody>
      </p:sp>
      <p:sp>
        <p:nvSpPr>
          <p:cNvPr id="21" name="s7-pill-1">
            <a:extLst xmlns:a="http://schemas.openxmlformats.org/drawingml/2006/main">
              <a:ext uri="{FF2B5EF4-FFF2-40B4-BE49-F238E27FC236}">
                <a16:creationId xmlns:a16="http://schemas.microsoft.com/office/drawing/2014/main" id="{CB396335-2ED2-4163-BF7E-EF5B58A5CDFF}"/>
              </a:ext>
            </a:extLst>
          </p:cNvPr>
          <p:cNvSpPr>
            <a:spLocks xmlns:a="http://schemas.openxmlformats.org/drawingml/2006/main" noGrp="1"/>
          </p:cNvSpPr>
          <p:nvPr/>
        </p:nvSpPr>
        <p:spPr>
          <a:xfrm xmlns:a="http://schemas.openxmlformats.org/drawingml/2006/main">
            <a:off x="685800" y="1819275"/>
            <a:ext cx="2476500" cy="352425"/>
          </a:xfrm>
          <a:prstGeom xmlns:a="http://schemas.openxmlformats.org/drawingml/2006/main" prst="roundRect">
            <a:avLst>
              <a:gd name="adj" fmla="val 32432"/>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17324A"/>
                </a:solidFill>
                <a:latin typeface="Aptos"/>
                <a:ea typeface="Aptos"/>
                <a:cs typeface="Aptos"/>
              </a:defRPr>
            </a:pPr>
            <a:r>
              <a:rPr sz="1163" b="1">
                <a:solidFill>
                  <a:srgbClr val="17324A"/>
                </a:solidFill>
                <a:latin typeface="Aptos"/>
                <a:ea typeface="Aptos"/>
                <a:cs typeface="Aptos"/>
              </a:rPr>
              <a:t>UNITS</a:t>
            </a:r>
          </a:p>
        </p:txBody>
      </p:sp>
      <p:sp>
        <p:nvSpPr>
          <p:cNvPr id="22" name="s7-pill-2">
            <a:extLst xmlns:a="http://schemas.openxmlformats.org/drawingml/2006/main">
              <a:ext uri="{FF2B5EF4-FFF2-40B4-BE49-F238E27FC236}">
                <a16:creationId xmlns:a16="http://schemas.microsoft.com/office/drawing/2014/main" id="{7036EC1A-60A9-4549-80A0-04B52A937EAD}"/>
              </a:ext>
            </a:extLst>
          </p:cNvPr>
          <p:cNvSpPr>
            <a:spLocks xmlns:a="http://schemas.openxmlformats.org/drawingml/2006/main" noGrp="1"/>
          </p:cNvSpPr>
          <p:nvPr/>
        </p:nvSpPr>
        <p:spPr>
          <a:xfrm xmlns:a="http://schemas.openxmlformats.org/drawingml/2006/main">
            <a:off x="3390900" y="1819275"/>
            <a:ext cx="2476500" cy="352425"/>
          </a:xfrm>
          <a:prstGeom xmlns:a="http://schemas.openxmlformats.org/drawingml/2006/main" prst="roundRect">
            <a:avLst>
              <a:gd name="adj" fmla="val 32432"/>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17324A"/>
                </a:solidFill>
                <a:latin typeface="Aptos"/>
                <a:ea typeface="Aptos"/>
                <a:cs typeface="Aptos"/>
              </a:defRPr>
            </a:pPr>
            <a:r>
              <a:rPr sz="1163" b="1">
                <a:solidFill>
                  <a:srgbClr val="17324A"/>
                </a:solidFill>
                <a:latin typeface="Aptos"/>
                <a:ea typeface="Aptos"/>
                <a:cs typeface="Aptos"/>
              </a:rPr>
              <a:t>BASE DATA TYPES</a:t>
            </a:r>
          </a:p>
        </p:txBody>
      </p:sp>
      <p:sp>
        <p:nvSpPr>
          <p:cNvPr id="23" name="s7-pill-3">
            <a:extLst xmlns:a="http://schemas.openxmlformats.org/drawingml/2006/main">
              <a:ext uri="{FF2B5EF4-FFF2-40B4-BE49-F238E27FC236}">
                <a16:creationId xmlns:a16="http://schemas.microsoft.com/office/drawing/2014/main" id="{9B7F6D06-8094-462C-BFE8-52F13AB50849}"/>
              </a:ext>
            </a:extLst>
          </p:cNvPr>
          <p:cNvSpPr>
            <a:spLocks xmlns:a="http://schemas.openxmlformats.org/drawingml/2006/main" noGrp="1"/>
          </p:cNvSpPr>
          <p:nvPr/>
        </p:nvSpPr>
        <p:spPr>
          <a:xfrm xmlns:a="http://schemas.openxmlformats.org/drawingml/2006/main">
            <a:off x="6096000" y="1819275"/>
            <a:ext cx="2476500" cy="352425"/>
          </a:xfrm>
          <a:prstGeom xmlns:a="http://schemas.openxmlformats.org/drawingml/2006/main" prst="roundRect">
            <a:avLst>
              <a:gd name="adj" fmla="val 32432"/>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17324A"/>
                </a:solidFill>
                <a:latin typeface="Aptos"/>
                <a:ea typeface="Aptos"/>
                <a:cs typeface="Aptos"/>
              </a:defRPr>
            </a:pPr>
            <a:r>
              <a:rPr sz="1163" b="1">
                <a:solidFill>
                  <a:srgbClr val="17324A"/>
                </a:solidFill>
                <a:latin typeface="Aptos"/>
                <a:ea typeface="Aptos"/>
                <a:cs typeface="Aptos"/>
              </a:rPr>
              <a:t>SIGNAL DIMENSIONS</a:t>
            </a:r>
          </a:p>
        </p:txBody>
      </p:sp>
      <p:sp>
        <p:nvSpPr>
          <p:cNvPr id="24" name="s7-pill-4">
            <a:extLst xmlns:a="http://schemas.openxmlformats.org/drawingml/2006/main">
              <a:ext uri="{FF2B5EF4-FFF2-40B4-BE49-F238E27FC236}">
                <a16:creationId xmlns:a16="http://schemas.microsoft.com/office/drawing/2014/main" id="{A44E8214-B406-4EC5-8C5C-DB4D486DDB3D}"/>
              </a:ext>
            </a:extLst>
          </p:cNvPr>
          <p:cNvSpPr>
            <a:spLocks xmlns:a="http://schemas.openxmlformats.org/drawingml/2006/main" noGrp="1"/>
          </p:cNvSpPr>
          <p:nvPr/>
        </p:nvSpPr>
        <p:spPr>
          <a:xfrm xmlns:a="http://schemas.openxmlformats.org/drawingml/2006/main">
            <a:off x="8801100" y="1819275"/>
            <a:ext cx="2476500" cy="352425"/>
          </a:xfrm>
          <a:prstGeom xmlns:a="http://schemas.openxmlformats.org/drawingml/2006/main" prst="roundRect">
            <a:avLst>
              <a:gd name="adj" fmla="val 32432"/>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17324A"/>
                </a:solidFill>
                <a:latin typeface="Aptos"/>
                <a:ea typeface="Aptos"/>
                <a:cs typeface="Aptos"/>
              </a:defRPr>
            </a:pPr>
            <a:r>
              <a:rPr sz="1163" b="1">
                <a:solidFill>
                  <a:srgbClr val="17324A"/>
                </a:solidFill>
                <a:latin typeface="Aptos"/>
                <a:ea typeface="Aptos"/>
                <a:cs typeface="Aptos"/>
              </a:rPr>
              <a:t>LOG &amp; TESTPOINT</a:t>
            </a:r>
          </a:p>
        </p:txBody>
      </p:sp>
      <p:sp>
        <p:nvSpPr>
          <p:cNvPr id="25" name="s7-focus-label">
            <a:extLst xmlns:a="http://schemas.openxmlformats.org/drawingml/2006/main">
              <a:ext uri="{FF2B5EF4-FFF2-40B4-BE49-F238E27FC236}">
                <a16:creationId xmlns:a16="http://schemas.microsoft.com/office/drawing/2014/main" id="{404B999D-137B-4087-BBBA-6C15A4BD4ADB}"/>
              </a:ext>
            </a:extLst>
          </p:cNvPr>
          <p:cNvSpPr>
            <a:spLocks xmlns:a="http://schemas.openxmlformats.org/drawingml/2006/main" noGrp="1"/>
          </p:cNvSpPr>
          <p:nvPr/>
        </p:nvSpPr>
        <p:spPr>
          <a:xfrm xmlns:a="http://schemas.openxmlformats.org/drawingml/2006/main">
            <a:off x="685800" y="2238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38" b="1">
                <a:solidFill>
                  <a:srgbClr val="2D6CDF"/>
                </a:solidFill>
                <a:latin typeface="Aptos"/>
                <a:ea typeface="Aptos"/>
                <a:cs typeface="Aptos"/>
              </a:defRPr>
            </a:pPr>
            <a:r>
              <a:rPr sz="1238" b="1">
                <a:solidFill>
                  <a:srgbClr val="2D6CDF"/>
                </a:solidFill>
                <a:latin typeface="Aptos"/>
                <a:ea typeface="Aptos"/>
                <a:cs typeface="Aptos"/>
              </a:rPr>
              <a:t>FOCUSED CANVAS — overlays reduced</a:t>
            </a:r>
          </a:p>
        </p:txBody>
      </p:sp>
      <p:sp>
        <p:nvSpPr>
          <p:cNvPr id="26" name="s7-review-label">
            <a:extLst xmlns:a="http://schemas.openxmlformats.org/drawingml/2006/main">
              <a:ext uri="{FF2B5EF4-FFF2-40B4-BE49-F238E27FC236}">
                <a16:creationId xmlns:a16="http://schemas.microsoft.com/office/drawing/2014/main" id="{82C7CD05-404D-4256-B889-39DF4559DB17}"/>
              </a:ext>
            </a:extLst>
          </p:cNvPr>
          <p:cNvSpPr>
            <a:spLocks xmlns:a="http://schemas.openxmlformats.org/drawingml/2006/main" noGrp="1"/>
          </p:cNvSpPr>
          <p:nvPr/>
        </p:nvSpPr>
        <p:spPr>
          <a:xfrm xmlns:a="http://schemas.openxmlformats.org/drawingml/2006/main">
            <a:off x="5867400" y="2238375"/>
            <a:ext cx="563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38" b="1">
                <a:solidFill>
                  <a:srgbClr val="20B7C5"/>
                </a:solidFill>
                <a:latin typeface="Aptos"/>
                <a:ea typeface="Aptos"/>
                <a:cs typeface="Aptos"/>
              </a:defRPr>
            </a:pPr>
            <a:r>
              <a:rPr sz="1238" b="1">
                <a:solidFill>
                  <a:srgbClr val="20B7C5"/>
                </a:solidFill>
                <a:latin typeface="Aptos"/>
                <a:ea typeface="Aptos"/>
                <a:cs typeface="Aptos"/>
              </a:rPr>
              <a:t>REVIEW CANVAS — semantics visible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cbb4434c6834b0c"/>
          <a:stretch xmlns:a="http://schemas.openxmlformats.org/drawingml/2006/main"/>
        </p:blipFill>
        <p:spPr>
          <a:xfrm xmlns:a="http://schemas.openxmlformats.org/drawingml/2006/main">
            <a:off x="953548" y="2505075"/>
            <a:ext cx="4417503" cy="245745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8a6b6313d4c4c59"/>
          <a:srcRect xmlns:a="http://schemas.openxmlformats.org/drawingml/2006/main" l="0" t="20341" r="0" b="20341"/>
          <a:stretch xmlns:a="http://schemas.openxmlformats.org/drawingml/2006/main">
            <a:fillRect l="0" t="0" r="0" b="0"/>
          </a:stretch>
        </p:blipFill>
        <p:spPr>
          <a:xfrm xmlns:a="http://schemas.openxmlformats.org/drawingml/2006/main">
            <a:off x="5867400" y="2505075"/>
            <a:ext cx="5638800" cy="2457450"/>
          </a:xfrm>
          <a:prstGeom xmlns:a="http://schemas.openxmlformats.org/drawingml/2006/main" prst="rect">
            <a:avLst/>
          </a:prstGeom>
        </p:spPr>
      </p:pic>
      <p:sp>
        <p:nvSpPr>
          <p:cNvPr id="29" name="s7-takeaway">
            <a:extLst xmlns:a="http://schemas.openxmlformats.org/drawingml/2006/main">
              <a:ext uri="{FF2B5EF4-FFF2-40B4-BE49-F238E27FC236}">
                <a16:creationId xmlns:a16="http://schemas.microsoft.com/office/drawing/2014/main" id="{D1E5F23E-83F7-4CEF-A08F-4C35BF553C3A}"/>
              </a:ext>
            </a:extLst>
          </p:cNvPr>
          <p:cNvSpPr>
            <a:spLocks xmlns:a="http://schemas.openxmlformats.org/drawingml/2006/main" noGrp="1"/>
          </p:cNvSpPr>
          <p:nvPr/>
        </p:nvSpPr>
        <p:spPr>
          <a:xfrm xmlns:a="http://schemas.openxmlformats.org/drawingml/2006/main">
            <a:off x="685800" y="5200650"/>
            <a:ext cx="10820400" cy="857250"/>
          </a:xfrm>
          <a:prstGeom xmlns:a="http://schemas.openxmlformats.org/drawingml/2006/main" prst="roundRect">
            <a:avLst>
              <a:gd name="adj" fmla="val 13333"/>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00" b="1">
                <a:solidFill>
                  <a:srgbClr val="0B1F33"/>
                </a:solidFill>
                <a:latin typeface="Aptos"/>
                <a:ea typeface="Aptos"/>
                <a:cs typeface="Aptos"/>
              </a:defRPr>
            </a:pPr>
            <a:r>
              <a:rPr sz="1500" b="1">
                <a:solidFill>
                  <a:srgbClr val="0B1F33"/>
                </a:solidFill>
                <a:latin typeface="Aptos"/>
                <a:ea typeface="Aptos"/>
                <a:cs typeface="Aptos"/>
              </a:rPr>
              <a:t>Model overlays annotate the diagram. SDI markers annotate plotted samples. Turning either display on or off does not change model behavior or logged values.</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75" b="1" i="0">
                <a:solidFill>
                  <a:srgbClr val="FFFFFF"/>
                </a:solidFill>
                <a:latin typeface="Aptos"/>
                <a:ea typeface="Aptos"/>
                <a:cs typeface="Aptos"/>
              </a:defRPr>
            </a:pPr>
            <a:r>
              <a:rPr sz="3375" b="1" i="0">
                <a:solidFill>
                  <a:srgbClr val="FFFFFF"/>
                </a:solidFill>
                <a:latin typeface="Aptos"/>
                <a:ea typeface="Aptos"/>
                <a:cs typeface="Aptos"/>
              </a:rPr>
              <a:t>Know which top-level model you opened</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pic>
        <p:nvPicPr>
          <p:cNvPr id="44" name="Picture 8"/>
          <p:cNvPicPr>
            <a:picLocks xmlns:a="http://schemas.openxmlformats.org/drawingml/2006/main" noChangeAspect="1"/>
          </p:cNvPicPr>
          <p:nvPr/>
        </p:nvPicPr>
        <p:blipFill>
          <a:blip xmlns:r="http://schemas.openxmlformats.org/officeDocument/2006/relationships" xmlns:a="http://schemas.openxmlformats.org/drawingml/2006/main" r:embed="R48076796f9214335"/>
          <a:stretch xmlns:a="http://schemas.openxmlformats.org/drawingml/2006/main">
            <a:fillRect l="0" t="0" r="0" b="0"/>
          </a:stretch>
        </p:blipFill>
        <p:spPr>
          <a:xfrm xmlns:a="http://schemas.openxmlformats.org/drawingml/2006/main">
            <a:off x="685800" y="1571625"/>
            <a:ext cx="6858000" cy="3781425"/>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4FA2F6A-A3A0-877B-A9BC-364120316D91}"/>
              </a:ext>
            </a:extLst>
          </p:cNvPr>
          <p:cNvSpPr>
            <a:spLocks xmlns:a="http://schemas.openxmlformats.org/drawingml/2006/main" noGrp="1"/>
          </p:cNvSpPr>
          <p:nvPr/>
        </p:nvSpPr>
        <p:spPr>
          <a:xfrm xmlns:a="http://schemas.openxmlformats.org/drawingml/2006/main">
            <a:off x="685800" y="5734050"/>
            <a:ext cx="10820400" cy="28575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388" b="1">
                <a:solidFill>
                  <a:srgbClr val="20B7C5"/>
                </a:solidFill>
                <a:latin typeface="Aptos"/>
                <a:ea typeface="Aptos"/>
                <a:cs typeface="Aptos"/>
              </a:defRPr>
            </a:pPr>
            <a:r>
              <a:rPr sz="1388" b="1">
                <a:solidFill>
                  <a:srgbClr val="20B7C5"/>
                </a:solidFill>
                <a:latin typeface="Aptos"/>
                <a:ea typeface="Aptos"/>
                <a:cs typeface="Aptos"/>
              </a:rPr>
              <a:t>“Top level” means the entry point for the current job—not one universal model.</a:t>
            </a:r>
          </a:p>
        </p:txBody>
      </p:sp>
      <p:sp>
        <p:nvSpPr>
          <p:cNvPr id="23" name="s8-role-1">
            <a:extLst xmlns:a="http://schemas.openxmlformats.org/drawingml/2006/main">
              <a:ext uri="{FF2B5EF4-FFF2-40B4-BE49-F238E27FC236}">
                <a16:creationId xmlns:a16="http://schemas.microsoft.com/office/drawing/2014/main" id="{BB201146-8828-4861-9245-62EA77CC76AC}"/>
              </a:ext>
            </a:extLst>
          </p:cNvPr>
          <p:cNvSpPr>
            <a:spLocks xmlns:a="http://schemas.openxmlformats.org/drawingml/2006/main" noGrp="1"/>
          </p:cNvSpPr>
          <p:nvPr/>
        </p:nvSpPr>
        <p:spPr>
          <a:xfrm xmlns:a="http://schemas.openxmlformats.org/drawingml/2006/main">
            <a:off x="7810500" y="1571625"/>
            <a:ext cx="3695700" cy="809625"/>
          </a:xfrm>
          <a:prstGeom xmlns:a="http://schemas.openxmlformats.org/drawingml/2006/main" prst="roundRect">
            <a:avLst>
              <a:gd name="adj" fmla="val 14118"/>
            </a:avLst>
          </a:prstGeom>
          <a:solidFill xmlns:a="http://schemas.openxmlformats.org/drawingml/2006/main">
            <a:srgbClr val="E2ECFF"/>
          </a:solidFill>
          <a:ln xmlns:a="http://schemas.openxmlformats.org/drawingml/2006/main" w="19050">
            <a:solidFill>
              <a:srgbClr val="2D6CDF"/>
            </a:solidFill>
            <a:prstDash val="solid"/>
          </a:ln>
        </p:spPr>
      </p:sp>
      <p:sp>
        <p:nvSpPr>
          <p:cNvPr id="24" name="s8-role-title-1">
            <a:extLst xmlns:a="http://schemas.openxmlformats.org/drawingml/2006/main">
              <a:ext uri="{FF2B5EF4-FFF2-40B4-BE49-F238E27FC236}">
                <a16:creationId xmlns:a16="http://schemas.microsoft.com/office/drawing/2014/main" id="{C6B92CAF-BD52-4CC6-BDB7-4043AFFA9F14}"/>
              </a:ext>
            </a:extLst>
          </p:cNvPr>
          <p:cNvSpPr>
            <a:spLocks xmlns:a="http://schemas.openxmlformats.org/drawingml/2006/main" noGrp="1"/>
          </p:cNvSpPr>
          <p:nvPr/>
        </p:nvSpPr>
        <p:spPr>
          <a:xfrm xmlns:a="http://schemas.openxmlformats.org/drawingml/2006/main">
            <a:off x="7972425" y="16478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D6CDF"/>
                </a:solidFill>
                <a:latin typeface="Aptos"/>
                <a:ea typeface="Aptos"/>
                <a:cs typeface="Aptos"/>
              </a:defRPr>
            </a:pPr>
            <a:r>
              <a:rPr sz="1110" b="1">
                <a:solidFill>
                  <a:srgbClr val="2D6CDF"/>
                </a:solidFill>
                <a:latin typeface="Aptos"/>
                <a:ea typeface="Aptos"/>
                <a:cs typeface="Aptos"/>
              </a:rPr>
              <a:t>SIMULATE</a:t>
            </a:r>
          </a:p>
        </p:txBody>
      </p:sp>
      <p:sp>
        <p:nvSpPr>
          <p:cNvPr id="25" name="s8-role-file-1">
            <a:extLst xmlns:a="http://schemas.openxmlformats.org/drawingml/2006/main">
              <a:ext uri="{FF2B5EF4-FFF2-40B4-BE49-F238E27FC236}">
                <a16:creationId xmlns:a16="http://schemas.microsoft.com/office/drawing/2014/main" id="{03B88ED6-E4C8-469C-83EC-EAF007749520}"/>
              </a:ext>
            </a:extLst>
          </p:cNvPr>
          <p:cNvSpPr>
            <a:spLocks xmlns:a="http://schemas.openxmlformats.org/drawingml/2006/main" noGrp="1"/>
          </p:cNvSpPr>
          <p:nvPr/>
        </p:nvSpPr>
        <p:spPr>
          <a:xfrm xmlns:a="http://schemas.openxmlformats.org/drawingml/2006/main">
            <a:off x="8896350" y="163830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AircraftFeedbackControlLoop.slx</a:t>
            </a:r>
          </a:p>
        </p:txBody>
      </p:sp>
      <p:sp>
        <p:nvSpPr>
          <p:cNvPr id="26" name="s8-role-detail-1">
            <a:extLst xmlns:a="http://schemas.openxmlformats.org/drawingml/2006/main">
              <a:ext uri="{FF2B5EF4-FFF2-40B4-BE49-F238E27FC236}">
                <a16:creationId xmlns:a16="http://schemas.microsoft.com/office/drawing/2014/main" id="{8FAD87D3-40F5-497C-9312-274DE4DCBC86}"/>
              </a:ext>
            </a:extLst>
          </p:cNvPr>
          <p:cNvSpPr>
            <a:spLocks xmlns:a="http://schemas.openxmlformats.org/drawingml/2006/main" noGrp="1"/>
          </p:cNvSpPr>
          <p:nvPr/>
        </p:nvSpPr>
        <p:spPr>
          <a:xfrm xmlns:a="http://schemas.openxmlformats.org/drawingml/2006/main">
            <a:off x="7972425" y="202882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17324A"/>
                </a:solidFill>
                <a:latin typeface="Aptos"/>
                <a:ea typeface="Aptos"/>
                <a:cs typeface="Aptos"/>
              </a:defRPr>
            </a:pPr>
            <a:r>
              <a:rPr sz="1110" b="1">
                <a:solidFill>
                  <a:srgbClr val="17324A"/>
                </a:solidFill>
                <a:latin typeface="Aptos"/>
                <a:ea typeface="Aptos"/>
                <a:cs typeface="Aptos"/>
              </a:rPr>
              <a:t>runnable closed-loop training model</a:t>
            </a:r>
          </a:p>
        </p:txBody>
      </p:sp>
      <p:sp>
        <p:nvSpPr>
          <p:cNvPr id="27" name="s8-role-2">
            <a:extLst xmlns:a="http://schemas.openxmlformats.org/drawingml/2006/main">
              <a:ext uri="{FF2B5EF4-FFF2-40B4-BE49-F238E27FC236}">
                <a16:creationId xmlns:a16="http://schemas.microsoft.com/office/drawing/2014/main" id="{FF067452-9575-45A1-B5EF-26B238767798}"/>
              </a:ext>
            </a:extLst>
          </p:cNvPr>
          <p:cNvSpPr>
            <a:spLocks xmlns:a="http://schemas.openxmlformats.org/drawingml/2006/main" noGrp="1"/>
          </p:cNvSpPr>
          <p:nvPr/>
        </p:nvSpPr>
        <p:spPr>
          <a:xfrm xmlns:a="http://schemas.openxmlformats.org/drawingml/2006/main">
            <a:off x="7810500" y="2505075"/>
            <a:ext cx="3695700" cy="809625"/>
          </a:xfrm>
          <a:prstGeom xmlns:a="http://schemas.openxmlformats.org/drawingml/2006/main" prst="roundRect">
            <a:avLst>
              <a:gd name="adj" fmla="val 14118"/>
            </a:avLst>
          </a:prstGeom>
          <a:solidFill xmlns:a="http://schemas.openxmlformats.org/drawingml/2006/main">
            <a:srgbClr val="DFF6F8"/>
          </a:solidFill>
          <a:ln xmlns:a="http://schemas.openxmlformats.org/drawingml/2006/main" w="19050">
            <a:solidFill>
              <a:srgbClr val="20B7C5"/>
            </a:solidFill>
            <a:prstDash val="solid"/>
          </a:ln>
        </p:spPr>
      </p:sp>
      <p:sp>
        <p:nvSpPr>
          <p:cNvPr id="28" name="s8-role-title-2">
            <a:extLst xmlns:a="http://schemas.openxmlformats.org/drawingml/2006/main">
              <a:ext uri="{FF2B5EF4-FFF2-40B4-BE49-F238E27FC236}">
                <a16:creationId xmlns:a16="http://schemas.microsoft.com/office/drawing/2014/main" id="{AF55EE24-3452-4363-945D-4149A715D42B}"/>
              </a:ext>
            </a:extLst>
          </p:cNvPr>
          <p:cNvSpPr>
            <a:spLocks xmlns:a="http://schemas.openxmlformats.org/drawingml/2006/main" noGrp="1"/>
          </p:cNvSpPr>
          <p:nvPr/>
        </p:nvSpPr>
        <p:spPr>
          <a:xfrm xmlns:a="http://schemas.openxmlformats.org/drawingml/2006/main">
            <a:off x="7972425" y="25812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0B7C5"/>
                </a:solidFill>
                <a:latin typeface="Aptos"/>
                <a:ea typeface="Aptos"/>
                <a:cs typeface="Aptos"/>
              </a:defRPr>
            </a:pPr>
            <a:r>
              <a:rPr sz="1110" b="1">
                <a:solidFill>
                  <a:srgbClr val="20B7C5"/>
                </a:solidFill>
                <a:latin typeface="Aptos"/>
                <a:ea typeface="Aptos"/>
                <a:cs typeface="Aptos"/>
              </a:rPr>
              <a:t>INTEGRATE</a:t>
            </a:r>
          </a:p>
        </p:txBody>
      </p:sp>
      <p:sp>
        <p:nvSpPr>
          <p:cNvPr id="29" name="s8-role-file-2">
            <a:extLst xmlns:a="http://schemas.openxmlformats.org/drawingml/2006/main">
              <a:ext uri="{FF2B5EF4-FFF2-40B4-BE49-F238E27FC236}">
                <a16:creationId xmlns:a16="http://schemas.microsoft.com/office/drawing/2014/main" id="{718CA563-2455-4274-9895-64742A36B772}"/>
              </a:ext>
            </a:extLst>
          </p:cNvPr>
          <p:cNvSpPr>
            <a:spLocks xmlns:a="http://schemas.openxmlformats.org/drawingml/2006/main" noGrp="1"/>
          </p:cNvSpPr>
          <p:nvPr/>
        </p:nvSpPr>
        <p:spPr>
          <a:xfrm xmlns:a="http://schemas.openxmlformats.org/drawingml/2006/main">
            <a:off x="8896350" y="257175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ReferencedFlightControl</a:t>
            </a:r>
          </a:p>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Architecture.slx</a:t>
            </a:r>
          </a:p>
        </p:txBody>
      </p:sp>
      <p:sp>
        <p:nvSpPr>
          <p:cNvPr id="30" name="s8-role-detail-2">
            <a:extLst xmlns:a="http://schemas.openxmlformats.org/drawingml/2006/main">
              <a:ext uri="{FF2B5EF4-FFF2-40B4-BE49-F238E27FC236}">
                <a16:creationId xmlns:a16="http://schemas.microsoft.com/office/drawing/2014/main" id="{F83A1F8F-B51A-4867-9B9E-89E28431FCD5}"/>
              </a:ext>
            </a:extLst>
          </p:cNvPr>
          <p:cNvSpPr>
            <a:spLocks xmlns:a="http://schemas.openxmlformats.org/drawingml/2006/main" noGrp="1"/>
          </p:cNvSpPr>
          <p:nvPr/>
        </p:nvSpPr>
        <p:spPr>
          <a:xfrm xmlns:a="http://schemas.openxmlformats.org/drawingml/2006/main">
            <a:off x="7972425" y="296227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17324A"/>
                </a:solidFill>
                <a:latin typeface="Aptos"/>
                <a:ea typeface="Aptos"/>
                <a:cs typeface="Aptos"/>
              </a:defRPr>
            </a:pPr>
            <a:r>
              <a:rPr sz="1110" b="1">
                <a:solidFill>
                  <a:srgbClr val="17324A"/>
                </a:solidFill>
                <a:latin typeface="Aptos"/>
                <a:ea typeface="Aptos"/>
                <a:cs typeface="Aptos"/>
              </a:rPr>
              <a:t>parent model-reference architecture</a:t>
            </a:r>
          </a:p>
        </p:txBody>
      </p:sp>
      <p:sp>
        <p:nvSpPr>
          <p:cNvPr id="31" name="s8-role-3">
            <a:extLst xmlns:a="http://schemas.openxmlformats.org/drawingml/2006/main">
              <a:ext uri="{FF2B5EF4-FFF2-40B4-BE49-F238E27FC236}">
                <a16:creationId xmlns:a16="http://schemas.microsoft.com/office/drawing/2014/main" id="{801C2CF2-F8B3-45B9-9364-9C8F606794CD}"/>
              </a:ext>
            </a:extLst>
          </p:cNvPr>
          <p:cNvSpPr>
            <a:spLocks xmlns:a="http://schemas.openxmlformats.org/drawingml/2006/main" noGrp="1"/>
          </p:cNvSpPr>
          <p:nvPr/>
        </p:nvSpPr>
        <p:spPr>
          <a:xfrm xmlns:a="http://schemas.openxmlformats.org/drawingml/2006/main">
            <a:off x="7810500" y="3438525"/>
            <a:ext cx="3695700" cy="809625"/>
          </a:xfrm>
          <a:prstGeom xmlns:a="http://schemas.openxmlformats.org/drawingml/2006/main" prst="roundRect">
            <a:avLst>
              <a:gd name="adj" fmla="val 14118"/>
            </a:avLst>
          </a:prstGeom>
          <a:solidFill xmlns:a="http://schemas.openxmlformats.org/drawingml/2006/main">
            <a:srgbClr val="E2F4EA"/>
          </a:solidFill>
          <a:ln xmlns:a="http://schemas.openxmlformats.org/drawingml/2006/main" w="19050">
            <a:solidFill>
              <a:srgbClr val="2CA56F"/>
            </a:solidFill>
            <a:prstDash val="solid"/>
          </a:ln>
        </p:spPr>
      </p:sp>
      <p:sp>
        <p:nvSpPr>
          <p:cNvPr id="32" name="s8-role-title-3">
            <a:extLst xmlns:a="http://schemas.openxmlformats.org/drawingml/2006/main">
              <a:ext uri="{FF2B5EF4-FFF2-40B4-BE49-F238E27FC236}">
                <a16:creationId xmlns:a16="http://schemas.microsoft.com/office/drawing/2014/main" id="{23CC0960-92B5-4693-8769-2F62F08A8C6C}"/>
              </a:ext>
            </a:extLst>
          </p:cNvPr>
          <p:cNvSpPr>
            <a:spLocks xmlns:a="http://schemas.openxmlformats.org/drawingml/2006/main" noGrp="1"/>
          </p:cNvSpPr>
          <p:nvPr/>
        </p:nvSpPr>
        <p:spPr>
          <a:xfrm xmlns:a="http://schemas.openxmlformats.org/drawingml/2006/main">
            <a:off x="7972425" y="35147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CA56F"/>
                </a:solidFill>
                <a:latin typeface="Aptos"/>
                <a:ea typeface="Aptos"/>
                <a:cs typeface="Aptos"/>
              </a:defRPr>
            </a:pPr>
            <a:r>
              <a:rPr sz="1110" b="1">
                <a:solidFill>
                  <a:srgbClr val="2CA56F"/>
                </a:solidFill>
                <a:latin typeface="Aptos"/>
                <a:ea typeface="Aptos"/>
                <a:cs typeface="Aptos"/>
              </a:rPr>
              <a:t>DEVELOP</a:t>
            </a:r>
          </a:p>
        </p:txBody>
      </p:sp>
      <p:sp>
        <p:nvSpPr>
          <p:cNvPr id="33" name="s8-role-file-3">
            <a:extLst xmlns:a="http://schemas.openxmlformats.org/drawingml/2006/main">
              <a:ext uri="{FF2B5EF4-FFF2-40B4-BE49-F238E27FC236}">
                <a16:creationId xmlns:a16="http://schemas.microsoft.com/office/drawing/2014/main" id="{B4D4BD65-1499-4BC7-A726-F670363F8AB2}"/>
              </a:ext>
            </a:extLst>
          </p:cNvPr>
          <p:cNvSpPr>
            <a:spLocks xmlns:a="http://schemas.openxmlformats.org/drawingml/2006/main" noGrp="1"/>
          </p:cNvSpPr>
          <p:nvPr/>
        </p:nvSpPr>
        <p:spPr>
          <a:xfrm xmlns:a="http://schemas.openxmlformats.org/drawingml/2006/main">
            <a:off x="8896350" y="350520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PitchRateLimiter.slx + referenced components</a:t>
            </a:r>
          </a:p>
        </p:txBody>
      </p:sp>
      <p:sp>
        <p:nvSpPr>
          <p:cNvPr id="34" name="s8-role-detail-3">
            <a:extLst xmlns:a="http://schemas.openxmlformats.org/drawingml/2006/main">
              <a:ext uri="{FF2B5EF4-FFF2-40B4-BE49-F238E27FC236}">
                <a16:creationId xmlns:a16="http://schemas.microsoft.com/office/drawing/2014/main" id="{A52887A1-27FE-46C8-8467-F9CB310A00CF}"/>
              </a:ext>
            </a:extLst>
          </p:cNvPr>
          <p:cNvSpPr>
            <a:spLocks xmlns:a="http://schemas.openxmlformats.org/drawingml/2006/main" noGrp="1"/>
          </p:cNvSpPr>
          <p:nvPr/>
        </p:nvSpPr>
        <p:spPr>
          <a:xfrm xmlns:a="http://schemas.openxmlformats.org/drawingml/2006/main">
            <a:off x="7972425" y="389572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17324A"/>
                </a:solidFill>
                <a:latin typeface="Aptos"/>
                <a:ea typeface="Aptos"/>
                <a:cs typeface="Aptos"/>
              </a:defRPr>
            </a:pPr>
            <a:r>
              <a:rPr sz="1110" b="1">
                <a:solidFill>
                  <a:srgbClr val="17324A"/>
                </a:solidFill>
                <a:latin typeface="Aptos"/>
                <a:ea typeface="Aptos"/>
                <a:cs typeface="Aptos"/>
              </a:rPr>
              <a:t>component implementation</a:t>
            </a:r>
          </a:p>
        </p:txBody>
      </p:sp>
      <p:sp>
        <p:nvSpPr>
          <p:cNvPr id="35" name="s8-role-4">
            <a:extLst xmlns:a="http://schemas.openxmlformats.org/drawingml/2006/main">
              <a:ext uri="{FF2B5EF4-FFF2-40B4-BE49-F238E27FC236}">
                <a16:creationId xmlns:a16="http://schemas.microsoft.com/office/drawing/2014/main" id="{09171A9E-2384-420E-9F8B-DDF417CD210B}"/>
              </a:ext>
            </a:extLst>
          </p:cNvPr>
          <p:cNvSpPr>
            <a:spLocks xmlns:a="http://schemas.openxmlformats.org/drawingml/2006/main" noGrp="1"/>
          </p:cNvSpPr>
          <p:nvPr/>
        </p:nvSpPr>
        <p:spPr>
          <a:xfrm xmlns:a="http://schemas.openxmlformats.org/drawingml/2006/main">
            <a:off x="7810500" y="4371975"/>
            <a:ext cx="3695700" cy="809625"/>
          </a:xfrm>
          <a:prstGeom xmlns:a="http://schemas.openxmlformats.org/drawingml/2006/main" prst="roundRect">
            <a:avLst>
              <a:gd name="adj" fmla="val 14118"/>
            </a:avLst>
          </a:prstGeom>
          <a:solidFill xmlns:a="http://schemas.openxmlformats.org/drawingml/2006/main">
            <a:srgbClr val="FFF0D7"/>
          </a:solidFill>
          <a:ln xmlns:a="http://schemas.openxmlformats.org/drawingml/2006/main" w="19050">
            <a:solidFill>
              <a:srgbClr val="E9A23B"/>
            </a:solidFill>
            <a:prstDash val="solid"/>
          </a:ln>
        </p:spPr>
      </p:sp>
      <p:sp>
        <p:nvSpPr>
          <p:cNvPr id="36" name="s8-role-title-4">
            <a:extLst xmlns:a="http://schemas.openxmlformats.org/drawingml/2006/main">
              <a:ext uri="{FF2B5EF4-FFF2-40B4-BE49-F238E27FC236}">
                <a16:creationId xmlns:a16="http://schemas.microsoft.com/office/drawing/2014/main" id="{9BAE84F3-5E33-4826-8F4E-E77CBBF58F40}"/>
              </a:ext>
            </a:extLst>
          </p:cNvPr>
          <p:cNvSpPr>
            <a:spLocks xmlns:a="http://schemas.openxmlformats.org/drawingml/2006/main" noGrp="1"/>
          </p:cNvSpPr>
          <p:nvPr/>
        </p:nvSpPr>
        <p:spPr>
          <a:xfrm xmlns:a="http://schemas.openxmlformats.org/drawingml/2006/main">
            <a:off x="7972425" y="44481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E9A23B"/>
                </a:solidFill>
                <a:latin typeface="Aptos"/>
                <a:ea typeface="Aptos"/>
                <a:cs typeface="Aptos"/>
              </a:defRPr>
            </a:pPr>
            <a:r>
              <a:rPr sz="1110" b="1">
                <a:solidFill>
                  <a:srgbClr val="E9A23B"/>
                </a:solidFill>
                <a:latin typeface="Aptos"/>
                <a:ea typeface="Aptos"/>
                <a:cs typeface="Aptos"/>
              </a:rPr>
              <a:t>VERIFY</a:t>
            </a:r>
          </a:p>
        </p:txBody>
      </p:sp>
      <p:sp>
        <p:nvSpPr>
          <p:cNvPr id="37" name="s8-role-file-4">
            <a:extLst xmlns:a="http://schemas.openxmlformats.org/drawingml/2006/main">
              <a:ext uri="{FF2B5EF4-FFF2-40B4-BE49-F238E27FC236}">
                <a16:creationId xmlns:a16="http://schemas.microsoft.com/office/drawing/2014/main" id="{D4507E29-E6D6-40CC-85BC-6D143520A912}"/>
              </a:ext>
            </a:extLst>
          </p:cNvPr>
          <p:cNvSpPr>
            <a:spLocks xmlns:a="http://schemas.openxmlformats.org/drawingml/2006/main" noGrp="1"/>
          </p:cNvSpPr>
          <p:nvPr/>
        </p:nvSpPr>
        <p:spPr>
          <a:xfrm xmlns:a="http://schemas.openxmlformats.org/drawingml/2006/main">
            <a:off x="8896350" y="443865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PitchRateLimiter_Harness.slx</a:t>
            </a:r>
          </a:p>
        </p:txBody>
      </p:sp>
      <p:sp>
        <p:nvSpPr>
          <p:cNvPr id="38" name="s8-role-detail-4">
            <a:extLst xmlns:a="http://schemas.openxmlformats.org/drawingml/2006/main">
              <a:ext uri="{FF2B5EF4-FFF2-40B4-BE49-F238E27FC236}">
                <a16:creationId xmlns:a16="http://schemas.microsoft.com/office/drawing/2014/main" id="{DAEE6916-AA14-4FBD-89FC-547BB2403592}"/>
              </a:ext>
            </a:extLst>
          </p:cNvPr>
          <p:cNvSpPr>
            <a:spLocks xmlns:a="http://schemas.openxmlformats.org/drawingml/2006/main" noGrp="1"/>
          </p:cNvSpPr>
          <p:nvPr/>
        </p:nvSpPr>
        <p:spPr>
          <a:xfrm xmlns:a="http://schemas.openxmlformats.org/drawingml/2006/main">
            <a:off x="7972425" y="482917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17324A"/>
                </a:solidFill>
                <a:latin typeface="Aptos"/>
                <a:ea typeface="Aptos"/>
                <a:cs typeface="Aptos"/>
              </a:defRPr>
            </a:pPr>
            <a:r>
              <a:rPr sz="1110" b="1">
                <a:solidFill>
                  <a:srgbClr val="17324A"/>
                </a:solidFill>
                <a:latin typeface="Aptos"/>
                <a:ea typeface="Aptos"/>
                <a:cs typeface="Aptos"/>
              </a:rPr>
              <a:t>unit-level stimulus and capture</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e99e64f020b84565"/>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113" b="1" i="0">
                <a:solidFill>
                  <a:srgbClr val="0B1F33"/>
                </a:solidFill>
                <a:latin typeface="Aptos"/>
                <a:ea typeface="Aptos"/>
                <a:cs typeface="Aptos"/>
              </a:defRPr>
            </a:pPr>
            <a:r>
              <a:rPr sz="3113" b="1" i="0">
                <a:solidFill>
                  <a:srgbClr val="0B1F33"/>
                </a:solidFill>
                <a:latin typeface="Aptos"/>
                <a:ea typeface="Aptos"/>
                <a:cs typeface="Aptos"/>
              </a:rPr>
              <a:t>The Data Inspector makes runs inspectable and comparable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pic>
        <p:nvPicPr>
          <p:cNvPr id="58" name="Picture 8"/>
          <p:cNvPicPr>
            <a:picLocks xmlns:a="http://schemas.openxmlformats.org/drawingml/2006/main" noChangeAspect="1"/>
          </p:cNvPicPr>
          <p:nvPr/>
        </p:nvPicPr>
        <p:blipFill>
          <a:blip xmlns:r="http://schemas.openxmlformats.org/officeDocument/2006/relationships" xmlns:a="http://schemas.openxmlformats.org/drawingml/2006/main" r:embed="R2dfba55852bd4909"/>
          <a:stretch xmlns:a="http://schemas.openxmlformats.org/drawingml/2006/main">
            <a:fillRect l="0" t="0" r="0" b="0"/>
          </a:stretch>
        </p:blipFill>
        <p:spPr>
          <a:xfrm xmlns:a="http://schemas.openxmlformats.org/drawingml/2006/main">
            <a:off x="685800" y="1714500"/>
            <a:ext cx="6572250" cy="3571875"/>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69FD528C-0A6A-FE56-E92F-F85A008B2560}"/>
              </a:ext>
            </a:extLst>
          </p:cNvPr>
          <p:cNvSpPr>
            <a:spLocks xmlns:a="http://schemas.openxmlformats.org/drawingml/2006/main" noGrp="1"/>
          </p:cNvSpPr>
          <p:nvPr/>
        </p:nvSpPr>
        <p:spPr>
          <a:xfrm xmlns:a="http://schemas.openxmlformats.org/drawingml/2006/main">
            <a:off x="685800" y="5715000"/>
            <a:ext cx="10820400" cy="30480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Retained 50 Hz command-tracking data • SDI is the interactive workspace for samples, cursors, comparisons, and run metadata</a:t>
            </a:r>
          </a:p>
        </p:txBody>
      </p:sp>
      <p:sp>
        <p:nvSpPr>
          <p:cNvPr id="36" name="s10-path">
            <a:extLst xmlns:a="http://schemas.openxmlformats.org/drawingml/2006/main">
              <a:ext uri="{FF2B5EF4-FFF2-40B4-BE49-F238E27FC236}">
                <a16:creationId xmlns:a16="http://schemas.microsoft.com/office/drawing/2014/main" id="{FD12982C-1DDC-41C7-84A4-D11F562B53DB}"/>
              </a:ext>
            </a:extLst>
          </p:cNvPr>
          <p:cNvSpPr>
            <a:spLocks xmlns:a="http://schemas.openxmlformats.org/drawingml/2006/main" noGrp="1"/>
          </p:cNvSpPr>
          <p:nvPr/>
        </p:nvSpPr>
        <p:spPr>
          <a:xfrm xmlns:a="http://schemas.openxmlformats.org/drawingml/2006/main">
            <a:off x="7524750" y="1438275"/>
            <a:ext cx="3981450" cy="514350"/>
          </a:xfrm>
          <a:prstGeom xmlns:a="http://schemas.openxmlformats.org/drawingml/2006/main" prst="roundRect">
            <a:avLst>
              <a:gd name="adj" fmla="val 2222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SIMULATION TAB → DATA INSPECTOR</a:t>
            </a:r>
          </a:p>
        </p:txBody>
      </p:sp>
      <p:sp>
        <p:nvSpPr>
          <p:cNvPr id="37" name="s10-step-1">
            <a:extLst xmlns:a="http://schemas.openxmlformats.org/drawingml/2006/main">
              <a:ext uri="{FF2B5EF4-FFF2-40B4-BE49-F238E27FC236}">
                <a16:creationId xmlns:a16="http://schemas.microsoft.com/office/drawing/2014/main" id="{2C649561-B4A2-4E91-AC80-D7F2B197ECC4}"/>
              </a:ext>
            </a:extLst>
          </p:cNvPr>
          <p:cNvSpPr>
            <a:spLocks xmlns:a="http://schemas.openxmlformats.org/drawingml/2006/main" noGrp="1"/>
          </p:cNvSpPr>
          <p:nvPr/>
        </p:nvSpPr>
        <p:spPr>
          <a:xfrm xmlns:a="http://schemas.openxmlformats.org/drawingml/2006/main">
            <a:off x="7524750" y="2114550"/>
            <a:ext cx="398145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7145">
            <a:solidFill>
              <a:srgbClr val="2D6CDF"/>
            </a:solidFill>
            <a:prstDash val="solid"/>
          </a:ln>
        </p:spPr>
      </p:sp>
      <p:sp>
        <p:nvSpPr>
          <p:cNvPr id="38" name="s10-step-num-1">
            <a:extLst xmlns:a="http://schemas.openxmlformats.org/drawingml/2006/main">
              <a:ext uri="{FF2B5EF4-FFF2-40B4-BE49-F238E27FC236}">
                <a16:creationId xmlns:a16="http://schemas.microsoft.com/office/drawing/2014/main" id="{E8F938E6-83FB-4F6C-859D-1E95802DA22E}"/>
              </a:ext>
            </a:extLst>
          </p:cNvPr>
          <p:cNvSpPr>
            <a:spLocks xmlns:a="http://schemas.openxmlformats.org/drawingml/2006/main" noGrp="1"/>
          </p:cNvSpPr>
          <p:nvPr/>
        </p:nvSpPr>
        <p:spPr>
          <a:xfrm xmlns:a="http://schemas.openxmlformats.org/drawingml/2006/main">
            <a:off x="7667625" y="2276475"/>
            <a:ext cx="400050" cy="342900"/>
          </a:xfrm>
          <a:prstGeom xmlns:a="http://schemas.openxmlformats.org/drawingml/2006/main" prst="ellipse">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39" name="s10-step-title-1">
            <a:extLst xmlns:a="http://schemas.openxmlformats.org/drawingml/2006/main">
              <a:ext uri="{FF2B5EF4-FFF2-40B4-BE49-F238E27FC236}">
                <a16:creationId xmlns:a16="http://schemas.microsoft.com/office/drawing/2014/main" id="{E00282C3-76C2-4F74-8026-F2267D1111F7}"/>
              </a:ext>
            </a:extLst>
          </p:cNvPr>
          <p:cNvSpPr>
            <a:spLocks xmlns:a="http://schemas.openxmlformats.org/drawingml/2006/main" noGrp="1"/>
          </p:cNvSpPr>
          <p:nvPr/>
        </p:nvSpPr>
        <p:spPr>
          <a:xfrm xmlns:a="http://schemas.openxmlformats.org/drawingml/2006/main">
            <a:off x="8191500" y="2181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2D6CDF"/>
                </a:solidFill>
                <a:latin typeface="Aptos"/>
                <a:ea typeface="Aptos"/>
                <a:cs typeface="Aptos"/>
              </a:defRPr>
            </a:pPr>
            <a:r>
              <a:rPr sz="1275" b="1">
                <a:solidFill>
                  <a:srgbClr val="2D6CDF"/>
                </a:solidFill>
                <a:latin typeface="Aptos"/>
                <a:ea typeface="Aptos"/>
                <a:cs typeface="Aptos"/>
              </a:rPr>
              <a:t>LOG</a:t>
            </a:r>
          </a:p>
        </p:txBody>
      </p:sp>
      <p:sp>
        <p:nvSpPr>
          <p:cNvPr id="40" name="s10-step-body-1">
            <a:extLst xmlns:a="http://schemas.openxmlformats.org/drawingml/2006/main">
              <a:ext uri="{FF2B5EF4-FFF2-40B4-BE49-F238E27FC236}">
                <a16:creationId xmlns:a16="http://schemas.microsoft.com/office/drawing/2014/main" id="{8F3AF76F-F3B2-4C8B-92DC-33BE400400ED}"/>
              </a:ext>
            </a:extLst>
          </p:cNvPr>
          <p:cNvSpPr>
            <a:spLocks xmlns:a="http://schemas.openxmlformats.org/drawingml/2006/main" noGrp="1"/>
          </p:cNvSpPr>
          <p:nvPr/>
        </p:nvSpPr>
        <p:spPr>
          <a:xfrm xmlns:a="http://schemas.openxmlformats.org/drawingml/2006/main">
            <a:off x="8191500" y="23907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Select only the signals needed for the question.</a:t>
            </a:r>
          </a:p>
        </p:txBody>
      </p:sp>
      <p:sp>
        <p:nvSpPr>
          <p:cNvPr id="41" name="s10-step-2">
            <a:extLst xmlns:a="http://schemas.openxmlformats.org/drawingml/2006/main">
              <a:ext uri="{FF2B5EF4-FFF2-40B4-BE49-F238E27FC236}">
                <a16:creationId xmlns:a16="http://schemas.microsoft.com/office/drawing/2014/main" id="{CB5F6018-9D57-46F6-B03E-D23DF5FD1AE4}"/>
              </a:ext>
            </a:extLst>
          </p:cNvPr>
          <p:cNvSpPr>
            <a:spLocks xmlns:a="http://schemas.openxmlformats.org/drawingml/2006/main" noGrp="1"/>
          </p:cNvSpPr>
          <p:nvPr/>
        </p:nvSpPr>
        <p:spPr>
          <a:xfrm xmlns:a="http://schemas.openxmlformats.org/drawingml/2006/main">
            <a:off x="7524750" y="2924175"/>
            <a:ext cx="3981450" cy="666750"/>
          </a:xfrm>
          <a:prstGeom xmlns:a="http://schemas.openxmlformats.org/drawingml/2006/main" prst="roundRect">
            <a:avLst>
              <a:gd name="adj" fmla="val 17143"/>
            </a:avLst>
          </a:prstGeom>
          <a:solidFill xmlns:a="http://schemas.openxmlformats.org/drawingml/2006/main">
            <a:srgbClr val="DFF6F8"/>
          </a:solidFill>
          <a:ln xmlns:a="http://schemas.openxmlformats.org/drawingml/2006/main" w="17145">
            <a:solidFill>
              <a:srgbClr val="20B7C5"/>
            </a:solidFill>
            <a:prstDash val="solid"/>
          </a:ln>
        </p:spPr>
      </p:sp>
      <p:sp>
        <p:nvSpPr>
          <p:cNvPr id="42" name="s10-step-num-2">
            <a:extLst xmlns:a="http://schemas.openxmlformats.org/drawingml/2006/main">
              <a:ext uri="{FF2B5EF4-FFF2-40B4-BE49-F238E27FC236}">
                <a16:creationId xmlns:a16="http://schemas.microsoft.com/office/drawing/2014/main" id="{747FF361-A6EF-41A0-9B6E-A83223C6520D}"/>
              </a:ext>
            </a:extLst>
          </p:cNvPr>
          <p:cNvSpPr>
            <a:spLocks xmlns:a="http://schemas.openxmlformats.org/drawingml/2006/main" noGrp="1"/>
          </p:cNvSpPr>
          <p:nvPr/>
        </p:nvSpPr>
        <p:spPr>
          <a:xfrm xmlns:a="http://schemas.openxmlformats.org/drawingml/2006/main">
            <a:off x="7667625" y="3086100"/>
            <a:ext cx="400050" cy="342900"/>
          </a:xfrm>
          <a:prstGeom xmlns:a="http://schemas.openxmlformats.org/drawingml/2006/main" prst="ellipse">
            <a:avLst/>
          </a:prstGeom>
          <a:solidFill xmlns:a="http://schemas.openxmlformats.org/drawingml/2006/main">
            <a:srgbClr val="20B7C5"/>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43" name="s10-step-title-2">
            <a:extLst xmlns:a="http://schemas.openxmlformats.org/drawingml/2006/main">
              <a:ext uri="{FF2B5EF4-FFF2-40B4-BE49-F238E27FC236}">
                <a16:creationId xmlns:a16="http://schemas.microsoft.com/office/drawing/2014/main" id="{6330CAEB-F52D-478C-AEE4-BBCAFA80E92F}"/>
              </a:ext>
            </a:extLst>
          </p:cNvPr>
          <p:cNvSpPr>
            <a:spLocks xmlns:a="http://schemas.openxmlformats.org/drawingml/2006/main" noGrp="1"/>
          </p:cNvSpPr>
          <p:nvPr/>
        </p:nvSpPr>
        <p:spPr>
          <a:xfrm xmlns:a="http://schemas.openxmlformats.org/drawingml/2006/main">
            <a:off x="8191500" y="2990850"/>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20B7C5"/>
                </a:solidFill>
                <a:latin typeface="Aptos"/>
                <a:ea typeface="Aptos"/>
                <a:cs typeface="Aptos"/>
              </a:defRPr>
            </a:pPr>
            <a:r>
              <a:rPr sz="1275" b="1">
                <a:solidFill>
                  <a:srgbClr val="20B7C5"/>
                </a:solidFill>
                <a:latin typeface="Aptos"/>
                <a:ea typeface="Aptos"/>
                <a:cs typeface="Aptos"/>
              </a:rPr>
              <a:t>INSPECT</a:t>
            </a:r>
          </a:p>
        </p:txBody>
      </p:sp>
      <p:sp>
        <p:nvSpPr>
          <p:cNvPr id="44" name="s10-step-body-2">
            <a:extLst xmlns:a="http://schemas.openxmlformats.org/drawingml/2006/main">
              <a:ext uri="{FF2B5EF4-FFF2-40B4-BE49-F238E27FC236}">
                <a16:creationId xmlns:a16="http://schemas.microsoft.com/office/drawing/2014/main" id="{56553623-C69D-4084-9C7A-5C007047205F}"/>
              </a:ext>
            </a:extLst>
          </p:cNvPr>
          <p:cNvSpPr>
            <a:spLocks xmlns:a="http://schemas.openxmlformats.org/drawingml/2006/main" noGrp="1"/>
          </p:cNvSpPr>
          <p:nvPr/>
        </p:nvSpPr>
        <p:spPr>
          <a:xfrm xmlns:a="http://schemas.openxmlformats.org/drawingml/2006/main">
            <a:off x="8191500" y="32004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Markers show samples; cursors read time, value, and delta.</a:t>
            </a:r>
          </a:p>
        </p:txBody>
      </p:sp>
      <p:sp>
        <p:nvSpPr>
          <p:cNvPr id="45" name="s10-step-3">
            <a:extLst xmlns:a="http://schemas.openxmlformats.org/drawingml/2006/main">
              <a:ext uri="{FF2B5EF4-FFF2-40B4-BE49-F238E27FC236}">
                <a16:creationId xmlns:a16="http://schemas.microsoft.com/office/drawing/2014/main" id="{46B13641-A3AF-4D89-8FE1-8F036B167D10}"/>
              </a:ext>
            </a:extLst>
          </p:cNvPr>
          <p:cNvSpPr>
            <a:spLocks xmlns:a="http://schemas.openxmlformats.org/drawingml/2006/main" noGrp="1"/>
          </p:cNvSpPr>
          <p:nvPr/>
        </p:nvSpPr>
        <p:spPr>
          <a:xfrm xmlns:a="http://schemas.openxmlformats.org/drawingml/2006/main">
            <a:off x="7524750" y="3733800"/>
            <a:ext cx="398145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7145">
            <a:solidFill>
              <a:srgbClr val="2CA56F"/>
            </a:solidFill>
            <a:prstDash val="solid"/>
          </a:ln>
        </p:spPr>
      </p:sp>
      <p:sp>
        <p:nvSpPr>
          <p:cNvPr id="46" name="s10-step-num-3">
            <a:extLst xmlns:a="http://schemas.openxmlformats.org/drawingml/2006/main">
              <a:ext uri="{FF2B5EF4-FFF2-40B4-BE49-F238E27FC236}">
                <a16:creationId xmlns:a16="http://schemas.microsoft.com/office/drawing/2014/main" id="{36D706EC-B3A8-485F-B39D-29524E195592}"/>
              </a:ext>
            </a:extLst>
          </p:cNvPr>
          <p:cNvSpPr>
            <a:spLocks xmlns:a="http://schemas.openxmlformats.org/drawingml/2006/main" noGrp="1"/>
          </p:cNvSpPr>
          <p:nvPr/>
        </p:nvSpPr>
        <p:spPr>
          <a:xfrm xmlns:a="http://schemas.openxmlformats.org/drawingml/2006/main">
            <a:off x="7667625" y="3895725"/>
            <a:ext cx="400050" cy="342900"/>
          </a:xfrm>
          <a:prstGeom xmlns:a="http://schemas.openxmlformats.org/drawingml/2006/main" prst="ellipse">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47" name="s10-step-title-3">
            <a:extLst xmlns:a="http://schemas.openxmlformats.org/drawingml/2006/main">
              <a:ext uri="{FF2B5EF4-FFF2-40B4-BE49-F238E27FC236}">
                <a16:creationId xmlns:a16="http://schemas.microsoft.com/office/drawing/2014/main" id="{9FA36780-5DC8-459A-9355-0AE91708E4A9}"/>
              </a:ext>
            </a:extLst>
          </p:cNvPr>
          <p:cNvSpPr>
            <a:spLocks xmlns:a="http://schemas.openxmlformats.org/drawingml/2006/main" noGrp="1"/>
          </p:cNvSpPr>
          <p:nvPr/>
        </p:nvSpPr>
        <p:spPr>
          <a:xfrm xmlns:a="http://schemas.openxmlformats.org/drawingml/2006/main">
            <a:off x="8191500" y="38004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2CA56F"/>
                </a:solidFill>
                <a:latin typeface="Aptos"/>
                <a:ea typeface="Aptos"/>
                <a:cs typeface="Aptos"/>
              </a:defRPr>
            </a:pPr>
            <a:r>
              <a:rPr sz="1275" b="1">
                <a:solidFill>
                  <a:srgbClr val="2CA56F"/>
                </a:solidFill>
                <a:latin typeface="Aptos"/>
                <a:ea typeface="Aptos"/>
                <a:cs typeface="Aptos"/>
              </a:rPr>
              <a:t>COMPARE</a:t>
            </a:r>
          </a:p>
        </p:txBody>
      </p:sp>
      <p:sp>
        <p:nvSpPr>
          <p:cNvPr id="48" name="s10-step-body-3">
            <a:extLst xmlns:a="http://schemas.openxmlformats.org/drawingml/2006/main">
              <a:ext uri="{FF2B5EF4-FFF2-40B4-BE49-F238E27FC236}">
                <a16:creationId xmlns:a16="http://schemas.microsoft.com/office/drawing/2014/main" id="{B5061C8C-59E6-4C05-813A-88AD85CA2497}"/>
              </a:ext>
            </a:extLst>
          </p:cNvPr>
          <p:cNvSpPr>
            <a:spLocks xmlns:a="http://schemas.openxmlformats.org/drawingml/2006/main" noGrp="1"/>
          </p:cNvSpPr>
          <p:nvPr/>
        </p:nvSpPr>
        <p:spPr>
          <a:xfrm xmlns:a="http://schemas.openxmlformats.org/drawingml/2006/main">
            <a:off x="8191500" y="4010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Baseline vs candidate using time, absolute, and relative tolerances.</a:t>
            </a:r>
          </a:p>
        </p:txBody>
      </p:sp>
      <p:sp>
        <p:nvSpPr>
          <p:cNvPr id="49" name="s10-step-4">
            <a:extLst xmlns:a="http://schemas.openxmlformats.org/drawingml/2006/main">
              <a:ext uri="{FF2B5EF4-FFF2-40B4-BE49-F238E27FC236}">
                <a16:creationId xmlns:a16="http://schemas.microsoft.com/office/drawing/2014/main" id="{D1F45D0D-AA2F-4608-AE95-6611D382759C}"/>
              </a:ext>
            </a:extLst>
          </p:cNvPr>
          <p:cNvSpPr>
            <a:spLocks xmlns:a="http://schemas.openxmlformats.org/drawingml/2006/main" noGrp="1"/>
          </p:cNvSpPr>
          <p:nvPr/>
        </p:nvSpPr>
        <p:spPr>
          <a:xfrm xmlns:a="http://schemas.openxmlformats.org/drawingml/2006/main">
            <a:off x="7524750" y="4543425"/>
            <a:ext cx="3981450" cy="666750"/>
          </a:xfrm>
          <a:prstGeom xmlns:a="http://schemas.openxmlformats.org/drawingml/2006/main" prst="roundRect">
            <a:avLst>
              <a:gd name="adj" fmla="val 17143"/>
            </a:avLst>
          </a:prstGeom>
          <a:solidFill xmlns:a="http://schemas.openxmlformats.org/drawingml/2006/main">
            <a:srgbClr val="FFF0D7"/>
          </a:solidFill>
          <a:ln xmlns:a="http://schemas.openxmlformats.org/drawingml/2006/main" w="17145">
            <a:solidFill>
              <a:srgbClr val="E9A23B"/>
            </a:solidFill>
            <a:prstDash val="solid"/>
          </a:ln>
        </p:spPr>
      </p:sp>
      <p:sp>
        <p:nvSpPr>
          <p:cNvPr id="50" name="s10-step-num-4">
            <a:extLst xmlns:a="http://schemas.openxmlformats.org/drawingml/2006/main">
              <a:ext uri="{FF2B5EF4-FFF2-40B4-BE49-F238E27FC236}">
                <a16:creationId xmlns:a16="http://schemas.microsoft.com/office/drawing/2014/main" id="{61F2F1E6-BB4F-4F47-971A-73BBB264E7AD}"/>
              </a:ext>
            </a:extLst>
          </p:cNvPr>
          <p:cNvSpPr>
            <a:spLocks xmlns:a="http://schemas.openxmlformats.org/drawingml/2006/main" noGrp="1"/>
          </p:cNvSpPr>
          <p:nvPr/>
        </p:nvSpPr>
        <p:spPr>
          <a:xfrm xmlns:a="http://schemas.openxmlformats.org/drawingml/2006/main">
            <a:off x="7667625" y="4705350"/>
            <a:ext cx="400050" cy="342900"/>
          </a:xfrm>
          <a:prstGeom xmlns:a="http://schemas.openxmlformats.org/drawingml/2006/main" prst="ellipse">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51" name="s10-step-title-4">
            <a:extLst xmlns:a="http://schemas.openxmlformats.org/drawingml/2006/main">
              <a:ext uri="{FF2B5EF4-FFF2-40B4-BE49-F238E27FC236}">
                <a16:creationId xmlns:a16="http://schemas.microsoft.com/office/drawing/2014/main" id="{6FD73FA2-1E48-47F9-B5C3-3D485FA4F5B9}"/>
              </a:ext>
            </a:extLst>
          </p:cNvPr>
          <p:cNvSpPr>
            <a:spLocks xmlns:a="http://schemas.openxmlformats.org/drawingml/2006/main" noGrp="1"/>
          </p:cNvSpPr>
          <p:nvPr/>
        </p:nvSpPr>
        <p:spPr>
          <a:xfrm xmlns:a="http://schemas.openxmlformats.org/drawingml/2006/main">
            <a:off x="8191500" y="4610100"/>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E9A23B"/>
                </a:solidFill>
                <a:latin typeface="Aptos"/>
                <a:ea typeface="Aptos"/>
                <a:cs typeface="Aptos"/>
              </a:defRPr>
            </a:pPr>
            <a:r>
              <a:rPr sz="1275" b="1">
                <a:solidFill>
                  <a:srgbClr val="E9A23B"/>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96D47A52-1098-4C2E-B944-8593163A15B1}"/>
              </a:ext>
            </a:extLst>
          </p:cNvPr>
          <p:cNvSpPr>
            <a:spLocks xmlns:a="http://schemas.openxmlformats.org/drawingml/2006/main" noGrp="1"/>
          </p:cNvSpPr>
          <p:nvPr/>
        </p:nvSpPr>
        <p:spPr>
          <a:xfrm xmlns:a="http://schemas.openxmlformats.org/drawingml/2006/main">
            <a:off x="8191500" y="48196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Run, units, configuration, and result become evidence input.</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pic>
        <p:nvPicPr>
          <p:cNvPr id="37" name="Picture 8"/>
          <p:cNvPicPr>
            <a:picLocks xmlns:a="http://schemas.openxmlformats.org/drawingml/2006/main" noChangeAspect="1"/>
          </p:cNvPicPr>
          <p:nvPr/>
        </p:nvPicPr>
        <p:blipFill>
          <a:blip xmlns:r="http://schemas.openxmlformats.org/officeDocument/2006/relationships" xmlns:a="http://schemas.openxmlformats.org/drawingml/2006/main" r:embed="Rc8f9fb991d87427d"/>
          <a:stretch xmlns:a="http://schemas.openxmlformats.org/drawingml/2006/main">
            <a:fillRect l="0" t="0" r="0" b="0"/>
          </a:stretch>
        </p:blipFill>
        <p:spPr>
          <a:xfrm xmlns:a="http://schemas.openxmlformats.org/drawingml/2006/main">
            <a:off x="4363755" y="1422400"/>
            <a:ext cx="346448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23618ECA-A11B-4499-ACD8-1AC2F1F4883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Stateflow training model • guards govern OFF, ARMED, ENGAGED, and DEGRADED</a:t>
            </a:r>
          </a:p>
        </p:txBody>
      </p:sp>
    </p:spTree>
    <p:extLst>
      <p:ext uri="{BB962C8B-B14F-4D97-AF65-F5344CB8AC3E}">
        <p14:creationId xmlns:p14="http://schemas.microsoft.com/office/powerpoint/2010/main" val="812255478"/>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xmlns:a="http://schemas.openxmlformats.org/drawingml/2006/main">
              <a:ext uri="{FF2B5EF4-FFF2-40B4-BE49-F238E27FC236}">
                <a16:creationId xmlns:a16="http://schemas.microsoft.com/office/drawing/2014/main" id="{2AA0EA98-0C84-4212-8FBD-0F497343FF41}"/>
              </a:ext>
            </a:extLst>
          </p:cNvPr>
          <p:cNvSpPr>
            <a:spLocks xmlns:a="http://schemas.openxmlformats.org/drawingml/2006/main" noGrp="1"/>
          </p:cNvSpPr>
          <p:nvPr/>
        </p:nvSpPr>
        <p:spPr>
          <a:xfrm xmlns:a="http://schemas.openxmlformats.org/drawingml/2006/main">
            <a:off x="8191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xmlns:a="http://schemas.openxmlformats.org/drawingml/2006/main">
              <a:ext uri="{FF2B5EF4-FFF2-40B4-BE49-F238E27FC236}">
                <a16:creationId xmlns:a16="http://schemas.microsoft.com/office/drawing/2014/main" id="{8FD080BD-1075-466A-9D8A-D6CB952DBD58}"/>
              </a:ext>
            </a:extLst>
          </p:cNvPr>
          <p:cNvSpPr>
            <a:spLocks xmlns:a="http://schemas.openxmlformats.org/drawingml/2006/main" noGrp="1"/>
          </p:cNvSpPr>
          <p:nvPr/>
        </p:nvSpPr>
        <p:spPr>
          <a:xfrm xmlns:a="http://schemas.openxmlformats.org/drawingml/2006/main">
            <a:off x="2381250" y="1524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xmlns:a="http://schemas.openxmlformats.org/drawingml/2006/main">
              <a:ext uri="{FF2B5EF4-FFF2-40B4-BE49-F238E27FC236}">
                <a16:creationId xmlns:a16="http://schemas.microsoft.com/office/drawing/2014/main" id="{8BD70A4B-74AF-4019-B370-68736ABB96D6}"/>
              </a:ext>
            </a:extLst>
          </p:cNvPr>
          <p:cNvSpPr>
            <a:spLocks xmlns:a="http://schemas.openxmlformats.org/drawingml/2006/main" noGrp="1"/>
          </p:cNvSpPr>
          <p:nvPr/>
        </p:nvSpPr>
        <p:spPr>
          <a:xfrm xmlns:a="http://schemas.openxmlformats.org/drawingml/2006/main">
            <a:off x="6858000" y="1524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xmlns:a="http://schemas.openxmlformats.org/drawingml/2006/main">
              <a:ext uri="{FF2B5EF4-FFF2-40B4-BE49-F238E27FC236}">
                <a16:creationId xmlns:a16="http://schemas.microsoft.com/office/drawing/2014/main" id="{0A5813E8-3D75-4A56-B02D-16047C3C3E40}"/>
              </a:ext>
            </a:extLst>
          </p:cNvPr>
          <p:cNvSpPr>
            <a:spLocks xmlns:a="http://schemas.openxmlformats.org/drawingml/2006/main" noGrp="1"/>
          </p:cNvSpPr>
          <p:nvPr/>
        </p:nvSpPr>
        <p:spPr>
          <a:xfrm xmlns:a="http://schemas.openxmlformats.org/drawingml/2006/main">
            <a:off x="819150" y="1847850"/>
            <a:ext cx="704850" cy="533400"/>
          </a:xfrm>
          <a:prstGeom xmlns:a="http://schemas.openxmlformats.org/drawingml/2006/main" prst="roundRect">
            <a:avLst>
              <a:gd name="adj" fmla="val 500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xmlns:a="http://schemas.openxmlformats.org/drawingml/2006/main">
              <a:ext uri="{FF2B5EF4-FFF2-40B4-BE49-F238E27FC236}">
                <a16:creationId xmlns:a16="http://schemas.microsoft.com/office/drawing/2014/main" id="{79281B58-88EA-4DE1-9CB1-97C989ED7AA7}"/>
              </a:ext>
            </a:extLst>
          </p:cNvPr>
          <p:cNvSpPr>
            <a:spLocks xmlns:a="http://schemas.openxmlformats.org/drawingml/2006/main" noGrp="1"/>
          </p:cNvSpPr>
          <p:nvPr/>
        </p:nvSpPr>
        <p:spPr>
          <a:xfrm xmlns:a="http://schemas.openxmlformats.org/drawingml/2006/main">
            <a:off x="2381250" y="18478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xmlns:a="http://schemas.openxmlformats.org/drawingml/2006/main">
              <a:ext uri="{FF2B5EF4-FFF2-40B4-BE49-F238E27FC236}">
                <a16:creationId xmlns:a16="http://schemas.microsoft.com/office/drawing/2014/main" id="{FAFB43A7-083A-4EB4-A2EA-5E1F866C3787}"/>
              </a:ext>
            </a:extLst>
          </p:cNvPr>
          <p:cNvSpPr>
            <a:spLocks xmlns:a="http://schemas.openxmlformats.org/drawingml/2006/main" noGrp="1"/>
          </p:cNvSpPr>
          <p:nvPr/>
        </p:nvSpPr>
        <p:spPr>
          <a:xfrm xmlns:a="http://schemas.openxmlformats.org/drawingml/2006/main">
            <a:off x="6858000" y="18478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xmlns:a="http://schemas.openxmlformats.org/drawingml/2006/main">
              <a:ext uri="{FF2B5EF4-FFF2-40B4-BE49-F238E27FC236}">
                <a16:creationId xmlns:a16="http://schemas.microsoft.com/office/drawing/2014/main" id="{D9C37BC1-8BB8-40ED-915D-A94CFF714ED8}"/>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205">
            <a:extLst xmlns:a="http://schemas.openxmlformats.org/drawingml/2006/main">
              <a:ext uri="{FF2B5EF4-FFF2-40B4-BE49-F238E27FC236}">
                <a16:creationId xmlns:a16="http://schemas.microsoft.com/office/drawing/2014/main" id="{2DF4C2AF-55E7-4F11-B4F0-473BC1A918B8}"/>
              </a:ext>
            </a:extLst>
          </p:cNvPr>
          <p:cNvSpPr>
            <a:spLocks xmlns:a="http://schemas.openxmlformats.org/drawingml/2006/main" noGrp="1"/>
          </p:cNvSpPr>
          <p:nvPr/>
        </p:nvSpPr>
        <p:spPr>
          <a:xfrm xmlns:a="http://schemas.openxmlformats.org/drawingml/2006/main">
            <a:off x="819150" y="2628900"/>
            <a:ext cx="704850" cy="533400"/>
          </a:xfrm>
          <a:prstGeom xmlns:a="http://schemas.openxmlformats.org/drawingml/2006/main" prst="roundRect">
            <a:avLst>
              <a:gd name="adj" fmla="val 50000"/>
            </a:avLst>
          </a:prstGeom>
          <a:solidFill xmlns:a="http://schemas.openxmlformats.org/drawingml/2006/main">
            <a:srgbClr val="E77B55"/>
          </a:solidFill>
          <a:ln xmlns:a="http://schemas.openxmlformats.org/drawingml/2006/main" w="9525">
            <a:solidFill>
              <a:srgbClr val="E77B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xmlns:a="http://schemas.openxmlformats.org/drawingml/2006/main">
              <a:ext uri="{FF2B5EF4-FFF2-40B4-BE49-F238E27FC236}">
                <a16:creationId xmlns:a16="http://schemas.microsoft.com/office/drawing/2014/main" id="{BBBE9DE0-E4A7-49B0-B7BC-B5D80FE69977}"/>
              </a:ext>
            </a:extLst>
          </p:cNvPr>
          <p:cNvSpPr>
            <a:spLocks xmlns:a="http://schemas.openxmlformats.org/drawingml/2006/main" noGrp="1"/>
          </p:cNvSpPr>
          <p:nvPr/>
        </p:nvSpPr>
        <p:spPr>
          <a:xfrm xmlns:a="http://schemas.openxmlformats.org/drawingml/2006/main">
            <a:off x="2381250" y="26289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xmlns:a="http://schemas.openxmlformats.org/drawingml/2006/main">
              <a:ext uri="{FF2B5EF4-FFF2-40B4-BE49-F238E27FC236}">
                <a16:creationId xmlns:a16="http://schemas.microsoft.com/office/drawing/2014/main" id="{A24D4E1C-C46D-4F7E-849A-7E5EF2C5D417}"/>
              </a:ext>
            </a:extLst>
          </p:cNvPr>
          <p:cNvSpPr>
            <a:spLocks xmlns:a="http://schemas.openxmlformats.org/drawingml/2006/main" noGrp="1"/>
          </p:cNvSpPr>
          <p:nvPr/>
        </p:nvSpPr>
        <p:spPr>
          <a:xfrm xmlns:a="http://schemas.openxmlformats.org/drawingml/2006/main">
            <a:off x="6858000" y="2628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xmlns:a="http://schemas.openxmlformats.org/drawingml/2006/main">
              <a:ext uri="{FF2B5EF4-FFF2-40B4-BE49-F238E27FC236}">
                <a16:creationId xmlns:a16="http://schemas.microsoft.com/office/drawing/2014/main" id="{9B90CAE9-530B-4F1E-B34F-9E85C2293F4B}"/>
              </a:ext>
            </a:extLst>
          </p:cNvPr>
          <p:cNvSpPr>
            <a:spLocks xmlns:a="http://schemas.openxmlformats.org/drawingml/2006/main" noGrp="1"/>
          </p:cNvSpPr>
          <p:nvPr/>
        </p:nvSpPr>
        <p:spPr>
          <a:xfrm xmlns:a="http://schemas.openxmlformats.org/drawingml/2006/main">
            <a:off x="685800" y="32861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209">
            <a:extLst xmlns:a="http://schemas.openxmlformats.org/drawingml/2006/main">
              <a:ext uri="{FF2B5EF4-FFF2-40B4-BE49-F238E27FC236}">
                <a16:creationId xmlns:a16="http://schemas.microsoft.com/office/drawing/2014/main" id="{041D66BF-399D-4D87-84C9-D12661B7E4D6}"/>
              </a:ext>
            </a:extLst>
          </p:cNvPr>
          <p:cNvSpPr>
            <a:spLocks xmlns:a="http://schemas.openxmlformats.org/drawingml/2006/main" noGrp="1"/>
          </p:cNvSpPr>
          <p:nvPr/>
        </p:nvSpPr>
        <p:spPr>
          <a:xfrm xmlns:a="http://schemas.openxmlformats.org/drawingml/2006/main">
            <a:off x="819150" y="3409950"/>
            <a:ext cx="704850" cy="53340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xmlns:a="http://schemas.openxmlformats.org/drawingml/2006/main">
              <a:ext uri="{FF2B5EF4-FFF2-40B4-BE49-F238E27FC236}">
                <a16:creationId xmlns:a16="http://schemas.microsoft.com/office/drawing/2014/main" id="{9681BC13-7FC6-4EF6-91BE-DFE868F1F353}"/>
              </a:ext>
            </a:extLst>
          </p:cNvPr>
          <p:cNvSpPr>
            <a:spLocks xmlns:a="http://schemas.openxmlformats.org/drawingml/2006/main" noGrp="1"/>
          </p:cNvSpPr>
          <p:nvPr/>
        </p:nvSpPr>
        <p:spPr>
          <a:xfrm xmlns:a="http://schemas.openxmlformats.org/drawingml/2006/main">
            <a:off x="2381250" y="34099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xmlns:a="http://schemas.openxmlformats.org/drawingml/2006/main">
              <a:ext uri="{FF2B5EF4-FFF2-40B4-BE49-F238E27FC236}">
                <a16:creationId xmlns:a16="http://schemas.microsoft.com/office/drawing/2014/main" id="{63014AB2-8DE6-43E5-AE3F-A6B5A4BBF5E0}"/>
              </a:ext>
            </a:extLst>
          </p:cNvPr>
          <p:cNvSpPr>
            <a:spLocks xmlns:a="http://schemas.openxmlformats.org/drawingml/2006/main" noGrp="1"/>
          </p:cNvSpPr>
          <p:nvPr/>
        </p:nvSpPr>
        <p:spPr>
          <a:xfrm xmlns:a="http://schemas.openxmlformats.org/drawingml/2006/main">
            <a:off x="6858000" y="34099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xmlns:a="http://schemas.openxmlformats.org/drawingml/2006/main">
              <a:ext uri="{FF2B5EF4-FFF2-40B4-BE49-F238E27FC236}">
                <a16:creationId xmlns:a16="http://schemas.microsoft.com/office/drawing/2014/main" id="{235BDA4A-016F-4D51-8911-9652F432B408}"/>
              </a:ext>
            </a:extLst>
          </p:cNvPr>
          <p:cNvSpPr>
            <a:spLocks xmlns:a="http://schemas.openxmlformats.org/drawingml/2006/main" noGrp="1"/>
          </p:cNvSpPr>
          <p:nvPr/>
        </p:nvSpPr>
        <p:spPr>
          <a:xfrm xmlns:a="http://schemas.openxmlformats.org/drawingml/2006/main">
            <a:off x="685800" y="40671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213">
            <a:extLst xmlns:a="http://schemas.openxmlformats.org/drawingml/2006/main">
              <a:ext uri="{FF2B5EF4-FFF2-40B4-BE49-F238E27FC236}">
                <a16:creationId xmlns:a16="http://schemas.microsoft.com/office/drawing/2014/main" id="{6A8CE61B-4113-40B4-9472-98858F298927}"/>
              </a:ext>
            </a:extLst>
          </p:cNvPr>
          <p:cNvSpPr>
            <a:spLocks xmlns:a="http://schemas.openxmlformats.org/drawingml/2006/main" noGrp="1"/>
          </p:cNvSpPr>
          <p:nvPr/>
        </p:nvSpPr>
        <p:spPr>
          <a:xfrm xmlns:a="http://schemas.openxmlformats.org/drawingml/2006/main">
            <a:off x="819150" y="4191000"/>
            <a:ext cx="704850" cy="533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xmlns:a="http://schemas.openxmlformats.org/drawingml/2006/main">
              <a:ext uri="{FF2B5EF4-FFF2-40B4-BE49-F238E27FC236}">
                <a16:creationId xmlns:a16="http://schemas.microsoft.com/office/drawing/2014/main" id="{EFAA4053-2112-42F2-8596-CD25FA44EC58}"/>
              </a:ext>
            </a:extLst>
          </p:cNvPr>
          <p:cNvSpPr>
            <a:spLocks xmlns:a="http://schemas.openxmlformats.org/drawingml/2006/main" noGrp="1"/>
          </p:cNvSpPr>
          <p:nvPr/>
        </p:nvSpPr>
        <p:spPr>
          <a:xfrm xmlns:a="http://schemas.openxmlformats.org/drawingml/2006/main">
            <a:off x="2381250" y="41910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xmlns:a="http://schemas.openxmlformats.org/drawingml/2006/main">
              <a:ext uri="{FF2B5EF4-FFF2-40B4-BE49-F238E27FC236}">
                <a16:creationId xmlns:a16="http://schemas.microsoft.com/office/drawing/2014/main" id="{B66F9692-3F9D-41D5-8E5A-BBB836F2C1F3}"/>
              </a:ext>
            </a:extLst>
          </p:cNvPr>
          <p:cNvSpPr>
            <a:spLocks xmlns:a="http://schemas.openxmlformats.org/drawingml/2006/main" noGrp="1"/>
          </p:cNvSpPr>
          <p:nvPr/>
        </p:nvSpPr>
        <p:spPr>
          <a:xfrm xmlns:a="http://schemas.openxmlformats.org/drawingml/2006/main">
            <a:off x="6858000" y="41910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xmlns:a="http://schemas.openxmlformats.org/drawingml/2006/main">
              <a:ext uri="{FF2B5EF4-FFF2-40B4-BE49-F238E27FC236}">
                <a16:creationId xmlns:a16="http://schemas.microsoft.com/office/drawing/2014/main" id="{5FF42F7F-ED34-4BC4-9DB2-9A2179D4F708}"/>
              </a:ext>
            </a:extLst>
          </p:cNvPr>
          <p:cNvSpPr>
            <a:spLocks xmlns:a="http://schemas.openxmlformats.org/drawingml/2006/main" noGrp="1"/>
          </p:cNvSpPr>
          <p:nvPr/>
        </p:nvSpPr>
        <p:spPr>
          <a:xfrm xmlns:a="http://schemas.openxmlformats.org/drawingml/2006/main">
            <a:off x="685800" y="48482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217">
            <a:extLst xmlns:a="http://schemas.openxmlformats.org/drawingml/2006/main">
              <a:ext uri="{FF2B5EF4-FFF2-40B4-BE49-F238E27FC236}">
                <a16:creationId xmlns:a16="http://schemas.microsoft.com/office/drawing/2014/main" id="{747D2BD8-1180-48AE-BBC5-76BCD2A1DC11}"/>
              </a:ext>
            </a:extLst>
          </p:cNvPr>
          <p:cNvSpPr>
            <a:spLocks xmlns:a="http://schemas.openxmlformats.org/drawingml/2006/main" noGrp="1"/>
          </p:cNvSpPr>
          <p:nvPr/>
        </p:nvSpPr>
        <p:spPr>
          <a:xfrm xmlns:a="http://schemas.openxmlformats.org/drawingml/2006/main">
            <a:off x="819150" y="4972050"/>
            <a:ext cx="704850" cy="533400"/>
          </a:xfrm>
          <a:prstGeom xmlns:a="http://schemas.openxmlformats.org/drawingml/2006/main" prst="roundRect">
            <a:avLst>
              <a:gd name="adj" fmla="val 50000"/>
            </a:avLst>
          </a:prstGeom>
          <a:solidFill xmlns:a="http://schemas.openxmlformats.org/drawingml/2006/main">
            <a:srgbClr val="5D7487"/>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xmlns:a="http://schemas.openxmlformats.org/drawingml/2006/main">
              <a:ext uri="{FF2B5EF4-FFF2-40B4-BE49-F238E27FC236}">
                <a16:creationId xmlns:a16="http://schemas.microsoft.com/office/drawing/2014/main" id="{C508514B-81D5-4E14-9ECE-18E0251D5783}"/>
              </a:ext>
            </a:extLst>
          </p:cNvPr>
          <p:cNvSpPr>
            <a:spLocks xmlns:a="http://schemas.openxmlformats.org/drawingml/2006/main" noGrp="1"/>
          </p:cNvSpPr>
          <p:nvPr/>
        </p:nvSpPr>
        <p:spPr>
          <a:xfrm xmlns:a="http://schemas.openxmlformats.org/drawingml/2006/main">
            <a:off x="2381250" y="49720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xmlns:a="http://schemas.openxmlformats.org/drawingml/2006/main">
              <a:ext uri="{FF2B5EF4-FFF2-40B4-BE49-F238E27FC236}">
                <a16:creationId xmlns:a16="http://schemas.microsoft.com/office/drawing/2014/main" id="{F597FE5C-C97D-4F1E-8917-90F2EAA86E52}"/>
              </a:ext>
            </a:extLst>
          </p:cNvPr>
          <p:cNvSpPr>
            <a:spLocks xmlns:a="http://schemas.openxmlformats.org/drawingml/2006/main" noGrp="1"/>
          </p:cNvSpPr>
          <p:nvPr/>
        </p:nvSpPr>
        <p:spPr>
          <a:xfrm xmlns:a="http://schemas.openxmlformats.org/drawingml/2006/main">
            <a:off x="6858000" y="49720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xmlns:a="http://schemas.openxmlformats.org/drawingml/2006/main">
              <a:ext uri="{FF2B5EF4-FFF2-40B4-BE49-F238E27FC236}">
                <a16:creationId xmlns:a16="http://schemas.microsoft.com/office/drawing/2014/main" id="{6E1FE35D-FD8C-4D89-9F34-00BF2CE82BBC}"/>
              </a:ext>
            </a:extLst>
          </p:cNvPr>
          <p:cNvSpPr>
            <a:spLocks xmlns:a="http://schemas.openxmlformats.org/drawingml/2006/main" noGrp="1"/>
          </p:cNvSpPr>
          <p:nvPr/>
        </p:nvSpPr>
        <p:spPr>
          <a:xfrm xmlns:a="http://schemas.openxmlformats.org/drawingml/2006/main">
            <a:off x="685800" y="56292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221">
            <a:extLst xmlns:a="http://schemas.openxmlformats.org/drawingml/2006/main">
              <a:ext uri="{FF2B5EF4-FFF2-40B4-BE49-F238E27FC236}">
                <a16:creationId xmlns:a16="http://schemas.microsoft.com/office/drawing/2014/main" id="{62B27D99-174C-49B7-9B54-B4DD22B196B8}"/>
              </a:ext>
            </a:extLst>
          </p:cNvPr>
          <p:cNvSpPr>
            <a:spLocks xmlns:a="http://schemas.openxmlformats.org/drawingml/2006/main" noGrp="1"/>
          </p:cNvSpPr>
          <p:nvPr/>
        </p:nvSpPr>
        <p:spPr>
          <a:xfrm xmlns:a="http://schemas.openxmlformats.org/drawingml/2006/main">
            <a:off x="990600" y="5857875"/>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7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7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7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03 • DO-178C OVERVIEW</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038" b="1" i="0">
                <a:solidFill>
                  <a:srgbClr val="0B1F33"/>
                </a:solidFill>
                <a:latin typeface="Aptos"/>
                <a:ea typeface="Aptos"/>
                <a:cs typeface="Aptos"/>
              </a:defRPr>
            </a:pPr>
            <a:r>
              <a:rPr sz="3038" b="1" i="0">
                <a:solidFill>
                  <a:srgbClr val="0B1F33"/>
                </a:solidFill>
                <a:latin typeface="Aptos"/>
                <a:ea typeface="Aptos"/>
                <a:cs typeface="Aptos"/>
              </a:rPr>
              <a:t>The V-model links every definition to its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15</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146"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47"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48"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49"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50"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1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40">
            <a:extLst xmlns:a="http://schemas.openxmlformats.org/drawingml/2006/main">
              <a:ext uri="{FF2B5EF4-FFF2-40B4-BE49-F238E27FC236}">
                <a16:creationId xmlns:a16="http://schemas.microsoft.com/office/drawing/2014/main" id="{5D7DBB9C-53D1-4BCB-8054-E9816E944978}"/>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xmlns:a="http://schemas.openxmlformats.org/drawingml/2006/main">
              <a:ext uri="{FF2B5EF4-FFF2-40B4-BE49-F238E27FC236}">
                <a16:creationId xmlns:a16="http://schemas.microsoft.com/office/drawing/2014/main" id="{CB97EA25-5471-4803-8637-E5CF5B302265}"/>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xmlns:a="http://schemas.openxmlformats.org/drawingml/2006/main">
              <a:ext uri="{FF2B5EF4-FFF2-40B4-BE49-F238E27FC236}">
                <a16:creationId xmlns:a16="http://schemas.microsoft.com/office/drawing/2014/main" id="{971AF993-1B7E-491D-9C4A-38A0EBF3E16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xmlns:a="http://schemas.openxmlformats.org/drawingml/2006/main">
              <a:ext uri="{FF2B5EF4-FFF2-40B4-BE49-F238E27FC236}">
                <a16:creationId xmlns:a16="http://schemas.microsoft.com/office/drawing/2014/main" id="{EB00891C-2E1B-41E8-ADEE-3E24458DB40F}"/>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xmlns:a="http://schemas.openxmlformats.org/drawingml/2006/main">
              <a:ext uri="{FF2B5EF4-FFF2-40B4-BE49-F238E27FC236}">
                <a16:creationId xmlns:a16="http://schemas.microsoft.com/office/drawing/2014/main" id="{BB3E578C-A19F-4649-B3A1-9C402372E8C8}"/>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xmlns:a="http://schemas.openxmlformats.org/drawingml/2006/main">
              <a:ext uri="{FF2B5EF4-FFF2-40B4-BE49-F238E27FC236}">
                <a16:creationId xmlns:a16="http://schemas.microsoft.com/office/drawing/2014/main" id="{342CFD44-DD46-4F39-AF1E-AA44A8DBC7FD}"/>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xmlns:a="http://schemas.openxmlformats.org/drawingml/2006/main">
              <a:ext uri="{FF2B5EF4-FFF2-40B4-BE49-F238E27FC236}">
                <a16:creationId xmlns:a16="http://schemas.microsoft.com/office/drawing/2014/main" id="{290D015A-DCB0-46A8-849B-4C6393585F3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xmlns:a="http://schemas.openxmlformats.org/drawingml/2006/main">
              <a:ext uri="{FF2B5EF4-FFF2-40B4-BE49-F238E27FC236}">
                <a16:creationId xmlns:a16="http://schemas.microsoft.com/office/drawing/2014/main" id="{0ACE347E-FB34-4540-A405-5E47EE08240A}"/>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xmlns:a="http://schemas.openxmlformats.org/drawingml/2006/main">
              <a:ext uri="{FF2B5EF4-FFF2-40B4-BE49-F238E27FC236}">
                <a16:creationId xmlns:a16="http://schemas.microsoft.com/office/drawing/2014/main" id="{09B67B8E-A9C1-4E1E-95A8-21BC185C2FB5}"/>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126"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27"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28" name="Straight Arrow Connector 39"/>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29" name="Straight Arrow Connector 40"/>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0" name="Straight Arrow Connector 41"/>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1" name="Straight Arrow Connector 42"/>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2" name="Straight Arrow Connector 43"/>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3" name="Straight Arrow Connector 44"/>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sp>
        <p:nvSpPr>
          <p:cNvPr id="23" name="text-249">
            <a:extLst xmlns:a="http://schemas.openxmlformats.org/drawingml/2006/main">
              <a:ext uri="{FF2B5EF4-FFF2-40B4-BE49-F238E27FC236}">
                <a16:creationId xmlns:a16="http://schemas.microsoft.com/office/drawing/2014/main" id="{72B7354A-E7CD-49FB-A461-4890A2B6D7D2}"/>
              </a:ext>
            </a:extLst>
          </p:cNvPr>
          <p:cNvSpPr>
            <a:spLocks xmlns:a="http://schemas.openxmlformats.org/drawingml/2006/main" noGrp="1"/>
          </p:cNvSpPr>
          <p:nvPr/>
        </p:nvSpPr>
        <p:spPr>
          <a:xfrm xmlns:a="http://schemas.openxmlformats.org/drawingml/2006/main">
            <a:off x="2781300" y="5857875"/>
            <a:ext cx="662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sld>
</file>

<file path=ppt/slides/slide1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section-249">
            <a:extLst xmlns:a="http://schemas.openxmlformats.org/drawingml/2006/main">
              <a:ext uri="{FF2B5EF4-FFF2-40B4-BE49-F238E27FC236}">
                <a16:creationId xmlns:a16="http://schemas.microsoft.com/office/drawing/2014/main" id="{71C17090-E63E-426E-84AD-B73DCF10505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49">
            <a:extLst xmlns:a="http://schemas.openxmlformats.org/drawingml/2006/main">
              <a:ext uri="{FF2B5EF4-FFF2-40B4-BE49-F238E27FC236}">
                <a16:creationId xmlns:a16="http://schemas.microsoft.com/office/drawing/2014/main" id="{17EBC051-E2EA-4A14-96CB-664CE3F8721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2 — integrate, automate, prove</a:t>
            </a:r>
          </a:p>
        </p:txBody>
      </p:sp>
      <p:sp>
        <p:nvSpPr>
          <p:cNvPr id="3" name="line-250">
            <a:extLst xmlns:a="http://schemas.openxmlformats.org/drawingml/2006/main">
              <a:ext uri="{FF2B5EF4-FFF2-40B4-BE49-F238E27FC236}">
                <a16:creationId xmlns:a16="http://schemas.microsoft.com/office/drawing/2014/main" id="{E599B5DD-E45C-45B2-88C5-3E98E5B547F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51">
            <a:extLst xmlns:a="http://schemas.openxmlformats.org/drawingml/2006/main">
              <a:ext uri="{FF2B5EF4-FFF2-40B4-BE49-F238E27FC236}">
                <a16:creationId xmlns:a16="http://schemas.microsoft.com/office/drawing/2014/main" id="{3D6C6F02-A610-488D-815E-1DCFF6721D3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52">
            <a:extLst xmlns:a="http://schemas.openxmlformats.org/drawingml/2006/main">
              <a:ext uri="{FF2B5EF4-FFF2-40B4-BE49-F238E27FC236}">
                <a16:creationId xmlns:a16="http://schemas.microsoft.com/office/drawing/2014/main" id="{3D87B1D7-C888-4B86-B9AB-722EBC562E1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17</a:t>
            </a:r>
          </a:p>
        </p:txBody>
      </p:sp>
      <p:sp>
        <p:nvSpPr>
          <p:cNvPr id="6" name="box-253">
            <a:extLst xmlns:a="http://schemas.openxmlformats.org/drawingml/2006/main">
              <a:ext uri="{FF2B5EF4-FFF2-40B4-BE49-F238E27FC236}">
                <a16:creationId xmlns:a16="http://schemas.microsoft.com/office/drawing/2014/main" id="{8572D38F-6735-423A-805D-131A423A35B5}"/>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10  Integrate into</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7" name="box-254">
            <a:extLst xmlns:a="http://schemas.openxmlformats.org/drawingml/2006/main">
              <a:ext uri="{FF2B5EF4-FFF2-40B4-BE49-F238E27FC236}">
                <a16:creationId xmlns:a16="http://schemas.microsoft.com/office/drawing/2014/main" id="{2CA3A3FD-1A09-4F06-AE95-AAD099CD245D}"/>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11  Architecture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update</a:t>
            </a:r>
          </a:p>
        </p:txBody>
      </p:sp>
      <p:sp>
        <p:nvSpPr>
          <p:cNvPr id="8" name="box-255">
            <a:extLst xmlns:a="http://schemas.openxmlformats.org/drawingml/2006/main">
              <a:ext uri="{FF2B5EF4-FFF2-40B4-BE49-F238E27FC236}">
                <a16:creationId xmlns:a16="http://schemas.microsoft.com/office/drawing/2014/main" id="{C740BF29-9410-4365-BADB-065F2053FEE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12  Run Jenkins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9" name="box-256">
            <a:extLst xmlns:a="http://schemas.openxmlformats.org/drawingml/2006/main">
              <a:ext uri="{FF2B5EF4-FFF2-40B4-BE49-F238E27FC236}">
                <a16:creationId xmlns:a16="http://schemas.microsoft.com/office/drawing/2014/main" id="{206DA204-F972-46E1-A445-CA87C1DBFD75}"/>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13  Review first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meaningful failure</a:t>
            </a:r>
          </a:p>
        </p:txBody>
      </p:sp>
      <p:sp>
        <p:nvSpPr>
          <p:cNvPr id="10" name="box-257">
            <a:extLst xmlns:a="http://schemas.openxmlformats.org/drawingml/2006/main">
              <a:ext uri="{FF2B5EF4-FFF2-40B4-BE49-F238E27FC236}">
                <a16:creationId xmlns:a16="http://schemas.microsoft.com/office/drawing/2014/main" id="{0BF43C61-2155-4AD3-A159-EADC2C55746F}"/>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14  Fix root cause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add protection</a:t>
            </a:r>
          </a:p>
        </p:txBody>
      </p:sp>
      <p:sp>
        <p:nvSpPr>
          <p:cNvPr id="11" name="box-258">
            <a:extLst xmlns:a="http://schemas.openxmlformats.org/drawingml/2006/main">
              <a:ext uri="{FF2B5EF4-FFF2-40B4-BE49-F238E27FC236}">
                <a16:creationId xmlns:a16="http://schemas.microsoft.com/office/drawing/2014/main" id="{62DF479E-06B3-4763-A3A8-BD9BEFF1925E}"/>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15  Re-run affected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then full pipeline</a:t>
            </a:r>
          </a:p>
        </p:txBody>
      </p:sp>
      <p:sp>
        <p:nvSpPr>
          <p:cNvPr id="12" name="box-259">
            <a:extLst xmlns:a="http://schemas.openxmlformats.org/drawingml/2006/main">
              <a:ext uri="{FF2B5EF4-FFF2-40B4-BE49-F238E27FC236}">
                <a16:creationId xmlns:a16="http://schemas.microsoft.com/office/drawing/2014/main" id="{4BB3E05B-751D-4615-BD14-221B5CEDE5B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16  Pass controlled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13" name="box-260">
            <a:extLst xmlns:a="http://schemas.openxmlformats.org/drawingml/2006/main">
              <a:ext uri="{FF2B5EF4-FFF2-40B4-BE49-F238E27FC236}">
                <a16:creationId xmlns:a16="http://schemas.microsoft.com/office/drawing/2014/main" id="{7B760FB1-3110-4854-B336-AA315384CBBD}"/>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17  Execute planned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integration tests</a:t>
            </a:r>
          </a:p>
        </p:txBody>
      </p:sp>
      <p:sp>
        <p:nvSpPr>
          <p:cNvPr id="14" name="box-261">
            <a:extLst xmlns:a="http://schemas.openxmlformats.org/drawingml/2006/main">
              <a:ext uri="{FF2B5EF4-FFF2-40B4-BE49-F238E27FC236}">
                <a16:creationId xmlns:a16="http://schemas.microsoft.com/office/drawing/2014/main" id="{9BA86F66-D7DB-4C6B-A5B3-3CF43BD07FFE}"/>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18  Final verification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27" name="Straight Arrow Connector 38"/>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28" name="Straight Arrow Connector 39"/>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29" name="Straight Arrow Connector 40"/>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0" name="Straight Arrow Connector 41"/>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31" name="Straight Arrow Connector 42"/>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32" name="Straight Arrow Connector 43"/>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33" name="Straight Arrow Connector 44"/>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134" name="Straight Arrow Connector 45"/>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3" name="text-262">
            <a:extLst xmlns:a="http://schemas.openxmlformats.org/drawingml/2006/main">
              <a:ext uri="{FF2B5EF4-FFF2-40B4-BE49-F238E27FC236}">
                <a16:creationId xmlns:a16="http://schemas.microsoft.com/office/drawing/2014/main" id="{AB1C062C-68DB-4F87-ABF8-8695E156572D}"/>
              </a:ext>
            </a:extLst>
          </p:cNvPr>
          <p:cNvSpPr>
            <a:spLocks xmlns:a="http://schemas.openxmlformats.org/drawingml/2006/main" noGrp="1"/>
          </p:cNvSpPr>
          <p:nvPr/>
        </p:nvSpPr>
        <p:spPr>
          <a:xfrm xmlns:a="http://schemas.openxmlformats.org/drawingml/2006/main">
            <a:off x="4552950" y="417195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1" i="0">
                <a:solidFill>
                  <a:srgbClr val="E9A23B"/>
                </a:solidFill>
                <a:latin typeface="Aptos"/>
                <a:ea typeface="Aptos"/>
                <a:cs typeface="Aptos"/>
              </a:defRPr>
            </a:pPr>
            <a:r>
              <a:rPr sz="1200" b="1" i="0">
                <a:solidFill>
                  <a:srgbClr val="E9A23B"/>
                </a:solidFill>
                <a:latin typeface="Aptos"/>
                <a:ea typeface="Aptos"/>
                <a:cs typeface="Aptos"/>
              </a:rPr>
              <a:t>FAILURE LOOP</a:t>
            </a:r>
          </a:p>
        </p:txBody>
      </p:sp>
      <p:sp>
        <p:nvSpPr>
          <p:cNvPr id="24" name="text-263">
            <a:extLst xmlns:a="http://schemas.openxmlformats.org/drawingml/2006/main">
              <a:ext uri="{FF2B5EF4-FFF2-40B4-BE49-F238E27FC236}">
                <a16:creationId xmlns:a16="http://schemas.microsoft.com/office/drawing/2014/main" id="{A7491BA7-5733-4722-A219-7E0F4FEC7047}"/>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1">
                <a:solidFill>
                  <a:srgbClr val="A6C0D0"/>
                </a:solidFill>
                <a:latin typeface="Aptos"/>
                <a:ea typeface="Aptos"/>
                <a:cs typeface="Aptos"/>
              </a:defRPr>
            </a:pPr>
            <a:r>
              <a:rPr sz="1350" b="0" i="1">
                <a:solidFill>
                  <a:srgbClr val="A6C0D0"/>
                </a:solidFill>
                <a:latin typeface="Aptos"/>
                <a:ea typeface="Aptos"/>
                <a:cs typeface="Aptos"/>
              </a:rPr>
              <a:t>A green pipeline is a gate to the next activity—not proof that every certification objective is complete.</a:t>
            </a:r>
          </a:p>
        </p:txBody>
      </p:sp>
    </p:spTree>
    <p:extLst>
      <p:ext uri="{BB962C8B-B14F-4D97-AF65-F5344CB8AC3E}">
        <p14:creationId xmlns:p14="http://schemas.microsoft.com/office/powerpoint/2010/main" val="791143686"/>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0B1F33"/>
                </a:solidFill>
                <a:latin typeface="Aptos"/>
                <a:ea typeface="Aptos"/>
                <a:cs typeface="Aptos"/>
              </a:defRPr>
            </a:pPr>
            <a:r>
              <a:rPr sz="3225" b="1" i="0">
                <a:solidFill>
                  <a:srgbClr val="0B1F33"/>
                </a:solidFill>
                <a:latin typeface="Aptos"/>
                <a:ea typeface="Aptos"/>
                <a:cs typeface="Aptos"/>
              </a:rPr>
              <a:t>Pseudo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SOFTWARE HLR</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SWHLR-001 / 002</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DESIGN / LLR</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SWLLR-001 / 002</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STATUS + TIMING</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SWHLR-003 / 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1">
                <a:solidFill>
                  <a:srgbClr val="20B7C5"/>
                </a:solidFill>
                <a:latin typeface="Aptos"/>
                <a:ea typeface="Aptos"/>
                <a:cs typeface="Aptos"/>
              </a:defRPr>
            </a:pPr>
            <a:r>
              <a:rPr sz="1050" b="1">
                <a:solidFill>
                  <a:srgbClr val="20B7C5"/>
                </a:solidFill>
                <a:latin typeface="Aptos"/>
                <a:ea typeface="Aptos"/>
                <a:cs typeface="Aptos"/>
              </a:rPr>
              <a:t>18</a:t>
            </a:r>
          </a:p>
        </p:txBody>
      </p:sp>
    </p:spTree>
    <p:extLst>
      <p:ext uri="{BB962C8B-B14F-4D97-AF65-F5344CB8AC3E}">
        <p14:creationId xmlns:p14="http://schemas.microsoft.com/office/powerpoint/2010/main" val="125380021"/>
      </p:ext>
    </p:extLst>
  </p:cSld>
</p:sld>
</file>

<file path=ppt/slides/slide1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FFFFFF"/>
                </a:solidFill>
                <a:latin typeface="Aptos"/>
                <a:ea typeface="Aptos"/>
                <a:cs typeface="Aptos"/>
              </a:defRPr>
            </a:pPr>
            <a:r>
              <a:rPr sz="3225" b="1" i="0">
                <a:solidFill>
                  <a:srgbClr val="FFFFFF"/>
                </a:solidFill>
                <a:latin typeface="Aptos"/>
                <a:ea typeface="Aptos"/>
                <a:cs typeface="Aptos"/>
              </a:rPr>
              <a:t>One limiter requirement, one traceable evidence chain</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19</a:t>
            </a:r>
          </a:p>
        </p:txBody>
      </p:sp>
      <p:pic>
        <p:nvPicPr>
          <p:cNvPr id="41" name="Picture 8"/>
          <p:cNvPicPr>
            <a:picLocks xmlns:a="http://schemas.openxmlformats.org/drawingml/2006/main" noChangeAspect="1"/>
          </p:cNvPicPr>
          <p:nvPr/>
        </p:nvPicPr>
        <p:blipFill>
          <a:blip xmlns:r="http://schemas.openxmlformats.org/officeDocument/2006/relationships" xmlns:a="http://schemas.openxmlformats.org/drawingml/2006/main" r:embed="Raec52286d85b45c4"/>
          <a:stretch xmlns:a="http://schemas.openxmlformats.org/drawingml/2006/main">
            <a:fillRect l="0" t="0" r="0" b="0"/>
          </a:stretch>
        </p:blipFill>
        <p:spPr>
          <a:xfrm xmlns:a="http://schemas.openxmlformats.org/drawingml/2006/main">
            <a:off x="5810250" y="2905125"/>
            <a:ext cx="5695950" cy="2428875"/>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D3BED0F6-8764-6F37-0E82-7337222C6A2D}"/>
              </a:ext>
            </a:extLst>
          </p:cNvPr>
          <p:cNvSpPr>
            <a:spLocks xmlns:a="http://schemas.openxmlformats.org/drawingml/2006/main" noGrp="1"/>
          </p:cNvSpPr>
          <p:nvPr/>
        </p:nvSpPr>
        <p:spPr>
          <a:xfrm xmlns:a="http://schemas.openxmlformats.org/drawingml/2006/main">
            <a:off x="685800" y="5686425"/>
            <a:ext cx="10820400" cy="333375"/>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30" b="1">
                <a:solidFill>
                  <a:srgbClr val="BFD8E5"/>
                </a:solidFill>
                <a:latin typeface="Aptos"/>
                <a:ea typeface="Aptos"/>
                <a:cs typeface="Aptos"/>
              </a:defRPr>
            </a:pPr>
            <a:r>
              <a:rPr sz="1230" b="1">
                <a:solidFill>
                  <a:srgbClr val="BFD8E5"/>
                </a:solidFill>
                <a:latin typeface="Aptos"/>
                <a:ea typeface="Aptos"/>
                <a:cs typeface="Aptos"/>
              </a:rPr>
              <a:t>Trace both directions • retain model, dictionary, test script, result, and tool/configuration metadata in one controlled baseline</a:t>
            </a:r>
          </a:p>
        </p:txBody>
      </p:sp>
      <p:sp>
        <p:nvSpPr>
          <p:cNvPr id="22" name="s19-chain-1">
            <a:extLst xmlns:a="http://schemas.openxmlformats.org/drawingml/2006/main">
              <a:ext uri="{FF2B5EF4-FFF2-40B4-BE49-F238E27FC236}">
                <a16:creationId xmlns:a16="http://schemas.microsoft.com/office/drawing/2014/main" id="{166CA8A3-7862-432E-BF22-86443A47D4AF}"/>
              </a:ext>
            </a:extLst>
          </p:cNvPr>
          <p:cNvSpPr>
            <a:spLocks xmlns:a="http://schemas.openxmlformats.org/drawingml/2006/main" noGrp="1"/>
          </p:cNvSpPr>
          <p:nvPr/>
        </p:nvSpPr>
        <p:spPr>
          <a:xfrm xmlns:a="http://schemas.openxmlformats.org/drawingml/2006/main">
            <a:off x="685800" y="1476375"/>
            <a:ext cx="1809750" cy="1047750"/>
          </a:xfrm>
          <a:prstGeom xmlns:a="http://schemas.openxmlformats.org/drawingml/2006/main" prst="roundRect">
            <a:avLst>
              <a:gd name="adj" fmla="val 10909"/>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PSYS-001</a:t>
            </a:r>
          </a:p>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command-path protection</a:t>
            </a:r>
          </a:p>
        </p:txBody>
      </p:sp>
      <p:sp>
        <p:nvSpPr>
          <p:cNvPr id="23" name="s19-chain-2">
            <a:extLst xmlns:a="http://schemas.openxmlformats.org/drawingml/2006/main">
              <a:ext uri="{FF2B5EF4-FFF2-40B4-BE49-F238E27FC236}">
                <a16:creationId xmlns:a16="http://schemas.microsoft.com/office/drawing/2014/main" id="{83F23776-8836-4CAB-98C4-A861612C3226}"/>
              </a:ext>
            </a:extLst>
          </p:cNvPr>
          <p:cNvSpPr>
            <a:spLocks xmlns:a="http://schemas.openxmlformats.org/drawingml/2006/main" noGrp="1"/>
          </p:cNvSpPr>
          <p:nvPr/>
        </p:nvSpPr>
        <p:spPr>
          <a:xfrm xmlns:a="http://schemas.openxmlformats.org/drawingml/2006/main">
            <a:off x="2867025" y="1476375"/>
            <a:ext cx="1809750" cy="1047750"/>
          </a:xfrm>
          <a:prstGeom xmlns:a="http://schemas.openxmlformats.org/drawingml/2006/main" prst="roundRect">
            <a:avLst>
              <a:gd name="adj" fmla="val 10909"/>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SWHLR-001 / PRL-001</a:t>
            </a:r>
          </a:p>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inclusive ±12 allocation</a:t>
            </a:r>
          </a:p>
        </p:txBody>
      </p:sp>
      <p:sp>
        <p:nvSpPr>
          <p:cNvPr id="24" name="s19-chain-3">
            <a:extLst xmlns:a="http://schemas.openxmlformats.org/drawingml/2006/main">
              <a:ext uri="{FF2B5EF4-FFF2-40B4-BE49-F238E27FC236}">
                <a16:creationId xmlns:a16="http://schemas.microsoft.com/office/drawing/2014/main" id="{6954ED51-FAC7-4DC4-BB4E-E69987192115}"/>
              </a:ext>
            </a:extLst>
          </p:cNvPr>
          <p:cNvSpPr>
            <a:spLocks xmlns:a="http://schemas.openxmlformats.org/drawingml/2006/main" noGrp="1"/>
          </p:cNvSpPr>
          <p:nvPr/>
        </p:nvSpPr>
        <p:spPr>
          <a:xfrm xmlns:a="http://schemas.openxmlformats.org/drawingml/2006/main">
            <a:off x="5048250" y="1476375"/>
            <a:ext cx="1809750" cy="1047750"/>
          </a:xfrm>
          <a:prstGeom xmlns:a="http://schemas.openxmlformats.org/drawingml/2006/main" prst="roundRect">
            <a:avLst>
              <a:gd name="adj" fmla="val 10909"/>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40" b="1">
                <a:solidFill>
                  <a:srgbClr val="0B1F33"/>
                </a:solidFill>
                <a:latin typeface="Aptos"/>
                <a:ea typeface="Aptos"/>
                <a:cs typeface="Aptos"/>
              </a:defRPr>
            </a:pPr>
            <a:r>
              <a:rPr sz="1140" b="1">
                <a:solidFill>
                  <a:srgbClr val="0B1F33"/>
                </a:solidFill>
                <a:latin typeface="Aptos"/>
                <a:ea typeface="Aptos"/>
                <a:cs typeface="Aptos"/>
              </a:rPr>
              <a:t>MAGNITUDE CLAMP</a:t>
            </a:r>
          </a:p>
          <a:p xmlns:a="http://schemas.openxmlformats.org/drawingml/2006/main">
            <a:pPr algn="ctr">
              <a:defRPr sz="1140" b="1">
                <a:solidFill>
                  <a:srgbClr val="0B1F33"/>
                </a:solidFill>
                <a:latin typeface="Aptos"/>
                <a:ea typeface="Aptos"/>
                <a:cs typeface="Aptos"/>
              </a:defRPr>
            </a:pPr>
            <a:r>
              <a:rPr sz="1140" b="1">
                <a:solidFill>
                  <a:srgbClr val="0B1F33"/>
                </a:solidFill>
                <a:latin typeface="Aptos"/>
                <a:ea typeface="Aptos"/>
                <a:cs typeface="Aptos"/>
              </a:rPr>
              <a:t>model block</a:t>
            </a:r>
          </a:p>
        </p:txBody>
      </p:sp>
      <p:sp>
        <p:nvSpPr>
          <p:cNvPr id="25" name="s19-chain-4">
            <a:extLst xmlns:a="http://schemas.openxmlformats.org/drawingml/2006/main">
              <a:ext uri="{FF2B5EF4-FFF2-40B4-BE49-F238E27FC236}">
                <a16:creationId xmlns:a16="http://schemas.microsoft.com/office/drawing/2014/main" id="{84586A53-2310-456D-9FAD-02EB13570593}"/>
              </a:ext>
            </a:extLst>
          </p:cNvPr>
          <p:cNvSpPr>
            <a:spLocks xmlns:a="http://schemas.openxmlformats.org/drawingml/2006/main" noGrp="1"/>
          </p:cNvSpPr>
          <p:nvPr/>
        </p:nvSpPr>
        <p:spPr>
          <a:xfrm xmlns:a="http://schemas.openxmlformats.org/drawingml/2006/main">
            <a:off x="7229475" y="1476375"/>
            <a:ext cx="1809750" cy="1047750"/>
          </a:xfrm>
          <a:prstGeom xmlns:a="http://schemas.openxmlformats.org/drawingml/2006/main" prst="roundRect">
            <a:avLst>
              <a:gd name="adj" fmla="val 10909"/>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BOUNDARY ABOVE UPPER</a:t>
            </a:r>
          </a:p>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q_cmd = 12.1 deg/s</a:t>
            </a:r>
          </a:p>
        </p:txBody>
      </p:sp>
      <p:sp>
        <p:nvSpPr>
          <p:cNvPr id="26" name="s19-chain-5">
            <a:extLst xmlns:a="http://schemas.openxmlformats.org/drawingml/2006/main">
              <a:ext uri="{FF2B5EF4-FFF2-40B4-BE49-F238E27FC236}">
                <a16:creationId xmlns:a16="http://schemas.microsoft.com/office/drawing/2014/main" id="{E10B4EC2-8487-4132-8152-8744CF92E49E}"/>
              </a:ext>
            </a:extLst>
          </p:cNvPr>
          <p:cNvSpPr>
            <a:spLocks xmlns:a="http://schemas.openxmlformats.org/drawingml/2006/main" noGrp="1"/>
          </p:cNvSpPr>
          <p:nvPr/>
        </p:nvSpPr>
        <p:spPr>
          <a:xfrm xmlns:a="http://schemas.openxmlformats.org/drawingml/2006/main">
            <a:off x="9410700" y="1476375"/>
            <a:ext cx="1809750" cy="1047750"/>
          </a:xfrm>
          <a:prstGeom xmlns:a="http://schemas.openxmlformats.org/drawingml/2006/main" prst="roundRect">
            <a:avLst>
              <a:gd name="adj" fmla="val 10909"/>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ITERATION 8</a:t>
            </a:r>
          </a:p>
          <a:p xmlns:a="http://schemas.openxmlformats.org/drawingml/2006/main">
            <a:pPr algn="ctr">
              <a:defRPr sz="1163" b="1">
                <a:solidFill>
                  <a:srgbClr val="0B1F33"/>
                </a:solidFill>
                <a:latin typeface="Aptos"/>
                <a:ea typeface="Aptos"/>
                <a:cs typeface="Aptos"/>
              </a:defRPr>
            </a:pPr>
            <a:r>
              <a:rPr sz="1163" b="1">
                <a:solidFill>
                  <a:srgbClr val="0B1F33"/>
                </a:solidFill>
                <a:latin typeface="Aptos"/>
                <a:ea typeface="Aptos"/>
                <a:cs typeface="Aptos"/>
              </a:rPr>
              <a:t>actual 12.0 • PASS</a:t>
            </a:r>
          </a:p>
        </p:txBody>
      </p:sp>
      <p:cxnSp>
        <p:nvCxnSpPr>
          <p:cNvPr id="48" name=""/>
          <p:cNvCxnSpPr>
            <a:stCxn xmlns:a="http://schemas.openxmlformats.org/drawingml/2006/main" id="22" idx="3"/>
            <a:endCxn xmlns:a="http://schemas.openxmlformats.org/drawingml/2006/main" id="23" idx="1"/>
          </p:cNvCxnSpPr>
          <p:nvPr/>
        </p:nvCxnSpPr>
        <p:spPr>
          <a:xfrm xmlns:a="http://schemas.openxmlformats.org/drawingml/2006/main">
            <a:off x="2495550"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9" name=""/>
          <p:cNvCxnSpPr>
            <a:stCxn xmlns:a="http://schemas.openxmlformats.org/drawingml/2006/main" id="23" idx="3"/>
            <a:endCxn xmlns:a="http://schemas.openxmlformats.org/drawingml/2006/main" id="24" idx="1"/>
          </p:cNvCxnSpPr>
          <p:nvPr/>
        </p:nvCxnSpPr>
        <p:spPr>
          <a:xfrm xmlns:a="http://schemas.openxmlformats.org/drawingml/2006/main">
            <a:off x="4676775"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50" name=""/>
          <p:cNvCxnSpPr>
            <a:stCxn xmlns:a="http://schemas.openxmlformats.org/drawingml/2006/main" id="24" idx="3"/>
            <a:endCxn xmlns:a="http://schemas.openxmlformats.org/drawingml/2006/main" id="25" idx="1"/>
          </p:cNvCxnSpPr>
          <p:nvPr/>
        </p:nvCxnSpPr>
        <p:spPr>
          <a:xfrm xmlns:a="http://schemas.openxmlformats.org/drawingml/2006/main">
            <a:off x="6858000"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51" name=""/>
          <p:cNvCxnSpPr>
            <a:stCxn xmlns:a="http://schemas.openxmlformats.org/drawingml/2006/main" id="25" idx="3"/>
            <a:endCxn xmlns:a="http://schemas.openxmlformats.org/drawingml/2006/main" id="26" idx="1"/>
          </p:cNvCxnSpPr>
          <p:nvPr/>
        </p:nvCxnSpPr>
        <p:spPr>
          <a:xfrm xmlns:a="http://schemas.openxmlformats.org/drawingml/2006/main">
            <a:off x="9039225"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31" name="s19-evidence-panel">
            <a:extLst xmlns:a="http://schemas.openxmlformats.org/drawingml/2006/main">
              <a:ext uri="{FF2B5EF4-FFF2-40B4-BE49-F238E27FC236}">
                <a16:creationId xmlns:a16="http://schemas.microsoft.com/office/drawing/2014/main" id="{A40E752A-F58E-4A96-9CD5-81795857C696}"/>
              </a:ext>
            </a:extLst>
          </p:cNvPr>
          <p:cNvSpPr>
            <a:spLocks xmlns:a="http://schemas.openxmlformats.org/drawingml/2006/main" noGrp="1"/>
          </p:cNvSpPr>
          <p:nvPr/>
        </p:nvSpPr>
        <p:spPr>
          <a:xfrm xmlns:a="http://schemas.openxmlformats.org/drawingml/2006/main">
            <a:off x="685800" y="2905125"/>
            <a:ext cx="4762500" cy="2428875"/>
          </a:xfrm>
          <a:prstGeom xmlns:a="http://schemas.openxmlformats.org/drawingml/2006/main" prst="roundRect">
            <a:avLst>
              <a:gd name="adj" fmla="val 4706"/>
            </a:avLst>
          </a:prstGeom>
          <a:solidFill xmlns:a="http://schemas.openxmlformats.org/drawingml/2006/main">
            <a:srgbClr val="0B2438"/>
          </a:solidFill>
          <a:ln xmlns:a="http://schemas.openxmlformats.org/drawingml/2006/main" w="19050">
            <a:solidFill>
              <a:srgbClr val="20B7C5"/>
            </a:solidFill>
            <a:prstDash val="solid"/>
          </a:ln>
        </p:spPr>
      </p:sp>
      <p:sp>
        <p:nvSpPr>
          <p:cNvPr id="32" name="s19-env">
            <a:extLst xmlns:a="http://schemas.openxmlformats.org/drawingml/2006/main">
              <a:ext uri="{FF2B5EF4-FFF2-40B4-BE49-F238E27FC236}">
                <a16:creationId xmlns:a16="http://schemas.microsoft.com/office/drawing/2014/main" id="{ED58BF34-66BD-4118-909B-FAA44DA07777}"/>
              </a:ext>
            </a:extLst>
          </p:cNvPr>
          <p:cNvSpPr>
            <a:spLocks xmlns:a="http://schemas.openxmlformats.org/drawingml/2006/main" noGrp="1"/>
          </p:cNvSpPr>
          <p:nvPr/>
        </p:nvSpPr>
        <p:spPr>
          <a:xfrm xmlns:a="http://schemas.openxmlformats.org/drawingml/2006/main">
            <a:off x="876300" y="30575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70DCE5"/>
                </a:solidFill>
                <a:latin typeface="Aptos"/>
                <a:ea typeface="Aptos"/>
                <a:cs typeface="Aptos"/>
              </a:defRPr>
            </a:pPr>
            <a:r>
              <a:rPr sz="1163" b="1">
                <a:solidFill>
                  <a:srgbClr val="70DCE5"/>
                </a:solidFill>
                <a:latin typeface="Aptos"/>
                <a:ea typeface="Aptos"/>
                <a:cs typeface="Aptos"/>
              </a:rPr>
              <a:t>EXECUTED ENVIRONMENT</a:t>
            </a:r>
          </a:p>
        </p:txBody>
      </p:sp>
      <p:sp>
        <p:nvSpPr>
          <p:cNvPr id="33" name="s19-env-body">
            <a:extLst xmlns:a="http://schemas.openxmlformats.org/drawingml/2006/main">
              <a:ext uri="{FF2B5EF4-FFF2-40B4-BE49-F238E27FC236}">
                <a16:creationId xmlns:a16="http://schemas.microsoft.com/office/drawing/2014/main" id="{95F9C8D2-806A-4374-B407-A2C64D57BF83}"/>
              </a:ext>
            </a:extLst>
          </p:cNvPr>
          <p:cNvSpPr>
            <a:spLocks xmlns:a="http://schemas.openxmlformats.org/drawingml/2006/main" noGrp="1"/>
          </p:cNvSpPr>
          <p:nvPr/>
        </p:nvSpPr>
        <p:spPr>
          <a:xfrm xmlns:a="http://schemas.openxmlformats.org/drawingml/2006/main">
            <a:off x="876300" y="3333750"/>
            <a:ext cx="438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Desktop Simulink model execution (MIL)</a:t>
            </a:r>
          </a:p>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not SIL, PIL, or HIL</a:t>
            </a:r>
          </a:p>
        </p:txBody>
      </p:sp>
      <p:sp>
        <p:nvSpPr>
          <p:cNvPr id="34" name="s19-divider">
            <a:extLst xmlns:a="http://schemas.openxmlformats.org/drawingml/2006/main">
              <a:ext uri="{FF2B5EF4-FFF2-40B4-BE49-F238E27FC236}">
                <a16:creationId xmlns:a16="http://schemas.microsoft.com/office/drawing/2014/main" id="{8F6B0322-AB5E-45DE-A3FA-85CB5290CABF}"/>
              </a:ext>
            </a:extLst>
          </p:cNvPr>
          <p:cNvSpPr>
            <a:spLocks xmlns:a="http://schemas.openxmlformats.org/drawingml/2006/main" noGrp="1"/>
          </p:cNvSpPr>
          <p:nvPr/>
        </p:nvSpPr>
        <p:spPr>
          <a:xfrm xmlns:a="http://schemas.openxmlformats.org/drawingml/2006/main">
            <a:off x="876300" y="3829050"/>
            <a:ext cx="4381500" cy="0"/>
          </a:xfrm>
          <a:prstGeom xmlns:a="http://schemas.openxmlformats.org/drawingml/2006/main" prst="line">
            <a:avLst/>
          </a:prstGeom>
          <a:noFill xmlns:a="http://schemas.openxmlformats.org/drawingml/2006/main"/>
          <a:ln xmlns:a="http://schemas.openxmlformats.org/drawingml/2006/main" w="11430">
            <a:solidFill>
              <a:srgbClr val="28506B"/>
            </a:solidFill>
            <a:prstDash val="solid"/>
          </a:ln>
        </p:spPr>
      </p:sp>
      <p:sp>
        <p:nvSpPr>
          <p:cNvPr id="35" name="s19-result">
            <a:extLst xmlns:a="http://schemas.openxmlformats.org/drawingml/2006/main">
              <a:ext uri="{FF2B5EF4-FFF2-40B4-BE49-F238E27FC236}">
                <a16:creationId xmlns:a16="http://schemas.microsoft.com/office/drawing/2014/main" id="{51321159-D98B-439C-8EF5-6E87838F0BCC}"/>
              </a:ext>
            </a:extLst>
          </p:cNvPr>
          <p:cNvSpPr>
            <a:spLocks xmlns:a="http://schemas.openxmlformats.org/drawingml/2006/main" noGrp="1"/>
          </p:cNvSpPr>
          <p:nvPr/>
        </p:nvSpPr>
        <p:spPr>
          <a:xfrm xmlns:a="http://schemas.openxmlformats.org/drawingml/2006/main">
            <a:off x="876300" y="3971925"/>
            <a:ext cx="4381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t = 0.14 s   •   expected = 12.0</a:t>
            </a:r>
          </a:p>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actual = 12.0   •   error = 0</a:t>
            </a:r>
          </a:p>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tolerance = 1e−9   •   timing PASS</a:t>
            </a:r>
          </a:p>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AssociatedRequirement →</a:t>
            </a:r>
          </a:p>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PRL-001 • PRL-003 • PRL-004</a:t>
            </a:r>
          </a:p>
        </p:txBody>
      </p:sp>
    </p:spTree>
    <p:extLst>
      <p:ext uri="{BB962C8B-B14F-4D97-AF65-F5344CB8AC3E}">
        <p14:creationId xmlns:p14="http://schemas.microsoft.com/office/powerpoint/2010/main" val="2043144866"/>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32" name="Picture 8"/>
          <p:cNvPicPr>
            <a:picLocks xmlns:a="http://schemas.openxmlformats.org/drawingml/2006/main" noChangeAspect="1"/>
          </p:cNvPicPr>
          <p:nvPr/>
        </p:nvPicPr>
        <p:blipFill>
          <a:blip xmlns:r="http://schemas.openxmlformats.org/officeDocument/2006/relationships" xmlns:a="http://schemas.openxmlformats.org/drawingml/2006/main" r:embed="Rf64aa63de84c45ff"/>
          <a:stretch xmlns:a="http://schemas.openxmlformats.org/drawingml/2006/main">
            <a:fillRect l="0" t="0" r="0" b="0"/>
          </a:stretch>
        </p:blipFill>
        <p:spPr>
          <a:xfrm xmlns:a="http://schemas.openxmlformats.org/drawingml/2006/main">
            <a:off x="3604881" y="1422400"/>
            <a:ext cx="498223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9F389B9A-3051-AEEA-45E8-E149FA6D8708}"/>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Magnitude clamp—not a slew-rate limiter • invalid or non-normal command falls back to zero</a:t>
            </a:r>
          </a:p>
        </p:txBody>
      </p:sp>
    </p:spTree>
    <p:extLst>
      <p:ext uri="{BB962C8B-B14F-4D97-AF65-F5344CB8AC3E}">
        <p14:creationId xmlns:p14="http://schemas.microsoft.com/office/powerpoint/2010/main" val="112507120"/>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pic>
        <p:nvPicPr>
          <p:cNvPr id="23" name="Picture 8"/>
          <p:cNvPicPr>
            <a:picLocks xmlns:a="http://schemas.openxmlformats.org/drawingml/2006/main" noChangeAspect="1"/>
          </p:cNvPicPr>
          <p:nvPr/>
        </p:nvPicPr>
        <p:blipFill>
          <a:blip xmlns:r="http://schemas.openxmlformats.org/officeDocument/2006/relationships" xmlns:a="http://schemas.openxmlformats.org/drawingml/2006/main" r:embed="Rb4c0c65940194368"/>
          <a:stretch xmlns:a="http://schemas.openxmlformats.org/drawingml/2006/main">
            <a:fillRect l="0" t="0" r="0" b="0"/>
          </a:stretch>
        </p:blipFill>
        <p:spPr>
          <a:xfrm xmlns:a="http://schemas.openxmlformats.org/drawingml/2006/main">
            <a:off x="3357232" y="1422400"/>
            <a:ext cx="547753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0204C897-270F-41C8-24E0-6DE79DB2C59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FCS_Data.sldd inventory • FlightControlBus and controlled illustrative parameters</a:t>
            </a:r>
          </a:p>
        </p:txBody>
      </p:sp>
    </p:spTree>
    <p:extLst>
      <p:ext uri="{BB962C8B-B14F-4D97-AF65-F5344CB8AC3E}">
        <p14:creationId xmlns:p14="http://schemas.microsoft.com/office/powerpoint/2010/main" val="786167458"/>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22</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bcfb41e86ffe43e5"/>
          <a:stretch xmlns:a="http://schemas.openxmlformats.org/drawingml/2006/main">
            <a:fillRect l="0" t="0" r="0" b="0"/>
          </a:stretch>
        </p:blipFill>
        <p:spPr>
          <a:xfrm xmlns:a="http://schemas.openxmlformats.org/drawingml/2006/main">
            <a:off x="2524263" y="1422400"/>
            <a:ext cx="714347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DC23F0A-6A28-441E-99F9-723363B0E22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Standalone executable harness • Simulink Test unavailable; assessment logic remains in MATLAB</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MATLAB tests preserve intent without .mldatx</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pic>
        <p:nvPicPr>
          <p:cNvPr id="33" name="Picture 8"/>
          <p:cNvPicPr>
            <a:picLocks xmlns:a="http://schemas.openxmlformats.org/drawingml/2006/main" noChangeAspect="1"/>
          </p:cNvPicPr>
          <p:nvPr/>
        </p:nvPicPr>
        <p:blipFill>
          <a:blip xmlns:r="http://schemas.openxmlformats.org/officeDocument/2006/relationships" xmlns:a="http://schemas.openxmlformats.org/drawingml/2006/main" r:embed="Ra9d1d849395d4858"/>
          <a:stretch xmlns:a="http://schemas.openxmlformats.org/drawingml/2006/main">
            <a:fillRect l="0" t="0" r="0" b="0"/>
          </a:stretch>
        </p:blipFill>
        <p:spPr>
          <a:xfrm xmlns:a="http://schemas.openxmlformats.org/drawingml/2006/main">
            <a:off x="3016589" y="1422400"/>
            <a:ext cx="615882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36F3A7E7-0409-4438-5076-41FC73ED2C2B}"/>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No .mldatx manufactured • executed MATLAB suite with retained CSV, MAT, HTML, and image results</a:t>
            </a:r>
          </a:p>
        </p:txBody>
      </p:sp>
    </p:spTree>
    <p:extLst>
      <p:ext uri="{BB962C8B-B14F-4D97-AF65-F5344CB8AC3E}">
        <p14:creationId xmlns:p14="http://schemas.microsoft.com/office/powerpoint/2010/main" val="1092961568"/>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7c4817a2ff474805"/>
          <a:stretch xmlns:a="http://schemas.openxmlformats.org/drawingml/2006/main">
            <a:fillRect l="0" t="0" r="0" b="0"/>
          </a:stretch>
        </p:blipFill>
        <p:spPr>
          <a:xfrm xmlns:a="http://schemas.openxmlformats.org/drawingml/2006/main">
            <a:off x="2226652" y="1422400"/>
            <a:ext cx="7738696"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41D90C93-9146-45EF-D18B-D22D888910D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external callback functions • setup, preload, post-load, simulate/assess, and cleanup</a:t>
            </a:r>
          </a:p>
        </p:txBody>
      </p:sp>
    </p:spTree>
    <p:extLst>
      <p:ext uri="{BB962C8B-B14F-4D97-AF65-F5344CB8AC3E}">
        <p14:creationId xmlns:p14="http://schemas.microsoft.com/office/powerpoint/2010/main" val="1450052894"/>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55397f3becb8417f"/>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Integration entry point • referenced sensor, limiter, controller, and actuator models • update validates interface consistency</a:t>
            </a:r>
          </a:p>
        </p:txBody>
      </p:sp>
    </p:spTree>
    <p:extLst>
      <p:ext uri="{BB962C8B-B14F-4D97-AF65-F5344CB8AC3E}">
        <p14:creationId xmlns:p14="http://schemas.microsoft.com/office/powerpoint/2010/main" val="1586749842"/>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02"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3"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04"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05"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6"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13" b="0" i="0">
                <a:solidFill>
                  <a:srgbClr val="D8E8F1"/>
                </a:solidFill>
                <a:latin typeface="Aptos"/>
                <a:ea typeface="Aptos"/>
                <a:cs typeface="Aptos"/>
              </a:defRPr>
            </a:pPr>
            <a:r>
              <a:rPr sz="1313" b="0" i="0">
                <a:solidFill>
                  <a:srgbClr val="D8E8F1"/>
                </a:solidFill>
                <a:latin typeface="Aptos"/>
                <a:ea typeface="Aptos"/>
                <a:cs typeface="Aptos"/>
              </a:rPr>
              <a:t>opens the project, updates models, runs checks and scripted tests; .mldatx suites are an optional generic capability, not supplied here</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82"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83"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84"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85"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box-457">
            <a:extLst xmlns:a="http://schemas.openxmlformats.org/drawingml/2006/main">
              <a:ext uri="{FF2B5EF4-FFF2-40B4-BE49-F238E27FC236}">
                <a16:creationId xmlns:a16="http://schemas.microsoft.com/office/drawing/2014/main" id="{8BD9C519-B638-493F-9C65-E5512B07C925}"/>
              </a:ext>
            </a:extLst>
          </p:cNvPr>
          <p:cNvSpPr>
            <a:spLocks xmlns:a="http://schemas.openxmlformats.org/drawingml/2006/main" noGrp="1"/>
          </p:cNvSpPr>
          <p:nvPr/>
        </p:nvSpPr>
        <p:spPr>
          <a:xfrm xmlns:a="http://schemas.openxmlformats.org/drawingml/2006/main">
            <a:off x="70485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xmlns:a="http://schemas.openxmlformats.org/drawingml/2006/main">
              <a:ext uri="{FF2B5EF4-FFF2-40B4-BE49-F238E27FC236}">
                <a16:creationId xmlns:a16="http://schemas.microsoft.com/office/drawing/2014/main" id="{CA78C6CA-A876-44DA-869B-3AB82DE3AB70}"/>
              </a:ext>
            </a:extLst>
          </p:cNvPr>
          <p:cNvSpPr>
            <a:spLocks xmlns:a="http://schemas.openxmlformats.org/drawingml/2006/main" noGrp="1"/>
          </p:cNvSpPr>
          <p:nvPr/>
        </p:nvSpPr>
        <p:spPr>
          <a:xfrm xmlns:a="http://schemas.openxmlformats.org/drawingml/2006/main">
            <a:off x="3714750" y="2000250"/>
            <a:ext cx="2857500" cy="1333500"/>
          </a:xfrm>
          <a:prstGeom xmlns:a="http://schemas.openxmlformats.org/drawingml/2006/main" prst="roundRect">
            <a:avLst>
              <a:gd name="adj" fmla="val 7143"/>
            </a:avLst>
          </a:prstGeom>
          <a:solidFill xmlns:a="http://schemas.openxmlformats.org/drawingml/2006/main">
            <a:srgbClr val="10372A"/>
          </a:solidFill>
          <a:ln xmlns:a="http://schemas.openxmlformats.org/drawingml/2006/main" w="2857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xmlns:a="http://schemas.openxmlformats.org/drawingml/2006/main">
              <a:ext uri="{FF2B5EF4-FFF2-40B4-BE49-F238E27FC236}">
                <a16:creationId xmlns:a16="http://schemas.microsoft.com/office/drawing/2014/main" id="{8640E0FC-7902-477B-BA1A-593D51BAFA71}"/>
              </a:ext>
            </a:extLst>
          </p:cNvPr>
          <p:cNvSpPr>
            <a:spLocks xmlns:a="http://schemas.openxmlformats.org/drawingml/2006/main" noGrp="1"/>
          </p:cNvSpPr>
          <p:nvPr/>
        </p:nvSpPr>
        <p:spPr>
          <a:xfrm xmlns:a="http://schemas.openxmlformats.org/drawingml/2006/main">
            <a:off x="723900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xmlns:a="http://schemas.openxmlformats.org/drawingml/2006/main">
              <a:ext uri="{FF2B5EF4-FFF2-40B4-BE49-F238E27FC236}">
                <a16:creationId xmlns:a16="http://schemas.microsoft.com/office/drawing/2014/main" id="{FDB2F2DF-0628-49D7-B82F-EAE2CB2B04EE}"/>
              </a:ext>
            </a:extLst>
          </p:cNvPr>
          <p:cNvSpPr>
            <a:spLocks xmlns:a="http://schemas.openxmlformats.org/drawingml/2006/main" noGrp="1"/>
          </p:cNvSpPr>
          <p:nvPr/>
        </p:nvSpPr>
        <p:spPr>
          <a:xfrm xmlns:a="http://schemas.openxmlformats.org/drawingml/2006/main">
            <a:off x="8191500" y="4095750"/>
            <a:ext cx="3238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2857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82" name="Straight Arrow Connector 25"/>
          <p:cNvCxnSpPr>
            <a:stCxn xmlns:a="http://schemas.openxmlformats.org/drawingml/2006/main" id="6" idx="3"/>
            <a:endCxn xmlns:a="http://schemas.openxmlformats.org/drawingml/2006/main" id="7" idx="1"/>
          </p:cNvCxnSpPr>
          <p:nvPr/>
        </p:nvCxnSpPr>
        <p:spPr>
          <a:xfrm xmlns:a="http://schemas.openxmlformats.org/drawingml/2006/main">
            <a:off x="2990850" y="2667000"/>
            <a:ext cx="7239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83" name="Straight Arrow Connector 26"/>
          <p:cNvCxnSpPr>
            <a:stCxn xmlns:a="http://schemas.openxmlformats.org/drawingml/2006/main" id="7" idx="3"/>
            <a:endCxn xmlns:a="http://schemas.openxmlformats.org/drawingml/2006/main" id="8" idx="1"/>
          </p:cNvCxnSpPr>
          <p:nvPr/>
        </p:nvCxnSpPr>
        <p:spPr>
          <a:xfrm xmlns:a="http://schemas.openxmlformats.org/drawingml/2006/main">
            <a:off x="6572250" y="2667000"/>
            <a:ext cx="666750" cy="0"/>
          </a:xfrm>
          <a:prstGeom xmlns:a="http://schemas.openxmlformats.org/drawingml/2006/main" prst="straightConnector1">
            <a:avLst/>
          </a:prstGeom>
          <a:ln xmlns:a="http://schemas.openxmlformats.org/drawingml/2006/main" w="38100">
            <a:solidFill>
              <a:srgbClr val="E9A23B"/>
            </a:solidFill>
            <a:prstDash val="solid"/>
            <a:headEnd type="triangle" w="sm" len="sm"/>
            <a:tailEnd type="triangle" w="sm" len="sm"/>
          </a:ln>
        </p:spPr>
      </p:cxnSp>
      <p:cxnSp>
        <p:nvCxnSpPr>
          <p:cNvPr id="84" name="Connector: Elbow 27"/>
          <p:cNvCxnSpPr>
            <a:stCxn xmlns:a="http://schemas.openxmlformats.org/drawingml/2006/main" id="8" idx="2"/>
            <a:endCxn xmlns:a="http://schemas.openxmlformats.org/drawingml/2006/main" id="9" idx="0"/>
          </p:cNvCxnSpPr>
          <p:nvPr/>
        </p:nvCxnSpPr>
        <p:spPr>
          <a:xfrm xmlns:a="http://schemas.openxmlformats.org/drawingml/2006/main">
            <a:off x="8382000" y="3143250"/>
            <a:ext cx="1428750" cy="952500"/>
          </a:xfrm>
          <a:prstGeom xmlns:a="http://schemas.openxmlformats.org/drawingml/2006/main" prst="bentConnector4">
            <a:avLst>
              <a:gd name="adj1" fmla="val 0"/>
              <a:gd name="adj2" fmla="val 50000"/>
            </a:avLst>
          </a:prstGeom>
          <a:ln xmlns:a="http://schemas.openxmlformats.org/drawingml/2006/main" w="38100">
            <a:solidFill>
              <a:srgbClr val="2D6CDF"/>
            </a:solidFill>
            <a:prstDash val="solid"/>
            <a:headEnd type="triangle" w="sm" len="sm"/>
            <a:tailEnd type="triangle" w="sm" len="sm"/>
          </a:ln>
        </p:spPr>
      </p:cxnSp>
      <p:sp>
        <p:nvSpPr>
          <p:cNvPr id="13" name="box-461">
            <a:extLst xmlns:a="http://schemas.openxmlformats.org/drawingml/2006/main">
              <a:ext uri="{FF2B5EF4-FFF2-40B4-BE49-F238E27FC236}">
                <a16:creationId xmlns:a16="http://schemas.microsoft.com/office/drawing/2014/main" id="{71EF8D96-5582-4102-BE6A-3599C810B10B}"/>
              </a:ext>
            </a:extLst>
          </p:cNvPr>
          <p:cNvSpPr>
            <a:spLocks xmlns:a="http://schemas.openxmlformats.org/drawingml/2006/main" noGrp="1"/>
          </p:cNvSpPr>
          <p:nvPr/>
        </p:nvSpPr>
        <p:spPr>
          <a:xfrm xmlns:a="http://schemas.openxmlformats.org/drawingml/2006/main">
            <a:off x="914400" y="4286250"/>
            <a:ext cx="4476750" cy="876300"/>
          </a:xfrm>
          <a:prstGeom xmlns:a="http://schemas.openxmlformats.org/drawingml/2006/main" prst="roundRect">
            <a:avLst>
              <a:gd name="adj" fmla="val 10870"/>
            </a:avLst>
          </a:prstGeom>
          <a:solidFill xmlns:a="http://schemas.openxmlformats.org/drawingml/2006/main">
            <a:srgbClr val="3A202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86" name="Straight Arrow Connector 29"/>
          <p:cNvCxnSpPr>
            <a:stCxn xmlns:a="http://schemas.openxmlformats.org/drawingml/2006/main" id="13" idx="3"/>
            <a:endCxn xmlns:a="http://schemas.openxmlformats.org/drawingml/2006/main" id="9" idx="1"/>
          </p:cNvCxnSpPr>
          <p:nvPr/>
        </p:nvCxnSpPr>
        <p:spPr>
          <a:xfrm xmlns:a="http://schemas.openxmlformats.org/drawingml/2006/main" flipV="1">
            <a:off x="5391150" y="4714875"/>
            <a:ext cx="2800350" cy="9525"/>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sp>
        <p:nvSpPr>
          <p:cNvPr id="15" name="text-462">
            <a:extLst xmlns:a="http://schemas.openxmlformats.org/drawingml/2006/main">
              <a:ext uri="{FF2B5EF4-FFF2-40B4-BE49-F238E27FC236}">
                <a16:creationId xmlns:a16="http://schemas.microsoft.com/office/drawing/2014/main" id="{FD6E7C1C-EFAC-4267-8776-D207FCD51AEA}"/>
              </a:ext>
            </a:extLst>
          </p:cNvPr>
          <p:cNvSpPr>
            <a:spLocks xmlns:a="http://schemas.openxmlformats.org/drawingml/2006/main" noGrp="1"/>
          </p:cNvSpPr>
          <p:nvPr/>
        </p:nvSpPr>
        <p:spPr>
          <a:xfrm xmlns:a="http://schemas.openxmlformats.org/drawingml/2006/main">
            <a:off x="4057650" y="36004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xmlns:a="http://schemas.openxmlformats.org/drawingml/2006/main">
              <a:ext uri="{FF2B5EF4-FFF2-40B4-BE49-F238E27FC236}">
                <a16:creationId xmlns:a16="http://schemas.microsoft.com/office/drawing/2014/main" id="{D4ED9B45-4322-4092-8DB3-ED62D639120D}"/>
              </a:ext>
            </a:extLst>
          </p:cNvPr>
          <p:cNvSpPr>
            <a:spLocks xmlns:a="http://schemas.openxmlformats.org/drawingml/2006/main" noGrp="1"/>
          </p:cNvSpPr>
          <p:nvPr/>
        </p:nvSpPr>
        <p:spPr>
          <a:xfrm xmlns:a="http://schemas.openxmlformats.org/drawingml/2006/main">
            <a:off x="8763000" y="560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6" name="text-467">
            <a:extLst xmlns:a="http://schemas.openxmlformats.org/drawingml/2006/main">
              <a:ext uri="{FF2B5EF4-FFF2-40B4-BE49-F238E27FC236}">
                <a16:creationId xmlns:a16="http://schemas.microsoft.com/office/drawing/2014/main" id="{BC53B95F-86CB-4AFD-B71B-615DE91CDA0E}"/>
              </a:ext>
            </a:extLst>
          </p:cNvPr>
          <p:cNvSpPr>
            <a:spLocks xmlns:a="http://schemas.openxmlformats.org/drawingml/2006/main" noGrp="1"/>
          </p:cNvSpPr>
          <p:nvPr/>
        </p:nvSpPr>
        <p:spPr>
          <a:xfrm xmlns:a="http://schemas.openxmlformats.org/drawingml/2006/main">
            <a:off x="723900" y="150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xmlns:a="http://schemas.openxmlformats.org/drawingml/2006/main">
              <a:ext uri="{FF2B5EF4-FFF2-40B4-BE49-F238E27FC236}">
                <a16:creationId xmlns:a16="http://schemas.microsoft.com/office/drawing/2014/main" id="{EB2DAFA4-916A-4908-B2E3-7F100846F7AB}"/>
              </a:ext>
            </a:extLst>
          </p:cNvPr>
          <p:cNvSpPr>
            <a:spLocks xmlns:a="http://schemas.openxmlformats.org/drawingml/2006/main" noGrp="1"/>
          </p:cNvSpPr>
          <p:nvPr/>
        </p:nvSpPr>
        <p:spPr>
          <a:xfrm xmlns:a="http://schemas.openxmlformats.org/drawingml/2006/main">
            <a:off x="3219450" y="1504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xmlns:a="http://schemas.openxmlformats.org/drawingml/2006/main">
              <a:ext uri="{FF2B5EF4-FFF2-40B4-BE49-F238E27FC236}">
                <a16:creationId xmlns:a16="http://schemas.microsoft.com/office/drawing/2014/main" id="{AA779E72-BDCA-4E7F-B014-37586140A133}"/>
              </a:ext>
            </a:extLst>
          </p:cNvPr>
          <p:cNvSpPr>
            <a:spLocks xmlns:a="http://schemas.openxmlformats.org/drawingml/2006/main" noGrp="1"/>
          </p:cNvSpPr>
          <p:nvPr/>
        </p:nvSpPr>
        <p:spPr>
          <a:xfrm xmlns:a="http://schemas.openxmlformats.org/drawingml/2006/main">
            <a:off x="8286750" y="1504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xmlns:a="http://schemas.openxmlformats.org/drawingml/2006/main">
              <a:ext uri="{FF2B5EF4-FFF2-40B4-BE49-F238E27FC236}">
                <a16:creationId xmlns:a16="http://schemas.microsoft.com/office/drawing/2014/main" id="{8F2C98BD-E643-4273-B940-0D797173168D}"/>
              </a:ext>
            </a:extLst>
          </p:cNvPr>
          <p:cNvSpPr>
            <a:spLocks xmlns:a="http://schemas.openxmlformats.org/drawingml/2006/main" noGrp="1"/>
          </p:cNvSpPr>
          <p:nvPr/>
        </p:nvSpPr>
        <p:spPr>
          <a:xfrm xmlns:a="http://schemas.openxmlformats.org/drawingml/2006/main">
            <a:off x="723900" y="1866900"/>
            <a:ext cx="20002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xmlns:a="http://schemas.openxmlformats.org/drawingml/2006/main">
              <a:ext uri="{FF2B5EF4-FFF2-40B4-BE49-F238E27FC236}">
                <a16:creationId xmlns:a16="http://schemas.microsoft.com/office/drawing/2014/main" id="{CB2E1526-0F3F-473B-B577-7B622BE5865F}"/>
              </a:ext>
            </a:extLst>
          </p:cNvPr>
          <p:cNvSpPr>
            <a:spLocks xmlns:a="http://schemas.openxmlformats.org/drawingml/2006/main" noGrp="1"/>
          </p:cNvSpPr>
          <p:nvPr/>
        </p:nvSpPr>
        <p:spPr>
          <a:xfrm xmlns:a="http://schemas.openxmlformats.org/drawingml/2006/main">
            <a:off x="3219450" y="18669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xmlns:a="http://schemas.openxmlformats.org/drawingml/2006/main">
              <a:ext uri="{FF2B5EF4-FFF2-40B4-BE49-F238E27FC236}">
                <a16:creationId xmlns:a16="http://schemas.microsoft.com/office/drawing/2014/main" id="{C65DCF3A-74F3-4848-8954-472D4E017852}"/>
              </a:ext>
            </a:extLst>
          </p:cNvPr>
          <p:cNvSpPr>
            <a:spLocks xmlns:a="http://schemas.openxmlformats.org/drawingml/2006/main" noGrp="1"/>
          </p:cNvSpPr>
          <p:nvPr/>
        </p:nvSpPr>
        <p:spPr>
          <a:xfrm xmlns:a="http://schemas.openxmlformats.org/drawingml/2006/main">
            <a:off x="8286750" y="18669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xmlns:a="http://schemas.openxmlformats.org/drawingml/2006/main">
              <a:ext uri="{FF2B5EF4-FFF2-40B4-BE49-F238E27FC236}">
                <a16:creationId xmlns:a16="http://schemas.microsoft.com/office/drawing/2014/main" id="{B2F94644-333C-4A64-91D4-8FE7863229CD}"/>
              </a:ext>
            </a:extLst>
          </p:cNvPr>
          <p:cNvSpPr>
            <a:spLocks xmlns:a="http://schemas.openxmlformats.org/drawingml/2006/main" noGrp="1"/>
          </p:cNvSpPr>
          <p:nvPr/>
        </p:nvSpPr>
        <p:spPr>
          <a:xfrm xmlns:a="http://schemas.openxmlformats.org/drawingml/2006/main">
            <a:off x="685800" y="24955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474">
            <a:extLst xmlns:a="http://schemas.openxmlformats.org/drawingml/2006/main">
              <a:ext uri="{FF2B5EF4-FFF2-40B4-BE49-F238E27FC236}">
                <a16:creationId xmlns:a16="http://schemas.microsoft.com/office/drawing/2014/main" id="{64110308-9F07-4F47-98D6-17259561455D}"/>
              </a:ext>
            </a:extLst>
          </p:cNvPr>
          <p:cNvSpPr>
            <a:spLocks xmlns:a="http://schemas.openxmlformats.org/drawingml/2006/main" noGrp="1"/>
          </p:cNvSpPr>
          <p:nvPr/>
        </p:nvSpPr>
        <p:spPr>
          <a:xfrm xmlns:a="http://schemas.openxmlformats.org/drawingml/2006/main">
            <a:off x="723900" y="2619375"/>
            <a:ext cx="20002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xmlns:a="http://schemas.openxmlformats.org/drawingml/2006/main">
              <a:ext uri="{FF2B5EF4-FFF2-40B4-BE49-F238E27FC236}">
                <a16:creationId xmlns:a16="http://schemas.microsoft.com/office/drawing/2014/main" id="{E9CE37B0-3BF6-405D-9EE8-D0E240577C5F}"/>
              </a:ext>
            </a:extLst>
          </p:cNvPr>
          <p:cNvSpPr>
            <a:spLocks xmlns:a="http://schemas.openxmlformats.org/drawingml/2006/main" noGrp="1"/>
          </p:cNvSpPr>
          <p:nvPr/>
        </p:nvSpPr>
        <p:spPr>
          <a:xfrm xmlns:a="http://schemas.openxmlformats.org/drawingml/2006/main">
            <a:off x="3219450" y="261937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xmlns:a="http://schemas.openxmlformats.org/drawingml/2006/main">
              <a:ext uri="{FF2B5EF4-FFF2-40B4-BE49-F238E27FC236}">
                <a16:creationId xmlns:a16="http://schemas.microsoft.com/office/drawing/2014/main" id="{B8EE19D5-1700-4551-87FB-AFECE8328530}"/>
              </a:ext>
            </a:extLst>
          </p:cNvPr>
          <p:cNvSpPr>
            <a:spLocks xmlns:a="http://schemas.openxmlformats.org/drawingml/2006/main" noGrp="1"/>
          </p:cNvSpPr>
          <p:nvPr/>
        </p:nvSpPr>
        <p:spPr>
          <a:xfrm xmlns:a="http://schemas.openxmlformats.org/drawingml/2006/main">
            <a:off x="8286750" y="261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xmlns:a="http://schemas.openxmlformats.org/drawingml/2006/main">
              <a:ext uri="{FF2B5EF4-FFF2-40B4-BE49-F238E27FC236}">
                <a16:creationId xmlns:a16="http://schemas.microsoft.com/office/drawing/2014/main" id="{97F20A89-46B2-49DF-BEED-9F8DF34F2F49}"/>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478">
            <a:extLst xmlns:a="http://schemas.openxmlformats.org/drawingml/2006/main">
              <a:ext uri="{FF2B5EF4-FFF2-40B4-BE49-F238E27FC236}">
                <a16:creationId xmlns:a16="http://schemas.microsoft.com/office/drawing/2014/main" id="{E264380A-C7BF-4DFA-8187-3BB4F061698E}"/>
              </a:ext>
            </a:extLst>
          </p:cNvPr>
          <p:cNvSpPr>
            <a:spLocks xmlns:a="http://schemas.openxmlformats.org/drawingml/2006/main" noGrp="1"/>
          </p:cNvSpPr>
          <p:nvPr/>
        </p:nvSpPr>
        <p:spPr>
          <a:xfrm xmlns:a="http://schemas.openxmlformats.org/drawingml/2006/main">
            <a:off x="723900" y="3371850"/>
            <a:ext cx="20002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xmlns:a="http://schemas.openxmlformats.org/drawingml/2006/main">
              <a:ext uri="{FF2B5EF4-FFF2-40B4-BE49-F238E27FC236}">
                <a16:creationId xmlns:a16="http://schemas.microsoft.com/office/drawing/2014/main" id="{ABEDB4E9-A7EA-4A03-A4B6-C288AB267BB7}"/>
              </a:ext>
            </a:extLst>
          </p:cNvPr>
          <p:cNvSpPr>
            <a:spLocks xmlns:a="http://schemas.openxmlformats.org/drawingml/2006/main" noGrp="1"/>
          </p:cNvSpPr>
          <p:nvPr/>
        </p:nvSpPr>
        <p:spPr>
          <a:xfrm xmlns:a="http://schemas.openxmlformats.org/drawingml/2006/main">
            <a:off x="3219450" y="3371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xmlns:a="http://schemas.openxmlformats.org/drawingml/2006/main">
              <a:ext uri="{FF2B5EF4-FFF2-40B4-BE49-F238E27FC236}">
                <a16:creationId xmlns:a16="http://schemas.microsoft.com/office/drawing/2014/main" id="{B45D2D83-3D27-47DE-8247-18C60FC452E0}"/>
              </a:ext>
            </a:extLst>
          </p:cNvPr>
          <p:cNvSpPr>
            <a:spLocks xmlns:a="http://schemas.openxmlformats.org/drawingml/2006/main" noGrp="1"/>
          </p:cNvSpPr>
          <p:nvPr/>
        </p:nvSpPr>
        <p:spPr>
          <a:xfrm xmlns:a="http://schemas.openxmlformats.org/drawingml/2006/main">
            <a:off x="8286750" y="33718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xmlns:a="http://schemas.openxmlformats.org/drawingml/2006/main">
              <a:ext uri="{FF2B5EF4-FFF2-40B4-BE49-F238E27FC236}">
                <a16:creationId xmlns:a16="http://schemas.microsoft.com/office/drawing/2014/main" id="{2C671D9C-634C-4F2F-A09D-7567BDFE2496}"/>
              </a:ext>
            </a:extLst>
          </p:cNvPr>
          <p:cNvSpPr>
            <a:spLocks xmlns:a="http://schemas.openxmlformats.org/drawingml/2006/main" noGrp="1"/>
          </p:cNvSpPr>
          <p:nvPr/>
        </p:nvSpPr>
        <p:spPr>
          <a:xfrm xmlns:a="http://schemas.openxmlformats.org/drawingml/2006/main">
            <a:off x="685800" y="40005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482">
            <a:extLst xmlns:a="http://schemas.openxmlformats.org/drawingml/2006/main">
              <a:ext uri="{FF2B5EF4-FFF2-40B4-BE49-F238E27FC236}">
                <a16:creationId xmlns:a16="http://schemas.microsoft.com/office/drawing/2014/main" id="{BE812D2F-F72B-413B-979A-7EFC78CC5357}"/>
              </a:ext>
            </a:extLst>
          </p:cNvPr>
          <p:cNvSpPr>
            <a:spLocks xmlns:a="http://schemas.openxmlformats.org/drawingml/2006/main" noGrp="1"/>
          </p:cNvSpPr>
          <p:nvPr/>
        </p:nvSpPr>
        <p:spPr>
          <a:xfrm xmlns:a="http://schemas.openxmlformats.org/drawingml/2006/main">
            <a:off x="723900" y="4124325"/>
            <a:ext cx="20002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xmlns:a="http://schemas.openxmlformats.org/drawingml/2006/main">
              <a:ext uri="{FF2B5EF4-FFF2-40B4-BE49-F238E27FC236}">
                <a16:creationId xmlns:a16="http://schemas.microsoft.com/office/drawing/2014/main" id="{40692C5C-18FE-47B3-8517-F267EF1A8E1E}"/>
              </a:ext>
            </a:extLst>
          </p:cNvPr>
          <p:cNvSpPr>
            <a:spLocks xmlns:a="http://schemas.openxmlformats.org/drawingml/2006/main" noGrp="1"/>
          </p:cNvSpPr>
          <p:nvPr/>
        </p:nvSpPr>
        <p:spPr>
          <a:xfrm xmlns:a="http://schemas.openxmlformats.org/drawingml/2006/main">
            <a:off x="3219450" y="4124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xmlns:a="http://schemas.openxmlformats.org/drawingml/2006/main">
              <a:ext uri="{FF2B5EF4-FFF2-40B4-BE49-F238E27FC236}">
                <a16:creationId xmlns:a16="http://schemas.microsoft.com/office/drawing/2014/main" id="{9524EFB1-9719-40BF-8354-F5C2D1B23685}"/>
              </a:ext>
            </a:extLst>
          </p:cNvPr>
          <p:cNvSpPr>
            <a:spLocks xmlns:a="http://schemas.openxmlformats.org/drawingml/2006/main" noGrp="1"/>
          </p:cNvSpPr>
          <p:nvPr/>
        </p:nvSpPr>
        <p:spPr>
          <a:xfrm xmlns:a="http://schemas.openxmlformats.org/drawingml/2006/main">
            <a:off x="8286750" y="41243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xmlns:a="http://schemas.openxmlformats.org/drawingml/2006/main">
              <a:ext uri="{FF2B5EF4-FFF2-40B4-BE49-F238E27FC236}">
                <a16:creationId xmlns:a16="http://schemas.microsoft.com/office/drawing/2014/main" id="{7745F776-E2C8-47F1-BD7C-C493FD2E4B1D}"/>
              </a:ext>
            </a:extLst>
          </p:cNvPr>
          <p:cNvSpPr>
            <a:spLocks xmlns:a="http://schemas.openxmlformats.org/drawingml/2006/main" noGrp="1"/>
          </p:cNvSpPr>
          <p:nvPr/>
        </p:nvSpPr>
        <p:spPr>
          <a:xfrm xmlns:a="http://schemas.openxmlformats.org/drawingml/2006/main">
            <a:off x="685800" y="47529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486">
            <a:extLst xmlns:a="http://schemas.openxmlformats.org/drawingml/2006/main">
              <a:ext uri="{FF2B5EF4-FFF2-40B4-BE49-F238E27FC236}">
                <a16:creationId xmlns:a16="http://schemas.microsoft.com/office/drawing/2014/main" id="{E78A072B-4A7D-42B1-B32C-B36464E51C30}"/>
              </a:ext>
            </a:extLst>
          </p:cNvPr>
          <p:cNvSpPr>
            <a:spLocks xmlns:a="http://schemas.openxmlformats.org/drawingml/2006/main" noGrp="1"/>
          </p:cNvSpPr>
          <p:nvPr/>
        </p:nvSpPr>
        <p:spPr>
          <a:xfrm xmlns:a="http://schemas.openxmlformats.org/drawingml/2006/main">
            <a:off x="723900" y="4876800"/>
            <a:ext cx="20002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xmlns:a="http://schemas.openxmlformats.org/drawingml/2006/main">
              <a:ext uri="{FF2B5EF4-FFF2-40B4-BE49-F238E27FC236}">
                <a16:creationId xmlns:a16="http://schemas.microsoft.com/office/drawing/2014/main" id="{17972074-D854-47AE-8708-C814EFC8E736}"/>
              </a:ext>
            </a:extLst>
          </p:cNvPr>
          <p:cNvSpPr>
            <a:spLocks xmlns:a="http://schemas.openxmlformats.org/drawingml/2006/main" noGrp="1"/>
          </p:cNvSpPr>
          <p:nvPr/>
        </p:nvSpPr>
        <p:spPr>
          <a:xfrm xmlns:a="http://schemas.openxmlformats.org/drawingml/2006/main">
            <a:off x="3219450" y="48768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xmlns:a="http://schemas.openxmlformats.org/drawingml/2006/main">
              <a:ext uri="{FF2B5EF4-FFF2-40B4-BE49-F238E27FC236}">
                <a16:creationId xmlns:a16="http://schemas.microsoft.com/office/drawing/2014/main" id="{858AA293-E557-4EAF-9FA1-697B7AAA2CF1}"/>
              </a:ext>
            </a:extLst>
          </p:cNvPr>
          <p:cNvSpPr>
            <a:spLocks xmlns:a="http://schemas.openxmlformats.org/drawingml/2006/main" noGrp="1"/>
          </p:cNvSpPr>
          <p:nvPr/>
        </p:nvSpPr>
        <p:spPr>
          <a:xfrm xmlns:a="http://schemas.openxmlformats.org/drawingml/2006/main">
            <a:off x="8286750" y="48768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xmlns:a="http://schemas.openxmlformats.org/drawingml/2006/main">
              <a:ext uri="{FF2B5EF4-FFF2-40B4-BE49-F238E27FC236}">
                <a16:creationId xmlns:a16="http://schemas.microsoft.com/office/drawing/2014/main" id="{F3FB9C40-6AE8-4717-A86E-A1689122E485}"/>
              </a:ext>
            </a:extLst>
          </p:cNvPr>
          <p:cNvSpPr>
            <a:spLocks xmlns:a="http://schemas.openxmlformats.org/drawingml/2006/main" noGrp="1"/>
          </p:cNvSpPr>
          <p:nvPr/>
        </p:nvSpPr>
        <p:spPr>
          <a:xfrm xmlns:a="http://schemas.openxmlformats.org/drawingml/2006/main">
            <a:off x="685800" y="55054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box-490">
            <a:extLst xmlns:a="http://schemas.openxmlformats.org/drawingml/2006/main">
              <a:ext uri="{FF2B5EF4-FFF2-40B4-BE49-F238E27FC236}">
                <a16:creationId xmlns:a16="http://schemas.microsoft.com/office/drawing/2014/main" id="{D8530848-4E3B-4AA5-B6B0-2A9032732551}"/>
              </a:ext>
            </a:extLst>
          </p:cNvPr>
          <p:cNvSpPr>
            <a:spLocks xmlns:a="http://schemas.openxmlformats.org/drawingml/2006/main" noGrp="1"/>
          </p:cNvSpPr>
          <p:nvPr/>
        </p:nvSpPr>
        <p:spPr>
          <a:xfrm xmlns:a="http://schemas.openxmlformats.org/drawingml/2006/main">
            <a:off x="1333500" y="5753100"/>
            <a:ext cx="9525000" cy="476250"/>
          </a:xfrm>
          <a:prstGeom xmlns:a="http://schemas.openxmlformats.org/drawingml/2006/main" prst="roundRect">
            <a:avLst>
              <a:gd name="adj" fmla="val 16000"/>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sld>
</file>

<file path=ppt/slides/slide3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pic>
        <p:nvPicPr>
          <p:cNvPr id="30" name="Picture 8"/>
          <p:cNvPicPr>
            <a:picLocks xmlns:a="http://schemas.openxmlformats.org/drawingml/2006/main" noChangeAspect="1"/>
          </p:cNvPicPr>
          <p:nvPr/>
        </p:nvPicPr>
        <p:blipFill>
          <a:blip xmlns:r="http://schemas.openxmlformats.org/officeDocument/2006/relationships" xmlns:a="http://schemas.openxmlformats.org/drawingml/2006/main" r:embed="R8ae35e5dea404338"/>
          <a:stretch xmlns:a="http://schemas.openxmlformats.org/drawingml/2006/main">
            <a:fillRect l="0" t="0" r="0" b="0"/>
          </a:stretch>
        </p:blipFill>
        <p:spPr>
          <a:xfrm xmlns:a="http://schemas.openxmlformats.org/drawingml/2006/main">
            <a:off x="2372766" y="1422400"/>
            <a:ext cx="7446468"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85BD6EC-B8DC-DF0F-AD45-4808A48CC38C}"/>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Verified desktop training chain • no Jenkins or HIL execution claimed</a:t>
            </a:r>
          </a:p>
        </p:txBody>
      </p:sp>
    </p:spTree>
    <p:extLst>
      <p:ext uri="{BB962C8B-B14F-4D97-AF65-F5344CB8AC3E}">
        <p14:creationId xmlns:p14="http://schemas.microsoft.com/office/powerpoint/2010/main" val="807636582"/>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00" b="1" i="0">
                <a:solidFill>
                  <a:srgbClr val="FFFFFF"/>
                </a:solidFill>
                <a:latin typeface="Aptos"/>
                <a:ea typeface="Aptos"/>
                <a:cs typeface="Aptos"/>
              </a:defRPr>
            </a:pPr>
            <a:r>
              <a:rPr sz="33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01  initialize paths + open the simulation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02  update (Ctrl+D), then run (Ctrl+T)</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03  toggle units, types, dimensions + logging</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04  inspect samples + compare runs in SDI</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05  trace PSYS-001 to one executed result</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06  modify one component;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repeatable chain makes review possible: requirement → model → test → result → controlled baseline.</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1">
                <a:solidFill>
                  <a:srgbClr val="70DCE5"/>
                </a:solidFill>
                <a:latin typeface="Aptos"/>
                <a:ea typeface="Aptos"/>
                <a:cs typeface="Aptos"/>
              </a:defRPr>
            </a:pPr>
            <a:r>
              <a:rPr sz="1050" b="1">
                <a:solidFill>
                  <a:srgbClr val="70DCE5"/>
                </a:solidFill>
                <a:latin typeface="Aptos"/>
                <a:ea typeface="Aptos"/>
                <a:cs typeface="Aptos"/>
              </a:rPr>
              <a:t>33</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2026-08-26T23:03:27.5100000Z</dcterms:created>
  <dcterms:modified xsi:type="dcterms:W3CDTF">2026-08-26T23:03:27.5100000Z</dcterms:modified>
</coreProperties>
</file>