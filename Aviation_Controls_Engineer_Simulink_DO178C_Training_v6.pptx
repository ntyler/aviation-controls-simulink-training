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a4b82e3e39491a" /><Relationship Type="http://schemas.openxmlformats.org/officeDocument/2006/relationships/extended-properties" Target="/docProps/app.xml" Id="R53d8881fa63d4e45" /><Relationship Type="http://schemas.openxmlformats.org/officeDocument/2006/relationships/officeDocument" Target="/ppt/presentation.xml" Id="Ra0ada89347094de7" /></Relationships>
</file>

<file path=ppt/presentation.xml><?xml version="1.0" encoding="utf-8"?>
<p:presentation xmlns:p="http://schemas.openxmlformats.org/presentationml/2006/main">
  <p:sldMasterIdLst>
    <p:sldMasterId xmlns:r="http://schemas.openxmlformats.org/officeDocument/2006/relationships" id="2147483648" r:id="R0e29846caab74bb3"/>
  </p:sldMasterIdLst>
  <p:notesMasterIdLst>
    <p:notesMasterId xmlns:r="http://schemas.openxmlformats.org/officeDocument/2006/relationships" r:id="R833efd76cc064881"/>
  </p:notesMasterIdLst>
  <p:sldIdLst>
    <p:sldId xmlns:r="http://schemas.openxmlformats.org/officeDocument/2006/relationships" id="256" r:id="R9fc4eedb637d48b4"/>
    <p:sldId xmlns:r="http://schemas.openxmlformats.org/officeDocument/2006/relationships" id="257" r:id="Red73a2dfc6204636"/>
    <p:sldId xmlns:r="http://schemas.openxmlformats.org/officeDocument/2006/relationships" id="258" r:id="R1df629ee05aa467e"/>
    <p:sldId xmlns:r="http://schemas.openxmlformats.org/officeDocument/2006/relationships" id="259" r:id="R4bfd85fed35b464c"/>
    <p:sldId xmlns:r="http://schemas.openxmlformats.org/officeDocument/2006/relationships" id="260" r:id="Rb736f8569aed42c0"/>
    <p:sldId xmlns:r="http://schemas.openxmlformats.org/officeDocument/2006/relationships" id="261" r:id="Rd08e8a7d33d34a62"/>
    <p:sldId xmlns:r="http://schemas.openxmlformats.org/officeDocument/2006/relationships" id="262" r:id="R64e6e5e4170941a9"/>
    <p:sldId xmlns:r="http://schemas.openxmlformats.org/officeDocument/2006/relationships" id="263" r:id="Rc10a1247418d48b7"/>
    <p:sldId xmlns:r="http://schemas.openxmlformats.org/officeDocument/2006/relationships" id="264" r:id="R08505ade299a4c7a"/>
    <p:sldId xmlns:r="http://schemas.openxmlformats.org/officeDocument/2006/relationships" id="265" r:id="R1295812bafad4e2f"/>
    <p:sldId xmlns:r="http://schemas.openxmlformats.org/officeDocument/2006/relationships" id="266" r:id="Rb3bd6942a56842d3"/>
    <p:sldId xmlns:r="http://schemas.openxmlformats.org/officeDocument/2006/relationships" id="267" r:id="R174f1d6982fc4f8e"/>
    <p:sldId xmlns:r="http://schemas.openxmlformats.org/officeDocument/2006/relationships" id="268" r:id="R8e136ba6fa5b4121"/>
    <p:sldId xmlns:r="http://schemas.openxmlformats.org/officeDocument/2006/relationships" id="269" r:id="Rfebbf7164e4a4f21"/>
    <p:sldId xmlns:r="http://schemas.openxmlformats.org/officeDocument/2006/relationships" id="270" r:id="Rd7cd54b257744c2a"/>
    <p:sldId xmlns:r="http://schemas.openxmlformats.org/officeDocument/2006/relationships" id="271" r:id="Rc191073b52b6412d"/>
    <p:sldId xmlns:r="http://schemas.openxmlformats.org/officeDocument/2006/relationships" id="272" r:id="Rc24190e403794d1f"/>
    <p:sldId xmlns:r="http://schemas.openxmlformats.org/officeDocument/2006/relationships" id="273" r:id="Re887b3c9dfc54cd9"/>
    <p:sldId xmlns:r="http://schemas.openxmlformats.org/officeDocument/2006/relationships" id="274" r:id="R86a07450a8af44ed"/>
    <p:sldId xmlns:r="http://schemas.openxmlformats.org/officeDocument/2006/relationships" id="275" r:id="R248a362fae364368"/>
    <p:sldId xmlns:r="http://schemas.openxmlformats.org/officeDocument/2006/relationships" id="276" r:id="Ra7ee65e6f8b3419e"/>
    <p:sldId xmlns:r="http://schemas.openxmlformats.org/officeDocument/2006/relationships" id="277" r:id="R3e344811f97746ce"/>
    <p:sldId xmlns:r="http://schemas.openxmlformats.org/officeDocument/2006/relationships" id="278" r:id="R9caa15323a7145d2"/>
    <p:sldId xmlns:r="http://schemas.openxmlformats.org/officeDocument/2006/relationships" id="279" r:id="R9d8acaeaacf244d2"/>
    <p:sldId xmlns:r="http://schemas.openxmlformats.org/officeDocument/2006/relationships" id="280" r:id="R1f23dc0f39064202"/>
    <p:sldId xmlns:r="http://schemas.openxmlformats.org/officeDocument/2006/relationships" id="281" r:id="R470a659d14da430d"/>
    <p:sldId xmlns:r="http://schemas.openxmlformats.org/officeDocument/2006/relationships" id="282" r:id="Rdd38bc27751c4919"/>
    <p:sldId xmlns:r="http://schemas.openxmlformats.org/officeDocument/2006/relationships" id="283" r:id="Ra5e773692449457a"/>
    <p:sldId xmlns:r="http://schemas.openxmlformats.org/officeDocument/2006/relationships" id="284" r:id="Rff09bbb6769f46e3"/>
    <p:sldId xmlns:r="http://schemas.openxmlformats.org/officeDocument/2006/relationships" id="285" r:id="R982af3dc57d34126"/>
    <p:sldId xmlns:r="http://schemas.openxmlformats.org/officeDocument/2006/relationships" id="286" r:id="Rc9ed0d17d3ff4012"/>
    <p:sldId xmlns:r="http://schemas.openxmlformats.org/officeDocument/2006/relationships" id="287" r:id="R40ca628fae844f88"/>
    <p:sldId xmlns:r="http://schemas.openxmlformats.org/officeDocument/2006/relationships" id="288" r:id="Rca75eab82d774b18"/>
    <p:sldId xmlns:r="http://schemas.openxmlformats.org/officeDocument/2006/relationships" id="289" r:id="R886b836464a34a44"/>
    <p:sldId xmlns:r="http://schemas.openxmlformats.org/officeDocument/2006/relationships" id="290" r:id="R3f6844b53de8472b"/>
    <p:sldId xmlns:r="http://schemas.openxmlformats.org/officeDocument/2006/relationships" id="291" r:id="R22d23b36b5544517"/>
    <p:sldId xmlns:r="http://schemas.openxmlformats.org/officeDocument/2006/relationships" id="292" r:id="Rc9cc5916aa8d4575"/>
    <p:sldId xmlns:r="http://schemas.openxmlformats.org/officeDocument/2006/relationships" id="293" r:id="R59b928ce9f4346cc"/>
    <p:sldId xmlns:r="http://schemas.openxmlformats.org/officeDocument/2006/relationships" id="294" r:id="Rdc7f342817dd4bc8"/>
    <p:sldId xmlns:r="http://schemas.openxmlformats.org/officeDocument/2006/relationships" id="295" r:id="R79c567d2d2ec44d7"/>
    <p:sldId xmlns:r="http://schemas.openxmlformats.org/officeDocument/2006/relationships" id="296" r:id="R02904e1fe5be4ba6"/>
    <p:sldId xmlns:r="http://schemas.openxmlformats.org/officeDocument/2006/relationships" id="297" r:id="R1a2dabc0a3df4e79"/>
    <p:sldId xmlns:r="http://schemas.openxmlformats.org/officeDocument/2006/relationships" id="298" r:id="R3b0652f708d84d3f"/>
    <p:sldId xmlns:r="http://schemas.openxmlformats.org/officeDocument/2006/relationships" id="299" r:id="R51dd642932f64c76"/>
    <p:sldId xmlns:r="http://schemas.openxmlformats.org/officeDocument/2006/relationships" id="300" r:id="R6a66a8abc4794cba"/>
    <p:sldId xmlns:r="http://schemas.openxmlformats.org/officeDocument/2006/relationships" id="301" r:id="Ra972f94d8f934775"/>
    <p:sldId xmlns:r="http://schemas.openxmlformats.org/officeDocument/2006/relationships" id="302" r:id="Rd29e250d81b849c2"/>
    <p:sldId xmlns:r="http://schemas.openxmlformats.org/officeDocument/2006/relationships" id="303" r:id="R40d595c3227d4a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0e06845209e4c7c" /><Relationship Type="http://schemas.openxmlformats.org/officeDocument/2006/relationships/slideMaster" Target="/ppt/slideMasters/slideMaster1.xml" Id="R0e29846caab74bb3" /><Relationship Type="http://schemas.openxmlformats.org/officeDocument/2006/relationships/notesMaster" Target="/ppt/notesMasters/notesMaster1.xml" Id="R833efd76cc064881" /><Relationship Type="http://schemas.openxmlformats.org/officeDocument/2006/relationships/presProps" Target="/ppt/presProps.xml" Id="R02043cbf45344ad0" /><Relationship Type="http://schemas.openxmlformats.org/officeDocument/2006/relationships/viewProps" Target="/ppt/viewProps.xml" Id="R9193b999b2e8416e" /><Relationship Type="http://schemas.openxmlformats.org/officeDocument/2006/relationships/tableStyles" Target="/ppt/tableStyles.xml" Id="R9918d928382a4fcf" /><Relationship Type="http://schemas.openxmlformats.org/officeDocument/2006/relationships/slide" Target="/ppt/slides/slide1.xml" Id="R9fc4eedb637d48b4" /><Relationship Type="http://schemas.openxmlformats.org/officeDocument/2006/relationships/slide" Target="/ppt/slides/slide2.xml" Id="Red73a2dfc6204636" /><Relationship Type="http://schemas.openxmlformats.org/officeDocument/2006/relationships/slide" Target="/ppt/slides/slide3.xml" Id="R1df629ee05aa467e" /><Relationship Type="http://schemas.openxmlformats.org/officeDocument/2006/relationships/slide" Target="/ppt/slides/slide4.xml" Id="R4bfd85fed35b464c" /><Relationship Type="http://schemas.openxmlformats.org/officeDocument/2006/relationships/slide" Target="/ppt/slides/slide5.xml" Id="Rb736f8569aed42c0" /><Relationship Type="http://schemas.openxmlformats.org/officeDocument/2006/relationships/slide" Target="/ppt/slides/slide6.xml" Id="Rd08e8a7d33d34a62" /><Relationship Type="http://schemas.openxmlformats.org/officeDocument/2006/relationships/slide" Target="/ppt/slides/slide7.xml" Id="R64e6e5e4170941a9" /><Relationship Type="http://schemas.openxmlformats.org/officeDocument/2006/relationships/slide" Target="/ppt/slides/slide8.xml" Id="Rc10a1247418d48b7" /><Relationship Type="http://schemas.openxmlformats.org/officeDocument/2006/relationships/slide" Target="/ppt/slides/slide9.xml" Id="R08505ade299a4c7a" /><Relationship Type="http://schemas.openxmlformats.org/officeDocument/2006/relationships/slide" Target="/ppt/slides/slide10.xml" Id="R1295812bafad4e2f" /><Relationship Type="http://schemas.openxmlformats.org/officeDocument/2006/relationships/slide" Target="/ppt/slides/slide11.xml" Id="Rb3bd6942a56842d3" /><Relationship Type="http://schemas.openxmlformats.org/officeDocument/2006/relationships/slide" Target="/ppt/slides/slide12.xml" Id="R174f1d6982fc4f8e" /><Relationship Type="http://schemas.openxmlformats.org/officeDocument/2006/relationships/slide" Target="/ppt/slides/slide13.xml" Id="R8e136ba6fa5b4121" /><Relationship Type="http://schemas.openxmlformats.org/officeDocument/2006/relationships/slide" Target="/ppt/slides/slide14.xml" Id="Rfebbf7164e4a4f21" /><Relationship Type="http://schemas.openxmlformats.org/officeDocument/2006/relationships/slide" Target="/ppt/slides/slide15.xml" Id="Rd7cd54b257744c2a" /><Relationship Type="http://schemas.openxmlformats.org/officeDocument/2006/relationships/slide" Target="/ppt/slides/slide16.xml" Id="Rc191073b52b6412d" /><Relationship Type="http://schemas.openxmlformats.org/officeDocument/2006/relationships/slide" Target="/ppt/slides/slide17.xml" Id="Rc24190e403794d1f" /><Relationship Type="http://schemas.openxmlformats.org/officeDocument/2006/relationships/slide" Target="/ppt/slides/slide18.xml" Id="Re887b3c9dfc54cd9" /><Relationship Type="http://schemas.openxmlformats.org/officeDocument/2006/relationships/slide" Target="/ppt/slides/slide19.xml" Id="R86a07450a8af44ed" /><Relationship Type="http://schemas.openxmlformats.org/officeDocument/2006/relationships/slide" Target="/ppt/slides/slide20.xml" Id="R248a362fae364368" /><Relationship Type="http://schemas.openxmlformats.org/officeDocument/2006/relationships/slide" Target="/ppt/slides/slide21.xml" Id="Ra7ee65e6f8b3419e" /><Relationship Type="http://schemas.openxmlformats.org/officeDocument/2006/relationships/slide" Target="/ppt/slides/slide22.xml" Id="R3e344811f97746ce" /><Relationship Type="http://schemas.openxmlformats.org/officeDocument/2006/relationships/slide" Target="/ppt/slides/slide23.xml" Id="R9caa15323a7145d2" /><Relationship Type="http://schemas.openxmlformats.org/officeDocument/2006/relationships/slide" Target="/ppt/slides/slide24.xml" Id="R9d8acaeaacf244d2" /><Relationship Type="http://schemas.openxmlformats.org/officeDocument/2006/relationships/slide" Target="/ppt/slides/slide25.xml" Id="R1f23dc0f39064202" /><Relationship Type="http://schemas.openxmlformats.org/officeDocument/2006/relationships/slide" Target="/ppt/slides/slide26.xml" Id="R470a659d14da430d" /><Relationship Type="http://schemas.openxmlformats.org/officeDocument/2006/relationships/slide" Target="/ppt/slides/slide27.xml" Id="Rdd38bc27751c4919" /><Relationship Type="http://schemas.openxmlformats.org/officeDocument/2006/relationships/slide" Target="/ppt/slides/slide28.xml" Id="Ra5e773692449457a" /><Relationship Type="http://schemas.openxmlformats.org/officeDocument/2006/relationships/slide" Target="/ppt/slides/slide29.xml" Id="Rff09bbb6769f46e3" /><Relationship Type="http://schemas.openxmlformats.org/officeDocument/2006/relationships/slide" Target="/ppt/slides/slide30.xml" Id="R982af3dc57d34126" /><Relationship Type="http://schemas.openxmlformats.org/officeDocument/2006/relationships/slide" Target="/ppt/slides/slide31.xml" Id="Rc9ed0d17d3ff4012" /><Relationship Type="http://schemas.openxmlformats.org/officeDocument/2006/relationships/slide" Target="/ppt/slides/slide32.xml" Id="R40ca628fae844f88" /><Relationship Type="http://schemas.openxmlformats.org/officeDocument/2006/relationships/slide" Target="/ppt/slides/slide33.xml" Id="Rca75eab82d774b18" /><Relationship Type="http://schemas.openxmlformats.org/officeDocument/2006/relationships/slide" Target="/ppt/slides/slide34.xml" Id="R886b836464a34a44" /><Relationship Type="http://schemas.openxmlformats.org/officeDocument/2006/relationships/slide" Target="/ppt/slides/slide35.xml" Id="R3f6844b53de8472b" /><Relationship Type="http://schemas.openxmlformats.org/officeDocument/2006/relationships/slide" Target="/ppt/slides/slide36.xml" Id="R22d23b36b5544517" /><Relationship Type="http://schemas.openxmlformats.org/officeDocument/2006/relationships/slide" Target="/ppt/slides/slide37.xml" Id="Rc9cc5916aa8d4575" /><Relationship Type="http://schemas.openxmlformats.org/officeDocument/2006/relationships/slide" Target="/ppt/slides/slide38.xml" Id="R59b928ce9f4346cc" /><Relationship Type="http://schemas.openxmlformats.org/officeDocument/2006/relationships/slide" Target="/ppt/slides/slide39.xml" Id="Rdc7f342817dd4bc8" /><Relationship Type="http://schemas.openxmlformats.org/officeDocument/2006/relationships/slide" Target="/ppt/slides/slide40.xml" Id="R79c567d2d2ec44d7" /><Relationship Type="http://schemas.openxmlformats.org/officeDocument/2006/relationships/slide" Target="/ppt/slides/slide41.xml" Id="R02904e1fe5be4ba6" /><Relationship Type="http://schemas.openxmlformats.org/officeDocument/2006/relationships/slide" Target="/ppt/slides/slide42.xml" Id="R1a2dabc0a3df4e79" /><Relationship Type="http://schemas.openxmlformats.org/officeDocument/2006/relationships/slide" Target="/ppt/slides/slide43.xml" Id="R3b0652f708d84d3f" /><Relationship Type="http://schemas.openxmlformats.org/officeDocument/2006/relationships/slide" Target="/ppt/slides/slide44.xml" Id="R51dd642932f64c76" /><Relationship Type="http://schemas.openxmlformats.org/officeDocument/2006/relationships/slide" Target="/ppt/slides/slide45.xml" Id="R6a66a8abc4794cba" /><Relationship Type="http://schemas.openxmlformats.org/officeDocument/2006/relationships/slide" Target="/ppt/slides/slide46.xml" Id="Ra972f94d8f934775" /><Relationship Type="http://schemas.openxmlformats.org/officeDocument/2006/relationships/slide" Target="/ppt/slides/slide47.xml" Id="Rd29e250d81b849c2" /><Relationship Type="http://schemas.openxmlformats.org/officeDocument/2006/relationships/slide" Target="/ppt/slides/slide48.xml" Id="R40d595c3227d4a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2930e11f3540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c3e5a359b9445f" /><Relationship Type="http://schemas.openxmlformats.org/officeDocument/2006/relationships/notesMaster" Target="/ppt/notesMasters/notesMaster1.xml" Id="Re7865ccf9e5841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b0f0868a64452a" /><Relationship Type="http://schemas.openxmlformats.org/officeDocument/2006/relationships/notesMaster" Target="/ppt/notesMasters/notesMaster1.xml" Id="R5a13327766d24b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aa7ecab6984e0a" /><Relationship Type="http://schemas.openxmlformats.org/officeDocument/2006/relationships/notesMaster" Target="/ppt/notesMasters/notesMaster1.xml" Id="R13b2864ae5a64a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1eb53ecb854adc" /><Relationship Type="http://schemas.openxmlformats.org/officeDocument/2006/relationships/notesMaster" Target="/ppt/notesMasters/notesMaster1.xml" Id="R48243e45bc5e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d1b74529844808" /><Relationship Type="http://schemas.openxmlformats.org/officeDocument/2006/relationships/notesMaster" Target="/ppt/notesMasters/notesMaster1.xml" Id="R3e74a36c838d4d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d4adb1a06c47b9" /><Relationship Type="http://schemas.openxmlformats.org/officeDocument/2006/relationships/notesMaster" Target="/ppt/notesMasters/notesMaster1.xml" Id="Re89a3b9affc146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49f47184ca48c8" /><Relationship Type="http://schemas.openxmlformats.org/officeDocument/2006/relationships/notesMaster" Target="/ppt/notesMasters/notesMaster1.xml" Id="Rcd120fb9d8784e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ec70c830714c31" /><Relationship Type="http://schemas.openxmlformats.org/officeDocument/2006/relationships/notesMaster" Target="/ppt/notesMasters/notesMaster1.xml" Id="R70365497090b4f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b6e1e73a44461f" /><Relationship Type="http://schemas.openxmlformats.org/officeDocument/2006/relationships/notesMaster" Target="/ppt/notesMasters/notesMaster1.xml" Id="R0cb6212dd73444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d0b8d9535a439a" /><Relationship Type="http://schemas.openxmlformats.org/officeDocument/2006/relationships/notesMaster" Target="/ppt/notesMasters/notesMaster1.xml" Id="R511d4d8c9d1148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47dd431fd24bb3" /><Relationship Type="http://schemas.openxmlformats.org/officeDocument/2006/relationships/notesMaster" Target="/ppt/notesMasters/notesMaster1.xml" Id="R61e62337a14344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e0883e8bda4a14" /><Relationship Type="http://schemas.openxmlformats.org/officeDocument/2006/relationships/notesMaster" Target="/ppt/notesMasters/notesMaster1.xml" Id="Rc9d62cb24b954c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05780d925c47b1" /><Relationship Type="http://schemas.openxmlformats.org/officeDocument/2006/relationships/notesMaster" Target="/ppt/notesMasters/notesMaster1.xml" Id="Ra50577e0edf049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fe8232e3f7442f" /><Relationship Type="http://schemas.openxmlformats.org/officeDocument/2006/relationships/notesMaster" Target="/ppt/notesMasters/notesMaster1.xml" Id="R98988f90bded45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f398e3dc7b4a77" /><Relationship Type="http://schemas.openxmlformats.org/officeDocument/2006/relationships/notesMaster" Target="/ppt/notesMasters/notesMaster1.xml" Id="R339c1cfc83124d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03b2b6fdc04f7f" /><Relationship Type="http://schemas.openxmlformats.org/officeDocument/2006/relationships/notesMaster" Target="/ppt/notesMasters/notesMaster1.xml" Id="R650ad206c8d44f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62afd394df4f46" /><Relationship Type="http://schemas.openxmlformats.org/officeDocument/2006/relationships/notesMaster" Target="/ppt/notesMasters/notesMaster1.xml" Id="Raec59ef34d9247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a2f7eadafd4f40" /><Relationship Type="http://schemas.openxmlformats.org/officeDocument/2006/relationships/notesMaster" Target="/ppt/notesMasters/notesMaster1.xml" Id="R81ba4654044148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0becd756e44d5e" /><Relationship Type="http://schemas.openxmlformats.org/officeDocument/2006/relationships/notesMaster" Target="/ppt/notesMasters/notesMaster1.xml" Id="R37adf8726a514eb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eb87d98ada4746" /><Relationship Type="http://schemas.openxmlformats.org/officeDocument/2006/relationships/notesMaster" Target="/ppt/notesMasters/notesMaster1.xml" Id="R2ae9ad272a5547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85e034c9c346d4" /><Relationship Type="http://schemas.openxmlformats.org/officeDocument/2006/relationships/notesMaster" Target="/ppt/notesMasters/notesMaster1.xml" Id="Rd58e186d9eea4a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3478548a94476f" /><Relationship Type="http://schemas.openxmlformats.org/officeDocument/2006/relationships/notesMaster" Target="/ppt/notesMasters/notesMaster1.xml" Id="R21680be6b32c42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9ae0fc47044508" /><Relationship Type="http://schemas.openxmlformats.org/officeDocument/2006/relationships/notesMaster" Target="/ppt/notesMasters/notesMaster1.xml" Id="R3e71979766f644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f6519d1db94fcc" /><Relationship Type="http://schemas.openxmlformats.org/officeDocument/2006/relationships/notesMaster" Target="/ppt/notesMasters/notesMaster1.xml" Id="R568ebc8297c948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1eee27e7b54c96" /><Relationship Type="http://schemas.openxmlformats.org/officeDocument/2006/relationships/notesMaster" Target="/ppt/notesMasters/notesMaster1.xml" Id="R5392b2667f024d9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b001221e039401a" /><Relationship Type="http://schemas.openxmlformats.org/officeDocument/2006/relationships/notesMaster" Target="/ppt/notesMasters/notesMaster1.xml" Id="R718d4898504c4ac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3ae71a8b5e54739" /><Relationship Type="http://schemas.openxmlformats.org/officeDocument/2006/relationships/notesMaster" Target="/ppt/notesMasters/notesMaster1.xml" Id="R8fbf853979a542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b71ca48772428c" /><Relationship Type="http://schemas.openxmlformats.org/officeDocument/2006/relationships/notesMaster" Target="/ppt/notesMasters/notesMaster1.xml" Id="R6f0364c8847749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6f460bd5350471c" /><Relationship Type="http://schemas.openxmlformats.org/officeDocument/2006/relationships/notesMaster" Target="/ppt/notesMasters/notesMaster1.xml" Id="R8eb18e663aaa431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cd8435b7e204f8b" /><Relationship Type="http://schemas.openxmlformats.org/officeDocument/2006/relationships/notesMaster" Target="/ppt/notesMasters/notesMaster1.xml" Id="R11e96e08d266464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422a2ba9ace4650" /><Relationship Type="http://schemas.openxmlformats.org/officeDocument/2006/relationships/notesMaster" Target="/ppt/notesMasters/notesMaster1.xml" Id="R805486adeb27422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8a7d50f9707499e" /><Relationship Type="http://schemas.openxmlformats.org/officeDocument/2006/relationships/notesMaster" Target="/ppt/notesMasters/notesMaster1.xml" Id="Rea4e350046c340a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5b1784ee58749ce" /><Relationship Type="http://schemas.openxmlformats.org/officeDocument/2006/relationships/notesMaster" Target="/ppt/notesMasters/notesMaster1.xml" Id="Rb12e4f914a974be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a7d25645bd54403" /><Relationship Type="http://schemas.openxmlformats.org/officeDocument/2006/relationships/notesMaster" Target="/ppt/notesMasters/notesMaster1.xml" Id="R4d4be866f90d46e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0990a277621491a" /><Relationship Type="http://schemas.openxmlformats.org/officeDocument/2006/relationships/notesMaster" Target="/ppt/notesMasters/notesMaster1.xml" Id="Rac337d9275ad49d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17427f8636846d7" /><Relationship Type="http://schemas.openxmlformats.org/officeDocument/2006/relationships/notesMaster" Target="/ppt/notesMasters/notesMaster1.xml" Id="R0821b9e229c445c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5378a5ca55e45e7" /><Relationship Type="http://schemas.openxmlformats.org/officeDocument/2006/relationships/notesMaster" Target="/ppt/notesMasters/notesMaster1.xml" Id="R8bc097b716bd449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0231208fcda4f54" /><Relationship Type="http://schemas.openxmlformats.org/officeDocument/2006/relationships/notesMaster" Target="/ppt/notesMasters/notesMaster1.xml" Id="R5bca8a358f1c4b3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11b06ede143474b" /><Relationship Type="http://schemas.openxmlformats.org/officeDocument/2006/relationships/notesMaster" Target="/ppt/notesMasters/notesMaster1.xml" Id="Rde05455e7f9e4e4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59b10f51f0441db" /><Relationship Type="http://schemas.openxmlformats.org/officeDocument/2006/relationships/notesMaster" Target="/ppt/notesMasters/notesMaster1.xml" Id="R38750c0b20fe4c8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31d4476c598430e" /><Relationship Type="http://schemas.openxmlformats.org/officeDocument/2006/relationships/notesMaster" Target="/ppt/notesMasters/notesMaster1.xml" Id="R51e2a11839594b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2809247ce424a73" /><Relationship Type="http://schemas.openxmlformats.org/officeDocument/2006/relationships/notesMaster" Target="/ppt/notesMasters/notesMaster1.xml" Id="R383eda4b25bc490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ca50378251147d0" /><Relationship Type="http://schemas.openxmlformats.org/officeDocument/2006/relationships/notesMaster" Target="/ppt/notesMasters/notesMaster1.xml" Id="R3e5aa585c80a41e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4fed68674eb4a06" /><Relationship Type="http://schemas.openxmlformats.org/officeDocument/2006/relationships/notesMaster" Target="/ppt/notesMasters/notesMaster1.xml" Id="Rc8d15843867b42d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c5b2d245f6d4844" /><Relationship Type="http://schemas.openxmlformats.org/officeDocument/2006/relationships/notesMaster" Target="/ppt/notesMasters/notesMaster1.xml" Id="R3c782e5e3a51438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f31253f8f7c4dcf" /><Relationship Type="http://schemas.openxmlformats.org/officeDocument/2006/relationships/notesMaster" Target="/ppt/notesMasters/notesMaster1.xml" Id="R12f0e85fbf79499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8df416d1e234ff0" /><Relationship Type="http://schemas.openxmlformats.org/officeDocument/2006/relationships/notesMaster" Target="/ppt/notesMasters/notesMaster1.xml" Id="R9c97d7ad17334cd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4a87cdf03a64541" /><Relationship Type="http://schemas.openxmlformats.org/officeDocument/2006/relationships/notesMaster" Target="/ppt/notesMasters/notesMaster1.xml" Id="R94ef6129e3ff49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Preview the learning sequence: initialize and operate a model, navigate the editor, read hierarchy and overlays, inspect logged data, then follow requirement intent into implementation and evidence. Ask throughout: which model am I in, what is visible, and what objective result supports the claim?</a:t>
            </a:r>
          </a:p>
          <a:p xmlns:a="http://schemas.openxmlformats.org/drawingml/2006/main">
            <a:r>
              <a:t/>
            </a:r>
          </a:p>
          <a:p xmlns:a="http://schemas.openxmlformats.org/drawingml/2006/main">
            <a:r>
              <a:t>Caveats</a:t>
            </a:r>
            <a:endParaRPr/>
          </a:p>
          <a:p xmlns:a="http://schemas.openxmlformats.org/drawingml/2006/main">
            <a:r>
              <a:t>- The sequence is a learning path, not a substitute for approved project procedures.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Select a signal line in AircraftFeedbackControlLoop, open the contextual Signal tab, choose Log Signals, run the model, and open View in Data Inspector. Use signal logging when the time history itself is evidence or must be compared across runs. Use a test point only when an internal signal must remain observable despite model optimizations—for example, a planned debug, test, or generated-code observability need. A signal may be both logged and a test point, but the settings are independent. The saved package currently has signal logging enabled for all eight models, 52 ports marked for logging, and zero ports marked as test points.</a:t>
            </a:r>
          </a:p>
          <a:p xmlns:a="http://schemas.openxmlformats.org/drawingml/2006/main">
            <a:r>
              <a:t/>
            </a:r>
          </a:p>
          <a:p xmlns:a="http://schemas.openxmlformats.org/drawingml/2006/main">
            <a:r>
              <a:t>Caveats</a:t>
            </a:r>
            <a:endParaRPr/>
          </a:p>
          <a:p xmlns:a="http://schemas.openxmlformats.org/drawingml/2006/main">
            <a:r>
              <a:t>- Marking a test point does not enable Dataset signal logging.</a:t>
            </a:r>
            <a:endParaRPr/>
          </a:p>
          <a:p xmlns:a="http://schemas.openxmlformats.org/drawingml/2006/main">
            <a:r>
              <a:t>- Test points can inhibit optimizations such as signal-storage reuse and block reduction, so use them selectively and review them as controlled design settings.</a:t>
            </a:r>
            <a:endParaRPr/>
          </a:p>
          <a:p xmlns:a="http://schemas.openxmlformats.org/drawingml/2006/main">
            <a:r>
              <a:t>- The green numbered ovals in the supplied screenshot are model Outport blocks; the blue line indicators show logged signals.</a:t>
            </a:r>
            <a:endParaRPr/>
          </a:p>
          <a:p xmlns:a="http://schemas.openxmlformats.org/drawingml/2006/main">
            <a:r>
              <a:t/>
            </a:r>
            <a:endParaRPr/>
          </a:p>
          <a:p xmlns:a="http://schemas.openxmlformats.org/drawingml/2006/main">
            <a:r>
              <a:t>[Sources]</a:t>
            </a:r>
            <a:endParaRPr/>
          </a:p>
          <a:p xmlns:a="http://schemas.openxmlformats.org/drawingml/2006/main">
            <a:r>
              <a:t>- scripts/create_training_models.m</a:t>
            </a:r>
            <a:endParaRPr/>
          </a:p>
          <a:p xmlns:a="http://schemas.openxmlformats.org/drawingml/2006/main">
            <a:r>
              <a:t>- scripts/training_callback_postload.m</a:t>
            </a:r>
          </a:p>
          <a:p xmlns:a="http://schemas.openxmlformats.org/drawingml/2006/main">
            <a:r>
              <a:t>- https://www.mathworks.com/help/simulink/gui/signallogging.html</a:t>
            </a:r>
          </a:p>
          <a:p xmlns:a="http://schemas.openxmlformats.org/drawingml/2006/main">
            <a:r>
              <a:t>- https://www.mathworks.com/help/simulink/ug/working-with-test-points.html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Demonstrate the Model Advisor workflow on the exact component in scope: Modeling &gt; Model Advisor, choose the model or subsystem, select a named check set by product or task, run the checks, review every result status, address findings and exclusions, rerun, then save the report with the model baseline and check identifiers. For a model-reference hierarchy, analyze referenced models explicitly before the top model when the selected checks require it.</a:t>
            </a:r>
          </a:p>
          <a:p xmlns:a="http://schemas.openxmlformats.org/drawingml/2006/main">
            <a:r>
              <a:t/>
            </a:r>
          </a:p>
          <a:p xmlns:a="http://schemas.openxmlformats.org/drawingml/2006/main">
            <a:r>
              <a:t>Caveats</a:t>
            </a:r>
            <a:endParaRPr/>
          </a:p>
          <a:p xmlns:a="http://schemas.openxmlformats.org/drawingml/2006/main">
            <a:r>
              <a:t>- This slide illustrates the workflow; no Model Advisor configuration, report, or result artifact was found in the training package.</a:t>
            </a:r>
          </a:p>
          <a:p xmlns:a="http://schemas.openxmlformats.org/drawingml/2006/main">
            <a:r>
              <a:t>- Unless a check documents otherwise, Model Advisor does not analyze inside Model blocks; referenced models must be selected explicitly.</a:t>
            </a:r>
          </a:p>
          <a:p xmlns:a="http://schemas.openxmlformats.org/drawingml/2006/main">
            <a:r>
              <a:t>- A successful run call means the analysis ran, not that every check passed. Model Advisor does not certify the component or replace requirements, tests, independent review, or approved plans.</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https://www.mathworks.com/help/simulink/ug/select-and-run-model-advisor-checks.html</a:t>
            </a:r>
          </a:p>
          <a:p xmlns:a="http://schemas.openxmlformats.org/drawingml/2006/main">
            <a:r>
              <a:t>- https://www.mathworks.com/help/simulink/slref/simulink.modeladvisor.runcheck.html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these as future code-analysis gates after code exists and the target, compiler, options, assumptions, and reporting process are controlled. Bug Finder performs a faster static scan for reported coding defects, security issues, rule violations, and metrics. Code Prover performs deeper formal static analysis and attempts to prove the absence of selected run-time errors over the analyzed code and paths. Retain the configuration, findings, dispositions, report, code baseline, and trace links.</a:t>
            </a:r>
          </a:p>
          <a:p xmlns:a="http://schemas.openxmlformats.org/drawingml/2006/main">
            <a:r>
              <a:t/>
            </a:r>
          </a:p>
          <a:p xmlns:a="http://schemas.openxmlformats.org/drawingml/2006/main">
            <a:r>
              <a:t>Caveats</a:t>
            </a:r>
            <a:endParaRPr/>
          </a:p>
          <a:p xmlns:a="http://schemas.openxmlformats.org/drawingml/2006/main">
            <a:r>
              <a:t>- These are placeholders only: neither Polyspace product nor any Polyspace result or report appears in the package inventory.</a:t>
            </a:r>
          </a:p>
          <a:p xmlns:a="http://schemas.openxmlformats.org/drawingml/2006/main">
            <a:r>
              <a:t>- Bug Finder does not prove the absence of all defects. Code Prover conclusions are limited to the analyzed code, configuration, assumptions, and checks.</a:t>
            </a:r>
          </a:p>
          <a:p xmlns:a="http://schemas.openxmlformats.org/drawingml/2006/main">
            <a:r>
              <a:t>- Neither tool directly proves model requirements compliance, test adequacy, certification approval, SIL, PIL, or HIL execution.</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https://www.mathworks.com/help/bugfinder/</a:t>
            </a:r>
          </a:p>
          <a:p xmlns:a="http://schemas.openxmlformats.org/drawingml/2006/main">
            <a:r>
              <a:t>- https://www.mathworks.com/help/bugfinder/gs/use-bug-finder-and-code-prover.html</a:t>
            </a:r>
          </a:p>
          <a:p xmlns:a="http://schemas.openxmlformats.org/drawingml/2006/main">
            <a:r>
              <a:t>- https://www.mathworks.com/help/codeprover/getting-started-with-polyspace-code-prover.html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From Workspace blocks provide the three deterministic inputs; the exact Model block PitchRateLimiter_Harness/Unit Under Test - PitchRateLimiter references the component; and To Workspace blocks retain q_cmd_out and limiter_active for external MATLAB assessments.</a:t>
            </a:r>
          </a:p>
          <a:p xmlns:a="http://schemas.openxmlformats.org/drawingml/2006/main">
            <a:r>
              <a:t/>
            </a:r>
          </a:p>
          <a:p xmlns:a="http://schemas.openxmlformats.org/drawingml/2006/main">
            <a:r>
              <a:t>Caveats</a:t>
            </a:r>
            <a:endParaRPr/>
          </a:p>
          <a:p xmlns:a="http://schemas.openxmlformats.org/drawingml/2006/main">
            <a:r>
              <a:t>- This is a standalone Simulink harness, not a Simulink Test harness or Test Manager suite.</a:t>
            </a:r>
            <a:endParaRPr/>
          </a:p>
          <a:p xmlns:a="http://schemas.openxmlformats.org/drawingml/2006/main">
            <a:r>
              <a:t>- Expected values, tolerances, and pass/fail logic live in run_pitch_rate_limiter_tests.m, not inside the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harness demonstration</a:t>
            </a:r>
          </a:p>
          <a:p xmlns:a="http://schemas.openxmlformats.org/drawingml/2006/main">
            <a:r>
              <a:t/>
            </a:r>
            <a:endParaRPr/>
          </a:p>
          <a:p xmlns:a="http://schemas.openxmlformats.org/drawingml/2006/main">
            <a:r>
              <a:t>Open PitchRateLimiter_Harness and press Ctrl+D before executing the assessment driver. Update Model evaluates parameters, propagates signal attributes and sample times, resolves referenced interfaces, and exposes update-time errors without advancing simulation time. The package validator used the equivalent SimulationCommand update and retained an 8/8 result. Ctrl+B is a separate code-generation build action: use it only after update succeeds and code generation is part of the approved task with the active target and toolchain configured. The repository contains GRT model-reference build intermediates for four child models, but no retained build report or evidence that a particular Ctrl+B action produced them.</a:t>
            </a:r>
          </a:p>
          <a:p xmlns:a="http://schemas.openxmlformats.org/drawingml/2006/main">
            <a:r>
              <a:t/>
            </a:r>
          </a:p>
          <a:p xmlns:a="http://schemas.openxmlformats.org/drawingml/2006/main">
            <a:r>
              <a:t>Caveats</a:t>
            </a:r>
            <a:endParaRPr/>
          </a:p>
          <a:p xmlns:a="http://schemas.openxmlformats.org/drawingml/2006/main">
            <a:r>
              <a:t>- 8/8 means all delivered models accepted update/compile; it does not mean eight files were edited.</a:t>
            </a:r>
          </a:p>
          <a:p xmlns:a="http://schemas.openxmlformats.org/drawingml/2006/main">
            <a:r>
              <a:t>- A build result depends on the active code-generation configuration and toolchain. Generated artifacts are not production-code approval.</a:t>
            </a:r>
          </a:p>
          <a:p xmlns:a="http://schemas.openxmlformats.org/drawingml/2006/main">
            <a:r>
              <a:t>- Simulink Coder is installed; Embedded Coder is unavailable. The retained GRT model-reference files are regeneration by-products, not production airborne software or certification evidence.</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results/model_reference_build/slprj/grt/</a:t>
            </a:r>
          </a:p>
          <a:p xmlns:a="http://schemas.openxmlformats.org/drawingml/2006/main">
            <a:r>
              <a:t>- results/environment_inventory.txt</a:t>
            </a:r>
          </a:p>
          <a:p xmlns:a="http://schemas.openxmlformats.org/drawingml/2006/main">
            <a:r>
              <a:t>- https://www.mathworks.com/help/simulink/ug/using-the-sim-command.html</a:t>
            </a: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lifecycle callbacks narrow and reviewable: setup establishes paths and controlled data, preload prepares deterministic inputs, post-load applies solver and logging configuration, and cleanup releases only owned resources. The test driver—not a callback—contains the case definitions, expected values, tolerances, and pass/fail assessments.</a:t>
            </a:r>
          </a:p>
          <a:p xmlns:a="http://schemas.openxmlformats.org/drawingml/2006/main">
            <a:r>
              <a:t/>
            </a:r>
          </a:p>
          <a:p xmlns:a="http://schemas.openxmlformats.org/drawingml/2006/main">
            <a:r>
              <a:t>Caveats</a:t>
            </a:r>
            <a:endParaRPr/>
          </a:p>
          <a:p xmlns:a="http://schemas.openxmlformats.org/drawingml/2006/main">
            <a:r>
              <a:t>- Callbacks must not manufacture a green result or silently discard a learner's dirty model.</a:t>
            </a:r>
            <a:endParaRPr/>
          </a:p>
          <a:p xmlns:a="http://schemas.openxmlformats.org/drawingml/2006/main">
            <a:r>
              <a:t>- The delivered workflow uses external MATLAB functions rather than hidden model callback code.</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scripts/training_callback_setup.m</a:t>
            </a:r>
            <a:endParaRPr/>
          </a:p>
          <a:p xmlns:a="http://schemas.openxmlformats.org/drawingml/2006/main">
            <a:r>
              <a:t>- scripts/training_callback_preload.m</a:t>
            </a:r>
          </a:p>
          <a:p xmlns:a="http://schemas.openxmlformats.org/drawingml/2006/main">
            <a:r>
              <a:t>- scripts/training_callback_postload.m</a:t>
            </a:r>
          </a:p>
          <a:p xmlns:a="http://schemas.openxmlformats.org/drawingml/2006/main">
            <a:r>
              <a:t>- scripts/training_callback_cleanup.m</a:t>
            </a:r>
            <a:endParaRPr/>
          </a:p>
          <a:p xmlns:a="http://schemas.openxmlformats.org/drawingml/2006/main">
            <a:r>
              <a:t>- scripts/run_pitch_rate_limiter_tests.m</a:t>
            </a:r>
          </a:p>
          <a:p xmlns:a="http://schemas.openxmlformats.org/drawingml/2006/main">
            <a:r>
              <a:t>- https://www.mathworks.com/help/simulink/callback-functions.html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controlled source for Sample_time, limiter bounds, controller gains, filter coefficients, initial conditions, signal definitions, and FlightControlBus. The bus exposes q_rate, pitch_angle, mach, air_data_valid, and mode with documented types, dimensions, and units so referenced-model interfaces can update consistently.</a:t>
            </a:r>
          </a:p>
          <a:p xmlns:a="http://schemas.openxmlformats.org/drawingml/2006/main">
            <a:r>
              <a:t/>
            </a:r>
          </a:p>
          <a:p xmlns:a="http://schemas.openxmlformats.org/drawingml/2006/main">
            <a:r>
              <a:t>Caveats</a:t>
            </a:r>
            <a:endParaRPr/>
          </a:p>
          <a:p xmlns:a="http://schemas.openxmlformats.org/drawingml/2006/main">
            <a:r>
              <a:t>- A dictionary and bus establish controlled data and structure; they do not by themselves prove semantic correctness.</a:t>
            </a:r>
            <a:endParaRPr/>
          </a:p>
          <a:p xmlns:a="http://schemas.openxmlformats.org/drawingml/2006/main">
            <a:r>
              <a:t>- The values are illustrative and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https://www.mathworks.com/help/simulink/ug/what-is-a-data-dictionary.html</a:t>
            </a: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verified snapshot precisely: all eight delivered models completed Simulink update/compile; all 19 retained limiter assessments passed; and all 24 files in the validator's required exported-artifact list are present. The validation ran in MATLAB R2023b Update 8 on desktop Windows.</a:t>
            </a:r>
          </a:p>
          <a:p xmlns:a="http://schemas.openxmlformats.org/drawingml/2006/main">
            <a:r>
              <a:t/>
            </a:r>
          </a:p>
          <a:p xmlns:a="http://schemas.openxmlformats.org/drawingml/2006/main">
            <a:r>
              <a:t>Caveats</a:t>
            </a:r>
            <a:endParaRPr/>
          </a:p>
          <a:p xmlns:a="http://schemas.openxmlformats.org/drawingml/2006/main">
            <a:r>
              <a:t>- 8/8 models updated means SimulationCommand='update' succeeded; it does not mean eight files were edited.</a:t>
            </a:r>
            <a:endParaRPr/>
          </a:p>
          <a:p xmlns:a="http://schemas.openxmlformats.org/drawingml/2006/main">
            <a:r>
              <a:t>- ReferencedFlightControlArchitecture and PitchRateLimiter_Harness passed with the accepted student-license fallback from Accelerator to Normal mode.</a:t>
            </a:r>
            <a:endParaRPr/>
          </a:p>
          <a:p xmlns:a="http://schemas.openxmlformats.org/drawingml/2006/main">
            <a:r>
              <a:t>- 24/24 means one HTML report, 21 visual exports, and two SDI artifacts passed existence checks; it is not a count of every repository artifact.</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project-approved RCF artifact only after the model baseline, allocated system requirements, traceability, executed evidence, findings, and dispositions are complete. The record should identify the baseline and scope, list the requirement and evidence identifiers, identify the independent reviewer and approving authority, document open conditions, and capture the required signatures and dates. Where independence is required, the author should not be the sole independent verifier of their own work.</a:t>
            </a:r>
          </a:p>
          <a:p xmlns:a="http://schemas.openxmlformats.org/drawingml/2006/main">
            <a:r>
              <a:t/>
            </a:r>
          </a:p>
          <a:p xmlns:a="http://schemas.openxmlformats.org/drawingml/2006/main">
            <a:r>
              <a:t>Caveats</a:t>
            </a:r>
            <a:endParaRPr/>
          </a:p>
          <a:p xmlns:a="http://schemas.openxmlformats.org/drawingml/2006/main">
            <a:r>
              <a:t>- RCF is a project-defined term here. Do not expand the acronym or invent its authority unless the approved program plan or form defines it.</a:t>
            </a:r>
          </a:p>
          <a:p xmlns:a="http://schemas.openxmlformats.org/drawingml/2006/main">
            <a:r>
              <a:t>- No RCF, independent-review signature, or approval record was supplied in this training package; this slide is an explicit placeholder.</a:t>
            </a:r>
          </a:p>
          <a:p xmlns:a="http://schemas.openxmlformats.org/drawingml/2006/main">
            <a:r>
              <a:t>- Passing MIL assessments, Model Advisor checks, or Polyspace findings are evidence inputs; none is a substitute for the required independent review and authorized acceptance.</a:t>
            </a:r>
            <a:endParaRPr/>
          </a:p>
          <a:p xmlns:a="http://schemas.openxmlformats.org/drawingml/2006/main">
            <a:r>
              <a:t/>
            </a:r>
          </a:p>
          <a:p xmlns:a="http://schemas.openxmlformats.org/drawingml/2006/main">
            <a:r>
              <a:t>[Sources]</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https://www.faa.gov/documentLibrary/media/Order/FAA_Order_8110.49A.pdf</a:t>
            </a:r>
            <a:endParaRPr/>
          </a:p>
          <a:p xmlns:a="http://schemas.openxmlformats.org/drawingml/2006/main">
            <a:r>
              <a:t>- https://www.faa.gov/regulations_policies/advisory_circulars/index.cfm/go/document.information/documentID/1032046</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1e1ef17acb4a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b1028abfb148aa" /><Relationship Type="http://schemas.openxmlformats.org/officeDocument/2006/relationships/slideLayout" Target="/ppt/slideLayouts/slideLayout1.xml" Id="R075234e62c6a49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5234e62c6a49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d5586866f14256" /><Relationship Type="http://schemas.openxmlformats.org/officeDocument/2006/relationships/notesSlide" Target="/ppt/notesSlides/notesSlide1.xml" Id="Ra96e913f438e4d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a1112f5c2e40e1" /><Relationship Type="http://schemas.openxmlformats.org/officeDocument/2006/relationships/notesSlide" Target="/ppt/notesSlides/notesSlide2.xml" Id="Rc15d0c13daff40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23a2ce80364389" /><Relationship Type="http://schemas.openxmlformats.org/officeDocument/2006/relationships/notesSlide" Target="/ppt/notesSlides/notesSlide3.xml" Id="R7bbae1fb31d143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70e9eb745a45ea" /><Relationship Type="http://schemas.openxmlformats.org/officeDocument/2006/relationships/notesSlide" Target="/ppt/notesSlides/notesSlide4.xml" Id="Rfc29f1fa798848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a21a3088f04fe5" /><Relationship Type="http://schemas.openxmlformats.org/officeDocument/2006/relationships/notesSlide" Target="/ppt/notesSlides/notesSlide5.xml" Id="R9354f5fcfc6a4a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df3e2b22c04566" /><Relationship Type="http://schemas.openxmlformats.org/officeDocument/2006/relationships/image" Target="/ppt/media/image.jpeg" Id="Rebdd512c0dac4836" /><Relationship Type="http://schemas.openxmlformats.org/officeDocument/2006/relationships/notesSlide" Target="/ppt/notesSlides/notesSlide6.xml" Id="R71691c30ac3f42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e7fcd78b2b4dd3" /><Relationship Type="http://schemas.openxmlformats.org/officeDocument/2006/relationships/image" Target="/ppt/media/image.png" Id="Rf9d6c0b4e7274f01" /><Relationship Type="http://schemas.openxmlformats.org/officeDocument/2006/relationships/notesSlide" Target="/ppt/notesSlides/notesSlide7.xml" Id="Re033e5a18b7348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98ac2d8621456c" /><Relationship Type="http://schemas.openxmlformats.org/officeDocument/2006/relationships/image" Target="/ppt/media/image2.png" Id="Rfca215870b8940f7" /><Relationship Type="http://schemas.openxmlformats.org/officeDocument/2006/relationships/notesSlide" Target="/ppt/notesSlides/notesSlide8.xml" Id="R05dce9039fd04c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153a1cb82a40e5" /><Relationship Type="http://schemas.openxmlformats.org/officeDocument/2006/relationships/image" Target="/ppt/media/image3.png" Id="R635e44a88943446a" /><Relationship Type="http://schemas.openxmlformats.org/officeDocument/2006/relationships/notesSlide" Target="/ppt/notesSlides/notesSlide9.xml" Id="R49d194456ed449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a0bf0cd815424b" /><Relationship Type="http://schemas.openxmlformats.org/officeDocument/2006/relationships/notesSlide" Target="/ppt/notesSlides/notesSlide10.xml" Id="Rfef7c3fa83cb4b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1c6dce685b4df4" /><Relationship Type="http://schemas.openxmlformats.org/officeDocument/2006/relationships/notesSlide" Target="/ppt/notesSlides/notesSlide11.xml" Id="R56b7d476d80a45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62a7a2790847dc" /><Relationship Type="http://schemas.openxmlformats.org/officeDocument/2006/relationships/notesSlide" Target="/ppt/notesSlides/notesSlide12.xml" Id="R12b6711ff38847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1415d7a8b8f40e2" /><Relationship Type="http://schemas.openxmlformats.org/officeDocument/2006/relationships/image" Target="/ppt/media/image2.jpeg" Id="R26788a9d9a134317" /><Relationship Type="http://schemas.openxmlformats.org/officeDocument/2006/relationships/notesSlide" Target="/ppt/notesSlides/notesSlide13.xml" Id="R9e75530433544e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0bd4890eb0462a" /><Relationship Type="http://schemas.openxmlformats.org/officeDocument/2006/relationships/image" Target="/ppt/media/image4.png" Id="R0d96b69bbbcf4a78" /><Relationship Type="http://schemas.openxmlformats.org/officeDocument/2006/relationships/notesSlide" Target="/ppt/notesSlides/notesSlide14.xml" Id="R5454917db6f242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9ef5aee3f9745e3" /><Relationship Type="http://schemas.openxmlformats.org/officeDocument/2006/relationships/image" Target="/ppt/media/image5.png" Id="R2a43c1bd547c4821" /><Relationship Type="http://schemas.openxmlformats.org/officeDocument/2006/relationships/notesSlide" Target="/ppt/notesSlides/notesSlide15.xml" Id="R1da01439df2d42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63746c102b4133" /><Relationship Type="http://schemas.openxmlformats.org/officeDocument/2006/relationships/image" Target="/ppt/media/image6.png" Id="Rb2e5d52179d24d02" /><Relationship Type="http://schemas.openxmlformats.org/officeDocument/2006/relationships/notesSlide" Target="/ppt/notesSlides/notesSlide16.xml" Id="R611a859a421846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ec1f7e7f9f4f85" /><Relationship Type="http://schemas.openxmlformats.org/officeDocument/2006/relationships/image" Target="/ppt/media/image7.png" Id="R79d76ad0ccb44455" /><Relationship Type="http://schemas.openxmlformats.org/officeDocument/2006/relationships/notesSlide" Target="/ppt/notesSlides/notesSlide17.xml" Id="R2b83a3754fad4f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48ab43c69e44200" /><Relationship Type="http://schemas.openxmlformats.org/officeDocument/2006/relationships/image" Target="/ppt/media/image8.png" Id="R94ba228679314d3f" /><Relationship Type="http://schemas.openxmlformats.org/officeDocument/2006/relationships/notesSlide" Target="/ppt/notesSlides/notesSlide18.xml" Id="Rec0ddf19d5e24e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e47e360f2654551" /><Relationship Type="http://schemas.openxmlformats.org/officeDocument/2006/relationships/image" Target="/ppt/media/image3.jpeg" Id="Rc59e1bc86b1e4254" /><Relationship Type="http://schemas.openxmlformats.org/officeDocument/2006/relationships/notesSlide" Target="/ppt/notesSlides/notesSlide19.xml" Id="R639c756a2b3d48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d846164b491492b" /><Relationship Type="http://schemas.openxmlformats.org/officeDocument/2006/relationships/image" Target="/ppt/media/image4.jpeg" Id="Rfb9ef34d85594386" /><Relationship Type="http://schemas.openxmlformats.org/officeDocument/2006/relationships/notesSlide" Target="/ppt/notesSlides/notesSlide20.xml" Id="R9c99c659e3e743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4981bdf8a347e6" /><Relationship Type="http://schemas.openxmlformats.org/officeDocument/2006/relationships/image" Target="/ppt/media/image9.png" Id="R2f3079c578d54498" /><Relationship Type="http://schemas.openxmlformats.org/officeDocument/2006/relationships/notesSlide" Target="/ppt/notesSlides/notesSlide21.xml" Id="R74d83175a12f417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11b7a5a0e34a31" /><Relationship Type="http://schemas.openxmlformats.org/officeDocument/2006/relationships/image" Target="/ppt/media/image10.png" Id="R1a390542dfb1455a" /><Relationship Type="http://schemas.openxmlformats.org/officeDocument/2006/relationships/notesSlide" Target="/ppt/notesSlides/notesSlide22.xml" Id="Raec2f534d8b34ed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e13067a270649e5" /><Relationship Type="http://schemas.openxmlformats.org/officeDocument/2006/relationships/image" Target="/ppt/media/image11.png" Id="Re7a6a67fd2f24e55" /><Relationship Type="http://schemas.openxmlformats.org/officeDocument/2006/relationships/notesSlide" Target="/ppt/notesSlides/notesSlide23.xml" Id="Rc80c3a69f29448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329c53236184a4a" /><Relationship Type="http://schemas.openxmlformats.org/officeDocument/2006/relationships/image" Target="/ppt/media/image12.png" Id="Rcc0cb74b78764295" /><Relationship Type="http://schemas.openxmlformats.org/officeDocument/2006/relationships/notesSlide" Target="/ppt/notesSlides/notesSlide24.xml" Id="R1abad680c63f42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f962b7158f485c" /><Relationship Type="http://schemas.openxmlformats.org/officeDocument/2006/relationships/image" Target="/ppt/media/image13.png" Id="R24a79cd970574932" /><Relationship Type="http://schemas.openxmlformats.org/officeDocument/2006/relationships/notesSlide" Target="/ppt/notesSlides/notesSlide25.xml" Id="Re078a4de3d7443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6c115aab6d24945" /><Relationship Type="http://schemas.openxmlformats.org/officeDocument/2006/relationships/image" Target="/ppt/media/image14.png" Id="R01a858ab399c49e0" /><Relationship Type="http://schemas.openxmlformats.org/officeDocument/2006/relationships/notesSlide" Target="/ppt/notesSlides/notesSlide26.xml" Id="Re611dd3b5c9641d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31b45b76840408c" /><Relationship Type="http://schemas.openxmlformats.org/officeDocument/2006/relationships/image" Target="/ppt/media/image15.png" Id="R4e40e7f946394f5b" /><Relationship Type="http://schemas.openxmlformats.org/officeDocument/2006/relationships/notesSlide" Target="/ppt/notesSlides/notesSlide27.xml" Id="R808af8c509d8452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42a4d0f580d4fdd" /><Relationship Type="http://schemas.openxmlformats.org/officeDocument/2006/relationships/notesSlide" Target="/ppt/notesSlides/notesSlide28.xml" Id="Reb009b44fc664a4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b8452cb2eaa4027" /><Relationship Type="http://schemas.openxmlformats.org/officeDocument/2006/relationships/image" Target="/ppt/media/image5.jpeg" Id="R1fce1f2d84a44683" /><Relationship Type="http://schemas.openxmlformats.org/officeDocument/2006/relationships/notesSlide" Target="/ppt/notesSlides/notesSlide29.xml" Id="Raadd97911eb24b4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cd1e0ce0c7349cc" /><Relationship Type="http://schemas.openxmlformats.org/officeDocument/2006/relationships/notesSlide" Target="/ppt/notesSlides/notesSlide30.xml" Id="Rbf5ad62da4f24cd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8b5f453639e421d" /><Relationship Type="http://schemas.openxmlformats.org/officeDocument/2006/relationships/notesSlide" Target="/ppt/notesSlides/notesSlide31.xml" Id="R139bb4e2f4fd446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5f098899c904a9e" /><Relationship Type="http://schemas.openxmlformats.org/officeDocument/2006/relationships/notesSlide" Target="/ppt/notesSlides/notesSlide32.xml" Id="Ra7aef0ff657148e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2f6443eec044f27" /><Relationship Type="http://schemas.openxmlformats.org/officeDocument/2006/relationships/notesSlide" Target="/ppt/notesSlides/notesSlide33.xml" Id="R5122d6d7e5834d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7842e67eafc4b20" /><Relationship Type="http://schemas.openxmlformats.org/officeDocument/2006/relationships/notesSlide" Target="/ppt/notesSlides/notesSlide34.xml" Id="R5eb31b0de8a0461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9be02a12bd94d1b" /><Relationship Type="http://schemas.openxmlformats.org/officeDocument/2006/relationships/notesSlide" Target="/ppt/notesSlides/notesSlide35.xml" Id="Rec772c88f81344f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2f0db14116f4d4f" /><Relationship Type="http://schemas.openxmlformats.org/officeDocument/2006/relationships/notesSlide" Target="/ppt/notesSlides/notesSlide36.xml" Id="R7e7faa5c48db462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6697a814589421e" /><Relationship Type="http://schemas.openxmlformats.org/officeDocument/2006/relationships/notesSlide" Target="/ppt/notesSlides/notesSlide37.xml" Id="R42b82bc4c22d4a5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e221cffdfcc497a" /><Relationship Type="http://schemas.openxmlformats.org/officeDocument/2006/relationships/image" Target="/ppt/media/image16.png" Id="R6a2795f9aa834089" /><Relationship Type="http://schemas.openxmlformats.org/officeDocument/2006/relationships/notesSlide" Target="/ppt/notesSlides/notesSlide38.xml" Id="R65b6eec95c3d47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1239f302e694329" /><Relationship Type="http://schemas.openxmlformats.org/officeDocument/2006/relationships/notesSlide" Target="/ppt/notesSlides/notesSlide39.xml" Id="R61483cc1ccb34b3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ed0f6e2d12c44da" /><Relationship Type="http://schemas.openxmlformats.org/officeDocument/2006/relationships/notesSlide" Target="/ppt/notesSlides/notesSlide40.xml" Id="R6de02ec979424c1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a1ab324ae354de0" /><Relationship Type="http://schemas.openxmlformats.org/officeDocument/2006/relationships/notesSlide" Target="/ppt/notesSlides/notesSlide41.xml" Id="Re99317c42d4e47a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2d918e8f8114e23" /><Relationship Type="http://schemas.openxmlformats.org/officeDocument/2006/relationships/notesSlide" Target="/ppt/notesSlides/notesSlide42.xml" Id="R5ae558fd411c4c0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565999403f64751" /><Relationship Type="http://schemas.openxmlformats.org/officeDocument/2006/relationships/notesSlide" Target="/ppt/notesSlides/notesSlide43.xml" Id="R946f5c9d2f8143a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429aac5785f47cd" /><Relationship Type="http://schemas.openxmlformats.org/officeDocument/2006/relationships/notesSlide" Target="/ppt/notesSlides/notesSlide44.xml" Id="R6715cdc8dc32417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82ca71d4fe4434d" /><Relationship Type="http://schemas.openxmlformats.org/officeDocument/2006/relationships/notesSlide" Target="/ppt/notesSlides/notesSlide45.xml" Id="R77085d0c3c0a4ab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9fad94bb81a472e" /><Relationship Type="http://schemas.openxmlformats.org/officeDocument/2006/relationships/notesSlide" Target="/ppt/notesSlides/notesSlide46.xml" Id="R37b8183ceb62448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48e3e55b1554f0c" /><Relationship Type="http://schemas.openxmlformats.org/officeDocument/2006/relationships/notesSlide" Target="/ppt/notesSlides/notesSlide47.xml" Id="R0e06e6f75b744d2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9178c97b8264363" /><Relationship Type="http://schemas.openxmlformats.org/officeDocument/2006/relationships/notesSlide" Target="/ppt/notesSlides/notesSlide48.xml" Id="R12f3b7da2f9d497d"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2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2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2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67"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68"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69"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70"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ebdd512c0dac4836"/>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f9d6c0b4e7274f01"/>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Log signals for evidence; reserve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ca215870b8940f7"/>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5" name="s9-image-frame">
            <a:extLst xmlns:a="http://schemas.openxmlformats.org/drawingml/2006/main">
              <a:ext uri="{FF2B5EF4-FFF2-40B4-BE49-F238E27FC236}">
                <a16:creationId xmlns:a16="http://schemas.microsoft.com/office/drawing/2014/main" id="{F0429817-88FA-4462-8823-90FCA974F659}"/>
              </a:ext>
            </a:extLst>
          </p:cNvPr>
          <p:cNvSpPr>
            <a:spLocks xmlns:a="http://schemas.openxmlformats.org/drawingml/2006/main" noGrp="1"/>
          </p:cNvSpPr>
          <p:nvPr/>
        </p:nvSpPr>
        <p:spPr>
          <a:xfrm xmlns:a="http://schemas.openxmlformats.org/drawingml/2006/main">
            <a:off x="609600" y="1428750"/>
            <a:ext cx="6743700" cy="438150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12383">
            <a:solidFill>
              <a:srgbClr val="C9D8E3"/>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35e44a88943446a"/>
          <a:stretch xmlns:a="http://schemas.openxmlformats.org/drawingml/2006/main"/>
        </p:blipFill>
        <p:spPr>
          <a:xfrm xmlns:a="http://schemas.openxmlformats.org/drawingml/2006/main">
            <a:off x="1301035" y="1504950"/>
            <a:ext cx="5360831" cy="4229100"/>
          </a:xfrm>
          <a:prstGeom xmlns:a="http://schemas.openxmlformats.org/drawingml/2006/main" prst="rect">
            <a:avLst/>
          </a:prstGeom>
        </p:spPr>
      </p:pic>
      <p:sp>
        <p:nvSpPr>
          <p:cNvPr id="37" name="s9-open-tag">
            <a:extLst xmlns:a="http://schemas.openxmlformats.org/drawingml/2006/main">
              <a:ext uri="{FF2B5EF4-FFF2-40B4-BE49-F238E27FC236}">
                <a16:creationId xmlns:a16="http://schemas.microsoft.com/office/drawing/2014/main" id="{2A9943DC-C80D-48BB-97E5-A608EDDB109C}"/>
              </a:ext>
            </a:extLst>
          </p:cNvPr>
          <p:cNvSpPr>
            <a:spLocks xmlns:a="http://schemas.openxmlformats.org/drawingml/2006/main" noGrp="1"/>
          </p:cNvSpPr>
          <p:nvPr/>
        </p:nvSpPr>
        <p:spPr>
          <a:xfrm xmlns:a="http://schemas.openxmlformats.org/drawingml/2006/main">
            <a:off x="7562850" y="1438275"/>
            <a:ext cx="3943350" cy="304800"/>
          </a:xfrm>
          <a:prstGeom xmlns:a="http://schemas.openxmlformats.org/drawingml/2006/main" prst="roundRect">
            <a:avLst>
              <a:gd name="adj" fmla="val 375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CTRL+E  •  MODELING &gt; MODEL SETTINGS</a:t>
            </a:r>
          </a:p>
        </p:txBody>
      </p:sp>
      <p:sp>
        <p:nvSpPr>
          <p:cNvPr id="38" name="s9-card-0">
            <a:extLst xmlns:a="http://schemas.openxmlformats.org/drawingml/2006/main">
              <a:ext uri="{FF2B5EF4-FFF2-40B4-BE49-F238E27FC236}">
                <a16:creationId xmlns:a16="http://schemas.microsoft.com/office/drawing/2014/main" id="{0C73F822-9978-4B88-A023-07B41A2C9096}"/>
              </a:ext>
            </a:extLst>
          </p:cNvPr>
          <p:cNvSpPr>
            <a:spLocks xmlns:a="http://schemas.openxmlformats.org/drawingml/2006/main" noGrp="1"/>
          </p:cNvSpPr>
          <p:nvPr/>
        </p:nvSpPr>
        <p:spPr>
          <a:xfrm xmlns:a="http://schemas.openxmlformats.org/drawingml/2006/main">
            <a:off x="7562850" y="1885950"/>
            <a:ext cx="3943350" cy="1162050"/>
          </a:xfrm>
          <a:prstGeom xmlns:a="http://schemas.openxmlformats.org/drawingml/2006/main" prst="roundRect">
            <a:avLst>
              <a:gd name="adj" fmla="val 9836"/>
            </a:avLst>
          </a:prstGeom>
          <a:solidFill xmlns:a="http://schemas.openxmlformats.org/drawingml/2006/main">
            <a:srgbClr val="DFF6F8"/>
          </a:solidFill>
          <a:ln xmlns:a="http://schemas.openxmlformats.org/drawingml/2006/main" w="13335">
            <a:solidFill>
              <a:srgbClr val="20B7C5"/>
            </a:solidFill>
            <a:prstDash val="solid"/>
          </a:ln>
        </p:spPr>
      </p:sp>
      <p:sp>
        <p:nvSpPr>
          <p:cNvPr id="39" name="s9-card-title-0">
            <a:extLst xmlns:a="http://schemas.openxmlformats.org/drawingml/2006/main">
              <a:ext uri="{FF2B5EF4-FFF2-40B4-BE49-F238E27FC236}">
                <a16:creationId xmlns:a16="http://schemas.microsoft.com/office/drawing/2014/main" id="{F028D350-F27F-42BA-8B0A-F1182B445B40}"/>
              </a:ext>
            </a:extLst>
          </p:cNvPr>
          <p:cNvSpPr>
            <a:spLocks xmlns:a="http://schemas.openxmlformats.org/drawingml/2006/main" noGrp="1"/>
          </p:cNvSpPr>
          <p:nvPr/>
        </p:nvSpPr>
        <p:spPr>
          <a:xfrm xmlns:a="http://schemas.openxmlformats.org/drawingml/2006/main">
            <a:off x="7715250" y="19812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55" b="1">
                <a:solidFill>
                  <a:srgbClr val="20B7C5"/>
                </a:solidFill>
                <a:latin typeface="Aptos"/>
                <a:ea typeface="Aptos"/>
                <a:cs typeface="Aptos"/>
              </a:defRPr>
            </a:pPr>
            <a:r>
              <a:rPr sz="1155" b="1">
                <a:solidFill>
                  <a:srgbClr val="20B7C5"/>
                </a:solidFill>
                <a:latin typeface="Aptos"/>
                <a:ea typeface="Aptos"/>
                <a:cs typeface="Aptos"/>
              </a:rPr>
              <a:t>1  CHECK THE ACTIVE SET</a:t>
            </a:r>
          </a:p>
        </p:txBody>
      </p:sp>
      <p:sp>
        <p:nvSpPr>
          <p:cNvPr id="40" name="s9-card-body-0">
            <a:extLst xmlns:a="http://schemas.openxmlformats.org/drawingml/2006/main">
              <a:ext uri="{FF2B5EF4-FFF2-40B4-BE49-F238E27FC236}">
                <a16:creationId xmlns:a16="http://schemas.microsoft.com/office/drawing/2014/main" id="{2C3F3D56-9706-419D-88ED-1C6E1DC83B50}"/>
              </a:ext>
            </a:extLst>
          </p:cNvPr>
          <p:cNvSpPr>
            <a:spLocks xmlns:a="http://schemas.openxmlformats.org/drawingml/2006/main" noGrp="1"/>
          </p:cNvSpPr>
          <p:nvPr/>
        </p:nvSpPr>
        <p:spPr>
          <a:xfrm xmlns:a="http://schemas.openxmlformats.org/drawingml/2006/main">
            <a:off x="7734300" y="22669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Confirm the intended top model or referenced model. The dialog title should identify the active configuration.</a:t>
            </a:r>
          </a:p>
        </p:txBody>
      </p:sp>
      <p:sp>
        <p:nvSpPr>
          <p:cNvPr id="41" name="s9-card-1">
            <a:extLst xmlns:a="http://schemas.openxmlformats.org/drawingml/2006/main">
              <a:ext uri="{FF2B5EF4-FFF2-40B4-BE49-F238E27FC236}">
                <a16:creationId xmlns:a16="http://schemas.microsoft.com/office/drawing/2014/main" id="{8C469DF3-1437-4E1B-ACEA-02B574177C95}"/>
              </a:ext>
            </a:extLst>
          </p:cNvPr>
          <p:cNvSpPr>
            <a:spLocks xmlns:a="http://schemas.openxmlformats.org/drawingml/2006/main" noGrp="1"/>
          </p:cNvSpPr>
          <p:nvPr/>
        </p:nvSpPr>
        <p:spPr>
          <a:xfrm xmlns:a="http://schemas.openxmlformats.org/drawingml/2006/main">
            <a:off x="7562850" y="3181350"/>
            <a:ext cx="3943350" cy="1162050"/>
          </a:xfrm>
          <a:prstGeom xmlns:a="http://schemas.openxmlformats.org/drawingml/2006/main" prst="roundRect">
            <a:avLst>
              <a:gd name="adj" fmla="val 9836"/>
            </a:avLst>
          </a:prstGeom>
          <a:solidFill xmlns:a="http://schemas.openxmlformats.org/drawingml/2006/main">
            <a:srgbClr val="E2ECFF"/>
          </a:solidFill>
          <a:ln xmlns:a="http://schemas.openxmlformats.org/drawingml/2006/main" w="13335">
            <a:solidFill>
              <a:srgbClr val="2D6CDF"/>
            </a:solidFill>
            <a:prstDash val="solid"/>
          </a:ln>
        </p:spPr>
      </p:sp>
      <p:sp>
        <p:nvSpPr>
          <p:cNvPr id="42" name="s9-card-title-1">
            <a:extLst xmlns:a="http://schemas.openxmlformats.org/drawingml/2006/main">
              <a:ext uri="{FF2B5EF4-FFF2-40B4-BE49-F238E27FC236}">
                <a16:creationId xmlns:a16="http://schemas.microsoft.com/office/drawing/2014/main" id="{63D2263A-87E6-4681-B720-C16596136E07}"/>
              </a:ext>
            </a:extLst>
          </p:cNvPr>
          <p:cNvSpPr>
            <a:spLocks xmlns:a="http://schemas.openxmlformats.org/drawingml/2006/main" noGrp="1"/>
          </p:cNvSpPr>
          <p:nvPr/>
        </p:nvSpPr>
        <p:spPr>
          <a:xfrm xmlns:a="http://schemas.openxmlformats.org/drawingml/2006/main">
            <a:off x="7715250" y="32766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55" b="1">
                <a:solidFill>
                  <a:srgbClr val="2D6CDF"/>
                </a:solidFill>
                <a:latin typeface="Aptos"/>
                <a:ea typeface="Aptos"/>
                <a:cs typeface="Aptos"/>
              </a:defRPr>
            </a:pPr>
            <a:r>
              <a:rPr sz="1155" b="1">
                <a:solidFill>
                  <a:srgbClr val="2D6CDF"/>
                </a:solidFill>
                <a:latin typeface="Aptos"/>
                <a:ea typeface="Aptos"/>
                <a:cs typeface="Aptos"/>
              </a:rPr>
              <a:t>2  REVIEW TASK-CRITICAL PANES</a:t>
            </a:r>
          </a:p>
        </p:txBody>
      </p:sp>
      <p:sp>
        <p:nvSpPr>
          <p:cNvPr id="43" name="s9-card-body-1">
            <a:extLst xmlns:a="http://schemas.openxmlformats.org/drawingml/2006/main">
              <a:ext uri="{FF2B5EF4-FFF2-40B4-BE49-F238E27FC236}">
                <a16:creationId xmlns:a16="http://schemas.microsoft.com/office/drawing/2014/main" id="{D1701031-FFF2-4490-A1B6-987EDBF2E249}"/>
              </a:ext>
            </a:extLst>
          </p:cNvPr>
          <p:cNvSpPr>
            <a:spLocks xmlns:a="http://schemas.openxmlformats.org/drawingml/2006/main" noGrp="1"/>
          </p:cNvSpPr>
          <p:nvPr/>
        </p:nvSpPr>
        <p:spPr>
          <a:xfrm xmlns:a="http://schemas.openxmlformats.org/drawingml/2006/main">
            <a:off x="7734300" y="35623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Solver • logging • diagnostics • hardware • model referencing • simulation target • code generation, when applicable.</a:t>
            </a:r>
          </a:p>
        </p:txBody>
      </p:sp>
      <p:sp>
        <p:nvSpPr>
          <p:cNvPr id="44" name="s9-card-2">
            <a:extLst xmlns:a="http://schemas.openxmlformats.org/drawingml/2006/main">
              <a:ext uri="{FF2B5EF4-FFF2-40B4-BE49-F238E27FC236}">
                <a16:creationId xmlns:a16="http://schemas.microsoft.com/office/drawing/2014/main" id="{B748BF4E-2C52-41AF-B726-C037FAEBBDA5}"/>
              </a:ext>
            </a:extLst>
          </p:cNvPr>
          <p:cNvSpPr>
            <a:spLocks xmlns:a="http://schemas.openxmlformats.org/drawingml/2006/main" noGrp="1"/>
          </p:cNvSpPr>
          <p:nvPr/>
        </p:nvSpPr>
        <p:spPr>
          <a:xfrm xmlns:a="http://schemas.openxmlformats.org/drawingml/2006/main">
            <a:off x="7562850" y="4476750"/>
            <a:ext cx="3943350" cy="1162050"/>
          </a:xfrm>
          <a:prstGeom xmlns:a="http://schemas.openxmlformats.org/drawingml/2006/main" prst="roundRect">
            <a:avLst>
              <a:gd name="adj" fmla="val 9836"/>
            </a:avLst>
          </a:prstGeom>
          <a:solidFill xmlns:a="http://schemas.openxmlformats.org/drawingml/2006/main">
            <a:srgbClr val="E2F4EA"/>
          </a:solidFill>
          <a:ln xmlns:a="http://schemas.openxmlformats.org/drawingml/2006/main" w="13335">
            <a:solidFill>
              <a:srgbClr val="2CA56F"/>
            </a:solidFill>
            <a:prstDash val="solid"/>
          </a:ln>
        </p:spPr>
      </p:sp>
      <p:sp>
        <p:nvSpPr>
          <p:cNvPr id="45" name="s9-card-title-2">
            <a:extLst xmlns:a="http://schemas.openxmlformats.org/drawingml/2006/main">
              <a:ext uri="{FF2B5EF4-FFF2-40B4-BE49-F238E27FC236}">
                <a16:creationId xmlns:a16="http://schemas.microsoft.com/office/drawing/2014/main" id="{B0826391-ED3A-4328-8A5A-D37986A79E55}"/>
              </a:ext>
            </a:extLst>
          </p:cNvPr>
          <p:cNvSpPr>
            <a:spLocks xmlns:a="http://schemas.openxmlformats.org/drawingml/2006/main" noGrp="1"/>
          </p:cNvSpPr>
          <p:nvPr/>
        </p:nvSpPr>
        <p:spPr>
          <a:xfrm xmlns:a="http://schemas.openxmlformats.org/drawingml/2006/main">
            <a:off x="7715250" y="45720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55" b="1">
                <a:solidFill>
                  <a:srgbClr val="2CA56F"/>
                </a:solidFill>
                <a:latin typeface="Aptos"/>
                <a:ea typeface="Aptos"/>
                <a:cs typeface="Aptos"/>
              </a:defRPr>
            </a:pPr>
            <a:r>
              <a:rPr sz="1155" b="1">
                <a:solidFill>
                  <a:srgbClr val="2CA56F"/>
                </a:solidFill>
                <a:latin typeface="Aptos"/>
                <a:ea typeface="Aptos"/>
                <a:cs typeface="Aptos"/>
              </a:rPr>
              <a:t>3  CHANGE UNDER CONTROL</a:t>
            </a:r>
          </a:p>
        </p:txBody>
      </p:sp>
      <p:sp>
        <p:nvSpPr>
          <p:cNvPr id="46" name="s9-card-body-2">
            <a:extLst xmlns:a="http://schemas.openxmlformats.org/drawingml/2006/main">
              <a:ext uri="{FF2B5EF4-FFF2-40B4-BE49-F238E27FC236}">
                <a16:creationId xmlns:a16="http://schemas.microsoft.com/office/drawing/2014/main" id="{F1CB5ECD-77A0-4E4F-A214-6D797A94CE28}"/>
              </a:ext>
            </a:extLst>
          </p:cNvPr>
          <p:cNvSpPr>
            <a:spLocks xmlns:a="http://schemas.openxmlformats.org/drawingml/2006/main" noGrp="1"/>
          </p:cNvSpPr>
          <p:nvPr/>
        </p:nvSpPr>
        <p:spPr>
          <a:xfrm xmlns:a="http://schemas.openxmlformats.org/drawingml/2006/main">
            <a:off x="7734300" y="48577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Record rationale → Apply/OK → Ctrl+D → rerun affected simulations and assessments → retain evidence.</a:t>
            </a:r>
          </a:p>
        </p:txBody>
      </p:sp>
      <p:sp>
        <p:nvSpPr>
          <p:cNvPr id="47" name="s9-evidence">
            <a:extLst xmlns:a="http://schemas.openxmlformats.org/drawingml/2006/main">
              <a:ext uri="{FF2B5EF4-FFF2-40B4-BE49-F238E27FC236}">
                <a16:creationId xmlns:a16="http://schemas.microsoft.com/office/drawing/2014/main" id="{D1F5EAB0-4AA6-4C7C-8F40-F499D9087489}"/>
              </a:ext>
            </a:extLst>
          </p:cNvPr>
          <p:cNvSpPr>
            <a:spLocks xmlns:a="http://schemas.openxmlformats.org/drawingml/2006/main" noGrp="1"/>
          </p:cNvSpPr>
          <p:nvPr/>
        </p:nvSpPr>
        <p:spPr>
          <a:xfrm xmlns:a="http://schemas.openxmlformats.org/drawingml/2006/main">
            <a:off x="685800" y="5905500"/>
            <a:ext cx="10820400" cy="266700"/>
          </a:xfrm>
          <a:prstGeom xmlns:a="http://schemas.openxmlformats.org/drawingml/2006/main" prst="roundRect">
            <a:avLst>
              <a:gd name="adj" fmla="val 42857"/>
            </a:avLst>
          </a:prstGeom>
          <a:solidFill xmlns:a="http://schemas.openxmlformats.org/drawingml/2006/main">
            <a:srgbClr val="EEF4F8"/>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65" b="1">
                <a:solidFill>
                  <a:srgbClr val="0B1F33"/>
                </a:solidFill>
                <a:latin typeface="Aptos"/>
                <a:ea typeface="Aptos"/>
                <a:cs typeface="Aptos"/>
              </a:defRPr>
            </a:pPr>
            <a:r>
              <a:rPr sz="1065" b="1">
                <a:solidFill>
                  <a:srgbClr val="0B1F33"/>
                </a:solidFill>
                <a:latin typeface="Aptos"/>
                <a:ea typeface="Aptos"/>
                <a:cs typeface="Aptos"/>
              </a:rPr>
              <a:t>CAPTURED HERE  •  active Configuration  •  stop time 12 s  •  Fixed-step  •  discrete (no continuous states)</a:t>
            </a:r>
          </a:p>
        </p:txBody>
      </p:sp>
    </p:spTree>
    <p:extLst>
      <p:ext uri="{BB962C8B-B14F-4D97-AF65-F5344CB8AC3E}">
        <p14:creationId xmlns:p14="http://schemas.microsoft.com/office/powerpoint/2010/main" val="354341949"/>
      </p:ext>
    </p:extLst>
  </p:cSld>
</p:sld>
</file>

<file path=ppt/slides/slide1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Model Advisor checks the selected component against chosen rules</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10</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WORKFLOW ILLUSTRATED  •  NO RETAINED MODEL ADVISOR RESULT IN THIS PACKAGE</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Placeholders: Bug Finder screens code; Code Prover deepens proof</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2D6CDF"/>
                </a:solidFill>
                <a:latin typeface="Aptos"/>
                <a:ea typeface="Aptos"/>
                <a:cs typeface="Aptos"/>
              </a:defRPr>
            </a:pPr>
            <a:r>
              <a:rPr sz="1005" b="1">
                <a:solidFill>
                  <a:srgbClr val="2D6CDF"/>
                </a:solidFill>
                <a:latin typeface="Aptos"/>
                <a:ea typeface="Aptos"/>
                <a:cs typeface="Aptos"/>
              </a:rPr>
              <a:t>INSERT BUG FINDER RESULT / REPORT HERE</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2CA56F"/>
                </a:solidFill>
                <a:latin typeface="Aptos"/>
                <a:ea typeface="Aptos"/>
                <a:cs typeface="Aptos"/>
              </a:defRPr>
            </a:pPr>
            <a:r>
              <a:rPr sz="1005" b="1">
                <a:solidFill>
                  <a:srgbClr val="2CA56F"/>
                </a:solidFill>
                <a:latin typeface="Aptos"/>
                <a:ea typeface="Aptos"/>
                <a:cs typeface="Aptos"/>
              </a:rPr>
              <a:t>INSERT CODE PROVER RESULT / REPORT HERE</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6788a9d9a134317"/>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d96b69bbbcf4a78"/>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a43c1bd547c4821"/>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2e5d52179d24d02"/>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9d76ad0ccb44455"/>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4ba228679314d3f"/>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59e1bc86b1e4254"/>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b9ef34d85594386"/>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f3079c578d54498"/>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a390542dfb1455a"/>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7a6a67fd2f24e55"/>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c0cb74b78764295"/>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4a79cd970574932"/>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1a858ab399c49e0"/>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20" name="s23-image-frame">
            <a:extLst xmlns:a="http://schemas.openxmlformats.org/drawingml/2006/main">
              <a:ext uri="{FF2B5EF4-FFF2-40B4-BE49-F238E27FC236}">
                <a16:creationId xmlns:a16="http://schemas.microsoft.com/office/drawing/2014/main" id="{94942EF4-6215-430A-842B-86B06BF1FA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e40e7f946394f5b"/>
          <a:stretch xmlns:a="http://schemas.openxmlformats.org/drawingml/2006/main"/>
        </p:blipFill>
        <p:spPr>
          <a:xfrm xmlns:a="http://schemas.openxmlformats.org/drawingml/2006/main">
            <a:off x="2292434" y="1438275"/>
            <a:ext cx="7607131" cy="4457700"/>
          </a:xfrm>
          <a:prstGeom xmlns:a="http://schemas.openxmlformats.org/drawingml/2006/main" prst="rect">
            <a:avLst/>
          </a:prstGeom>
        </p:spPr>
      </p:pic>
      <p:sp>
        <p:nvSpPr>
          <p:cNvPr id="22" name="s23-role">
            <a:extLst xmlns:a="http://schemas.openxmlformats.org/drawingml/2006/main">
              <a:ext uri="{FF2B5EF4-FFF2-40B4-BE49-F238E27FC236}">
                <a16:creationId xmlns:a16="http://schemas.microsoft.com/office/drawing/2014/main" id="{8E57BF9F-62F2-404C-B08E-18AEAC478C7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INDEPENDENT TEST HARNESS</a:t>
            </a:r>
          </a:p>
        </p:txBody>
      </p:sp>
      <p:sp>
        <p:nvSpPr>
          <p:cNvPr id="23" name="s23-caption">
            <a:extLst xmlns:a="http://schemas.openxmlformats.org/drawingml/2006/main">
              <a:ext uri="{FF2B5EF4-FFF2-40B4-BE49-F238E27FC236}">
                <a16:creationId xmlns:a16="http://schemas.microsoft.com/office/drawing/2014/main" id="{726190F5-3283-42E6-9B20-FD0164EDA2E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models/PitchRateLimiter_Harness.slx • references PitchRateLimiter</a:t>
            </a:r>
          </a:p>
        </p:txBody>
      </p:sp>
    </p:spTree>
    <p:extLst>
      <p:ext uri="{BB962C8B-B14F-4D97-AF65-F5344CB8AC3E}">
        <p14:creationId xmlns:p14="http://schemas.microsoft.com/office/powerpoint/2010/main" val="1234053405"/>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13" name="s28-banner">
            <a:extLst xmlns:a="http://schemas.openxmlformats.org/drawingml/2006/main">
              <a:ext uri="{FF2B5EF4-FFF2-40B4-BE49-F238E27FC236}">
                <a16:creationId xmlns:a16="http://schemas.microsoft.com/office/drawing/2014/main" id="{C4017E58-C473-429C-B288-A5C779532273}"/>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85" b="1">
                <a:solidFill>
                  <a:srgbClr val="071521"/>
                </a:solidFill>
                <a:latin typeface="Aptos"/>
                <a:ea typeface="Aptos"/>
                <a:cs typeface="Aptos"/>
              </a:defRPr>
            </a:pPr>
            <a:r>
              <a:rPr sz="1185" b="1">
                <a:solidFill>
                  <a:srgbClr val="071521"/>
                </a:solidFill>
                <a:latin typeface="Aptos"/>
                <a:ea typeface="Aptos"/>
                <a:cs typeface="Aptos"/>
              </a:rPr>
              <a:t>HARNESS DECISION POINT  •  UPDATE BEFORE EXECUTION; BUILD ONLY WHEN CODE ARTIFACTS ARE IN SCOPE</a:t>
            </a:r>
          </a:p>
        </p:txBody>
      </p:sp>
      <p:sp>
        <p:nvSpPr>
          <p:cNvPr id="14" name="s28-card-0">
            <a:extLst xmlns:a="http://schemas.openxmlformats.org/drawingml/2006/main">
              <a:ext uri="{FF2B5EF4-FFF2-40B4-BE49-F238E27FC236}">
                <a16:creationId xmlns:a16="http://schemas.microsoft.com/office/drawing/2014/main" id="{E3D9B517-FA7B-4695-BB4A-2E1532469213}"/>
              </a:ext>
            </a:extLst>
          </p:cNvPr>
          <p:cNvSpPr>
            <a:spLocks xmlns:a="http://schemas.openxmlformats.org/drawingml/2006/main" noGrp="1"/>
          </p:cNvSpPr>
          <p:nvPr/>
        </p:nvSpPr>
        <p:spPr>
          <a:xfrm xmlns:a="http://schemas.openxmlformats.org/drawingml/2006/main">
            <a:off x="685800" y="2000250"/>
            <a:ext cx="5219700" cy="3257550"/>
          </a:xfrm>
          <a:prstGeom xmlns:a="http://schemas.openxmlformats.org/drawingml/2006/main" prst="roundRect">
            <a:avLst>
              <a:gd name="adj" fmla="val 3509"/>
            </a:avLst>
          </a:prstGeom>
          <a:solidFill xmlns:a="http://schemas.openxmlformats.org/drawingml/2006/main">
            <a:srgbClr val="0C2133"/>
          </a:solidFill>
          <a:ln xmlns:a="http://schemas.openxmlformats.org/drawingml/2006/main" w="19050">
            <a:solidFill>
              <a:srgbClr val="20B7C5"/>
            </a:solidFill>
            <a:prstDash val="solid"/>
          </a:ln>
        </p:spPr>
      </p:sp>
      <p:sp>
        <p:nvSpPr>
          <p:cNvPr id="15" name="s28-key-0">
            <a:extLst xmlns:a="http://schemas.openxmlformats.org/drawingml/2006/main">
              <a:ext uri="{FF2B5EF4-FFF2-40B4-BE49-F238E27FC236}">
                <a16:creationId xmlns:a16="http://schemas.microsoft.com/office/drawing/2014/main" id="{8F06C4A0-EF80-43F4-A9B8-592446FE24D4}"/>
              </a:ext>
            </a:extLst>
          </p:cNvPr>
          <p:cNvSpPr>
            <a:spLocks xmlns:a="http://schemas.openxmlformats.org/drawingml/2006/main" noGrp="1"/>
          </p:cNvSpPr>
          <p:nvPr/>
        </p:nvSpPr>
        <p:spPr>
          <a:xfrm xmlns:a="http://schemas.openxmlformats.org/drawingml/2006/main">
            <a:off x="952500" y="2171700"/>
            <a:ext cx="468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550" b="1">
                <a:solidFill>
                  <a:srgbClr val="20B7C5"/>
                </a:solidFill>
                <a:latin typeface="Aptos"/>
                <a:ea typeface="Aptos"/>
                <a:cs typeface="Aptos"/>
              </a:defRPr>
            </a:pPr>
            <a:r>
              <a:rPr sz="2550" b="1">
                <a:solidFill>
                  <a:srgbClr val="20B7C5"/>
                </a:solidFill>
                <a:latin typeface="Aptos"/>
                <a:ea typeface="Aptos"/>
                <a:cs typeface="Aptos"/>
              </a:rPr>
              <a:t>Ctrl+D</a:t>
            </a:r>
          </a:p>
        </p:txBody>
      </p:sp>
      <p:sp>
        <p:nvSpPr>
          <p:cNvPr id="16" name="s28-title-0">
            <a:extLst xmlns:a="http://schemas.openxmlformats.org/drawingml/2006/main">
              <a:ext uri="{FF2B5EF4-FFF2-40B4-BE49-F238E27FC236}">
                <a16:creationId xmlns:a16="http://schemas.microsoft.com/office/drawing/2014/main" id="{F26223EA-CD18-4F3F-81C3-B3E7C2949F10}"/>
              </a:ext>
            </a:extLst>
          </p:cNvPr>
          <p:cNvSpPr>
            <a:spLocks xmlns:a="http://schemas.openxmlformats.org/drawingml/2006/main" noGrp="1"/>
          </p:cNvSpPr>
          <p:nvPr/>
        </p:nvSpPr>
        <p:spPr>
          <a:xfrm xmlns:a="http://schemas.openxmlformats.org/drawingml/2006/main">
            <a:off x="952500" y="26574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UPDATE MODEL / DIAGRAM</a:t>
            </a:r>
          </a:p>
        </p:txBody>
      </p:sp>
      <p:sp>
        <p:nvSpPr>
          <p:cNvPr id="17" name="s28-when-label-0">
            <a:extLst xmlns:a="http://schemas.openxmlformats.org/drawingml/2006/main">
              <a:ext uri="{FF2B5EF4-FFF2-40B4-BE49-F238E27FC236}">
                <a16:creationId xmlns:a16="http://schemas.microsoft.com/office/drawing/2014/main" id="{454996DF-9427-489C-A547-B36850C8B866}"/>
              </a:ext>
            </a:extLst>
          </p:cNvPr>
          <p:cNvSpPr>
            <a:spLocks xmlns:a="http://schemas.openxmlformats.org/drawingml/2006/main" noGrp="1"/>
          </p:cNvSpPr>
          <p:nvPr/>
        </p:nvSpPr>
        <p:spPr>
          <a:xfrm xmlns:a="http://schemas.openxmlformats.org/drawingml/2006/main">
            <a:off x="952500" y="30480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20B7C5"/>
                </a:solidFill>
                <a:latin typeface="Aptos"/>
                <a:ea typeface="Aptos"/>
                <a:cs typeface="Aptos"/>
              </a:defRPr>
            </a:pPr>
            <a:r>
              <a:rPr sz="975" b="1">
                <a:solidFill>
                  <a:srgbClr val="20B7C5"/>
                </a:solidFill>
                <a:latin typeface="Aptos"/>
                <a:ea typeface="Aptos"/>
                <a:cs typeface="Aptos"/>
              </a:rPr>
              <a:t>WHEN</a:t>
            </a:r>
          </a:p>
        </p:txBody>
      </p:sp>
      <p:sp>
        <p:nvSpPr>
          <p:cNvPr id="18" name="s28-when-0">
            <a:extLst xmlns:a="http://schemas.openxmlformats.org/drawingml/2006/main">
              <a:ext uri="{FF2B5EF4-FFF2-40B4-BE49-F238E27FC236}">
                <a16:creationId xmlns:a16="http://schemas.microsoft.com/office/drawing/2014/main" id="{99D8872D-77EF-4A8B-B716-288D4774493F}"/>
              </a:ext>
            </a:extLst>
          </p:cNvPr>
          <p:cNvSpPr>
            <a:spLocks xmlns:a="http://schemas.openxmlformats.org/drawingml/2006/main" noGrp="1"/>
          </p:cNvSpPr>
          <p:nvPr/>
        </p:nvSpPr>
        <p:spPr>
          <a:xfrm xmlns:a="http://schemas.openxmlformats.org/drawingml/2006/main">
            <a:off x="1809750" y="3009900"/>
            <a:ext cx="3790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E7F2F7"/>
                </a:solidFill>
                <a:latin typeface="Aptos"/>
                <a:ea typeface="Aptos"/>
                <a:cs typeface="Aptos"/>
              </a:defRPr>
            </a:pPr>
            <a:r>
              <a:rPr sz="1065" b="1">
                <a:solidFill>
                  <a:srgbClr val="E7F2F7"/>
                </a:solidFill>
                <a:latin typeface="Aptos"/>
                <a:ea typeface="Aptos"/>
                <a:cs typeface="Aptos"/>
              </a:rPr>
              <a:t>After opening the harness and UUT; after parameter, interface, data, or configuration changes; before simulation or assessments.</a:t>
            </a:r>
          </a:p>
        </p:txBody>
      </p:sp>
      <p:sp>
        <p:nvSpPr>
          <p:cNvPr id="19" name="s28-result-label-0">
            <a:extLst xmlns:a="http://schemas.openxmlformats.org/drawingml/2006/main">
              <a:ext uri="{FF2B5EF4-FFF2-40B4-BE49-F238E27FC236}">
                <a16:creationId xmlns:a16="http://schemas.microsoft.com/office/drawing/2014/main" id="{C66DFD67-D210-437F-8776-619A3748124A}"/>
              </a:ext>
            </a:extLst>
          </p:cNvPr>
          <p:cNvSpPr>
            <a:spLocks xmlns:a="http://schemas.openxmlformats.org/drawingml/2006/main" noGrp="1"/>
          </p:cNvSpPr>
          <p:nvPr/>
        </p:nvSpPr>
        <p:spPr>
          <a:xfrm xmlns:a="http://schemas.openxmlformats.org/drawingml/2006/main">
            <a:off x="952500" y="37338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20B7C5"/>
                </a:solidFill>
                <a:latin typeface="Aptos"/>
                <a:ea typeface="Aptos"/>
                <a:cs typeface="Aptos"/>
              </a:defRPr>
            </a:pPr>
            <a:r>
              <a:rPr sz="975" b="1">
                <a:solidFill>
                  <a:srgbClr val="20B7C5"/>
                </a:solidFill>
                <a:latin typeface="Aptos"/>
                <a:ea typeface="Aptos"/>
                <a:cs typeface="Aptos"/>
              </a:rPr>
              <a:t>RESULT</a:t>
            </a:r>
          </a:p>
        </p:txBody>
      </p:sp>
      <p:sp>
        <p:nvSpPr>
          <p:cNvPr id="20" name="s28-result-0">
            <a:extLst xmlns:a="http://schemas.openxmlformats.org/drawingml/2006/main">
              <a:ext uri="{FF2B5EF4-FFF2-40B4-BE49-F238E27FC236}">
                <a16:creationId xmlns:a16="http://schemas.microsoft.com/office/drawing/2014/main" id="{ED6E5801-5E60-446E-A500-65DE89EB87CF}"/>
              </a:ext>
            </a:extLst>
          </p:cNvPr>
          <p:cNvSpPr>
            <a:spLocks xmlns:a="http://schemas.openxmlformats.org/drawingml/2006/main" noGrp="1"/>
          </p:cNvSpPr>
          <p:nvPr/>
        </p:nvSpPr>
        <p:spPr>
          <a:xfrm xmlns:a="http://schemas.openxmlformats.org/drawingml/2006/main">
            <a:off x="1809750" y="3695700"/>
            <a:ext cx="379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E7F2F7"/>
                </a:solidFill>
                <a:latin typeface="Aptos"/>
                <a:ea typeface="Aptos"/>
                <a:cs typeface="Aptos"/>
              </a:defRPr>
            </a:pPr>
            <a:r>
              <a:rPr sz="1065" b="1">
                <a:solidFill>
                  <a:srgbClr val="E7F2F7"/>
                </a:solidFill>
                <a:latin typeface="Aptos"/>
                <a:ea typeface="Aptos"/>
                <a:cs typeface="Aptos"/>
              </a:rPr>
              <a:t>Evaluates parameters; propagates types, dimensions, and sample times; resolves references; catches update-time errors. It does not advance simulation time.</a:t>
            </a:r>
          </a:p>
        </p:txBody>
      </p:sp>
      <p:sp>
        <p:nvSpPr>
          <p:cNvPr id="21" name="s28-retained-0">
            <a:extLst xmlns:a="http://schemas.openxmlformats.org/drawingml/2006/main">
              <a:ext uri="{FF2B5EF4-FFF2-40B4-BE49-F238E27FC236}">
                <a16:creationId xmlns:a16="http://schemas.microsoft.com/office/drawing/2014/main" id="{EAD5A14B-EDBE-416F-B000-84A7478D769F}"/>
              </a:ext>
            </a:extLst>
          </p:cNvPr>
          <p:cNvSpPr>
            <a:spLocks xmlns:a="http://schemas.openxmlformats.org/drawingml/2006/main" noGrp="1"/>
          </p:cNvSpPr>
          <p:nvPr/>
        </p:nvSpPr>
        <p:spPr>
          <a:xfrm xmlns:a="http://schemas.openxmlformats.org/drawingml/2006/main">
            <a:off x="952500" y="4552950"/>
            <a:ext cx="4686300" cy="552450"/>
          </a:xfrm>
          <a:prstGeom xmlns:a="http://schemas.openxmlformats.org/drawingml/2006/main" prst="roundRect">
            <a:avLst>
              <a:gd name="adj" fmla="val 20690"/>
            </a:avLst>
          </a:prstGeom>
          <a:solidFill xmlns:a="http://schemas.openxmlformats.org/drawingml/2006/main">
            <a:srgbClr val="E2F4EA"/>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071521"/>
                </a:solidFill>
                <a:latin typeface="Aptos"/>
                <a:ea typeface="Aptos"/>
                <a:cs typeface="Aptos"/>
              </a:defRPr>
            </a:pPr>
            <a:r>
              <a:rPr sz="1005" b="1">
                <a:solidFill>
                  <a:srgbClr val="071521"/>
                </a:solidFill>
                <a:latin typeface="Aptos"/>
                <a:ea typeface="Aptos"/>
                <a:cs typeface="Aptos"/>
              </a:rPr>
              <a:t>PASS — package validator retained 8/8 delivered models updated / compiled.</a:t>
            </a:r>
          </a:p>
        </p:txBody>
      </p:sp>
      <p:sp>
        <p:nvSpPr>
          <p:cNvPr id="22" name="s28-card-1">
            <a:extLst xmlns:a="http://schemas.openxmlformats.org/drawingml/2006/main">
              <a:ext uri="{FF2B5EF4-FFF2-40B4-BE49-F238E27FC236}">
                <a16:creationId xmlns:a16="http://schemas.microsoft.com/office/drawing/2014/main" id="{497FBBC9-8932-4E88-B97C-3E112A64B287}"/>
              </a:ext>
            </a:extLst>
          </p:cNvPr>
          <p:cNvSpPr>
            <a:spLocks xmlns:a="http://schemas.openxmlformats.org/drawingml/2006/main" noGrp="1"/>
          </p:cNvSpPr>
          <p:nvPr/>
        </p:nvSpPr>
        <p:spPr>
          <a:xfrm xmlns:a="http://schemas.openxmlformats.org/drawingml/2006/main">
            <a:off x="6286500" y="2000250"/>
            <a:ext cx="5219700" cy="3257550"/>
          </a:xfrm>
          <a:prstGeom xmlns:a="http://schemas.openxmlformats.org/drawingml/2006/main" prst="roundRect">
            <a:avLst>
              <a:gd name="adj" fmla="val 3509"/>
            </a:avLst>
          </a:prstGeom>
          <a:solidFill xmlns:a="http://schemas.openxmlformats.org/drawingml/2006/main">
            <a:srgbClr val="0C2133"/>
          </a:solidFill>
          <a:ln xmlns:a="http://schemas.openxmlformats.org/drawingml/2006/main" w="19050">
            <a:solidFill>
              <a:srgbClr val="E9A23B"/>
            </a:solidFill>
            <a:prstDash val="solid"/>
          </a:ln>
        </p:spPr>
      </p:sp>
      <p:sp>
        <p:nvSpPr>
          <p:cNvPr id="23" name="s28-key-1">
            <a:extLst xmlns:a="http://schemas.openxmlformats.org/drawingml/2006/main">
              <a:ext uri="{FF2B5EF4-FFF2-40B4-BE49-F238E27FC236}">
                <a16:creationId xmlns:a16="http://schemas.microsoft.com/office/drawing/2014/main" id="{C9D56885-C480-4E8D-AA20-619AB9980332}"/>
              </a:ext>
            </a:extLst>
          </p:cNvPr>
          <p:cNvSpPr>
            <a:spLocks xmlns:a="http://schemas.openxmlformats.org/drawingml/2006/main" noGrp="1"/>
          </p:cNvSpPr>
          <p:nvPr/>
        </p:nvSpPr>
        <p:spPr>
          <a:xfrm xmlns:a="http://schemas.openxmlformats.org/drawingml/2006/main">
            <a:off x="6553200" y="2171700"/>
            <a:ext cx="468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550" b="1">
                <a:solidFill>
                  <a:srgbClr val="E9A23B"/>
                </a:solidFill>
                <a:latin typeface="Aptos"/>
                <a:ea typeface="Aptos"/>
                <a:cs typeface="Aptos"/>
              </a:defRPr>
            </a:pPr>
            <a:r>
              <a:rPr sz="2550" b="1">
                <a:solidFill>
                  <a:srgbClr val="E9A23B"/>
                </a:solidFill>
                <a:latin typeface="Aptos"/>
                <a:ea typeface="Aptos"/>
                <a:cs typeface="Aptos"/>
              </a:rPr>
              <a:t>Ctrl+B</a:t>
            </a:r>
          </a:p>
        </p:txBody>
      </p:sp>
      <p:sp>
        <p:nvSpPr>
          <p:cNvPr id="24" name="s28-title-1">
            <a:extLst xmlns:a="http://schemas.openxmlformats.org/drawingml/2006/main">
              <a:ext uri="{FF2B5EF4-FFF2-40B4-BE49-F238E27FC236}">
                <a16:creationId xmlns:a16="http://schemas.microsoft.com/office/drawing/2014/main" id="{7BBA8205-3ADC-43F4-82A8-956D0281470E}"/>
              </a:ext>
            </a:extLst>
          </p:cNvPr>
          <p:cNvSpPr>
            <a:spLocks xmlns:a="http://schemas.openxmlformats.org/drawingml/2006/main" noGrp="1"/>
          </p:cNvSpPr>
          <p:nvPr/>
        </p:nvSpPr>
        <p:spPr>
          <a:xfrm xmlns:a="http://schemas.openxmlformats.org/drawingml/2006/main">
            <a:off x="6553200" y="26574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BUILD MODEL</a:t>
            </a:r>
          </a:p>
        </p:txBody>
      </p:sp>
      <p:sp>
        <p:nvSpPr>
          <p:cNvPr id="25" name="s28-when-label-1">
            <a:extLst xmlns:a="http://schemas.openxmlformats.org/drawingml/2006/main">
              <a:ext uri="{FF2B5EF4-FFF2-40B4-BE49-F238E27FC236}">
                <a16:creationId xmlns:a16="http://schemas.microsoft.com/office/drawing/2014/main" id="{AC716FB9-163C-4B34-B458-A6D206FCBD8E}"/>
              </a:ext>
            </a:extLst>
          </p:cNvPr>
          <p:cNvSpPr>
            <a:spLocks xmlns:a="http://schemas.openxmlformats.org/drawingml/2006/main" noGrp="1"/>
          </p:cNvSpPr>
          <p:nvPr/>
        </p:nvSpPr>
        <p:spPr>
          <a:xfrm xmlns:a="http://schemas.openxmlformats.org/drawingml/2006/main">
            <a:off x="6553200" y="30480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E9A23B"/>
                </a:solidFill>
                <a:latin typeface="Aptos"/>
                <a:ea typeface="Aptos"/>
                <a:cs typeface="Aptos"/>
              </a:defRPr>
            </a:pPr>
            <a:r>
              <a:rPr sz="975" b="1">
                <a:solidFill>
                  <a:srgbClr val="E9A23B"/>
                </a:solidFill>
                <a:latin typeface="Aptos"/>
                <a:ea typeface="Aptos"/>
                <a:cs typeface="Aptos"/>
              </a:rPr>
              <a:t>WHEN</a:t>
            </a:r>
          </a:p>
        </p:txBody>
      </p:sp>
      <p:sp>
        <p:nvSpPr>
          <p:cNvPr id="26" name="s28-when-1">
            <a:extLst xmlns:a="http://schemas.openxmlformats.org/drawingml/2006/main">
              <a:ext uri="{FF2B5EF4-FFF2-40B4-BE49-F238E27FC236}">
                <a16:creationId xmlns:a16="http://schemas.microsoft.com/office/drawing/2014/main" id="{9D3315B2-622C-42BD-9DEA-3207FF2612CE}"/>
              </a:ext>
            </a:extLst>
          </p:cNvPr>
          <p:cNvSpPr>
            <a:spLocks xmlns:a="http://schemas.openxmlformats.org/drawingml/2006/main" noGrp="1"/>
          </p:cNvSpPr>
          <p:nvPr/>
        </p:nvSpPr>
        <p:spPr>
          <a:xfrm xmlns:a="http://schemas.openxmlformats.org/drawingml/2006/main">
            <a:off x="7410450" y="3009900"/>
            <a:ext cx="3790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E7F2F7"/>
                </a:solidFill>
                <a:latin typeface="Aptos"/>
                <a:ea typeface="Aptos"/>
                <a:cs typeface="Aptos"/>
              </a:defRPr>
            </a:pPr>
            <a:r>
              <a:rPr sz="1065" b="1">
                <a:solidFill>
                  <a:srgbClr val="E7F2F7"/>
                </a:solidFill>
                <a:latin typeface="Aptos"/>
                <a:ea typeface="Aptos"/>
                <a:cs typeface="Aptos"/>
              </a:rPr>
              <a:t>Only after Ctrl+D passes and code generation is part of the planned task with the active target and toolchain configured.</a:t>
            </a:r>
          </a:p>
        </p:txBody>
      </p:sp>
      <p:sp>
        <p:nvSpPr>
          <p:cNvPr id="27" name="s28-result-label-1">
            <a:extLst xmlns:a="http://schemas.openxmlformats.org/drawingml/2006/main">
              <a:ext uri="{FF2B5EF4-FFF2-40B4-BE49-F238E27FC236}">
                <a16:creationId xmlns:a16="http://schemas.microsoft.com/office/drawing/2014/main" id="{798E50CF-918A-42AA-B740-C48A6527DCFA}"/>
              </a:ext>
            </a:extLst>
          </p:cNvPr>
          <p:cNvSpPr>
            <a:spLocks xmlns:a="http://schemas.openxmlformats.org/drawingml/2006/main" noGrp="1"/>
          </p:cNvSpPr>
          <p:nvPr/>
        </p:nvSpPr>
        <p:spPr>
          <a:xfrm xmlns:a="http://schemas.openxmlformats.org/drawingml/2006/main">
            <a:off x="6553200" y="37338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E9A23B"/>
                </a:solidFill>
                <a:latin typeface="Aptos"/>
                <a:ea typeface="Aptos"/>
                <a:cs typeface="Aptos"/>
              </a:defRPr>
            </a:pPr>
            <a:r>
              <a:rPr sz="975" b="1">
                <a:solidFill>
                  <a:srgbClr val="E9A23B"/>
                </a:solidFill>
                <a:latin typeface="Aptos"/>
                <a:ea typeface="Aptos"/>
                <a:cs typeface="Aptos"/>
              </a:rPr>
              <a:t>RESULT</a:t>
            </a:r>
          </a:p>
        </p:txBody>
      </p:sp>
      <p:sp>
        <p:nvSpPr>
          <p:cNvPr id="28" name="s28-result-1">
            <a:extLst xmlns:a="http://schemas.openxmlformats.org/drawingml/2006/main">
              <a:ext uri="{FF2B5EF4-FFF2-40B4-BE49-F238E27FC236}">
                <a16:creationId xmlns:a16="http://schemas.microsoft.com/office/drawing/2014/main" id="{B20879BF-0947-4750-B6C3-78E16CC03675}"/>
              </a:ext>
            </a:extLst>
          </p:cNvPr>
          <p:cNvSpPr>
            <a:spLocks xmlns:a="http://schemas.openxmlformats.org/drawingml/2006/main" noGrp="1"/>
          </p:cNvSpPr>
          <p:nvPr/>
        </p:nvSpPr>
        <p:spPr>
          <a:xfrm xmlns:a="http://schemas.openxmlformats.org/drawingml/2006/main">
            <a:off x="7410450" y="3695700"/>
            <a:ext cx="3790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E7F2F7"/>
                </a:solidFill>
                <a:latin typeface="Aptos"/>
                <a:ea typeface="Aptos"/>
                <a:cs typeface="Aptos"/>
              </a:defRPr>
            </a:pPr>
            <a:r>
              <a:rPr sz="1065" b="1">
                <a:solidFill>
                  <a:srgbClr val="E7F2F7"/>
                </a:solidFill>
                <a:latin typeface="Aptos"/>
                <a:ea typeface="Aptos"/>
                <a:cs typeface="Aptos"/>
              </a:rPr>
              <a:t>Starts target-dependent code generation and build. Outputs can include generated source, objects, libraries, executables, and reports depending on settings.</a:t>
            </a:r>
          </a:p>
        </p:txBody>
      </p:sp>
      <p:sp>
        <p:nvSpPr>
          <p:cNvPr id="29" name="s28-retained-1">
            <a:extLst xmlns:a="http://schemas.openxmlformats.org/drawingml/2006/main">
              <a:ext uri="{FF2B5EF4-FFF2-40B4-BE49-F238E27FC236}">
                <a16:creationId xmlns:a16="http://schemas.microsoft.com/office/drawing/2014/main" id="{E577FE24-B2BC-489F-BF13-18842BB3A5DC}"/>
              </a:ext>
            </a:extLst>
          </p:cNvPr>
          <p:cNvSpPr>
            <a:spLocks xmlns:a="http://schemas.openxmlformats.org/drawingml/2006/main" noGrp="1"/>
          </p:cNvSpPr>
          <p:nvPr/>
        </p:nvSpPr>
        <p:spPr>
          <a:xfrm xmlns:a="http://schemas.openxmlformats.org/drawingml/2006/main">
            <a:off x="6553200" y="4552950"/>
            <a:ext cx="4686300" cy="552450"/>
          </a:xfrm>
          <a:prstGeom xmlns:a="http://schemas.openxmlformats.org/drawingml/2006/main" prst="roundRect">
            <a:avLst>
              <a:gd name="adj" fmla="val 20690"/>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071521"/>
                </a:solidFill>
                <a:latin typeface="Aptos"/>
                <a:ea typeface="Aptos"/>
                <a:cs typeface="Aptos"/>
              </a:defRPr>
            </a:pPr>
            <a:r>
              <a:rPr sz="1005" b="1">
                <a:solidFill>
                  <a:srgbClr val="071521"/>
                </a:solidFill>
                <a:latin typeface="Aptos"/>
                <a:ea typeface="Aptos"/>
                <a:cs typeface="Aptos"/>
              </a:rPr>
              <a:t>GRT model-reference intermediates exist for four child models; no retained build report or production / embedded-code approval claim.</a:t>
            </a:r>
          </a:p>
        </p:txBody>
      </p:sp>
      <p:sp>
        <p:nvSpPr>
          <p:cNvPr id="30" name="s28-sequence">
            <a:extLst xmlns:a="http://schemas.openxmlformats.org/drawingml/2006/main">
              <a:ext uri="{FF2B5EF4-FFF2-40B4-BE49-F238E27FC236}">
                <a16:creationId xmlns:a16="http://schemas.microsoft.com/office/drawing/2014/main" id="{319A196E-2C2D-4DF6-9DB7-579EC4857CEA}"/>
              </a:ext>
            </a:extLst>
          </p:cNvPr>
          <p:cNvSpPr>
            <a:spLocks xmlns:a="http://schemas.openxmlformats.org/drawingml/2006/main" noGrp="1"/>
          </p:cNvSpPr>
          <p:nvPr/>
        </p:nvSpPr>
        <p:spPr>
          <a:xfrm xmlns:a="http://schemas.openxmlformats.org/drawingml/2006/main">
            <a:off x="685800" y="5448300"/>
            <a:ext cx="10820400" cy="666750"/>
          </a:xfrm>
          <a:prstGeom xmlns:a="http://schemas.openxmlformats.org/drawingml/2006/main" prst="roundRect">
            <a:avLst>
              <a:gd name="adj" fmla="val 17143"/>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RECOMMENDED HARNESS SEQUENCE  •  Ctrl+D  →  run_pitch_rate_limiter_tests  →  inspect 19/19 retained results</a:t>
            </a:r>
          </a:p>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Ctrl+B is a separate optional code-generation gate—not a prerequisite for the desktop MIL assessment.</a:t>
            </a:r>
          </a:p>
        </p:txBody>
      </p:sp>
    </p:spTree>
    <p:extLst>
      <p:ext uri="{BB962C8B-B14F-4D97-AF65-F5344CB8AC3E}">
        <p14:creationId xmlns:p14="http://schemas.microsoft.com/office/powerpoint/2010/main" val="1612514186"/>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1fce1f2d84a44683"/>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3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3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3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33</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332"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33"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34"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35"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336"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34</a:t>
            </a:r>
          </a:p>
        </p:txBody>
      </p:sp>
    </p:spTree>
    <p:extLst>
      <p:ext uri="{BB962C8B-B14F-4D97-AF65-F5344CB8AC3E}">
        <p14:creationId xmlns:p14="http://schemas.microsoft.com/office/powerpoint/2010/main" val="125380021"/>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3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
        <p:nvSpPr>
          <p:cNvPr id="25" name="s31-down-0">
            <a:extLst xmlns:a="http://schemas.openxmlformats.org/drawingml/2006/main">
              <a:ext uri="{FF2B5EF4-FFF2-40B4-BE49-F238E27FC236}">
                <a16:creationId xmlns:a16="http://schemas.microsoft.com/office/drawing/2014/main" id="{4616FC85-18A4-4963-AB60-BABF6DDAAEF2}"/>
              </a:ext>
            </a:extLst>
          </p:cNvPr>
          <p:cNvSpPr>
            <a:spLocks xmlns:a="http://schemas.openxmlformats.org/drawingml/2006/main" noGrp="1"/>
          </p:cNvSpPr>
          <p:nvPr/>
        </p:nvSpPr>
        <p:spPr>
          <a:xfrm xmlns:a="http://schemas.openxmlformats.org/drawingml/2006/main">
            <a:off x="3438525" y="21050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6" name="s31-down-1">
            <a:extLst xmlns:a="http://schemas.openxmlformats.org/drawingml/2006/main">
              <a:ext uri="{FF2B5EF4-FFF2-40B4-BE49-F238E27FC236}">
                <a16:creationId xmlns:a16="http://schemas.microsoft.com/office/drawing/2014/main" id="{4E975D15-721C-4220-89E0-5D56DE826FD3}"/>
              </a:ext>
            </a:extLst>
          </p:cNvPr>
          <p:cNvSpPr>
            <a:spLocks xmlns:a="http://schemas.openxmlformats.org/drawingml/2006/main" noGrp="1"/>
          </p:cNvSpPr>
          <p:nvPr/>
        </p:nvSpPr>
        <p:spPr>
          <a:xfrm xmlns:a="http://schemas.openxmlformats.org/drawingml/2006/main">
            <a:off x="3438525" y="29813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7" name="s31-down-2">
            <a:extLst xmlns:a="http://schemas.openxmlformats.org/drawingml/2006/main">
              <a:ext uri="{FF2B5EF4-FFF2-40B4-BE49-F238E27FC236}">
                <a16:creationId xmlns:a16="http://schemas.microsoft.com/office/drawing/2014/main" id="{B9DBF7E7-BDF6-4746-8B64-AEF31AF420E1}"/>
              </a:ext>
            </a:extLst>
          </p:cNvPr>
          <p:cNvSpPr>
            <a:spLocks xmlns:a="http://schemas.openxmlformats.org/drawingml/2006/main" noGrp="1"/>
          </p:cNvSpPr>
          <p:nvPr/>
        </p:nvSpPr>
        <p:spPr>
          <a:xfrm xmlns:a="http://schemas.openxmlformats.org/drawingml/2006/main">
            <a:off x="3438525" y="38576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8" name="s31-down-3">
            <a:extLst xmlns:a="http://schemas.openxmlformats.org/drawingml/2006/main">
              <a:ext uri="{FF2B5EF4-FFF2-40B4-BE49-F238E27FC236}">
                <a16:creationId xmlns:a16="http://schemas.microsoft.com/office/drawing/2014/main" id="{AC014577-47CC-4353-8AFA-9E32145313F9}"/>
              </a:ext>
            </a:extLst>
          </p:cNvPr>
          <p:cNvSpPr>
            <a:spLocks xmlns:a="http://schemas.openxmlformats.org/drawingml/2006/main" noGrp="1"/>
          </p:cNvSpPr>
          <p:nvPr/>
        </p:nvSpPr>
        <p:spPr>
          <a:xfrm xmlns:a="http://schemas.openxmlformats.org/drawingml/2006/main">
            <a:off x="3438525" y="47339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9" name="s31-ref-link">
            <a:extLst xmlns:a="http://schemas.openxmlformats.org/drawingml/2006/main">
              <a:ext uri="{FF2B5EF4-FFF2-40B4-BE49-F238E27FC236}">
                <a16:creationId xmlns:a16="http://schemas.microsoft.com/office/drawing/2014/main" id="{480BC147-7196-4065-8D1E-D63ADFEB8FC0}"/>
              </a:ext>
            </a:extLst>
          </p:cNvPr>
          <p:cNvSpPr>
            <a:spLocks xmlns:a="http://schemas.openxmlformats.org/drawingml/2006/main" noGrp="1"/>
          </p:cNvSpPr>
          <p:nvPr/>
        </p:nvSpPr>
        <p:spPr>
          <a:xfrm xmlns:a="http://schemas.openxmlformats.org/drawingml/2006/main">
            <a:off x="5810250" y="2667000"/>
            <a:ext cx="742950" cy="0"/>
          </a:xfrm>
          <a:prstGeom xmlns:a="http://schemas.openxmlformats.org/drawingml/2006/main" prst="line">
            <a:avLst/>
          </a:prstGeom>
          <a:noFill xmlns:a="http://schemas.openxmlformats.org/drawingml/2006/main"/>
          <a:ln xmlns:a="http://schemas.openxmlformats.org/drawingml/2006/main" w="22860">
            <a:solidFill>
              <a:srgbClr val="2CA56F"/>
            </a:solidFill>
            <a:prstDash val="solid"/>
          </a:ln>
        </p:spPr>
      </p:sp>
      <p:sp>
        <p:nvSpPr>
          <p:cNvPr id="30" name="s31-trace-link">
            <a:extLst xmlns:a="http://schemas.openxmlformats.org/drawingml/2006/main">
              <a:ext uri="{FF2B5EF4-FFF2-40B4-BE49-F238E27FC236}">
                <a16:creationId xmlns:a16="http://schemas.microsoft.com/office/drawing/2014/main" id="{4889D4BA-D119-4E17-9A74-C1C59B2FDF75}"/>
              </a:ext>
            </a:extLst>
          </p:cNvPr>
          <p:cNvSpPr>
            <a:spLocks xmlns:a="http://schemas.openxmlformats.org/drawingml/2006/main" noGrp="1"/>
          </p:cNvSpPr>
          <p:nvPr/>
        </p:nvSpPr>
        <p:spPr>
          <a:xfrm xmlns:a="http://schemas.openxmlformats.org/drawingml/2006/main">
            <a:off x="5810250" y="3543300"/>
            <a:ext cx="742950" cy="0"/>
          </a:xfrm>
          <a:prstGeom xmlns:a="http://schemas.openxmlformats.org/drawingml/2006/main" prst="line">
            <a:avLst/>
          </a:prstGeom>
          <a:noFill xmlns:a="http://schemas.openxmlformats.org/drawingml/2006/main"/>
          <a:ln xmlns:a="http://schemas.openxmlformats.org/drawingml/2006/main" w="22860">
            <a:solidFill>
              <a:srgbClr val="2D6CDF"/>
            </a:solidFill>
            <a:prstDash val="solid"/>
          </a:ln>
        </p:spPr>
      </p:sp>
      <p:sp>
        <p:nvSpPr>
          <p:cNvPr id="31" name="s31-flow-0">
            <a:extLst xmlns:a="http://schemas.openxmlformats.org/drawingml/2006/main">
              <a:ext uri="{FF2B5EF4-FFF2-40B4-BE49-F238E27FC236}">
                <a16:creationId xmlns:a16="http://schemas.microsoft.com/office/drawing/2014/main" id="{11454C18-4165-42AC-90D4-A6B2461AD47E}"/>
              </a:ext>
            </a:extLst>
          </p:cNvPr>
          <p:cNvSpPr>
            <a:spLocks xmlns:a="http://schemas.openxmlformats.org/drawingml/2006/main" noGrp="1"/>
          </p:cNvSpPr>
          <p:nvPr/>
        </p:nvSpPr>
        <p:spPr>
          <a:xfrm xmlns:a="http://schemas.openxmlformats.org/drawingml/2006/main">
            <a:off x="685800" y="14763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2" name="s31-flow-path-0">
            <a:extLst xmlns:a="http://schemas.openxmlformats.org/drawingml/2006/main">
              <a:ext uri="{FF2B5EF4-FFF2-40B4-BE49-F238E27FC236}">
                <a16:creationId xmlns:a16="http://schemas.microsoft.com/office/drawing/2014/main" id="{CAFFC582-E087-4FE4-B5AD-D0286AFF57F4}"/>
              </a:ext>
            </a:extLst>
          </p:cNvPr>
          <p:cNvSpPr>
            <a:spLocks xmlns:a="http://schemas.openxmlformats.org/drawingml/2006/main" noGrp="1"/>
          </p:cNvSpPr>
          <p:nvPr/>
        </p:nvSpPr>
        <p:spPr>
          <a:xfrm xmlns:a="http://schemas.openxmlformats.org/drawingml/2006/main">
            <a:off x="857250" y="15430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data/FCS_Data.sldd</a:t>
            </a:r>
          </a:p>
        </p:txBody>
      </p:sp>
      <p:sp>
        <p:nvSpPr>
          <p:cNvPr id="33" name="s31-flow-role-0">
            <a:extLst xmlns:a="http://schemas.openxmlformats.org/drawingml/2006/main">
              <a:ext uri="{FF2B5EF4-FFF2-40B4-BE49-F238E27FC236}">
                <a16:creationId xmlns:a16="http://schemas.microsoft.com/office/drawing/2014/main" id="{6EB40220-B8E3-45D9-8C4E-99AA8ED3D920}"/>
              </a:ext>
            </a:extLst>
          </p:cNvPr>
          <p:cNvSpPr>
            <a:spLocks xmlns:a="http://schemas.openxmlformats.org/drawingml/2006/main" noGrp="1"/>
          </p:cNvSpPr>
          <p:nvPr/>
        </p:nvSpPr>
        <p:spPr>
          <a:xfrm xmlns:a="http://schemas.openxmlformats.org/drawingml/2006/main">
            <a:off x="857250" y="17907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controlled parameters, buses, units, ranges</a:t>
            </a:r>
          </a:p>
        </p:txBody>
      </p:sp>
      <p:sp>
        <p:nvSpPr>
          <p:cNvPr id="34" name="s31-flow-1">
            <a:extLst xmlns:a="http://schemas.openxmlformats.org/drawingml/2006/main">
              <a:ext uri="{FF2B5EF4-FFF2-40B4-BE49-F238E27FC236}">
                <a16:creationId xmlns:a16="http://schemas.microsoft.com/office/drawing/2014/main" id="{28C91B52-238C-4263-8118-4069A0B734A7}"/>
              </a:ext>
            </a:extLst>
          </p:cNvPr>
          <p:cNvSpPr>
            <a:spLocks xmlns:a="http://schemas.openxmlformats.org/drawingml/2006/main" noGrp="1"/>
          </p:cNvSpPr>
          <p:nvPr/>
        </p:nvSpPr>
        <p:spPr>
          <a:xfrm xmlns:a="http://schemas.openxmlformats.org/drawingml/2006/main">
            <a:off x="685800" y="23526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5" name="s31-flow-path-1">
            <a:extLst xmlns:a="http://schemas.openxmlformats.org/drawingml/2006/main">
              <a:ext uri="{FF2B5EF4-FFF2-40B4-BE49-F238E27FC236}">
                <a16:creationId xmlns:a16="http://schemas.microsoft.com/office/drawing/2014/main" id="{AAE1302A-D831-401C-8BD2-079687F7C466}"/>
              </a:ext>
            </a:extLst>
          </p:cNvPr>
          <p:cNvSpPr>
            <a:spLocks xmlns:a="http://schemas.openxmlformats.org/drawingml/2006/main" noGrp="1"/>
          </p:cNvSpPr>
          <p:nvPr/>
        </p:nvSpPr>
        <p:spPr>
          <a:xfrm xmlns:a="http://schemas.openxmlformats.org/drawingml/2006/main">
            <a:off x="857250" y="24193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models/PitchRateLimiter_Harness.slx</a:t>
            </a:r>
          </a:p>
        </p:txBody>
      </p:sp>
      <p:sp>
        <p:nvSpPr>
          <p:cNvPr id="36" name="s31-flow-role-1">
            <a:extLst xmlns:a="http://schemas.openxmlformats.org/drawingml/2006/main">
              <a:ext uri="{FF2B5EF4-FFF2-40B4-BE49-F238E27FC236}">
                <a16:creationId xmlns:a16="http://schemas.microsoft.com/office/drawing/2014/main" id="{2B6FFE49-5830-4FE5-B59A-59FD59AA1C72}"/>
              </a:ext>
            </a:extLst>
          </p:cNvPr>
          <p:cNvSpPr>
            <a:spLocks xmlns:a="http://schemas.openxmlformats.org/drawingml/2006/main" noGrp="1"/>
          </p:cNvSpPr>
          <p:nvPr/>
        </p:nvSpPr>
        <p:spPr>
          <a:xfrm xmlns:a="http://schemas.openxmlformats.org/drawingml/2006/main">
            <a:off x="857250" y="26670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stimulus + capture around the UUT</a:t>
            </a:r>
          </a:p>
        </p:txBody>
      </p:sp>
      <p:sp>
        <p:nvSpPr>
          <p:cNvPr id="37" name="s31-flow-2">
            <a:extLst xmlns:a="http://schemas.openxmlformats.org/drawingml/2006/main">
              <a:ext uri="{FF2B5EF4-FFF2-40B4-BE49-F238E27FC236}">
                <a16:creationId xmlns:a16="http://schemas.microsoft.com/office/drawing/2014/main" id="{0DF6F4F0-8B3F-40E9-8B8B-A4ACFDACEF67}"/>
              </a:ext>
            </a:extLst>
          </p:cNvPr>
          <p:cNvSpPr>
            <a:spLocks xmlns:a="http://schemas.openxmlformats.org/drawingml/2006/main" noGrp="1"/>
          </p:cNvSpPr>
          <p:nvPr/>
        </p:nvSpPr>
        <p:spPr>
          <a:xfrm xmlns:a="http://schemas.openxmlformats.org/drawingml/2006/main">
            <a:off x="685800" y="3228975"/>
            <a:ext cx="5505450" cy="628650"/>
          </a:xfrm>
          <a:prstGeom xmlns:a="http://schemas.openxmlformats.org/drawingml/2006/main" prst="roundRect">
            <a:avLst>
              <a:gd name="adj" fmla="val 18182"/>
            </a:avLst>
          </a:prstGeom>
          <a:solidFill xmlns:a="http://schemas.openxmlformats.org/drawingml/2006/main">
            <a:srgbClr val="DFF6F8"/>
          </a:solidFill>
          <a:ln xmlns:a="http://schemas.openxmlformats.org/drawingml/2006/main" w="14288">
            <a:solidFill>
              <a:srgbClr val="20B7C5"/>
            </a:solidFill>
            <a:prstDash val="solid"/>
          </a:ln>
        </p:spPr>
      </p:sp>
      <p:sp>
        <p:nvSpPr>
          <p:cNvPr id="38" name="s31-flow-path-2">
            <a:extLst xmlns:a="http://schemas.openxmlformats.org/drawingml/2006/main">
              <a:ext uri="{FF2B5EF4-FFF2-40B4-BE49-F238E27FC236}">
                <a16:creationId xmlns:a16="http://schemas.microsoft.com/office/drawing/2014/main" id="{03247712-36D5-4CF6-8600-375C83797B4D}"/>
              </a:ext>
            </a:extLst>
          </p:cNvPr>
          <p:cNvSpPr>
            <a:spLocks xmlns:a="http://schemas.openxmlformats.org/drawingml/2006/main" noGrp="1"/>
          </p:cNvSpPr>
          <p:nvPr/>
        </p:nvSpPr>
        <p:spPr>
          <a:xfrm xmlns:a="http://schemas.openxmlformats.org/drawingml/2006/main">
            <a:off x="857250" y="32956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scripts/run_pitch_rate_limiter_tests.m</a:t>
            </a:r>
          </a:p>
        </p:txBody>
      </p:sp>
      <p:sp>
        <p:nvSpPr>
          <p:cNvPr id="39" name="s31-flow-role-2">
            <a:extLst xmlns:a="http://schemas.openxmlformats.org/drawingml/2006/main">
              <a:ext uri="{FF2B5EF4-FFF2-40B4-BE49-F238E27FC236}">
                <a16:creationId xmlns:a16="http://schemas.microsoft.com/office/drawing/2014/main" id="{6C1FB1C6-AACE-4FEB-A321-AA824338E828}"/>
              </a:ext>
            </a:extLst>
          </p:cNvPr>
          <p:cNvSpPr>
            <a:spLocks xmlns:a="http://schemas.openxmlformats.org/drawingml/2006/main" noGrp="1"/>
          </p:cNvSpPr>
          <p:nvPr/>
        </p:nvSpPr>
        <p:spPr>
          <a:xfrm xmlns:a="http://schemas.openxmlformats.org/drawingml/2006/main">
            <a:off x="857250" y="35433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test driver + visible pass/fail oracle</a:t>
            </a:r>
          </a:p>
        </p:txBody>
      </p:sp>
      <p:sp>
        <p:nvSpPr>
          <p:cNvPr id="40" name="s31-flow-3">
            <a:extLst xmlns:a="http://schemas.openxmlformats.org/drawingml/2006/main">
              <a:ext uri="{FF2B5EF4-FFF2-40B4-BE49-F238E27FC236}">
                <a16:creationId xmlns:a16="http://schemas.microsoft.com/office/drawing/2014/main" id="{378694B5-6F92-469F-8BA2-983906F356D2}"/>
              </a:ext>
            </a:extLst>
          </p:cNvPr>
          <p:cNvSpPr>
            <a:spLocks xmlns:a="http://schemas.openxmlformats.org/drawingml/2006/main" noGrp="1"/>
          </p:cNvSpPr>
          <p:nvPr/>
        </p:nvSpPr>
        <p:spPr>
          <a:xfrm xmlns:a="http://schemas.openxmlformats.org/drawingml/2006/main">
            <a:off x="685800" y="41052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1" name="s31-flow-path-3">
            <a:extLst xmlns:a="http://schemas.openxmlformats.org/drawingml/2006/main">
              <a:ext uri="{FF2B5EF4-FFF2-40B4-BE49-F238E27FC236}">
                <a16:creationId xmlns:a16="http://schemas.microsoft.com/office/drawing/2014/main" id="{49C08F3B-8059-471C-A148-A6BA036F1862}"/>
              </a:ext>
            </a:extLst>
          </p:cNvPr>
          <p:cNvSpPr>
            <a:spLocks xmlns:a="http://schemas.openxmlformats.org/drawingml/2006/main" noGrp="1"/>
          </p:cNvSpPr>
          <p:nvPr/>
        </p:nvSpPr>
        <p:spPr>
          <a:xfrm xmlns:a="http://schemas.openxmlformats.org/drawingml/2006/main">
            <a:off x="857250" y="41719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results/PitchRateLimiter_TestResults.csv + .mat</a:t>
            </a:r>
          </a:p>
        </p:txBody>
      </p:sp>
      <p:sp>
        <p:nvSpPr>
          <p:cNvPr id="42" name="s31-flow-role-3">
            <a:extLst xmlns:a="http://schemas.openxmlformats.org/drawingml/2006/main">
              <a:ext uri="{FF2B5EF4-FFF2-40B4-BE49-F238E27FC236}">
                <a16:creationId xmlns:a16="http://schemas.microsoft.com/office/drawing/2014/main" id="{5B900847-E050-40BB-B3E0-7461DBCA7B64}"/>
              </a:ext>
            </a:extLst>
          </p:cNvPr>
          <p:cNvSpPr>
            <a:spLocks xmlns:a="http://schemas.openxmlformats.org/drawingml/2006/main" noGrp="1"/>
          </p:cNvSpPr>
          <p:nvPr/>
        </p:nvSpPr>
        <p:spPr>
          <a:xfrm xmlns:a="http://schemas.openxmlformats.org/drawingml/2006/main">
            <a:off x="857250" y="44196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retained machine-readable results</a:t>
            </a:r>
          </a:p>
        </p:txBody>
      </p:sp>
      <p:sp>
        <p:nvSpPr>
          <p:cNvPr id="43" name="s31-flow-4">
            <a:extLst xmlns:a="http://schemas.openxmlformats.org/drawingml/2006/main">
              <a:ext uri="{FF2B5EF4-FFF2-40B4-BE49-F238E27FC236}">
                <a16:creationId xmlns:a16="http://schemas.microsoft.com/office/drawing/2014/main" id="{33566793-D39C-4323-B48A-99614664A797}"/>
              </a:ext>
            </a:extLst>
          </p:cNvPr>
          <p:cNvSpPr>
            <a:spLocks xmlns:a="http://schemas.openxmlformats.org/drawingml/2006/main" noGrp="1"/>
          </p:cNvSpPr>
          <p:nvPr/>
        </p:nvSpPr>
        <p:spPr>
          <a:xfrm xmlns:a="http://schemas.openxmlformats.org/drawingml/2006/main">
            <a:off x="685800" y="49815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4" name="s31-flow-path-4">
            <a:extLst xmlns:a="http://schemas.openxmlformats.org/drawingml/2006/main">
              <a:ext uri="{FF2B5EF4-FFF2-40B4-BE49-F238E27FC236}">
                <a16:creationId xmlns:a16="http://schemas.microsoft.com/office/drawing/2014/main" id="{E73DC37D-6019-4F7B-86C5-DEA20B4167E9}"/>
              </a:ext>
            </a:extLst>
          </p:cNvPr>
          <p:cNvSpPr>
            <a:spLocks xmlns:a="http://schemas.openxmlformats.org/drawingml/2006/main" noGrp="1"/>
          </p:cNvSpPr>
          <p:nvPr/>
        </p:nvSpPr>
        <p:spPr>
          <a:xfrm xmlns:a="http://schemas.openxmlformats.org/drawingml/2006/main">
            <a:off x="857250" y="50482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reports/PitchRateLimiter_TestReport.html + .png</a:t>
            </a:r>
          </a:p>
        </p:txBody>
      </p:sp>
      <p:sp>
        <p:nvSpPr>
          <p:cNvPr id="45" name="s31-flow-role-4">
            <a:extLst xmlns:a="http://schemas.openxmlformats.org/drawingml/2006/main">
              <a:ext uri="{FF2B5EF4-FFF2-40B4-BE49-F238E27FC236}">
                <a16:creationId xmlns:a16="http://schemas.microsoft.com/office/drawing/2014/main" id="{E7A505E3-D01B-424F-A1E8-3E98F960F493}"/>
              </a:ext>
            </a:extLst>
          </p:cNvPr>
          <p:cNvSpPr>
            <a:spLocks xmlns:a="http://schemas.openxmlformats.org/drawingml/2006/main" noGrp="1"/>
          </p:cNvSpPr>
          <p:nvPr/>
        </p:nvSpPr>
        <p:spPr>
          <a:xfrm xmlns:a="http://schemas.openxmlformats.org/drawingml/2006/main">
            <a:off x="857250" y="52959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human-readable evidence report</a:t>
            </a:r>
          </a:p>
        </p:txBody>
      </p:sp>
      <p:sp>
        <p:nvSpPr>
          <p:cNvPr id="46" name="s31-component">
            <a:extLst xmlns:a="http://schemas.openxmlformats.org/drawingml/2006/main">
              <a:ext uri="{FF2B5EF4-FFF2-40B4-BE49-F238E27FC236}">
                <a16:creationId xmlns:a16="http://schemas.microsoft.com/office/drawing/2014/main" id="{3EC98C4C-089D-4DC9-BB3D-67C10B1FE790}"/>
              </a:ext>
            </a:extLst>
          </p:cNvPr>
          <p:cNvSpPr>
            <a:spLocks xmlns:a="http://schemas.openxmlformats.org/drawingml/2006/main" noGrp="1"/>
          </p:cNvSpPr>
          <p:nvPr/>
        </p:nvSpPr>
        <p:spPr>
          <a:xfrm xmlns:a="http://schemas.openxmlformats.org/drawingml/2006/main">
            <a:off x="6553200" y="2333625"/>
            <a:ext cx="495300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 references  models/PitchRateLimiter.slx</a:t>
            </a:r>
          </a:p>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component implementation under test</a:t>
            </a:r>
          </a:p>
        </p:txBody>
      </p:sp>
      <p:sp>
        <p:nvSpPr>
          <p:cNvPr id="47" name="s31-trace">
            <a:extLst xmlns:a="http://schemas.openxmlformats.org/drawingml/2006/main">
              <a:ext uri="{FF2B5EF4-FFF2-40B4-BE49-F238E27FC236}">
                <a16:creationId xmlns:a16="http://schemas.microsoft.com/office/drawing/2014/main" id="{CD11BC40-8D4E-429D-837E-12B54818CF50}"/>
              </a:ext>
            </a:extLst>
          </p:cNvPr>
          <p:cNvSpPr>
            <a:spLocks xmlns:a="http://schemas.openxmlformats.org/drawingml/2006/main" noGrp="1"/>
          </p:cNvSpPr>
          <p:nvPr/>
        </p:nvSpPr>
        <p:spPr>
          <a:xfrm xmlns:a="http://schemas.openxmlformats.org/drawingml/2006/main">
            <a:off x="6553200" y="3209925"/>
            <a:ext cx="495300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  docs/PitchRateLimiter_Requirements_Traceability.csv</a:t>
            </a:r>
          </a:p>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requirement-to-model/test association</a:t>
            </a:r>
          </a:p>
        </p:txBody>
      </p:sp>
      <p:sp>
        <p:nvSpPr>
          <p:cNvPr id="48" name="s31-roles">
            <a:extLst xmlns:a="http://schemas.openxmlformats.org/drawingml/2006/main">
              <a:ext uri="{FF2B5EF4-FFF2-40B4-BE49-F238E27FC236}">
                <a16:creationId xmlns:a16="http://schemas.microsoft.com/office/drawing/2014/main" id="{9B130294-D6EF-45C1-B05A-C508347D3EB0}"/>
              </a:ext>
            </a:extLst>
          </p:cNvPr>
          <p:cNvSpPr>
            <a:spLocks xmlns:a="http://schemas.openxmlformats.org/drawingml/2006/main" noGrp="1"/>
          </p:cNvSpPr>
          <p:nvPr/>
        </p:nvSpPr>
        <p:spPr>
          <a:xfrm xmlns:a="http://schemas.openxmlformats.org/drawingml/2006/main">
            <a:off x="6553200" y="4105275"/>
            <a:ext cx="4953000" cy="1504950"/>
          </a:xfrm>
          <a:prstGeom xmlns:a="http://schemas.openxmlformats.org/drawingml/2006/main" prst="roundRect">
            <a:avLst>
              <a:gd name="adj" fmla="val 759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HARNESS ≠ COMPONENT ≠ DRIVER ≠ REQUIREMENTS ≠ RESULTS ≠ REPORT</a:t>
            </a:r>
          </a:p>
          <a:p xmlns:a="http://schemas.openxmlformats.org/drawingml/2006/main">
            <a:r>
              <a:t/>
            </a:r>
          </a:p>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The two retained .mldatx files are SDI view/session artifacts. No Simulink Test or Test Manager test-suite .mldatx file is claimed.</a:t>
            </a:r>
          </a:p>
        </p:txBody>
      </p:sp>
      <p:sp>
        <p:nvSpPr>
          <p:cNvPr id="49" name="s31-env">
            <a:extLst xmlns:a="http://schemas.openxmlformats.org/drawingml/2006/main">
              <a:ext uri="{FF2B5EF4-FFF2-40B4-BE49-F238E27FC236}">
                <a16:creationId xmlns:a16="http://schemas.microsoft.com/office/drawing/2014/main" id="{06E23B09-4703-4AD7-9070-0A95685943DE}"/>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445827379"/>
      </p:ext>
    </p:extLst>
  </p:cSld>
</p:sld>
</file>

<file path=ppt/slides/slide3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37</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3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38</a:t>
            </a:r>
          </a:p>
        </p:txBody>
      </p:sp>
      <p:sp>
        <p:nvSpPr>
          <p:cNvPr id="27" name="s33-report-frame">
            <a:extLst xmlns:a="http://schemas.openxmlformats.org/drawingml/2006/main">
              <a:ext uri="{FF2B5EF4-FFF2-40B4-BE49-F238E27FC236}">
                <a16:creationId xmlns:a16="http://schemas.microsoft.com/office/drawing/2014/main" id="{054B3C4F-7160-44D2-8E19-D97E2B1C8980}"/>
              </a:ext>
            </a:extLst>
          </p:cNvPr>
          <p:cNvSpPr>
            <a:spLocks xmlns:a="http://schemas.openxmlformats.org/drawingml/2006/main" noGrp="1"/>
          </p:cNvSpPr>
          <p:nvPr/>
        </p:nvSpPr>
        <p:spPr>
          <a:xfrm xmlns:a="http://schemas.openxmlformats.org/drawingml/2006/main">
            <a:off x="609600" y="1381125"/>
            <a:ext cx="8058150" cy="4638675"/>
          </a:xfrm>
          <a:prstGeom xmlns:a="http://schemas.openxmlformats.org/drawingml/2006/main" prst="roundRect">
            <a:avLst>
              <a:gd name="adj" fmla="val 2464"/>
            </a:avLst>
          </a:prstGeom>
          <a:solidFill xmlns:a="http://schemas.openxmlformats.org/drawingml/2006/main">
            <a:srgbClr val="0C2133"/>
          </a:solidFill>
          <a:ln xmlns:a="http://schemas.openxmlformats.org/drawingml/2006/main" w="11430">
            <a:solidFill>
              <a:srgbClr val="21465E"/>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a2795f9aa834089"/>
          <a:stretch xmlns:a="http://schemas.openxmlformats.org/drawingml/2006/main"/>
        </p:blipFill>
        <p:spPr>
          <a:xfrm xmlns:a="http://schemas.openxmlformats.org/drawingml/2006/main">
            <a:off x="685800" y="1458678"/>
            <a:ext cx="7905750" cy="4483568"/>
          </a:xfrm>
          <a:prstGeom xmlns:a="http://schemas.openxmlformats.org/drawingml/2006/main" prst="rect">
            <a:avLst/>
          </a:prstGeom>
        </p:spPr>
      </p:pic>
      <p:sp>
        <p:nvSpPr>
          <p:cNvPr id="29" name="s33-metric-0">
            <a:extLst xmlns:a="http://schemas.openxmlformats.org/drawingml/2006/main">
              <a:ext uri="{FF2B5EF4-FFF2-40B4-BE49-F238E27FC236}">
                <a16:creationId xmlns:a16="http://schemas.microsoft.com/office/drawing/2014/main" id="{3F808B9D-452F-4DCB-9452-4FEADEE00E47}"/>
              </a:ext>
            </a:extLst>
          </p:cNvPr>
          <p:cNvSpPr>
            <a:spLocks xmlns:a="http://schemas.openxmlformats.org/drawingml/2006/main" noGrp="1"/>
          </p:cNvSpPr>
          <p:nvPr/>
        </p:nvSpPr>
        <p:spPr>
          <a:xfrm xmlns:a="http://schemas.openxmlformats.org/drawingml/2006/main">
            <a:off x="8877300" y="1438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CA56F"/>
            </a:solidFill>
            <a:prstDash val="solid"/>
          </a:ln>
        </p:spPr>
      </p:sp>
      <p:sp>
        <p:nvSpPr>
          <p:cNvPr id="30" name="s33-metric-value-0">
            <a:extLst xmlns:a="http://schemas.openxmlformats.org/drawingml/2006/main">
              <a:ext uri="{FF2B5EF4-FFF2-40B4-BE49-F238E27FC236}">
                <a16:creationId xmlns:a16="http://schemas.microsoft.com/office/drawing/2014/main" id="{32A6F227-93AC-4619-B6BE-2D5ED21C23F8}"/>
              </a:ext>
            </a:extLst>
          </p:cNvPr>
          <p:cNvSpPr>
            <a:spLocks xmlns:a="http://schemas.openxmlformats.org/drawingml/2006/main" noGrp="1"/>
          </p:cNvSpPr>
          <p:nvPr/>
        </p:nvSpPr>
        <p:spPr>
          <a:xfrm xmlns:a="http://schemas.openxmlformats.org/drawingml/2006/main">
            <a:off x="9048750" y="1552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1" name="s33-metric-label-0">
            <a:extLst xmlns:a="http://schemas.openxmlformats.org/drawingml/2006/main">
              <a:ext uri="{FF2B5EF4-FFF2-40B4-BE49-F238E27FC236}">
                <a16:creationId xmlns:a16="http://schemas.microsoft.com/office/drawing/2014/main" id="{3771BBD7-1FED-4D3B-B396-80211FE47E94}"/>
              </a:ext>
            </a:extLst>
          </p:cNvPr>
          <p:cNvSpPr>
            <a:spLocks xmlns:a="http://schemas.openxmlformats.org/drawingml/2006/main" noGrp="1"/>
          </p:cNvSpPr>
          <p:nvPr/>
        </p:nvSpPr>
        <p:spPr>
          <a:xfrm xmlns:a="http://schemas.openxmlformats.org/drawingml/2006/main">
            <a:off x="9048750" y="1971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ASSESSMENTS PASSED</a:t>
            </a:r>
          </a:p>
        </p:txBody>
      </p:sp>
      <p:sp>
        <p:nvSpPr>
          <p:cNvPr id="32" name="s33-metric-1">
            <a:extLst xmlns:a="http://schemas.openxmlformats.org/drawingml/2006/main">
              <a:ext uri="{FF2B5EF4-FFF2-40B4-BE49-F238E27FC236}">
                <a16:creationId xmlns:a16="http://schemas.microsoft.com/office/drawing/2014/main" id="{86949787-76B1-4E5F-BD3F-029A0816BC01}"/>
              </a:ext>
            </a:extLst>
          </p:cNvPr>
          <p:cNvSpPr>
            <a:spLocks xmlns:a="http://schemas.openxmlformats.org/drawingml/2006/main" noGrp="1"/>
          </p:cNvSpPr>
          <p:nvPr/>
        </p:nvSpPr>
        <p:spPr>
          <a:xfrm xmlns:a="http://schemas.openxmlformats.org/drawingml/2006/main">
            <a:off x="8877300" y="2581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0B7C5"/>
            </a:solidFill>
            <a:prstDash val="solid"/>
          </a:ln>
        </p:spPr>
      </p:sp>
      <p:sp>
        <p:nvSpPr>
          <p:cNvPr id="33" name="s33-metric-value-1">
            <a:extLst xmlns:a="http://schemas.openxmlformats.org/drawingml/2006/main">
              <a:ext uri="{FF2B5EF4-FFF2-40B4-BE49-F238E27FC236}">
                <a16:creationId xmlns:a16="http://schemas.microsoft.com/office/drawing/2014/main" id="{271DB4EE-96A7-4438-A36B-A5D2C73CDB1E}"/>
              </a:ext>
            </a:extLst>
          </p:cNvPr>
          <p:cNvSpPr>
            <a:spLocks xmlns:a="http://schemas.openxmlformats.org/drawingml/2006/main" noGrp="1"/>
          </p:cNvSpPr>
          <p:nvPr/>
        </p:nvSpPr>
        <p:spPr>
          <a:xfrm xmlns:a="http://schemas.openxmlformats.org/drawingml/2006/main">
            <a:off x="9048750" y="2695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0B7C5"/>
                </a:solidFill>
                <a:latin typeface="Aptos"/>
                <a:ea typeface="Aptos"/>
                <a:cs typeface="Aptos"/>
              </a:defRPr>
            </a:pPr>
            <a:r>
              <a:rPr sz="2175" b="1">
                <a:solidFill>
                  <a:srgbClr val="20B7C5"/>
                </a:solidFill>
                <a:latin typeface="Aptos"/>
                <a:ea typeface="Aptos"/>
                <a:cs typeface="Aptos"/>
              </a:rPr>
              <a:t>0</a:t>
            </a:r>
          </a:p>
        </p:txBody>
      </p:sp>
      <p:sp>
        <p:nvSpPr>
          <p:cNvPr id="34" name="s33-metric-label-1">
            <a:extLst xmlns:a="http://schemas.openxmlformats.org/drawingml/2006/main">
              <a:ext uri="{FF2B5EF4-FFF2-40B4-BE49-F238E27FC236}">
                <a16:creationId xmlns:a16="http://schemas.microsoft.com/office/drawing/2014/main" id="{E4419534-127A-41D9-BD4A-9ED1B23654A1}"/>
              </a:ext>
            </a:extLst>
          </p:cNvPr>
          <p:cNvSpPr>
            <a:spLocks xmlns:a="http://schemas.openxmlformats.org/drawingml/2006/main" noGrp="1"/>
          </p:cNvSpPr>
          <p:nvPr/>
        </p:nvSpPr>
        <p:spPr>
          <a:xfrm xmlns:a="http://schemas.openxmlformats.org/drawingml/2006/main">
            <a:off x="9048750" y="3114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FAILED</a:t>
            </a:r>
          </a:p>
        </p:txBody>
      </p:sp>
      <p:sp>
        <p:nvSpPr>
          <p:cNvPr id="35" name="s33-metric-2">
            <a:extLst xmlns:a="http://schemas.openxmlformats.org/drawingml/2006/main">
              <a:ext uri="{FF2B5EF4-FFF2-40B4-BE49-F238E27FC236}">
                <a16:creationId xmlns:a16="http://schemas.microsoft.com/office/drawing/2014/main" id="{DA47A7E5-FE8F-421D-ABEC-1644182DCA45}"/>
              </a:ext>
            </a:extLst>
          </p:cNvPr>
          <p:cNvSpPr>
            <a:spLocks xmlns:a="http://schemas.openxmlformats.org/drawingml/2006/main" noGrp="1"/>
          </p:cNvSpPr>
          <p:nvPr/>
        </p:nvSpPr>
        <p:spPr>
          <a:xfrm xmlns:a="http://schemas.openxmlformats.org/drawingml/2006/main">
            <a:off x="8877300" y="3724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D6CDF"/>
            </a:solidFill>
            <a:prstDash val="solid"/>
          </a:ln>
        </p:spPr>
      </p:sp>
      <p:sp>
        <p:nvSpPr>
          <p:cNvPr id="36" name="s33-metric-value-2">
            <a:extLst xmlns:a="http://schemas.openxmlformats.org/drawingml/2006/main">
              <a:ext uri="{FF2B5EF4-FFF2-40B4-BE49-F238E27FC236}">
                <a16:creationId xmlns:a16="http://schemas.microsoft.com/office/drawing/2014/main" id="{DF37309B-2325-4F8C-9268-49FC67B7D7CC}"/>
              </a:ext>
            </a:extLst>
          </p:cNvPr>
          <p:cNvSpPr>
            <a:spLocks xmlns:a="http://schemas.openxmlformats.org/drawingml/2006/main" noGrp="1"/>
          </p:cNvSpPr>
          <p:nvPr/>
        </p:nvSpPr>
        <p:spPr>
          <a:xfrm xmlns:a="http://schemas.openxmlformats.org/drawingml/2006/main">
            <a:off x="9048750" y="3838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D6CDF"/>
                </a:solidFill>
                <a:latin typeface="Aptos"/>
                <a:ea typeface="Aptos"/>
                <a:cs typeface="Aptos"/>
              </a:defRPr>
            </a:pPr>
            <a:r>
              <a:rPr sz="2175" b="1">
                <a:solidFill>
                  <a:srgbClr val="2D6CDF"/>
                </a:solidFill>
                <a:latin typeface="Aptos"/>
                <a:ea typeface="Aptos"/>
                <a:cs typeface="Aptos"/>
              </a:rPr>
              <a:t>50 Hz</a:t>
            </a:r>
          </a:p>
        </p:txBody>
      </p:sp>
      <p:sp>
        <p:nvSpPr>
          <p:cNvPr id="37" name="s33-metric-label-2">
            <a:extLst xmlns:a="http://schemas.openxmlformats.org/drawingml/2006/main">
              <a:ext uri="{FF2B5EF4-FFF2-40B4-BE49-F238E27FC236}">
                <a16:creationId xmlns:a16="http://schemas.microsoft.com/office/drawing/2014/main" id="{E5C70175-3FA3-4BA2-B96E-E3A651E801AF}"/>
              </a:ext>
            </a:extLst>
          </p:cNvPr>
          <p:cNvSpPr>
            <a:spLocks xmlns:a="http://schemas.openxmlformats.org/drawingml/2006/main" noGrp="1"/>
          </p:cNvSpPr>
          <p:nvPr/>
        </p:nvSpPr>
        <p:spPr>
          <a:xfrm xmlns:a="http://schemas.openxmlformats.org/drawingml/2006/main">
            <a:off x="9048750" y="4257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0.02 s SAMPLE TIME</a:t>
            </a:r>
          </a:p>
        </p:txBody>
      </p:sp>
      <p:sp>
        <p:nvSpPr>
          <p:cNvPr id="38" name="s33-method">
            <a:extLst xmlns:a="http://schemas.openxmlformats.org/drawingml/2006/main">
              <a:ext uri="{FF2B5EF4-FFF2-40B4-BE49-F238E27FC236}">
                <a16:creationId xmlns:a16="http://schemas.microsoft.com/office/drawing/2014/main" id="{613259BA-102D-4019-B331-871675935394}"/>
              </a:ext>
            </a:extLst>
          </p:cNvPr>
          <p:cNvSpPr>
            <a:spLocks xmlns:a="http://schemas.openxmlformats.org/drawingml/2006/main" noGrp="1"/>
          </p:cNvSpPr>
          <p:nvPr/>
        </p:nvSpPr>
        <p:spPr>
          <a:xfrm xmlns:a="http://schemas.openxmlformats.org/drawingml/2006/main">
            <a:off x="8877300" y="4914900"/>
            <a:ext cx="262890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524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Executed MATLAB assessments</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using the standalone Simulink harness</a:t>
            </a:r>
          </a:p>
          <a:p xmlns:a="http://schemas.openxmlformats.org/drawingml/2006/main">
            <a:r>
              <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SimulinkTestUsed = false</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TestManagerFileCreated = false</a:t>
            </a:r>
          </a:p>
        </p:txBody>
      </p:sp>
    </p:spTree>
    <p:extLst>
      <p:ext uri="{BB962C8B-B14F-4D97-AF65-F5344CB8AC3E}">
        <p14:creationId xmlns:p14="http://schemas.microsoft.com/office/powerpoint/2010/main" val="1092961568"/>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39</a:t>
            </a:r>
          </a:p>
        </p:txBody>
      </p:sp>
      <p:sp>
        <p:nvSpPr>
          <p:cNvPr id="23" name="s34-link-0">
            <a:extLst xmlns:a="http://schemas.openxmlformats.org/drawingml/2006/main">
              <a:ext uri="{FF2B5EF4-FFF2-40B4-BE49-F238E27FC236}">
                <a16:creationId xmlns:a16="http://schemas.microsoft.com/office/drawing/2014/main" id="{1613ED5C-9015-437F-AB30-06D99B06C46E}"/>
              </a:ext>
            </a:extLst>
          </p:cNvPr>
          <p:cNvSpPr>
            <a:spLocks xmlns:a="http://schemas.openxmlformats.org/drawingml/2006/main" noGrp="1"/>
          </p:cNvSpPr>
          <p:nvPr/>
        </p:nvSpPr>
        <p:spPr>
          <a:xfrm xmlns:a="http://schemas.openxmlformats.org/drawingml/2006/main">
            <a:off x="25146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4" name="s34-link-1">
            <a:extLst xmlns:a="http://schemas.openxmlformats.org/drawingml/2006/main">
              <a:ext uri="{FF2B5EF4-FFF2-40B4-BE49-F238E27FC236}">
                <a16:creationId xmlns:a16="http://schemas.microsoft.com/office/drawing/2014/main" id="{1D800947-D722-4237-9582-E3FC759EF6A3}"/>
              </a:ext>
            </a:extLst>
          </p:cNvPr>
          <p:cNvSpPr>
            <a:spLocks xmlns:a="http://schemas.openxmlformats.org/drawingml/2006/main" noGrp="1"/>
          </p:cNvSpPr>
          <p:nvPr/>
        </p:nvSpPr>
        <p:spPr>
          <a:xfrm xmlns:a="http://schemas.openxmlformats.org/drawingml/2006/main">
            <a:off x="47244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5" name="s34-link-2">
            <a:extLst xmlns:a="http://schemas.openxmlformats.org/drawingml/2006/main">
              <a:ext uri="{FF2B5EF4-FFF2-40B4-BE49-F238E27FC236}">
                <a16:creationId xmlns:a16="http://schemas.microsoft.com/office/drawing/2014/main" id="{C34D7FED-817C-4480-BE81-D2C14887F118}"/>
              </a:ext>
            </a:extLst>
          </p:cNvPr>
          <p:cNvSpPr>
            <a:spLocks xmlns:a="http://schemas.openxmlformats.org/drawingml/2006/main" noGrp="1"/>
          </p:cNvSpPr>
          <p:nvPr/>
        </p:nvSpPr>
        <p:spPr>
          <a:xfrm xmlns:a="http://schemas.openxmlformats.org/drawingml/2006/main">
            <a:off x="69342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6" name="s34-link-3">
            <a:extLst xmlns:a="http://schemas.openxmlformats.org/drawingml/2006/main">
              <a:ext uri="{FF2B5EF4-FFF2-40B4-BE49-F238E27FC236}">
                <a16:creationId xmlns:a16="http://schemas.microsoft.com/office/drawing/2014/main" id="{9285CF81-2E27-486A-A4FB-724A368CC834}"/>
              </a:ext>
            </a:extLst>
          </p:cNvPr>
          <p:cNvSpPr>
            <a:spLocks xmlns:a="http://schemas.openxmlformats.org/drawingml/2006/main" noGrp="1"/>
          </p:cNvSpPr>
          <p:nvPr/>
        </p:nvSpPr>
        <p:spPr>
          <a:xfrm xmlns:a="http://schemas.openxmlformats.org/drawingml/2006/main">
            <a:off x="91440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7" name="s34-stage-0">
            <a:extLst xmlns:a="http://schemas.openxmlformats.org/drawingml/2006/main">
              <a:ext uri="{FF2B5EF4-FFF2-40B4-BE49-F238E27FC236}">
                <a16:creationId xmlns:a16="http://schemas.microsoft.com/office/drawing/2014/main" id="{11CD3531-0DA0-4585-A346-72CC0A7E9D19}"/>
              </a:ext>
            </a:extLst>
          </p:cNvPr>
          <p:cNvSpPr>
            <a:spLocks xmlns:a="http://schemas.openxmlformats.org/drawingml/2006/main" noGrp="1"/>
          </p:cNvSpPr>
          <p:nvPr/>
        </p:nvSpPr>
        <p:spPr>
          <a:xfrm xmlns:a="http://schemas.openxmlformats.org/drawingml/2006/main">
            <a:off x="6858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28" name="s34-stage-title-0">
            <a:extLst xmlns:a="http://schemas.openxmlformats.org/drawingml/2006/main">
              <a:ext uri="{FF2B5EF4-FFF2-40B4-BE49-F238E27FC236}">
                <a16:creationId xmlns:a16="http://schemas.microsoft.com/office/drawing/2014/main" id="{F8394E1A-4D44-4CC1-998E-CE1677314639}"/>
              </a:ext>
            </a:extLst>
          </p:cNvPr>
          <p:cNvSpPr>
            <a:spLocks xmlns:a="http://schemas.openxmlformats.org/drawingml/2006/main" noGrp="1"/>
          </p:cNvSpPr>
          <p:nvPr/>
        </p:nvSpPr>
        <p:spPr>
          <a:xfrm xmlns:a="http://schemas.openxmlformats.org/drawingml/2006/main">
            <a:off x="8001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SETUP</a:t>
            </a:r>
          </a:p>
        </p:txBody>
      </p:sp>
      <p:sp>
        <p:nvSpPr>
          <p:cNvPr id="29" name="s34-stage-file-0">
            <a:extLst xmlns:a="http://schemas.openxmlformats.org/drawingml/2006/main">
              <a:ext uri="{FF2B5EF4-FFF2-40B4-BE49-F238E27FC236}">
                <a16:creationId xmlns:a16="http://schemas.microsoft.com/office/drawing/2014/main" id="{375DDE31-B078-4EA4-BD5A-00B94EAD8278}"/>
              </a:ext>
            </a:extLst>
          </p:cNvPr>
          <p:cNvSpPr>
            <a:spLocks xmlns:a="http://schemas.openxmlformats.org/drawingml/2006/main" noGrp="1"/>
          </p:cNvSpPr>
          <p:nvPr/>
        </p:nvSpPr>
        <p:spPr>
          <a:xfrm xmlns:a="http://schemas.openxmlformats.org/drawingml/2006/main">
            <a:off x="7810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setup.m</a:t>
            </a:r>
          </a:p>
        </p:txBody>
      </p:sp>
      <p:sp>
        <p:nvSpPr>
          <p:cNvPr id="30" name="s34-stage-body-0">
            <a:extLst xmlns:a="http://schemas.openxmlformats.org/drawingml/2006/main">
              <a:ext uri="{FF2B5EF4-FFF2-40B4-BE49-F238E27FC236}">
                <a16:creationId xmlns:a16="http://schemas.microsoft.com/office/drawing/2014/main" id="{807FAA97-51CD-4438-8878-96B961D08315}"/>
              </a:ext>
            </a:extLst>
          </p:cNvPr>
          <p:cNvSpPr>
            <a:spLocks xmlns:a="http://schemas.openxmlformats.org/drawingml/2006/main" noGrp="1"/>
          </p:cNvSpPr>
          <p:nvPr/>
        </p:nvSpPr>
        <p:spPr>
          <a:xfrm xmlns:a="http://schemas.openxmlformats.org/drawingml/2006/main">
            <a:off x="8001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paths • dictionary • initial state</a:t>
            </a:r>
          </a:p>
        </p:txBody>
      </p:sp>
      <p:sp>
        <p:nvSpPr>
          <p:cNvPr id="31" name="s34-stage-1">
            <a:extLst xmlns:a="http://schemas.openxmlformats.org/drawingml/2006/main">
              <a:ext uri="{FF2B5EF4-FFF2-40B4-BE49-F238E27FC236}">
                <a16:creationId xmlns:a16="http://schemas.microsoft.com/office/drawing/2014/main" id="{EE04B751-7AA2-4052-815C-C082968C1210}"/>
              </a:ext>
            </a:extLst>
          </p:cNvPr>
          <p:cNvSpPr>
            <a:spLocks xmlns:a="http://schemas.openxmlformats.org/drawingml/2006/main" noGrp="1"/>
          </p:cNvSpPr>
          <p:nvPr/>
        </p:nvSpPr>
        <p:spPr>
          <a:xfrm xmlns:a="http://schemas.openxmlformats.org/drawingml/2006/main">
            <a:off x="28956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2" name="s34-stage-title-1">
            <a:extLst xmlns:a="http://schemas.openxmlformats.org/drawingml/2006/main">
              <a:ext uri="{FF2B5EF4-FFF2-40B4-BE49-F238E27FC236}">
                <a16:creationId xmlns:a16="http://schemas.microsoft.com/office/drawing/2014/main" id="{D3B169D0-A7B8-49C7-A8C1-785D018411E8}"/>
              </a:ext>
            </a:extLst>
          </p:cNvPr>
          <p:cNvSpPr>
            <a:spLocks xmlns:a="http://schemas.openxmlformats.org/drawingml/2006/main" noGrp="1"/>
          </p:cNvSpPr>
          <p:nvPr/>
        </p:nvSpPr>
        <p:spPr>
          <a:xfrm xmlns:a="http://schemas.openxmlformats.org/drawingml/2006/main">
            <a:off x="30099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PRELOAD</a:t>
            </a:r>
          </a:p>
        </p:txBody>
      </p:sp>
      <p:sp>
        <p:nvSpPr>
          <p:cNvPr id="33" name="s34-stage-file-1">
            <a:extLst xmlns:a="http://schemas.openxmlformats.org/drawingml/2006/main">
              <a:ext uri="{FF2B5EF4-FFF2-40B4-BE49-F238E27FC236}">
                <a16:creationId xmlns:a16="http://schemas.microsoft.com/office/drawing/2014/main" id="{C294FF68-9B68-4E77-BD2F-A2B441CAC8C6}"/>
              </a:ext>
            </a:extLst>
          </p:cNvPr>
          <p:cNvSpPr>
            <a:spLocks xmlns:a="http://schemas.openxmlformats.org/drawingml/2006/main" noGrp="1"/>
          </p:cNvSpPr>
          <p:nvPr/>
        </p:nvSpPr>
        <p:spPr>
          <a:xfrm xmlns:a="http://schemas.openxmlformats.org/drawingml/2006/main">
            <a:off x="29908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preload.m</a:t>
            </a:r>
          </a:p>
        </p:txBody>
      </p:sp>
      <p:sp>
        <p:nvSpPr>
          <p:cNvPr id="34" name="s34-stage-body-1">
            <a:extLst xmlns:a="http://schemas.openxmlformats.org/drawingml/2006/main">
              <a:ext uri="{FF2B5EF4-FFF2-40B4-BE49-F238E27FC236}">
                <a16:creationId xmlns:a16="http://schemas.microsoft.com/office/drawing/2014/main" id="{870ECB79-33FD-4DFC-983E-48841A230FDF}"/>
              </a:ext>
            </a:extLst>
          </p:cNvPr>
          <p:cNvSpPr>
            <a:spLocks xmlns:a="http://schemas.openxmlformats.org/drawingml/2006/main" noGrp="1"/>
          </p:cNvSpPr>
          <p:nvPr/>
        </p:nvSpPr>
        <p:spPr>
          <a:xfrm xmlns:a="http://schemas.openxmlformats.org/drawingml/2006/main">
            <a:off x="30099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deterministic stimulus</a:t>
            </a:r>
          </a:p>
        </p:txBody>
      </p:sp>
      <p:sp>
        <p:nvSpPr>
          <p:cNvPr id="35" name="s34-stage-2">
            <a:extLst xmlns:a="http://schemas.openxmlformats.org/drawingml/2006/main">
              <a:ext uri="{FF2B5EF4-FFF2-40B4-BE49-F238E27FC236}">
                <a16:creationId xmlns:a16="http://schemas.microsoft.com/office/drawing/2014/main" id="{84146C8C-743B-4E08-B815-8924C813955C}"/>
              </a:ext>
            </a:extLst>
          </p:cNvPr>
          <p:cNvSpPr>
            <a:spLocks xmlns:a="http://schemas.openxmlformats.org/drawingml/2006/main" noGrp="1"/>
          </p:cNvSpPr>
          <p:nvPr/>
        </p:nvSpPr>
        <p:spPr>
          <a:xfrm xmlns:a="http://schemas.openxmlformats.org/drawingml/2006/main">
            <a:off x="51054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6" name="s34-stage-title-2">
            <a:extLst xmlns:a="http://schemas.openxmlformats.org/drawingml/2006/main">
              <a:ext uri="{FF2B5EF4-FFF2-40B4-BE49-F238E27FC236}">
                <a16:creationId xmlns:a16="http://schemas.microsoft.com/office/drawing/2014/main" id="{99E4E1B4-9EAF-435F-9F25-C338AF743C25}"/>
              </a:ext>
            </a:extLst>
          </p:cNvPr>
          <p:cNvSpPr>
            <a:spLocks xmlns:a="http://schemas.openxmlformats.org/drawingml/2006/main" noGrp="1"/>
          </p:cNvSpPr>
          <p:nvPr/>
        </p:nvSpPr>
        <p:spPr>
          <a:xfrm xmlns:a="http://schemas.openxmlformats.org/drawingml/2006/main">
            <a:off x="52197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POSTLOAD</a:t>
            </a:r>
          </a:p>
        </p:txBody>
      </p:sp>
      <p:sp>
        <p:nvSpPr>
          <p:cNvPr id="37" name="s34-stage-file-2">
            <a:extLst xmlns:a="http://schemas.openxmlformats.org/drawingml/2006/main">
              <a:ext uri="{FF2B5EF4-FFF2-40B4-BE49-F238E27FC236}">
                <a16:creationId xmlns:a16="http://schemas.microsoft.com/office/drawing/2014/main" id="{D3DD8DA9-B3C0-486C-B295-53339A5820E1}"/>
              </a:ext>
            </a:extLst>
          </p:cNvPr>
          <p:cNvSpPr>
            <a:spLocks xmlns:a="http://schemas.openxmlformats.org/drawingml/2006/main" noGrp="1"/>
          </p:cNvSpPr>
          <p:nvPr/>
        </p:nvSpPr>
        <p:spPr>
          <a:xfrm xmlns:a="http://schemas.openxmlformats.org/drawingml/2006/main">
            <a:off x="52006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postload.m</a:t>
            </a:r>
          </a:p>
        </p:txBody>
      </p:sp>
      <p:sp>
        <p:nvSpPr>
          <p:cNvPr id="38" name="s34-stage-body-2">
            <a:extLst xmlns:a="http://schemas.openxmlformats.org/drawingml/2006/main">
              <a:ext uri="{FF2B5EF4-FFF2-40B4-BE49-F238E27FC236}">
                <a16:creationId xmlns:a16="http://schemas.microsoft.com/office/drawing/2014/main" id="{A3012A61-58A3-4A25-92BE-36C1BEC6B6F1}"/>
              </a:ext>
            </a:extLst>
          </p:cNvPr>
          <p:cNvSpPr>
            <a:spLocks xmlns:a="http://schemas.openxmlformats.org/drawingml/2006/main" noGrp="1"/>
          </p:cNvSpPr>
          <p:nvPr/>
        </p:nvSpPr>
        <p:spPr>
          <a:xfrm xmlns:a="http://schemas.openxmlformats.org/drawingml/2006/main">
            <a:off x="52197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solver • logging configuration</a:t>
            </a:r>
          </a:p>
        </p:txBody>
      </p:sp>
      <p:sp>
        <p:nvSpPr>
          <p:cNvPr id="39" name="s34-stage-3">
            <a:extLst xmlns:a="http://schemas.openxmlformats.org/drawingml/2006/main">
              <a:ext uri="{FF2B5EF4-FFF2-40B4-BE49-F238E27FC236}">
                <a16:creationId xmlns:a16="http://schemas.microsoft.com/office/drawing/2014/main" id="{256E0CA4-3156-4061-92AA-8CE2B3833D41}"/>
              </a:ext>
            </a:extLst>
          </p:cNvPr>
          <p:cNvSpPr>
            <a:spLocks xmlns:a="http://schemas.openxmlformats.org/drawingml/2006/main" noGrp="1"/>
          </p:cNvSpPr>
          <p:nvPr/>
        </p:nvSpPr>
        <p:spPr>
          <a:xfrm xmlns:a="http://schemas.openxmlformats.org/drawingml/2006/main">
            <a:off x="7315200" y="1714500"/>
            <a:ext cx="1828800" cy="1381125"/>
          </a:xfrm>
          <a:prstGeom xmlns:a="http://schemas.openxmlformats.org/drawingml/2006/main" prst="roundRect">
            <a:avLst>
              <a:gd name="adj" fmla="val 8276"/>
            </a:avLst>
          </a:prstGeom>
          <a:solidFill xmlns:a="http://schemas.openxmlformats.org/drawingml/2006/main">
            <a:srgbClr val="E2F4EA"/>
          </a:solidFill>
          <a:ln xmlns:a="http://schemas.openxmlformats.org/drawingml/2006/main" w="14288">
            <a:solidFill>
              <a:srgbClr val="2CA56F"/>
            </a:solidFill>
            <a:prstDash val="solid"/>
          </a:ln>
        </p:spPr>
      </p:sp>
      <p:sp>
        <p:nvSpPr>
          <p:cNvPr id="40" name="s34-stage-title-3">
            <a:extLst xmlns:a="http://schemas.openxmlformats.org/drawingml/2006/main">
              <a:ext uri="{FF2B5EF4-FFF2-40B4-BE49-F238E27FC236}">
                <a16:creationId xmlns:a16="http://schemas.microsoft.com/office/drawing/2014/main" id="{F27E142A-90AE-4B5A-92F1-3B6A9AB0218B}"/>
              </a:ext>
            </a:extLst>
          </p:cNvPr>
          <p:cNvSpPr>
            <a:spLocks xmlns:a="http://schemas.openxmlformats.org/drawingml/2006/main" noGrp="1"/>
          </p:cNvSpPr>
          <p:nvPr/>
        </p:nvSpPr>
        <p:spPr>
          <a:xfrm xmlns:a="http://schemas.openxmlformats.org/drawingml/2006/main">
            <a:off x="74295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CA56F"/>
                </a:solidFill>
                <a:latin typeface="Aptos"/>
                <a:ea typeface="Aptos"/>
                <a:cs typeface="Aptos"/>
              </a:defRPr>
            </a:pPr>
            <a:r>
              <a:rPr sz="1140" b="1">
                <a:solidFill>
                  <a:srgbClr val="2CA56F"/>
                </a:solidFill>
                <a:latin typeface="Aptos"/>
                <a:ea typeface="Aptos"/>
                <a:cs typeface="Aptos"/>
              </a:rPr>
              <a:t>EXECUTE</a:t>
            </a:r>
          </a:p>
        </p:txBody>
      </p:sp>
      <p:sp>
        <p:nvSpPr>
          <p:cNvPr id="41" name="s34-stage-file-3">
            <a:extLst xmlns:a="http://schemas.openxmlformats.org/drawingml/2006/main">
              <a:ext uri="{FF2B5EF4-FFF2-40B4-BE49-F238E27FC236}">
                <a16:creationId xmlns:a16="http://schemas.microsoft.com/office/drawing/2014/main" id="{EF8EAE54-58EE-42EA-8D80-9D25021E174A}"/>
              </a:ext>
            </a:extLst>
          </p:cNvPr>
          <p:cNvSpPr>
            <a:spLocks xmlns:a="http://schemas.openxmlformats.org/drawingml/2006/main" noGrp="1"/>
          </p:cNvSpPr>
          <p:nvPr/>
        </p:nvSpPr>
        <p:spPr>
          <a:xfrm xmlns:a="http://schemas.openxmlformats.org/drawingml/2006/main">
            <a:off x="74104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run_pitch_rate_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limiter_tests.m</a:t>
            </a:r>
          </a:p>
        </p:txBody>
      </p:sp>
      <p:sp>
        <p:nvSpPr>
          <p:cNvPr id="42" name="s34-stage-body-3">
            <a:extLst xmlns:a="http://schemas.openxmlformats.org/drawingml/2006/main">
              <a:ext uri="{FF2B5EF4-FFF2-40B4-BE49-F238E27FC236}">
                <a16:creationId xmlns:a16="http://schemas.microsoft.com/office/drawing/2014/main" id="{9561AFF4-B393-4AF8-BC11-BC478BAEAB6B}"/>
              </a:ext>
            </a:extLst>
          </p:cNvPr>
          <p:cNvSpPr>
            <a:spLocks xmlns:a="http://schemas.openxmlformats.org/drawingml/2006/main" noGrp="1"/>
          </p:cNvSpPr>
          <p:nvPr/>
        </p:nvSpPr>
        <p:spPr>
          <a:xfrm xmlns:a="http://schemas.openxmlformats.org/drawingml/2006/main">
            <a:off x="74295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harness run + visible oracle</a:t>
            </a:r>
          </a:p>
        </p:txBody>
      </p:sp>
      <p:sp>
        <p:nvSpPr>
          <p:cNvPr id="43" name="s34-stage-4">
            <a:extLst xmlns:a="http://schemas.openxmlformats.org/drawingml/2006/main">
              <a:ext uri="{FF2B5EF4-FFF2-40B4-BE49-F238E27FC236}">
                <a16:creationId xmlns:a16="http://schemas.microsoft.com/office/drawing/2014/main" id="{9AFCE74D-CB9A-4F6B-B52E-8D2D2213FF06}"/>
              </a:ext>
            </a:extLst>
          </p:cNvPr>
          <p:cNvSpPr>
            <a:spLocks xmlns:a="http://schemas.openxmlformats.org/drawingml/2006/main" noGrp="1"/>
          </p:cNvSpPr>
          <p:nvPr/>
        </p:nvSpPr>
        <p:spPr>
          <a:xfrm xmlns:a="http://schemas.openxmlformats.org/drawingml/2006/main">
            <a:off x="95250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44" name="s34-stage-title-4">
            <a:extLst xmlns:a="http://schemas.openxmlformats.org/drawingml/2006/main">
              <a:ext uri="{FF2B5EF4-FFF2-40B4-BE49-F238E27FC236}">
                <a16:creationId xmlns:a16="http://schemas.microsoft.com/office/drawing/2014/main" id="{32682F9D-1D8B-4181-80D3-B31FD919B603}"/>
              </a:ext>
            </a:extLst>
          </p:cNvPr>
          <p:cNvSpPr>
            <a:spLocks xmlns:a="http://schemas.openxmlformats.org/drawingml/2006/main" noGrp="1"/>
          </p:cNvSpPr>
          <p:nvPr/>
        </p:nvSpPr>
        <p:spPr>
          <a:xfrm xmlns:a="http://schemas.openxmlformats.org/drawingml/2006/main">
            <a:off x="96393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CLEANUP</a:t>
            </a:r>
          </a:p>
        </p:txBody>
      </p:sp>
      <p:sp>
        <p:nvSpPr>
          <p:cNvPr id="45" name="s34-stage-file-4">
            <a:extLst xmlns:a="http://schemas.openxmlformats.org/drawingml/2006/main">
              <a:ext uri="{FF2B5EF4-FFF2-40B4-BE49-F238E27FC236}">
                <a16:creationId xmlns:a16="http://schemas.microsoft.com/office/drawing/2014/main" id="{BE776F2E-F3A2-4589-B04B-72B01E79F327}"/>
              </a:ext>
            </a:extLst>
          </p:cNvPr>
          <p:cNvSpPr>
            <a:spLocks xmlns:a="http://schemas.openxmlformats.org/drawingml/2006/main" noGrp="1"/>
          </p:cNvSpPr>
          <p:nvPr/>
        </p:nvSpPr>
        <p:spPr>
          <a:xfrm xmlns:a="http://schemas.openxmlformats.org/drawingml/2006/main">
            <a:off x="96202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cleanup.m</a:t>
            </a:r>
          </a:p>
        </p:txBody>
      </p:sp>
      <p:sp>
        <p:nvSpPr>
          <p:cNvPr id="46" name="s34-stage-body-4">
            <a:extLst xmlns:a="http://schemas.openxmlformats.org/drawingml/2006/main">
              <a:ext uri="{FF2B5EF4-FFF2-40B4-BE49-F238E27FC236}">
                <a16:creationId xmlns:a16="http://schemas.microsoft.com/office/drawing/2014/main" id="{1C99E313-1AB2-40B7-B406-185A3000C708}"/>
              </a:ext>
            </a:extLst>
          </p:cNvPr>
          <p:cNvSpPr>
            <a:spLocks xmlns:a="http://schemas.openxmlformats.org/drawingml/2006/main" noGrp="1"/>
          </p:cNvSpPr>
          <p:nvPr/>
        </p:nvSpPr>
        <p:spPr>
          <a:xfrm xmlns:a="http://schemas.openxmlformats.org/drawingml/2006/main">
            <a:off x="96393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release only owned state</a:t>
            </a:r>
          </a:p>
        </p:txBody>
      </p:sp>
      <p:sp>
        <p:nvSpPr>
          <p:cNvPr id="47" name="s34-principle-0">
            <a:extLst xmlns:a="http://schemas.openxmlformats.org/drawingml/2006/main">
              <a:ext uri="{FF2B5EF4-FFF2-40B4-BE49-F238E27FC236}">
                <a16:creationId xmlns:a16="http://schemas.microsoft.com/office/drawing/2014/main" id="{5ECA5762-8B37-4E7E-91C7-8758F8ED2599}"/>
              </a:ext>
            </a:extLst>
          </p:cNvPr>
          <p:cNvSpPr>
            <a:spLocks xmlns:a="http://schemas.openxmlformats.org/drawingml/2006/main" noGrp="1"/>
          </p:cNvSpPr>
          <p:nvPr/>
        </p:nvSpPr>
        <p:spPr>
          <a:xfrm xmlns:a="http://schemas.openxmlformats.org/drawingml/2006/main">
            <a:off x="685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CONTEXT</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Callbacks establish reproducible state.</a:t>
            </a:r>
          </a:p>
        </p:txBody>
      </p:sp>
      <p:sp>
        <p:nvSpPr>
          <p:cNvPr id="48" name="s34-principle-1">
            <a:extLst xmlns:a="http://schemas.openxmlformats.org/drawingml/2006/main">
              <a:ext uri="{FF2B5EF4-FFF2-40B4-BE49-F238E27FC236}">
                <a16:creationId xmlns:a16="http://schemas.microsoft.com/office/drawing/2014/main" id="{3321E1B9-1DD6-4A65-929F-49071314BA3A}"/>
              </a:ext>
            </a:extLst>
          </p:cNvPr>
          <p:cNvSpPr>
            <a:spLocks xmlns:a="http://schemas.openxmlformats.org/drawingml/2006/main" noGrp="1"/>
          </p:cNvSpPr>
          <p:nvPr/>
        </p:nvSpPr>
        <p:spPr>
          <a:xfrm xmlns:a="http://schemas.openxmlformats.org/drawingml/2006/main">
            <a:off x="4305300" y="3600450"/>
            <a:ext cx="3390900" cy="1200150"/>
          </a:xfrm>
          <a:prstGeom xmlns:a="http://schemas.openxmlformats.org/drawingml/2006/main" prst="roundRect">
            <a:avLst>
              <a:gd name="adj" fmla="val 952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ORACLE</a:t>
            </a:r>
          </a:p>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Expected values and pass/fail logic stay in the test driver.</a:t>
            </a:r>
          </a:p>
        </p:txBody>
      </p:sp>
      <p:sp>
        <p:nvSpPr>
          <p:cNvPr id="49" name="s34-principle-2">
            <a:extLst xmlns:a="http://schemas.openxmlformats.org/drawingml/2006/main">
              <a:ext uri="{FF2B5EF4-FFF2-40B4-BE49-F238E27FC236}">
                <a16:creationId xmlns:a16="http://schemas.microsoft.com/office/drawing/2014/main" id="{F0D763B5-54A8-46EF-AEA3-FE4EFECDD9D2}"/>
              </a:ext>
            </a:extLst>
          </p:cNvPr>
          <p:cNvSpPr>
            <a:spLocks xmlns:a="http://schemas.openxmlformats.org/drawingml/2006/main" noGrp="1"/>
          </p:cNvSpPr>
          <p:nvPr/>
        </p:nvSpPr>
        <p:spPr>
          <a:xfrm xmlns:a="http://schemas.openxmlformats.org/drawingml/2006/main">
            <a:off x="7924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EVIDENCE</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CSV, MAT, HTML, and PNG retain the controlled outcome.</a:t>
            </a:r>
          </a:p>
        </p:txBody>
      </p:sp>
      <p:sp>
        <p:nvSpPr>
          <p:cNvPr id="50" name="s34-repeat">
            <a:extLst xmlns:a="http://schemas.openxmlformats.org/drawingml/2006/main">
              <a:ext uri="{FF2B5EF4-FFF2-40B4-BE49-F238E27FC236}">
                <a16:creationId xmlns:a16="http://schemas.microsoft.com/office/drawing/2014/main" id="{25E600EB-D492-4BF7-9FA2-C0A154BD392D}"/>
              </a:ext>
            </a:extLst>
          </p:cNvPr>
          <p:cNvSpPr>
            <a:spLocks xmlns:a="http://schemas.openxmlformats.org/drawingml/2006/main" noGrp="1"/>
          </p:cNvSpPr>
          <p:nvPr/>
        </p:nvSpPr>
        <p:spPr>
          <a:xfrm xmlns:a="http://schemas.openxmlformats.org/drawingml/2006/main">
            <a:off x="685800" y="5067300"/>
            <a:ext cx="10820400" cy="781050"/>
          </a:xfrm>
          <a:prstGeom xmlns:a="http://schemas.openxmlformats.org/drawingml/2006/main" prst="roundRect">
            <a:avLst>
              <a:gd name="adj" fmla="val 14634"/>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Repeatability rule: prepare → execute → assess → retain → clean up. Dirty learner models are preserved so cleanup does not discard unsaved work.</a:t>
            </a:r>
          </a:p>
        </p:txBody>
      </p:sp>
    </p:spTree>
    <p:extLst>
      <p:ext uri="{BB962C8B-B14F-4D97-AF65-F5344CB8AC3E}">
        <p14:creationId xmlns:p14="http://schemas.microsoft.com/office/powerpoint/2010/main" val="1450052894"/>
      </p:ext>
    </p:extLst>
  </p:cSld>
</p:sld>
</file>

<file path=ppt/slides/slide4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40</a:t>
            </a:r>
          </a:p>
        </p:txBody>
      </p:sp>
      <p:sp>
        <p:nvSpPr>
          <p:cNvPr id="17" name="s35-path">
            <a:extLst xmlns:a="http://schemas.openxmlformats.org/drawingml/2006/main">
              <a:ext uri="{FF2B5EF4-FFF2-40B4-BE49-F238E27FC236}">
                <a16:creationId xmlns:a16="http://schemas.microsoft.com/office/drawing/2014/main" id="{3A6611F2-B048-45EB-9CF4-D80DC37D0ECF}"/>
              </a:ext>
            </a:extLst>
          </p:cNvPr>
          <p:cNvSpPr>
            <a:spLocks xmlns:a="http://schemas.openxmlformats.org/drawingml/2006/main" noGrp="1"/>
          </p:cNvSpPr>
          <p:nvPr/>
        </p:nvSpPr>
        <p:spPr>
          <a:xfrm xmlns:a="http://schemas.openxmlformats.org/drawingml/2006/main">
            <a:off x="685800" y="1381125"/>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data/FCS_Data.sldd  •  shared by all eight delivered models  •  controlled fixed-step Sample_time = 0.02 s (50 Hz)</a:t>
            </a:r>
          </a:p>
        </p:txBody>
      </p:sp>
      <p:sp>
        <p:nvSpPr>
          <p:cNvPr id="18" name="s35-param-heading">
            <a:extLst xmlns:a="http://schemas.openxmlformats.org/drawingml/2006/main">
              <a:ext uri="{FF2B5EF4-FFF2-40B4-BE49-F238E27FC236}">
                <a16:creationId xmlns:a16="http://schemas.microsoft.com/office/drawing/2014/main" id="{E891095B-CEF8-4D9A-8051-DA9B748BAC3E}"/>
              </a:ext>
            </a:extLst>
          </p:cNvPr>
          <p:cNvSpPr>
            <a:spLocks xmlns:a="http://schemas.openxmlformats.org/drawingml/2006/main" noGrp="1"/>
          </p:cNvSpPr>
          <p:nvPr/>
        </p:nvSpPr>
        <p:spPr>
          <a:xfrm xmlns:a="http://schemas.openxmlformats.org/drawingml/2006/main">
            <a:off x="6858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ILLUSTRATIVE CONTROLLED PARAMETERS</a:t>
            </a:r>
          </a:p>
        </p:txBody>
      </p:sp>
      <p:sp>
        <p:nvSpPr>
          <p:cNvPr id="19" name="s35-bus-heading">
            <a:extLst xmlns:a="http://schemas.openxmlformats.org/drawingml/2006/main">
              <a:ext uri="{FF2B5EF4-FFF2-40B4-BE49-F238E27FC236}">
                <a16:creationId xmlns:a16="http://schemas.microsoft.com/office/drawing/2014/main" id="{B45598B7-AA24-40AA-8DF9-2A11A0F7D6B3}"/>
              </a:ext>
            </a:extLst>
          </p:cNvPr>
          <p:cNvSpPr>
            <a:spLocks xmlns:a="http://schemas.openxmlformats.org/drawingml/2006/main" noGrp="1"/>
          </p:cNvSpPr>
          <p:nvPr/>
        </p:nvSpPr>
        <p:spPr>
          <a:xfrm xmlns:a="http://schemas.openxmlformats.org/drawingml/2006/main">
            <a:off x="62484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FlightControlBus — EXPLICIT INTERFACE CONTRACT</a:t>
            </a:r>
          </a:p>
        </p:txBody>
      </p:sp>
      <p:sp>
        <p:nvSpPr>
          <p:cNvPr id="20" name="s35-param-0">
            <a:extLst xmlns:a="http://schemas.openxmlformats.org/drawingml/2006/main">
              <a:ext uri="{FF2B5EF4-FFF2-40B4-BE49-F238E27FC236}">
                <a16:creationId xmlns:a16="http://schemas.microsoft.com/office/drawing/2014/main" id="{CF4CC462-81BD-4FB3-9D1A-8C8B23D4F9E2}"/>
              </a:ext>
            </a:extLst>
          </p:cNvPr>
          <p:cNvSpPr>
            <a:spLocks xmlns:a="http://schemas.openxmlformats.org/drawingml/2006/main" noGrp="1"/>
          </p:cNvSpPr>
          <p:nvPr/>
        </p:nvSpPr>
        <p:spPr>
          <a:xfrm xmlns:a="http://schemas.openxmlformats.org/drawingml/2006/main">
            <a:off x="685800" y="22669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1" name="s35-param-name-0">
            <a:extLst xmlns:a="http://schemas.openxmlformats.org/drawingml/2006/main">
              <a:ext uri="{FF2B5EF4-FFF2-40B4-BE49-F238E27FC236}">
                <a16:creationId xmlns:a16="http://schemas.microsoft.com/office/drawing/2014/main" id="{BD489A8E-0DCC-40C6-BE90-901E5CEC200A}"/>
              </a:ext>
            </a:extLst>
          </p:cNvPr>
          <p:cNvSpPr>
            <a:spLocks xmlns:a="http://schemas.openxmlformats.org/drawingml/2006/main" noGrp="1"/>
          </p:cNvSpPr>
          <p:nvPr/>
        </p:nvSpPr>
        <p:spPr>
          <a:xfrm xmlns:a="http://schemas.openxmlformats.org/drawingml/2006/main">
            <a:off x="819150" y="23050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Sample_time</a:t>
            </a:r>
          </a:p>
        </p:txBody>
      </p:sp>
      <p:sp>
        <p:nvSpPr>
          <p:cNvPr id="22" name="s35-param-value-0">
            <a:extLst xmlns:a="http://schemas.openxmlformats.org/drawingml/2006/main">
              <a:ext uri="{FF2B5EF4-FFF2-40B4-BE49-F238E27FC236}">
                <a16:creationId xmlns:a16="http://schemas.microsoft.com/office/drawing/2014/main" id="{8BD2267C-F92C-4E27-A2A9-94B09F7B27A0}"/>
              </a:ext>
            </a:extLst>
          </p:cNvPr>
          <p:cNvSpPr>
            <a:spLocks xmlns:a="http://schemas.openxmlformats.org/drawingml/2006/main" noGrp="1"/>
          </p:cNvSpPr>
          <p:nvPr/>
        </p:nvSpPr>
        <p:spPr>
          <a:xfrm xmlns:a="http://schemas.openxmlformats.org/drawingml/2006/main">
            <a:off x="3048000" y="23050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 s</a:t>
            </a:r>
          </a:p>
        </p:txBody>
      </p:sp>
      <p:sp>
        <p:nvSpPr>
          <p:cNvPr id="23" name="s35-param-type-0">
            <a:extLst xmlns:a="http://schemas.openxmlformats.org/drawingml/2006/main">
              <a:ext uri="{FF2B5EF4-FFF2-40B4-BE49-F238E27FC236}">
                <a16:creationId xmlns:a16="http://schemas.microsoft.com/office/drawing/2014/main" id="{2F70D834-EE6F-4A7C-AD83-3783ACC65F5B}"/>
              </a:ext>
            </a:extLst>
          </p:cNvPr>
          <p:cNvSpPr>
            <a:spLocks xmlns:a="http://schemas.openxmlformats.org/drawingml/2006/main" noGrp="1"/>
          </p:cNvSpPr>
          <p:nvPr/>
        </p:nvSpPr>
        <p:spPr>
          <a:xfrm xmlns:a="http://schemas.openxmlformats.org/drawingml/2006/main">
            <a:off x="4762500" y="23050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4" name="s35-param-1">
            <a:extLst xmlns:a="http://schemas.openxmlformats.org/drawingml/2006/main">
              <a:ext uri="{FF2B5EF4-FFF2-40B4-BE49-F238E27FC236}">
                <a16:creationId xmlns:a16="http://schemas.microsoft.com/office/drawing/2014/main" id="{95F6E0F5-E295-4A05-A9BC-6E50739EEDAD}"/>
              </a:ext>
            </a:extLst>
          </p:cNvPr>
          <p:cNvSpPr>
            <a:spLocks xmlns:a="http://schemas.openxmlformats.org/drawingml/2006/main" noGrp="1"/>
          </p:cNvSpPr>
          <p:nvPr/>
        </p:nvSpPr>
        <p:spPr>
          <a:xfrm xmlns:a="http://schemas.openxmlformats.org/drawingml/2006/main">
            <a:off x="685800" y="27813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25" name="s35-param-name-1">
            <a:extLst xmlns:a="http://schemas.openxmlformats.org/drawingml/2006/main">
              <a:ext uri="{FF2B5EF4-FFF2-40B4-BE49-F238E27FC236}">
                <a16:creationId xmlns:a16="http://schemas.microsoft.com/office/drawing/2014/main" id="{9A077507-3434-4162-BF07-B00BAF8DF003}"/>
              </a:ext>
            </a:extLst>
          </p:cNvPr>
          <p:cNvSpPr>
            <a:spLocks xmlns:a="http://schemas.openxmlformats.org/drawingml/2006/main" noGrp="1"/>
          </p:cNvSpPr>
          <p:nvPr/>
        </p:nvSpPr>
        <p:spPr>
          <a:xfrm xmlns:a="http://schemas.openxmlformats.org/drawingml/2006/main">
            <a:off x="819150" y="28194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q_limit_normal</a:t>
            </a:r>
          </a:p>
        </p:txBody>
      </p:sp>
      <p:sp>
        <p:nvSpPr>
          <p:cNvPr id="26" name="s35-param-value-1">
            <a:extLst xmlns:a="http://schemas.openxmlformats.org/drawingml/2006/main">
              <a:ext uri="{FF2B5EF4-FFF2-40B4-BE49-F238E27FC236}">
                <a16:creationId xmlns:a16="http://schemas.microsoft.com/office/drawing/2014/main" id="{93A1A999-F884-443A-A8F5-CD23532B7F12}"/>
              </a:ext>
            </a:extLst>
          </p:cNvPr>
          <p:cNvSpPr>
            <a:spLocks xmlns:a="http://schemas.openxmlformats.org/drawingml/2006/main" noGrp="1"/>
          </p:cNvSpPr>
          <p:nvPr/>
        </p:nvSpPr>
        <p:spPr>
          <a:xfrm xmlns:a="http://schemas.openxmlformats.org/drawingml/2006/main">
            <a:off x="3048000" y="28194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12 deg/s</a:t>
            </a:r>
          </a:p>
        </p:txBody>
      </p:sp>
      <p:sp>
        <p:nvSpPr>
          <p:cNvPr id="27" name="s35-param-type-1">
            <a:extLst xmlns:a="http://schemas.openxmlformats.org/drawingml/2006/main">
              <a:ext uri="{FF2B5EF4-FFF2-40B4-BE49-F238E27FC236}">
                <a16:creationId xmlns:a16="http://schemas.microsoft.com/office/drawing/2014/main" id="{C772B499-B236-4BE9-8E01-0CE71CC11BD2}"/>
              </a:ext>
            </a:extLst>
          </p:cNvPr>
          <p:cNvSpPr>
            <a:spLocks xmlns:a="http://schemas.openxmlformats.org/drawingml/2006/main" noGrp="1"/>
          </p:cNvSpPr>
          <p:nvPr/>
        </p:nvSpPr>
        <p:spPr>
          <a:xfrm xmlns:a="http://schemas.openxmlformats.org/drawingml/2006/main">
            <a:off x="4762500" y="28194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8" name="s35-param-2">
            <a:extLst xmlns:a="http://schemas.openxmlformats.org/drawingml/2006/main">
              <a:ext uri="{FF2B5EF4-FFF2-40B4-BE49-F238E27FC236}">
                <a16:creationId xmlns:a16="http://schemas.microsoft.com/office/drawing/2014/main" id="{6D1EF078-8790-45C6-9D25-1632EEA38B05}"/>
              </a:ext>
            </a:extLst>
          </p:cNvPr>
          <p:cNvSpPr>
            <a:spLocks xmlns:a="http://schemas.openxmlformats.org/drawingml/2006/main" noGrp="1"/>
          </p:cNvSpPr>
          <p:nvPr/>
        </p:nvSpPr>
        <p:spPr>
          <a:xfrm xmlns:a="http://schemas.openxmlformats.org/drawingml/2006/main">
            <a:off x="685800" y="32956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9" name="s35-param-name-2">
            <a:extLst xmlns:a="http://schemas.openxmlformats.org/drawingml/2006/main">
              <a:ext uri="{FF2B5EF4-FFF2-40B4-BE49-F238E27FC236}">
                <a16:creationId xmlns:a16="http://schemas.microsoft.com/office/drawing/2014/main" id="{A4B1245B-242F-4D05-9CBE-DA4B5B0CBFF4}"/>
              </a:ext>
            </a:extLst>
          </p:cNvPr>
          <p:cNvSpPr>
            <a:spLocks xmlns:a="http://schemas.openxmlformats.org/drawingml/2006/main" noGrp="1"/>
          </p:cNvSpPr>
          <p:nvPr/>
        </p:nvSpPr>
        <p:spPr>
          <a:xfrm xmlns:a="http://schemas.openxmlformats.org/drawingml/2006/main">
            <a:off x="819150" y="3333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pitch_Kp</a:t>
            </a:r>
          </a:p>
        </p:txBody>
      </p:sp>
      <p:sp>
        <p:nvSpPr>
          <p:cNvPr id="30" name="s35-param-value-2">
            <a:extLst xmlns:a="http://schemas.openxmlformats.org/drawingml/2006/main">
              <a:ext uri="{FF2B5EF4-FFF2-40B4-BE49-F238E27FC236}">
                <a16:creationId xmlns:a16="http://schemas.microsoft.com/office/drawing/2014/main" id="{CD4041DE-DCFB-4FC0-B358-99793690EE32}"/>
              </a:ext>
            </a:extLst>
          </p:cNvPr>
          <p:cNvSpPr>
            <a:spLocks xmlns:a="http://schemas.openxmlformats.org/drawingml/2006/main" noGrp="1"/>
          </p:cNvSpPr>
          <p:nvPr/>
        </p:nvSpPr>
        <p:spPr>
          <a:xfrm xmlns:a="http://schemas.openxmlformats.org/drawingml/2006/main">
            <a:off x="3048000" y="33337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0.60</a:t>
            </a:r>
          </a:p>
        </p:txBody>
      </p:sp>
      <p:sp>
        <p:nvSpPr>
          <p:cNvPr id="31" name="s35-param-type-2">
            <a:extLst xmlns:a="http://schemas.openxmlformats.org/drawingml/2006/main">
              <a:ext uri="{FF2B5EF4-FFF2-40B4-BE49-F238E27FC236}">
                <a16:creationId xmlns:a16="http://schemas.microsoft.com/office/drawing/2014/main" id="{5C1E0DD0-CA37-48C9-A89E-C9A5C4BA9B17}"/>
              </a:ext>
            </a:extLst>
          </p:cNvPr>
          <p:cNvSpPr>
            <a:spLocks xmlns:a="http://schemas.openxmlformats.org/drawingml/2006/main" noGrp="1"/>
          </p:cNvSpPr>
          <p:nvPr/>
        </p:nvSpPr>
        <p:spPr>
          <a:xfrm xmlns:a="http://schemas.openxmlformats.org/drawingml/2006/main">
            <a:off x="4762500" y="33337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2" name="s35-param-3">
            <a:extLst xmlns:a="http://schemas.openxmlformats.org/drawingml/2006/main">
              <a:ext uri="{FF2B5EF4-FFF2-40B4-BE49-F238E27FC236}">
                <a16:creationId xmlns:a16="http://schemas.microsoft.com/office/drawing/2014/main" id="{1D086A47-58CA-47D8-AC2F-DA58F0728A58}"/>
              </a:ext>
            </a:extLst>
          </p:cNvPr>
          <p:cNvSpPr>
            <a:spLocks xmlns:a="http://schemas.openxmlformats.org/drawingml/2006/main" noGrp="1"/>
          </p:cNvSpPr>
          <p:nvPr/>
        </p:nvSpPr>
        <p:spPr>
          <a:xfrm xmlns:a="http://schemas.openxmlformats.org/drawingml/2006/main">
            <a:off x="685800" y="38100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33" name="s35-param-name-3">
            <a:extLst xmlns:a="http://schemas.openxmlformats.org/drawingml/2006/main">
              <a:ext uri="{FF2B5EF4-FFF2-40B4-BE49-F238E27FC236}">
                <a16:creationId xmlns:a16="http://schemas.microsoft.com/office/drawing/2014/main" id="{A72168E7-535E-4AA7-8207-CBFD3AE1560E}"/>
              </a:ext>
            </a:extLst>
          </p:cNvPr>
          <p:cNvSpPr>
            <a:spLocks xmlns:a="http://schemas.openxmlformats.org/drawingml/2006/main" noGrp="1"/>
          </p:cNvSpPr>
          <p:nvPr/>
        </p:nvSpPr>
        <p:spPr>
          <a:xfrm xmlns:a="http://schemas.openxmlformats.org/drawingml/2006/main">
            <a:off x="819150" y="38481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pitch_Ki</a:t>
            </a:r>
          </a:p>
        </p:txBody>
      </p:sp>
      <p:sp>
        <p:nvSpPr>
          <p:cNvPr id="34" name="s35-param-value-3">
            <a:extLst xmlns:a="http://schemas.openxmlformats.org/drawingml/2006/main">
              <a:ext uri="{FF2B5EF4-FFF2-40B4-BE49-F238E27FC236}">
                <a16:creationId xmlns:a16="http://schemas.microsoft.com/office/drawing/2014/main" id="{D36363ED-3DA3-49A2-9A1A-859774D1F779}"/>
              </a:ext>
            </a:extLst>
          </p:cNvPr>
          <p:cNvSpPr>
            <a:spLocks xmlns:a="http://schemas.openxmlformats.org/drawingml/2006/main" noGrp="1"/>
          </p:cNvSpPr>
          <p:nvPr/>
        </p:nvSpPr>
        <p:spPr>
          <a:xfrm xmlns:a="http://schemas.openxmlformats.org/drawingml/2006/main">
            <a:off x="3048000" y="38481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0.025 1/s</a:t>
            </a:r>
          </a:p>
        </p:txBody>
      </p:sp>
      <p:sp>
        <p:nvSpPr>
          <p:cNvPr id="35" name="s35-param-type-3">
            <a:extLst xmlns:a="http://schemas.openxmlformats.org/drawingml/2006/main">
              <a:ext uri="{FF2B5EF4-FFF2-40B4-BE49-F238E27FC236}">
                <a16:creationId xmlns:a16="http://schemas.microsoft.com/office/drawing/2014/main" id="{65673B00-80F4-4FB6-ABD0-24316B15F40F}"/>
              </a:ext>
            </a:extLst>
          </p:cNvPr>
          <p:cNvSpPr>
            <a:spLocks xmlns:a="http://schemas.openxmlformats.org/drawingml/2006/main" noGrp="1"/>
          </p:cNvSpPr>
          <p:nvPr/>
        </p:nvSpPr>
        <p:spPr>
          <a:xfrm xmlns:a="http://schemas.openxmlformats.org/drawingml/2006/main">
            <a:off x="4762500" y="38481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6" name="s35-param-4">
            <a:extLst xmlns:a="http://schemas.openxmlformats.org/drawingml/2006/main">
              <a:ext uri="{FF2B5EF4-FFF2-40B4-BE49-F238E27FC236}">
                <a16:creationId xmlns:a16="http://schemas.microsoft.com/office/drawing/2014/main" id="{3CEBB3B4-457D-410B-A9B1-5ABC65BCC0FE}"/>
              </a:ext>
            </a:extLst>
          </p:cNvPr>
          <p:cNvSpPr>
            <a:spLocks xmlns:a="http://schemas.openxmlformats.org/drawingml/2006/main" noGrp="1"/>
          </p:cNvSpPr>
          <p:nvPr/>
        </p:nvSpPr>
        <p:spPr>
          <a:xfrm xmlns:a="http://schemas.openxmlformats.org/drawingml/2006/main">
            <a:off x="685800" y="43243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37" name="s35-param-name-4">
            <a:extLst xmlns:a="http://schemas.openxmlformats.org/drawingml/2006/main">
              <a:ext uri="{FF2B5EF4-FFF2-40B4-BE49-F238E27FC236}">
                <a16:creationId xmlns:a16="http://schemas.microsoft.com/office/drawing/2014/main" id="{76326D0D-9141-432F-810C-4EB3C0F08743}"/>
              </a:ext>
            </a:extLst>
          </p:cNvPr>
          <p:cNvSpPr>
            <a:spLocks xmlns:a="http://schemas.openxmlformats.org/drawingml/2006/main" noGrp="1"/>
          </p:cNvSpPr>
          <p:nvPr/>
        </p:nvSpPr>
        <p:spPr>
          <a:xfrm xmlns:a="http://schemas.openxmlformats.org/drawingml/2006/main">
            <a:off x="819150" y="4362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pitch_rate_Kp</a:t>
            </a:r>
          </a:p>
        </p:txBody>
      </p:sp>
      <p:sp>
        <p:nvSpPr>
          <p:cNvPr id="38" name="s35-param-value-4">
            <a:extLst xmlns:a="http://schemas.openxmlformats.org/drawingml/2006/main">
              <a:ext uri="{FF2B5EF4-FFF2-40B4-BE49-F238E27FC236}">
                <a16:creationId xmlns:a16="http://schemas.microsoft.com/office/drawing/2014/main" id="{7626062B-B7E9-49A4-B81A-9E08214F7EBB}"/>
              </a:ext>
            </a:extLst>
          </p:cNvPr>
          <p:cNvSpPr>
            <a:spLocks xmlns:a="http://schemas.openxmlformats.org/drawingml/2006/main" noGrp="1"/>
          </p:cNvSpPr>
          <p:nvPr/>
        </p:nvSpPr>
        <p:spPr>
          <a:xfrm xmlns:a="http://schemas.openxmlformats.org/drawingml/2006/main">
            <a:off x="3048000" y="43624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0.30 s</a:t>
            </a:r>
          </a:p>
        </p:txBody>
      </p:sp>
      <p:sp>
        <p:nvSpPr>
          <p:cNvPr id="39" name="s35-param-type-4">
            <a:extLst xmlns:a="http://schemas.openxmlformats.org/drawingml/2006/main">
              <a:ext uri="{FF2B5EF4-FFF2-40B4-BE49-F238E27FC236}">
                <a16:creationId xmlns:a16="http://schemas.microsoft.com/office/drawing/2014/main" id="{E0AB59EB-34AA-499B-AC20-885563BC7B87}"/>
              </a:ext>
            </a:extLst>
          </p:cNvPr>
          <p:cNvSpPr>
            <a:spLocks xmlns:a="http://schemas.openxmlformats.org/drawingml/2006/main" noGrp="1"/>
          </p:cNvSpPr>
          <p:nvPr/>
        </p:nvSpPr>
        <p:spPr>
          <a:xfrm xmlns:a="http://schemas.openxmlformats.org/drawingml/2006/main">
            <a:off x="4762500" y="4362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0" name="s35-param-5">
            <a:extLst xmlns:a="http://schemas.openxmlformats.org/drawingml/2006/main">
              <a:ext uri="{FF2B5EF4-FFF2-40B4-BE49-F238E27FC236}">
                <a16:creationId xmlns:a16="http://schemas.microsoft.com/office/drawing/2014/main" id="{E6BD3B59-CF04-4355-A204-D1C2CDCA7320}"/>
              </a:ext>
            </a:extLst>
          </p:cNvPr>
          <p:cNvSpPr>
            <a:spLocks xmlns:a="http://schemas.openxmlformats.org/drawingml/2006/main" noGrp="1"/>
          </p:cNvSpPr>
          <p:nvPr/>
        </p:nvSpPr>
        <p:spPr>
          <a:xfrm xmlns:a="http://schemas.openxmlformats.org/drawingml/2006/main">
            <a:off x="685800" y="48387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41" name="s35-param-name-5">
            <a:extLst xmlns:a="http://schemas.openxmlformats.org/drawingml/2006/main">
              <a:ext uri="{FF2B5EF4-FFF2-40B4-BE49-F238E27FC236}">
                <a16:creationId xmlns:a16="http://schemas.microsoft.com/office/drawing/2014/main" id="{6AAB9C5D-7A98-4D0F-BB68-13A68C73C425}"/>
              </a:ext>
            </a:extLst>
          </p:cNvPr>
          <p:cNvSpPr>
            <a:spLocks xmlns:a="http://schemas.openxmlformats.org/drawingml/2006/main" noGrp="1"/>
          </p:cNvSpPr>
          <p:nvPr/>
        </p:nvSpPr>
        <p:spPr>
          <a:xfrm xmlns:a="http://schemas.openxmlformats.org/drawingml/2006/main">
            <a:off x="819150" y="4876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pitch_rate_Ki</a:t>
            </a:r>
          </a:p>
        </p:txBody>
      </p:sp>
      <p:sp>
        <p:nvSpPr>
          <p:cNvPr id="42" name="s35-param-value-5">
            <a:extLst xmlns:a="http://schemas.openxmlformats.org/drawingml/2006/main">
              <a:ext uri="{FF2B5EF4-FFF2-40B4-BE49-F238E27FC236}">
                <a16:creationId xmlns:a16="http://schemas.microsoft.com/office/drawing/2014/main" id="{9DBEC7B7-BFA9-44D4-B1E4-C5D2648E6499}"/>
              </a:ext>
            </a:extLst>
          </p:cNvPr>
          <p:cNvSpPr>
            <a:spLocks xmlns:a="http://schemas.openxmlformats.org/drawingml/2006/main" noGrp="1"/>
          </p:cNvSpPr>
          <p:nvPr/>
        </p:nvSpPr>
        <p:spPr>
          <a:xfrm xmlns:a="http://schemas.openxmlformats.org/drawingml/2006/main">
            <a:off x="3048000" y="48768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0.20</a:t>
            </a:r>
          </a:p>
        </p:txBody>
      </p:sp>
      <p:sp>
        <p:nvSpPr>
          <p:cNvPr id="43" name="s35-param-type-5">
            <a:extLst xmlns:a="http://schemas.openxmlformats.org/drawingml/2006/main">
              <a:ext uri="{FF2B5EF4-FFF2-40B4-BE49-F238E27FC236}">
                <a16:creationId xmlns:a16="http://schemas.microsoft.com/office/drawing/2014/main" id="{D3105C8E-BC08-44EB-89A5-E43A987C8473}"/>
              </a:ext>
            </a:extLst>
          </p:cNvPr>
          <p:cNvSpPr>
            <a:spLocks xmlns:a="http://schemas.openxmlformats.org/drawingml/2006/main" noGrp="1"/>
          </p:cNvSpPr>
          <p:nvPr/>
        </p:nvSpPr>
        <p:spPr>
          <a:xfrm xmlns:a="http://schemas.openxmlformats.org/drawingml/2006/main">
            <a:off x="4762500" y="48768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4" name="s35-bus-0">
            <a:extLst xmlns:a="http://schemas.openxmlformats.org/drawingml/2006/main">
              <a:ext uri="{FF2B5EF4-FFF2-40B4-BE49-F238E27FC236}">
                <a16:creationId xmlns:a16="http://schemas.microsoft.com/office/drawing/2014/main" id="{18290F3F-A78F-4C39-AB10-F9E58EF4400B}"/>
              </a:ext>
            </a:extLst>
          </p:cNvPr>
          <p:cNvSpPr>
            <a:spLocks xmlns:a="http://schemas.openxmlformats.org/drawingml/2006/main" noGrp="1"/>
          </p:cNvSpPr>
          <p:nvPr/>
        </p:nvSpPr>
        <p:spPr>
          <a:xfrm xmlns:a="http://schemas.openxmlformats.org/drawingml/2006/main">
            <a:off x="6248400" y="22669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45" name="s35-bus-name-0">
            <a:extLst xmlns:a="http://schemas.openxmlformats.org/drawingml/2006/main">
              <a:ext uri="{FF2B5EF4-FFF2-40B4-BE49-F238E27FC236}">
                <a16:creationId xmlns:a16="http://schemas.microsoft.com/office/drawing/2014/main" id="{EEBA10EA-7EE9-4F3B-B57F-E17D1744863A}"/>
              </a:ext>
            </a:extLst>
          </p:cNvPr>
          <p:cNvSpPr>
            <a:spLocks xmlns:a="http://schemas.openxmlformats.org/drawingml/2006/main" noGrp="1"/>
          </p:cNvSpPr>
          <p:nvPr/>
        </p:nvSpPr>
        <p:spPr>
          <a:xfrm xmlns:a="http://schemas.openxmlformats.org/drawingml/2006/main">
            <a:off x="6381750" y="23050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q_rate</a:t>
            </a:r>
          </a:p>
        </p:txBody>
      </p:sp>
      <p:sp>
        <p:nvSpPr>
          <p:cNvPr id="46" name="s35-bus-meta-0">
            <a:extLst xmlns:a="http://schemas.openxmlformats.org/drawingml/2006/main">
              <a:ext uri="{FF2B5EF4-FFF2-40B4-BE49-F238E27FC236}">
                <a16:creationId xmlns:a16="http://schemas.microsoft.com/office/drawing/2014/main" id="{9BCD1BD0-BABF-4B67-A8F9-4BF2AC324A06}"/>
              </a:ext>
            </a:extLst>
          </p:cNvPr>
          <p:cNvSpPr>
            <a:spLocks xmlns:a="http://schemas.openxmlformats.org/drawingml/2006/main" noGrp="1"/>
          </p:cNvSpPr>
          <p:nvPr/>
        </p:nvSpPr>
        <p:spPr>
          <a:xfrm xmlns:a="http://schemas.openxmlformats.org/drawingml/2006/main">
            <a:off x="7896225" y="23050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deg/s</a:t>
            </a:r>
          </a:p>
        </p:txBody>
      </p:sp>
      <p:sp>
        <p:nvSpPr>
          <p:cNvPr id="47" name="s35-bus-desc-0">
            <a:extLst xmlns:a="http://schemas.openxmlformats.org/drawingml/2006/main">
              <a:ext uri="{FF2B5EF4-FFF2-40B4-BE49-F238E27FC236}">
                <a16:creationId xmlns:a16="http://schemas.microsoft.com/office/drawing/2014/main" id="{E9C9EC00-EF2E-482B-AA5A-A3C6AF2DB7C2}"/>
              </a:ext>
            </a:extLst>
          </p:cNvPr>
          <p:cNvSpPr>
            <a:spLocks xmlns:a="http://schemas.openxmlformats.org/drawingml/2006/main" noGrp="1"/>
          </p:cNvSpPr>
          <p:nvPr/>
        </p:nvSpPr>
        <p:spPr>
          <a:xfrm xmlns:a="http://schemas.openxmlformats.org/drawingml/2006/main">
            <a:off x="6381750" y="2533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rate</a:t>
            </a:r>
          </a:p>
        </p:txBody>
      </p:sp>
      <p:sp>
        <p:nvSpPr>
          <p:cNvPr id="48" name="s35-bus-1">
            <a:extLst xmlns:a="http://schemas.openxmlformats.org/drawingml/2006/main">
              <a:ext uri="{FF2B5EF4-FFF2-40B4-BE49-F238E27FC236}">
                <a16:creationId xmlns:a16="http://schemas.microsoft.com/office/drawing/2014/main" id="{68342C14-3A88-42B6-901D-4ED12B4663D5}"/>
              </a:ext>
            </a:extLst>
          </p:cNvPr>
          <p:cNvSpPr>
            <a:spLocks xmlns:a="http://schemas.openxmlformats.org/drawingml/2006/main" noGrp="1"/>
          </p:cNvSpPr>
          <p:nvPr/>
        </p:nvSpPr>
        <p:spPr>
          <a:xfrm xmlns:a="http://schemas.openxmlformats.org/drawingml/2006/main">
            <a:off x="6248400" y="288607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49" name="s35-bus-name-1">
            <a:extLst xmlns:a="http://schemas.openxmlformats.org/drawingml/2006/main">
              <a:ext uri="{FF2B5EF4-FFF2-40B4-BE49-F238E27FC236}">
                <a16:creationId xmlns:a16="http://schemas.microsoft.com/office/drawing/2014/main" id="{AA4FECE6-1284-41DF-AD57-AEFC311FFEFC}"/>
              </a:ext>
            </a:extLst>
          </p:cNvPr>
          <p:cNvSpPr>
            <a:spLocks xmlns:a="http://schemas.openxmlformats.org/drawingml/2006/main" noGrp="1"/>
          </p:cNvSpPr>
          <p:nvPr/>
        </p:nvSpPr>
        <p:spPr>
          <a:xfrm xmlns:a="http://schemas.openxmlformats.org/drawingml/2006/main">
            <a:off x="6381750" y="29241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pitch_angle</a:t>
            </a:r>
          </a:p>
        </p:txBody>
      </p:sp>
      <p:sp>
        <p:nvSpPr>
          <p:cNvPr id="50" name="s35-bus-meta-1">
            <a:extLst xmlns:a="http://schemas.openxmlformats.org/drawingml/2006/main">
              <a:ext uri="{FF2B5EF4-FFF2-40B4-BE49-F238E27FC236}">
                <a16:creationId xmlns:a16="http://schemas.microsoft.com/office/drawing/2014/main" id="{5C0F6D64-F17D-4ABD-AA7C-806D8BD82386}"/>
              </a:ext>
            </a:extLst>
          </p:cNvPr>
          <p:cNvSpPr>
            <a:spLocks xmlns:a="http://schemas.openxmlformats.org/drawingml/2006/main" noGrp="1"/>
          </p:cNvSpPr>
          <p:nvPr/>
        </p:nvSpPr>
        <p:spPr>
          <a:xfrm xmlns:a="http://schemas.openxmlformats.org/drawingml/2006/main">
            <a:off x="7896225" y="29241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a:t>
            </a:r>
          </a:p>
        </p:txBody>
      </p:sp>
      <p:sp>
        <p:nvSpPr>
          <p:cNvPr id="51" name="s35-bus-desc-1">
            <a:extLst xmlns:a="http://schemas.openxmlformats.org/drawingml/2006/main">
              <a:ext uri="{FF2B5EF4-FFF2-40B4-BE49-F238E27FC236}">
                <a16:creationId xmlns:a16="http://schemas.microsoft.com/office/drawing/2014/main" id="{C9B9DFF4-AF25-4D45-AEF4-A5077E97486B}"/>
              </a:ext>
            </a:extLst>
          </p:cNvPr>
          <p:cNvSpPr>
            <a:spLocks xmlns:a="http://schemas.openxmlformats.org/drawingml/2006/main" noGrp="1"/>
          </p:cNvSpPr>
          <p:nvPr/>
        </p:nvSpPr>
        <p:spPr>
          <a:xfrm xmlns:a="http://schemas.openxmlformats.org/drawingml/2006/main">
            <a:off x="6381750" y="31527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attitude</a:t>
            </a:r>
          </a:p>
        </p:txBody>
      </p:sp>
      <p:sp>
        <p:nvSpPr>
          <p:cNvPr id="52" name="s35-bus-2">
            <a:extLst xmlns:a="http://schemas.openxmlformats.org/drawingml/2006/main">
              <a:ext uri="{FF2B5EF4-FFF2-40B4-BE49-F238E27FC236}">
                <a16:creationId xmlns:a16="http://schemas.microsoft.com/office/drawing/2014/main" id="{B7CC50DB-4AD9-447F-B6F4-F6701014552D}"/>
              </a:ext>
            </a:extLst>
          </p:cNvPr>
          <p:cNvSpPr>
            <a:spLocks xmlns:a="http://schemas.openxmlformats.org/drawingml/2006/main" noGrp="1"/>
          </p:cNvSpPr>
          <p:nvPr/>
        </p:nvSpPr>
        <p:spPr>
          <a:xfrm xmlns:a="http://schemas.openxmlformats.org/drawingml/2006/main">
            <a:off x="6248400" y="350520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53" name="s35-bus-name-2">
            <a:extLst xmlns:a="http://schemas.openxmlformats.org/drawingml/2006/main">
              <a:ext uri="{FF2B5EF4-FFF2-40B4-BE49-F238E27FC236}">
                <a16:creationId xmlns:a16="http://schemas.microsoft.com/office/drawing/2014/main" id="{751EC5E8-E082-4C6D-9C00-C1CA94CFB1BF}"/>
              </a:ext>
            </a:extLst>
          </p:cNvPr>
          <p:cNvSpPr>
            <a:spLocks xmlns:a="http://schemas.openxmlformats.org/drawingml/2006/main" noGrp="1"/>
          </p:cNvSpPr>
          <p:nvPr/>
        </p:nvSpPr>
        <p:spPr>
          <a:xfrm xmlns:a="http://schemas.openxmlformats.org/drawingml/2006/main">
            <a:off x="6381750" y="35433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mach</a:t>
            </a:r>
          </a:p>
        </p:txBody>
      </p:sp>
      <p:sp>
        <p:nvSpPr>
          <p:cNvPr id="54" name="s35-bus-meta-2">
            <a:extLst xmlns:a="http://schemas.openxmlformats.org/drawingml/2006/main">
              <a:ext uri="{FF2B5EF4-FFF2-40B4-BE49-F238E27FC236}">
                <a16:creationId xmlns:a16="http://schemas.microsoft.com/office/drawing/2014/main" id="{68B8D947-0325-4ECA-9355-C5E2D2AE05E3}"/>
              </a:ext>
            </a:extLst>
          </p:cNvPr>
          <p:cNvSpPr>
            <a:spLocks xmlns:a="http://schemas.openxmlformats.org/drawingml/2006/main" noGrp="1"/>
          </p:cNvSpPr>
          <p:nvPr/>
        </p:nvSpPr>
        <p:spPr>
          <a:xfrm xmlns:a="http://schemas.openxmlformats.org/drawingml/2006/main">
            <a:off x="7896225" y="3543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1</a:t>
            </a:r>
          </a:p>
        </p:txBody>
      </p:sp>
      <p:sp>
        <p:nvSpPr>
          <p:cNvPr id="55" name="s35-bus-desc-2">
            <a:extLst xmlns:a="http://schemas.openxmlformats.org/drawingml/2006/main">
              <a:ext uri="{FF2B5EF4-FFF2-40B4-BE49-F238E27FC236}">
                <a16:creationId xmlns:a16="http://schemas.microsoft.com/office/drawing/2014/main" id="{AA8DF03E-B13B-49CB-85A3-17D65D4E62AE}"/>
              </a:ext>
            </a:extLst>
          </p:cNvPr>
          <p:cNvSpPr>
            <a:spLocks xmlns:a="http://schemas.openxmlformats.org/drawingml/2006/main" noGrp="1"/>
          </p:cNvSpPr>
          <p:nvPr/>
        </p:nvSpPr>
        <p:spPr>
          <a:xfrm xmlns:a="http://schemas.openxmlformats.org/drawingml/2006/main">
            <a:off x="6381750" y="3771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Illustrative Mach number</a:t>
            </a:r>
          </a:p>
        </p:txBody>
      </p:sp>
      <p:sp>
        <p:nvSpPr>
          <p:cNvPr id="56" name="s35-bus-3">
            <a:extLst xmlns:a="http://schemas.openxmlformats.org/drawingml/2006/main">
              <a:ext uri="{FF2B5EF4-FFF2-40B4-BE49-F238E27FC236}">
                <a16:creationId xmlns:a16="http://schemas.microsoft.com/office/drawing/2014/main" id="{520D100B-C964-4FA4-AB3D-4C829301A28A}"/>
              </a:ext>
            </a:extLst>
          </p:cNvPr>
          <p:cNvSpPr>
            <a:spLocks xmlns:a="http://schemas.openxmlformats.org/drawingml/2006/main" noGrp="1"/>
          </p:cNvSpPr>
          <p:nvPr/>
        </p:nvSpPr>
        <p:spPr>
          <a:xfrm xmlns:a="http://schemas.openxmlformats.org/drawingml/2006/main">
            <a:off x="6248400" y="412432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57" name="s35-bus-name-3">
            <a:extLst xmlns:a="http://schemas.openxmlformats.org/drawingml/2006/main">
              <a:ext uri="{FF2B5EF4-FFF2-40B4-BE49-F238E27FC236}">
                <a16:creationId xmlns:a16="http://schemas.microsoft.com/office/drawing/2014/main" id="{99FC99E8-A288-436B-BD16-B3CC9371AC5F}"/>
              </a:ext>
            </a:extLst>
          </p:cNvPr>
          <p:cNvSpPr>
            <a:spLocks xmlns:a="http://schemas.openxmlformats.org/drawingml/2006/main" noGrp="1"/>
          </p:cNvSpPr>
          <p:nvPr/>
        </p:nvSpPr>
        <p:spPr>
          <a:xfrm xmlns:a="http://schemas.openxmlformats.org/drawingml/2006/main">
            <a:off x="6381750" y="41624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air_data_valid</a:t>
            </a:r>
          </a:p>
        </p:txBody>
      </p:sp>
      <p:sp>
        <p:nvSpPr>
          <p:cNvPr id="58" name="s35-bus-meta-3">
            <a:extLst xmlns:a="http://schemas.openxmlformats.org/drawingml/2006/main">
              <a:ext uri="{FF2B5EF4-FFF2-40B4-BE49-F238E27FC236}">
                <a16:creationId xmlns:a16="http://schemas.microsoft.com/office/drawing/2014/main" id="{3489597D-FE42-4CB3-8D73-42FEBAC42E67}"/>
              </a:ext>
            </a:extLst>
          </p:cNvPr>
          <p:cNvSpPr>
            <a:spLocks xmlns:a="http://schemas.openxmlformats.org/drawingml/2006/main" noGrp="1"/>
          </p:cNvSpPr>
          <p:nvPr/>
        </p:nvSpPr>
        <p:spPr>
          <a:xfrm xmlns:a="http://schemas.openxmlformats.org/drawingml/2006/main">
            <a:off x="7896225" y="41624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boolean • 1</a:t>
            </a:r>
          </a:p>
        </p:txBody>
      </p:sp>
      <p:sp>
        <p:nvSpPr>
          <p:cNvPr id="59" name="s35-bus-desc-3">
            <a:extLst xmlns:a="http://schemas.openxmlformats.org/drawingml/2006/main">
              <a:ext uri="{FF2B5EF4-FFF2-40B4-BE49-F238E27FC236}">
                <a16:creationId xmlns:a16="http://schemas.microsoft.com/office/drawing/2014/main" id="{6E1C1701-4D80-499D-BA52-26BD95F29C34}"/>
              </a:ext>
            </a:extLst>
          </p:cNvPr>
          <p:cNvSpPr>
            <a:spLocks xmlns:a="http://schemas.openxmlformats.org/drawingml/2006/main" noGrp="1"/>
          </p:cNvSpPr>
          <p:nvPr/>
        </p:nvSpPr>
        <p:spPr>
          <a:xfrm xmlns:a="http://schemas.openxmlformats.org/drawingml/2006/main">
            <a:off x="6381750" y="439102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Validity flag</a:t>
            </a:r>
          </a:p>
        </p:txBody>
      </p:sp>
      <p:sp>
        <p:nvSpPr>
          <p:cNvPr id="60" name="s35-bus-4">
            <a:extLst xmlns:a="http://schemas.openxmlformats.org/drawingml/2006/main">
              <a:ext uri="{FF2B5EF4-FFF2-40B4-BE49-F238E27FC236}">
                <a16:creationId xmlns:a16="http://schemas.microsoft.com/office/drawing/2014/main" id="{4FA529C5-888B-4540-A725-70B516BA6C34}"/>
              </a:ext>
            </a:extLst>
          </p:cNvPr>
          <p:cNvSpPr>
            <a:spLocks xmlns:a="http://schemas.openxmlformats.org/drawingml/2006/main" noGrp="1"/>
          </p:cNvSpPr>
          <p:nvPr/>
        </p:nvSpPr>
        <p:spPr>
          <a:xfrm xmlns:a="http://schemas.openxmlformats.org/drawingml/2006/main">
            <a:off x="6248400" y="47434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61" name="s35-bus-name-4">
            <a:extLst xmlns:a="http://schemas.openxmlformats.org/drawingml/2006/main">
              <a:ext uri="{FF2B5EF4-FFF2-40B4-BE49-F238E27FC236}">
                <a16:creationId xmlns:a16="http://schemas.microsoft.com/office/drawing/2014/main" id="{7611D67E-E6D7-435D-BAF0-25CB872A8854}"/>
              </a:ext>
            </a:extLst>
          </p:cNvPr>
          <p:cNvSpPr>
            <a:spLocks xmlns:a="http://schemas.openxmlformats.org/drawingml/2006/main" noGrp="1"/>
          </p:cNvSpPr>
          <p:nvPr/>
        </p:nvSpPr>
        <p:spPr>
          <a:xfrm xmlns:a="http://schemas.openxmlformats.org/drawingml/2006/main">
            <a:off x="6381750" y="47815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mode</a:t>
            </a:r>
          </a:p>
        </p:txBody>
      </p:sp>
      <p:sp>
        <p:nvSpPr>
          <p:cNvPr id="62" name="s35-bus-meta-4">
            <a:extLst xmlns:a="http://schemas.openxmlformats.org/drawingml/2006/main">
              <a:ext uri="{FF2B5EF4-FFF2-40B4-BE49-F238E27FC236}">
                <a16:creationId xmlns:a16="http://schemas.microsoft.com/office/drawing/2014/main" id="{3B366A71-08CE-4B3F-BAE7-4C84147BD8A1}"/>
              </a:ext>
            </a:extLst>
          </p:cNvPr>
          <p:cNvSpPr>
            <a:spLocks xmlns:a="http://schemas.openxmlformats.org/drawingml/2006/main" noGrp="1"/>
          </p:cNvSpPr>
          <p:nvPr/>
        </p:nvSpPr>
        <p:spPr>
          <a:xfrm xmlns:a="http://schemas.openxmlformats.org/drawingml/2006/main">
            <a:off x="7896225" y="4781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uint8 • 1</a:t>
            </a:r>
          </a:p>
        </p:txBody>
      </p:sp>
      <p:sp>
        <p:nvSpPr>
          <p:cNvPr id="63" name="s35-bus-desc-4">
            <a:extLst xmlns:a="http://schemas.openxmlformats.org/drawingml/2006/main">
              <a:ext uri="{FF2B5EF4-FFF2-40B4-BE49-F238E27FC236}">
                <a16:creationId xmlns:a16="http://schemas.microsoft.com/office/drawing/2014/main" id="{C1802BCA-7075-46CF-AB6C-2179A6E41560}"/>
              </a:ext>
            </a:extLst>
          </p:cNvPr>
          <p:cNvSpPr>
            <a:spLocks xmlns:a="http://schemas.openxmlformats.org/drawingml/2006/main" noGrp="1"/>
          </p:cNvSpPr>
          <p:nvPr/>
        </p:nvSpPr>
        <p:spPr>
          <a:xfrm xmlns:a="http://schemas.openxmlformats.org/drawingml/2006/main">
            <a:off x="6381750" y="5010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0 OFF • 1 ARMED • 2 ENGAGED • 3 DEGRADED</a:t>
            </a:r>
          </a:p>
        </p:txBody>
      </p:sp>
      <p:sp>
        <p:nvSpPr>
          <p:cNvPr id="64" name="s35-takeaway">
            <a:extLst xmlns:a="http://schemas.openxmlformats.org/drawingml/2006/main">
              <a:ext uri="{FF2B5EF4-FFF2-40B4-BE49-F238E27FC236}">
                <a16:creationId xmlns:a16="http://schemas.microsoft.com/office/drawing/2014/main" id="{26A3611A-5504-49CD-8B79-E0AEE17A951D}"/>
              </a:ext>
            </a:extLst>
          </p:cNvPr>
          <p:cNvSpPr>
            <a:spLocks xmlns:a="http://schemas.openxmlformats.org/drawingml/2006/main" noGrp="1"/>
          </p:cNvSpPr>
          <p:nvPr/>
        </p:nvSpPr>
        <p:spPr>
          <a:xfrm xmlns:a="http://schemas.openxmlformats.org/drawingml/2006/main">
            <a:off x="685800" y="5543550"/>
            <a:ext cx="10820400" cy="533400"/>
          </a:xfrm>
          <a:prstGeom xmlns:a="http://schemas.openxmlformats.org/drawingml/2006/main" prst="roundRect">
            <a:avLst>
              <a:gd name="adj" fmla="val 21429"/>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Explicit units, types, dimensions, ranges, validity, and ownership make integration predictable—and reviewable.</a:t>
            </a:r>
          </a:p>
        </p:txBody>
      </p:sp>
    </p:spTree>
    <p:extLst>
      <p:ext uri="{BB962C8B-B14F-4D97-AF65-F5344CB8AC3E}">
        <p14:creationId xmlns:p14="http://schemas.microsoft.com/office/powerpoint/2010/main" val="786167458"/>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4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42</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98"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99"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00"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01"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02"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4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43</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66"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67"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68"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69"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training package is internally consistent</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45</a:t>
            </a:r>
          </a:p>
        </p:txBody>
      </p:sp>
      <p:sp>
        <p:nvSpPr>
          <p:cNvPr id="24" name="s40-card-0">
            <a:extLst xmlns:a="http://schemas.openxmlformats.org/drawingml/2006/main">
              <a:ext uri="{FF2B5EF4-FFF2-40B4-BE49-F238E27FC236}">
                <a16:creationId xmlns:a16="http://schemas.microsoft.com/office/drawing/2014/main" id="{63609224-FF25-4A65-9757-158BA3E1AAC0}"/>
              </a:ext>
            </a:extLst>
          </p:cNvPr>
          <p:cNvSpPr>
            <a:spLocks xmlns:a="http://schemas.openxmlformats.org/drawingml/2006/main" noGrp="1"/>
          </p:cNvSpPr>
          <p:nvPr/>
        </p:nvSpPr>
        <p:spPr>
          <a:xfrm xmlns:a="http://schemas.openxmlformats.org/drawingml/2006/main">
            <a:off x="685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0B7C5"/>
            </a:solidFill>
            <a:prstDash val="solid"/>
          </a:ln>
        </p:spPr>
      </p:sp>
      <p:sp>
        <p:nvSpPr>
          <p:cNvPr id="25" name="s40-value-0">
            <a:extLst xmlns:a="http://schemas.openxmlformats.org/drawingml/2006/main">
              <a:ext uri="{FF2B5EF4-FFF2-40B4-BE49-F238E27FC236}">
                <a16:creationId xmlns:a16="http://schemas.microsoft.com/office/drawing/2014/main" id="{A07E76C4-5D03-49EA-8DC4-CCF13C36D386}"/>
              </a:ext>
            </a:extLst>
          </p:cNvPr>
          <p:cNvSpPr>
            <a:spLocks xmlns:a="http://schemas.openxmlformats.org/drawingml/2006/main" noGrp="1"/>
          </p:cNvSpPr>
          <p:nvPr/>
        </p:nvSpPr>
        <p:spPr>
          <a:xfrm xmlns:a="http://schemas.openxmlformats.org/drawingml/2006/main">
            <a:off x="876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0B7C5"/>
                </a:solidFill>
                <a:latin typeface="Aptos"/>
                <a:ea typeface="Aptos"/>
                <a:cs typeface="Aptos"/>
              </a:defRPr>
            </a:pPr>
            <a:r>
              <a:rPr sz="3600" b="1">
                <a:solidFill>
                  <a:srgbClr val="20B7C5"/>
                </a:solidFill>
                <a:latin typeface="Aptos"/>
                <a:ea typeface="Aptos"/>
                <a:cs typeface="Aptos"/>
              </a:rPr>
              <a:t>8 / 8</a:t>
            </a:r>
          </a:p>
        </p:txBody>
      </p:sp>
      <p:sp>
        <p:nvSpPr>
          <p:cNvPr id="26" name="s40-label-0">
            <a:extLst xmlns:a="http://schemas.openxmlformats.org/drawingml/2006/main">
              <a:ext uri="{FF2B5EF4-FFF2-40B4-BE49-F238E27FC236}">
                <a16:creationId xmlns:a16="http://schemas.microsoft.com/office/drawing/2014/main" id="{7DECE567-741B-42C3-B10D-52EB96B92820}"/>
              </a:ext>
            </a:extLst>
          </p:cNvPr>
          <p:cNvSpPr>
            <a:spLocks xmlns:a="http://schemas.openxmlformats.org/drawingml/2006/main" noGrp="1"/>
          </p:cNvSpPr>
          <p:nvPr/>
        </p:nvSpPr>
        <p:spPr>
          <a:xfrm xmlns:a="http://schemas.openxmlformats.org/drawingml/2006/main">
            <a:off x="876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DELIVERED MODELS</a:t>
            </a:r>
          </a:p>
        </p:txBody>
      </p:sp>
      <p:sp>
        <p:nvSpPr>
          <p:cNvPr id="27" name="s40-sub-0">
            <a:extLst xmlns:a="http://schemas.openxmlformats.org/drawingml/2006/main">
              <a:ext uri="{FF2B5EF4-FFF2-40B4-BE49-F238E27FC236}">
                <a16:creationId xmlns:a16="http://schemas.microsoft.com/office/drawing/2014/main" id="{01DB4ADC-2528-44E5-890C-203A59156E0A}"/>
              </a:ext>
            </a:extLst>
          </p:cNvPr>
          <p:cNvSpPr>
            <a:spLocks xmlns:a="http://schemas.openxmlformats.org/drawingml/2006/main" noGrp="1"/>
          </p:cNvSpPr>
          <p:nvPr/>
        </p:nvSpPr>
        <p:spPr>
          <a:xfrm xmlns:a="http://schemas.openxmlformats.org/drawingml/2006/main">
            <a:off x="876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updated / compiled</a:t>
            </a:r>
          </a:p>
        </p:txBody>
      </p:sp>
      <p:sp>
        <p:nvSpPr>
          <p:cNvPr id="28" name="s40-def-0">
            <a:extLst xmlns:a="http://schemas.openxmlformats.org/drawingml/2006/main">
              <a:ext uri="{FF2B5EF4-FFF2-40B4-BE49-F238E27FC236}">
                <a16:creationId xmlns:a16="http://schemas.microsoft.com/office/drawing/2014/main" id="{76809E68-C541-4EE3-8C31-8AE1D2DA9CCD}"/>
              </a:ext>
            </a:extLst>
          </p:cNvPr>
          <p:cNvSpPr>
            <a:spLocks xmlns:a="http://schemas.openxmlformats.org/drawingml/2006/main" noGrp="1"/>
          </p:cNvSpPr>
          <p:nvPr/>
        </p:nvSpPr>
        <p:spPr>
          <a:xfrm xmlns:a="http://schemas.openxmlformats.org/drawingml/2006/main">
            <a:off x="914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Simulink diagram update succeeded for all eight model files.</a:t>
            </a:r>
          </a:p>
        </p:txBody>
      </p:sp>
      <p:sp>
        <p:nvSpPr>
          <p:cNvPr id="29" name="s40-card-1">
            <a:extLst xmlns:a="http://schemas.openxmlformats.org/drawingml/2006/main">
              <a:ext uri="{FF2B5EF4-FFF2-40B4-BE49-F238E27FC236}">
                <a16:creationId xmlns:a16="http://schemas.microsoft.com/office/drawing/2014/main" id="{433FF65A-7669-45F8-AE2C-1523B224BB89}"/>
              </a:ext>
            </a:extLst>
          </p:cNvPr>
          <p:cNvSpPr>
            <a:spLocks xmlns:a="http://schemas.openxmlformats.org/drawingml/2006/main" noGrp="1"/>
          </p:cNvSpPr>
          <p:nvPr/>
        </p:nvSpPr>
        <p:spPr>
          <a:xfrm xmlns:a="http://schemas.openxmlformats.org/drawingml/2006/main">
            <a:off x="43053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CA56F"/>
            </a:solidFill>
            <a:prstDash val="solid"/>
          </a:ln>
        </p:spPr>
      </p:sp>
      <p:sp>
        <p:nvSpPr>
          <p:cNvPr id="30" name="s40-value-1">
            <a:extLst xmlns:a="http://schemas.openxmlformats.org/drawingml/2006/main">
              <a:ext uri="{FF2B5EF4-FFF2-40B4-BE49-F238E27FC236}">
                <a16:creationId xmlns:a16="http://schemas.microsoft.com/office/drawing/2014/main" id="{B9D6E2BF-93C9-4132-98FD-0728C43AA340}"/>
              </a:ext>
            </a:extLst>
          </p:cNvPr>
          <p:cNvSpPr>
            <a:spLocks xmlns:a="http://schemas.openxmlformats.org/drawingml/2006/main" noGrp="1"/>
          </p:cNvSpPr>
          <p:nvPr/>
        </p:nvSpPr>
        <p:spPr>
          <a:xfrm xmlns:a="http://schemas.openxmlformats.org/drawingml/2006/main">
            <a:off x="44958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CA56F"/>
                </a:solidFill>
                <a:latin typeface="Aptos"/>
                <a:ea typeface="Aptos"/>
                <a:cs typeface="Aptos"/>
              </a:defRPr>
            </a:pPr>
            <a:r>
              <a:rPr sz="3600" b="1">
                <a:solidFill>
                  <a:srgbClr val="2CA56F"/>
                </a:solidFill>
                <a:latin typeface="Aptos"/>
                <a:ea typeface="Aptos"/>
                <a:cs typeface="Aptos"/>
              </a:rPr>
              <a:t>19 / 19</a:t>
            </a:r>
          </a:p>
        </p:txBody>
      </p:sp>
      <p:sp>
        <p:nvSpPr>
          <p:cNvPr id="31" name="s40-label-1">
            <a:extLst xmlns:a="http://schemas.openxmlformats.org/drawingml/2006/main">
              <a:ext uri="{FF2B5EF4-FFF2-40B4-BE49-F238E27FC236}">
                <a16:creationId xmlns:a16="http://schemas.microsoft.com/office/drawing/2014/main" id="{10B2F861-5E0B-4361-8680-199C9F4D4C56}"/>
              </a:ext>
            </a:extLst>
          </p:cNvPr>
          <p:cNvSpPr>
            <a:spLocks xmlns:a="http://schemas.openxmlformats.org/drawingml/2006/main" noGrp="1"/>
          </p:cNvSpPr>
          <p:nvPr/>
        </p:nvSpPr>
        <p:spPr>
          <a:xfrm xmlns:a="http://schemas.openxmlformats.org/drawingml/2006/main">
            <a:off x="44958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LIMITER ASSESSMENTS</a:t>
            </a:r>
          </a:p>
        </p:txBody>
      </p:sp>
      <p:sp>
        <p:nvSpPr>
          <p:cNvPr id="32" name="s40-sub-1">
            <a:extLst xmlns:a="http://schemas.openxmlformats.org/drawingml/2006/main">
              <a:ext uri="{FF2B5EF4-FFF2-40B4-BE49-F238E27FC236}">
                <a16:creationId xmlns:a16="http://schemas.microsoft.com/office/drawing/2014/main" id="{CAAA7CBD-31F8-44A3-A458-49F6007717C6}"/>
              </a:ext>
            </a:extLst>
          </p:cNvPr>
          <p:cNvSpPr>
            <a:spLocks xmlns:a="http://schemas.openxmlformats.org/drawingml/2006/main" noGrp="1"/>
          </p:cNvSpPr>
          <p:nvPr/>
        </p:nvSpPr>
        <p:spPr>
          <a:xfrm xmlns:a="http://schemas.openxmlformats.org/drawingml/2006/main">
            <a:off x="44958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passed • 0 failed</a:t>
            </a:r>
          </a:p>
        </p:txBody>
      </p:sp>
      <p:sp>
        <p:nvSpPr>
          <p:cNvPr id="33" name="s40-def-1">
            <a:extLst xmlns:a="http://schemas.openxmlformats.org/drawingml/2006/main">
              <a:ext uri="{FF2B5EF4-FFF2-40B4-BE49-F238E27FC236}">
                <a16:creationId xmlns:a16="http://schemas.microsoft.com/office/drawing/2014/main" id="{A94DF4CA-72F1-4868-B7BC-E32946C952D3}"/>
              </a:ext>
            </a:extLst>
          </p:cNvPr>
          <p:cNvSpPr>
            <a:spLocks xmlns:a="http://schemas.openxmlformats.org/drawingml/2006/main" noGrp="1"/>
          </p:cNvSpPr>
          <p:nvPr/>
        </p:nvSpPr>
        <p:spPr>
          <a:xfrm xmlns:a="http://schemas.openxmlformats.org/drawingml/2006/main">
            <a:off x="45339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Executable MATLAB assessments using the standalone Simulink harness.</a:t>
            </a:r>
          </a:p>
        </p:txBody>
      </p:sp>
      <p:sp>
        <p:nvSpPr>
          <p:cNvPr id="34" name="s40-card-2">
            <a:extLst xmlns:a="http://schemas.openxmlformats.org/drawingml/2006/main">
              <a:ext uri="{FF2B5EF4-FFF2-40B4-BE49-F238E27FC236}">
                <a16:creationId xmlns:a16="http://schemas.microsoft.com/office/drawing/2014/main" id="{44CC8DD0-D466-4424-BBA8-57405233B6C2}"/>
              </a:ext>
            </a:extLst>
          </p:cNvPr>
          <p:cNvSpPr>
            <a:spLocks xmlns:a="http://schemas.openxmlformats.org/drawingml/2006/main" noGrp="1"/>
          </p:cNvSpPr>
          <p:nvPr/>
        </p:nvSpPr>
        <p:spPr>
          <a:xfrm xmlns:a="http://schemas.openxmlformats.org/drawingml/2006/main">
            <a:off x="7924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D6CDF"/>
            </a:solidFill>
            <a:prstDash val="solid"/>
          </a:ln>
        </p:spPr>
      </p:sp>
      <p:sp>
        <p:nvSpPr>
          <p:cNvPr id="35" name="s40-value-2">
            <a:extLst xmlns:a="http://schemas.openxmlformats.org/drawingml/2006/main">
              <a:ext uri="{FF2B5EF4-FFF2-40B4-BE49-F238E27FC236}">
                <a16:creationId xmlns:a16="http://schemas.microsoft.com/office/drawing/2014/main" id="{7EF28DDF-B039-4E49-A385-B39E58211AC5}"/>
              </a:ext>
            </a:extLst>
          </p:cNvPr>
          <p:cNvSpPr>
            <a:spLocks xmlns:a="http://schemas.openxmlformats.org/drawingml/2006/main" noGrp="1"/>
          </p:cNvSpPr>
          <p:nvPr/>
        </p:nvSpPr>
        <p:spPr>
          <a:xfrm xmlns:a="http://schemas.openxmlformats.org/drawingml/2006/main">
            <a:off x="8115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D6CDF"/>
                </a:solidFill>
                <a:latin typeface="Aptos"/>
                <a:ea typeface="Aptos"/>
                <a:cs typeface="Aptos"/>
              </a:defRPr>
            </a:pPr>
            <a:r>
              <a:rPr sz="3600" b="1">
                <a:solidFill>
                  <a:srgbClr val="2D6CDF"/>
                </a:solidFill>
                <a:latin typeface="Aptos"/>
                <a:ea typeface="Aptos"/>
                <a:cs typeface="Aptos"/>
              </a:rPr>
              <a:t>24 / 24</a:t>
            </a:r>
          </a:p>
        </p:txBody>
      </p:sp>
      <p:sp>
        <p:nvSpPr>
          <p:cNvPr id="36" name="s40-label-2">
            <a:extLst xmlns:a="http://schemas.openxmlformats.org/drawingml/2006/main">
              <a:ext uri="{FF2B5EF4-FFF2-40B4-BE49-F238E27FC236}">
                <a16:creationId xmlns:a16="http://schemas.microsoft.com/office/drawing/2014/main" id="{340AC186-3410-4588-9E30-96A4B46E5EED}"/>
              </a:ext>
            </a:extLst>
          </p:cNvPr>
          <p:cNvSpPr>
            <a:spLocks xmlns:a="http://schemas.openxmlformats.org/drawingml/2006/main" noGrp="1"/>
          </p:cNvSpPr>
          <p:nvPr/>
        </p:nvSpPr>
        <p:spPr>
          <a:xfrm xmlns:a="http://schemas.openxmlformats.org/drawingml/2006/main">
            <a:off x="8115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REQUIRED EXPORTS</a:t>
            </a:r>
          </a:p>
        </p:txBody>
      </p:sp>
      <p:sp>
        <p:nvSpPr>
          <p:cNvPr id="37" name="s40-sub-2">
            <a:extLst xmlns:a="http://schemas.openxmlformats.org/drawingml/2006/main">
              <a:ext uri="{FF2B5EF4-FFF2-40B4-BE49-F238E27FC236}">
                <a16:creationId xmlns:a16="http://schemas.microsoft.com/office/drawing/2014/main" id="{A32C6442-B730-4B22-A769-51181A981F8B}"/>
              </a:ext>
            </a:extLst>
          </p:cNvPr>
          <p:cNvSpPr>
            <a:spLocks xmlns:a="http://schemas.openxmlformats.org/drawingml/2006/main" noGrp="1"/>
          </p:cNvSpPr>
          <p:nvPr/>
        </p:nvSpPr>
        <p:spPr>
          <a:xfrm xmlns:a="http://schemas.openxmlformats.org/drawingml/2006/main">
            <a:off x="8115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present</a:t>
            </a:r>
          </a:p>
        </p:txBody>
      </p:sp>
      <p:sp>
        <p:nvSpPr>
          <p:cNvPr id="38" name="s40-def-2">
            <a:extLst xmlns:a="http://schemas.openxmlformats.org/drawingml/2006/main">
              <a:ext uri="{FF2B5EF4-FFF2-40B4-BE49-F238E27FC236}">
                <a16:creationId xmlns:a16="http://schemas.microsoft.com/office/drawing/2014/main" id="{6C59E417-5366-4CA6-AEC6-0FCF68F1A03E}"/>
              </a:ext>
            </a:extLst>
          </p:cNvPr>
          <p:cNvSpPr>
            <a:spLocks xmlns:a="http://schemas.openxmlformats.org/drawingml/2006/main" noGrp="1"/>
          </p:cNvSpPr>
          <p:nvPr/>
        </p:nvSpPr>
        <p:spPr>
          <a:xfrm xmlns:a="http://schemas.openxmlformats.org/drawingml/2006/main">
            <a:off x="8153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1 HTML report • 21 visual exports • 2 SDI .mldatx artifacts.</a:t>
            </a:r>
          </a:p>
        </p:txBody>
      </p:sp>
      <p:sp>
        <p:nvSpPr>
          <p:cNvPr id="39" name="s40-models">
            <a:extLst xmlns:a="http://schemas.openxmlformats.org/drawingml/2006/main">
              <a:ext uri="{FF2B5EF4-FFF2-40B4-BE49-F238E27FC236}">
                <a16:creationId xmlns:a16="http://schemas.microsoft.com/office/drawing/2014/main" id="{3C153B29-AED7-46D2-8067-04CBB1F6F9EF}"/>
              </a:ext>
            </a:extLst>
          </p:cNvPr>
          <p:cNvSpPr>
            <a:spLocks xmlns:a="http://schemas.openxmlformats.org/drawingml/2006/main" noGrp="1"/>
          </p:cNvSpPr>
          <p:nvPr/>
        </p:nvSpPr>
        <p:spPr>
          <a:xfrm xmlns:a="http://schemas.openxmlformats.org/drawingml/2006/main">
            <a:off x="685800" y="4533900"/>
            <a:ext cx="10820400" cy="990600"/>
          </a:xfrm>
          <a:prstGeom xmlns:a="http://schemas.openxmlformats.org/drawingml/2006/main" prst="roundRect">
            <a:avLst>
              <a:gd name="adj" fmla="val 11538"/>
            </a:avLst>
          </a:prstGeom>
          <a:solidFill xmlns:a="http://schemas.openxmlformats.org/drawingml/2006/main">
            <a:srgbClr val="0C2133"/>
          </a:solidFill>
          <a:ln xmlns:a="http://schemas.openxmlformats.org/drawingml/2006/main" w="12383">
            <a:solidFill>
              <a:srgbClr val="21465E"/>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MODEL SET</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AircraftFeedbackControlLoop • AutopilotModeLogic • ReferencedFlightControlArchitecture • SensorProcessingRef</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PitchRateLimiter • PitchControllerRef • ActuatorCommandRef • PitchRateLimiter_Harness</a:t>
            </a:r>
          </a:p>
        </p:txBody>
      </p:sp>
      <p:sp>
        <p:nvSpPr>
          <p:cNvPr id="40" name="s40-warning">
            <a:extLst xmlns:a="http://schemas.openxmlformats.org/drawingml/2006/main">
              <a:ext uri="{FF2B5EF4-FFF2-40B4-BE49-F238E27FC236}">
                <a16:creationId xmlns:a16="http://schemas.microsoft.com/office/drawing/2014/main" id="{D11B5ADA-2133-4525-9653-E5650079D38D}"/>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70DCE5"/>
                </a:solidFill>
                <a:latin typeface="Aptos"/>
                <a:ea typeface="Aptos"/>
                <a:cs typeface="Aptos"/>
              </a:defRPr>
            </a:pPr>
            <a:r>
              <a:rPr sz="1200" b="1">
                <a:solidFill>
                  <a:srgbClr val="70DCE5"/>
                </a:solidFill>
                <a:latin typeface="Aptos"/>
                <a:ea typeface="Aptos"/>
                <a:cs typeface="Aptos"/>
              </a:rPr>
              <a:t>“Updated” means validation compile/update succeeded; it does not mean eight files were edited.</a:t>
            </a:r>
          </a:p>
        </p:txBody>
      </p:sp>
    </p:spTree>
    <p:extLst>
      <p:ext uri="{BB962C8B-B14F-4D97-AF65-F5344CB8AC3E}">
        <p14:creationId xmlns:p14="http://schemas.microsoft.com/office/powerpoint/2010/main" val="807636582"/>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4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COMPLETION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RCF closes the model with independent verification and sign-off</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PROJECT PLACEHOLDER  •  RCF NOT SUPPLIED OR COMPLETED IN THIS TRAINING PACKAGE</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Autofit/>
          </a:bodyPr>
          <a:lstStyle xmlns:a="http://schemas.openxmlformats.org/drawingml/2006/main"/>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Model / component:  __________________________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Baseline / version / checksum:  ________________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Allocated system requirement IDs:  _____________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Verification method and acceptance criteria:  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Executed evidence IDs and results:  ______________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Model settings / test / build configuration:  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Findings, anomalies, and dispositions:  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Independent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425" b="1">
                <a:solidFill>
                  <a:srgbClr val="2D6CDF"/>
                </a:solidFill>
                <a:latin typeface="Aptos"/>
                <a:ea typeface="Aptos"/>
                <a:cs typeface="Aptos"/>
              </a:defRPr>
            </a:pPr>
            <a:r>
              <a:rPr sz="1425" b="1">
                <a:solidFill>
                  <a:srgbClr val="2D6CDF"/>
                </a:solidFill>
                <a:latin typeface="Aptos"/>
                <a:ea typeface="Aptos"/>
                <a:cs typeface="Aptos"/>
              </a:rPr>
              <a:t>INDEPENDENT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Autofit/>
          </a:bodyPr>
          <a:lstStyle xmlns:a="http://schemas.openxmlformats.org/drawingml/2006/main"/>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Model owner / author:  ________________________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Independent verifier / organization:  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Approver / designated authority:  _________________</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Completion status:  ☐ Accepted  ☐ Conditional  ☐ Open</a:t>
            </a:r>
          </a:p>
          <a:p xmlns:a="http://schemas.openxmlformats.org/drawingml/2006/main">
            <a:pPr algn="l">
              <a:defRPr sz="1133" b="1">
                <a:solidFill>
                  <a:srgbClr val="0B1F33"/>
                </a:solidFill>
                <a:latin typeface="Aptos"/>
                <a:ea typeface="Aptos"/>
                <a:cs typeface="Aptos"/>
              </a:defRPr>
            </a:pPr>
            <a:r>
              <a:rPr sz="1133"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EXIT CONDITION  •  controlled model baseline + traceability + executed evidence + resolved findings + required independent signature(s)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817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38" b="1">
                <a:solidFill>
                  <a:srgbClr val="5D7487"/>
                </a:solidFill>
                <a:latin typeface="Aptos"/>
                <a:ea typeface="Aptos"/>
                <a:cs typeface="Aptos"/>
              </a:defRPr>
            </a:pPr>
            <a:r>
              <a:rPr sz="938" b="1">
                <a:solidFill>
                  <a:srgbClr val="5D7487"/>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01  initialize folders + open the correct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02  update, run, stop, build, and test distinctly</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03  toggle units, types, dimensions, names + badges</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04  inspect one run and five signals in Data Inspector</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05  trace PSYS-001 to the executed Iteration 8 PASS</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06  make one controlled change;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463" b="1">
                <a:solidFill>
                  <a:srgbClr val="FFFFFF"/>
                </a:solidFill>
                <a:latin typeface="Aptos"/>
                <a:ea typeface="Aptos"/>
                <a:cs typeface="Aptos"/>
              </a:defRPr>
            </a:pPr>
            <a:r>
              <a:rPr sz="1463" b="1">
                <a:solidFill>
                  <a:srgbClr val="FFFFFF"/>
                </a:solidFill>
                <a:latin typeface="Aptos"/>
                <a:ea typeface="Aptos"/>
                <a:cs typeface="Aptos"/>
              </a:rPr>
              <a:t>VERIFIED STARTING POINT  •  8/8 models updated  •  19/19 assessments passed  •  24/24 required exports present</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48</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2026-08-27T12:49:31.2190000Z</dcterms:created>
  <dcterms:modified xsi:type="dcterms:W3CDTF">2026-08-27T12:49:31.2190000Z</dcterms:modified>
</coreProperties>
</file>