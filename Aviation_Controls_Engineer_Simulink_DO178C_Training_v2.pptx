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Suggested visual:</a:t>
            </a:r>
          </a:p>
          <a:p>
            <a:r>
              <a:t>A four-stage signal path—Require, Model, Verify, Evidence—sets the throughline for the course.</a:t>
            </a:r>
          </a:p>
          <a:p>
            <a:endParaRPr/>
          </a:p>
          <a:p>
            <a:r>
              <a:t>Speaker notes:</a:t>
            </a:r>
          </a:p>
          <a:p>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a:endParaRPr/>
          </a:p>
          <a:p>
            <a:r>
              <a:t>Key teaching points:</a:t>
            </a:r>
          </a:p>
          <a:p>
            <a:r>
              <a:t>• Simulink is one part of a controlled software lifecycle.</a:t>
            </a:r>
          </a:p>
          <a:p>
            <a:r>
              <a:t>• The course follows one behavior from requirement to HIL evidence.</a:t>
            </a:r>
          </a:p>
          <a:p>
            <a:r>
              <a:t>• The target outcome is practical onboarding, not standards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a:t>
            </a:r>
          </a:p>
          <a:p>
            <a:endParaRPr/>
          </a:p>
          <a:p>
            <a:r>
              <a:t>Suggested visual:</a:t>
            </a:r>
          </a:p>
          <a:p>
            <a:r>
              <a:t>An executable model at the center connects requirements, control design, simulation, and verification.</a:t>
            </a:r>
          </a:p>
          <a:p>
            <a:endParaRPr/>
          </a:p>
          <a:p>
            <a:r>
              <a:t>Speaker notes:</a:t>
            </a:r>
          </a:p>
          <a:p>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a:endParaRPr/>
          </a:p>
          <a:p>
            <a:r>
              <a:t>Key teaching points:</a:t>
            </a:r>
          </a:p>
          <a:p>
            <a:r>
              <a:t>• Model-Based Design keeps the model central across the lifecycle.</a:t>
            </a:r>
          </a:p>
          <a:p>
            <a:r>
              <a:t>• Execution exposes dynamic behavior before hardware is available.</a:t>
            </a:r>
          </a:p>
          <a:p>
            <a:r>
              <a:t>• The project defines the certification role of each model.</a:t>
            </a:r>
          </a:p>
          <a:p>
            <a:endParaRPr/>
          </a:p>
          <a:p>
            <a:r>
              <a:t>[Sources]</a:t>
            </a:r>
          </a:p>
          <a:p>
            <a:r>
              <a:t>- https://www.mathworks.com/help/simulink/gs/model-based-design.html</a:t>
            </a:r>
          </a:p>
          <a:p>
            <a:r>
              <a:t>- https://www.faa.gov/documentLibrary/media/Advisory_Circular/AC_20-115D.pdf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Suggested visual:</a:t>
            </a:r>
          </a:p>
          <a:p>
            <a:r>
              <a:t>Four learning objectives and a five-part route map show the cumulative learning progression.</a:t>
            </a:r>
          </a:p>
          <a:p>
            <a:endParaRPr/>
          </a:p>
          <a:p>
            <a:r>
              <a:t>Speaker notes:</a:t>
            </a:r>
          </a:p>
          <a:p>
            <a:r>
              <a:t>Set expectations for the session. A MATLAB-experienced engineer already understands variables, functions, plots, and numerical analysis. The new skills are graphical execution semantics, explicit interfaces and timing, requirements-based verification, and the evidence discipline required in airborne software. Tell the learner to keep one question active throughout the deck: what requirement does this artifact implement, and what objective evidence proves the behavior? That question connects model readability, test design, traceability, CI failures, and HIL results. The route map also helps the audience understand why certification appears early rather than being appended at the end.</a:t>
            </a:r>
          </a:p>
          <a:p>
            <a:endParaRPr/>
          </a:p>
          <a:p>
            <a:r>
              <a:t>Key teaching points:</a:t>
            </a:r>
          </a:p>
          <a:p>
            <a:r>
              <a:t>• The course builds from model literacy to lifecycle literacy.</a:t>
            </a:r>
          </a:p>
          <a:p>
            <a:r>
              <a:t>• Aerospace work requires both correct behavior and reviewable evidence.</a:t>
            </a:r>
          </a:p>
          <a:p>
            <a:r>
              <a:t>• The recurring question is requirement-to-result traceability.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balanced MATLAB-versus-Simulink comparison converges into one integrated workflow.</a:t>
            </a:r>
          </a:p>
          <a:p>
            <a:endParaRPr/>
          </a:p>
          <a:p>
            <a:r>
              <a:t>Speaker notes:</a:t>
            </a:r>
          </a:p>
          <a:p>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a:endParaRPr/>
          </a:p>
          <a:p>
            <a:r>
              <a:t>Key teaching points:</a:t>
            </a:r>
          </a:p>
          <a:p>
            <a:r>
              <a:t>• Simulink is a block-diagram environment for dynamic simulation and Model-Based Design.</a:t>
            </a:r>
          </a:p>
          <a:p>
            <a:r>
              <a:t>• Graphical data flow complements—not replaces—MATLAB scripting.</a:t>
            </a:r>
          </a:p>
          <a:p>
            <a:r>
              <a:t>• Time, state, data type, and interface semantics are first-class concerns.</a:t>
            </a:r>
          </a:p>
          <a:p>
            <a:endParaRPr/>
          </a:p>
          <a:p>
            <a:r>
              <a:t>[Sources]</a:t>
            </a:r>
          </a:p>
          <a:p>
            <a:r>
              <a:t>- https://www.mathworks.com/help/simulink/getting-started-with-simulink.html</a:t>
            </a:r>
          </a:p>
          <a:p>
            <a:r>
              <a:t>- https://www.mathworks.com/help/simulink/gs/model-based-design.html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five-row project-file map distinguishes model, MATLAB, live code, test, and dictionary artifacts.</a:t>
            </a:r>
          </a:p>
          <a:p>
            <a:endParaRPr/>
          </a:p>
          <a:p>
            <a:r>
              <a:t>Speaker notes:</a:t>
            </a:r>
          </a:p>
          <a:p>
            <a:r>
              <a:t>Walk through the file types the engineer will encounter. The .slx file holds a Simulink model. MATLAB .m files contain scripts, functions, or classes; projects often use them for automation and callbacks. An .mlx file is a binary live script or live function that can combine code, narrative, and inline output. An .mldatx file is a binary Simulink Test artifact. It can contain Test Manager test definitions, and exported result sets can also use the extension. Do not treat it as a text file; use Test Manager or supported APIs. Add .sldd because a data dictionary is frequently essential to controlled model data. A reproducible configuration includes the model plus its tests, dictionaries, scripts, referenced models, project settings, and tool versions.</a:t>
            </a:r>
          </a:p>
          <a:p>
            <a:endParaRPr/>
          </a:p>
          <a:p>
            <a:r>
              <a:t>Key teaching points:</a:t>
            </a:r>
          </a:p>
          <a:p>
            <a:r>
              <a:t>• Know which files define behavior, data, automation, and evidence.</a:t>
            </a:r>
          </a:p>
          <a:p>
            <a:r>
              <a:t>• .mldatx is binary and should be managed with supported tools.</a:t>
            </a:r>
          </a:p>
          <a:p>
            <a:r>
              <a:t>• A model without its configuration is not reproducible.</a:t>
            </a:r>
          </a:p>
          <a:p>
            <a:endParaRPr/>
          </a:p>
          <a:p>
            <a:r>
              <a:t>[Sources]</a:t>
            </a:r>
          </a:p>
          <a:p>
            <a:r>
              <a:t>- https://www.mathworks.com/help/matlab/ref/visdiff.html</a:t>
            </a:r>
          </a:p>
          <a:p>
            <a:r>
              <a:t>- https://www.mathworks.com/help/matlab/ref/type.html</a:t>
            </a:r>
          </a:p>
          <a:p>
            <a:r>
              <a:t>- https://www.mathworks.com/help/sltest/ref/sltest.testmanager.testfile-class.html</a:t>
            </a:r>
          </a:p>
          <a:p>
            <a:r>
              <a:t>- https://www.mathworks.com/help/simulink/ug/determine-where-to-store-data-for-simulink-models.html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An authentic export of the delivered PitchRateLimiter top level labels typed ports, hierarchy, and 50 Hz execution.</a:t>
            </a:r>
          </a:p>
          <a:p>
            <a:endParaRPr lang="en-US"/>
          </a:p>
          <a:p>
            <a:endParaRPr lang="en-US"/>
          </a:p>
          <a:p>
            <a:endParaRPr lang="en-US"/>
          </a:p>
          <a:p>
            <a:endParaRPr lang="en-US"/>
          </a:p>
          <a:p>
            <a:endParaRPr lang="en-US"/>
          </a:p>
          <a:p>
            <a:endParaRPr lang="en-US"/>
          </a:p>
          <a:p>
            <a:endParaRPr lang="en-US"/>
          </a:p>
          <a:p>
            <a:r>
              <a:rPr lang="en-US"/>
              <a:t>Speaker notes:</a:t>
            </a:r>
          </a:p>
          <a:p>
            <a:r>
              <a:rPr lang="en-US"/>
              <a:t>Orient the learner before discussing individual blocks. The Library Browser supplies reusable blocks and project libraries. The center canvas shows data flow and hierarchy. The Property Inspector and block dialogs expose parameters, data types, limits, and sample-time settings. Simulation controls run the model, but an aerospace workflow often launches simulations and tests from project scripts or CI. Diagnostics are not background noise: compile/update messages reveal unresolved references, dimension mismatches, type conflicts, sample-time problems, and configuration issues. Encourage the engineer to learn keyboard navigation, signal highlighting, model hierarchy, and compile diagnostics early; these save more time than memorizing every library block.</a:t>
            </a:r>
          </a:p>
          <a:p>
            <a:endParaRPr lang="en-US"/>
          </a:p>
          <a:p>
            <a:r>
              <a:rPr lang="en-US"/>
              <a:t>Key teaching points:</a:t>
            </a:r>
          </a:p>
          <a:p>
            <a:r>
              <a:rPr lang="en-US"/>
              <a:t>• The canvas is only one part of the working environment.</a:t>
            </a:r>
          </a:p>
          <a:p>
            <a:r>
              <a:rPr lang="en-US"/>
              <a:t>• Properties and diagnostics define execution semantics.</a:t>
            </a:r>
          </a:p>
          <a:p>
            <a:r>
              <a:rPr lang="en-US"/>
              <a:t>• Project libraries and automation matter as much as built-in blocks.</a:t>
            </a:r>
          </a:p>
          <a:p>
            <a:endParaRPr lang="en-US"/>
          </a:p>
          <a:p>
            <a:r>
              <a:rPr lang="en-US"/>
              <a:t>[Sources]</a:t>
            </a:r>
          </a:p>
          <a:p>
            <a:r>
              <a:rPr lang="en-US"/>
              <a:t>- https://www.mathworks.com/help/simulink/getting-started-with-simulink.html</a:t>
            </a:r>
          </a:p>
          <a:p>
            <a:endParaRPr lang="en-US"/>
          </a:p>
          <a:p>
            <a:r>
              <a:rPr lang="en-US"/>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a:endParaRPr lang="en-US"/>
          </a:p>
          <a:p>
            <a:r>
              <a:rPr lang="en-US"/>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a:endParaRPr lang="en-US"/>
          </a:p>
          <a:p>
            <a:r>
              <a:rPr lang="en-US"/>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hierarchy of library, block, signal, and subsystem sits beside a bus and data-dictionary interface example.</a:t>
            </a:r>
          </a:p>
          <a:p>
            <a:endParaRPr/>
          </a:p>
          <a:p>
            <a:r>
              <a:t>Speaker notes:</a:t>
            </a:r>
          </a:p>
          <a:p>
            <a:r>
              <a:t>Define the core vocabulary. A block performs an operation: gain, filter, integrator, switch, lookup, saturation, state chart, or custom algorithm. Signals carry values between blocks and should have meaningful names, units, dimensions, types, and rates. A subsystem creates hierarchy and an interface around related behavior. Libraries provide controlled reusable blocks. A bus groups related signals through a port; it is valuable when the interface is defined by a Simulink.Bus object rather than by appearance alone. A data dictionary stores persistent design data such as parameters, bus objects, enumerations, and signal definitions. The point is not to hide complexity. The point is to expose it at the right level while keeping contracts controlled.</a:t>
            </a:r>
          </a:p>
          <a:p>
            <a:endParaRPr/>
          </a:p>
          <a:p>
            <a:r>
              <a:t>Key teaching points:</a:t>
            </a:r>
          </a:p>
          <a:p>
            <a:r>
              <a:t>• Blocks express behavior; signals express data flow.</a:t>
            </a:r>
          </a:p>
          <a:p>
            <a:r>
              <a:t>• Subsystems manage hierarchy and review scope.</a:t>
            </a:r>
          </a:p>
          <a:p>
            <a:r>
              <a:t>• Buses and data dictionaries turn visual connections into controlled interfaces.</a:t>
            </a:r>
          </a:p>
          <a:p>
            <a:endParaRPr/>
          </a:p>
          <a:p>
            <a:r>
              <a:t>[Sources]</a:t>
            </a:r>
          </a:p>
          <a:p>
            <a:r>
              <a:t>- https://www.mathworks.com/help/simulink/ug/interface-design.html</a:t>
            </a:r>
          </a:p>
          <a:p>
            <a:r>
              <a:t>- https://www.mathworks.com/help/simulink/ug/determine-where-to-store-data-for-simulink-models.html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An authentic export of the delivered closed-loop feedback model shows command, control, plant, sensor, feedback, and disturbance paths.</a:t>
            </a:r>
          </a:p>
          <a:p>
            <a:endParaRPr lang="en-US"/>
          </a:p>
          <a:p>
            <a:endParaRPr lang="en-US"/>
          </a:p>
          <a:p>
            <a:endParaRPr lang="en-US"/>
          </a:p>
          <a:p>
            <a:endParaRPr lang="en-US"/>
          </a:p>
          <a:p>
            <a:endParaRPr lang="en-US"/>
          </a:p>
          <a:p>
            <a:endParaRPr lang="en-US"/>
          </a:p>
          <a:p>
            <a:endParaRPr lang="en-US"/>
          </a:p>
          <a:p>
            <a:r>
              <a:rPr lang="en-US"/>
              <a:t>Speaker notes:</a:t>
            </a:r>
          </a:p>
          <a:p>
            <a:r>
              <a:rPr lang="en-US"/>
              <a:t>Use this loop as the mental map for most later diagrams. The pilot or guidance system provides a command. The controller compares commanded and measured behavior and produces an actuator command. Actuator dynamics and aircraft dynamics create motion. Sensor processing returns measured pitch, roll, rate, altitude, acceleration, or other states. Disturbances and uncertainty enter through gusts, aerodynamic variation, mass properties, failures, and latency. In Simulink, the plant model may be simple for a unit test and far more detailed for system simulation. The control-law model must be evaluated for stability, tracking, disturbance rejection, saturation, mode transitions, invalid data, timing, and interfaces—not simply whether one nominal plot looks correct.</a:t>
            </a:r>
          </a:p>
          <a:p>
            <a:endParaRPr lang="en-US"/>
          </a:p>
          <a:p>
            <a:r>
              <a:rPr lang="en-US"/>
              <a:t>Key teaching points:</a:t>
            </a:r>
          </a:p>
          <a:p>
            <a:r>
              <a:rPr lang="en-US"/>
              <a:t>• Feedback closes the loop from aircraft response to controller.</a:t>
            </a:r>
          </a:p>
          <a:p>
            <a:r>
              <a:rPr lang="en-US"/>
              <a:t>• The plant and sensors are part of the verification environment.</a:t>
            </a:r>
          </a:p>
          <a:p>
            <a:r>
              <a:rPr lang="en-US"/>
              <a:t>• The operating envelope and fault cases define the real test space.</a:t>
            </a:r>
          </a:p>
          <a:p>
            <a:endParaRPr lang="en-US"/>
          </a:p>
          <a:p>
            <a:r>
              <a:rPr lang="en-US"/>
              <a:t>[Sources]</a:t>
            </a:r>
          </a:p>
          <a:p>
            <a:r>
              <a:rPr lang="en-US"/>
              <a:t>- https://www.mathworks.com/help/simulink/slref/designing-a-high-angle-of-attack-pitch-mode-control.html</a:t>
            </a:r>
          </a:p>
          <a:p>
            <a:r>
              <a:rPr lang="en-US"/>
              <a:t>- https://www.mathworks.com/help/simulink/slref/designing-a-guidance-system-in-matlab-and-simulink.html</a:t>
            </a:r>
          </a:p>
          <a:p>
            <a:endParaRPr lang="en-US"/>
          </a:p>
          <a:p>
            <a:r>
              <a:rPr lang="en-US"/>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a:endParaRPr lang="en-US"/>
          </a:p>
          <a:p>
            <a:r>
              <a:rPr lang="en-US"/>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a:endParaRPr lang="en-US"/>
          </a:p>
          <a:p>
            <a:r>
              <a:rPr lang="en-US"/>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The real Pitch Controller subsystem exposes proportional and integral paths with controlled parameters.</a:t>
            </a:r>
          </a:p>
          <a:p>
            <a:endParaRPr lang="en-US"/>
          </a:p>
          <a:p>
            <a:endParaRPr lang="en-US"/>
          </a:p>
          <a:p>
            <a:endParaRPr lang="en-US"/>
          </a:p>
          <a:p>
            <a:endParaRPr lang="en-US"/>
          </a:p>
          <a:p>
            <a:endParaRPr lang="en-US"/>
          </a:p>
          <a:p>
            <a:endParaRPr lang="en-US"/>
          </a:p>
          <a:p>
            <a:endParaRPr lang="en-US"/>
          </a:p>
          <a:p>
            <a:r>
              <a:rPr lang="en-US"/>
              <a:t>Speaker notes:</a:t>
            </a:r>
          </a:p>
          <a:p>
            <a:r>
              <a:rPr lang="en-US"/>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a:endParaRPr lang="en-US"/>
          </a:p>
          <a:p>
            <a:r>
              <a:rPr lang="en-US"/>
              <a:t>Key teaching points:</a:t>
            </a:r>
          </a:p>
          <a:p>
            <a:r>
              <a:rPr lang="en-US"/>
              <a:t>• Choose blocks that preserve the intended mathematics and execution semantics.</a:t>
            </a:r>
          </a:p>
          <a:p>
            <a:r>
              <a:rPr lang="en-US"/>
              <a:t>• Scheduling connects one control-law structure to a changing flight envelope.</a:t>
            </a:r>
          </a:p>
          <a:p>
            <a:r>
              <a:rPr lang="en-US"/>
              <a:t>• Limits and mode logic are requirements, not cosmetic safeguards.</a:t>
            </a:r>
          </a:p>
          <a:p>
            <a:endParaRPr lang="en-US"/>
          </a:p>
          <a:p>
            <a:r>
              <a:rPr lang="en-US"/>
              <a:t>[Sources]</a:t>
            </a:r>
          </a:p>
          <a:p>
            <a:r>
              <a:rPr lang="en-US"/>
              <a:t>- https://www.mathworks.com/help/simulink/slref/designing-a-guidance-system-in-matlab-and-simulink.html</a:t>
            </a:r>
          </a:p>
          <a:p>
            <a:r>
              <a:rPr lang="en-US"/>
              <a:t>- https://www.mathworks.com/help/simulink/slref/designing-a-high-angle-of-attack-pitch-mode-control.html</a:t>
            </a:r>
          </a:p>
          <a:p>
            <a:endParaRPr lang="en-US"/>
          </a:p>
          <a:p>
            <a:r>
              <a:rPr lang="en-US"/>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a:endParaRPr lang="en-US"/>
          </a:p>
          <a:p>
            <a:r>
              <a:rPr lang="en-US"/>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a:endParaRPr lang="en-US"/>
          </a:p>
          <a:p>
            <a:r>
              <a:rPr lang="en-US"/>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1.5 minutes</a:t>
            </a:r>
          </a:p>
          <a:p>
            <a:endParaRPr lang="en-US"/>
          </a:p>
          <a:p>
            <a:r>
              <a:rPr lang="en-US"/>
              <a:t>Suggested visual:</a:t>
            </a:r>
          </a:p>
          <a:p>
            <a:r>
              <a:rPr lang="en-US"/>
              <a:t>An actual desktop simulation plot shows command, measured response, error, actuator response, and a disturbance.</a:t>
            </a:r>
          </a:p>
          <a:p>
            <a:endParaRPr lang="en-US"/>
          </a:p>
          <a:p>
            <a:endParaRPr lang="en-US"/>
          </a:p>
          <a:p>
            <a:endParaRPr lang="en-US"/>
          </a:p>
          <a:p>
            <a:endParaRPr lang="en-US"/>
          </a:p>
          <a:p>
            <a:endParaRPr lang="en-US"/>
          </a:p>
          <a:p>
            <a:endParaRPr lang="en-US"/>
          </a:p>
          <a:p>
            <a:endParaRPr lang="en-US"/>
          </a:p>
          <a:p>
            <a:r>
              <a:rPr lang="en-US"/>
              <a:t>Speaker notes:</a:t>
            </a:r>
          </a:p>
          <a:p>
            <a:r>
              <a:rPr lang="en-US"/>
              <a:t>Contrast the loops without turning the slide into a control-theory lecture. Pitch and roll inner loops often regulate rate or attitude and drive control surfaces. Altitude hold is usually an outer loop that creates a pitch or vertical-speed command for an inner loop. The exact architecture varies, but the modeling discipline is consistent: explicit inputs and outputs, defined units and coordinate conventions, sample rates, limits, valid modes, scheduling variables, and fallback behavior. During model review, a sign error or unit mismatch can be more dangerous than a badly tuned gain, because a nominal desktop test may not expose it across every interface and mode.</a:t>
            </a:r>
          </a:p>
          <a:p>
            <a:endParaRPr lang="en-US"/>
          </a:p>
          <a:p>
            <a:r>
              <a:rPr lang="en-US"/>
              <a:t>Key teaching points:</a:t>
            </a:r>
          </a:p>
          <a:p>
            <a:r>
              <a:rPr lang="en-US"/>
              <a:t>• Nested loops turn high-level objectives into inner-loop commands.</a:t>
            </a:r>
          </a:p>
          <a:p>
            <a:r>
              <a:rPr lang="en-US"/>
              <a:t>• Interfaces and conventions must be reviewable at every loop boundary.</a:t>
            </a:r>
          </a:p>
          <a:p>
            <a:r>
              <a:rPr lang="en-US"/>
              <a:t>• Nominal plots do not replace boundary, mode, and fault verification.</a:t>
            </a:r>
          </a:p>
          <a:p>
            <a:endParaRPr lang="en-US"/>
          </a:p>
          <a:p>
            <a:r>
              <a:rPr lang="en-US"/>
              <a:t>[Sources]</a:t>
            </a:r>
          </a:p>
          <a:p>
            <a:r>
              <a:rPr lang="en-US"/>
              <a:t>- https://www.mathworks.com/help/simulink/slref/designing-a-high-angle-of-attack-pitch-mode-control.html</a:t>
            </a:r>
          </a:p>
          <a:p>
            <a:endParaRPr lang="en-US"/>
          </a:p>
          <a:p>
            <a:r>
              <a:rPr lang="en-US"/>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a:endParaRPr lang="en-US"/>
          </a:p>
          <a:p>
            <a:r>
              <a:rPr lang="en-US"/>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a:endParaRPr lang="en-US"/>
          </a:p>
          <a:p>
            <a:r>
              <a:rPr lang="en-US"/>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The real Stateflow chart shows OFF, ARMED, ENGAGED, and DEGRADED states with guarded transitions.</a:t>
            </a:r>
          </a:p>
          <a:p>
            <a:endParaRPr lang="en-US"/>
          </a:p>
          <a:p>
            <a:endParaRPr lang="en-US"/>
          </a:p>
          <a:p>
            <a:endParaRPr lang="en-US"/>
          </a:p>
          <a:p>
            <a:endParaRPr lang="en-US"/>
          </a:p>
          <a:p>
            <a:endParaRPr lang="en-US"/>
          </a:p>
          <a:p>
            <a:endParaRPr lang="en-US"/>
          </a:p>
          <a:p>
            <a:endParaRPr lang="en-US"/>
          </a:p>
          <a:p>
            <a:r>
              <a:rPr lang="en-US"/>
              <a:t>Speaker notes:</a:t>
            </a:r>
          </a:p>
          <a:p>
            <a:r>
              <a:rPr lang="en-US"/>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a:endParaRPr lang="en-US"/>
          </a:p>
          <a:p>
            <a:r>
              <a:rPr lang="en-US"/>
              <a:t>Key teaching points:</a:t>
            </a:r>
          </a:p>
          <a:p>
            <a:r>
              <a:rPr lang="en-US"/>
              <a:t>• State machines govern discrete modes and transitions.</a:t>
            </a:r>
          </a:p>
          <a:p>
            <a:r>
              <a:rPr lang="en-US"/>
              <a:t>• Lookup tables adapt continuous behavior across the envelope.</a:t>
            </a:r>
          </a:p>
          <a:p>
            <a:r>
              <a:rPr lang="en-US"/>
              <a:t>• Transitions and breakpoints are first-class boundary tests.</a:t>
            </a:r>
          </a:p>
          <a:p>
            <a:endParaRPr lang="en-US"/>
          </a:p>
          <a:p>
            <a:r>
              <a:rPr lang="en-US"/>
              <a:t>[Sources]</a:t>
            </a:r>
          </a:p>
          <a:p>
            <a:r>
              <a:rPr lang="en-US"/>
              <a:t>- https://www.mathworks.com/help/simulink/slref/designing-a-guidance-system-in-matlab-and-simulink.html</a:t>
            </a:r>
          </a:p>
          <a:p>
            <a:r>
              <a:rPr lang="en-US"/>
              <a:t>- https://www.mathworks.com/help/simulink/getting-started-with-simulink.html</a:t>
            </a:r>
          </a:p>
          <a:p>
            <a:endParaRPr lang="en-US"/>
          </a:p>
          <a:p>
            <a:r>
              <a:rPr lang="en-US"/>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a:endParaRPr lang="en-US"/>
          </a:p>
          <a:p>
            <a:r>
              <a:rPr lang="en-US"/>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a:endParaRPr lang="en-US"/>
          </a:p>
          <a:p>
            <a:r>
              <a:rPr lang="en-US"/>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Two complementary columns separate the base DO-178C objectives from the DO-331 model-based supplement.</a:t>
            </a:r>
          </a:p>
          <a:p>
            <a:endParaRPr/>
          </a:p>
          <a:p>
            <a:r>
              <a:t>Speaker notes:</a:t>
            </a:r>
          </a:p>
          <a:p>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a:endParaRPr/>
          </a:p>
          <a:p>
            <a:r>
              <a:t>Key teaching points:</a:t>
            </a:r>
          </a:p>
          <a:p>
            <a:r>
              <a:t>• DO-178C is an objectives-and-evidence framework.</a:t>
            </a:r>
          </a:p>
          <a:p>
            <a:r>
              <a:t>• DO-331 applies model-based guidance alongside DO-178C.</a:t>
            </a:r>
          </a:p>
          <a:p>
            <a:r>
              <a:t>• A model’s planned certification role controls how it must be verified.</a:t>
            </a:r>
          </a:p>
          <a:p>
            <a:endParaRPr/>
          </a:p>
          <a:p>
            <a:r>
              <a:t>[Sources]</a:t>
            </a:r>
          </a:p>
          <a:p>
            <a:r>
              <a:t>- https://www.faa.gov/documentLibrary/media/Advisory_Circular/AC_20-115D.pdf</a:t>
            </a:r>
          </a:p>
          <a:p>
            <a:r>
              <a:t>- https://www.rtca.org/do-178/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five-level ladder links Levels A through E to failure conditions and increasing assurance rigor.</a:t>
            </a:r>
          </a:p>
          <a:p>
            <a:endParaRPr/>
          </a:p>
          <a:p>
            <a:r>
              <a:t>Speaker notes:</a:t>
            </a:r>
          </a:p>
          <a:p>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a:endParaRPr/>
          </a:p>
          <a:p>
            <a:r>
              <a:t>Key teaching points:</a:t>
            </a:r>
          </a:p>
          <a:p>
            <a:r>
              <a:t>• Levels come from system safety analysis.</a:t>
            </a:r>
          </a:p>
          <a:p>
            <a:r>
              <a:t>• Rigor increases as failure consequence increases.</a:t>
            </a:r>
          </a:p>
          <a:p>
            <a:r>
              <a:t>• Software level affects objectives, independence, and evidence strategy.</a:t>
            </a:r>
          </a:p>
          <a:p>
            <a:endParaRPr/>
          </a:p>
          <a:p>
            <a:r>
              <a:t>[Sources]</a:t>
            </a:r>
          </a:p>
          <a:p>
            <a:r>
              <a:t>- https://www.faa.gov/aircraft/air_cert/design_approvals/dah/software</a:t>
            </a:r>
          </a:p>
          <a:p>
            <a:r>
              <a:t>- https://www.faa.gov/documentLibrary/media/Advisory_Circular/AC_20-115D.pdf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bidirectional chain links requirement, model element, test case, and result above an evidence package.</a:t>
            </a:r>
          </a:p>
          <a:p>
            <a:endParaRPr/>
          </a:p>
          <a:p>
            <a:r>
              <a:t>Speaker notes:</a:t>
            </a:r>
          </a:p>
          <a:p>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a:endParaRPr/>
          </a:p>
          <a:p>
            <a:r>
              <a:t>Key teaching points:</a:t>
            </a:r>
          </a:p>
          <a:p>
            <a:r>
              <a:t>• Traceability must work in both directions.</a:t>
            </a:r>
          </a:p>
          <a:p>
            <a:r>
              <a:t>• Evidence includes reviews, analyses, configuration, and results.</a:t>
            </a:r>
          </a:p>
          <a:p>
            <a:r>
              <a:t>• Automation produces evidence only when configuration and meaning are controlled.</a:t>
            </a:r>
          </a:p>
          <a:p>
            <a:endParaRPr/>
          </a:p>
          <a:p>
            <a:r>
              <a:t>[Sources]</a:t>
            </a:r>
          </a:p>
          <a:p>
            <a:r>
              <a:t>- https://www.mathworks.com/help/slrequirements/ug/create-and-store-links.html</a:t>
            </a:r>
          </a:p>
          <a:p>
            <a:r>
              <a:t>- https://www.mathworks.com/help/slrequirements/ug/find-and-link-unlinked-requirements-with-a-traceability-matrix.html</a:t>
            </a:r>
          </a:p>
          <a:p>
            <a:r>
              <a:t>- https://www.faa.gov/documentLibrary/media/Order/FAA_Order_8110.49A.pdf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nine-step serpentine flow moves from assurance objectives and planning through component behavior verification.</a:t>
            </a:r>
          </a:p>
          <a:p>
            <a:endParaRPr/>
          </a:p>
          <a:p>
            <a:r>
              <a:t>Speaker notes:</a:t>
            </a:r>
          </a:p>
          <a:p>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a:endParaRPr/>
          </a:p>
          <a:p>
            <a:r>
              <a:t>Key teaching points:</a:t>
            </a:r>
          </a:p>
          <a:p>
            <a:r>
              <a:t>• Planning defines the model and tool roles before implementation.</a:t>
            </a:r>
          </a:p>
          <a:p>
            <a:r>
              <a:t>• Test design starts from requirements and acceptance criteria.</a:t>
            </a:r>
          </a:p>
          <a:p>
            <a:r>
              <a:t>• The .mldatx and callbacks support verification; they are not requirements themselves.</a:t>
            </a:r>
          </a:p>
          <a:p>
            <a:endParaRPr/>
          </a:p>
          <a:p>
            <a:r>
              <a:t>[Sources]</a:t>
            </a:r>
          </a:p>
          <a:p>
            <a:r>
              <a:t>- https://www.faa.gov/documentLibrary/media/Advisory_Circular/AC_20-115D.pdf</a:t>
            </a:r>
          </a:p>
          <a:p>
            <a:r>
              <a:t>- https://www.rtca.org/do-178/</a:t>
            </a:r>
          </a:p>
          <a:p>
            <a:r>
              <a:t>- https://www.mathworks.com/help/sltest/ref/sltest.testmanager.testfile-class.html</a:t>
            </a:r>
          </a:p>
          <a:p>
            <a:r>
              <a:t>- https://www.mathworks.com/help/sltest/ug/specify-test-properties-in-the-test-manager.html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second nine-step serpentine flow covers integration, compile, CI failure loops, HIL, and final evidence.</a:t>
            </a:r>
          </a:p>
          <a:p>
            <a:endParaRPr/>
          </a:p>
          <a:p>
            <a:r>
              <a:t>Speaker notes:</a:t>
            </a:r>
          </a:p>
          <a:p>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a:endParaRPr/>
          </a:p>
          <a:p>
            <a:r>
              <a:t>Key teaching points:</a:t>
            </a:r>
          </a:p>
          <a:p>
            <a:r>
              <a:t>• Compile validates model semantics, not requirements compliance.</a:t>
            </a:r>
          </a:p>
          <a:p>
            <a:r>
              <a:t>• CI failures are a feedback loop, not a paperwork step.</a:t>
            </a:r>
          </a:p>
          <a:p>
            <a:r>
              <a:t>• HIL and pipeline results must remain linked to requirements and configuration.</a:t>
            </a:r>
          </a:p>
          <a:p>
            <a:endParaRPr/>
          </a:p>
          <a:p>
            <a:r>
              <a:t>[Sources]</a:t>
            </a:r>
          </a:p>
          <a:p>
            <a:r>
              <a:t>- https://www.mathworks.com/help/simulink/ug/overview-of-model-referencing-1.html</a:t>
            </a:r>
          </a:p>
          <a:p>
            <a:r>
              <a:t>- https://www.jenkins.io/doc/book/pipeline/</a:t>
            </a:r>
          </a:p>
          <a:p>
            <a:r>
              <a:t>- https://www.mathworks.com/discovery/hardware-in-the-loop-hil.html</a:t>
            </a:r>
          </a:p>
          <a:p>
            <a:r>
              <a:t>- https://www.faa.gov/documentLibrary/media/Advisory_Circular/AC_20-115D.pdf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Four requirement levels—system, interface, component, and derived—use a consistent flight-control example.</a:t>
            </a:r>
          </a:p>
          <a:p>
            <a:endParaRPr/>
          </a:p>
          <a:p>
            <a:r>
              <a:t>Speaker notes:</a:t>
            </a:r>
          </a:p>
          <a:p>
            <a:r>
              <a:t>Show how ambiguity is removed through decomposition. A system requirement states the aircraft-level need. Interface requirements define units, sign conventions, ranges, rates, validity, and ownership. Component or software requirements define observable behavior. Derived requirements arise from design choices or newly identified constraints and must be explicitly identified and fed into the project’s system and safety processes. Acceptance criteria make verification unambiguous by defining outputs, tolerances, timing, modes, and invalid-input behavior. The pitch-rate-limiter values are training data, not program data. Distinguish magnitude limiting in degrees per second from slew-rate limiting in degrees per second squared; selecting the wrong Simulink block would implement a different requirement.</a:t>
            </a:r>
          </a:p>
          <a:p>
            <a:endParaRPr/>
          </a:p>
          <a:p>
            <a:r>
              <a:t>Key teaching points:</a:t>
            </a:r>
          </a:p>
          <a:p>
            <a:r>
              <a:t>• Requirements should be observable and testable.</a:t>
            </a:r>
          </a:p>
          <a:p>
            <a:r>
              <a:t>• Interface requirements prevent unit, sign, rate, and validity ambiguity.</a:t>
            </a:r>
          </a:p>
          <a:p>
            <a:r>
              <a:t>• Derived behavior must be identified, traced, and assessed—not hidden in the model.</a:t>
            </a:r>
          </a:p>
          <a:p>
            <a:endParaRPr/>
          </a:p>
          <a:p>
            <a:r>
              <a:t>[Sources]</a:t>
            </a:r>
          </a:p>
          <a:p>
            <a:r>
              <a:t>- https://www.mathworks.com/help/slrequirements/ug/create-and-store-links.html</a:t>
            </a:r>
          </a:p>
          <a:p>
            <a:r>
              <a:t>- https://www.faa.gov/documentLibrary/media/Advisory_Circular/AC_20-115D.pdf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An executed result plot summarizes the real limiter boundary, mode, validity, flag, tolerance, and timing assessments.</a:t>
            </a:r>
          </a:p>
          <a:p>
            <a:endParaRPr lang="en-US"/>
          </a:p>
          <a:p>
            <a:endParaRPr lang="en-US"/>
          </a:p>
          <a:p>
            <a:endParaRPr lang="en-US"/>
          </a:p>
          <a:p>
            <a:endParaRPr lang="en-US"/>
          </a:p>
          <a:p>
            <a:endParaRPr lang="en-US"/>
          </a:p>
          <a:p>
            <a:endParaRPr lang="en-US"/>
          </a:p>
          <a:p>
            <a:endParaRPr lang="en-US"/>
          </a:p>
          <a:p>
            <a:r>
              <a:rPr lang="en-US"/>
              <a:t>Speaker notes:</a:t>
            </a:r>
          </a:p>
          <a:p>
            <a:r>
              <a:rPr lang="en-US"/>
              <a:t>Use the example to make traceability tangible. PRL-001 specifies inclusive magnitude limits. The implementing model element is a magnitude saturation function, not a rate-of-change limiter. Boundary tests include just below, exactly at, inside, exactly at the positive boundary, and just above. The result records pass/fail plus the controlled configuration, tool environment, and report identity. During review, each link should be navigable in both directions. A result that cannot identify the exact model and test configuration is weak evidence. A model element without a requirement may indicate unintended functionality. A requirement without a test or analysis is an uncovered obligation.</a:t>
            </a:r>
          </a:p>
          <a:p>
            <a:endParaRPr lang="en-US"/>
          </a:p>
          <a:p>
            <a:r>
              <a:rPr lang="en-US"/>
              <a:t>Key teaching points:</a:t>
            </a:r>
          </a:p>
          <a:p>
            <a:r>
              <a:rPr lang="en-US"/>
              <a:t>• Choose the model element that matches the physical quantity in the requirement.</a:t>
            </a:r>
          </a:p>
          <a:p>
            <a:r>
              <a:rPr lang="en-US"/>
              <a:t>• Boundary values prove inclusive/exclusive semantics.</a:t>
            </a:r>
          </a:p>
          <a:p>
            <a:r>
              <a:rPr lang="en-US"/>
              <a:t>• Results must identify the exact configuration they verified.</a:t>
            </a:r>
          </a:p>
          <a:p>
            <a:endParaRPr lang="en-US"/>
          </a:p>
          <a:p>
            <a:r>
              <a:rPr lang="en-US"/>
              <a:t>[Sources]</a:t>
            </a:r>
          </a:p>
          <a:p>
            <a:r>
              <a:rPr lang="en-US"/>
              <a:t>- https://www.mathworks.com/help/slrequirements/ug/create-and-store-links.html</a:t>
            </a:r>
          </a:p>
          <a:p>
            <a:r>
              <a:rPr lang="en-US"/>
              <a:t>- https://www.mathworks.com/help/slrequirements/ug/find-and-link-unlinked-requirements-with-a-traceability-matrix.html</a:t>
            </a:r>
          </a:p>
          <a:p>
            <a:r>
              <a:rPr lang="en-US"/>
              <a:t>- https://www.mathworks.com/help/sltest/gs/test-planning-and-strategies.html</a:t>
            </a:r>
          </a:p>
          <a:p>
            <a:endParaRPr lang="en-US"/>
          </a:p>
          <a:p>
            <a:r>
              <a:rPr lang="en-US"/>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a:endParaRPr lang="en-US"/>
          </a:p>
          <a:p>
            <a:r>
              <a:rPr lang="en-US"/>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a:endParaRPr lang="en-US"/>
          </a:p>
          <a:p>
            <a:r>
              <a:rPr lang="en-US"/>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The real Pitch Rate Limiter Logic subsystem shows magnitude saturation, validity selection, fallback, and active-flag logic.</a:t>
            </a:r>
          </a:p>
          <a:p>
            <a:endParaRPr lang="en-US"/>
          </a:p>
          <a:p>
            <a:endParaRPr lang="en-US"/>
          </a:p>
          <a:p>
            <a:endParaRPr lang="en-US"/>
          </a:p>
          <a:p>
            <a:endParaRPr lang="en-US"/>
          </a:p>
          <a:p>
            <a:endParaRPr lang="en-US"/>
          </a:p>
          <a:p>
            <a:endParaRPr lang="en-US"/>
          </a:p>
          <a:p>
            <a:endParaRPr lang="en-US"/>
          </a:p>
          <a:p>
            <a:r>
              <a:rPr lang="en-US"/>
              <a:t>Speaker notes:</a:t>
            </a:r>
          </a:p>
          <a:p>
            <a:r>
              <a:rPr lang="en-US"/>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a:endParaRPr lang="en-US"/>
          </a:p>
          <a:p>
            <a:r>
              <a:rPr lang="en-US"/>
              <a:t>Key teaching points:</a:t>
            </a:r>
          </a:p>
          <a:p>
            <a:r>
              <a:rPr lang="en-US"/>
              <a:t>• Interfaces come before internal complexity.</a:t>
            </a:r>
          </a:p>
          <a:p>
            <a:r>
              <a:rPr lang="en-US"/>
              <a:t>• Controlled parameters replace unexplained literals.</a:t>
            </a:r>
          </a:p>
          <a:p>
            <a:r>
              <a:rPr lang="en-US"/>
              <a:t>• Compile and test at the smallest meaningful increment.</a:t>
            </a:r>
          </a:p>
          <a:p>
            <a:endParaRPr lang="en-US"/>
          </a:p>
          <a:p>
            <a:r>
              <a:rPr lang="en-US"/>
              <a:t>[Sources]</a:t>
            </a:r>
          </a:p>
          <a:p>
            <a:r>
              <a:rPr lang="en-US"/>
              <a:t>- https://www.mathworks.com/help/simulink/getting-started-with-simulink.html</a:t>
            </a:r>
          </a:p>
          <a:p>
            <a:r>
              <a:rPr lang="en-US"/>
              <a:t>- https://www.mathworks.com/help/simulink/ug/interface-design.html</a:t>
            </a:r>
          </a:p>
          <a:p>
            <a:r>
              <a:rPr lang="en-US"/>
              <a:t>- https://www.mathworks.com/help/simulink/ug/determine-where-to-store-data-for-simulink-models.html</a:t>
            </a:r>
          </a:p>
          <a:p>
            <a:endParaRPr lang="en-US"/>
          </a:p>
          <a:p>
            <a:r>
              <a:rPr lang="en-US"/>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a:endParaRPr lang="en-US"/>
          </a:p>
          <a:p>
            <a:r>
              <a:rPr lang="en-US"/>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a:endParaRPr lang="en-US"/>
          </a:p>
          <a:p>
            <a:r>
              <a:rPr lang="en-US"/>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 dictionary-derived inventory shows FlightControlBus elements and controlled training parameters from FCS_Data.sldd.</a:t>
            </a:r>
          </a:p>
          <a:p>
            <a:endParaRPr lang="en-US"/>
          </a:p>
          <a:p>
            <a:endParaRPr lang="en-US"/>
          </a:p>
          <a:p>
            <a:endParaRPr lang="en-US"/>
          </a:p>
          <a:p>
            <a:endParaRPr lang="en-US"/>
          </a:p>
          <a:p>
            <a:endParaRPr lang="en-US"/>
          </a:p>
          <a:p>
            <a:endParaRPr lang="en-US"/>
          </a:p>
          <a:p>
            <a:endParaRPr lang="en-US"/>
          </a:p>
          <a:p>
            <a:r>
              <a:rPr lang="en-US"/>
              <a:t>Speaker notes:</a:t>
            </a:r>
          </a:p>
          <a:p>
            <a:r>
              <a:rPr lang="en-US"/>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a:endParaRPr lang="en-US"/>
          </a:p>
          <a:p>
            <a:r>
              <a:rPr lang="en-US"/>
              <a:t>Key teaching points:</a:t>
            </a:r>
          </a:p>
          <a:p>
            <a:r>
              <a:rPr lang="en-US"/>
              <a:t>• Model references support modular development and isolated verification.</a:t>
            </a:r>
          </a:p>
          <a:p>
            <a:r>
              <a:rPr lang="en-US"/>
              <a:t>• Buses group signals but must preserve explicit contracts.</a:t>
            </a:r>
          </a:p>
          <a:p>
            <a:r>
              <a:rPr lang="en-US"/>
              <a:t>• Dictionaries centralize controlled definitions and parameters.</a:t>
            </a:r>
          </a:p>
          <a:p>
            <a:endParaRPr lang="en-US"/>
          </a:p>
          <a:p>
            <a:r>
              <a:rPr lang="en-US"/>
              <a:t>[Sources]</a:t>
            </a:r>
          </a:p>
          <a:p>
            <a:r>
              <a:rPr lang="en-US"/>
              <a:t>- https://www.mathworks.com/help/simulink/ug/overview-of-model-referencing-1.html</a:t>
            </a:r>
          </a:p>
          <a:p>
            <a:r>
              <a:rPr lang="en-US"/>
              <a:t>- https://www.mathworks.com/help/simulink/ug/interface-design.html</a:t>
            </a:r>
          </a:p>
          <a:p>
            <a:r>
              <a:rPr lang="en-US"/>
              <a:t>- https://www.mathworks.com/help/simulink/ug/determine-where-to-store-data-for-simulink-models.html</a:t>
            </a:r>
          </a:p>
          <a:p>
            <a:endParaRPr lang="en-US"/>
          </a:p>
          <a:p>
            <a:r>
              <a:rPr lang="en-US"/>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a:endParaRPr lang="en-US"/>
          </a:p>
          <a:p>
            <a:r>
              <a:rPr lang="en-US"/>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a:endParaRPr lang="en-US"/>
          </a:p>
          <a:p>
            <a:r>
              <a:rPr lang="en-US"/>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a:t>
            </a:r>
          </a:p>
          <a:p>
            <a:endParaRPr/>
          </a:p>
          <a:p>
            <a:r>
              <a:t>Suggested visual:</a:t>
            </a:r>
          </a:p>
          <a:p>
            <a:r>
              <a:t>Five model-review rules are presented as a large-format engineering checklist.</a:t>
            </a:r>
          </a:p>
          <a:p>
            <a:endParaRPr/>
          </a:p>
          <a:p>
            <a:r>
              <a:t>Speaker notes:</a:t>
            </a:r>
          </a:p>
          <a:p>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a:endParaRPr/>
          </a:p>
          <a:p>
            <a:r>
              <a:t>Key teaching points:</a:t>
            </a:r>
          </a:p>
          <a:p>
            <a:r>
              <a:t>• Readability reduces review error and investigation time.</a:t>
            </a:r>
          </a:p>
          <a:p>
            <a:r>
              <a:t>• Naming and labeling are part of the interface contract.</a:t>
            </a:r>
          </a:p>
          <a:p>
            <a:r>
              <a:t>• Controlled reuse prevents silent divergence.</a:t>
            </a:r>
          </a:p>
          <a:p>
            <a:endParaRPr/>
          </a:p>
          <a:p>
            <a:r>
              <a:t>[Sources]</a:t>
            </a:r>
          </a:p>
          <a:p>
            <a:r>
              <a:t>- https://www.mathworks.com/help/slcheck/ref/model-advisor-checks-for-do-178cdo-331-industry-standards.html</a:t>
            </a:r>
          </a:p>
          <a:p>
            <a:r>
              <a:t>- https://www.mathworks.com/help/simulink/ug/interface-design.html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The real standalone PitchRateLimiter_Harness model shows sources, referenced component, and retained outputs.</a:t>
            </a:r>
          </a:p>
          <a:p>
            <a:endParaRPr lang="en-US"/>
          </a:p>
          <a:p>
            <a:endParaRPr lang="en-US"/>
          </a:p>
          <a:p>
            <a:endParaRPr lang="en-US"/>
          </a:p>
          <a:p>
            <a:endParaRPr lang="en-US"/>
          </a:p>
          <a:p>
            <a:endParaRPr lang="en-US"/>
          </a:p>
          <a:p>
            <a:endParaRPr lang="en-US"/>
          </a:p>
          <a:p>
            <a:endParaRPr lang="en-US"/>
          </a:p>
          <a:p>
            <a:r>
              <a:rPr lang="en-US"/>
              <a:t>Speaker notes:</a:t>
            </a:r>
          </a:p>
          <a:p>
            <a:r>
              <a:rPr lang="en-US"/>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a:endParaRPr lang="en-US"/>
          </a:p>
          <a:p>
            <a:endParaRPr lang="en-US"/>
          </a:p>
          <a:p>
            <a:endParaRPr lang="en-US"/>
          </a:p>
          <a:p>
            <a:endParaRPr lang="en-US"/>
          </a:p>
          <a:p>
            <a:endParaRPr lang="en-US"/>
          </a:p>
          <a:p>
            <a:endParaRPr lang="en-US"/>
          </a:p>
          <a:p>
            <a:endParaRPr lang="en-US"/>
          </a:p>
          <a:p>
            <a:r>
              <a:rPr lang="en-US"/>
              <a:t>Key teaching points:</a:t>
            </a:r>
          </a:p>
          <a:p>
            <a:r>
              <a:rPr lang="en-US"/>
              <a:t>• Harnesses isolate the component without modifying production logic.</a:t>
            </a:r>
          </a:p>
          <a:p>
            <a:r>
              <a:rPr lang="en-US"/>
              <a:t>• Expected behavior comes from requirements and acceptance criteria.</a:t>
            </a:r>
          </a:p>
          <a:p>
            <a:r>
              <a:rPr lang="en-US"/>
              <a:t>• Unit tests provide fast, precise, repeatable regression evidence.</a:t>
            </a:r>
          </a:p>
          <a:p>
            <a:endParaRPr lang="en-US"/>
          </a:p>
          <a:p>
            <a:r>
              <a:rPr lang="en-US"/>
              <a:t>[Sources]</a:t>
            </a:r>
          </a:p>
          <a:p>
            <a:r>
              <a:rPr lang="en-US"/>
              <a:t>- https://www.mathworks.com/products/simulink-test.html</a:t>
            </a:r>
          </a:p>
          <a:p>
            <a:r>
              <a:rPr lang="en-US"/>
              <a:t>- https://www.mathworks.com/help/sltest/gs/test-planning-and-strategies.html</a:t>
            </a:r>
          </a:p>
          <a:p>
            <a:endParaRPr lang="en-US"/>
          </a:p>
          <a:p>
            <a:r>
              <a:rPr lang="en-US"/>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a:endParaRPr lang="en-US"/>
          </a:p>
          <a:p>
            <a:r>
              <a:rPr lang="en-US"/>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a:endParaRPr lang="en-US"/>
          </a:p>
          <a:p>
            <a:r>
              <a:rPr lang="en-US"/>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five-row test matrix applies nominal, boundary, invalid, and timing tests to the Pitch Rate Limiter.</a:t>
            </a:r>
          </a:p>
          <a:p>
            <a:endParaRPr/>
          </a:p>
          <a:p>
            <a:r>
              <a:t>Speaker notes:</a:t>
            </a:r>
          </a:p>
          <a:p>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a:endParaRPr/>
          </a:p>
          <a:p>
            <a:r>
              <a:t>Key teaching points:</a:t>
            </a:r>
          </a:p>
          <a:p>
            <a:r>
              <a:t>• Boundary values are more informative than many random nominal points.</a:t>
            </a:r>
          </a:p>
          <a:p>
            <a:r>
              <a:t>• Mode and validity behavior must be tested explicitly.</a:t>
            </a:r>
          </a:p>
          <a:p>
            <a:r>
              <a:t>• Test interactions when requirements share logic or state.</a:t>
            </a:r>
          </a:p>
          <a:p>
            <a:endParaRPr/>
          </a:p>
          <a:p>
            <a:r>
              <a:t>[Sources]</a:t>
            </a:r>
          </a:p>
          <a:p>
            <a:r>
              <a:t>- https://www.mathworks.com/help/sltest/gs/test-planning-and-strategies.html</a:t>
            </a:r>
          </a:p>
          <a:p>
            <a:r>
              <a:t>- https://www.mathworks.com/products/simulink-test.html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An actual report summary shows the executable MATLAB fallback used because Simulink Test is unavailable.</a:t>
            </a:r>
          </a:p>
          <a:p>
            <a:endParaRPr lang="en-US"/>
          </a:p>
          <a:p>
            <a:endParaRPr lang="en-US"/>
          </a:p>
          <a:p>
            <a:endParaRPr lang="en-US"/>
          </a:p>
          <a:p>
            <a:endParaRPr lang="en-US"/>
          </a:p>
          <a:p>
            <a:endParaRPr lang="en-US"/>
          </a:p>
          <a:p>
            <a:endParaRPr lang="en-US"/>
          </a:p>
          <a:p>
            <a:endParaRPr lang="en-US"/>
          </a:p>
          <a:p>
            <a:r>
              <a:rPr lang="en-US"/>
              <a:t>Speaker notes:</a:t>
            </a:r>
          </a:p>
          <a:p>
            <a:r>
              <a:rPr lang="en-US"/>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a:endParaRPr lang="en-US"/>
          </a:p>
          <a:p>
            <a:endParaRPr lang="en-US"/>
          </a:p>
          <a:p>
            <a:endParaRPr lang="en-US"/>
          </a:p>
          <a:p>
            <a:endParaRPr lang="en-US"/>
          </a:p>
          <a:p>
            <a:endParaRPr lang="en-US"/>
          </a:p>
          <a:p>
            <a:endParaRPr lang="en-US"/>
          </a:p>
          <a:p>
            <a:endParaRPr lang="en-US"/>
          </a:p>
          <a:p>
            <a:r>
              <a:rPr lang="en-US"/>
              <a:t>Key teaching points:</a:t>
            </a:r>
          </a:p>
          <a:p>
            <a:r>
              <a:rPr lang="en-US"/>
              <a:t>• Test files organize reusable test intent and hierarchy.</a:t>
            </a:r>
          </a:p>
          <a:p>
            <a:r>
              <a:rPr lang="en-US"/>
              <a:t>• Requirements links make cases reviewable and reportable.</a:t>
            </a:r>
          </a:p>
          <a:p>
            <a:r>
              <a:rPr lang="en-US"/>
              <a:t>• Definition files and exported result sets serve different lifecycle purposes.</a:t>
            </a:r>
          </a:p>
          <a:p>
            <a:endParaRPr lang="en-US"/>
          </a:p>
          <a:p>
            <a:r>
              <a:rPr lang="en-US"/>
              <a:t>[Sources]</a:t>
            </a:r>
          </a:p>
          <a:p>
            <a:r>
              <a:rPr lang="en-US"/>
              <a:t>- https://www.mathworks.com/help/sltest/ref/sltest.testmanager.testfile-class.html</a:t>
            </a:r>
          </a:p>
          <a:p>
            <a:r>
              <a:rPr lang="en-US"/>
              <a:t>- https://www.mathworks.com/help/sltest/ug/test-models-using-matlab-based-simulink-tests.html</a:t>
            </a:r>
          </a:p>
          <a:p>
            <a:endParaRPr lang="en-US"/>
          </a:p>
          <a:p>
            <a:r>
              <a:rPr lang="en-US"/>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a:endParaRPr lang="en-US"/>
          </a:p>
          <a:p>
            <a:r>
              <a:rPr lang="en-US"/>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a:endParaRPr lang="en-US"/>
          </a:p>
          <a:p>
            <a:r>
              <a:rPr lang="en-US"/>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 generated view of the delivered external callback functions shows setup through cleanup.</a:t>
            </a:r>
          </a:p>
          <a:p>
            <a:endParaRPr lang="en-US"/>
          </a:p>
          <a:p>
            <a:endParaRPr lang="en-US"/>
          </a:p>
          <a:p>
            <a:endParaRPr lang="en-US"/>
          </a:p>
          <a:p>
            <a:endParaRPr lang="en-US"/>
          </a:p>
          <a:p>
            <a:endParaRPr lang="en-US"/>
          </a:p>
          <a:p>
            <a:endParaRPr lang="en-US"/>
          </a:p>
          <a:p>
            <a:endParaRPr lang="en-US"/>
          </a:p>
          <a:p>
            <a:r>
              <a:rPr lang="en-US"/>
              <a:t>Speaker notes:</a:t>
            </a:r>
          </a:p>
          <a:p>
            <a:r>
              <a:rPr lang="en-US"/>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a:endParaRPr lang="en-US"/>
          </a:p>
          <a:p>
            <a:r>
              <a:rPr lang="en-US"/>
              <a:t>Key teaching points:</a:t>
            </a:r>
          </a:p>
          <a:p>
            <a:r>
              <a:rPr lang="en-US"/>
              <a:t>• Callbacks establish and clean up deterministic conditions.</a:t>
            </a:r>
          </a:p>
          <a:p>
            <a:r>
              <a:rPr lang="en-US"/>
              <a:t>• Execution order and workspace scope matter.</a:t>
            </a:r>
          </a:p>
          <a:p>
            <a:r>
              <a:rPr lang="en-US"/>
              <a:t>• Do not hide the requirement’s pass/fail logic in ad hoc setup code.</a:t>
            </a:r>
          </a:p>
          <a:p>
            <a:endParaRPr lang="en-US"/>
          </a:p>
          <a:p>
            <a:r>
              <a:rPr lang="en-US"/>
              <a:t>[Sources]</a:t>
            </a:r>
          </a:p>
          <a:p>
            <a:r>
              <a:rPr lang="en-US"/>
              <a:t>- https://www.mathworks.com/help/sltest/ug/specify-test-properties-in-the-test-manager.html</a:t>
            </a:r>
          </a:p>
          <a:p>
            <a:r>
              <a:rPr lang="en-US"/>
              <a:t>- https://www.mathworks.com/help/sltest/ug/test-execution-order.html</a:t>
            </a:r>
          </a:p>
          <a:p>
            <a:r>
              <a:rPr lang="en-US"/>
              <a:t>- https://www.mathworks.com/help/simulink/ug/model-callbacks.html</a:t>
            </a:r>
          </a:p>
          <a:p>
            <a:endParaRPr lang="en-US"/>
          </a:p>
          <a:p>
            <a:r>
              <a:rPr lang="en-US"/>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a:endParaRPr lang="en-US"/>
          </a:p>
          <a:p>
            <a:r>
              <a:rPr lang="en-US"/>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a:endParaRPr lang="en-US"/>
          </a:p>
          <a:p>
            <a:r>
              <a:rPr lang="en-US"/>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The authentic referenced architecture model shows FlightControlBus, model references, and explicit routing.</a:t>
            </a:r>
          </a:p>
          <a:p>
            <a:endParaRPr lang="en-US"/>
          </a:p>
          <a:p>
            <a:endParaRPr lang="en-US"/>
          </a:p>
          <a:p>
            <a:endParaRPr lang="en-US"/>
          </a:p>
          <a:p>
            <a:endParaRPr lang="en-US"/>
          </a:p>
          <a:p>
            <a:endParaRPr lang="en-US"/>
          </a:p>
          <a:p>
            <a:endParaRPr lang="en-US"/>
          </a:p>
          <a:p>
            <a:endParaRPr lang="en-US"/>
          </a:p>
          <a:p>
            <a:r>
              <a:rPr lang="en-US"/>
              <a:t>Speaker notes:</a:t>
            </a:r>
          </a:p>
          <a:p>
            <a:r>
              <a:rPr lang="en-US"/>
              <a:t>Describe integration as the moment local assumptions meet system contracts. Model references must resolve to the intended versions. Bus definitions, dimensions, data types, units, sample times, rate transitions, enumerations, variants, and parameters must agree. Compile or model update propagates these properties and often exposes errors before simulation. Model checks can add project and DO-178C/DO-331 modeling-standard checks. A clean compile is necessary but not sufficient: it proves semantic consistency in the configured model, not that the behavior satisfies requirements. After integration, add component-interaction tests for coupling, scheduling, mode coordination, and data validity.</a:t>
            </a:r>
          </a:p>
          <a:p>
            <a:endParaRPr lang="en-US"/>
          </a:p>
          <a:p>
            <a:r>
              <a:rPr lang="en-US"/>
              <a:t>Key teaching points:</a:t>
            </a:r>
          </a:p>
          <a:p>
            <a:r>
              <a:rPr lang="en-US"/>
              <a:t>• Integration failures usually expose inconsistent contracts or configuration.</a:t>
            </a:r>
          </a:p>
          <a:p>
            <a:r>
              <a:rPr lang="en-US"/>
              <a:t>• Compile/update is a fast semantic gate.</a:t>
            </a:r>
          </a:p>
          <a:p>
            <a:r>
              <a:rPr lang="en-US"/>
              <a:t>• Behavioral compliance still requires requirements-based verification.</a:t>
            </a:r>
          </a:p>
          <a:p>
            <a:endParaRPr lang="en-US"/>
          </a:p>
          <a:p>
            <a:r>
              <a:rPr lang="en-US"/>
              <a:t>[Sources]</a:t>
            </a:r>
          </a:p>
          <a:p>
            <a:r>
              <a:rPr lang="en-US"/>
              <a:t>- https://www.mathworks.com/help/simulink/ug/overview-of-model-referencing-1.html</a:t>
            </a:r>
          </a:p>
          <a:p>
            <a:r>
              <a:rPr lang="en-US"/>
              <a:t>- https://www.mathworks.com/help/simulink/ug/interface-design.html</a:t>
            </a:r>
          </a:p>
          <a:p>
            <a:r>
              <a:rPr lang="en-US"/>
              <a:t>- https://www.mathworks.com/help/slcheck/ref/model-advisor-checks-for-do-178cdo-331-industry-standards.html</a:t>
            </a:r>
          </a:p>
          <a:p>
            <a:endParaRPr lang="en-US"/>
          </a:p>
          <a:p>
            <a:r>
              <a:rPr lang="en-US"/>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a:endParaRPr lang="en-US"/>
          </a:p>
          <a:p>
            <a:r>
              <a:rPr lang="en-US"/>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a:endParaRPr lang="en-US"/>
          </a:p>
          <a:p>
            <a:r>
              <a:rPr lang="en-US"/>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six-stage Jenkins pipeline sits above three responsibility lanes for Groovy, MATLAB/Simulink, and Robot Framework.</a:t>
            </a:r>
          </a:p>
          <a:p>
            <a:endParaRPr/>
          </a:p>
          <a:p>
            <a:r>
              <a:t>Speaker notes:</a:t>
            </a:r>
          </a:p>
          <a:p>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a:endParaRPr/>
          </a:p>
          <a:p>
            <a:r>
              <a:t>Key teaching points:</a:t>
            </a:r>
          </a:p>
          <a:p>
            <a:r>
              <a:t>• Jenkins orchestrates; project scripts perform the engineering work.</a:t>
            </a:r>
          </a:p>
          <a:p>
            <a:r>
              <a:t>• Pipeline-as-code improves reviewability and repeatability.</a:t>
            </a:r>
          </a:p>
          <a:p>
            <a:r>
              <a:t>• A pipeline pass becomes useful evidence only with controlled configuration and traceability.</a:t>
            </a:r>
          </a:p>
          <a:p>
            <a:endParaRPr/>
          </a:p>
          <a:p>
            <a:r>
              <a:t>[Sources]</a:t>
            </a:r>
          </a:p>
          <a:p>
            <a:r>
              <a:t>- https://www.jenkins.io/doc/book/pipeline/</a:t>
            </a:r>
          </a:p>
          <a:p>
            <a:r>
              <a:t>- https://www.jenkins.io/doc/book/pipeline/jenkinsfile/</a:t>
            </a:r>
          </a:p>
          <a:p>
            <a:r>
              <a:t>- https://www.mathworks.com/help/sltest/ug/output-results-for-continuous-integration-systems.html</a:t>
            </a:r>
          </a:p>
          <a:p>
            <a:r>
              <a:t>- https://robotframework.org/robotframework/latest/RobotFrameworkUserGuide.html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triage flow splits an unreproducible failure from semantic/compile and functional/test failures.</a:t>
            </a:r>
          </a:p>
          <a:p>
            <a:endParaRPr/>
          </a:p>
          <a:p>
            <a:r>
              <a:t>Speaker notes:</a:t>
            </a:r>
          </a:p>
          <a:p>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a:endParaRPr/>
          </a:p>
          <a:p>
            <a:r>
              <a:t>Key teaching points:</a:t>
            </a:r>
          </a:p>
          <a:p>
            <a:r>
              <a:t>• Preserve the exact failing configuration before investigation.</a:t>
            </a:r>
          </a:p>
          <a:p>
            <a:r>
              <a:t>• Classify environment, semantic, and behavioral failures separately.</a:t>
            </a:r>
          </a:p>
          <a:p>
            <a:r>
              <a:t>• Every meaningful defect should leave regression protection behind.</a:t>
            </a:r>
          </a:p>
          <a:p>
            <a:endParaRPr/>
          </a:p>
          <a:p>
            <a:r>
              <a:t>[Sources]</a:t>
            </a:r>
          </a:p>
          <a:p>
            <a:r>
              <a:t>- https://www.jenkins.io/doc/book/pipeline/</a:t>
            </a:r>
          </a:p>
          <a:p>
            <a:r>
              <a:t>- https://www.mathworks.com/help/sltest/ug/output-results-for-continuous-integration-systems.html</a:t>
            </a:r>
          </a:p>
          <a:p>
            <a:r>
              <a:t>- https://www.mathworks.com/help/sltest/ug/test-execution-order.html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closed-loop HIL architecture connects test host, real flight-control computer, physical I/O, and a real-time plant with fault injection.</a:t>
            </a:r>
          </a:p>
          <a:p>
            <a:endParaRPr/>
          </a:p>
          <a:p>
            <a:r>
              <a:t>Speaker notes:</a:t>
            </a:r>
          </a:p>
          <a:p>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a:endParaRPr/>
          </a:p>
          <a:p>
            <a:r>
              <a:t>Key teaching points:</a:t>
            </a:r>
          </a:p>
          <a:p>
            <a:r>
              <a:t>• The real controller closes the loop with a simulated plant in real time.</a:t>
            </a:r>
          </a:p>
          <a:p>
            <a:r>
              <a:t>• Physical I/O and timing are central HIL test targets.</a:t>
            </a:r>
          </a:p>
          <a:p>
            <a:r>
              <a:t>• HIL complements MIL/SIL/PIL and other verification—it does not replace them.</a:t>
            </a:r>
          </a:p>
          <a:p>
            <a:endParaRPr/>
          </a:p>
          <a:p>
            <a:r>
              <a:t>[Sources]</a:t>
            </a:r>
          </a:p>
          <a:p>
            <a:r>
              <a:t>- https://www.mathworks.com/discovery/hardware-in-the-loop-hil.html</a:t>
            </a:r>
          </a:p>
          <a:p>
            <a:r>
              <a:t>- https://www.mathworks.com/help/sltest/sil-pil-and-hil-tests.html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Suggested visual:</a:t>
            </a:r>
          </a:p>
          <a:p>
            <a:r>
              <a:t>A five-row HIL verification matrix pairs objectives, realistic tests, and quantitative pass criteria.</a:t>
            </a:r>
          </a:p>
          <a:p>
            <a:endParaRPr/>
          </a:p>
          <a:p>
            <a:r>
              <a:t>Speaker notes:</a:t>
            </a:r>
          </a:p>
          <a:p>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a:endParaRPr/>
          </a:p>
          <a:p>
            <a:r>
              <a:t>Key teaching points:</a:t>
            </a:r>
          </a:p>
          <a:p>
            <a:r>
              <a:t>• Every HIL test needs an explicit requirement and quantitative oracle.</a:t>
            </a:r>
          </a:p>
          <a:p>
            <a:r>
              <a:t>• Timing, interfaces, and faults are core HIL objectives.</a:t>
            </a:r>
          </a:p>
          <a:p>
            <a:r>
              <a:t>• Configuration identity determines whether a result is reusable evidence.</a:t>
            </a:r>
          </a:p>
          <a:p>
            <a:endParaRPr/>
          </a:p>
          <a:p>
            <a:r>
              <a:t>[Sources]</a:t>
            </a:r>
          </a:p>
          <a:p>
            <a:r>
              <a:t>- https://www.mathworks.com/discovery/hardware-in-the-loop-hil.html</a:t>
            </a:r>
          </a:p>
          <a:p>
            <a:r>
              <a:t>- https://www.mathworks.com/help/sltest/sil-pil-and-hil-tests.html</a:t>
            </a:r>
          </a:p>
          <a:p>
            <a:r>
              <a:t>- https://www.faa.gov/documentLibrary/media/Advisory_Circular/AC_20-115D.pdf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a:t>
            </a:r>
          </a:p>
          <a:p>
            <a:endParaRPr lang="en-US"/>
          </a:p>
          <a:p>
            <a:r>
              <a:rPr lang="en-US"/>
              <a:t>Suggested visual:</a:t>
            </a:r>
          </a:p>
          <a:p>
            <a:r>
              <a:rPr lang="en-US"/>
              <a:t>An executed desktop evidence summary connects requirements, controlled artifacts, tests, results, and validation without HIL claims.</a:t>
            </a:r>
          </a:p>
          <a:p>
            <a:endParaRPr lang="en-US"/>
          </a:p>
          <a:p>
            <a:endParaRPr lang="en-US"/>
          </a:p>
          <a:p>
            <a:endParaRPr lang="en-US"/>
          </a:p>
          <a:p>
            <a:endParaRPr lang="en-US"/>
          </a:p>
          <a:p>
            <a:endParaRPr lang="en-US"/>
          </a:p>
          <a:p>
            <a:endParaRPr lang="en-US"/>
          </a:p>
          <a:p>
            <a:endParaRPr lang="en-US"/>
          </a:p>
          <a:p>
            <a:r>
              <a:rPr lang="en-US"/>
              <a:t>Speaker notes:</a:t>
            </a:r>
          </a:p>
          <a:p>
            <a:r>
              <a:rPr lang="en-US"/>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a:endParaRPr lang="en-US"/>
          </a:p>
          <a:p>
            <a:endParaRPr lang="en-US"/>
          </a:p>
          <a:p>
            <a:endParaRPr lang="en-US"/>
          </a:p>
          <a:p>
            <a:endParaRPr lang="en-US"/>
          </a:p>
          <a:p>
            <a:endParaRPr lang="en-US"/>
          </a:p>
          <a:p>
            <a:endParaRPr lang="en-US"/>
          </a:p>
          <a:p>
            <a:endParaRPr lang="en-US"/>
          </a:p>
          <a:p>
            <a:r>
              <a:rPr lang="en-US"/>
              <a:t>Key teaching points:</a:t>
            </a:r>
          </a:p>
          <a:p>
            <a:r>
              <a:rPr lang="en-US"/>
              <a:t>• Every step produces or consumes controlled lifecycle data.</a:t>
            </a:r>
          </a:p>
          <a:p>
            <a:r>
              <a:rPr lang="en-US"/>
              <a:t>• The same requirement stays visible from model to HIL.</a:t>
            </a:r>
          </a:p>
          <a:p>
            <a:r>
              <a:rPr lang="en-US"/>
              <a:t>• Evidence is complete only when results, configuration, reviews, and dispositions agree.</a:t>
            </a:r>
          </a:p>
          <a:p>
            <a:endParaRPr lang="en-US"/>
          </a:p>
          <a:p>
            <a:r>
              <a:rPr lang="en-US"/>
              <a:t>[Sources]</a:t>
            </a:r>
          </a:p>
          <a:p>
            <a:r>
              <a:rPr lang="en-US"/>
              <a:t>- https://www.faa.gov/documentLibrary/media/Advisory_Circular/AC_20-115D.pdf</a:t>
            </a:r>
          </a:p>
          <a:p>
            <a:r>
              <a:rPr lang="en-US"/>
              <a:t>- https://www.mathworks.com/help/slrequirements/ug/create-and-store-links.html</a:t>
            </a:r>
          </a:p>
          <a:p>
            <a:r>
              <a:rPr lang="en-US"/>
              <a:t>- https://www.mathworks.com/help/sltest/ref/sltest.testmanager.testfile-class.html</a:t>
            </a:r>
          </a:p>
          <a:p>
            <a:r>
              <a:rPr lang="en-US"/>
              <a:t>- https://www.jenkins.io/doc/book/pipeline/</a:t>
            </a:r>
          </a:p>
          <a:p>
            <a:r>
              <a:rPr lang="en-US"/>
              <a:t>- https://www.mathworks.com/discovery/hardware-in-the-loop-hil.html</a:t>
            </a:r>
          </a:p>
          <a:p>
            <a:endParaRPr lang="en-US"/>
          </a:p>
          <a:p>
            <a:r>
              <a:rPr lang="en-US"/>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a:endParaRPr lang="en-US"/>
          </a:p>
          <a:p>
            <a:r>
              <a:rPr lang="en-US"/>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a:endParaRPr lang="en-US"/>
          </a:p>
          <a:p>
            <a:r>
              <a:rPr lang="en-US"/>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 plus questions</a:t>
            </a:r>
          </a:p>
          <a:p>
            <a:endParaRPr/>
          </a:p>
          <a:p>
            <a:r>
              <a:t>Suggested visual:</a:t>
            </a:r>
          </a:p>
          <a:p>
            <a:r>
              <a:t>A two-column close summarizes the lifecycle and gives the new engineer a practical first-30-days checklist.</a:t>
            </a:r>
          </a:p>
          <a:p>
            <a:endParaRPr/>
          </a:p>
          <a:p>
            <a:r>
              <a:t>Speaker notes:</a:t>
            </a:r>
          </a:p>
          <a:p>
            <a:r>
              <a:t>Synthesize the course rather than repeating slide titles. Simulink makes dynamic behavior executable and reviewable. DO-178C and DO-331 place that behavior inside planned objectives and evidence. Good requirements define conditions, boundaries, interfaces, timing, and observable results. Unit tests, .mldatx organization, callbacks, architecture compile, Jenkins, and HIL each answer different questions; none replaces the others. Encourage the engineer to learn the local project by tracing one real requirement end to end, making one small controlled change, adding a boundary test, reproducing one pipeline failure, and watching how a HIL run is reviewed and retained. End with questions focused on the organization’s actual plans, standards, model role, toolchain, and evidence repositories.</a:t>
            </a:r>
          </a:p>
          <a:p>
            <a:endParaRPr/>
          </a:p>
          <a:p>
            <a:r>
              <a:t>Key teaching points:</a:t>
            </a:r>
          </a:p>
          <a:p>
            <a:r>
              <a:t>• Correct control behavior and correct lifecycle evidence must stay synchronized.</a:t>
            </a:r>
          </a:p>
          <a:p>
            <a:r>
              <a:t>• Each verification environment targets a different class of risk.</a:t>
            </a:r>
          </a:p>
          <a:p>
            <a:r>
              <a:t>• The fastest onboarding path is one small end-to-end change under the project process.</a:t>
            </a:r>
          </a:p>
          <a:p>
            <a:endParaRPr/>
          </a:p>
          <a:p>
            <a:r>
              <a:t>[Sources]</a:t>
            </a:r>
          </a:p>
          <a:p>
            <a:r>
              <a:t>- https://www.mathworks.com/help/simulink/gs/model-based-design.html</a:t>
            </a:r>
          </a:p>
          <a:p>
            <a:r>
              <a:t>- https://www.faa.gov/documentLibrary/media/Advisory_Circular/AC_20-115D.pdf</a:t>
            </a:r>
          </a:p>
          <a:p>
            <a:r>
              <a:t>- https://www.mathworks.com/discovery/hardware-in-the-loop-hil.html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14" name="text-1">
            <a:extLst>
              <a:ext uri="{FF2B5EF4-FFF2-40B4-BE49-F238E27FC236}">
                <a16:creationId xmlns:a16="http://schemas.microsoft.com/office/drawing/2014/main" id="{C8E11374-631D-4D3D-B028-9B856910503F}"/>
              </a:ext>
            </a:extLst>
          </p:cNvPr>
          <p:cNvSpPr>
            <a:spLocks noGrp="1"/>
          </p:cNvSpPr>
          <p:nvPr/>
        </p:nvSpPr>
        <p:spPr>
          <a:xfrm>
            <a:off x="685800" y="666750"/>
            <a:ext cx="6667500" cy="26670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a:ext uri="{FF2B5EF4-FFF2-40B4-BE49-F238E27FC236}">
                <a16:creationId xmlns:a16="http://schemas.microsoft.com/office/drawing/2014/main" id="{E4983FC6-2522-412A-B743-95DFDE0F2D22}"/>
              </a:ext>
            </a:extLst>
          </p:cNvPr>
          <p:cNvSpPr>
            <a:spLocks noGrp="1"/>
          </p:cNvSpPr>
          <p:nvPr/>
        </p:nvSpPr>
        <p:spPr>
          <a:xfrm>
            <a:off x="685800" y="1200150"/>
            <a:ext cx="8001000" cy="1676400"/>
          </a:xfrm>
          <a:prstGeom prst="rect">
            <a:avLst/>
          </a:prstGeom>
          <a:noFill/>
          <a:ln w="0">
            <a:noFill/>
            <a:prstDash val="solid"/>
          </a:ln>
        </p:spPr>
        <p:txBody>
          <a:bodyPr wrap="square" lIns="38100" tIns="38100" rIns="38100" bIns="38100" anchor="t">
            <a:noAutofit/>
          </a:bodyPr>
          <a:lstStyle/>
          <a:p>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a:ext uri="{FF2B5EF4-FFF2-40B4-BE49-F238E27FC236}">
                <a16:creationId xmlns:a16="http://schemas.microsoft.com/office/drawing/2014/main" id="{F76AF1FC-DEAB-4387-BC0D-D899BA9F5E84}"/>
              </a:ext>
            </a:extLst>
          </p:cNvPr>
          <p:cNvSpPr>
            <a:spLocks noGrp="1"/>
          </p:cNvSpPr>
          <p:nvPr/>
        </p:nvSpPr>
        <p:spPr>
          <a:xfrm>
            <a:off x="723900" y="3524250"/>
            <a:ext cx="8096250" cy="742950"/>
          </a:xfrm>
          <a:prstGeom prst="rect">
            <a:avLst/>
          </a:prstGeom>
          <a:noFill/>
          <a:ln w="0">
            <a:noFill/>
            <a:prstDash val="solid"/>
          </a:ln>
        </p:spPr>
        <p:txBody>
          <a:bodyPr wrap="square" lIns="38100" tIns="38100" rIns="38100" bIns="38100" anchor="t">
            <a:noAutofit/>
          </a:bodyPr>
          <a:lstStyle/>
          <a:p>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a:ext uri="{FF2B5EF4-FFF2-40B4-BE49-F238E27FC236}">
                <a16:creationId xmlns:a16="http://schemas.microsoft.com/office/drawing/2014/main" id="{1F87C1DC-8DA3-43EC-B54E-F253DBF33622}"/>
              </a:ext>
            </a:extLst>
          </p:cNvPr>
          <p:cNvSpPr>
            <a:spLocks noGrp="1"/>
          </p:cNvSpPr>
          <p:nvPr/>
        </p:nvSpPr>
        <p:spPr>
          <a:xfrm>
            <a:off x="723900" y="4953000"/>
            <a:ext cx="1809750" cy="609600"/>
          </a:xfrm>
          <a:prstGeom prst="roundRect">
            <a:avLst>
              <a:gd name="adj" fmla="val 12500"/>
            </a:avLst>
          </a:prstGeom>
          <a:solidFill>
            <a:srgbClr val="0B2438"/>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a:ext uri="{FF2B5EF4-FFF2-40B4-BE49-F238E27FC236}">
                <a16:creationId xmlns:a16="http://schemas.microsoft.com/office/drawing/2014/main" id="{600EF8B5-0D0A-4CD2-A6F4-416AB6353FDE}"/>
              </a:ext>
            </a:extLst>
          </p:cNvPr>
          <p:cNvSpPr>
            <a:spLocks noGrp="1"/>
          </p:cNvSpPr>
          <p:nvPr/>
        </p:nvSpPr>
        <p:spPr>
          <a:xfrm>
            <a:off x="3143250" y="4953000"/>
            <a:ext cx="1809750" cy="609600"/>
          </a:xfrm>
          <a:prstGeom prst="roundRect">
            <a:avLst>
              <a:gd name="adj" fmla="val 12500"/>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a:ext uri="{FF2B5EF4-FFF2-40B4-BE49-F238E27FC236}">
                <a16:creationId xmlns:a16="http://schemas.microsoft.com/office/drawing/2014/main" id="{9F06AD17-EC65-4DFF-88F9-5359E4460EBA}"/>
              </a:ext>
            </a:extLst>
          </p:cNvPr>
          <p:cNvSpPr>
            <a:spLocks noGrp="1"/>
          </p:cNvSpPr>
          <p:nvPr/>
        </p:nvSpPr>
        <p:spPr>
          <a:xfrm>
            <a:off x="5562600" y="4953000"/>
            <a:ext cx="1809750" cy="609600"/>
          </a:xfrm>
          <a:prstGeom prst="roundRect">
            <a:avLst>
              <a:gd name="adj" fmla="val 12500"/>
            </a:avLst>
          </a:prstGeom>
          <a:solidFill>
            <a:srgbClr val="0B2438"/>
          </a:solidFill>
          <a:ln w="19050">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a:ext uri="{FF2B5EF4-FFF2-40B4-BE49-F238E27FC236}">
                <a16:creationId xmlns:a16="http://schemas.microsoft.com/office/drawing/2014/main" id="{C593C195-FB41-4899-8987-677A9884ED12}"/>
              </a:ext>
            </a:extLst>
          </p:cNvPr>
          <p:cNvSpPr>
            <a:spLocks noGrp="1"/>
          </p:cNvSpPr>
          <p:nvPr/>
        </p:nvSpPr>
        <p:spPr>
          <a:xfrm>
            <a:off x="7981950" y="4953000"/>
            <a:ext cx="1809750" cy="609600"/>
          </a:xfrm>
          <a:prstGeom prst="roundRect">
            <a:avLst>
              <a:gd name="adj" fmla="val 12500"/>
            </a:avLst>
          </a:prstGeom>
          <a:solidFill>
            <a:srgbClr val="0B2438"/>
          </a:solidFill>
          <a:ln w="19050">
            <a:solidFill>
              <a:srgbClr val="2CA56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21" name="Straight Arrow Connector 20"/>
          <p:cNvCxnSpPr>
            <a:stCxn id="4" idx="3"/>
            <a:endCxn id="5" idx="1"/>
          </p:cNvCxnSpPr>
          <p:nvPr/>
        </p:nvCxnSpPr>
        <p:spPr>
          <a:xfrm>
            <a:off x="2533650" y="5257800"/>
            <a:ext cx="609600" cy="0"/>
          </a:xfrm>
          <a:prstGeom prst="straightConnector1">
            <a:avLst/>
          </a:prstGeom>
          <a:ln w="28575">
            <a:solidFill>
              <a:srgbClr val="4D7892"/>
            </a:solidFill>
            <a:prstDash val="solid"/>
            <a:tailEnd type="triangle" w="sm" len="sm"/>
          </a:ln>
        </p:spPr>
      </p:cxnSp>
      <p:cxnSp>
        <p:nvCxnSpPr>
          <p:cNvPr id="22" name="Straight Arrow Connector 21"/>
          <p:cNvCxnSpPr>
            <a:stCxn id="5" idx="3"/>
            <a:endCxn id="6" idx="1"/>
          </p:cNvCxnSpPr>
          <p:nvPr/>
        </p:nvCxnSpPr>
        <p:spPr>
          <a:xfrm>
            <a:off x="4953000" y="5257800"/>
            <a:ext cx="609600" cy="0"/>
          </a:xfrm>
          <a:prstGeom prst="straightConnector1">
            <a:avLst/>
          </a:prstGeom>
          <a:ln w="28575">
            <a:solidFill>
              <a:srgbClr val="4D7892"/>
            </a:solidFill>
            <a:prstDash val="solid"/>
            <a:tailEnd type="triangle" w="sm" len="sm"/>
          </a:ln>
        </p:spPr>
      </p:cxnSp>
      <p:cxnSp>
        <p:nvCxnSpPr>
          <p:cNvPr id="23" name="Straight Arrow Connector 22"/>
          <p:cNvCxnSpPr>
            <a:stCxn id="6" idx="3"/>
            <a:endCxn id="7" idx="1"/>
          </p:cNvCxnSpPr>
          <p:nvPr/>
        </p:nvCxnSpPr>
        <p:spPr>
          <a:xfrm>
            <a:off x="7372350" y="5257800"/>
            <a:ext cx="609600" cy="0"/>
          </a:xfrm>
          <a:prstGeom prst="straightConnector1">
            <a:avLst/>
          </a:prstGeom>
          <a:ln w="28575">
            <a:solidFill>
              <a:srgbClr val="4D7892"/>
            </a:solidFill>
            <a:prstDash val="solid"/>
            <a:tailEnd type="triangle" w="sm" len="sm"/>
          </a:ln>
        </p:spPr>
      </p:cxnSp>
      <p:sp>
        <p:nvSpPr>
          <p:cNvPr id="11" name="text-8">
            <a:extLst>
              <a:ext uri="{FF2B5EF4-FFF2-40B4-BE49-F238E27FC236}">
                <a16:creationId xmlns:a16="http://schemas.microsoft.com/office/drawing/2014/main" id="{1AF2C06B-1BA7-4AC2-8717-995E6F411D6B}"/>
              </a:ext>
            </a:extLst>
          </p:cNvPr>
          <p:cNvSpPr>
            <a:spLocks noGrp="1"/>
          </p:cNvSpPr>
          <p:nvPr/>
        </p:nvSpPr>
        <p:spPr>
          <a:xfrm>
            <a:off x="723900" y="5810250"/>
            <a:ext cx="9334500" cy="26670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a:ext uri="{FF2B5EF4-FFF2-40B4-BE49-F238E27FC236}">
                <a16:creationId xmlns:a16="http://schemas.microsoft.com/office/drawing/2014/main" id="{45E35177-3C67-45EF-8016-85900502A313}"/>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a:ext uri="{FF2B5EF4-FFF2-40B4-BE49-F238E27FC236}">
                <a16:creationId xmlns:a16="http://schemas.microsoft.com/office/drawing/2014/main" id="{1D2BB9AF-7F6B-4E24-A93F-47AEB05E91D2}"/>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7" name="section-10">
            <a:extLst>
              <a:ext uri="{FF2B5EF4-FFF2-40B4-BE49-F238E27FC236}">
                <a16:creationId xmlns:a16="http://schemas.microsoft.com/office/drawing/2014/main" id="{5DF16D04-B00A-4E4C-A095-ED89E1AEAFB8}"/>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a:ext uri="{FF2B5EF4-FFF2-40B4-BE49-F238E27FC236}">
                <a16:creationId xmlns:a16="http://schemas.microsoft.com/office/drawing/2014/main" id="{B0269A63-E7BA-432F-9B37-2EE87D7A0950}"/>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a:ext uri="{FF2B5EF4-FFF2-40B4-BE49-F238E27FC236}">
                <a16:creationId xmlns:a16="http://schemas.microsoft.com/office/drawing/2014/main" id="{FA9754DA-A4FF-4EBB-9B82-FEC296828A62}"/>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12">
            <a:extLst>
              <a:ext uri="{FF2B5EF4-FFF2-40B4-BE49-F238E27FC236}">
                <a16:creationId xmlns:a16="http://schemas.microsoft.com/office/drawing/2014/main" id="{ABB038EF-4798-4C15-ACE8-5A861A9CF34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a:ext uri="{FF2B5EF4-FFF2-40B4-BE49-F238E27FC236}">
                <a16:creationId xmlns:a16="http://schemas.microsoft.com/office/drawing/2014/main" id="{1D45823F-3226-4E7D-B7F4-CFD0660FB1D5}"/>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a:ext uri="{FF2B5EF4-FFF2-40B4-BE49-F238E27FC236}">
                <a16:creationId xmlns:a16="http://schemas.microsoft.com/office/drawing/2014/main" id="{21A273C8-888A-48CE-A9A5-B4ED9A5C2C6A}"/>
              </a:ext>
            </a:extLst>
          </p:cNvPr>
          <p:cNvSpPr>
            <a:spLocks noGrp="1"/>
          </p:cNvSpPr>
          <p:nvPr/>
        </p:nvSpPr>
        <p:spPr>
          <a:xfrm>
            <a:off x="4762500" y="2476500"/>
            <a:ext cx="2667000" cy="1238250"/>
          </a:xfrm>
          <a:prstGeom prst="roundRect">
            <a:avLst>
              <a:gd name="adj" fmla="val 50000"/>
            </a:avLst>
          </a:prstGeom>
          <a:solidFill>
            <a:srgbClr val="0B2438"/>
          </a:solidFill>
          <a:ln w="28575">
            <a:solidFill>
              <a:srgbClr val="20B7C5"/>
            </a:solidFill>
            <a:prstDash val="solid"/>
          </a:ln>
        </p:spPr>
        <p:txBody>
          <a:bodyPr lIns="76200" tIns="57150" rIns="76200" bIns="57150" anchor="ctr">
            <a:noAutofit/>
          </a:bodyPr>
          <a:lstStyle/>
          <a:p>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a:ext uri="{FF2B5EF4-FFF2-40B4-BE49-F238E27FC236}">
                <a16:creationId xmlns:a16="http://schemas.microsoft.com/office/drawing/2014/main" id="{A0AA67E0-AC58-4ED7-ADFD-8450A9F2E2D5}"/>
              </a:ext>
            </a:extLst>
          </p:cNvPr>
          <p:cNvSpPr>
            <a:spLocks noGrp="1"/>
          </p:cNvSpPr>
          <p:nvPr/>
        </p:nvSpPr>
        <p:spPr>
          <a:xfrm>
            <a:off x="857250" y="1905000"/>
            <a:ext cx="2095500" cy="685800"/>
          </a:xfrm>
          <a:prstGeom prst="roundRect">
            <a:avLst>
              <a:gd name="adj" fmla="val 13889"/>
            </a:avLst>
          </a:prstGeom>
          <a:solidFill>
            <a:srgbClr val="E2ECFF"/>
          </a:solidFill>
          <a:ln w="9525">
            <a:solidFill>
              <a:srgbClr val="2D6CDF"/>
            </a:solidFill>
            <a:prstDash val="solid"/>
          </a:ln>
        </p:spPr>
        <p:txBody>
          <a:bodyPr lIns="76200" tIns="57150" rIns="76200" bIns="57150" anchor="ctr">
            <a:noAutofit/>
          </a:bodyPr>
          <a:lstStyle/>
          <a:p>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a:ext uri="{FF2B5EF4-FFF2-40B4-BE49-F238E27FC236}">
                <a16:creationId xmlns:a16="http://schemas.microsoft.com/office/drawing/2014/main" id="{FB75FED5-0AED-449C-8836-90BE963E8251}"/>
              </a:ext>
            </a:extLst>
          </p:cNvPr>
          <p:cNvSpPr>
            <a:spLocks noGrp="1"/>
          </p:cNvSpPr>
          <p:nvPr/>
        </p:nvSpPr>
        <p:spPr>
          <a:xfrm>
            <a:off x="857250" y="4000500"/>
            <a:ext cx="2095500" cy="685800"/>
          </a:xfrm>
          <a:prstGeom prst="roundRect">
            <a:avLst>
              <a:gd name="adj" fmla="val 13889"/>
            </a:avLst>
          </a:prstGeom>
          <a:solidFill>
            <a:srgbClr val="DFF6F8"/>
          </a:solidFill>
          <a:ln w="9525">
            <a:solidFill>
              <a:srgbClr val="20B7C5"/>
            </a:solidFill>
            <a:prstDash val="solid"/>
          </a:ln>
        </p:spPr>
        <p:txBody>
          <a:bodyPr lIns="76200" tIns="57150" rIns="76200" bIns="57150" anchor="ctr">
            <a:noAutofit/>
          </a:bodyPr>
          <a:lstStyle/>
          <a:p>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a:ext uri="{FF2B5EF4-FFF2-40B4-BE49-F238E27FC236}">
                <a16:creationId xmlns:a16="http://schemas.microsoft.com/office/drawing/2014/main" id="{419A118D-61E6-4047-9750-05FEB30D3348}"/>
              </a:ext>
            </a:extLst>
          </p:cNvPr>
          <p:cNvSpPr>
            <a:spLocks noGrp="1"/>
          </p:cNvSpPr>
          <p:nvPr/>
        </p:nvSpPr>
        <p:spPr>
          <a:xfrm>
            <a:off x="9239250" y="1905000"/>
            <a:ext cx="2095500" cy="685800"/>
          </a:xfrm>
          <a:prstGeom prst="roundRect">
            <a:avLst>
              <a:gd name="adj" fmla="val 13889"/>
            </a:avLst>
          </a:prstGeom>
          <a:solidFill>
            <a:srgbClr val="DFF6F8"/>
          </a:solidFill>
          <a:ln w="9525">
            <a:solidFill>
              <a:srgbClr val="20B7C5"/>
            </a:solidFill>
            <a:prstDash val="solid"/>
          </a:ln>
        </p:spPr>
        <p:txBody>
          <a:bodyPr lIns="76200" tIns="57150" rIns="76200" bIns="57150" anchor="ctr">
            <a:noAutofit/>
          </a:bodyPr>
          <a:lstStyle/>
          <a:p>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a:ext uri="{FF2B5EF4-FFF2-40B4-BE49-F238E27FC236}">
                <a16:creationId xmlns:a16="http://schemas.microsoft.com/office/drawing/2014/main" id="{6AF0C6FC-D9B4-4732-9690-440AFCA5B73E}"/>
              </a:ext>
            </a:extLst>
          </p:cNvPr>
          <p:cNvSpPr>
            <a:spLocks noGrp="1"/>
          </p:cNvSpPr>
          <p:nvPr/>
        </p:nvSpPr>
        <p:spPr>
          <a:xfrm>
            <a:off x="9239250" y="4000500"/>
            <a:ext cx="2095500" cy="685800"/>
          </a:xfrm>
          <a:prstGeom prst="roundRect">
            <a:avLst>
              <a:gd name="adj" fmla="val 13889"/>
            </a:avLst>
          </a:prstGeom>
          <a:solidFill>
            <a:srgbClr val="FFF0D7"/>
          </a:solidFill>
          <a:ln w="9525">
            <a:solidFill>
              <a:srgbClr val="E9A23B"/>
            </a:solidFill>
            <a:prstDash val="solid"/>
          </a:ln>
        </p:spPr>
        <p:txBody>
          <a:bodyPr lIns="76200" tIns="57150" rIns="76200" bIns="57150" anchor="ctr">
            <a:noAutofit/>
          </a:bodyPr>
          <a:lstStyle/>
          <a:p>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7" name="Straight Arrow Connector 26"/>
          <p:cNvCxnSpPr>
            <a:stCxn id="7" idx="3"/>
            <a:endCxn id="6" idx="1"/>
          </p:cNvCxnSpPr>
          <p:nvPr/>
        </p:nvCxnSpPr>
        <p:spPr>
          <a:xfrm>
            <a:off x="2952750" y="2247900"/>
            <a:ext cx="1809750" cy="847725"/>
          </a:xfrm>
          <a:prstGeom prst="straightConnector1">
            <a:avLst/>
          </a:prstGeom>
          <a:ln w="28575">
            <a:solidFill>
              <a:srgbClr val="2D6CDF"/>
            </a:solidFill>
            <a:prstDash val="solid"/>
            <a:tailEnd type="triangle" w="sm" len="sm"/>
          </a:ln>
        </p:spPr>
      </p:cxnSp>
      <p:cxnSp>
        <p:nvCxnSpPr>
          <p:cNvPr id="28" name="Straight Arrow Connector 27"/>
          <p:cNvCxnSpPr>
            <a:stCxn id="8" idx="3"/>
            <a:endCxn id="6" idx="1"/>
          </p:cNvCxnSpPr>
          <p:nvPr/>
        </p:nvCxnSpPr>
        <p:spPr>
          <a:xfrm flipV="1">
            <a:off x="2952750" y="3095625"/>
            <a:ext cx="1809750" cy="1247775"/>
          </a:xfrm>
          <a:prstGeom prst="straightConnector1">
            <a:avLst/>
          </a:prstGeom>
          <a:ln w="28575">
            <a:solidFill>
              <a:srgbClr val="20B7C5"/>
            </a:solidFill>
            <a:prstDash val="solid"/>
            <a:tailEnd type="triangle" w="sm" len="sm"/>
          </a:ln>
        </p:spPr>
      </p:cxnSp>
      <p:cxnSp>
        <p:nvCxnSpPr>
          <p:cNvPr id="29" name="Straight Arrow Connector 28"/>
          <p:cNvCxnSpPr>
            <a:stCxn id="6" idx="3"/>
            <a:endCxn id="9" idx="1"/>
          </p:cNvCxnSpPr>
          <p:nvPr/>
        </p:nvCxnSpPr>
        <p:spPr>
          <a:xfrm flipV="1">
            <a:off x="7429500" y="2247900"/>
            <a:ext cx="1809750" cy="847725"/>
          </a:xfrm>
          <a:prstGeom prst="straightConnector1">
            <a:avLst/>
          </a:prstGeom>
          <a:ln w="28575">
            <a:solidFill>
              <a:srgbClr val="20B7C5"/>
            </a:solidFill>
            <a:prstDash val="solid"/>
            <a:tailEnd type="triangle" w="sm" len="sm"/>
          </a:ln>
        </p:spPr>
      </p:cxnSp>
      <p:cxnSp>
        <p:nvCxnSpPr>
          <p:cNvPr id="30" name="Straight Arrow Connector 29"/>
          <p:cNvCxnSpPr>
            <a:stCxn id="6" idx="3"/>
            <a:endCxn id="10" idx="1"/>
          </p:cNvCxnSpPr>
          <p:nvPr/>
        </p:nvCxnSpPr>
        <p:spPr>
          <a:xfrm>
            <a:off x="7429500" y="3095625"/>
            <a:ext cx="1809750" cy="1247775"/>
          </a:xfrm>
          <a:prstGeom prst="straightConnector1">
            <a:avLst/>
          </a:prstGeom>
          <a:ln w="28575">
            <a:solidFill>
              <a:srgbClr val="E9A23B"/>
            </a:solidFill>
            <a:prstDash val="solid"/>
            <a:tailEnd type="triangle" w="sm" len="sm"/>
          </a:ln>
        </p:spPr>
      </p:cxnSp>
      <p:sp>
        <p:nvSpPr>
          <p:cNvPr id="15" name="text-19">
            <a:extLst>
              <a:ext uri="{FF2B5EF4-FFF2-40B4-BE49-F238E27FC236}">
                <a16:creationId xmlns:a16="http://schemas.microsoft.com/office/drawing/2014/main" id="{AFFAF025-4E91-40CA-BD30-D5EF1529C583}"/>
              </a:ext>
            </a:extLst>
          </p:cNvPr>
          <p:cNvSpPr>
            <a:spLocks noGrp="1"/>
          </p:cNvSpPr>
          <p:nvPr/>
        </p:nvSpPr>
        <p:spPr>
          <a:xfrm>
            <a:off x="2647950" y="5095875"/>
            <a:ext cx="6896100" cy="533400"/>
          </a:xfrm>
          <a:prstGeom prst="rect">
            <a:avLst/>
          </a:prstGeom>
          <a:noFill/>
          <a:ln w="0">
            <a:noFill/>
            <a:prstDash val="solid"/>
          </a:ln>
        </p:spPr>
        <p:txBody>
          <a:bodyPr wrap="square" lIns="38100" tIns="38100" rIns="38100" bIns="38100" anchor="ctr">
            <a:noAutofit/>
          </a:bodyPr>
          <a:lstStyle/>
          <a:p>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a:ext uri="{FF2B5EF4-FFF2-40B4-BE49-F238E27FC236}">
                <a16:creationId xmlns:a16="http://schemas.microsoft.com/office/drawing/2014/main" id="{52C2E410-3595-4ED2-9D42-08A2FD3360C0}"/>
              </a:ext>
            </a:extLst>
          </p:cNvPr>
          <p:cNvSpPr>
            <a:spLocks noGrp="1"/>
          </p:cNvSpPr>
          <p:nvPr/>
        </p:nvSpPr>
        <p:spPr>
          <a:xfrm>
            <a:off x="4762500" y="3952875"/>
            <a:ext cx="2667000" cy="228600"/>
          </a:xfrm>
          <a:prstGeom prst="rect">
            <a:avLst/>
          </a:prstGeom>
          <a:noFill/>
          <a:ln w="0">
            <a:noFill/>
            <a:prstDash val="solid"/>
          </a:ln>
        </p:spPr>
        <p:txBody>
          <a:bodyPr wrap="square" lIns="38100" tIns="38100" rIns="38100" bIns="38100" anchor="t">
            <a:noAutofit/>
          </a:bodyPr>
          <a:lstStyle/>
          <a:p>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13" name="section-20">
            <a:extLst>
              <a:ext uri="{FF2B5EF4-FFF2-40B4-BE49-F238E27FC236}">
                <a16:creationId xmlns:a16="http://schemas.microsoft.com/office/drawing/2014/main" id="{A11A59CD-4E44-4DDB-8FC6-8CC7EC48FE90}"/>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a:ext uri="{FF2B5EF4-FFF2-40B4-BE49-F238E27FC236}">
                <a16:creationId xmlns:a16="http://schemas.microsoft.com/office/drawing/2014/main" id="{50957822-C261-4495-95B3-78AED16F3851}"/>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Navigate the entire aerospace evidence chain</a:t>
            </a:r>
          </a:p>
        </p:txBody>
      </p:sp>
      <p:sp>
        <p:nvSpPr>
          <p:cNvPr id="3" name="line-21">
            <a:extLst>
              <a:ext uri="{FF2B5EF4-FFF2-40B4-BE49-F238E27FC236}">
                <a16:creationId xmlns:a16="http://schemas.microsoft.com/office/drawing/2014/main" id="{D22B8537-33D7-4277-8DE3-FB485EB7158C}"/>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22">
            <a:extLst>
              <a:ext uri="{FF2B5EF4-FFF2-40B4-BE49-F238E27FC236}">
                <a16:creationId xmlns:a16="http://schemas.microsoft.com/office/drawing/2014/main" id="{DC3553AF-F21C-4ABF-BA12-A4CF86480AF8}"/>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a:ext uri="{FF2B5EF4-FFF2-40B4-BE49-F238E27FC236}">
                <a16:creationId xmlns:a16="http://schemas.microsoft.com/office/drawing/2014/main" id="{259BF12E-66FF-4C2A-A903-7CB6293A0613}"/>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a:ext uri="{FF2B5EF4-FFF2-40B4-BE49-F238E27FC236}">
                <a16:creationId xmlns:a16="http://schemas.microsoft.com/office/drawing/2014/main" id="{AA438571-D9D1-471E-AA88-C446F1322C99}"/>
              </a:ext>
            </a:extLst>
          </p:cNvPr>
          <p:cNvSpPr>
            <a:spLocks noGrp="1"/>
          </p:cNvSpPr>
          <p:nvPr/>
        </p:nvSpPr>
        <p:spPr>
          <a:xfrm>
            <a:off x="800100" y="1676400"/>
            <a:ext cx="6572250" cy="2857500"/>
          </a:xfrm>
          <a:prstGeom prst="rect">
            <a:avLst/>
          </a:prstGeom>
          <a:noFill/>
          <a:ln w="0">
            <a:noFill/>
            <a:prstDash val="solid"/>
          </a:ln>
        </p:spPr>
        <p:txBody>
          <a:bodyPr wrap="square" lIns="19050" tIns="0" rIns="19050" bIns="0" anchor="t">
            <a:noAutofit/>
          </a:bodyPr>
          <a:lstStyle/>
          <a:p>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Read a model — identify blocks, signals, hierarchy, buses, parameters, and timing</a:t>
            </a:r>
          </a:p>
          <a:p>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Build a component — turn a testable control requirement into a reviewable subsystem</a:t>
            </a:r>
          </a:p>
          <a:p>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Verify behavior — create harnesses, test cases, callbacks, and traceable results</a:t>
            </a:r>
          </a:p>
          <a:p>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Integrate with confidence — interpret compile, Jenkins, and HIL outcomes as evidence</a:t>
            </a:r>
          </a:p>
        </p:txBody>
      </p:sp>
      <p:sp>
        <p:nvSpPr>
          <p:cNvPr id="7" name="box-25">
            <a:extLst>
              <a:ext uri="{FF2B5EF4-FFF2-40B4-BE49-F238E27FC236}">
                <a16:creationId xmlns:a16="http://schemas.microsoft.com/office/drawing/2014/main" id="{F64BA3F6-72F9-49DA-9761-E25998217D04}"/>
              </a:ext>
            </a:extLst>
          </p:cNvPr>
          <p:cNvSpPr>
            <a:spLocks noGrp="1"/>
          </p:cNvSpPr>
          <p:nvPr/>
        </p:nvSpPr>
        <p:spPr>
          <a:xfrm>
            <a:off x="8096250" y="1600200"/>
            <a:ext cx="3238500" cy="533400"/>
          </a:xfrm>
          <a:prstGeom prst="roundRect">
            <a:avLst>
              <a:gd name="adj" fmla="val 17857"/>
            </a:avLst>
          </a:prstGeom>
          <a:solidFill>
            <a:srgbClr val="20B7C5"/>
          </a:solidFill>
          <a:ln w="9525">
            <a:solidFill>
              <a:srgbClr val="70DCE5"/>
            </a:solidFill>
            <a:prstDash val="solid"/>
          </a:ln>
        </p:spPr>
        <p:txBody>
          <a:bodyPr lIns="171450" tIns="38100" rIns="114300" bIns="38100" anchor="ctr">
            <a:noAutofit/>
          </a:bodyPr>
          <a:lstStyle/>
          <a:p>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LANGUAGE</a:t>
            </a:r>
          </a:p>
        </p:txBody>
      </p:sp>
      <p:sp>
        <p:nvSpPr>
          <p:cNvPr id="8" name="box-26">
            <a:extLst>
              <a:ext uri="{FF2B5EF4-FFF2-40B4-BE49-F238E27FC236}">
                <a16:creationId xmlns:a16="http://schemas.microsoft.com/office/drawing/2014/main" id="{E192F255-6CFE-423E-8171-4D95D1ECAAAA}"/>
              </a:ext>
            </a:extLst>
          </p:cNvPr>
          <p:cNvSpPr>
            <a:spLocks noGrp="1"/>
          </p:cNvSpPr>
          <p:nvPr/>
        </p:nvSpPr>
        <p:spPr>
          <a:xfrm>
            <a:off x="8096250" y="2343150"/>
            <a:ext cx="3238500" cy="533400"/>
          </a:xfrm>
          <a:prstGeom prst="roundRect">
            <a:avLst>
              <a:gd name="adj" fmla="val 17857"/>
            </a:avLst>
          </a:prstGeom>
          <a:solidFill>
            <a:srgbClr val="0B2438"/>
          </a:solidFill>
          <a:ln w="9525">
            <a:solidFill>
              <a:srgbClr val="143A55"/>
            </a:solidFill>
            <a:prstDash val="solid"/>
          </a:ln>
        </p:spPr>
        <p:txBody>
          <a:bodyPr lIns="171450" tIns="38100" rIns="114300" bIns="38100" anchor="ctr">
            <a:noAutofit/>
          </a:bodyPr>
          <a:lstStyle/>
          <a:p>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CONTROL LAWS</a:t>
            </a:r>
          </a:p>
        </p:txBody>
      </p:sp>
      <p:sp>
        <p:nvSpPr>
          <p:cNvPr id="9" name="box-27">
            <a:extLst>
              <a:ext uri="{FF2B5EF4-FFF2-40B4-BE49-F238E27FC236}">
                <a16:creationId xmlns:a16="http://schemas.microsoft.com/office/drawing/2014/main" id="{D3B12475-01C3-44AC-8DBC-ADB2A28BEC16}"/>
              </a:ext>
            </a:extLst>
          </p:cNvPr>
          <p:cNvSpPr>
            <a:spLocks noGrp="1"/>
          </p:cNvSpPr>
          <p:nvPr/>
        </p:nvSpPr>
        <p:spPr>
          <a:xfrm>
            <a:off x="8096250" y="3086100"/>
            <a:ext cx="3238500" cy="533400"/>
          </a:xfrm>
          <a:prstGeom prst="roundRect">
            <a:avLst>
              <a:gd name="adj" fmla="val 17857"/>
            </a:avLst>
          </a:prstGeom>
          <a:solidFill>
            <a:srgbClr val="0B2438"/>
          </a:solidFill>
          <a:ln w="9525">
            <a:solidFill>
              <a:srgbClr val="143A55"/>
            </a:solidFill>
            <a:prstDash val="solid"/>
          </a:ln>
        </p:spPr>
        <p:txBody>
          <a:bodyPr lIns="171450" tIns="38100" rIns="114300" bIns="38100" anchor="ctr">
            <a:noAutofit/>
          </a:bodyPr>
          <a:lstStyle/>
          <a:p>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ASSURANCE</a:t>
            </a:r>
          </a:p>
        </p:txBody>
      </p:sp>
      <p:sp>
        <p:nvSpPr>
          <p:cNvPr id="10" name="box-28">
            <a:extLst>
              <a:ext uri="{FF2B5EF4-FFF2-40B4-BE49-F238E27FC236}">
                <a16:creationId xmlns:a16="http://schemas.microsoft.com/office/drawing/2014/main" id="{62C7045B-E32A-44F5-A79F-59AE4772F83C}"/>
              </a:ext>
            </a:extLst>
          </p:cNvPr>
          <p:cNvSpPr>
            <a:spLocks noGrp="1"/>
          </p:cNvSpPr>
          <p:nvPr/>
        </p:nvSpPr>
        <p:spPr>
          <a:xfrm>
            <a:off x="8096250" y="3829050"/>
            <a:ext cx="3238500" cy="533400"/>
          </a:xfrm>
          <a:prstGeom prst="roundRect">
            <a:avLst>
              <a:gd name="adj" fmla="val 17857"/>
            </a:avLst>
          </a:prstGeom>
          <a:solidFill>
            <a:srgbClr val="0B2438"/>
          </a:solidFill>
          <a:ln w="9525">
            <a:solidFill>
              <a:srgbClr val="143A55"/>
            </a:solidFill>
            <a:prstDash val="solid"/>
          </a:ln>
        </p:spPr>
        <p:txBody>
          <a:bodyPr lIns="171450" tIns="38100" rIns="114300" bIns="38100" anchor="ctr">
            <a:noAutofit/>
          </a:bodyPr>
          <a:lstStyle/>
          <a:p>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AUTOMATION</a:t>
            </a:r>
          </a:p>
        </p:txBody>
      </p:sp>
      <p:sp>
        <p:nvSpPr>
          <p:cNvPr id="11" name="box-29">
            <a:extLst>
              <a:ext uri="{FF2B5EF4-FFF2-40B4-BE49-F238E27FC236}">
                <a16:creationId xmlns:a16="http://schemas.microsoft.com/office/drawing/2014/main" id="{661A1047-6DAF-4542-B5E7-6ED1A4BDE75A}"/>
              </a:ext>
            </a:extLst>
          </p:cNvPr>
          <p:cNvSpPr>
            <a:spLocks noGrp="1"/>
          </p:cNvSpPr>
          <p:nvPr/>
        </p:nvSpPr>
        <p:spPr>
          <a:xfrm>
            <a:off x="8096250" y="4572000"/>
            <a:ext cx="3238500" cy="533400"/>
          </a:xfrm>
          <a:prstGeom prst="roundRect">
            <a:avLst>
              <a:gd name="adj" fmla="val 17857"/>
            </a:avLst>
          </a:prstGeom>
          <a:solidFill>
            <a:srgbClr val="0B2438"/>
          </a:solidFill>
          <a:ln w="9525">
            <a:solidFill>
              <a:srgbClr val="143A55"/>
            </a:solidFill>
            <a:prstDash val="solid"/>
          </a:ln>
        </p:spPr>
        <p:txBody>
          <a:bodyPr lIns="171450" tIns="38100" rIns="114300" bIns="38100" anchor="ctr">
            <a:noAutofit/>
          </a:bodyPr>
          <a:lstStyle/>
          <a:p>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HIL + EVIDENCE</a:t>
            </a:r>
          </a:p>
        </p:txBody>
      </p:sp>
      <p:sp>
        <p:nvSpPr>
          <p:cNvPr id="12" name="text-30">
            <a:extLst>
              <a:ext uri="{FF2B5EF4-FFF2-40B4-BE49-F238E27FC236}">
                <a16:creationId xmlns:a16="http://schemas.microsoft.com/office/drawing/2014/main" id="{5AC44D38-2825-475A-90E1-BDFA09584ECD}"/>
              </a:ext>
            </a:extLst>
          </p:cNvPr>
          <p:cNvSpPr>
            <a:spLocks noGrp="1"/>
          </p:cNvSpPr>
          <p:nvPr/>
        </p:nvSpPr>
        <p:spPr>
          <a:xfrm>
            <a:off x="800100" y="5143500"/>
            <a:ext cx="10382250" cy="609600"/>
          </a:xfrm>
          <a:prstGeom prst="rect">
            <a:avLst/>
          </a:prstGeom>
          <a:noFill/>
          <a:ln w="0">
            <a:noFill/>
            <a:prstDash val="solid"/>
          </a:ln>
        </p:spPr>
        <p:txBody>
          <a:bodyPr wrap="square" lIns="38100" tIns="38100" rIns="38100" bIns="38100" anchor="ctr">
            <a:noAutofit/>
          </a:bodyPr>
          <a:lstStyle/>
          <a:p>
            <a:pPr algn="ctr">
              <a:lnSpc>
                <a:spcPct val="105000"/>
              </a:lnSpc>
              <a:buNone/>
              <a:defRPr sz="2100" b="1" i="0">
                <a:solidFill>
                  <a:srgbClr val="70DCE5"/>
                </a:solidFill>
                <a:latin typeface="Aptos"/>
                <a:ea typeface="Aptos"/>
                <a:cs typeface="Aptos"/>
              </a:defRPr>
            </a:pPr>
            <a:r>
              <a:rPr sz="2100" b="1" i="0">
                <a:solidFill>
                  <a:srgbClr val="70DCE5"/>
                </a:solidFill>
                <a:latin typeface="Aptos"/>
                <a:ea typeface="Aptos"/>
                <a:cs typeface="Aptos"/>
              </a:rPr>
              <a:t>Keep asking: What requirement does this element implement, and what result proves it?</a:t>
            </a:r>
          </a:p>
        </p:txBody>
      </p:sp>
    </p:spTree>
    <p:extLst>
      <p:ext uri="{BB962C8B-B14F-4D97-AF65-F5344CB8AC3E}">
        <p14:creationId xmlns:p14="http://schemas.microsoft.com/office/powerpoint/2010/main" val="88842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2" name="section-30">
            <a:extLst>
              <a:ext uri="{FF2B5EF4-FFF2-40B4-BE49-F238E27FC236}">
                <a16:creationId xmlns:a16="http://schemas.microsoft.com/office/drawing/2014/main" id="{209F2F4C-DE79-4F56-974B-0F965786C992}"/>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a:ext uri="{FF2B5EF4-FFF2-40B4-BE49-F238E27FC236}">
                <a16:creationId xmlns:a16="http://schemas.microsoft.com/office/drawing/2014/main" id="{DFA293E7-5425-418E-A394-D6A968B0E073}"/>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a:ext uri="{FF2B5EF4-FFF2-40B4-BE49-F238E27FC236}">
                <a16:creationId xmlns:a16="http://schemas.microsoft.com/office/drawing/2014/main" id="{B90AABD0-0F0F-4DCF-BC87-B15E5D7922B8}"/>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32">
            <a:extLst>
              <a:ext uri="{FF2B5EF4-FFF2-40B4-BE49-F238E27FC236}">
                <a16:creationId xmlns:a16="http://schemas.microsoft.com/office/drawing/2014/main" id="{ACD4C613-28EE-444C-8C96-E3A87E250505}"/>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a:ext uri="{FF2B5EF4-FFF2-40B4-BE49-F238E27FC236}">
                <a16:creationId xmlns:a16="http://schemas.microsoft.com/office/drawing/2014/main" id="{2B38A077-F518-4551-84BE-0BD0DE1C09ED}"/>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a:ext uri="{FF2B5EF4-FFF2-40B4-BE49-F238E27FC236}">
                <a16:creationId xmlns:a16="http://schemas.microsoft.com/office/drawing/2014/main" id="{73C14DEC-BE99-4F7A-ADE8-8341565592B3}"/>
              </a:ext>
            </a:extLst>
          </p:cNvPr>
          <p:cNvSpPr>
            <a:spLocks noGrp="1"/>
          </p:cNvSpPr>
          <p:nvPr/>
        </p:nvSpPr>
        <p:spPr>
          <a:xfrm>
            <a:off x="857250" y="1619250"/>
            <a:ext cx="3429000" cy="476250"/>
          </a:xfrm>
          <a:prstGeom prst="rect">
            <a:avLst/>
          </a:prstGeom>
          <a:noFill/>
          <a:ln w="0">
            <a:noFill/>
            <a:prstDash val="solid"/>
          </a:ln>
        </p:spPr>
        <p:txBody>
          <a:bodyPr wrap="square" lIns="38100" tIns="38100" rIns="38100" bIns="38100" anchor="t">
            <a:noAutofit/>
          </a:bodyPr>
          <a:lstStyle/>
          <a:p>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a:ext uri="{FF2B5EF4-FFF2-40B4-BE49-F238E27FC236}">
                <a16:creationId xmlns:a16="http://schemas.microsoft.com/office/drawing/2014/main" id="{2735EE3B-08C2-4B2C-BBE9-989A7F5F0ED8}"/>
              </a:ext>
            </a:extLst>
          </p:cNvPr>
          <p:cNvSpPr>
            <a:spLocks noGrp="1"/>
          </p:cNvSpPr>
          <p:nvPr/>
        </p:nvSpPr>
        <p:spPr>
          <a:xfrm>
            <a:off x="6858000" y="1619250"/>
            <a:ext cx="3619500" cy="476250"/>
          </a:xfrm>
          <a:prstGeom prst="rect">
            <a:avLst/>
          </a:prstGeom>
          <a:noFill/>
          <a:ln w="0">
            <a:noFill/>
            <a:prstDash val="solid"/>
          </a:ln>
        </p:spPr>
        <p:txBody>
          <a:bodyPr wrap="square" lIns="38100" tIns="38100" rIns="38100" bIns="38100" anchor="t">
            <a:noAutofit/>
          </a:bodyPr>
          <a:lstStyle/>
          <a:p>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a:ext uri="{FF2B5EF4-FFF2-40B4-BE49-F238E27FC236}">
                <a16:creationId xmlns:a16="http://schemas.microsoft.com/office/drawing/2014/main" id="{28C46C5E-08EA-4D80-BF5D-2E24751DFF88}"/>
              </a:ext>
            </a:extLst>
          </p:cNvPr>
          <p:cNvSpPr>
            <a:spLocks noGrp="1"/>
          </p:cNvSpPr>
          <p:nvPr/>
        </p:nvSpPr>
        <p:spPr>
          <a:xfrm>
            <a:off x="6096000" y="1600200"/>
            <a:ext cx="0" cy="3238500"/>
          </a:xfrm>
          <a:prstGeom prst="line">
            <a:avLst/>
          </a:prstGeom>
          <a:noFill/>
          <a:ln w="19050">
            <a:solidFill>
              <a:srgbClr val="C9D8E3"/>
            </a:solidFill>
            <a:prstDash val="solid"/>
          </a:ln>
        </p:spPr>
      </p:sp>
      <p:sp>
        <p:nvSpPr>
          <p:cNvPr id="9" name="text-37">
            <a:extLst>
              <a:ext uri="{FF2B5EF4-FFF2-40B4-BE49-F238E27FC236}">
                <a16:creationId xmlns:a16="http://schemas.microsoft.com/office/drawing/2014/main" id="{5D0AB1E5-A815-4B03-8030-21FA26481682}"/>
              </a:ext>
            </a:extLst>
          </p:cNvPr>
          <p:cNvSpPr>
            <a:spLocks noGrp="1"/>
          </p:cNvSpPr>
          <p:nvPr/>
        </p:nvSpPr>
        <p:spPr>
          <a:xfrm>
            <a:off x="819150" y="2286000"/>
            <a:ext cx="4476750" cy="2095500"/>
          </a:xfrm>
          <a:prstGeom prst="rect">
            <a:avLst/>
          </a:prstGeom>
          <a:noFill/>
          <a:ln w="0">
            <a:noFill/>
            <a:prstDash val="solid"/>
          </a:ln>
        </p:spPr>
        <p:txBody>
          <a:bodyPr wrap="square" lIns="19050" tIns="0" rIns="19050" bIns="0" anchor="t">
            <a:noAutofit/>
          </a:bodyPr>
          <a:lstStyle/>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a:ext uri="{FF2B5EF4-FFF2-40B4-BE49-F238E27FC236}">
                <a16:creationId xmlns:a16="http://schemas.microsoft.com/office/drawing/2014/main" id="{B2F47B8C-6E42-464D-AF53-026999F06CE5}"/>
              </a:ext>
            </a:extLst>
          </p:cNvPr>
          <p:cNvSpPr>
            <a:spLocks noGrp="1"/>
          </p:cNvSpPr>
          <p:nvPr/>
        </p:nvSpPr>
        <p:spPr>
          <a:xfrm>
            <a:off x="6800850" y="2286000"/>
            <a:ext cx="4572000" cy="2095500"/>
          </a:xfrm>
          <a:prstGeom prst="rect">
            <a:avLst/>
          </a:prstGeom>
          <a:noFill/>
          <a:ln w="0">
            <a:noFill/>
            <a:prstDash val="solid"/>
          </a:ln>
        </p:spPr>
        <p:txBody>
          <a:bodyPr wrap="square" lIns="19050" tIns="0" rIns="19050" bIns="0" anchor="t">
            <a:noAutofit/>
          </a:bodyPr>
          <a:lstStyle/>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a:ext uri="{FF2B5EF4-FFF2-40B4-BE49-F238E27FC236}">
                <a16:creationId xmlns:a16="http://schemas.microsoft.com/office/drawing/2014/main" id="{93CE28BB-5447-4B4A-82BA-BBAEFE97F9AC}"/>
              </a:ext>
            </a:extLst>
          </p:cNvPr>
          <p:cNvSpPr>
            <a:spLocks noGrp="1"/>
          </p:cNvSpPr>
          <p:nvPr/>
        </p:nvSpPr>
        <p:spPr>
          <a:xfrm>
            <a:off x="1524000" y="4953000"/>
            <a:ext cx="9144000" cy="666750"/>
          </a:xfrm>
          <a:prstGeom prst="roundRect">
            <a:avLst>
              <a:gd name="adj" fmla="val 14286"/>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section-39">
            <a:extLst>
              <a:ext uri="{FF2B5EF4-FFF2-40B4-BE49-F238E27FC236}">
                <a16:creationId xmlns:a16="http://schemas.microsoft.com/office/drawing/2014/main" id="{7B22C228-EDF9-4D40-89F0-D80EF6B6D81C}"/>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a:ext uri="{FF2B5EF4-FFF2-40B4-BE49-F238E27FC236}">
                <a16:creationId xmlns:a16="http://schemas.microsoft.com/office/drawing/2014/main" id="{4A8105EB-3279-4423-80B5-613E6E267C5B}"/>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Simulink project is more than the model</a:t>
            </a:r>
          </a:p>
        </p:txBody>
      </p:sp>
      <p:sp>
        <p:nvSpPr>
          <p:cNvPr id="3" name="line-40">
            <a:extLst>
              <a:ext uri="{FF2B5EF4-FFF2-40B4-BE49-F238E27FC236}">
                <a16:creationId xmlns:a16="http://schemas.microsoft.com/office/drawing/2014/main" id="{D61265E4-C954-49D0-92C6-850F898A11B4}"/>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41">
            <a:extLst>
              <a:ext uri="{FF2B5EF4-FFF2-40B4-BE49-F238E27FC236}">
                <a16:creationId xmlns:a16="http://schemas.microsoft.com/office/drawing/2014/main" id="{925F3177-FA1E-4CEB-B1BD-510B77D35C5F}"/>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a:ext uri="{FF2B5EF4-FFF2-40B4-BE49-F238E27FC236}">
                <a16:creationId xmlns:a16="http://schemas.microsoft.com/office/drawing/2014/main" id="{D43AE519-D5F6-4779-8D80-9E460471A499}"/>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a:ext uri="{FF2B5EF4-FFF2-40B4-BE49-F238E27FC236}">
                <a16:creationId xmlns:a16="http://schemas.microsoft.com/office/drawing/2014/main" id="{2F493ACD-FE23-4AE2-B100-FA28BD8217DE}"/>
              </a:ext>
            </a:extLst>
          </p:cNvPr>
          <p:cNvSpPr>
            <a:spLocks noGrp="1"/>
          </p:cNvSpPr>
          <p:nvPr/>
        </p:nvSpPr>
        <p:spPr>
          <a:xfrm>
            <a:off x="685800" y="1504950"/>
            <a:ext cx="1524000" cy="26670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FILE</a:t>
            </a:r>
          </a:p>
        </p:txBody>
      </p:sp>
      <p:sp>
        <p:nvSpPr>
          <p:cNvPr id="7" name="text-44">
            <a:extLst>
              <a:ext uri="{FF2B5EF4-FFF2-40B4-BE49-F238E27FC236}">
                <a16:creationId xmlns:a16="http://schemas.microsoft.com/office/drawing/2014/main" id="{8A28FF2F-949D-4BEF-8E19-936D4A1FD417}"/>
              </a:ext>
            </a:extLst>
          </p:cNvPr>
          <p:cNvSpPr>
            <a:spLocks noGrp="1"/>
          </p:cNvSpPr>
          <p:nvPr/>
        </p:nvSpPr>
        <p:spPr>
          <a:xfrm>
            <a:off x="2381250" y="1504950"/>
            <a:ext cx="2857500" cy="26670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PRIMARY ROLE</a:t>
            </a:r>
          </a:p>
        </p:txBody>
      </p:sp>
      <p:sp>
        <p:nvSpPr>
          <p:cNvPr id="8" name="text-45">
            <a:extLst>
              <a:ext uri="{FF2B5EF4-FFF2-40B4-BE49-F238E27FC236}">
                <a16:creationId xmlns:a16="http://schemas.microsoft.com/office/drawing/2014/main" id="{237E6982-8B28-4B28-A9EC-F64B644F9F64}"/>
              </a:ext>
            </a:extLst>
          </p:cNvPr>
          <p:cNvSpPr>
            <a:spLocks noGrp="1"/>
          </p:cNvSpPr>
          <p:nvPr/>
        </p:nvSpPr>
        <p:spPr>
          <a:xfrm>
            <a:off x="5429250" y="1504950"/>
            <a:ext cx="6000750" cy="26670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WHAT YOU WILL DO WITH IT</a:t>
            </a:r>
          </a:p>
        </p:txBody>
      </p:sp>
      <p:sp>
        <p:nvSpPr>
          <p:cNvPr id="9" name="line-46">
            <a:extLst>
              <a:ext uri="{FF2B5EF4-FFF2-40B4-BE49-F238E27FC236}">
                <a16:creationId xmlns:a16="http://schemas.microsoft.com/office/drawing/2014/main" id="{FE96FF62-7105-445F-B987-283DBD5800B3}"/>
              </a:ext>
            </a:extLst>
          </p:cNvPr>
          <p:cNvSpPr>
            <a:spLocks noGrp="1"/>
          </p:cNvSpPr>
          <p:nvPr/>
        </p:nvSpPr>
        <p:spPr>
          <a:xfrm>
            <a:off x="685800" y="2533650"/>
            <a:ext cx="10820400" cy="0"/>
          </a:xfrm>
          <a:prstGeom prst="line">
            <a:avLst/>
          </a:prstGeom>
          <a:noFill/>
          <a:ln w="9525">
            <a:solidFill>
              <a:srgbClr val="C9D8E3"/>
            </a:solidFill>
            <a:prstDash val="solid"/>
          </a:ln>
        </p:spPr>
      </p:sp>
      <p:sp>
        <p:nvSpPr>
          <p:cNvPr id="10" name="text-47">
            <a:extLst>
              <a:ext uri="{FF2B5EF4-FFF2-40B4-BE49-F238E27FC236}">
                <a16:creationId xmlns:a16="http://schemas.microsoft.com/office/drawing/2014/main" id="{D423DCA9-EF15-480B-A599-F6AC875EF519}"/>
              </a:ext>
            </a:extLst>
          </p:cNvPr>
          <p:cNvSpPr>
            <a:spLocks noGrp="1"/>
          </p:cNvSpPr>
          <p:nvPr/>
        </p:nvSpPr>
        <p:spPr>
          <a:xfrm>
            <a:off x="685800" y="1866900"/>
            <a:ext cx="1428750" cy="514350"/>
          </a:xfrm>
          <a:prstGeom prst="rect">
            <a:avLst/>
          </a:prstGeom>
          <a:noFill/>
          <a:ln w="0">
            <a:noFill/>
            <a:prstDash val="solid"/>
          </a:ln>
        </p:spPr>
        <p:txBody>
          <a:bodyPr wrap="square" lIns="38100" tIns="38100" rIns="38100" bIns="38100" anchor="ctr">
            <a:noAutofit/>
          </a:bodyPr>
          <a:lstStyle/>
          <a:p>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.slx</a:t>
            </a:r>
          </a:p>
        </p:txBody>
      </p:sp>
      <p:sp>
        <p:nvSpPr>
          <p:cNvPr id="11" name="text-48">
            <a:extLst>
              <a:ext uri="{FF2B5EF4-FFF2-40B4-BE49-F238E27FC236}">
                <a16:creationId xmlns:a16="http://schemas.microsoft.com/office/drawing/2014/main" id="{99752240-8DF1-4012-972F-350D46E96A4E}"/>
              </a:ext>
            </a:extLst>
          </p:cNvPr>
          <p:cNvSpPr>
            <a:spLocks noGrp="1"/>
          </p:cNvSpPr>
          <p:nvPr/>
        </p:nvSpPr>
        <p:spPr>
          <a:xfrm>
            <a:off x="2381250" y="1866900"/>
            <a:ext cx="2857500" cy="514350"/>
          </a:xfrm>
          <a:prstGeom prst="rect">
            <a:avLst/>
          </a:prstGeom>
          <a:noFill/>
          <a:ln w="0">
            <a:noFill/>
            <a:prstDash val="solid"/>
          </a:ln>
        </p:spPr>
        <p:txBody>
          <a:bodyPr wrap="square" lIns="38100" tIns="38100" rIns="38100" bIns="38100" anchor="ctr">
            <a:noAutofit/>
          </a:bodyPr>
          <a:lstStyle/>
          <a:p>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model</a:t>
            </a:r>
          </a:p>
        </p:txBody>
      </p:sp>
      <p:sp>
        <p:nvSpPr>
          <p:cNvPr id="12" name="text-49">
            <a:extLst>
              <a:ext uri="{FF2B5EF4-FFF2-40B4-BE49-F238E27FC236}">
                <a16:creationId xmlns:a16="http://schemas.microsoft.com/office/drawing/2014/main" id="{0B2D5B0B-A78C-4F93-83C4-E4B4962E49ED}"/>
              </a:ext>
            </a:extLst>
          </p:cNvPr>
          <p:cNvSpPr>
            <a:spLocks noGrp="1"/>
          </p:cNvSpPr>
          <p:nvPr/>
        </p:nvSpPr>
        <p:spPr>
          <a:xfrm>
            <a:off x="5429250" y="1866900"/>
            <a:ext cx="5953125" cy="5715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Open, edit, simulate, compile/update, reference, and review</a:t>
            </a:r>
          </a:p>
        </p:txBody>
      </p:sp>
      <p:sp>
        <p:nvSpPr>
          <p:cNvPr id="13" name="line-50">
            <a:extLst>
              <a:ext uri="{FF2B5EF4-FFF2-40B4-BE49-F238E27FC236}">
                <a16:creationId xmlns:a16="http://schemas.microsoft.com/office/drawing/2014/main" id="{98C16CE9-D7E8-490C-9A1B-F53A9FF7158D}"/>
              </a:ext>
            </a:extLst>
          </p:cNvPr>
          <p:cNvSpPr>
            <a:spLocks noGrp="1"/>
          </p:cNvSpPr>
          <p:nvPr/>
        </p:nvSpPr>
        <p:spPr>
          <a:xfrm>
            <a:off x="685800" y="3314700"/>
            <a:ext cx="10820400" cy="0"/>
          </a:xfrm>
          <a:prstGeom prst="line">
            <a:avLst/>
          </a:prstGeom>
          <a:noFill/>
          <a:ln w="9525">
            <a:solidFill>
              <a:srgbClr val="C9D8E3"/>
            </a:solidFill>
            <a:prstDash val="solid"/>
          </a:ln>
        </p:spPr>
      </p:sp>
      <p:sp>
        <p:nvSpPr>
          <p:cNvPr id="14" name="text-51">
            <a:extLst>
              <a:ext uri="{FF2B5EF4-FFF2-40B4-BE49-F238E27FC236}">
                <a16:creationId xmlns:a16="http://schemas.microsoft.com/office/drawing/2014/main" id="{E3F76D13-A7D7-43AA-871F-5A459FF83FC6}"/>
              </a:ext>
            </a:extLst>
          </p:cNvPr>
          <p:cNvSpPr>
            <a:spLocks noGrp="1"/>
          </p:cNvSpPr>
          <p:nvPr/>
        </p:nvSpPr>
        <p:spPr>
          <a:xfrm>
            <a:off x="685800" y="2647950"/>
            <a:ext cx="1428750" cy="514350"/>
          </a:xfrm>
          <a:prstGeom prst="rect">
            <a:avLst/>
          </a:prstGeom>
          <a:noFill/>
          <a:ln w="0">
            <a:noFill/>
            <a:prstDash val="solid"/>
          </a:ln>
        </p:spPr>
        <p:txBody>
          <a:bodyPr wrap="square" lIns="38100" tIns="38100" rIns="38100" bIns="38100" anchor="ctr">
            <a:noAutofit/>
          </a:bodyPr>
          <a:lstStyle/>
          <a:p>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a:t>
            </a:r>
          </a:p>
        </p:txBody>
      </p:sp>
      <p:sp>
        <p:nvSpPr>
          <p:cNvPr id="15" name="text-52">
            <a:extLst>
              <a:ext uri="{FF2B5EF4-FFF2-40B4-BE49-F238E27FC236}">
                <a16:creationId xmlns:a16="http://schemas.microsoft.com/office/drawing/2014/main" id="{A0033C3F-6442-4B86-8AAC-7FFBBF9D0C7D}"/>
              </a:ext>
            </a:extLst>
          </p:cNvPr>
          <p:cNvSpPr>
            <a:spLocks noGrp="1"/>
          </p:cNvSpPr>
          <p:nvPr/>
        </p:nvSpPr>
        <p:spPr>
          <a:xfrm>
            <a:off x="2381250" y="2647950"/>
            <a:ext cx="2857500" cy="514350"/>
          </a:xfrm>
          <a:prstGeom prst="rect">
            <a:avLst/>
          </a:prstGeom>
          <a:noFill/>
          <a:ln w="0">
            <a:noFill/>
            <a:prstDash val="solid"/>
          </a:ln>
        </p:spPr>
        <p:txBody>
          <a:bodyPr wrap="square" lIns="38100" tIns="38100" rIns="38100" bIns="38100" anchor="ctr">
            <a:noAutofit/>
          </a:bodyPr>
          <a:lstStyle/>
          <a:p>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code</a:t>
            </a:r>
          </a:p>
        </p:txBody>
      </p:sp>
      <p:sp>
        <p:nvSpPr>
          <p:cNvPr id="16" name="text-53">
            <a:extLst>
              <a:ext uri="{FF2B5EF4-FFF2-40B4-BE49-F238E27FC236}">
                <a16:creationId xmlns:a16="http://schemas.microsoft.com/office/drawing/2014/main" id="{4E4B721F-4AE4-46E2-B159-BF98ED8B69A0}"/>
              </a:ext>
            </a:extLst>
          </p:cNvPr>
          <p:cNvSpPr>
            <a:spLocks noGrp="1"/>
          </p:cNvSpPr>
          <p:nvPr/>
        </p:nvSpPr>
        <p:spPr>
          <a:xfrm>
            <a:off x="5429250" y="2647950"/>
            <a:ext cx="5953125" cy="5715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Automate builds/tests, define functions, callbacks, analyses, and reports</a:t>
            </a:r>
          </a:p>
        </p:txBody>
      </p:sp>
      <p:sp>
        <p:nvSpPr>
          <p:cNvPr id="17" name="line-54">
            <a:extLst>
              <a:ext uri="{FF2B5EF4-FFF2-40B4-BE49-F238E27FC236}">
                <a16:creationId xmlns:a16="http://schemas.microsoft.com/office/drawing/2014/main" id="{CFAA708E-3565-4799-BF14-F52A7A926CA6}"/>
              </a:ext>
            </a:extLst>
          </p:cNvPr>
          <p:cNvSpPr>
            <a:spLocks noGrp="1"/>
          </p:cNvSpPr>
          <p:nvPr/>
        </p:nvSpPr>
        <p:spPr>
          <a:xfrm>
            <a:off x="685800" y="4095750"/>
            <a:ext cx="10820400" cy="0"/>
          </a:xfrm>
          <a:prstGeom prst="line">
            <a:avLst/>
          </a:prstGeom>
          <a:noFill/>
          <a:ln w="9525">
            <a:solidFill>
              <a:srgbClr val="C9D8E3"/>
            </a:solidFill>
            <a:prstDash val="solid"/>
          </a:ln>
        </p:spPr>
      </p:sp>
      <p:sp>
        <p:nvSpPr>
          <p:cNvPr id="18" name="text-55">
            <a:extLst>
              <a:ext uri="{FF2B5EF4-FFF2-40B4-BE49-F238E27FC236}">
                <a16:creationId xmlns:a16="http://schemas.microsoft.com/office/drawing/2014/main" id="{130234CC-6A13-49AE-838B-03155F3C5A21}"/>
              </a:ext>
            </a:extLst>
          </p:cNvPr>
          <p:cNvSpPr>
            <a:spLocks noGrp="1"/>
          </p:cNvSpPr>
          <p:nvPr/>
        </p:nvSpPr>
        <p:spPr>
          <a:xfrm>
            <a:off x="685800" y="3429000"/>
            <a:ext cx="1428750" cy="514350"/>
          </a:xfrm>
          <a:prstGeom prst="rect">
            <a:avLst/>
          </a:prstGeom>
          <a:noFill/>
          <a:ln w="0">
            <a:noFill/>
            <a:prstDash val="solid"/>
          </a:ln>
        </p:spPr>
        <p:txBody>
          <a:bodyPr wrap="square" lIns="38100" tIns="38100" rIns="38100" bIns="38100" anchor="ctr">
            <a:noAutofit/>
          </a:bodyPr>
          <a:lstStyle/>
          <a:p>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.mlx</a:t>
            </a:r>
          </a:p>
        </p:txBody>
      </p:sp>
      <p:sp>
        <p:nvSpPr>
          <p:cNvPr id="19" name="text-56">
            <a:extLst>
              <a:ext uri="{FF2B5EF4-FFF2-40B4-BE49-F238E27FC236}">
                <a16:creationId xmlns:a16="http://schemas.microsoft.com/office/drawing/2014/main" id="{64A0670B-A428-4D25-80F2-4B64E6811052}"/>
              </a:ext>
            </a:extLst>
          </p:cNvPr>
          <p:cNvSpPr>
            <a:spLocks noGrp="1"/>
          </p:cNvSpPr>
          <p:nvPr/>
        </p:nvSpPr>
        <p:spPr>
          <a:xfrm>
            <a:off x="2381250" y="3429000"/>
            <a:ext cx="2857500" cy="514350"/>
          </a:xfrm>
          <a:prstGeom prst="rect">
            <a:avLst/>
          </a:prstGeom>
          <a:noFill/>
          <a:ln w="0">
            <a:noFill/>
            <a:prstDash val="solid"/>
          </a:ln>
        </p:spPr>
        <p:txBody>
          <a:bodyPr wrap="square" lIns="38100" tIns="38100" rIns="38100" bIns="38100" anchor="ctr">
            <a:noAutofit/>
          </a:bodyPr>
          <a:lstStyle/>
          <a:p>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live code</a:t>
            </a:r>
          </a:p>
        </p:txBody>
      </p:sp>
      <p:sp>
        <p:nvSpPr>
          <p:cNvPr id="20" name="text-57">
            <a:extLst>
              <a:ext uri="{FF2B5EF4-FFF2-40B4-BE49-F238E27FC236}">
                <a16:creationId xmlns:a16="http://schemas.microsoft.com/office/drawing/2014/main" id="{F0F48253-9263-4776-B3D2-6E7754B1E336}"/>
              </a:ext>
            </a:extLst>
          </p:cNvPr>
          <p:cNvSpPr>
            <a:spLocks noGrp="1"/>
          </p:cNvSpPr>
          <p:nvPr/>
        </p:nvSpPr>
        <p:spPr>
          <a:xfrm>
            <a:off x="5429250" y="3429000"/>
            <a:ext cx="5953125" cy="5715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Combine executable code with formatted explanation and inline results</a:t>
            </a:r>
          </a:p>
        </p:txBody>
      </p:sp>
      <p:sp>
        <p:nvSpPr>
          <p:cNvPr id="21" name="line-58">
            <a:extLst>
              <a:ext uri="{FF2B5EF4-FFF2-40B4-BE49-F238E27FC236}">
                <a16:creationId xmlns:a16="http://schemas.microsoft.com/office/drawing/2014/main" id="{59D220CB-1EEC-4046-9E8D-1D50B57A9A2D}"/>
              </a:ext>
            </a:extLst>
          </p:cNvPr>
          <p:cNvSpPr>
            <a:spLocks noGrp="1"/>
          </p:cNvSpPr>
          <p:nvPr/>
        </p:nvSpPr>
        <p:spPr>
          <a:xfrm>
            <a:off x="685800" y="4876800"/>
            <a:ext cx="10820400" cy="0"/>
          </a:xfrm>
          <a:prstGeom prst="line">
            <a:avLst/>
          </a:prstGeom>
          <a:noFill/>
          <a:ln w="9525">
            <a:solidFill>
              <a:srgbClr val="C9D8E3"/>
            </a:solidFill>
            <a:prstDash val="solid"/>
          </a:ln>
        </p:spPr>
      </p:sp>
      <p:sp>
        <p:nvSpPr>
          <p:cNvPr id="22" name="text-59">
            <a:extLst>
              <a:ext uri="{FF2B5EF4-FFF2-40B4-BE49-F238E27FC236}">
                <a16:creationId xmlns:a16="http://schemas.microsoft.com/office/drawing/2014/main" id="{018E046F-EFEA-48AC-923E-CEC1E3CBF6DD}"/>
              </a:ext>
            </a:extLst>
          </p:cNvPr>
          <p:cNvSpPr>
            <a:spLocks noGrp="1"/>
          </p:cNvSpPr>
          <p:nvPr/>
        </p:nvSpPr>
        <p:spPr>
          <a:xfrm>
            <a:off x="685800" y="4210050"/>
            <a:ext cx="1428750" cy="514350"/>
          </a:xfrm>
          <a:prstGeom prst="rect">
            <a:avLst/>
          </a:prstGeom>
          <a:noFill/>
          <a:ln w="0">
            <a:noFill/>
            <a:prstDash val="solid"/>
          </a:ln>
        </p:spPr>
        <p:txBody>
          <a:bodyPr wrap="square" lIns="38100" tIns="38100" rIns="38100" bIns="38100" anchor="ctr">
            <a:noAutofit/>
          </a:bodyPr>
          <a:lstStyle/>
          <a:p>
            <a:pPr algn="l">
              <a:lnSpc>
                <a:spcPct val="105000"/>
              </a:lnSpc>
              <a:buNone/>
              <a:defRPr sz="2025" b="1" i="0">
                <a:solidFill>
                  <a:srgbClr val="E9A23B"/>
                </a:solidFill>
                <a:latin typeface="Aptos"/>
                <a:ea typeface="Aptos"/>
                <a:cs typeface="Aptos"/>
              </a:defRPr>
            </a:pPr>
            <a:r>
              <a:rPr sz="2025" b="1" i="0">
                <a:solidFill>
                  <a:srgbClr val="E9A23B"/>
                </a:solidFill>
                <a:latin typeface="Aptos"/>
                <a:ea typeface="Aptos"/>
                <a:cs typeface="Aptos"/>
              </a:rPr>
              <a:t>.mldatx</a:t>
            </a:r>
          </a:p>
        </p:txBody>
      </p:sp>
      <p:sp>
        <p:nvSpPr>
          <p:cNvPr id="23" name="text-60">
            <a:extLst>
              <a:ext uri="{FF2B5EF4-FFF2-40B4-BE49-F238E27FC236}">
                <a16:creationId xmlns:a16="http://schemas.microsoft.com/office/drawing/2014/main" id="{098A5770-B49D-4C11-986D-1E7655E2A523}"/>
              </a:ext>
            </a:extLst>
          </p:cNvPr>
          <p:cNvSpPr>
            <a:spLocks noGrp="1"/>
          </p:cNvSpPr>
          <p:nvPr/>
        </p:nvSpPr>
        <p:spPr>
          <a:xfrm>
            <a:off x="2381250" y="4210050"/>
            <a:ext cx="2857500" cy="514350"/>
          </a:xfrm>
          <a:prstGeom prst="rect">
            <a:avLst/>
          </a:prstGeom>
          <a:noFill/>
          <a:ln w="0">
            <a:noFill/>
            <a:prstDash val="solid"/>
          </a:ln>
        </p:spPr>
        <p:txBody>
          <a:bodyPr wrap="square" lIns="38100" tIns="38100" rIns="38100" bIns="38100" anchor="ctr">
            <a:noAutofit/>
          </a:bodyPr>
          <a:lstStyle/>
          <a:p>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Test binary</a:t>
            </a:r>
          </a:p>
        </p:txBody>
      </p:sp>
      <p:sp>
        <p:nvSpPr>
          <p:cNvPr id="24" name="text-61">
            <a:extLst>
              <a:ext uri="{FF2B5EF4-FFF2-40B4-BE49-F238E27FC236}">
                <a16:creationId xmlns:a16="http://schemas.microsoft.com/office/drawing/2014/main" id="{E1FE0D66-A88C-4FD6-8F46-01A380F21D61}"/>
              </a:ext>
            </a:extLst>
          </p:cNvPr>
          <p:cNvSpPr>
            <a:spLocks noGrp="1"/>
          </p:cNvSpPr>
          <p:nvPr/>
        </p:nvSpPr>
        <p:spPr>
          <a:xfrm>
            <a:off x="5429250" y="4210050"/>
            <a:ext cx="5953125" cy="5715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Organize test suites/cases or store exported test results; edit via Test Manager/API</a:t>
            </a:r>
          </a:p>
        </p:txBody>
      </p:sp>
      <p:sp>
        <p:nvSpPr>
          <p:cNvPr id="25" name="line-62">
            <a:extLst>
              <a:ext uri="{FF2B5EF4-FFF2-40B4-BE49-F238E27FC236}">
                <a16:creationId xmlns:a16="http://schemas.microsoft.com/office/drawing/2014/main" id="{F573DFBB-B957-4D8E-8FA9-72C9B73E95ED}"/>
              </a:ext>
            </a:extLst>
          </p:cNvPr>
          <p:cNvSpPr>
            <a:spLocks noGrp="1"/>
          </p:cNvSpPr>
          <p:nvPr/>
        </p:nvSpPr>
        <p:spPr>
          <a:xfrm>
            <a:off x="685800" y="5657850"/>
            <a:ext cx="10820400" cy="0"/>
          </a:xfrm>
          <a:prstGeom prst="line">
            <a:avLst/>
          </a:prstGeom>
          <a:noFill/>
          <a:ln w="9525">
            <a:solidFill>
              <a:srgbClr val="C9D8E3"/>
            </a:solidFill>
            <a:prstDash val="solid"/>
          </a:ln>
        </p:spPr>
      </p:sp>
      <p:sp>
        <p:nvSpPr>
          <p:cNvPr id="26" name="text-63">
            <a:extLst>
              <a:ext uri="{FF2B5EF4-FFF2-40B4-BE49-F238E27FC236}">
                <a16:creationId xmlns:a16="http://schemas.microsoft.com/office/drawing/2014/main" id="{77422703-9FAB-4DA7-B93C-5C52FD8A2317}"/>
              </a:ext>
            </a:extLst>
          </p:cNvPr>
          <p:cNvSpPr>
            <a:spLocks noGrp="1"/>
          </p:cNvSpPr>
          <p:nvPr/>
        </p:nvSpPr>
        <p:spPr>
          <a:xfrm>
            <a:off x="685800" y="4991100"/>
            <a:ext cx="1428750" cy="514350"/>
          </a:xfrm>
          <a:prstGeom prst="rect">
            <a:avLst/>
          </a:prstGeom>
          <a:noFill/>
          <a:ln w="0">
            <a:noFill/>
            <a:prstDash val="solid"/>
          </a:ln>
        </p:spPr>
        <p:txBody>
          <a:bodyPr wrap="square" lIns="38100" tIns="38100" rIns="38100" bIns="38100" anchor="ctr">
            <a:noAutofit/>
          </a:bodyPr>
          <a:lstStyle/>
          <a:p>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.sldd</a:t>
            </a:r>
          </a:p>
        </p:txBody>
      </p:sp>
      <p:sp>
        <p:nvSpPr>
          <p:cNvPr id="27" name="text-64">
            <a:extLst>
              <a:ext uri="{FF2B5EF4-FFF2-40B4-BE49-F238E27FC236}">
                <a16:creationId xmlns:a16="http://schemas.microsoft.com/office/drawing/2014/main" id="{CE00C8F2-60E4-4157-B174-9429A3F4D8E1}"/>
              </a:ext>
            </a:extLst>
          </p:cNvPr>
          <p:cNvSpPr>
            <a:spLocks noGrp="1"/>
          </p:cNvSpPr>
          <p:nvPr/>
        </p:nvSpPr>
        <p:spPr>
          <a:xfrm>
            <a:off x="2381250" y="4991100"/>
            <a:ext cx="2857500" cy="514350"/>
          </a:xfrm>
          <a:prstGeom prst="rect">
            <a:avLst/>
          </a:prstGeom>
          <a:noFill/>
          <a:ln w="0">
            <a:noFill/>
            <a:prstDash val="solid"/>
          </a:ln>
        </p:spPr>
        <p:txBody>
          <a:bodyPr wrap="square" lIns="38100" tIns="38100" rIns="38100" bIns="38100" anchor="ctr">
            <a:noAutofit/>
          </a:bodyPr>
          <a:lstStyle/>
          <a:p>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Data dictionary</a:t>
            </a:r>
          </a:p>
        </p:txBody>
      </p:sp>
      <p:sp>
        <p:nvSpPr>
          <p:cNvPr id="28" name="text-65">
            <a:extLst>
              <a:ext uri="{FF2B5EF4-FFF2-40B4-BE49-F238E27FC236}">
                <a16:creationId xmlns:a16="http://schemas.microsoft.com/office/drawing/2014/main" id="{91F7DB1B-AFC4-4871-AD04-25EB557285D1}"/>
              </a:ext>
            </a:extLst>
          </p:cNvPr>
          <p:cNvSpPr>
            <a:spLocks noGrp="1"/>
          </p:cNvSpPr>
          <p:nvPr/>
        </p:nvSpPr>
        <p:spPr>
          <a:xfrm>
            <a:off x="5429250" y="4991100"/>
            <a:ext cx="5953125" cy="5715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Control parameters, signal types, bus objects, and shared design data</a:t>
            </a:r>
          </a:p>
        </p:txBody>
      </p:sp>
      <p:sp>
        <p:nvSpPr>
          <p:cNvPr id="29" name="text-66">
            <a:extLst>
              <a:ext uri="{FF2B5EF4-FFF2-40B4-BE49-F238E27FC236}">
                <a16:creationId xmlns:a16="http://schemas.microsoft.com/office/drawing/2014/main" id="{1A6C0058-DEDD-400D-A72A-E96BF70E291C}"/>
              </a:ext>
            </a:extLst>
          </p:cNvPr>
          <p:cNvSpPr>
            <a:spLocks noGrp="1"/>
          </p:cNvSpPr>
          <p:nvPr/>
        </p:nvSpPr>
        <p:spPr>
          <a:xfrm>
            <a:off x="685800" y="5905500"/>
            <a:ext cx="10820400" cy="323850"/>
          </a:xfrm>
          <a:prstGeom prst="rect">
            <a:avLst/>
          </a:prstGeom>
          <a:noFill/>
          <a:ln w="0">
            <a:noFill/>
            <a:prstDash val="solid"/>
          </a:ln>
        </p:spPr>
        <p:txBody>
          <a:bodyPr wrap="square" lIns="38100" tIns="38100" rIns="38100" bIns="38100" anchor="t">
            <a:noAutofit/>
          </a:bodyPr>
          <a:lstStyle/>
          <a:p>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Version-control the whole configuration—not only the .slx file.</a:t>
            </a:r>
          </a:p>
        </p:txBody>
      </p:sp>
    </p:spTree>
    <p:extLst>
      <p:ext uri="{BB962C8B-B14F-4D97-AF65-F5344CB8AC3E}">
        <p14:creationId xmlns:p14="http://schemas.microsoft.com/office/powerpoint/2010/main" val="25423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8" name="section-66">
            <a:extLst>
              <a:ext uri="{FF2B5EF4-FFF2-40B4-BE49-F238E27FC236}">
                <a16:creationId xmlns:a16="http://schemas.microsoft.com/office/drawing/2014/main" id="{B531DA07-3103-4EDB-9B79-BCD13A7FFD16}"/>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66">
            <a:extLst>
              <a:ext uri="{FF2B5EF4-FFF2-40B4-BE49-F238E27FC236}">
                <a16:creationId xmlns:a16="http://schemas.microsoft.com/office/drawing/2014/main" id="{C6D9F1C6-D120-4C20-88BA-CAD8C9811D88}"/>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editor exposes structure and diagnostics</a:t>
            </a:r>
          </a:p>
        </p:txBody>
      </p:sp>
      <p:sp>
        <p:nvSpPr>
          <p:cNvPr id="3" name="line-67">
            <a:extLst>
              <a:ext uri="{FF2B5EF4-FFF2-40B4-BE49-F238E27FC236}">
                <a16:creationId xmlns:a16="http://schemas.microsoft.com/office/drawing/2014/main" id="{C0E85360-30FB-48EE-B656-F1CD657615B6}"/>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68">
            <a:extLst>
              <a:ext uri="{FF2B5EF4-FFF2-40B4-BE49-F238E27FC236}">
                <a16:creationId xmlns:a16="http://schemas.microsoft.com/office/drawing/2014/main" id="{941E2340-B2A5-4A96-9E16-722F5CADDF16}"/>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69">
            <a:extLst>
              <a:ext uri="{FF2B5EF4-FFF2-40B4-BE49-F238E27FC236}">
                <a16:creationId xmlns:a16="http://schemas.microsoft.com/office/drawing/2014/main" id="{245825BF-FEE4-41E6-8130-BBCA53682ABE}"/>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9" name="Picture 8" descr="Authentic PitchRateLimiter top-level Simulink model">
            <a:extLst>
              <a:ext uri="{FF2B5EF4-FFF2-40B4-BE49-F238E27FC236}">
                <a16:creationId xmlns:a16="http://schemas.microsoft.com/office/drawing/2014/main" id="{A0591E14-E196-0E66-8222-E12DB417D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9197" y="1422400"/>
            <a:ext cx="7113607"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F59A33CD-9B8E-C041-ECBF-467BB827C532}"/>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Illustrative training model • typed ports, explicit 50 Hz contract, and reviewable hierarchy</a:t>
            </a:r>
          </a:p>
        </p:txBody>
      </p:sp>
    </p:spTree>
    <p:extLst>
      <p:ext uri="{BB962C8B-B14F-4D97-AF65-F5344CB8AC3E}">
        <p14:creationId xmlns:p14="http://schemas.microsoft.com/office/powerpoint/2010/main" val="1080256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9" name="section-88">
            <a:extLst>
              <a:ext uri="{FF2B5EF4-FFF2-40B4-BE49-F238E27FC236}">
                <a16:creationId xmlns:a16="http://schemas.microsoft.com/office/drawing/2014/main" id="{225C722D-6857-44D1-9507-EC13A7ACF701}"/>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a:ext uri="{FF2B5EF4-FFF2-40B4-BE49-F238E27FC236}">
                <a16:creationId xmlns:a16="http://schemas.microsoft.com/office/drawing/2014/main" id="{405076BC-2578-49F7-88DE-7DE6CEC93901}"/>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small grammar scales to aircraft functions</a:t>
            </a:r>
          </a:p>
        </p:txBody>
      </p:sp>
      <p:sp>
        <p:nvSpPr>
          <p:cNvPr id="3" name="line-89">
            <a:extLst>
              <a:ext uri="{FF2B5EF4-FFF2-40B4-BE49-F238E27FC236}">
                <a16:creationId xmlns:a16="http://schemas.microsoft.com/office/drawing/2014/main" id="{AB242A66-666B-4914-A3E0-AA6EB1FD0404}"/>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90">
            <a:extLst>
              <a:ext uri="{FF2B5EF4-FFF2-40B4-BE49-F238E27FC236}">
                <a16:creationId xmlns:a16="http://schemas.microsoft.com/office/drawing/2014/main" id="{2DB323C3-AC65-48C9-A505-A9286AAC8AC9}"/>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a:ext uri="{FF2B5EF4-FFF2-40B4-BE49-F238E27FC236}">
                <a16:creationId xmlns:a16="http://schemas.microsoft.com/office/drawing/2014/main" id="{951E5C0B-B10B-48A6-91FE-0C8CCF969DCE}"/>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6" name="box-92">
            <a:extLst>
              <a:ext uri="{FF2B5EF4-FFF2-40B4-BE49-F238E27FC236}">
                <a16:creationId xmlns:a16="http://schemas.microsoft.com/office/drawing/2014/main" id="{01F51C1C-91A0-464B-9A70-C02B2EE711EB}"/>
              </a:ext>
            </a:extLst>
          </p:cNvPr>
          <p:cNvSpPr>
            <a:spLocks noGrp="1"/>
          </p:cNvSpPr>
          <p:nvPr/>
        </p:nvSpPr>
        <p:spPr>
          <a:xfrm>
            <a:off x="838200" y="1619250"/>
            <a:ext cx="4286250" cy="552450"/>
          </a:xfrm>
          <a:prstGeom prst="roundRect">
            <a:avLst>
              <a:gd name="adj" fmla="val 17241"/>
            </a:avLst>
          </a:prstGeom>
          <a:solidFill>
            <a:srgbClr val="FFFFFF"/>
          </a:solidFill>
          <a:ln w="19050">
            <a:solidFill>
              <a:srgbClr val="2D6CDF"/>
            </a:solidFill>
            <a:prstDash val="solid"/>
          </a:ln>
        </p:spPr>
        <p:txBody>
          <a:bodyPr lIns="152400" tIns="47625" rIns="95250" bIns="47625" anchor="ctr">
            <a:noAutofit/>
          </a:bodyPr>
          <a:lstStyle/>
          <a:p>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LIBRARY  —  approved reusable content</a:t>
            </a:r>
          </a:p>
        </p:txBody>
      </p:sp>
      <p:sp>
        <p:nvSpPr>
          <p:cNvPr id="7" name="box-93">
            <a:extLst>
              <a:ext uri="{FF2B5EF4-FFF2-40B4-BE49-F238E27FC236}">
                <a16:creationId xmlns:a16="http://schemas.microsoft.com/office/drawing/2014/main" id="{AEBA9B20-EF8D-4BBA-8A99-1B964DF93E07}"/>
              </a:ext>
            </a:extLst>
          </p:cNvPr>
          <p:cNvSpPr>
            <a:spLocks noGrp="1"/>
          </p:cNvSpPr>
          <p:nvPr/>
        </p:nvSpPr>
        <p:spPr>
          <a:xfrm>
            <a:off x="1052513" y="2362200"/>
            <a:ext cx="3857625" cy="552450"/>
          </a:xfrm>
          <a:prstGeom prst="roundRect">
            <a:avLst>
              <a:gd name="adj" fmla="val 17241"/>
            </a:avLst>
          </a:prstGeom>
          <a:solidFill>
            <a:srgbClr val="FFFFFF"/>
          </a:solidFill>
          <a:ln w="19050">
            <a:solidFill>
              <a:srgbClr val="20B7C5"/>
            </a:solidFill>
            <a:prstDash val="solid"/>
          </a:ln>
        </p:spPr>
        <p:txBody>
          <a:bodyPr lIns="152400" tIns="47625" rIns="95250" bIns="47625" anchor="ctr">
            <a:noAutofit/>
          </a:bodyPr>
          <a:lstStyle/>
          <a:p>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BLOCK  —  one operation or dynamic element</a:t>
            </a:r>
          </a:p>
        </p:txBody>
      </p:sp>
      <p:sp>
        <p:nvSpPr>
          <p:cNvPr id="8" name="box-94">
            <a:extLst>
              <a:ext uri="{FF2B5EF4-FFF2-40B4-BE49-F238E27FC236}">
                <a16:creationId xmlns:a16="http://schemas.microsoft.com/office/drawing/2014/main" id="{5A5E275E-180B-407C-A36A-62C926DCA653}"/>
              </a:ext>
            </a:extLst>
          </p:cNvPr>
          <p:cNvSpPr>
            <a:spLocks noGrp="1"/>
          </p:cNvSpPr>
          <p:nvPr/>
        </p:nvSpPr>
        <p:spPr>
          <a:xfrm>
            <a:off x="1266825" y="3105150"/>
            <a:ext cx="3429000" cy="552450"/>
          </a:xfrm>
          <a:prstGeom prst="roundRect">
            <a:avLst>
              <a:gd name="adj" fmla="val 17241"/>
            </a:avLst>
          </a:prstGeom>
          <a:solidFill>
            <a:srgbClr val="FFFFFF"/>
          </a:solidFill>
          <a:ln w="19050">
            <a:solidFill>
              <a:srgbClr val="2CA56F"/>
            </a:solidFill>
            <a:prstDash val="solid"/>
          </a:ln>
        </p:spPr>
        <p:txBody>
          <a:bodyPr lIns="152400" tIns="47625" rIns="95250" bIns="47625" anchor="ctr">
            <a:noAutofit/>
          </a:bodyPr>
          <a:lstStyle/>
          <a:p>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SIGNAL  —  typed value carried over time</a:t>
            </a:r>
          </a:p>
        </p:txBody>
      </p:sp>
      <p:sp>
        <p:nvSpPr>
          <p:cNvPr id="9" name="box-95">
            <a:extLst>
              <a:ext uri="{FF2B5EF4-FFF2-40B4-BE49-F238E27FC236}">
                <a16:creationId xmlns:a16="http://schemas.microsoft.com/office/drawing/2014/main" id="{77601B90-7312-41E5-B65E-4CAAEBEC13C4}"/>
              </a:ext>
            </a:extLst>
          </p:cNvPr>
          <p:cNvSpPr>
            <a:spLocks noGrp="1"/>
          </p:cNvSpPr>
          <p:nvPr/>
        </p:nvSpPr>
        <p:spPr>
          <a:xfrm>
            <a:off x="1481138" y="3848100"/>
            <a:ext cx="3000375" cy="552450"/>
          </a:xfrm>
          <a:prstGeom prst="roundRect">
            <a:avLst>
              <a:gd name="adj" fmla="val 17241"/>
            </a:avLst>
          </a:prstGeom>
          <a:solidFill>
            <a:srgbClr val="FFFFFF"/>
          </a:solidFill>
          <a:ln w="19050">
            <a:solidFill>
              <a:srgbClr val="E9A23B"/>
            </a:solidFill>
            <a:prstDash val="solid"/>
          </a:ln>
        </p:spPr>
        <p:txBody>
          <a:bodyPr lIns="152400" tIns="47625" rIns="95250" bIns="47625" anchor="ctr">
            <a:noAutofit/>
          </a:bodyPr>
          <a:lstStyle/>
          <a:p>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SUBSYSTEM  —  encapsulated behavior and interface</a:t>
            </a:r>
          </a:p>
        </p:txBody>
      </p:sp>
      <p:sp>
        <p:nvSpPr>
          <p:cNvPr id="10" name="text-96">
            <a:extLst>
              <a:ext uri="{FF2B5EF4-FFF2-40B4-BE49-F238E27FC236}">
                <a16:creationId xmlns:a16="http://schemas.microsoft.com/office/drawing/2014/main" id="{D570CA19-13FC-4992-A535-5E7EC7C22DE8}"/>
              </a:ext>
            </a:extLst>
          </p:cNvPr>
          <p:cNvSpPr>
            <a:spLocks noGrp="1"/>
          </p:cNvSpPr>
          <p:nvPr/>
        </p:nvSpPr>
        <p:spPr>
          <a:xfrm>
            <a:off x="838200" y="4762500"/>
            <a:ext cx="4000500" cy="228600"/>
          </a:xfrm>
          <a:prstGeom prst="rect">
            <a:avLst/>
          </a:prstGeom>
          <a:noFill/>
          <a:ln w="0">
            <a:noFill/>
            <a:prstDash val="solid"/>
          </a:ln>
        </p:spPr>
        <p:txBody>
          <a:bodyPr wrap="square" lIns="38100" tIns="38100" rIns="38100" bIns="38100" anchor="t">
            <a:noAutofit/>
          </a:bodyPr>
          <a:lstStyle/>
          <a:p>
            <a:pPr algn="ctr">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STRUCTURE</a:t>
            </a:r>
          </a:p>
        </p:txBody>
      </p:sp>
      <p:sp>
        <p:nvSpPr>
          <p:cNvPr id="11" name="text-97">
            <a:extLst>
              <a:ext uri="{FF2B5EF4-FFF2-40B4-BE49-F238E27FC236}">
                <a16:creationId xmlns:a16="http://schemas.microsoft.com/office/drawing/2014/main" id="{BB11F39E-8C70-438C-8AC6-4656AB260F44}"/>
              </a:ext>
            </a:extLst>
          </p:cNvPr>
          <p:cNvSpPr>
            <a:spLocks noGrp="1"/>
          </p:cNvSpPr>
          <p:nvPr/>
        </p:nvSpPr>
        <p:spPr>
          <a:xfrm>
            <a:off x="6096000" y="1619250"/>
            <a:ext cx="4953000" cy="381000"/>
          </a:xfrm>
          <a:prstGeom prst="rect">
            <a:avLst/>
          </a:prstGeom>
          <a:noFill/>
          <a:ln w="0">
            <a:noFill/>
            <a:prstDash val="solid"/>
          </a:ln>
        </p:spPr>
        <p:txBody>
          <a:bodyPr wrap="square" lIns="38100" tIns="38100" rIns="38100" bIns="38100" anchor="t">
            <a:noAutofit/>
          </a:bodyPr>
          <a:lstStyle/>
          <a:p>
            <a:pPr algn="l">
              <a:lnSpc>
                <a:spcPct val="105000"/>
              </a:lnSpc>
              <a:buNone/>
              <a:defRPr sz="2250" b="1" i="0">
                <a:solidFill>
                  <a:srgbClr val="0B1F33"/>
                </a:solidFill>
                <a:latin typeface="Aptos"/>
                <a:ea typeface="Aptos"/>
                <a:cs typeface="Aptos"/>
              </a:defRPr>
            </a:pPr>
            <a:r>
              <a:rPr sz="2250" b="1" i="0">
                <a:solidFill>
                  <a:srgbClr val="0B1F33"/>
                </a:solidFill>
                <a:latin typeface="Aptos"/>
                <a:ea typeface="Aptos"/>
                <a:cs typeface="Aptos"/>
              </a:rPr>
              <a:t>Buses and dictionaries keep interfaces explicit</a:t>
            </a:r>
          </a:p>
        </p:txBody>
      </p:sp>
      <p:sp>
        <p:nvSpPr>
          <p:cNvPr id="12" name="box-98">
            <a:extLst>
              <a:ext uri="{FF2B5EF4-FFF2-40B4-BE49-F238E27FC236}">
                <a16:creationId xmlns:a16="http://schemas.microsoft.com/office/drawing/2014/main" id="{75024C31-D51B-4126-B0CE-805C7B1B4680}"/>
              </a:ext>
            </a:extLst>
          </p:cNvPr>
          <p:cNvSpPr>
            <a:spLocks noGrp="1"/>
          </p:cNvSpPr>
          <p:nvPr/>
        </p:nvSpPr>
        <p:spPr>
          <a:xfrm>
            <a:off x="6191250" y="2457450"/>
            <a:ext cx="1333500" cy="628650"/>
          </a:xfrm>
          <a:prstGeom prst="roundRect">
            <a:avLst>
              <a:gd name="adj" fmla="val 9091"/>
            </a:avLst>
          </a:prstGeom>
          <a:solidFill>
            <a:srgbClr val="FFFFFF"/>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SensorBus</a:t>
            </a:r>
          </a:p>
        </p:txBody>
      </p:sp>
      <p:sp>
        <p:nvSpPr>
          <p:cNvPr id="13" name="box-99">
            <a:extLst>
              <a:ext uri="{FF2B5EF4-FFF2-40B4-BE49-F238E27FC236}">
                <a16:creationId xmlns:a16="http://schemas.microsoft.com/office/drawing/2014/main" id="{BA0DE612-8F3A-47C7-9BE5-F5800058330F}"/>
              </a:ext>
            </a:extLst>
          </p:cNvPr>
          <p:cNvSpPr>
            <a:spLocks noGrp="1"/>
          </p:cNvSpPr>
          <p:nvPr/>
        </p:nvSpPr>
        <p:spPr>
          <a:xfrm>
            <a:off x="8429625" y="2305050"/>
            <a:ext cx="1809750" cy="933450"/>
          </a:xfrm>
          <a:prstGeom prst="roundRect">
            <a:avLst>
              <a:gd name="adj" fmla="val 6122"/>
            </a:avLst>
          </a:prstGeom>
          <a:solidFill>
            <a:srgbClr val="FFFFFF"/>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FlightControl</a:t>
            </a:r>
          </a:p>
          <a:p>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Subsystem</a:t>
            </a:r>
          </a:p>
        </p:txBody>
      </p:sp>
      <p:cxnSp>
        <p:nvCxnSpPr>
          <p:cNvPr id="32" name="Straight Arrow Connector 31"/>
          <p:cNvCxnSpPr>
            <a:stCxn id="12" idx="3"/>
            <a:endCxn id="13" idx="1"/>
          </p:cNvCxnSpPr>
          <p:nvPr/>
        </p:nvCxnSpPr>
        <p:spPr>
          <a:xfrm>
            <a:off x="7524750" y="2771775"/>
            <a:ext cx="904875" cy="0"/>
          </a:xfrm>
          <a:prstGeom prst="straightConnector1">
            <a:avLst/>
          </a:prstGeom>
          <a:ln w="57150">
            <a:solidFill>
              <a:srgbClr val="20B7C5"/>
            </a:solidFill>
            <a:prstDash val="solid"/>
            <a:tailEnd type="triangle" w="sm" len="sm"/>
          </a:ln>
        </p:spPr>
      </p:cxnSp>
      <p:sp>
        <p:nvSpPr>
          <p:cNvPr id="15" name="text-100">
            <a:extLst>
              <a:ext uri="{FF2B5EF4-FFF2-40B4-BE49-F238E27FC236}">
                <a16:creationId xmlns:a16="http://schemas.microsoft.com/office/drawing/2014/main" id="{1B450B67-8ABB-4690-ABDF-44D94059B736}"/>
              </a:ext>
            </a:extLst>
          </p:cNvPr>
          <p:cNvSpPr>
            <a:spLocks noGrp="1"/>
          </p:cNvSpPr>
          <p:nvPr/>
        </p:nvSpPr>
        <p:spPr>
          <a:xfrm>
            <a:off x="6438900" y="3257550"/>
            <a:ext cx="1047750" cy="1009650"/>
          </a:xfrm>
          <a:prstGeom prst="rect">
            <a:avLst/>
          </a:prstGeom>
          <a:noFill/>
          <a:ln w="0">
            <a:noFill/>
            <a:prstDash val="solid"/>
          </a:ln>
        </p:spPr>
        <p:txBody>
          <a:bodyPr wrap="square" lIns="38100" tIns="38100" rIns="38100" bIns="38100" anchor="t">
            <a:noAutofit/>
          </a:bodyPr>
          <a:lstStyle/>
          <a:p>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q_rate</a:t>
            </a:r>
          </a:p>
          <a:p>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alpha</a:t>
            </a:r>
          </a:p>
          <a:p>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Mach</a:t>
            </a:r>
          </a:p>
          <a:p>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validity</a:t>
            </a:r>
          </a:p>
        </p:txBody>
      </p:sp>
      <p:sp>
        <p:nvSpPr>
          <p:cNvPr id="16" name="box-101">
            <a:extLst>
              <a:ext uri="{FF2B5EF4-FFF2-40B4-BE49-F238E27FC236}">
                <a16:creationId xmlns:a16="http://schemas.microsoft.com/office/drawing/2014/main" id="{CD945CA6-9615-40DF-9F95-105818794253}"/>
              </a:ext>
            </a:extLst>
          </p:cNvPr>
          <p:cNvSpPr>
            <a:spLocks noGrp="1"/>
          </p:cNvSpPr>
          <p:nvPr/>
        </p:nvSpPr>
        <p:spPr>
          <a:xfrm>
            <a:off x="6743700" y="4495800"/>
            <a:ext cx="4095750" cy="781050"/>
          </a:xfrm>
          <a:prstGeom prst="roundRect">
            <a:avLst>
              <a:gd name="adj" fmla="val 12195"/>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FCS_Data.sldd</a:t>
            </a:r>
          </a:p>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Bus types • parameters • units</a:t>
            </a:r>
          </a:p>
        </p:txBody>
      </p:sp>
      <p:cxnSp>
        <p:nvCxnSpPr>
          <p:cNvPr id="35" name="Connector: Elbow 34"/>
          <p:cNvCxnSpPr>
            <a:stCxn id="16" idx="0"/>
            <a:endCxn id="13" idx="2"/>
          </p:cNvCxnSpPr>
          <p:nvPr/>
        </p:nvCxnSpPr>
        <p:spPr>
          <a:xfrm flipV="1">
            <a:off x="8791575" y="3238500"/>
            <a:ext cx="542925" cy="1257300"/>
          </a:xfrm>
          <a:prstGeom prst="bentConnector4">
            <a:avLst>
              <a:gd name="adj1" fmla="val 0"/>
              <a:gd name="adj2" fmla="val 50000"/>
            </a:avLst>
          </a:prstGeom>
          <a:ln w="28575">
            <a:solidFill>
              <a:srgbClr val="E9A23B"/>
            </a:solidFill>
            <a:prstDash val="solid"/>
            <a:tailEnd type="triangle" w="sm" len="sm"/>
          </a:ln>
        </p:spPr>
      </p:cxnSp>
      <p:sp>
        <p:nvSpPr>
          <p:cNvPr id="18" name="text-102">
            <a:extLst>
              <a:ext uri="{FF2B5EF4-FFF2-40B4-BE49-F238E27FC236}">
                <a16:creationId xmlns:a16="http://schemas.microsoft.com/office/drawing/2014/main" id="{993839E6-661A-4571-99F2-03634F557541}"/>
              </a:ext>
            </a:extLst>
          </p:cNvPr>
          <p:cNvSpPr>
            <a:spLocks noGrp="1"/>
          </p:cNvSpPr>
          <p:nvPr/>
        </p:nvSpPr>
        <p:spPr>
          <a:xfrm>
            <a:off x="5943600" y="5572125"/>
            <a:ext cx="5429250" cy="285750"/>
          </a:xfrm>
          <a:prstGeom prst="rect">
            <a:avLst/>
          </a:prstGeom>
          <a:noFill/>
          <a:ln w="0">
            <a:noFill/>
            <a:prstDash val="solid"/>
          </a:ln>
        </p:spPr>
        <p:txBody>
          <a:bodyPr wrap="square" lIns="38100" tIns="38100" rIns="38100" bIns="38100" anchor="t">
            <a:noAutofit/>
          </a:bodyPr>
          <a:lstStyle/>
          <a:p>
            <a:pPr algn="ctr">
              <a:lnSpc>
                <a:spcPct val="105000"/>
              </a:lnSpc>
              <a:buNone/>
              <a:defRPr sz="1350" b="1" i="0">
                <a:solidFill>
                  <a:srgbClr val="20B7C5"/>
                </a:solidFill>
                <a:latin typeface="Aptos"/>
                <a:ea typeface="Aptos"/>
                <a:cs typeface="Aptos"/>
              </a:defRPr>
            </a:pPr>
            <a:r>
              <a:rPr sz="1350" b="1" i="0">
                <a:solidFill>
                  <a:srgbClr val="20B7C5"/>
                </a:solidFill>
                <a:latin typeface="Aptos"/>
                <a:ea typeface="Aptos"/>
                <a:cs typeface="Aptos"/>
              </a:rPr>
              <a:t>BUS = interface contract     DICTIONARY = controlled design data</a:t>
            </a:r>
          </a:p>
        </p:txBody>
      </p:sp>
    </p:spTree>
    <p:extLst>
      <p:ext uri="{BB962C8B-B14F-4D97-AF65-F5344CB8AC3E}">
        <p14:creationId xmlns:p14="http://schemas.microsoft.com/office/powerpoint/2010/main" val="28635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1" name="section-102">
            <a:extLst>
              <a:ext uri="{FF2B5EF4-FFF2-40B4-BE49-F238E27FC236}">
                <a16:creationId xmlns:a16="http://schemas.microsoft.com/office/drawing/2014/main" id="{EFD8CC6F-3DF0-4054-A86C-5A9C68F37536}"/>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a:ext uri="{FF2B5EF4-FFF2-40B4-BE49-F238E27FC236}">
                <a16:creationId xmlns:a16="http://schemas.microsoft.com/office/drawing/2014/main" id="{F06E638B-68B4-44E3-885A-1118016B3F48}"/>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Flight-control models begin with a closed loop</a:t>
            </a:r>
          </a:p>
        </p:txBody>
      </p:sp>
      <p:sp>
        <p:nvSpPr>
          <p:cNvPr id="3" name="line-103">
            <a:extLst>
              <a:ext uri="{FF2B5EF4-FFF2-40B4-BE49-F238E27FC236}">
                <a16:creationId xmlns:a16="http://schemas.microsoft.com/office/drawing/2014/main" id="{42873680-4CA7-4843-B290-41043BA4C390}"/>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104">
            <a:extLst>
              <a:ext uri="{FF2B5EF4-FFF2-40B4-BE49-F238E27FC236}">
                <a16:creationId xmlns:a16="http://schemas.microsoft.com/office/drawing/2014/main" id="{3CCE68AE-7D4E-4462-B128-EFBB6AD5ADF4}"/>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a:ext uri="{FF2B5EF4-FFF2-40B4-BE49-F238E27FC236}">
                <a16:creationId xmlns:a16="http://schemas.microsoft.com/office/drawing/2014/main" id="{1E52342A-96A5-4F2A-AAFD-5B5819ECAF95}"/>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9" name="Picture 8" descr="Authentic aircraft feedback control loop Simulink model">
            <a:extLst>
              <a:ext uri="{FF2B5EF4-FFF2-40B4-BE49-F238E27FC236}">
                <a16:creationId xmlns:a16="http://schemas.microsoft.com/office/drawing/2014/main" id="{82CDBC1F-1792-D0E3-7638-4FB16E2A2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7819" y="1422400"/>
            <a:ext cx="7716362"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B4FA2F6A-A3A0-877B-A9BC-364120316D91}"/>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69DCE6"/>
                </a:solidFill>
                <a:latin typeface="Aptos" panose="020B0004020202020204" pitchFamily="34" charset="0"/>
              </a:rPr>
              <a:t>Illustrative training model • command → controller → actuator/plant → sensor → feedback</a:t>
            </a:r>
          </a:p>
        </p:txBody>
      </p:sp>
    </p:spTree>
    <p:extLst>
      <p:ext uri="{BB962C8B-B14F-4D97-AF65-F5344CB8AC3E}">
        <p14:creationId xmlns:p14="http://schemas.microsoft.com/office/powerpoint/2010/main" val="1442167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5" name="section-115">
            <a:extLst>
              <a:ext uri="{FF2B5EF4-FFF2-40B4-BE49-F238E27FC236}">
                <a16:creationId xmlns:a16="http://schemas.microsoft.com/office/drawing/2014/main" id="{79CD7667-EC9D-48FB-B3DB-2E75B70AC2E2}"/>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a:ext uri="{FF2B5EF4-FFF2-40B4-BE49-F238E27FC236}">
                <a16:creationId xmlns:a16="http://schemas.microsoft.com/office/drawing/2014/main" id="{6804D11C-B7AE-49C1-93DC-795503570309}"/>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a:ext uri="{FF2B5EF4-FFF2-40B4-BE49-F238E27FC236}">
                <a16:creationId xmlns:a16="http://schemas.microsoft.com/office/drawing/2014/main" id="{7CC31265-3D48-4530-9795-E1885F3BEDFB}"/>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117">
            <a:extLst>
              <a:ext uri="{FF2B5EF4-FFF2-40B4-BE49-F238E27FC236}">
                <a16:creationId xmlns:a16="http://schemas.microsoft.com/office/drawing/2014/main" id="{A69FA6FF-D740-4468-884D-767A1421E8C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a:ext uri="{FF2B5EF4-FFF2-40B4-BE49-F238E27FC236}">
                <a16:creationId xmlns:a16="http://schemas.microsoft.com/office/drawing/2014/main" id="{5DD26572-533C-4030-89F3-6A58F58BE7B8}"/>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9" name="Picture 8" descr="Authentic pitch controller subsystem">
            <a:extLst>
              <a:ext uri="{FF2B5EF4-FFF2-40B4-BE49-F238E27FC236}">
                <a16:creationId xmlns:a16="http://schemas.microsoft.com/office/drawing/2014/main" id="{BC15F853-2EB9-8348-D999-73EFC14125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891" y="1422400"/>
            <a:ext cx="7708217"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E7F8EEEC-3B75-E1A8-8FB1-2F2B6F35C225}"/>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Illustrative training subsystem • parameterized PI law and deterministic integrator state</a:t>
            </a:r>
          </a:p>
        </p:txBody>
      </p:sp>
    </p:spTree>
    <p:extLst>
      <p:ext uri="{BB962C8B-B14F-4D97-AF65-F5344CB8AC3E}">
        <p14:creationId xmlns:p14="http://schemas.microsoft.com/office/powerpoint/2010/main" val="1578336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4" name="section-143">
            <a:extLst>
              <a:ext uri="{FF2B5EF4-FFF2-40B4-BE49-F238E27FC236}">
                <a16:creationId xmlns:a16="http://schemas.microsoft.com/office/drawing/2014/main" id="{7BE83F8B-0DC6-429F-8B3A-E850B7F9EDEA}"/>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a:ext uri="{FF2B5EF4-FFF2-40B4-BE49-F238E27FC236}">
                <a16:creationId xmlns:a16="http://schemas.microsoft.com/office/drawing/2014/main" id="{9C7BF5C4-98EB-4119-9793-269D2973C673}"/>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Pitch, roll, and altitude share one discipline</a:t>
            </a:r>
          </a:p>
        </p:txBody>
      </p:sp>
      <p:sp>
        <p:nvSpPr>
          <p:cNvPr id="3" name="line-144">
            <a:extLst>
              <a:ext uri="{FF2B5EF4-FFF2-40B4-BE49-F238E27FC236}">
                <a16:creationId xmlns:a16="http://schemas.microsoft.com/office/drawing/2014/main" id="{E85314F3-222B-46AC-BD9B-14524AA068C6}"/>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145">
            <a:extLst>
              <a:ext uri="{FF2B5EF4-FFF2-40B4-BE49-F238E27FC236}">
                <a16:creationId xmlns:a16="http://schemas.microsoft.com/office/drawing/2014/main" id="{B35205C4-F22C-413D-BD2A-331A62ADBF93}"/>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a:ext uri="{FF2B5EF4-FFF2-40B4-BE49-F238E27FC236}">
                <a16:creationId xmlns:a16="http://schemas.microsoft.com/office/drawing/2014/main" id="{1A30CCFC-FEA5-4661-86D4-0524E33891C4}"/>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9" name="Picture 8" descr="Actual command tracking simulation plot">
            <a:extLst>
              <a:ext uri="{FF2B5EF4-FFF2-40B4-BE49-F238E27FC236}">
                <a16:creationId xmlns:a16="http://schemas.microsoft.com/office/drawing/2014/main" id="{94BCBA7C-102E-23B7-8B33-C97ED038EF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4685" y="1422400"/>
            <a:ext cx="6722630"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69FD528C-0A6A-FE56-E92F-F85A008B2560}"/>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Executed desktop simulation • simplified training plant; command, response, error, and actuator are logged</a:t>
            </a:r>
          </a:p>
        </p:txBody>
      </p:sp>
    </p:spTree>
    <p:extLst>
      <p:ext uri="{BB962C8B-B14F-4D97-AF65-F5344CB8AC3E}">
        <p14:creationId xmlns:p14="http://schemas.microsoft.com/office/powerpoint/2010/main" val="354341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section-162">
            <a:extLst>
              <a:ext uri="{FF2B5EF4-FFF2-40B4-BE49-F238E27FC236}">
                <a16:creationId xmlns:a16="http://schemas.microsoft.com/office/drawing/2014/main" id="{4D8B0D0F-2FB4-49B2-8AFE-64D9A0B796FC}"/>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a:ext uri="{FF2B5EF4-FFF2-40B4-BE49-F238E27FC236}">
                <a16:creationId xmlns:a16="http://schemas.microsoft.com/office/drawing/2014/main" id="{4109C46C-6FCD-49F5-B200-9338E2864EDA}"/>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a:ext uri="{FF2B5EF4-FFF2-40B4-BE49-F238E27FC236}">
                <a16:creationId xmlns:a16="http://schemas.microsoft.com/office/drawing/2014/main" id="{CCCB790A-BF2E-4AB2-B27A-2F6038A4245D}"/>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164">
            <a:extLst>
              <a:ext uri="{FF2B5EF4-FFF2-40B4-BE49-F238E27FC236}">
                <a16:creationId xmlns:a16="http://schemas.microsoft.com/office/drawing/2014/main" id="{157DA5B0-5B52-44DC-B3E1-FB6BC3DF56A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a:ext uri="{FF2B5EF4-FFF2-40B4-BE49-F238E27FC236}">
                <a16:creationId xmlns:a16="http://schemas.microsoft.com/office/drawing/2014/main" id="{74DAD04D-06CA-4AE6-B823-18C1516BDA2D}"/>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9" name="Picture 8" descr="Authentic Stateflow autopilot mode logic chart">
            <a:extLst>
              <a:ext uri="{FF2B5EF4-FFF2-40B4-BE49-F238E27FC236}">
                <a16:creationId xmlns:a16="http://schemas.microsoft.com/office/drawing/2014/main" id="{42EF5257-67FA-39DD-F8FB-B0D304A43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3755" y="1422400"/>
            <a:ext cx="3464489"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23618ECA-A11B-4499-ACD8-1AC2F1F48831}"/>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Illustrative Stateflow training model • guards govern OFF, ARMED, ENGAGED, and DEGRADED</a:t>
            </a:r>
          </a:p>
        </p:txBody>
      </p:sp>
    </p:spTree>
    <p:extLst>
      <p:ext uri="{BB962C8B-B14F-4D97-AF65-F5344CB8AC3E}">
        <p14:creationId xmlns:p14="http://schemas.microsoft.com/office/powerpoint/2010/main" val="812255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12" name="section-185">
            <a:extLst>
              <a:ext uri="{FF2B5EF4-FFF2-40B4-BE49-F238E27FC236}">
                <a16:creationId xmlns:a16="http://schemas.microsoft.com/office/drawing/2014/main" id="{9ECBB10C-BDEE-42BA-BC58-1616AC817DE6}"/>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a:ext uri="{FF2B5EF4-FFF2-40B4-BE49-F238E27FC236}">
                <a16:creationId xmlns:a16="http://schemas.microsoft.com/office/drawing/2014/main" id="{95029AD8-33BB-466C-973C-ABB106C321CD}"/>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a:ext uri="{FF2B5EF4-FFF2-40B4-BE49-F238E27FC236}">
                <a16:creationId xmlns:a16="http://schemas.microsoft.com/office/drawing/2014/main" id="{DEAC6CD3-D6B2-40FA-9B66-00776218FB55}"/>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187">
            <a:extLst>
              <a:ext uri="{FF2B5EF4-FFF2-40B4-BE49-F238E27FC236}">
                <a16:creationId xmlns:a16="http://schemas.microsoft.com/office/drawing/2014/main" id="{1797CB8B-55BE-4F5A-8698-A12430D0582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a:ext uri="{FF2B5EF4-FFF2-40B4-BE49-F238E27FC236}">
                <a16:creationId xmlns:a16="http://schemas.microsoft.com/office/drawing/2014/main" id="{548FAB36-A9AF-44C1-8C30-9F1DEDDBD29C}"/>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a:ext uri="{FF2B5EF4-FFF2-40B4-BE49-F238E27FC236}">
                <a16:creationId xmlns:a16="http://schemas.microsoft.com/office/drawing/2014/main" id="{49061C23-3405-450D-9EF0-EAFB08C75833}"/>
              </a:ext>
            </a:extLst>
          </p:cNvPr>
          <p:cNvSpPr>
            <a:spLocks noGrp="1"/>
          </p:cNvSpPr>
          <p:nvPr/>
        </p:nvSpPr>
        <p:spPr>
          <a:xfrm>
            <a:off x="857250" y="1619250"/>
            <a:ext cx="4286250" cy="514350"/>
          </a:xfrm>
          <a:prstGeom prst="rect">
            <a:avLst/>
          </a:prstGeom>
          <a:noFill/>
          <a:ln w="0">
            <a:noFill/>
            <a:prstDash val="solid"/>
          </a:ln>
        </p:spPr>
        <p:txBody>
          <a:bodyPr wrap="square" lIns="38100" tIns="38100" rIns="38100" bIns="38100" anchor="t">
            <a:noAutofit/>
          </a:bodyPr>
          <a:lstStyle/>
          <a:p>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a:ext uri="{FF2B5EF4-FFF2-40B4-BE49-F238E27FC236}">
                <a16:creationId xmlns:a16="http://schemas.microsoft.com/office/drawing/2014/main" id="{57F1CB50-CA88-4E57-819C-D72B329EC011}"/>
              </a:ext>
            </a:extLst>
          </p:cNvPr>
          <p:cNvSpPr>
            <a:spLocks noGrp="1"/>
          </p:cNvSpPr>
          <p:nvPr/>
        </p:nvSpPr>
        <p:spPr>
          <a:xfrm>
            <a:off x="819150" y="2286000"/>
            <a:ext cx="4762500" cy="2190750"/>
          </a:xfrm>
          <a:prstGeom prst="rect">
            <a:avLst/>
          </a:prstGeom>
          <a:noFill/>
          <a:ln w="0">
            <a:noFill/>
            <a:prstDash val="solid"/>
          </a:ln>
        </p:spPr>
        <p:txBody>
          <a:bodyPr wrap="square" lIns="19050" tIns="0" rIns="19050" bIns="0" anchor="t">
            <a:noAutofit/>
          </a:bodyPr>
          <a:lstStyle/>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a:ext uri="{FF2B5EF4-FFF2-40B4-BE49-F238E27FC236}">
                <a16:creationId xmlns:a16="http://schemas.microsoft.com/office/drawing/2014/main" id="{544FA59D-E7D5-4945-961A-9CE3EA8E4211}"/>
              </a:ext>
            </a:extLst>
          </p:cNvPr>
          <p:cNvSpPr>
            <a:spLocks noGrp="1"/>
          </p:cNvSpPr>
          <p:nvPr/>
        </p:nvSpPr>
        <p:spPr>
          <a:xfrm>
            <a:off x="6000750" y="1600200"/>
            <a:ext cx="0" cy="3143250"/>
          </a:xfrm>
          <a:prstGeom prst="line">
            <a:avLst/>
          </a:prstGeom>
          <a:noFill/>
          <a:ln w="19050">
            <a:solidFill>
              <a:srgbClr val="143A55"/>
            </a:solidFill>
            <a:prstDash val="solid"/>
          </a:ln>
        </p:spPr>
      </p:sp>
      <p:sp>
        <p:nvSpPr>
          <p:cNvPr id="9" name="text-192">
            <a:extLst>
              <a:ext uri="{FF2B5EF4-FFF2-40B4-BE49-F238E27FC236}">
                <a16:creationId xmlns:a16="http://schemas.microsoft.com/office/drawing/2014/main" id="{B58FE811-97AC-41C3-AAC8-7C13A877C8D9}"/>
              </a:ext>
            </a:extLst>
          </p:cNvPr>
          <p:cNvSpPr>
            <a:spLocks noGrp="1"/>
          </p:cNvSpPr>
          <p:nvPr/>
        </p:nvSpPr>
        <p:spPr>
          <a:xfrm>
            <a:off x="6667500" y="1619250"/>
            <a:ext cx="4286250" cy="514350"/>
          </a:xfrm>
          <a:prstGeom prst="rect">
            <a:avLst/>
          </a:prstGeom>
          <a:noFill/>
          <a:ln w="0">
            <a:noFill/>
            <a:prstDash val="solid"/>
          </a:ln>
        </p:spPr>
        <p:txBody>
          <a:bodyPr wrap="square" lIns="38100" tIns="38100" rIns="38100" bIns="38100" anchor="t">
            <a:noAutofit/>
          </a:bodyPr>
          <a:lstStyle/>
          <a:p>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a:ext uri="{FF2B5EF4-FFF2-40B4-BE49-F238E27FC236}">
                <a16:creationId xmlns:a16="http://schemas.microsoft.com/office/drawing/2014/main" id="{4A1EBF62-8C57-4EC3-87D5-8E3816630AC0}"/>
              </a:ext>
            </a:extLst>
          </p:cNvPr>
          <p:cNvSpPr>
            <a:spLocks noGrp="1"/>
          </p:cNvSpPr>
          <p:nvPr/>
        </p:nvSpPr>
        <p:spPr>
          <a:xfrm>
            <a:off x="6629400" y="2286000"/>
            <a:ext cx="4762500" cy="2190750"/>
          </a:xfrm>
          <a:prstGeom prst="rect">
            <a:avLst/>
          </a:prstGeom>
          <a:noFill/>
          <a:ln w="0">
            <a:noFill/>
            <a:prstDash val="solid"/>
          </a:ln>
        </p:spPr>
        <p:txBody>
          <a:bodyPr wrap="square" lIns="19050" tIns="0" rIns="19050" bIns="0" anchor="t">
            <a:noAutofit/>
          </a:bodyPr>
          <a:lstStyle/>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a:ext uri="{FF2B5EF4-FFF2-40B4-BE49-F238E27FC236}">
                <a16:creationId xmlns:a16="http://schemas.microsoft.com/office/drawing/2014/main" id="{0E66498C-6F65-4A68-BCC6-ADF35C1A4BB2}"/>
              </a:ext>
            </a:extLst>
          </p:cNvPr>
          <p:cNvSpPr>
            <a:spLocks noGrp="1"/>
          </p:cNvSpPr>
          <p:nvPr/>
        </p:nvSpPr>
        <p:spPr>
          <a:xfrm>
            <a:off x="1333500" y="5095875"/>
            <a:ext cx="9525000" cy="704850"/>
          </a:xfrm>
          <a:prstGeom prst="roundRect">
            <a:avLst>
              <a:gd name="adj" fmla="val 13514"/>
            </a:avLst>
          </a:prstGeom>
          <a:solidFill>
            <a:srgbClr val="FFF0D7"/>
          </a:solidFill>
          <a:ln w="9525">
            <a:solidFill>
              <a:srgbClr val="E9A23B"/>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section-194">
            <a:extLst>
              <a:ext uri="{FF2B5EF4-FFF2-40B4-BE49-F238E27FC236}">
                <a16:creationId xmlns:a16="http://schemas.microsoft.com/office/drawing/2014/main" id="{707AA77F-20B3-4DF6-9C63-06B48EB8C041}"/>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a:ext uri="{FF2B5EF4-FFF2-40B4-BE49-F238E27FC236}">
                <a16:creationId xmlns:a16="http://schemas.microsoft.com/office/drawing/2014/main" id="{B9167BA1-9639-40B3-99DF-30AA5669869A}"/>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a:ext uri="{FF2B5EF4-FFF2-40B4-BE49-F238E27FC236}">
                <a16:creationId xmlns:a16="http://schemas.microsoft.com/office/drawing/2014/main" id="{1F485FAA-C85E-4663-9034-1E6592721453}"/>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196">
            <a:extLst>
              <a:ext uri="{FF2B5EF4-FFF2-40B4-BE49-F238E27FC236}">
                <a16:creationId xmlns:a16="http://schemas.microsoft.com/office/drawing/2014/main" id="{D27EA93D-9435-47F2-93AF-75F33B47CCEF}"/>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a:ext uri="{FF2B5EF4-FFF2-40B4-BE49-F238E27FC236}">
                <a16:creationId xmlns:a16="http://schemas.microsoft.com/office/drawing/2014/main" id="{5D800673-C228-4E1A-A9B0-3E50279F7C4D}"/>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a:ext uri="{FF2B5EF4-FFF2-40B4-BE49-F238E27FC236}">
                <a16:creationId xmlns:a16="http://schemas.microsoft.com/office/drawing/2014/main" id="{2AA0EA98-0C84-4212-8FBD-0F497343FF41}"/>
              </a:ext>
            </a:extLst>
          </p:cNvPr>
          <p:cNvSpPr>
            <a:spLocks noGrp="1"/>
          </p:cNvSpPr>
          <p:nvPr/>
        </p:nvSpPr>
        <p:spPr>
          <a:xfrm>
            <a:off x="819150" y="1524000"/>
            <a:ext cx="1047750" cy="22860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a:ext uri="{FF2B5EF4-FFF2-40B4-BE49-F238E27FC236}">
                <a16:creationId xmlns:a16="http://schemas.microsoft.com/office/drawing/2014/main" id="{8FD080BD-1075-466A-9D8A-D6CB952DBD58}"/>
              </a:ext>
            </a:extLst>
          </p:cNvPr>
          <p:cNvSpPr>
            <a:spLocks noGrp="1"/>
          </p:cNvSpPr>
          <p:nvPr/>
        </p:nvSpPr>
        <p:spPr>
          <a:xfrm>
            <a:off x="2381250" y="1524000"/>
            <a:ext cx="3714750" cy="22860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a:ext uri="{FF2B5EF4-FFF2-40B4-BE49-F238E27FC236}">
                <a16:creationId xmlns:a16="http://schemas.microsoft.com/office/drawing/2014/main" id="{8BD70A4B-74AF-4019-B370-68736ABB96D6}"/>
              </a:ext>
            </a:extLst>
          </p:cNvPr>
          <p:cNvSpPr>
            <a:spLocks noGrp="1"/>
          </p:cNvSpPr>
          <p:nvPr/>
        </p:nvSpPr>
        <p:spPr>
          <a:xfrm>
            <a:off x="6858000" y="1524000"/>
            <a:ext cx="4286250" cy="22860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a:ext uri="{FF2B5EF4-FFF2-40B4-BE49-F238E27FC236}">
                <a16:creationId xmlns:a16="http://schemas.microsoft.com/office/drawing/2014/main" id="{0A5813E8-3D75-4A56-B02D-16047C3C3E40}"/>
              </a:ext>
            </a:extLst>
          </p:cNvPr>
          <p:cNvSpPr>
            <a:spLocks noGrp="1"/>
          </p:cNvSpPr>
          <p:nvPr/>
        </p:nvSpPr>
        <p:spPr>
          <a:xfrm>
            <a:off x="819150" y="1847850"/>
            <a:ext cx="704850" cy="533400"/>
          </a:xfrm>
          <a:prstGeom prst="roundRect">
            <a:avLst>
              <a:gd name="adj" fmla="val 50000"/>
            </a:avLst>
          </a:prstGeom>
          <a:solidFill>
            <a:srgbClr val="D75A64"/>
          </a:solidFill>
          <a:ln w="9525">
            <a:solidFill>
              <a:srgbClr val="D75A64"/>
            </a:solidFill>
            <a:prstDash val="solid"/>
          </a:ln>
        </p:spPr>
        <p:txBody>
          <a:bodyPr lIns="76200" tIns="57150" rIns="76200" bIns="57150" anchor="ctr">
            <a:no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a:ext uri="{FF2B5EF4-FFF2-40B4-BE49-F238E27FC236}">
                <a16:creationId xmlns:a16="http://schemas.microsoft.com/office/drawing/2014/main" id="{79281B58-88EA-4DE1-9CB1-97C989ED7AA7}"/>
              </a:ext>
            </a:extLst>
          </p:cNvPr>
          <p:cNvSpPr>
            <a:spLocks noGrp="1"/>
          </p:cNvSpPr>
          <p:nvPr/>
        </p:nvSpPr>
        <p:spPr>
          <a:xfrm>
            <a:off x="2381250" y="1847850"/>
            <a:ext cx="3619500" cy="533400"/>
          </a:xfrm>
          <a:prstGeom prst="rect">
            <a:avLst/>
          </a:prstGeom>
          <a:noFill/>
          <a:ln w="0">
            <a:noFill/>
            <a:prstDash val="solid"/>
          </a:ln>
        </p:spPr>
        <p:txBody>
          <a:bodyPr wrap="square" lIns="38100" tIns="38100" rIns="38100" bIns="38100" anchor="ctr">
            <a:noAutofit/>
          </a:bodyPr>
          <a:lstStyle/>
          <a:p>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a:ext uri="{FF2B5EF4-FFF2-40B4-BE49-F238E27FC236}">
                <a16:creationId xmlns:a16="http://schemas.microsoft.com/office/drawing/2014/main" id="{FAFB43A7-083A-4EB4-A2EA-5E1F866C3787}"/>
              </a:ext>
            </a:extLst>
          </p:cNvPr>
          <p:cNvSpPr>
            <a:spLocks noGrp="1"/>
          </p:cNvSpPr>
          <p:nvPr/>
        </p:nvSpPr>
        <p:spPr>
          <a:xfrm>
            <a:off x="6858000" y="1847850"/>
            <a:ext cx="4476750" cy="5334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a:ext uri="{FF2B5EF4-FFF2-40B4-BE49-F238E27FC236}">
                <a16:creationId xmlns:a16="http://schemas.microsoft.com/office/drawing/2014/main" id="{D9C37BC1-8BB8-40ED-915D-A94CFF714ED8}"/>
              </a:ext>
            </a:extLst>
          </p:cNvPr>
          <p:cNvSpPr>
            <a:spLocks noGrp="1"/>
          </p:cNvSpPr>
          <p:nvPr/>
        </p:nvSpPr>
        <p:spPr>
          <a:xfrm>
            <a:off x="685800" y="2505075"/>
            <a:ext cx="10820400" cy="0"/>
          </a:xfrm>
          <a:prstGeom prst="line">
            <a:avLst/>
          </a:prstGeom>
          <a:noFill/>
          <a:ln w="9525">
            <a:solidFill>
              <a:srgbClr val="C9D8E3"/>
            </a:solidFill>
            <a:prstDash val="solid"/>
          </a:ln>
        </p:spPr>
      </p:sp>
      <p:sp>
        <p:nvSpPr>
          <p:cNvPr id="13" name="box-205">
            <a:extLst>
              <a:ext uri="{FF2B5EF4-FFF2-40B4-BE49-F238E27FC236}">
                <a16:creationId xmlns:a16="http://schemas.microsoft.com/office/drawing/2014/main" id="{2DF4C2AF-55E7-4F11-B4F0-473BC1A918B8}"/>
              </a:ext>
            </a:extLst>
          </p:cNvPr>
          <p:cNvSpPr>
            <a:spLocks noGrp="1"/>
          </p:cNvSpPr>
          <p:nvPr/>
        </p:nvSpPr>
        <p:spPr>
          <a:xfrm>
            <a:off x="819150" y="2628900"/>
            <a:ext cx="704850" cy="533400"/>
          </a:xfrm>
          <a:prstGeom prst="roundRect">
            <a:avLst>
              <a:gd name="adj" fmla="val 50000"/>
            </a:avLst>
          </a:prstGeom>
          <a:solidFill>
            <a:srgbClr val="E77B55"/>
          </a:solidFill>
          <a:ln w="9525">
            <a:solidFill>
              <a:srgbClr val="E77B55"/>
            </a:solidFill>
            <a:prstDash val="solid"/>
          </a:ln>
        </p:spPr>
        <p:txBody>
          <a:bodyPr lIns="76200" tIns="57150" rIns="76200" bIns="57150" anchor="ctr">
            <a:no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a:ext uri="{FF2B5EF4-FFF2-40B4-BE49-F238E27FC236}">
                <a16:creationId xmlns:a16="http://schemas.microsoft.com/office/drawing/2014/main" id="{BBBE9DE0-E4A7-49B0-B7BC-B5D80FE69977}"/>
              </a:ext>
            </a:extLst>
          </p:cNvPr>
          <p:cNvSpPr>
            <a:spLocks noGrp="1"/>
          </p:cNvSpPr>
          <p:nvPr/>
        </p:nvSpPr>
        <p:spPr>
          <a:xfrm>
            <a:off x="2381250" y="2628900"/>
            <a:ext cx="3619500" cy="533400"/>
          </a:xfrm>
          <a:prstGeom prst="rect">
            <a:avLst/>
          </a:prstGeom>
          <a:noFill/>
          <a:ln w="0">
            <a:noFill/>
            <a:prstDash val="solid"/>
          </a:ln>
        </p:spPr>
        <p:txBody>
          <a:bodyPr wrap="square" lIns="38100" tIns="38100" rIns="38100" bIns="38100" anchor="ctr">
            <a:noAutofit/>
          </a:bodyPr>
          <a:lstStyle/>
          <a:p>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a:ext uri="{FF2B5EF4-FFF2-40B4-BE49-F238E27FC236}">
                <a16:creationId xmlns:a16="http://schemas.microsoft.com/office/drawing/2014/main" id="{A24D4E1C-C46D-4F7E-849A-7E5EF2C5D417}"/>
              </a:ext>
            </a:extLst>
          </p:cNvPr>
          <p:cNvSpPr>
            <a:spLocks noGrp="1"/>
          </p:cNvSpPr>
          <p:nvPr/>
        </p:nvSpPr>
        <p:spPr>
          <a:xfrm>
            <a:off x="6858000" y="2628900"/>
            <a:ext cx="4476750" cy="5334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a:ext uri="{FF2B5EF4-FFF2-40B4-BE49-F238E27FC236}">
                <a16:creationId xmlns:a16="http://schemas.microsoft.com/office/drawing/2014/main" id="{9B90CAE9-530B-4F1E-B34F-9E85C2293F4B}"/>
              </a:ext>
            </a:extLst>
          </p:cNvPr>
          <p:cNvSpPr>
            <a:spLocks noGrp="1"/>
          </p:cNvSpPr>
          <p:nvPr/>
        </p:nvSpPr>
        <p:spPr>
          <a:xfrm>
            <a:off x="685800" y="3286125"/>
            <a:ext cx="10820400" cy="0"/>
          </a:xfrm>
          <a:prstGeom prst="line">
            <a:avLst/>
          </a:prstGeom>
          <a:noFill/>
          <a:ln w="9525">
            <a:solidFill>
              <a:srgbClr val="C9D8E3"/>
            </a:solidFill>
            <a:prstDash val="solid"/>
          </a:ln>
        </p:spPr>
      </p:sp>
      <p:sp>
        <p:nvSpPr>
          <p:cNvPr id="17" name="box-209">
            <a:extLst>
              <a:ext uri="{FF2B5EF4-FFF2-40B4-BE49-F238E27FC236}">
                <a16:creationId xmlns:a16="http://schemas.microsoft.com/office/drawing/2014/main" id="{041D66BF-399D-4D87-84C9-D12661B7E4D6}"/>
              </a:ext>
            </a:extLst>
          </p:cNvPr>
          <p:cNvSpPr>
            <a:spLocks noGrp="1"/>
          </p:cNvSpPr>
          <p:nvPr/>
        </p:nvSpPr>
        <p:spPr>
          <a:xfrm>
            <a:off x="819150" y="3409950"/>
            <a:ext cx="704850" cy="533400"/>
          </a:xfrm>
          <a:prstGeom prst="roundRect">
            <a:avLst>
              <a:gd name="adj" fmla="val 50000"/>
            </a:avLst>
          </a:prstGeom>
          <a:solidFill>
            <a:srgbClr val="E9A23B"/>
          </a:solidFill>
          <a:ln w="9525">
            <a:solidFill>
              <a:srgbClr val="E9A23B"/>
            </a:solidFill>
            <a:prstDash val="solid"/>
          </a:ln>
        </p:spPr>
        <p:txBody>
          <a:bodyPr lIns="76200" tIns="57150" rIns="76200" bIns="57150" anchor="ctr">
            <a:no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a:ext uri="{FF2B5EF4-FFF2-40B4-BE49-F238E27FC236}">
                <a16:creationId xmlns:a16="http://schemas.microsoft.com/office/drawing/2014/main" id="{9681BC13-7FC6-4EF6-91BE-DFE868F1F353}"/>
              </a:ext>
            </a:extLst>
          </p:cNvPr>
          <p:cNvSpPr>
            <a:spLocks noGrp="1"/>
          </p:cNvSpPr>
          <p:nvPr/>
        </p:nvSpPr>
        <p:spPr>
          <a:xfrm>
            <a:off x="2381250" y="3409950"/>
            <a:ext cx="3619500" cy="533400"/>
          </a:xfrm>
          <a:prstGeom prst="rect">
            <a:avLst/>
          </a:prstGeom>
          <a:noFill/>
          <a:ln w="0">
            <a:noFill/>
            <a:prstDash val="solid"/>
          </a:ln>
        </p:spPr>
        <p:txBody>
          <a:bodyPr wrap="square" lIns="38100" tIns="38100" rIns="38100" bIns="38100" anchor="ctr">
            <a:noAutofit/>
          </a:bodyPr>
          <a:lstStyle/>
          <a:p>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a:ext uri="{FF2B5EF4-FFF2-40B4-BE49-F238E27FC236}">
                <a16:creationId xmlns:a16="http://schemas.microsoft.com/office/drawing/2014/main" id="{63014AB2-8DE6-43E5-AE3F-A6B5A4BBF5E0}"/>
              </a:ext>
            </a:extLst>
          </p:cNvPr>
          <p:cNvSpPr>
            <a:spLocks noGrp="1"/>
          </p:cNvSpPr>
          <p:nvPr/>
        </p:nvSpPr>
        <p:spPr>
          <a:xfrm>
            <a:off x="6858000" y="3409950"/>
            <a:ext cx="4476750" cy="5334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a:ext uri="{FF2B5EF4-FFF2-40B4-BE49-F238E27FC236}">
                <a16:creationId xmlns:a16="http://schemas.microsoft.com/office/drawing/2014/main" id="{235BDA4A-016F-4D51-8911-9652F432B408}"/>
              </a:ext>
            </a:extLst>
          </p:cNvPr>
          <p:cNvSpPr>
            <a:spLocks noGrp="1"/>
          </p:cNvSpPr>
          <p:nvPr/>
        </p:nvSpPr>
        <p:spPr>
          <a:xfrm>
            <a:off x="685800" y="4067175"/>
            <a:ext cx="10820400" cy="0"/>
          </a:xfrm>
          <a:prstGeom prst="line">
            <a:avLst/>
          </a:prstGeom>
          <a:noFill/>
          <a:ln w="9525">
            <a:solidFill>
              <a:srgbClr val="C9D8E3"/>
            </a:solidFill>
            <a:prstDash val="solid"/>
          </a:ln>
        </p:spPr>
      </p:sp>
      <p:sp>
        <p:nvSpPr>
          <p:cNvPr id="21" name="box-213">
            <a:extLst>
              <a:ext uri="{FF2B5EF4-FFF2-40B4-BE49-F238E27FC236}">
                <a16:creationId xmlns:a16="http://schemas.microsoft.com/office/drawing/2014/main" id="{6A8CE61B-4113-40B4-9472-98858F298927}"/>
              </a:ext>
            </a:extLst>
          </p:cNvPr>
          <p:cNvSpPr>
            <a:spLocks noGrp="1"/>
          </p:cNvSpPr>
          <p:nvPr/>
        </p:nvSpPr>
        <p:spPr>
          <a:xfrm>
            <a:off x="819150" y="4191000"/>
            <a:ext cx="704850" cy="533400"/>
          </a:xfrm>
          <a:prstGeom prst="roundRect">
            <a:avLst>
              <a:gd name="adj" fmla="val 50000"/>
            </a:avLst>
          </a:prstGeom>
          <a:solidFill>
            <a:srgbClr val="2D6CDF"/>
          </a:solidFill>
          <a:ln w="9525">
            <a:solidFill>
              <a:srgbClr val="2D6CDF"/>
            </a:solidFill>
            <a:prstDash val="solid"/>
          </a:ln>
        </p:spPr>
        <p:txBody>
          <a:bodyPr lIns="76200" tIns="57150" rIns="76200" bIns="57150" anchor="ctr">
            <a:no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a:ext uri="{FF2B5EF4-FFF2-40B4-BE49-F238E27FC236}">
                <a16:creationId xmlns:a16="http://schemas.microsoft.com/office/drawing/2014/main" id="{EFAA4053-2112-42F2-8596-CD25FA44EC58}"/>
              </a:ext>
            </a:extLst>
          </p:cNvPr>
          <p:cNvSpPr>
            <a:spLocks noGrp="1"/>
          </p:cNvSpPr>
          <p:nvPr/>
        </p:nvSpPr>
        <p:spPr>
          <a:xfrm>
            <a:off x="2381250" y="4191000"/>
            <a:ext cx="3619500" cy="533400"/>
          </a:xfrm>
          <a:prstGeom prst="rect">
            <a:avLst/>
          </a:prstGeom>
          <a:noFill/>
          <a:ln w="0">
            <a:noFill/>
            <a:prstDash val="solid"/>
          </a:ln>
        </p:spPr>
        <p:txBody>
          <a:bodyPr wrap="square" lIns="38100" tIns="38100" rIns="38100" bIns="38100" anchor="ctr">
            <a:noAutofit/>
          </a:bodyPr>
          <a:lstStyle/>
          <a:p>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a:ext uri="{FF2B5EF4-FFF2-40B4-BE49-F238E27FC236}">
                <a16:creationId xmlns:a16="http://schemas.microsoft.com/office/drawing/2014/main" id="{B66F9692-3F9D-41D5-8E5A-BBB836F2C1F3}"/>
              </a:ext>
            </a:extLst>
          </p:cNvPr>
          <p:cNvSpPr>
            <a:spLocks noGrp="1"/>
          </p:cNvSpPr>
          <p:nvPr/>
        </p:nvSpPr>
        <p:spPr>
          <a:xfrm>
            <a:off x="6858000" y="4191000"/>
            <a:ext cx="4476750" cy="5334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a:ext uri="{FF2B5EF4-FFF2-40B4-BE49-F238E27FC236}">
                <a16:creationId xmlns:a16="http://schemas.microsoft.com/office/drawing/2014/main" id="{5FF42F7F-ED34-4BC4-9DB2-9A2179D4F708}"/>
              </a:ext>
            </a:extLst>
          </p:cNvPr>
          <p:cNvSpPr>
            <a:spLocks noGrp="1"/>
          </p:cNvSpPr>
          <p:nvPr/>
        </p:nvSpPr>
        <p:spPr>
          <a:xfrm>
            <a:off x="685800" y="4848225"/>
            <a:ext cx="10820400" cy="0"/>
          </a:xfrm>
          <a:prstGeom prst="line">
            <a:avLst/>
          </a:prstGeom>
          <a:noFill/>
          <a:ln w="9525">
            <a:solidFill>
              <a:srgbClr val="C9D8E3"/>
            </a:solidFill>
            <a:prstDash val="solid"/>
          </a:ln>
        </p:spPr>
      </p:sp>
      <p:sp>
        <p:nvSpPr>
          <p:cNvPr id="25" name="box-217">
            <a:extLst>
              <a:ext uri="{FF2B5EF4-FFF2-40B4-BE49-F238E27FC236}">
                <a16:creationId xmlns:a16="http://schemas.microsoft.com/office/drawing/2014/main" id="{747D2BD8-1180-48AE-BBC5-76BCD2A1DC11}"/>
              </a:ext>
            </a:extLst>
          </p:cNvPr>
          <p:cNvSpPr>
            <a:spLocks noGrp="1"/>
          </p:cNvSpPr>
          <p:nvPr/>
        </p:nvSpPr>
        <p:spPr>
          <a:xfrm>
            <a:off x="819150" y="4972050"/>
            <a:ext cx="704850" cy="533400"/>
          </a:xfrm>
          <a:prstGeom prst="roundRect">
            <a:avLst>
              <a:gd name="adj" fmla="val 50000"/>
            </a:avLst>
          </a:prstGeom>
          <a:solidFill>
            <a:srgbClr val="5D7487"/>
          </a:solidFill>
          <a:ln w="9525">
            <a:solidFill>
              <a:srgbClr val="5D7487"/>
            </a:solidFill>
            <a:prstDash val="solid"/>
          </a:ln>
        </p:spPr>
        <p:txBody>
          <a:bodyPr lIns="76200" tIns="57150" rIns="76200" bIns="57150" anchor="ctr">
            <a:no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a:ext uri="{FF2B5EF4-FFF2-40B4-BE49-F238E27FC236}">
                <a16:creationId xmlns:a16="http://schemas.microsoft.com/office/drawing/2014/main" id="{C508514B-81D5-4E14-9ECE-18E0251D5783}"/>
              </a:ext>
            </a:extLst>
          </p:cNvPr>
          <p:cNvSpPr>
            <a:spLocks noGrp="1"/>
          </p:cNvSpPr>
          <p:nvPr/>
        </p:nvSpPr>
        <p:spPr>
          <a:xfrm>
            <a:off x="2381250" y="4972050"/>
            <a:ext cx="3619500" cy="533400"/>
          </a:xfrm>
          <a:prstGeom prst="rect">
            <a:avLst/>
          </a:prstGeom>
          <a:noFill/>
          <a:ln w="0">
            <a:noFill/>
            <a:prstDash val="solid"/>
          </a:ln>
        </p:spPr>
        <p:txBody>
          <a:bodyPr wrap="square" lIns="38100" tIns="38100" rIns="38100" bIns="38100" anchor="ctr">
            <a:noAutofit/>
          </a:bodyPr>
          <a:lstStyle/>
          <a:p>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a:ext uri="{FF2B5EF4-FFF2-40B4-BE49-F238E27FC236}">
                <a16:creationId xmlns:a16="http://schemas.microsoft.com/office/drawing/2014/main" id="{F597FE5C-C97D-4F1E-8917-90F2EAA86E52}"/>
              </a:ext>
            </a:extLst>
          </p:cNvPr>
          <p:cNvSpPr>
            <a:spLocks noGrp="1"/>
          </p:cNvSpPr>
          <p:nvPr/>
        </p:nvSpPr>
        <p:spPr>
          <a:xfrm>
            <a:off x="6858000" y="4972050"/>
            <a:ext cx="4476750" cy="5334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a:ext uri="{FF2B5EF4-FFF2-40B4-BE49-F238E27FC236}">
                <a16:creationId xmlns:a16="http://schemas.microsoft.com/office/drawing/2014/main" id="{6E1FE35D-FD8C-4D89-9F34-00BF2CE82BBC}"/>
              </a:ext>
            </a:extLst>
          </p:cNvPr>
          <p:cNvSpPr>
            <a:spLocks noGrp="1"/>
          </p:cNvSpPr>
          <p:nvPr/>
        </p:nvSpPr>
        <p:spPr>
          <a:xfrm>
            <a:off x="685800" y="5629275"/>
            <a:ext cx="10820400" cy="0"/>
          </a:xfrm>
          <a:prstGeom prst="line">
            <a:avLst/>
          </a:prstGeom>
          <a:noFill/>
          <a:ln w="9525">
            <a:solidFill>
              <a:srgbClr val="C9D8E3"/>
            </a:solidFill>
            <a:prstDash val="solid"/>
          </a:ln>
        </p:spPr>
      </p:sp>
      <p:sp>
        <p:nvSpPr>
          <p:cNvPr id="29" name="text-221">
            <a:extLst>
              <a:ext uri="{FF2B5EF4-FFF2-40B4-BE49-F238E27FC236}">
                <a16:creationId xmlns:a16="http://schemas.microsoft.com/office/drawing/2014/main" id="{62B27D99-174C-49B7-9B54-B4DD22B196B8}"/>
              </a:ext>
            </a:extLst>
          </p:cNvPr>
          <p:cNvSpPr>
            <a:spLocks noGrp="1"/>
          </p:cNvSpPr>
          <p:nvPr/>
        </p:nvSpPr>
        <p:spPr>
          <a:xfrm>
            <a:off x="990600" y="5857875"/>
            <a:ext cx="10210800" cy="381000"/>
          </a:xfrm>
          <a:prstGeom prst="rect">
            <a:avLst/>
          </a:prstGeom>
          <a:noFill/>
          <a:ln w="0">
            <a:noFill/>
            <a:prstDash val="solid"/>
          </a:ln>
        </p:spPr>
        <p:txBody>
          <a:bodyPr wrap="square" lIns="38100" tIns="38100" rIns="38100" bIns="38100" anchor="t">
            <a:noAutofit/>
          </a:bodyPr>
          <a:lstStyle/>
          <a:p>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1" name="section-221">
            <a:extLst>
              <a:ext uri="{FF2B5EF4-FFF2-40B4-BE49-F238E27FC236}">
                <a16:creationId xmlns:a16="http://schemas.microsoft.com/office/drawing/2014/main" id="{161B4F6E-1D9F-43A3-A35D-FE7D39C6A75A}"/>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a:ext uri="{FF2B5EF4-FFF2-40B4-BE49-F238E27FC236}">
                <a16:creationId xmlns:a16="http://schemas.microsoft.com/office/drawing/2014/main" id="{FDE57E6C-742E-465C-BDD9-4B6AF2DAA6DC}"/>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a:ext uri="{FF2B5EF4-FFF2-40B4-BE49-F238E27FC236}">
                <a16:creationId xmlns:a16="http://schemas.microsoft.com/office/drawing/2014/main" id="{B143FFE8-C825-4D1C-BCA7-C90445F792E7}"/>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223">
            <a:extLst>
              <a:ext uri="{FF2B5EF4-FFF2-40B4-BE49-F238E27FC236}">
                <a16:creationId xmlns:a16="http://schemas.microsoft.com/office/drawing/2014/main" id="{09BFCE7C-EBD6-4EE5-9952-68FE8025E2B2}"/>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24">
            <a:extLst>
              <a:ext uri="{FF2B5EF4-FFF2-40B4-BE49-F238E27FC236}">
                <a16:creationId xmlns:a16="http://schemas.microsoft.com/office/drawing/2014/main" id="{E189063A-2BC8-45A5-AD92-332DFD39F0B9}"/>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a:ext uri="{FF2B5EF4-FFF2-40B4-BE49-F238E27FC236}">
                <a16:creationId xmlns:a16="http://schemas.microsoft.com/office/drawing/2014/main" id="{D01F76BD-97E0-4C59-9E93-763C9649C118}"/>
              </a:ext>
            </a:extLst>
          </p:cNvPr>
          <p:cNvSpPr>
            <a:spLocks noGrp="1"/>
          </p:cNvSpPr>
          <p:nvPr/>
        </p:nvSpPr>
        <p:spPr>
          <a:xfrm>
            <a:off x="781050" y="2095500"/>
            <a:ext cx="2000250" cy="742950"/>
          </a:xfrm>
          <a:prstGeom prst="roundRect">
            <a:avLst>
              <a:gd name="adj" fmla="val 12821"/>
            </a:avLst>
          </a:prstGeom>
          <a:solidFill>
            <a:srgbClr val="E2ECFF"/>
          </a:solidFill>
          <a:ln w="19050">
            <a:solidFill>
              <a:srgbClr val="2D6CDF"/>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a:ext uri="{FF2B5EF4-FFF2-40B4-BE49-F238E27FC236}">
                <a16:creationId xmlns:a16="http://schemas.microsoft.com/office/drawing/2014/main" id="{9B8C7A20-5105-460C-BEB1-49DBCA30DFE1}"/>
              </a:ext>
            </a:extLst>
          </p:cNvPr>
          <p:cNvSpPr>
            <a:spLocks noGrp="1"/>
          </p:cNvSpPr>
          <p:nvPr/>
        </p:nvSpPr>
        <p:spPr>
          <a:xfrm>
            <a:off x="3371850" y="2095500"/>
            <a:ext cx="2000250" cy="742950"/>
          </a:xfrm>
          <a:prstGeom prst="roundRect">
            <a:avLst>
              <a:gd name="adj" fmla="val 12821"/>
            </a:avLst>
          </a:prstGeom>
          <a:solidFill>
            <a:srgbClr val="DFF6F8"/>
          </a:solidFill>
          <a:ln w="19050">
            <a:solidFill>
              <a:srgbClr val="20B7C5"/>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a:ext uri="{FF2B5EF4-FFF2-40B4-BE49-F238E27FC236}">
                <a16:creationId xmlns:a16="http://schemas.microsoft.com/office/drawing/2014/main" id="{BEB03EEC-E091-45E6-B05B-24CCE99BD531}"/>
              </a:ext>
            </a:extLst>
          </p:cNvPr>
          <p:cNvSpPr>
            <a:spLocks noGrp="1"/>
          </p:cNvSpPr>
          <p:nvPr/>
        </p:nvSpPr>
        <p:spPr>
          <a:xfrm>
            <a:off x="5962650" y="2095500"/>
            <a:ext cx="2000250" cy="742950"/>
          </a:xfrm>
          <a:prstGeom prst="roundRect">
            <a:avLst>
              <a:gd name="adj" fmla="val 12821"/>
            </a:avLst>
          </a:prstGeom>
          <a:solidFill>
            <a:srgbClr val="FFF0D7"/>
          </a:solidFill>
          <a:ln w="19050">
            <a:solidFill>
              <a:srgbClr val="E9A23B"/>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a:ext uri="{FF2B5EF4-FFF2-40B4-BE49-F238E27FC236}">
                <a16:creationId xmlns:a16="http://schemas.microsoft.com/office/drawing/2014/main" id="{AAA547DB-9FB2-43B1-BAFC-ECAC08C98C18}"/>
              </a:ext>
            </a:extLst>
          </p:cNvPr>
          <p:cNvSpPr>
            <a:spLocks noGrp="1"/>
          </p:cNvSpPr>
          <p:nvPr/>
        </p:nvSpPr>
        <p:spPr>
          <a:xfrm>
            <a:off x="8553450" y="2095500"/>
            <a:ext cx="2667000" cy="742950"/>
          </a:xfrm>
          <a:prstGeom prst="roundRect">
            <a:avLst>
              <a:gd name="adj" fmla="val 12821"/>
            </a:avLst>
          </a:prstGeom>
          <a:solidFill>
            <a:srgbClr val="E2F4EA"/>
          </a:solidFill>
          <a:ln w="19050">
            <a:solidFill>
              <a:srgbClr val="2CA56F"/>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30" name="Straight Arrow Connector 29"/>
          <p:cNvCxnSpPr>
            <a:stCxn id="6" idx="3"/>
            <a:endCxn id="7" idx="1"/>
          </p:cNvCxnSpPr>
          <p:nvPr/>
        </p:nvCxnSpPr>
        <p:spPr>
          <a:xfrm>
            <a:off x="2781300" y="2466975"/>
            <a:ext cx="590550" cy="0"/>
          </a:xfrm>
          <a:prstGeom prst="straightConnector1">
            <a:avLst/>
          </a:prstGeom>
          <a:ln w="28575">
            <a:solidFill>
              <a:srgbClr val="2D6CDF"/>
            </a:solidFill>
            <a:prstDash val="solid"/>
            <a:headEnd type="triangle" w="sm" len="sm"/>
            <a:tailEnd type="triangle" w="sm" len="sm"/>
          </a:ln>
        </p:spPr>
      </p:cxnSp>
      <p:cxnSp>
        <p:nvCxnSpPr>
          <p:cNvPr id="31" name="Straight Arrow Connector 30"/>
          <p:cNvCxnSpPr>
            <a:stCxn id="7" idx="3"/>
            <a:endCxn id="8" idx="1"/>
          </p:cNvCxnSpPr>
          <p:nvPr/>
        </p:nvCxnSpPr>
        <p:spPr>
          <a:xfrm>
            <a:off x="5372100" y="2466975"/>
            <a:ext cx="590550" cy="0"/>
          </a:xfrm>
          <a:prstGeom prst="straightConnector1">
            <a:avLst/>
          </a:prstGeom>
          <a:ln w="28575">
            <a:solidFill>
              <a:srgbClr val="20B7C5"/>
            </a:solidFill>
            <a:prstDash val="solid"/>
            <a:headEnd type="triangle" w="sm" len="sm"/>
            <a:tailEnd type="triangle" w="sm" len="sm"/>
          </a:ln>
        </p:spPr>
      </p:cxnSp>
      <p:cxnSp>
        <p:nvCxnSpPr>
          <p:cNvPr id="32" name="Straight Arrow Connector 31"/>
          <p:cNvCxnSpPr>
            <a:stCxn id="8" idx="3"/>
            <a:endCxn id="9" idx="1"/>
          </p:cNvCxnSpPr>
          <p:nvPr/>
        </p:nvCxnSpPr>
        <p:spPr>
          <a:xfrm>
            <a:off x="7962900" y="2466975"/>
            <a:ext cx="590550" cy="0"/>
          </a:xfrm>
          <a:prstGeom prst="straightConnector1">
            <a:avLst/>
          </a:prstGeom>
          <a:ln w="28575">
            <a:solidFill>
              <a:srgbClr val="2CA56F"/>
            </a:solidFill>
            <a:prstDash val="solid"/>
            <a:headEnd type="triangle" w="sm" len="sm"/>
            <a:tailEnd type="triangle" w="sm" len="sm"/>
          </a:ln>
        </p:spPr>
      </p:cxnSp>
      <p:sp>
        <p:nvSpPr>
          <p:cNvPr id="13" name="text-229">
            <a:extLst>
              <a:ext uri="{FF2B5EF4-FFF2-40B4-BE49-F238E27FC236}">
                <a16:creationId xmlns:a16="http://schemas.microsoft.com/office/drawing/2014/main" id="{D75AF412-4462-4C03-B105-F35B61A01F8B}"/>
              </a:ext>
            </a:extLst>
          </p:cNvPr>
          <p:cNvSpPr>
            <a:spLocks noGrp="1"/>
          </p:cNvSpPr>
          <p:nvPr/>
        </p:nvSpPr>
        <p:spPr>
          <a:xfrm>
            <a:off x="1524000" y="3143250"/>
            <a:ext cx="9144000" cy="342900"/>
          </a:xfrm>
          <a:prstGeom prst="rect">
            <a:avLst/>
          </a:prstGeom>
          <a:noFill/>
          <a:ln w="0">
            <a:noFill/>
            <a:prstDash val="solid"/>
          </a:ln>
        </p:spPr>
        <p:txBody>
          <a:bodyPr wrap="square" lIns="38100" tIns="38100" rIns="38100" bIns="38100" anchor="t">
            <a:noAutofit/>
          </a:bodyPr>
          <a:lstStyle/>
          <a:p>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a:ext uri="{FF2B5EF4-FFF2-40B4-BE49-F238E27FC236}">
                <a16:creationId xmlns:a16="http://schemas.microsoft.com/office/drawing/2014/main" id="{B366386A-F82D-4B5F-A1C0-BBBD65A12AC1}"/>
              </a:ext>
            </a:extLst>
          </p:cNvPr>
          <p:cNvSpPr>
            <a:spLocks noGrp="1"/>
          </p:cNvSpPr>
          <p:nvPr/>
        </p:nvSpPr>
        <p:spPr>
          <a:xfrm>
            <a:off x="819150" y="4000500"/>
            <a:ext cx="2857500" cy="26670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a:ext uri="{FF2B5EF4-FFF2-40B4-BE49-F238E27FC236}">
                <a16:creationId xmlns:a16="http://schemas.microsoft.com/office/drawing/2014/main" id="{28F19DBA-C55C-4970-9893-18A335A71FBE}"/>
              </a:ext>
            </a:extLst>
          </p:cNvPr>
          <p:cNvSpPr>
            <a:spLocks noGrp="1"/>
          </p:cNvSpPr>
          <p:nvPr/>
        </p:nvSpPr>
        <p:spPr>
          <a:xfrm>
            <a:off x="800100" y="4457700"/>
            <a:ext cx="1943100" cy="647700"/>
          </a:xfrm>
          <a:prstGeom prst="roundRect">
            <a:avLst>
              <a:gd name="adj" fmla="val 11765"/>
            </a:avLst>
          </a:prstGeom>
          <a:solidFill>
            <a:srgbClr val="FFFFFF"/>
          </a:solidFill>
          <a:ln w="9525">
            <a:solidFill>
              <a:srgbClr val="C9D8E3"/>
            </a:solidFill>
            <a:prstDash val="solid"/>
          </a:ln>
        </p:spPr>
        <p:txBody>
          <a:bodyPr lIns="76200" tIns="57150" rIns="76200" bIns="57150" anchor="ctr">
            <a:noAutofit/>
          </a:bodyPr>
          <a:lstStyle/>
          <a:p>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a:ext uri="{FF2B5EF4-FFF2-40B4-BE49-F238E27FC236}">
                <a16:creationId xmlns:a16="http://schemas.microsoft.com/office/drawing/2014/main" id="{A2CCDA69-A083-4794-8209-FDCA6B456845}"/>
              </a:ext>
            </a:extLst>
          </p:cNvPr>
          <p:cNvSpPr>
            <a:spLocks noGrp="1"/>
          </p:cNvSpPr>
          <p:nvPr/>
        </p:nvSpPr>
        <p:spPr>
          <a:xfrm>
            <a:off x="2952750" y="4457700"/>
            <a:ext cx="1943100" cy="647700"/>
          </a:xfrm>
          <a:prstGeom prst="roundRect">
            <a:avLst>
              <a:gd name="adj" fmla="val 11765"/>
            </a:avLst>
          </a:prstGeom>
          <a:solidFill>
            <a:srgbClr val="FFFFFF"/>
          </a:solidFill>
          <a:ln w="9525">
            <a:solidFill>
              <a:srgbClr val="C9D8E3"/>
            </a:solidFill>
            <a:prstDash val="solid"/>
          </a:ln>
        </p:spPr>
        <p:txBody>
          <a:bodyPr lIns="76200" tIns="57150" rIns="76200" bIns="57150" anchor="ctr">
            <a:noAutofit/>
          </a:bodyPr>
          <a:lstStyle/>
          <a:p>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a:ext uri="{FF2B5EF4-FFF2-40B4-BE49-F238E27FC236}">
                <a16:creationId xmlns:a16="http://schemas.microsoft.com/office/drawing/2014/main" id="{9D046AB9-CE5C-43EF-B6ED-C28DDC2449BA}"/>
              </a:ext>
            </a:extLst>
          </p:cNvPr>
          <p:cNvSpPr>
            <a:spLocks noGrp="1"/>
          </p:cNvSpPr>
          <p:nvPr/>
        </p:nvSpPr>
        <p:spPr>
          <a:xfrm>
            <a:off x="5105400" y="4457700"/>
            <a:ext cx="1943100" cy="647700"/>
          </a:xfrm>
          <a:prstGeom prst="roundRect">
            <a:avLst>
              <a:gd name="adj" fmla="val 11765"/>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a:ext uri="{FF2B5EF4-FFF2-40B4-BE49-F238E27FC236}">
                <a16:creationId xmlns:a16="http://schemas.microsoft.com/office/drawing/2014/main" id="{EBC7BD88-07E6-4BD5-A3B0-56D7A3D3E75E}"/>
              </a:ext>
            </a:extLst>
          </p:cNvPr>
          <p:cNvSpPr>
            <a:spLocks noGrp="1"/>
          </p:cNvSpPr>
          <p:nvPr/>
        </p:nvSpPr>
        <p:spPr>
          <a:xfrm>
            <a:off x="7258050" y="4457700"/>
            <a:ext cx="1943100" cy="647700"/>
          </a:xfrm>
          <a:prstGeom prst="roundRect">
            <a:avLst>
              <a:gd name="adj" fmla="val 11765"/>
            </a:avLst>
          </a:prstGeom>
          <a:solidFill>
            <a:srgbClr val="FFFFFF"/>
          </a:solidFill>
          <a:ln w="9525">
            <a:solidFill>
              <a:srgbClr val="C9D8E3"/>
            </a:solidFill>
            <a:prstDash val="solid"/>
          </a:ln>
        </p:spPr>
        <p:txBody>
          <a:bodyPr lIns="76200" tIns="57150" rIns="76200" bIns="57150" anchor="ctr">
            <a:noAutofit/>
          </a:bodyPr>
          <a:lstStyle/>
          <a:p>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a:ext uri="{FF2B5EF4-FFF2-40B4-BE49-F238E27FC236}">
                <a16:creationId xmlns:a16="http://schemas.microsoft.com/office/drawing/2014/main" id="{BCF37884-EE3B-43C5-AAC0-0BBFD48E0B26}"/>
              </a:ext>
            </a:extLst>
          </p:cNvPr>
          <p:cNvSpPr>
            <a:spLocks noGrp="1"/>
          </p:cNvSpPr>
          <p:nvPr/>
        </p:nvSpPr>
        <p:spPr>
          <a:xfrm>
            <a:off x="9410700" y="4457700"/>
            <a:ext cx="1943100" cy="647700"/>
          </a:xfrm>
          <a:prstGeom prst="roundRect">
            <a:avLst>
              <a:gd name="adj" fmla="val 11765"/>
            </a:avLst>
          </a:prstGeom>
          <a:solidFill>
            <a:srgbClr val="FFFFFF"/>
          </a:solidFill>
          <a:ln w="9525">
            <a:solidFill>
              <a:srgbClr val="C9D8E3"/>
            </a:solidFill>
            <a:prstDash val="solid"/>
          </a:ln>
        </p:spPr>
        <p:txBody>
          <a:bodyPr lIns="76200" tIns="57150" rIns="76200" bIns="57150" anchor="ctr">
            <a:noAutofit/>
          </a:bodyPr>
          <a:lstStyle/>
          <a:p>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a:ext uri="{FF2B5EF4-FFF2-40B4-BE49-F238E27FC236}">
                <a16:creationId xmlns:a16="http://schemas.microsoft.com/office/drawing/2014/main" id="{0DB3573F-79CB-43B3-B6F8-8921A5DDD56C}"/>
              </a:ext>
            </a:extLst>
          </p:cNvPr>
          <p:cNvSpPr>
            <a:spLocks noGrp="1"/>
          </p:cNvSpPr>
          <p:nvPr/>
        </p:nvSpPr>
        <p:spPr>
          <a:xfrm>
            <a:off x="2095500" y="5476875"/>
            <a:ext cx="8001000" cy="514350"/>
          </a:xfrm>
          <a:prstGeom prst="roundRect">
            <a:avLst>
              <a:gd name="adj" fmla="val 14815"/>
            </a:avLst>
          </a:prstGeom>
          <a:solidFill>
            <a:srgbClr val="FBE6E8"/>
          </a:solidFill>
          <a:ln w="9525">
            <a:solidFill>
              <a:srgbClr val="D75A64"/>
            </a:solidFill>
            <a:prstDash val="solid"/>
          </a:ln>
        </p:spPr>
        <p:txBody>
          <a:bodyPr lIns="76200" tIns="57150" rIns="76200" bIns="57150" anchor="ctr">
            <a:noAutofit/>
          </a:bodyPr>
          <a:lstStyle/>
          <a:p>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HIL passes are evidence inputs—not automatic approval.</a:t>
            </a:r>
          </a:p>
        </p:txBody>
      </p:sp>
    </p:spTree>
    <p:extLst>
      <p:ext uri="{BB962C8B-B14F-4D97-AF65-F5344CB8AC3E}">
        <p14:creationId xmlns:p14="http://schemas.microsoft.com/office/powerpoint/2010/main" val="1622149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4" name="section-236">
            <a:extLst>
              <a:ext uri="{FF2B5EF4-FFF2-40B4-BE49-F238E27FC236}">
                <a16:creationId xmlns:a16="http://schemas.microsoft.com/office/drawing/2014/main" id="{1A4E4B74-3096-417B-BACE-8CE88B27542E}"/>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a:ext uri="{FF2B5EF4-FFF2-40B4-BE49-F238E27FC236}">
                <a16:creationId xmlns:a16="http://schemas.microsoft.com/office/drawing/2014/main" id="{0451522F-09CA-4B68-9D8A-87C1CFDD211E}"/>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a:ext uri="{FF2B5EF4-FFF2-40B4-BE49-F238E27FC236}">
                <a16:creationId xmlns:a16="http://schemas.microsoft.com/office/drawing/2014/main" id="{BA74B352-2C1A-4AA6-9BDA-82266067D5D5}"/>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238">
            <a:extLst>
              <a:ext uri="{FF2B5EF4-FFF2-40B4-BE49-F238E27FC236}">
                <a16:creationId xmlns:a16="http://schemas.microsoft.com/office/drawing/2014/main" id="{5D21AC84-C12A-4417-8C07-83E63BE376D4}"/>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a:ext uri="{FF2B5EF4-FFF2-40B4-BE49-F238E27FC236}">
                <a16:creationId xmlns:a16="http://schemas.microsoft.com/office/drawing/2014/main" id="{4C0551BA-66F9-4339-A4B8-288B06AA5ECC}"/>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15</a:t>
            </a:r>
          </a:p>
        </p:txBody>
      </p:sp>
      <p:sp>
        <p:nvSpPr>
          <p:cNvPr id="6" name="box-240">
            <a:extLst>
              <a:ext uri="{FF2B5EF4-FFF2-40B4-BE49-F238E27FC236}">
                <a16:creationId xmlns:a16="http://schemas.microsoft.com/office/drawing/2014/main" id="{5D7DBB9C-53D1-4BCB-8054-E9816E944978}"/>
              </a:ext>
            </a:extLst>
          </p:cNvPr>
          <p:cNvSpPr>
            <a:spLocks noGrp="1"/>
          </p:cNvSpPr>
          <p:nvPr/>
        </p:nvSpPr>
        <p:spPr>
          <a:xfrm>
            <a:off x="781050" y="1619250"/>
            <a:ext cx="3048000" cy="838200"/>
          </a:xfrm>
          <a:prstGeom prst="roundRect">
            <a:avLst>
              <a:gd name="adj" fmla="val 11364"/>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a:ext uri="{FF2B5EF4-FFF2-40B4-BE49-F238E27FC236}">
                <a16:creationId xmlns:a16="http://schemas.microsoft.com/office/drawing/2014/main" id="{CB97EA25-5471-4803-8637-E5CF5B302265}"/>
              </a:ext>
            </a:extLst>
          </p:cNvPr>
          <p:cNvSpPr>
            <a:spLocks noGrp="1"/>
          </p:cNvSpPr>
          <p:nvPr/>
        </p:nvSpPr>
        <p:spPr>
          <a:xfrm>
            <a:off x="4476750" y="1619250"/>
            <a:ext cx="3048000" cy="838200"/>
          </a:xfrm>
          <a:prstGeom prst="roundRect">
            <a:avLst>
              <a:gd name="adj" fmla="val 11364"/>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a:ext uri="{FF2B5EF4-FFF2-40B4-BE49-F238E27FC236}">
                <a16:creationId xmlns:a16="http://schemas.microsoft.com/office/drawing/2014/main" id="{971AF993-1B7E-491D-9C4A-38A0EBF3E16F}"/>
              </a:ext>
            </a:extLst>
          </p:cNvPr>
          <p:cNvSpPr>
            <a:spLocks noGrp="1"/>
          </p:cNvSpPr>
          <p:nvPr/>
        </p:nvSpPr>
        <p:spPr>
          <a:xfrm>
            <a:off x="8172450" y="1619250"/>
            <a:ext cx="3048000" cy="838200"/>
          </a:xfrm>
          <a:prstGeom prst="roundRect">
            <a:avLst>
              <a:gd name="adj" fmla="val 11364"/>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a:ext uri="{FF2B5EF4-FFF2-40B4-BE49-F238E27FC236}">
                <a16:creationId xmlns:a16="http://schemas.microsoft.com/office/drawing/2014/main" id="{EB00891C-2E1B-41E8-ADEE-3E24458DB40F}"/>
              </a:ext>
            </a:extLst>
          </p:cNvPr>
          <p:cNvSpPr>
            <a:spLocks noGrp="1"/>
          </p:cNvSpPr>
          <p:nvPr/>
        </p:nvSpPr>
        <p:spPr>
          <a:xfrm>
            <a:off x="8172450" y="3143250"/>
            <a:ext cx="3048000" cy="838200"/>
          </a:xfrm>
          <a:prstGeom prst="roundRect">
            <a:avLst>
              <a:gd name="adj" fmla="val 11364"/>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a:ext uri="{FF2B5EF4-FFF2-40B4-BE49-F238E27FC236}">
                <a16:creationId xmlns:a16="http://schemas.microsoft.com/office/drawing/2014/main" id="{BB3E578C-A19F-4649-B3A1-9C402372E8C8}"/>
              </a:ext>
            </a:extLst>
          </p:cNvPr>
          <p:cNvSpPr>
            <a:spLocks noGrp="1"/>
          </p:cNvSpPr>
          <p:nvPr/>
        </p:nvSpPr>
        <p:spPr>
          <a:xfrm>
            <a:off x="4476750" y="3143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a:ext uri="{FF2B5EF4-FFF2-40B4-BE49-F238E27FC236}">
                <a16:creationId xmlns:a16="http://schemas.microsoft.com/office/drawing/2014/main" id="{342CFD44-DD46-4F39-AF1E-AA44A8DBC7FD}"/>
              </a:ext>
            </a:extLst>
          </p:cNvPr>
          <p:cNvSpPr>
            <a:spLocks noGrp="1"/>
          </p:cNvSpPr>
          <p:nvPr/>
        </p:nvSpPr>
        <p:spPr>
          <a:xfrm>
            <a:off x="781050" y="3143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a:ext uri="{FF2B5EF4-FFF2-40B4-BE49-F238E27FC236}">
                <a16:creationId xmlns:a16="http://schemas.microsoft.com/office/drawing/2014/main" id="{290D015A-DCB0-46A8-849B-4C6393585F31}"/>
              </a:ext>
            </a:extLst>
          </p:cNvPr>
          <p:cNvSpPr>
            <a:spLocks noGrp="1"/>
          </p:cNvSpPr>
          <p:nvPr/>
        </p:nvSpPr>
        <p:spPr>
          <a:xfrm>
            <a:off x="781050" y="4667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a:ext uri="{FF2B5EF4-FFF2-40B4-BE49-F238E27FC236}">
                <a16:creationId xmlns:a16="http://schemas.microsoft.com/office/drawing/2014/main" id="{0ACE347E-FB34-4540-A405-5E47EE08240A}"/>
              </a:ext>
            </a:extLst>
          </p:cNvPr>
          <p:cNvSpPr>
            <a:spLocks noGrp="1"/>
          </p:cNvSpPr>
          <p:nvPr/>
        </p:nvSpPr>
        <p:spPr>
          <a:xfrm>
            <a:off x="4476750" y="4667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a:ext uri="{FF2B5EF4-FFF2-40B4-BE49-F238E27FC236}">
                <a16:creationId xmlns:a16="http://schemas.microsoft.com/office/drawing/2014/main" id="{09B67B8E-A9C1-4E1E-95A8-21BC185C2FB5}"/>
              </a:ext>
            </a:extLst>
          </p:cNvPr>
          <p:cNvSpPr>
            <a:spLocks noGrp="1"/>
          </p:cNvSpPr>
          <p:nvPr/>
        </p:nvSpPr>
        <p:spPr>
          <a:xfrm>
            <a:off x="8172450" y="4667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38" name="Straight Arrow Connector 37"/>
          <p:cNvCxnSpPr>
            <a:stCxn id="6" idx="3"/>
            <a:endCxn id="7" idx="1"/>
          </p:cNvCxnSpPr>
          <p:nvPr/>
        </p:nvCxnSpPr>
        <p:spPr>
          <a:xfrm>
            <a:off x="3829050" y="2038350"/>
            <a:ext cx="647700" cy="0"/>
          </a:xfrm>
          <a:prstGeom prst="straightConnector1">
            <a:avLst/>
          </a:prstGeom>
          <a:ln w="28575">
            <a:solidFill>
              <a:srgbClr val="2D6CDF"/>
            </a:solidFill>
            <a:prstDash val="solid"/>
            <a:tailEnd type="triangle" w="sm" len="sm"/>
          </a:ln>
        </p:spPr>
      </p:cxnSp>
      <p:cxnSp>
        <p:nvCxnSpPr>
          <p:cNvPr id="39" name="Straight Arrow Connector 38"/>
          <p:cNvCxnSpPr>
            <a:stCxn id="7" idx="3"/>
            <a:endCxn id="8" idx="1"/>
          </p:cNvCxnSpPr>
          <p:nvPr/>
        </p:nvCxnSpPr>
        <p:spPr>
          <a:xfrm>
            <a:off x="7524750" y="2038350"/>
            <a:ext cx="647700" cy="0"/>
          </a:xfrm>
          <a:prstGeom prst="straightConnector1">
            <a:avLst/>
          </a:prstGeom>
          <a:ln w="28575">
            <a:solidFill>
              <a:srgbClr val="2D6CDF"/>
            </a:solidFill>
            <a:prstDash val="solid"/>
            <a:tailEnd type="triangle" w="sm" len="sm"/>
          </a:ln>
        </p:spPr>
      </p:cxnSp>
      <p:cxnSp>
        <p:nvCxnSpPr>
          <p:cNvPr id="40" name="Straight Arrow Connector 39"/>
          <p:cNvCxnSpPr>
            <a:stCxn id="8" idx="2"/>
            <a:endCxn id="9" idx="0"/>
          </p:cNvCxnSpPr>
          <p:nvPr/>
        </p:nvCxnSpPr>
        <p:spPr>
          <a:xfrm>
            <a:off x="9696450" y="2457450"/>
            <a:ext cx="0" cy="685800"/>
          </a:xfrm>
          <a:prstGeom prst="straightConnector1">
            <a:avLst/>
          </a:prstGeom>
          <a:ln w="28575">
            <a:solidFill>
              <a:srgbClr val="2D6CDF"/>
            </a:solidFill>
            <a:prstDash val="solid"/>
            <a:tailEnd type="triangle" w="sm" len="sm"/>
          </a:ln>
        </p:spPr>
      </p:cxnSp>
      <p:cxnSp>
        <p:nvCxnSpPr>
          <p:cNvPr id="41" name="Straight Arrow Connector 40"/>
          <p:cNvCxnSpPr>
            <a:stCxn id="9" idx="1"/>
            <a:endCxn id="10" idx="3"/>
          </p:cNvCxnSpPr>
          <p:nvPr/>
        </p:nvCxnSpPr>
        <p:spPr>
          <a:xfrm flipH="1">
            <a:off x="7524750" y="3562350"/>
            <a:ext cx="647700" cy="0"/>
          </a:xfrm>
          <a:prstGeom prst="straightConnector1">
            <a:avLst/>
          </a:prstGeom>
          <a:ln w="28575">
            <a:solidFill>
              <a:srgbClr val="20B7C5"/>
            </a:solidFill>
            <a:prstDash val="solid"/>
            <a:tailEnd type="triangle" w="sm" len="sm"/>
          </a:ln>
        </p:spPr>
      </p:cxnSp>
      <p:cxnSp>
        <p:nvCxnSpPr>
          <p:cNvPr id="42" name="Straight Arrow Connector 41"/>
          <p:cNvCxnSpPr>
            <a:stCxn id="10" idx="1"/>
            <a:endCxn id="11" idx="3"/>
          </p:cNvCxnSpPr>
          <p:nvPr/>
        </p:nvCxnSpPr>
        <p:spPr>
          <a:xfrm flipH="1">
            <a:off x="3829050" y="3562350"/>
            <a:ext cx="647700" cy="0"/>
          </a:xfrm>
          <a:prstGeom prst="straightConnector1">
            <a:avLst/>
          </a:prstGeom>
          <a:ln w="28575">
            <a:solidFill>
              <a:srgbClr val="20B7C5"/>
            </a:solidFill>
            <a:prstDash val="solid"/>
            <a:tailEnd type="triangle" w="sm" len="sm"/>
          </a:ln>
        </p:spPr>
      </p:cxnSp>
      <p:cxnSp>
        <p:nvCxnSpPr>
          <p:cNvPr id="43" name="Straight Arrow Connector 42"/>
          <p:cNvCxnSpPr>
            <a:stCxn id="11" idx="2"/>
            <a:endCxn id="12" idx="0"/>
          </p:cNvCxnSpPr>
          <p:nvPr/>
        </p:nvCxnSpPr>
        <p:spPr>
          <a:xfrm>
            <a:off x="2305050" y="3981450"/>
            <a:ext cx="0" cy="685800"/>
          </a:xfrm>
          <a:prstGeom prst="straightConnector1">
            <a:avLst/>
          </a:prstGeom>
          <a:ln w="28575">
            <a:solidFill>
              <a:srgbClr val="20B7C5"/>
            </a:solidFill>
            <a:prstDash val="solid"/>
            <a:tailEnd type="triangle" w="sm" len="sm"/>
          </a:ln>
        </p:spPr>
      </p:cxnSp>
      <p:cxnSp>
        <p:nvCxnSpPr>
          <p:cNvPr id="44" name="Straight Arrow Connector 43"/>
          <p:cNvCxnSpPr>
            <a:stCxn id="12" idx="3"/>
            <a:endCxn id="13" idx="1"/>
          </p:cNvCxnSpPr>
          <p:nvPr/>
        </p:nvCxnSpPr>
        <p:spPr>
          <a:xfrm>
            <a:off x="3829050" y="5086350"/>
            <a:ext cx="647700" cy="0"/>
          </a:xfrm>
          <a:prstGeom prst="straightConnector1">
            <a:avLst/>
          </a:prstGeom>
          <a:ln w="28575">
            <a:solidFill>
              <a:srgbClr val="20B7C5"/>
            </a:solidFill>
            <a:prstDash val="solid"/>
            <a:tailEnd type="triangle" w="sm" len="sm"/>
          </a:ln>
        </p:spPr>
      </p:cxnSp>
      <p:cxnSp>
        <p:nvCxnSpPr>
          <p:cNvPr id="45" name="Straight Arrow Connector 44"/>
          <p:cNvCxnSpPr>
            <a:stCxn id="13" idx="3"/>
            <a:endCxn id="14" idx="1"/>
          </p:cNvCxnSpPr>
          <p:nvPr/>
        </p:nvCxnSpPr>
        <p:spPr>
          <a:xfrm>
            <a:off x="7524750" y="5086350"/>
            <a:ext cx="647700" cy="0"/>
          </a:xfrm>
          <a:prstGeom prst="straightConnector1">
            <a:avLst/>
          </a:prstGeom>
          <a:ln w="28575">
            <a:solidFill>
              <a:srgbClr val="20B7C5"/>
            </a:solidFill>
            <a:prstDash val="solid"/>
            <a:tailEnd type="triangle" w="sm" len="sm"/>
          </a:ln>
        </p:spPr>
      </p:cxnSp>
      <p:sp>
        <p:nvSpPr>
          <p:cNvPr id="23" name="text-249">
            <a:extLst>
              <a:ext uri="{FF2B5EF4-FFF2-40B4-BE49-F238E27FC236}">
                <a16:creationId xmlns:a16="http://schemas.microsoft.com/office/drawing/2014/main" id="{72B7354A-E7CD-49FB-A461-4890A2B6D7D2}"/>
              </a:ext>
            </a:extLst>
          </p:cNvPr>
          <p:cNvSpPr>
            <a:spLocks noGrp="1"/>
          </p:cNvSpPr>
          <p:nvPr/>
        </p:nvSpPr>
        <p:spPr>
          <a:xfrm>
            <a:off x="2781300" y="5857875"/>
            <a:ext cx="6629400" cy="266700"/>
          </a:xfrm>
          <a:prstGeom prst="rect">
            <a:avLst/>
          </a:prstGeom>
          <a:noFill/>
          <a:ln w="0">
            <a:noFill/>
            <a:prstDash val="solid"/>
          </a:ln>
        </p:spPr>
        <p:txBody>
          <a:bodyPr wrap="square" lIns="38100" tIns="38100" rIns="38100" bIns="38100" anchor="t">
            <a:noAutofit/>
          </a:bodyPr>
          <a:lstStyle/>
          <a:p>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5" name="section-249">
            <a:extLst>
              <a:ext uri="{FF2B5EF4-FFF2-40B4-BE49-F238E27FC236}">
                <a16:creationId xmlns:a16="http://schemas.microsoft.com/office/drawing/2014/main" id="{71C17090-E63E-426E-84AD-B73DCF10505E}"/>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a:ext uri="{FF2B5EF4-FFF2-40B4-BE49-F238E27FC236}">
                <a16:creationId xmlns:a16="http://schemas.microsoft.com/office/drawing/2014/main" id="{17EBC051-E2EA-4A14-96CB-664CE3F87215}"/>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a:ext uri="{FF2B5EF4-FFF2-40B4-BE49-F238E27FC236}">
                <a16:creationId xmlns:a16="http://schemas.microsoft.com/office/drawing/2014/main" id="{E599B5DD-E45C-45B2-88C5-3E98E5B547FF}"/>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251">
            <a:extLst>
              <a:ext uri="{FF2B5EF4-FFF2-40B4-BE49-F238E27FC236}">
                <a16:creationId xmlns:a16="http://schemas.microsoft.com/office/drawing/2014/main" id="{3D6C6F02-A610-488D-815E-1DCFF6721D38}"/>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a:ext uri="{FF2B5EF4-FFF2-40B4-BE49-F238E27FC236}">
                <a16:creationId xmlns:a16="http://schemas.microsoft.com/office/drawing/2014/main" id="{3D87B1D7-C888-4B86-B9AB-722EBC562E1F}"/>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53">
            <a:extLst>
              <a:ext uri="{FF2B5EF4-FFF2-40B4-BE49-F238E27FC236}">
                <a16:creationId xmlns:a16="http://schemas.microsoft.com/office/drawing/2014/main" id="{8572D38F-6735-423A-805D-131A423A35B5}"/>
              </a:ext>
            </a:extLst>
          </p:cNvPr>
          <p:cNvSpPr>
            <a:spLocks noGrp="1"/>
          </p:cNvSpPr>
          <p:nvPr/>
        </p:nvSpPr>
        <p:spPr>
          <a:xfrm>
            <a:off x="781050" y="1619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a:ext uri="{FF2B5EF4-FFF2-40B4-BE49-F238E27FC236}">
                <a16:creationId xmlns:a16="http://schemas.microsoft.com/office/drawing/2014/main" id="{2CA3A3FD-1A09-4F06-AE95-AAD099CD245D}"/>
              </a:ext>
            </a:extLst>
          </p:cNvPr>
          <p:cNvSpPr>
            <a:spLocks noGrp="1"/>
          </p:cNvSpPr>
          <p:nvPr/>
        </p:nvSpPr>
        <p:spPr>
          <a:xfrm>
            <a:off x="4476750" y="1619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a:ext uri="{FF2B5EF4-FFF2-40B4-BE49-F238E27FC236}">
                <a16:creationId xmlns:a16="http://schemas.microsoft.com/office/drawing/2014/main" id="{C740BF29-9410-4365-BADB-065F2053FEEF}"/>
              </a:ext>
            </a:extLst>
          </p:cNvPr>
          <p:cNvSpPr>
            <a:spLocks noGrp="1"/>
          </p:cNvSpPr>
          <p:nvPr/>
        </p:nvSpPr>
        <p:spPr>
          <a:xfrm>
            <a:off x="8172450" y="1619250"/>
            <a:ext cx="3048000" cy="838200"/>
          </a:xfrm>
          <a:prstGeom prst="roundRect">
            <a:avLst>
              <a:gd name="adj" fmla="val 11364"/>
            </a:avLst>
          </a:prstGeom>
          <a:solidFill>
            <a:srgbClr val="10314A"/>
          </a:solidFill>
          <a:ln w="19050">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a:ext uri="{FF2B5EF4-FFF2-40B4-BE49-F238E27FC236}">
                <a16:creationId xmlns:a16="http://schemas.microsoft.com/office/drawing/2014/main" id="{206DA204-F972-46E1-A445-CA87C1DBFD75}"/>
              </a:ext>
            </a:extLst>
          </p:cNvPr>
          <p:cNvSpPr>
            <a:spLocks noGrp="1"/>
          </p:cNvSpPr>
          <p:nvPr/>
        </p:nvSpPr>
        <p:spPr>
          <a:xfrm>
            <a:off x="8172450" y="3143250"/>
            <a:ext cx="3048000" cy="838200"/>
          </a:xfrm>
          <a:prstGeom prst="roundRect">
            <a:avLst>
              <a:gd name="adj" fmla="val 11364"/>
            </a:avLst>
          </a:prstGeom>
          <a:solidFill>
            <a:srgbClr val="3A2A1D"/>
          </a:solidFill>
          <a:ln w="19050">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a:ext uri="{FF2B5EF4-FFF2-40B4-BE49-F238E27FC236}">
                <a16:creationId xmlns:a16="http://schemas.microsoft.com/office/drawing/2014/main" id="{0BF43C61-2155-4AD3-A159-EADC2C55746F}"/>
              </a:ext>
            </a:extLst>
          </p:cNvPr>
          <p:cNvSpPr>
            <a:spLocks noGrp="1"/>
          </p:cNvSpPr>
          <p:nvPr/>
        </p:nvSpPr>
        <p:spPr>
          <a:xfrm>
            <a:off x="4476750" y="3143250"/>
            <a:ext cx="3048000" cy="838200"/>
          </a:xfrm>
          <a:prstGeom prst="roundRect">
            <a:avLst>
              <a:gd name="adj" fmla="val 11364"/>
            </a:avLst>
          </a:prstGeom>
          <a:solidFill>
            <a:srgbClr val="3A2A1D"/>
          </a:solidFill>
          <a:ln w="19050">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a:ext uri="{FF2B5EF4-FFF2-40B4-BE49-F238E27FC236}">
                <a16:creationId xmlns:a16="http://schemas.microsoft.com/office/drawing/2014/main" id="{62DF479E-06B3-4763-A3A8-BD9BEFF1925E}"/>
              </a:ext>
            </a:extLst>
          </p:cNvPr>
          <p:cNvSpPr>
            <a:spLocks noGrp="1"/>
          </p:cNvSpPr>
          <p:nvPr/>
        </p:nvSpPr>
        <p:spPr>
          <a:xfrm>
            <a:off x="781050" y="3143250"/>
            <a:ext cx="3048000" cy="838200"/>
          </a:xfrm>
          <a:prstGeom prst="roundRect">
            <a:avLst>
              <a:gd name="adj" fmla="val 11364"/>
            </a:avLst>
          </a:prstGeom>
          <a:solidFill>
            <a:srgbClr val="3A2A1D"/>
          </a:solidFill>
          <a:ln w="19050">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a:ext uri="{FF2B5EF4-FFF2-40B4-BE49-F238E27FC236}">
                <a16:creationId xmlns:a16="http://schemas.microsoft.com/office/drawing/2014/main" id="{4BB3E05B-751D-4615-BD14-221B5CEDE5B1}"/>
              </a:ext>
            </a:extLst>
          </p:cNvPr>
          <p:cNvSpPr>
            <a:spLocks noGrp="1"/>
          </p:cNvSpPr>
          <p:nvPr/>
        </p:nvSpPr>
        <p:spPr>
          <a:xfrm>
            <a:off x="781050" y="4667250"/>
            <a:ext cx="3048000" cy="838200"/>
          </a:xfrm>
          <a:prstGeom prst="roundRect">
            <a:avLst>
              <a:gd name="adj" fmla="val 11364"/>
            </a:avLst>
          </a:prstGeom>
          <a:solidFill>
            <a:srgbClr val="10372A"/>
          </a:solidFill>
          <a:ln w="19050">
            <a:solidFill>
              <a:srgbClr val="2CA56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a:ext uri="{FF2B5EF4-FFF2-40B4-BE49-F238E27FC236}">
                <a16:creationId xmlns:a16="http://schemas.microsoft.com/office/drawing/2014/main" id="{7B760FB1-3110-4854-B336-AA315384CBBD}"/>
              </a:ext>
            </a:extLst>
          </p:cNvPr>
          <p:cNvSpPr>
            <a:spLocks noGrp="1"/>
          </p:cNvSpPr>
          <p:nvPr/>
        </p:nvSpPr>
        <p:spPr>
          <a:xfrm>
            <a:off x="4476750" y="4667250"/>
            <a:ext cx="3048000" cy="838200"/>
          </a:xfrm>
          <a:prstGeom prst="roundRect">
            <a:avLst>
              <a:gd name="adj" fmla="val 11364"/>
            </a:avLst>
          </a:prstGeom>
          <a:solidFill>
            <a:srgbClr val="10372A"/>
          </a:solidFill>
          <a:ln w="19050">
            <a:solidFill>
              <a:srgbClr val="2CA56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HIL</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campaign</a:t>
            </a:r>
          </a:p>
        </p:txBody>
      </p:sp>
      <p:sp>
        <p:nvSpPr>
          <p:cNvPr id="14" name="box-261">
            <a:extLst>
              <a:ext uri="{FF2B5EF4-FFF2-40B4-BE49-F238E27FC236}">
                <a16:creationId xmlns:a16="http://schemas.microsoft.com/office/drawing/2014/main" id="{9BA86F66-D7DB-4C6B-A5B3-3CF43BD07FFE}"/>
              </a:ext>
            </a:extLst>
          </p:cNvPr>
          <p:cNvSpPr>
            <a:spLocks noGrp="1"/>
          </p:cNvSpPr>
          <p:nvPr/>
        </p:nvSpPr>
        <p:spPr>
          <a:xfrm>
            <a:off x="8172450" y="4667250"/>
            <a:ext cx="3048000" cy="838200"/>
          </a:xfrm>
          <a:prstGeom prst="roundRect">
            <a:avLst>
              <a:gd name="adj" fmla="val 11364"/>
            </a:avLst>
          </a:prstGeom>
          <a:solidFill>
            <a:srgbClr val="10372A"/>
          </a:solidFill>
          <a:ln w="19050">
            <a:solidFill>
              <a:srgbClr val="2CA56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39" name="Straight Arrow Connector 38"/>
          <p:cNvCxnSpPr>
            <a:stCxn id="6" idx="3"/>
            <a:endCxn id="7" idx="1"/>
          </p:cNvCxnSpPr>
          <p:nvPr/>
        </p:nvCxnSpPr>
        <p:spPr>
          <a:xfrm>
            <a:off x="3829050" y="2038350"/>
            <a:ext cx="647700" cy="0"/>
          </a:xfrm>
          <a:prstGeom prst="straightConnector1">
            <a:avLst/>
          </a:prstGeom>
          <a:ln w="28575">
            <a:solidFill>
              <a:srgbClr val="20B7C5"/>
            </a:solidFill>
            <a:prstDash val="solid"/>
            <a:tailEnd type="triangle" w="sm" len="sm"/>
          </a:ln>
        </p:spPr>
      </p:cxnSp>
      <p:cxnSp>
        <p:nvCxnSpPr>
          <p:cNvPr id="40" name="Straight Arrow Connector 39"/>
          <p:cNvCxnSpPr>
            <a:stCxn id="7" idx="3"/>
            <a:endCxn id="8" idx="1"/>
          </p:cNvCxnSpPr>
          <p:nvPr/>
        </p:nvCxnSpPr>
        <p:spPr>
          <a:xfrm>
            <a:off x="7524750" y="2038350"/>
            <a:ext cx="647700" cy="0"/>
          </a:xfrm>
          <a:prstGeom prst="straightConnector1">
            <a:avLst/>
          </a:prstGeom>
          <a:ln w="28575">
            <a:solidFill>
              <a:srgbClr val="20B7C5"/>
            </a:solidFill>
            <a:prstDash val="solid"/>
            <a:tailEnd type="triangle" w="sm" len="sm"/>
          </a:ln>
        </p:spPr>
      </p:cxnSp>
      <p:cxnSp>
        <p:nvCxnSpPr>
          <p:cNvPr id="41" name="Straight Arrow Connector 40"/>
          <p:cNvCxnSpPr>
            <a:stCxn id="8" idx="2"/>
            <a:endCxn id="9" idx="0"/>
          </p:cNvCxnSpPr>
          <p:nvPr/>
        </p:nvCxnSpPr>
        <p:spPr>
          <a:xfrm>
            <a:off x="9696450" y="2457450"/>
            <a:ext cx="0" cy="685800"/>
          </a:xfrm>
          <a:prstGeom prst="straightConnector1">
            <a:avLst/>
          </a:prstGeom>
          <a:ln w="28575">
            <a:solidFill>
              <a:srgbClr val="20B7C5"/>
            </a:solidFill>
            <a:prstDash val="solid"/>
            <a:tailEnd type="triangle" w="sm" len="sm"/>
          </a:ln>
        </p:spPr>
      </p:cxnSp>
      <p:cxnSp>
        <p:nvCxnSpPr>
          <p:cNvPr id="42" name="Straight Arrow Connector 41"/>
          <p:cNvCxnSpPr>
            <a:stCxn id="9" idx="1"/>
            <a:endCxn id="10" idx="3"/>
          </p:cNvCxnSpPr>
          <p:nvPr/>
        </p:nvCxnSpPr>
        <p:spPr>
          <a:xfrm flipH="1">
            <a:off x="7524750" y="3562350"/>
            <a:ext cx="647700" cy="0"/>
          </a:xfrm>
          <a:prstGeom prst="straightConnector1">
            <a:avLst/>
          </a:prstGeom>
          <a:ln w="28575">
            <a:solidFill>
              <a:srgbClr val="E9A23B"/>
            </a:solidFill>
            <a:prstDash val="solid"/>
            <a:tailEnd type="triangle" w="sm" len="sm"/>
          </a:ln>
        </p:spPr>
      </p:cxnSp>
      <p:cxnSp>
        <p:nvCxnSpPr>
          <p:cNvPr id="43" name="Straight Arrow Connector 42"/>
          <p:cNvCxnSpPr>
            <a:stCxn id="10" idx="1"/>
            <a:endCxn id="11" idx="3"/>
          </p:cNvCxnSpPr>
          <p:nvPr/>
        </p:nvCxnSpPr>
        <p:spPr>
          <a:xfrm flipH="1">
            <a:off x="3829050" y="3562350"/>
            <a:ext cx="647700" cy="0"/>
          </a:xfrm>
          <a:prstGeom prst="straightConnector1">
            <a:avLst/>
          </a:prstGeom>
          <a:ln w="28575">
            <a:solidFill>
              <a:srgbClr val="E9A23B"/>
            </a:solidFill>
            <a:prstDash val="solid"/>
            <a:tailEnd type="triangle" w="sm" len="sm"/>
          </a:ln>
        </p:spPr>
      </p:cxnSp>
      <p:cxnSp>
        <p:nvCxnSpPr>
          <p:cNvPr id="44" name="Straight Arrow Connector 43"/>
          <p:cNvCxnSpPr>
            <a:stCxn id="11" idx="2"/>
            <a:endCxn id="12" idx="0"/>
          </p:cNvCxnSpPr>
          <p:nvPr/>
        </p:nvCxnSpPr>
        <p:spPr>
          <a:xfrm>
            <a:off x="2305050" y="3981450"/>
            <a:ext cx="0" cy="685800"/>
          </a:xfrm>
          <a:prstGeom prst="straightConnector1">
            <a:avLst/>
          </a:prstGeom>
          <a:ln w="28575">
            <a:solidFill>
              <a:srgbClr val="E9A23B"/>
            </a:solidFill>
            <a:prstDash val="solid"/>
            <a:tailEnd type="triangle" w="sm" len="sm"/>
          </a:ln>
        </p:spPr>
      </p:cxnSp>
      <p:cxnSp>
        <p:nvCxnSpPr>
          <p:cNvPr id="45" name="Straight Arrow Connector 44"/>
          <p:cNvCxnSpPr>
            <a:stCxn id="12" idx="3"/>
            <a:endCxn id="13" idx="1"/>
          </p:cNvCxnSpPr>
          <p:nvPr/>
        </p:nvCxnSpPr>
        <p:spPr>
          <a:xfrm>
            <a:off x="3829050" y="5086350"/>
            <a:ext cx="647700" cy="0"/>
          </a:xfrm>
          <a:prstGeom prst="straightConnector1">
            <a:avLst/>
          </a:prstGeom>
          <a:ln w="28575">
            <a:solidFill>
              <a:srgbClr val="2CA56F"/>
            </a:solidFill>
            <a:prstDash val="solid"/>
            <a:tailEnd type="triangle" w="sm" len="sm"/>
          </a:ln>
        </p:spPr>
      </p:cxnSp>
      <p:cxnSp>
        <p:nvCxnSpPr>
          <p:cNvPr id="46" name="Straight Arrow Connector 45"/>
          <p:cNvCxnSpPr>
            <a:stCxn id="13" idx="3"/>
            <a:endCxn id="14" idx="1"/>
          </p:cNvCxnSpPr>
          <p:nvPr/>
        </p:nvCxnSpPr>
        <p:spPr>
          <a:xfrm>
            <a:off x="7524750" y="5086350"/>
            <a:ext cx="647700" cy="0"/>
          </a:xfrm>
          <a:prstGeom prst="straightConnector1">
            <a:avLst/>
          </a:prstGeom>
          <a:ln w="28575">
            <a:solidFill>
              <a:srgbClr val="2CA56F"/>
            </a:solidFill>
            <a:prstDash val="solid"/>
            <a:tailEnd type="triangle" w="sm" len="sm"/>
          </a:ln>
        </p:spPr>
      </p:cxnSp>
      <p:sp>
        <p:nvSpPr>
          <p:cNvPr id="23" name="text-262">
            <a:extLst>
              <a:ext uri="{FF2B5EF4-FFF2-40B4-BE49-F238E27FC236}">
                <a16:creationId xmlns:a16="http://schemas.microsoft.com/office/drawing/2014/main" id="{AB1C062C-68DB-4F87-ABF8-8695E156572D}"/>
              </a:ext>
            </a:extLst>
          </p:cNvPr>
          <p:cNvSpPr>
            <a:spLocks noGrp="1"/>
          </p:cNvSpPr>
          <p:nvPr/>
        </p:nvSpPr>
        <p:spPr>
          <a:xfrm>
            <a:off x="4552950" y="4171950"/>
            <a:ext cx="2895600" cy="228600"/>
          </a:xfrm>
          <a:prstGeom prst="rect">
            <a:avLst/>
          </a:prstGeom>
          <a:noFill/>
          <a:ln w="0">
            <a:noFill/>
            <a:prstDash val="solid"/>
          </a:ln>
        </p:spPr>
        <p:txBody>
          <a:bodyPr wrap="square" lIns="38100" tIns="38100" rIns="38100" bIns="38100" anchor="t">
            <a:noAutofit/>
          </a:bodyPr>
          <a:lstStyle/>
          <a:p>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a:ext uri="{FF2B5EF4-FFF2-40B4-BE49-F238E27FC236}">
                <a16:creationId xmlns:a16="http://schemas.microsoft.com/office/drawing/2014/main" id="{A7491BA7-5733-4722-A219-7E0F4FEC7047}"/>
              </a:ext>
            </a:extLst>
          </p:cNvPr>
          <p:cNvSpPr>
            <a:spLocks noGrp="1"/>
          </p:cNvSpPr>
          <p:nvPr/>
        </p:nvSpPr>
        <p:spPr>
          <a:xfrm>
            <a:off x="2190750" y="5857875"/>
            <a:ext cx="7810500" cy="323850"/>
          </a:xfrm>
          <a:prstGeom prst="rect">
            <a:avLst/>
          </a:prstGeom>
          <a:noFill/>
          <a:ln w="0">
            <a:noFill/>
            <a:prstDash val="solid"/>
          </a:ln>
        </p:spPr>
        <p:txBody>
          <a:bodyPr wrap="square" lIns="38100" tIns="38100" rIns="38100" bIns="38100" anchor="t">
            <a:noAutofit/>
          </a:bodyPr>
          <a:lstStyle/>
          <a:p>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8" name="section-263">
            <a:extLst>
              <a:ext uri="{FF2B5EF4-FFF2-40B4-BE49-F238E27FC236}">
                <a16:creationId xmlns:a16="http://schemas.microsoft.com/office/drawing/2014/main" id="{FFD29D7E-0FAD-4187-8A3C-C5C14883C0D9}"/>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a:ext uri="{FF2B5EF4-FFF2-40B4-BE49-F238E27FC236}">
                <a16:creationId xmlns:a16="http://schemas.microsoft.com/office/drawing/2014/main" id="{BFF549DF-A418-4174-9AAA-E2AB7C38D401}"/>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testable requirement is precise and observable</a:t>
            </a:r>
          </a:p>
        </p:txBody>
      </p:sp>
      <p:sp>
        <p:nvSpPr>
          <p:cNvPr id="3" name="line-264">
            <a:extLst>
              <a:ext uri="{FF2B5EF4-FFF2-40B4-BE49-F238E27FC236}">
                <a16:creationId xmlns:a16="http://schemas.microsoft.com/office/drawing/2014/main" id="{B9C67DB8-2967-44E2-87FE-1DA24A6498B0}"/>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265">
            <a:extLst>
              <a:ext uri="{FF2B5EF4-FFF2-40B4-BE49-F238E27FC236}">
                <a16:creationId xmlns:a16="http://schemas.microsoft.com/office/drawing/2014/main" id="{9EA61751-618F-4665-BF56-7A74497AA49F}"/>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66">
            <a:extLst>
              <a:ext uri="{FF2B5EF4-FFF2-40B4-BE49-F238E27FC236}">
                <a16:creationId xmlns:a16="http://schemas.microsoft.com/office/drawing/2014/main" id="{DC1AF9A8-B85A-41C4-86F6-03C75D046973}"/>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6" name="box-267">
            <a:extLst>
              <a:ext uri="{FF2B5EF4-FFF2-40B4-BE49-F238E27FC236}">
                <a16:creationId xmlns:a16="http://schemas.microsoft.com/office/drawing/2014/main" id="{12AB20C8-E0B1-4C71-86D0-D4103C9823CD}"/>
              </a:ext>
            </a:extLst>
          </p:cNvPr>
          <p:cNvSpPr>
            <a:spLocks noGrp="1"/>
          </p:cNvSpPr>
          <p:nvPr/>
        </p:nvSpPr>
        <p:spPr>
          <a:xfrm>
            <a:off x="704850" y="1571625"/>
            <a:ext cx="1571625" cy="666750"/>
          </a:xfrm>
          <a:prstGeom prst="roundRect">
            <a:avLst>
              <a:gd name="adj" fmla="val 11429"/>
            </a:avLst>
          </a:prstGeom>
          <a:solidFill>
            <a:srgbClr val="2D6CDF"/>
          </a:solidFill>
          <a:ln w="9525">
            <a:solidFill>
              <a:srgbClr val="2D6CD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SYSTEM</a:t>
            </a:r>
          </a:p>
        </p:txBody>
      </p:sp>
      <p:sp>
        <p:nvSpPr>
          <p:cNvPr id="7" name="text-268">
            <a:extLst>
              <a:ext uri="{FF2B5EF4-FFF2-40B4-BE49-F238E27FC236}">
                <a16:creationId xmlns:a16="http://schemas.microsoft.com/office/drawing/2014/main" id="{8B313C99-E8FE-4F21-83DE-BC2A94796705}"/>
              </a:ext>
            </a:extLst>
          </p:cNvPr>
          <p:cNvSpPr>
            <a:spLocks noGrp="1"/>
          </p:cNvSpPr>
          <p:nvPr/>
        </p:nvSpPr>
        <p:spPr>
          <a:xfrm>
            <a:off x="2571750" y="1571625"/>
            <a:ext cx="8572500" cy="666750"/>
          </a:xfrm>
          <a:prstGeom prst="rect">
            <a:avLst/>
          </a:prstGeom>
          <a:noFill/>
          <a:ln w="0">
            <a:noFill/>
            <a:prstDash val="solid"/>
          </a:ln>
        </p:spPr>
        <p:txBody>
          <a:bodyPr wrap="square" lIns="38100" tIns="38100" rIns="38100" bIns="38100" anchor="ctr">
            <a:noAutofit/>
          </a:bodyPr>
          <a:lstStyle/>
          <a:p>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Aircraft shall maintain commanded pitch attitude within allocated performance limits.</a:t>
            </a:r>
          </a:p>
        </p:txBody>
      </p:sp>
      <p:sp>
        <p:nvSpPr>
          <p:cNvPr id="8" name="line-269">
            <a:extLst>
              <a:ext uri="{FF2B5EF4-FFF2-40B4-BE49-F238E27FC236}">
                <a16:creationId xmlns:a16="http://schemas.microsoft.com/office/drawing/2014/main" id="{94665DA1-0695-4DBA-9F38-AD4529574C5E}"/>
              </a:ext>
            </a:extLst>
          </p:cNvPr>
          <p:cNvSpPr>
            <a:spLocks noGrp="1"/>
          </p:cNvSpPr>
          <p:nvPr/>
        </p:nvSpPr>
        <p:spPr>
          <a:xfrm>
            <a:off x="1428750" y="2295525"/>
            <a:ext cx="0" cy="190500"/>
          </a:xfrm>
          <a:prstGeom prst="line">
            <a:avLst/>
          </a:prstGeom>
          <a:noFill/>
          <a:ln w="19050">
            <a:solidFill>
              <a:srgbClr val="C9D8E3"/>
            </a:solidFill>
            <a:prstDash val="solid"/>
          </a:ln>
        </p:spPr>
      </p:sp>
      <p:sp>
        <p:nvSpPr>
          <p:cNvPr id="9" name="box-270">
            <a:extLst>
              <a:ext uri="{FF2B5EF4-FFF2-40B4-BE49-F238E27FC236}">
                <a16:creationId xmlns:a16="http://schemas.microsoft.com/office/drawing/2014/main" id="{8B8E75B9-CCE8-45FD-8A1D-891D38EDDFDA}"/>
              </a:ext>
            </a:extLst>
          </p:cNvPr>
          <p:cNvSpPr>
            <a:spLocks noGrp="1"/>
          </p:cNvSpPr>
          <p:nvPr/>
        </p:nvSpPr>
        <p:spPr>
          <a:xfrm>
            <a:off x="704850" y="2505075"/>
            <a:ext cx="1571625" cy="666750"/>
          </a:xfrm>
          <a:prstGeom prst="roundRect">
            <a:avLst>
              <a:gd name="adj" fmla="val 11429"/>
            </a:avLst>
          </a:prstGeom>
          <a:solidFill>
            <a:srgbClr val="20B7C5"/>
          </a:solidFill>
          <a:ln w="9525">
            <a:solidFill>
              <a:srgbClr val="20B7C5"/>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INTERFACE</a:t>
            </a:r>
          </a:p>
        </p:txBody>
      </p:sp>
      <p:sp>
        <p:nvSpPr>
          <p:cNvPr id="10" name="text-271">
            <a:extLst>
              <a:ext uri="{FF2B5EF4-FFF2-40B4-BE49-F238E27FC236}">
                <a16:creationId xmlns:a16="http://schemas.microsoft.com/office/drawing/2014/main" id="{48599F06-4164-4511-8CAC-3D6720E8D677}"/>
              </a:ext>
            </a:extLst>
          </p:cNvPr>
          <p:cNvSpPr>
            <a:spLocks noGrp="1"/>
          </p:cNvSpPr>
          <p:nvPr/>
        </p:nvSpPr>
        <p:spPr>
          <a:xfrm>
            <a:off x="2571750" y="2505075"/>
            <a:ext cx="8572500" cy="666750"/>
          </a:xfrm>
          <a:prstGeom prst="rect">
            <a:avLst/>
          </a:prstGeom>
          <a:noFill/>
          <a:ln w="0">
            <a:noFill/>
            <a:prstDash val="solid"/>
          </a:ln>
        </p:spPr>
        <p:txBody>
          <a:bodyPr wrap="square" lIns="38100" tIns="38100" rIns="38100" bIns="38100" anchor="ctr">
            <a:noAutofit/>
          </a:bodyPr>
          <a:lstStyle/>
          <a:p>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q_cmd_in uses deg/s, positive nose-up, valid range −40…+40, at 50 Hz.</a:t>
            </a:r>
          </a:p>
        </p:txBody>
      </p:sp>
      <p:sp>
        <p:nvSpPr>
          <p:cNvPr id="11" name="line-272">
            <a:extLst>
              <a:ext uri="{FF2B5EF4-FFF2-40B4-BE49-F238E27FC236}">
                <a16:creationId xmlns:a16="http://schemas.microsoft.com/office/drawing/2014/main" id="{86C70A5F-4A7B-4613-AAEF-AABE41014A6D}"/>
              </a:ext>
            </a:extLst>
          </p:cNvPr>
          <p:cNvSpPr>
            <a:spLocks noGrp="1"/>
          </p:cNvSpPr>
          <p:nvPr/>
        </p:nvSpPr>
        <p:spPr>
          <a:xfrm>
            <a:off x="1428750" y="3228975"/>
            <a:ext cx="0" cy="190500"/>
          </a:xfrm>
          <a:prstGeom prst="line">
            <a:avLst/>
          </a:prstGeom>
          <a:noFill/>
          <a:ln w="19050">
            <a:solidFill>
              <a:srgbClr val="C9D8E3"/>
            </a:solidFill>
            <a:prstDash val="solid"/>
          </a:ln>
        </p:spPr>
      </p:sp>
      <p:sp>
        <p:nvSpPr>
          <p:cNvPr id="12" name="box-273">
            <a:extLst>
              <a:ext uri="{FF2B5EF4-FFF2-40B4-BE49-F238E27FC236}">
                <a16:creationId xmlns:a16="http://schemas.microsoft.com/office/drawing/2014/main" id="{DF4A5EE0-A47B-4BE1-8152-89394397BC81}"/>
              </a:ext>
            </a:extLst>
          </p:cNvPr>
          <p:cNvSpPr>
            <a:spLocks noGrp="1"/>
          </p:cNvSpPr>
          <p:nvPr/>
        </p:nvSpPr>
        <p:spPr>
          <a:xfrm>
            <a:off x="704850" y="3438525"/>
            <a:ext cx="1571625" cy="666750"/>
          </a:xfrm>
          <a:prstGeom prst="roundRect">
            <a:avLst>
              <a:gd name="adj" fmla="val 11429"/>
            </a:avLst>
          </a:prstGeom>
          <a:solidFill>
            <a:srgbClr val="2CA56F"/>
          </a:solidFill>
          <a:ln w="9525">
            <a:solidFill>
              <a:srgbClr val="2CA56F"/>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3" name="text-274">
            <a:extLst>
              <a:ext uri="{FF2B5EF4-FFF2-40B4-BE49-F238E27FC236}">
                <a16:creationId xmlns:a16="http://schemas.microsoft.com/office/drawing/2014/main" id="{01679015-E5F5-455C-9963-287D41EAFB6E}"/>
              </a:ext>
            </a:extLst>
          </p:cNvPr>
          <p:cNvSpPr>
            <a:spLocks noGrp="1"/>
          </p:cNvSpPr>
          <p:nvPr/>
        </p:nvSpPr>
        <p:spPr>
          <a:xfrm>
            <a:off x="2571750" y="3438525"/>
            <a:ext cx="8572500" cy="666750"/>
          </a:xfrm>
          <a:prstGeom prst="rect">
            <a:avLst/>
          </a:prstGeom>
          <a:noFill/>
          <a:ln w="0">
            <a:noFill/>
            <a:prstDash val="solid"/>
          </a:ln>
        </p:spPr>
        <p:txBody>
          <a:bodyPr wrap="square" lIns="38100" tIns="38100" rIns="38100" bIns="38100" anchor="ctr">
            <a:noAutofit/>
          </a:bodyPr>
          <a:lstStyle/>
          <a:p>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In Normal mode, clamp commanded pitch rate to the inclusive range −12…+12 deg/s.</a:t>
            </a:r>
          </a:p>
        </p:txBody>
      </p:sp>
      <p:sp>
        <p:nvSpPr>
          <p:cNvPr id="14" name="line-275">
            <a:extLst>
              <a:ext uri="{FF2B5EF4-FFF2-40B4-BE49-F238E27FC236}">
                <a16:creationId xmlns:a16="http://schemas.microsoft.com/office/drawing/2014/main" id="{3E6AF74C-0A49-49D9-B65F-67A46E6A0009}"/>
              </a:ext>
            </a:extLst>
          </p:cNvPr>
          <p:cNvSpPr>
            <a:spLocks noGrp="1"/>
          </p:cNvSpPr>
          <p:nvPr/>
        </p:nvSpPr>
        <p:spPr>
          <a:xfrm>
            <a:off x="1428750" y="4162425"/>
            <a:ext cx="0" cy="190500"/>
          </a:xfrm>
          <a:prstGeom prst="line">
            <a:avLst/>
          </a:prstGeom>
          <a:noFill/>
          <a:ln w="19050">
            <a:solidFill>
              <a:srgbClr val="C9D8E3"/>
            </a:solidFill>
            <a:prstDash val="solid"/>
          </a:ln>
        </p:spPr>
      </p:sp>
      <p:sp>
        <p:nvSpPr>
          <p:cNvPr id="15" name="box-276">
            <a:extLst>
              <a:ext uri="{FF2B5EF4-FFF2-40B4-BE49-F238E27FC236}">
                <a16:creationId xmlns:a16="http://schemas.microsoft.com/office/drawing/2014/main" id="{F30941C2-BB8C-4BB9-836F-E1AA4DEFA1F4}"/>
              </a:ext>
            </a:extLst>
          </p:cNvPr>
          <p:cNvSpPr>
            <a:spLocks noGrp="1"/>
          </p:cNvSpPr>
          <p:nvPr/>
        </p:nvSpPr>
        <p:spPr>
          <a:xfrm>
            <a:off x="704850" y="4371975"/>
            <a:ext cx="1571625" cy="666750"/>
          </a:xfrm>
          <a:prstGeom prst="roundRect">
            <a:avLst>
              <a:gd name="adj" fmla="val 11429"/>
            </a:avLst>
          </a:prstGeom>
          <a:solidFill>
            <a:srgbClr val="E9A23B"/>
          </a:solidFill>
          <a:ln w="9525">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DERIVED</a:t>
            </a:r>
          </a:p>
        </p:txBody>
      </p:sp>
      <p:sp>
        <p:nvSpPr>
          <p:cNvPr id="16" name="text-277">
            <a:extLst>
              <a:ext uri="{FF2B5EF4-FFF2-40B4-BE49-F238E27FC236}">
                <a16:creationId xmlns:a16="http://schemas.microsoft.com/office/drawing/2014/main" id="{2271B656-C2BA-45CF-B8A9-52ABDE96111A}"/>
              </a:ext>
            </a:extLst>
          </p:cNvPr>
          <p:cNvSpPr>
            <a:spLocks noGrp="1"/>
          </p:cNvSpPr>
          <p:nvPr/>
        </p:nvSpPr>
        <p:spPr>
          <a:xfrm>
            <a:off x="2571750" y="4371975"/>
            <a:ext cx="8572500" cy="666750"/>
          </a:xfrm>
          <a:prstGeom prst="rect">
            <a:avLst/>
          </a:prstGeom>
          <a:noFill/>
          <a:ln w="0">
            <a:noFill/>
            <a:prstDash val="solid"/>
          </a:ln>
        </p:spPr>
        <p:txBody>
          <a:bodyPr wrap="square" lIns="38100" tIns="38100" rIns="38100" bIns="38100" anchor="ctr">
            <a:noAutofit/>
          </a:bodyPr>
          <a:lstStyle/>
          <a:p>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 rate-validity status is needed to select the degraded limit; feed it back to system/safety review.</a:t>
            </a:r>
          </a:p>
        </p:txBody>
      </p:sp>
      <p:sp>
        <p:nvSpPr>
          <p:cNvPr id="17" name="box-278">
            <a:extLst>
              <a:ext uri="{FF2B5EF4-FFF2-40B4-BE49-F238E27FC236}">
                <a16:creationId xmlns:a16="http://schemas.microsoft.com/office/drawing/2014/main" id="{E076DE64-E0CC-4190-BDC3-CB7108745A35}"/>
              </a:ext>
            </a:extLst>
          </p:cNvPr>
          <p:cNvSpPr>
            <a:spLocks noGrp="1"/>
          </p:cNvSpPr>
          <p:nvPr/>
        </p:nvSpPr>
        <p:spPr>
          <a:xfrm>
            <a:off x="1047750" y="5524500"/>
            <a:ext cx="10096500" cy="552450"/>
          </a:xfrm>
          <a:prstGeom prst="roundRect">
            <a:avLst>
              <a:gd name="adj" fmla="val 13793"/>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ACCEPTANCE CRITERIA  |  observable output • tolerance • response time • applicable modes • invalid-input behavior</a:t>
            </a:r>
          </a:p>
        </p:txBody>
      </p:sp>
    </p:spTree>
    <p:extLst>
      <p:ext uri="{BB962C8B-B14F-4D97-AF65-F5344CB8AC3E}">
        <p14:creationId xmlns:p14="http://schemas.microsoft.com/office/powerpoint/2010/main" val="125380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0" name="section-278">
            <a:extLst>
              <a:ext uri="{FF2B5EF4-FFF2-40B4-BE49-F238E27FC236}">
                <a16:creationId xmlns:a16="http://schemas.microsoft.com/office/drawing/2014/main" id="{43CC3F35-A57C-4C31-9D59-FA0CB038AA2E}"/>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a:ext uri="{FF2B5EF4-FFF2-40B4-BE49-F238E27FC236}">
                <a16:creationId xmlns:a16="http://schemas.microsoft.com/office/drawing/2014/main" id="{9DC4587E-8993-46C6-830D-35CEC197335F}"/>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requirement, one chain of proof</a:t>
            </a:r>
          </a:p>
        </p:txBody>
      </p:sp>
      <p:sp>
        <p:nvSpPr>
          <p:cNvPr id="3" name="line-279">
            <a:extLst>
              <a:ext uri="{FF2B5EF4-FFF2-40B4-BE49-F238E27FC236}">
                <a16:creationId xmlns:a16="http://schemas.microsoft.com/office/drawing/2014/main" id="{4352DE2F-C9C3-46D3-86DA-54267191A174}"/>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280">
            <a:extLst>
              <a:ext uri="{FF2B5EF4-FFF2-40B4-BE49-F238E27FC236}">
                <a16:creationId xmlns:a16="http://schemas.microsoft.com/office/drawing/2014/main" id="{8F08309F-3BC8-4869-B373-D51F3B3B1589}"/>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a:ext uri="{FF2B5EF4-FFF2-40B4-BE49-F238E27FC236}">
                <a16:creationId xmlns:a16="http://schemas.microsoft.com/office/drawing/2014/main" id="{30F12F5B-DC61-4DA4-9E1D-E85B65E70736}"/>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18</a:t>
            </a:r>
          </a:p>
        </p:txBody>
      </p:sp>
      <p:pic>
        <p:nvPicPr>
          <p:cNvPr id="9" name="Picture 8" descr="Actual PitchRateLimiter test results">
            <a:extLst>
              <a:ext uri="{FF2B5EF4-FFF2-40B4-BE49-F238E27FC236}">
                <a16:creationId xmlns:a16="http://schemas.microsoft.com/office/drawing/2014/main" id="{C05AF6E5-44E1-5C29-3A52-6C140C2F2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6673" y="1422400"/>
            <a:ext cx="6798653"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D3BED0F6-8764-6F37-0E82-7337222C6A2D}"/>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69DCE6"/>
                </a:solidFill>
                <a:latin typeface="Aptos" panose="020B0004020202020204" pitchFamily="34" charset="0"/>
              </a:rPr>
              <a:t>Executed desktop tests • boundaries, modes, validity, active flag, tolerance, and 50 Hz timing</a:t>
            </a:r>
          </a:p>
        </p:txBody>
      </p:sp>
    </p:spTree>
    <p:extLst>
      <p:ext uri="{BB962C8B-B14F-4D97-AF65-F5344CB8AC3E}">
        <p14:creationId xmlns:p14="http://schemas.microsoft.com/office/powerpoint/2010/main" val="2043144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5" name="section-292">
            <a:extLst>
              <a:ext uri="{FF2B5EF4-FFF2-40B4-BE49-F238E27FC236}">
                <a16:creationId xmlns:a16="http://schemas.microsoft.com/office/drawing/2014/main" id="{2928F19C-5723-4A32-A069-8FCBB7D7C44D}"/>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a:ext uri="{FF2B5EF4-FFF2-40B4-BE49-F238E27FC236}">
                <a16:creationId xmlns:a16="http://schemas.microsoft.com/office/drawing/2014/main" id="{80BC9ED0-EB73-4A0D-AE71-F2F9B790EA87}"/>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a:ext uri="{FF2B5EF4-FFF2-40B4-BE49-F238E27FC236}">
                <a16:creationId xmlns:a16="http://schemas.microsoft.com/office/drawing/2014/main" id="{23E18C08-9AAA-46AB-B63C-3FC6B60178E4}"/>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294">
            <a:extLst>
              <a:ext uri="{FF2B5EF4-FFF2-40B4-BE49-F238E27FC236}">
                <a16:creationId xmlns:a16="http://schemas.microsoft.com/office/drawing/2014/main" id="{DD907EB5-1AA6-44E1-ADB7-5DB5623AFC4B}"/>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a:ext uri="{FF2B5EF4-FFF2-40B4-BE49-F238E27FC236}">
                <a16:creationId xmlns:a16="http://schemas.microsoft.com/office/drawing/2014/main" id="{65E231B1-421F-4B3E-B0FF-5DDB8AD181D3}"/>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pic>
        <p:nvPicPr>
          <p:cNvPr id="9" name="Picture 8" descr="Authentic PitchRateLimiter implementation subsystem">
            <a:extLst>
              <a:ext uri="{FF2B5EF4-FFF2-40B4-BE49-F238E27FC236}">
                <a16:creationId xmlns:a16="http://schemas.microsoft.com/office/drawing/2014/main" id="{62F84636-8232-9984-E832-BBA52A424D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4881" y="1422400"/>
            <a:ext cx="4982239"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9F389B9A-3051-AEEA-45E8-E149FA6D8708}"/>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Magnitude clamp—not a slew-rate limiter • invalid or non-normal command falls back to zero</a:t>
            </a:r>
          </a:p>
        </p:txBody>
      </p:sp>
    </p:spTree>
    <p:extLst>
      <p:ext uri="{BB962C8B-B14F-4D97-AF65-F5344CB8AC3E}">
        <p14:creationId xmlns:p14="http://schemas.microsoft.com/office/powerpoint/2010/main" val="112507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6" name="section-310">
            <a:extLst>
              <a:ext uri="{FF2B5EF4-FFF2-40B4-BE49-F238E27FC236}">
                <a16:creationId xmlns:a16="http://schemas.microsoft.com/office/drawing/2014/main" id="{6B41A3AD-E5BA-4C1F-9AA7-DF9DD5BEC401}"/>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a:ext uri="{FF2B5EF4-FFF2-40B4-BE49-F238E27FC236}">
                <a16:creationId xmlns:a16="http://schemas.microsoft.com/office/drawing/2014/main" id="{8CB8F5F0-F0A5-4605-B70C-BE3A618F8732}"/>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a:ext uri="{FF2B5EF4-FFF2-40B4-BE49-F238E27FC236}">
                <a16:creationId xmlns:a16="http://schemas.microsoft.com/office/drawing/2014/main" id="{786527CA-9120-4ABE-B714-7B2DE7C28E55}"/>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312">
            <a:extLst>
              <a:ext uri="{FF2B5EF4-FFF2-40B4-BE49-F238E27FC236}">
                <a16:creationId xmlns:a16="http://schemas.microsoft.com/office/drawing/2014/main" id="{990F2D20-3950-4DA0-8426-B004A52AC789}"/>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a:ext uri="{FF2B5EF4-FFF2-40B4-BE49-F238E27FC236}">
                <a16:creationId xmlns:a16="http://schemas.microsoft.com/office/drawing/2014/main" id="{0D535931-27E5-4693-A353-740B01F881D7}"/>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9" name="Picture 8" descr="Actual data dictionary and FlightControlBus inventory">
            <a:extLst>
              <a:ext uri="{FF2B5EF4-FFF2-40B4-BE49-F238E27FC236}">
                <a16:creationId xmlns:a16="http://schemas.microsoft.com/office/drawing/2014/main" id="{BE5A43BC-2DCD-4973-71BF-5036CC6F36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7232" y="1422400"/>
            <a:ext cx="5477537"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0204C897-270F-41C8-24E0-6DE79DB2C597}"/>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Actual FCS_Data.sldd inventory • FlightControlBus and controlled illustrative parameters</a:t>
            </a:r>
          </a:p>
        </p:txBody>
      </p:sp>
    </p:spTree>
    <p:extLst>
      <p:ext uri="{BB962C8B-B14F-4D97-AF65-F5344CB8AC3E}">
        <p14:creationId xmlns:p14="http://schemas.microsoft.com/office/powerpoint/2010/main" val="786167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7" name="section-319">
            <a:extLst>
              <a:ext uri="{FF2B5EF4-FFF2-40B4-BE49-F238E27FC236}">
                <a16:creationId xmlns:a16="http://schemas.microsoft.com/office/drawing/2014/main" id="{5E7AE4DA-DA11-4EF2-A4EE-2AEBCD9996BE}"/>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a:ext uri="{FF2B5EF4-FFF2-40B4-BE49-F238E27FC236}">
                <a16:creationId xmlns:a16="http://schemas.microsoft.com/office/drawing/2014/main" id="{B53B82A1-1296-4524-9015-01380CFBDF0B}"/>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a:ext uri="{FF2B5EF4-FFF2-40B4-BE49-F238E27FC236}">
                <a16:creationId xmlns:a16="http://schemas.microsoft.com/office/drawing/2014/main" id="{44DD73CA-BEA8-4642-AF63-DBCE58FFC322}"/>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321">
            <a:extLst>
              <a:ext uri="{FF2B5EF4-FFF2-40B4-BE49-F238E27FC236}">
                <a16:creationId xmlns:a16="http://schemas.microsoft.com/office/drawing/2014/main" id="{2267A4B4-B09C-406A-BD5D-70D70DA8373B}"/>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a:ext uri="{FF2B5EF4-FFF2-40B4-BE49-F238E27FC236}">
                <a16:creationId xmlns:a16="http://schemas.microsoft.com/office/drawing/2014/main" id="{6595F1F7-86B2-4E1E-8C9A-7635825F6040}"/>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21</a:t>
            </a:r>
          </a:p>
        </p:txBody>
      </p:sp>
      <p:sp>
        <p:nvSpPr>
          <p:cNvPr id="6" name="text-323">
            <a:extLst>
              <a:ext uri="{FF2B5EF4-FFF2-40B4-BE49-F238E27FC236}">
                <a16:creationId xmlns:a16="http://schemas.microsoft.com/office/drawing/2014/main" id="{274202ED-E664-4AB0-985C-B052CB9F07F9}"/>
              </a:ext>
            </a:extLst>
          </p:cNvPr>
          <p:cNvSpPr>
            <a:spLocks noGrp="1"/>
          </p:cNvSpPr>
          <p:nvPr/>
        </p:nvSpPr>
        <p:spPr>
          <a:xfrm>
            <a:off x="742950" y="1504950"/>
            <a:ext cx="495300" cy="438150"/>
          </a:xfrm>
          <a:prstGeom prst="rect">
            <a:avLst/>
          </a:prstGeom>
          <a:noFill/>
          <a:ln w="0">
            <a:noFill/>
            <a:prstDash val="solid"/>
          </a:ln>
        </p:spPr>
        <p:txBody>
          <a:bodyPr wrap="square" lIns="38100" tIns="38100" rIns="38100" bIns="38100" anchor="ctr">
            <a:noAutofit/>
          </a:bodyPr>
          <a:lstStyle/>
          <a:p>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a:ext uri="{FF2B5EF4-FFF2-40B4-BE49-F238E27FC236}">
                <a16:creationId xmlns:a16="http://schemas.microsoft.com/office/drawing/2014/main" id="{0E94AA98-B2B4-4F0F-82EC-531D8260587C}"/>
              </a:ext>
            </a:extLst>
          </p:cNvPr>
          <p:cNvSpPr>
            <a:spLocks noGrp="1"/>
          </p:cNvSpPr>
          <p:nvPr/>
        </p:nvSpPr>
        <p:spPr>
          <a:xfrm>
            <a:off x="1524000" y="1504950"/>
            <a:ext cx="2952750" cy="285750"/>
          </a:xfrm>
          <a:prstGeom prst="rect">
            <a:avLst/>
          </a:prstGeom>
          <a:noFill/>
          <a:ln w="0">
            <a:noFill/>
            <a:prstDash val="solid"/>
          </a:ln>
        </p:spPr>
        <p:txBody>
          <a:bodyPr wrap="square" lIns="38100" tIns="38100" rIns="38100" bIns="38100" anchor="t">
            <a:noAutofit/>
          </a:bodyPr>
          <a:lstStyle/>
          <a:p>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a:ext uri="{FF2B5EF4-FFF2-40B4-BE49-F238E27FC236}">
                <a16:creationId xmlns:a16="http://schemas.microsoft.com/office/drawing/2014/main" id="{F5486363-7984-41C1-9678-9A76FCCE8488}"/>
              </a:ext>
            </a:extLst>
          </p:cNvPr>
          <p:cNvSpPr>
            <a:spLocks noGrp="1"/>
          </p:cNvSpPr>
          <p:nvPr/>
        </p:nvSpPr>
        <p:spPr>
          <a:xfrm>
            <a:off x="4572000" y="1504950"/>
            <a:ext cx="6667500" cy="4572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a:ext uri="{FF2B5EF4-FFF2-40B4-BE49-F238E27FC236}">
                <a16:creationId xmlns:a16="http://schemas.microsoft.com/office/drawing/2014/main" id="{28A77F49-AAE8-4B0A-814D-28DCB2A2DB31}"/>
              </a:ext>
            </a:extLst>
          </p:cNvPr>
          <p:cNvSpPr>
            <a:spLocks noGrp="1"/>
          </p:cNvSpPr>
          <p:nvPr/>
        </p:nvSpPr>
        <p:spPr>
          <a:xfrm>
            <a:off x="1524000" y="2076450"/>
            <a:ext cx="9715500" cy="0"/>
          </a:xfrm>
          <a:prstGeom prst="line">
            <a:avLst/>
          </a:prstGeom>
          <a:noFill/>
          <a:ln w="9525">
            <a:solidFill>
              <a:srgbClr val="143A55"/>
            </a:solidFill>
            <a:prstDash val="solid"/>
          </a:ln>
        </p:spPr>
      </p:sp>
      <p:sp>
        <p:nvSpPr>
          <p:cNvPr id="10" name="text-327">
            <a:extLst>
              <a:ext uri="{FF2B5EF4-FFF2-40B4-BE49-F238E27FC236}">
                <a16:creationId xmlns:a16="http://schemas.microsoft.com/office/drawing/2014/main" id="{45E5BEC2-0B5E-4FFD-ABA4-263F5662B1D7}"/>
              </a:ext>
            </a:extLst>
          </p:cNvPr>
          <p:cNvSpPr>
            <a:spLocks noGrp="1"/>
          </p:cNvSpPr>
          <p:nvPr/>
        </p:nvSpPr>
        <p:spPr>
          <a:xfrm>
            <a:off x="742950" y="2343150"/>
            <a:ext cx="495300" cy="438150"/>
          </a:xfrm>
          <a:prstGeom prst="rect">
            <a:avLst/>
          </a:prstGeom>
          <a:noFill/>
          <a:ln w="0">
            <a:noFill/>
            <a:prstDash val="solid"/>
          </a:ln>
        </p:spPr>
        <p:txBody>
          <a:bodyPr wrap="square" lIns="38100" tIns="38100" rIns="38100" bIns="38100" anchor="ctr">
            <a:noAutofit/>
          </a:bodyPr>
          <a:lstStyle/>
          <a:p>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a:ext uri="{FF2B5EF4-FFF2-40B4-BE49-F238E27FC236}">
                <a16:creationId xmlns:a16="http://schemas.microsoft.com/office/drawing/2014/main" id="{F95C54DF-873A-4AE9-BFF3-A48C07277BFB}"/>
              </a:ext>
            </a:extLst>
          </p:cNvPr>
          <p:cNvSpPr>
            <a:spLocks noGrp="1"/>
          </p:cNvSpPr>
          <p:nvPr/>
        </p:nvSpPr>
        <p:spPr>
          <a:xfrm>
            <a:off x="1524000" y="2343150"/>
            <a:ext cx="2952750" cy="285750"/>
          </a:xfrm>
          <a:prstGeom prst="rect">
            <a:avLst/>
          </a:prstGeom>
          <a:noFill/>
          <a:ln w="0">
            <a:noFill/>
            <a:prstDash val="solid"/>
          </a:ln>
        </p:spPr>
        <p:txBody>
          <a:bodyPr wrap="square" lIns="38100" tIns="38100" rIns="38100" bIns="38100" anchor="t">
            <a:noAutofit/>
          </a:bodyPr>
          <a:lstStyle/>
          <a:p>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a:ext uri="{FF2B5EF4-FFF2-40B4-BE49-F238E27FC236}">
                <a16:creationId xmlns:a16="http://schemas.microsoft.com/office/drawing/2014/main" id="{18612215-8EA1-4490-91BB-2E11D2052898}"/>
              </a:ext>
            </a:extLst>
          </p:cNvPr>
          <p:cNvSpPr>
            <a:spLocks noGrp="1"/>
          </p:cNvSpPr>
          <p:nvPr/>
        </p:nvSpPr>
        <p:spPr>
          <a:xfrm>
            <a:off x="4572000" y="2343150"/>
            <a:ext cx="6667500" cy="4572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a:ext uri="{FF2B5EF4-FFF2-40B4-BE49-F238E27FC236}">
                <a16:creationId xmlns:a16="http://schemas.microsoft.com/office/drawing/2014/main" id="{BD30EC1E-1585-4587-9FF5-D649139CCF0F}"/>
              </a:ext>
            </a:extLst>
          </p:cNvPr>
          <p:cNvSpPr>
            <a:spLocks noGrp="1"/>
          </p:cNvSpPr>
          <p:nvPr/>
        </p:nvSpPr>
        <p:spPr>
          <a:xfrm>
            <a:off x="1524000" y="2914650"/>
            <a:ext cx="9715500" cy="0"/>
          </a:xfrm>
          <a:prstGeom prst="line">
            <a:avLst/>
          </a:prstGeom>
          <a:noFill/>
          <a:ln w="9525">
            <a:solidFill>
              <a:srgbClr val="143A55"/>
            </a:solidFill>
            <a:prstDash val="solid"/>
          </a:ln>
        </p:spPr>
      </p:sp>
      <p:sp>
        <p:nvSpPr>
          <p:cNvPr id="14" name="text-331">
            <a:extLst>
              <a:ext uri="{FF2B5EF4-FFF2-40B4-BE49-F238E27FC236}">
                <a16:creationId xmlns:a16="http://schemas.microsoft.com/office/drawing/2014/main" id="{F7EE569B-0D13-4CEC-A668-514D6FBE277B}"/>
              </a:ext>
            </a:extLst>
          </p:cNvPr>
          <p:cNvSpPr>
            <a:spLocks noGrp="1"/>
          </p:cNvSpPr>
          <p:nvPr/>
        </p:nvSpPr>
        <p:spPr>
          <a:xfrm>
            <a:off x="742950" y="3181350"/>
            <a:ext cx="495300" cy="438150"/>
          </a:xfrm>
          <a:prstGeom prst="rect">
            <a:avLst/>
          </a:prstGeom>
          <a:noFill/>
          <a:ln w="0">
            <a:noFill/>
            <a:prstDash val="solid"/>
          </a:ln>
        </p:spPr>
        <p:txBody>
          <a:bodyPr wrap="square" lIns="38100" tIns="38100" rIns="38100" bIns="38100" anchor="ctr">
            <a:noAutofit/>
          </a:bodyPr>
          <a:lstStyle/>
          <a:p>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a:ext uri="{FF2B5EF4-FFF2-40B4-BE49-F238E27FC236}">
                <a16:creationId xmlns:a16="http://schemas.microsoft.com/office/drawing/2014/main" id="{9054FC18-4019-429B-9CA9-84DE3401D634}"/>
              </a:ext>
            </a:extLst>
          </p:cNvPr>
          <p:cNvSpPr>
            <a:spLocks noGrp="1"/>
          </p:cNvSpPr>
          <p:nvPr/>
        </p:nvSpPr>
        <p:spPr>
          <a:xfrm>
            <a:off x="1524000" y="3181350"/>
            <a:ext cx="2952750" cy="285750"/>
          </a:xfrm>
          <a:prstGeom prst="rect">
            <a:avLst/>
          </a:prstGeom>
          <a:noFill/>
          <a:ln w="0">
            <a:noFill/>
            <a:prstDash val="solid"/>
          </a:ln>
        </p:spPr>
        <p:txBody>
          <a:bodyPr wrap="square" lIns="38100" tIns="38100" rIns="38100" bIns="38100" anchor="t">
            <a:noAutofit/>
          </a:bodyPr>
          <a:lstStyle/>
          <a:p>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a:ext uri="{FF2B5EF4-FFF2-40B4-BE49-F238E27FC236}">
                <a16:creationId xmlns:a16="http://schemas.microsoft.com/office/drawing/2014/main" id="{4269560D-85B2-4CBF-A3FB-9494F4C476F0}"/>
              </a:ext>
            </a:extLst>
          </p:cNvPr>
          <p:cNvSpPr>
            <a:spLocks noGrp="1"/>
          </p:cNvSpPr>
          <p:nvPr/>
        </p:nvSpPr>
        <p:spPr>
          <a:xfrm>
            <a:off x="4572000" y="3181350"/>
            <a:ext cx="6667500" cy="4572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a:ext uri="{FF2B5EF4-FFF2-40B4-BE49-F238E27FC236}">
                <a16:creationId xmlns:a16="http://schemas.microsoft.com/office/drawing/2014/main" id="{5D646359-F787-44EC-A94C-6442FA39919E}"/>
              </a:ext>
            </a:extLst>
          </p:cNvPr>
          <p:cNvSpPr>
            <a:spLocks noGrp="1"/>
          </p:cNvSpPr>
          <p:nvPr/>
        </p:nvSpPr>
        <p:spPr>
          <a:xfrm>
            <a:off x="1524000" y="3752850"/>
            <a:ext cx="9715500" cy="0"/>
          </a:xfrm>
          <a:prstGeom prst="line">
            <a:avLst/>
          </a:prstGeom>
          <a:noFill/>
          <a:ln w="9525">
            <a:solidFill>
              <a:srgbClr val="143A55"/>
            </a:solidFill>
            <a:prstDash val="solid"/>
          </a:ln>
        </p:spPr>
      </p:sp>
      <p:sp>
        <p:nvSpPr>
          <p:cNvPr id="18" name="text-335">
            <a:extLst>
              <a:ext uri="{FF2B5EF4-FFF2-40B4-BE49-F238E27FC236}">
                <a16:creationId xmlns:a16="http://schemas.microsoft.com/office/drawing/2014/main" id="{FDA07C6B-4AE3-4BCC-9B55-353955614B74}"/>
              </a:ext>
            </a:extLst>
          </p:cNvPr>
          <p:cNvSpPr>
            <a:spLocks noGrp="1"/>
          </p:cNvSpPr>
          <p:nvPr/>
        </p:nvSpPr>
        <p:spPr>
          <a:xfrm>
            <a:off x="742950" y="4019550"/>
            <a:ext cx="495300" cy="438150"/>
          </a:xfrm>
          <a:prstGeom prst="rect">
            <a:avLst/>
          </a:prstGeom>
          <a:noFill/>
          <a:ln w="0">
            <a:noFill/>
            <a:prstDash val="solid"/>
          </a:ln>
        </p:spPr>
        <p:txBody>
          <a:bodyPr wrap="square" lIns="38100" tIns="38100" rIns="38100" bIns="38100" anchor="ctr">
            <a:noAutofit/>
          </a:bodyPr>
          <a:lstStyle/>
          <a:p>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a:ext uri="{FF2B5EF4-FFF2-40B4-BE49-F238E27FC236}">
                <a16:creationId xmlns:a16="http://schemas.microsoft.com/office/drawing/2014/main" id="{AB7739A0-8F4C-4E54-BFD6-2C672EE2B14F}"/>
              </a:ext>
            </a:extLst>
          </p:cNvPr>
          <p:cNvSpPr>
            <a:spLocks noGrp="1"/>
          </p:cNvSpPr>
          <p:nvPr/>
        </p:nvSpPr>
        <p:spPr>
          <a:xfrm>
            <a:off x="1524000" y="4019550"/>
            <a:ext cx="2952750" cy="285750"/>
          </a:xfrm>
          <a:prstGeom prst="rect">
            <a:avLst/>
          </a:prstGeom>
          <a:noFill/>
          <a:ln w="0">
            <a:noFill/>
            <a:prstDash val="solid"/>
          </a:ln>
        </p:spPr>
        <p:txBody>
          <a:bodyPr wrap="square" lIns="38100" tIns="38100" rIns="38100" bIns="38100" anchor="t">
            <a:noAutofit/>
          </a:bodyPr>
          <a:lstStyle/>
          <a:p>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a:ext uri="{FF2B5EF4-FFF2-40B4-BE49-F238E27FC236}">
                <a16:creationId xmlns:a16="http://schemas.microsoft.com/office/drawing/2014/main" id="{FB75E0AE-536C-437D-B22E-330F903E4E51}"/>
              </a:ext>
            </a:extLst>
          </p:cNvPr>
          <p:cNvSpPr>
            <a:spLocks noGrp="1"/>
          </p:cNvSpPr>
          <p:nvPr/>
        </p:nvSpPr>
        <p:spPr>
          <a:xfrm>
            <a:off x="4572000" y="4019550"/>
            <a:ext cx="6667500" cy="4572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a:ext uri="{FF2B5EF4-FFF2-40B4-BE49-F238E27FC236}">
                <a16:creationId xmlns:a16="http://schemas.microsoft.com/office/drawing/2014/main" id="{4776EE4B-1776-4C5C-9B7B-F15501A26A93}"/>
              </a:ext>
            </a:extLst>
          </p:cNvPr>
          <p:cNvSpPr>
            <a:spLocks noGrp="1"/>
          </p:cNvSpPr>
          <p:nvPr/>
        </p:nvSpPr>
        <p:spPr>
          <a:xfrm>
            <a:off x="1524000" y="4591050"/>
            <a:ext cx="9715500" cy="0"/>
          </a:xfrm>
          <a:prstGeom prst="line">
            <a:avLst/>
          </a:prstGeom>
          <a:noFill/>
          <a:ln w="9525">
            <a:solidFill>
              <a:srgbClr val="143A55"/>
            </a:solidFill>
            <a:prstDash val="solid"/>
          </a:ln>
        </p:spPr>
      </p:sp>
      <p:sp>
        <p:nvSpPr>
          <p:cNvPr id="22" name="text-339">
            <a:extLst>
              <a:ext uri="{FF2B5EF4-FFF2-40B4-BE49-F238E27FC236}">
                <a16:creationId xmlns:a16="http://schemas.microsoft.com/office/drawing/2014/main" id="{8DF68E8C-5524-4E2F-BF17-AA58BCA85C11}"/>
              </a:ext>
            </a:extLst>
          </p:cNvPr>
          <p:cNvSpPr>
            <a:spLocks noGrp="1"/>
          </p:cNvSpPr>
          <p:nvPr/>
        </p:nvSpPr>
        <p:spPr>
          <a:xfrm>
            <a:off x="742950" y="4857750"/>
            <a:ext cx="495300" cy="438150"/>
          </a:xfrm>
          <a:prstGeom prst="rect">
            <a:avLst/>
          </a:prstGeom>
          <a:noFill/>
          <a:ln w="0">
            <a:noFill/>
            <a:prstDash val="solid"/>
          </a:ln>
        </p:spPr>
        <p:txBody>
          <a:bodyPr wrap="square" lIns="38100" tIns="38100" rIns="38100" bIns="38100" anchor="ctr">
            <a:noAutofit/>
          </a:bodyPr>
          <a:lstStyle/>
          <a:p>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a:ext uri="{FF2B5EF4-FFF2-40B4-BE49-F238E27FC236}">
                <a16:creationId xmlns:a16="http://schemas.microsoft.com/office/drawing/2014/main" id="{539FB3A7-1E16-47BA-86FE-1F28AC6EEFE9}"/>
              </a:ext>
            </a:extLst>
          </p:cNvPr>
          <p:cNvSpPr>
            <a:spLocks noGrp="1"/>
          </p:cNvSpPr>
          <p:nvPr/>
        </p:nvSpPr>
        <p:spPr>
          <a:xfrm>
            <a:off x="1524000" y="4857750"/>
            <a:ext cx="2952750" cy="285750"/>
          </a:xfrm>
          <a:prstGeom prst="rect">
            <a:avLst/>
          </a:prstGeom>
          <a:noFill/>
          <a:ln w="0">
            <a:noFill/>
            <a:prstDash val="solid"/>
          </a:ln>
        </p:spPr>
        <p:txBody>
          <a:bodyPr wrap="square" lIns="38100" tIns="38100" rIns="38100" bIns="38100" anchor="t">
            <a:noAutofit/>
          </a:bodyPr>
          <a:lstStyle/>
          <a:p>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a:ext uri="{FF2B5EF4-FFF2-40B4-BE49-F238E27FC236}">
                <a16:creationId xmlns:a16="http://schemas.microsoft.com/office/drawing/2014/main" id="{EBE7FAFD-9BF6-4B2E-B97C-BAF1798FD94C}"/>
              </a:ext>
            </a:extLst>
          </p:cNvPr>
          <p:cNvSpPr>
            <a:spLocks noGrp="1"/>
          </p:cNvSpPr>
          <p:nvPr/>
        </p:nvSpPr>
        <p:spPr>
          <a:xfrm>
            <a:off x="4572000" y="4857750"/>
            <a:ext cx="6667500" cy="45720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a:ext uri="{FF2B5EF4-FFF2-40B4-BE49-F238E27FC236}">
                <a16:creationId xmlns:a16="http://schemas.microsoft.com/office/drawing/2014/main" id="{B731D8B4-8226-4907-857A-6F667B19C6F0}"/>
              </a:ext>
            </a:extLst>
          </p:cNvPr>
          <p:cNvSpPr>
            <a:spLocks noGrp="1"/>
          </p:cNvSpPr>
          <p:nvPr/>
        </p:nvSpPr>
        <p:spPr>
          <a:xfrm>
            <a:off x="1524000" y="5429250"/>
            <a:ext cx="9715500" cy="0"/>
          </a:xfrm>
          <a:prstGeom prst="line">
            <a:avLst/>
          </a:prstGeom>
          <a:noFill/>
          <a:ln w="9525">
            <a:solidFill>
              <a:srgbClr val="143A55"/>
            </a:solidFill>
            <a:prstDash val="solid"/>
          </a:ln>
        </p:spPr>
      </p:sp>
      <p:sp>
        <p:nvSpPr>
          <p:cNvPr id="26" name="box-343">
            <a:extLst>
              <a:ext uri="{FF2B5EF4-FFF2-40B4-BE49-F238E27FC236}">
                <a16:creationId xmlns:a16="http://schemas.microsoft.com/office/drawing/2014/main" id="{F9187C8D-F06C-4555-913A-2BB2D300EFCE}"/>
              </a:ext>
            </a:extLst>
          </p:cNvPr>
          <p:cNvSpPr>
            <a:spLocks noGrp="1"/>
          </p:cNvSpPr>
          <p:nvPr/>
        </p:nvSpPr>
        <p:spPr>
          <a:xfrm>
            <a:off x="2381250" y="5667375"/>
            <a:ext cx="7429500" cy="495300"/>
          </a:xfrm>
          <a:prstGeom prst="roundRect">
            <a:avLst>
              <a:gd name="adj" fmla="val 15385"/>
            </a:avLst>
          </a:prstGeom>
          <a:solidFill>
            <a:srgbClr val="20B7C5"/>
          </a:solidFill>
          <a:ln w="9525">
            <a:solidFill>
              <a:srgbClr val="20B7C5"/>
            </a:solidFill>
            <a:prstDash val="solid"/>
          </a:ln>
        </p:spPr>
        <p:txBody>
          <a:bodyPr lIns="76200" tIns="57150" rIns="76200" bIns="57150" anchor="ctr">
            <a:noAutofit/>
          </a:bodyPr>
          <a:lstStyle/>
          <a:p>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9" name="section-343">
            <a:extLst>
              <a:ext uri="{FF2B5EF4-FFF2-40B4-BE49-F238E27FC236}">
                <a16:creationId xmlns:a16="http://schemas.microsoft.com/office/drawing/2014/main" id="{709CEFA9-4EB3-495D-BF39-97DD8FD590DF}"/>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a:ext uri="{FF2B5EF4-FFF2-40B4-BE49-F238E27FC236}">
                <a16:creationId xmlns:a16="http://schemas.microsoft.com/office/drawing/2014/main" id="{7E963F83-5694-4484-AA13-205C1B2A2C47}"/>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a:ext uri="{FF2B5EF4-FFF2-40B4-BE49-F238E27FC236}">
                <a16:creationId xmlns:a16="http://schemas.microsoft.com/office/drawing/2014/main" id="{D6EE374C-848E-4A69-AAF2-BFA39C72CD28}"/>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345">
            <a:extLst>
              <a:ext uri="{FF2B5EF4-FFF2-40B4-BE49-F238E27FC236}">
                <a16:creationId xmlns:a16="http://schemas.microsoft.com/office/drawing/2014/main" id="{42DF1B99-B975-4230-93F7-303AE39B6C9C}"/>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a:ext uri="{FF2B5EF4-FFF2-40B4-BE49-F238E27FC236}">
                <a16:creationId xmlns:a16="http://schemas.microsoft.com/office/drawing/2014/main" id="{E81D7452-0177-42B9-8363-C805E4A2C22F}"/>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pic>
        <p:nvPicPr>
          <p:cNvPr id="9" name="Picture 8" descr="Authentic standalone PitchRateLimiter harness model">
            <a:extLst>
              <a:ext uri="{FF2B5EF4-FFF2-40B4-BE49-F238E27FC236}">
                <a16:creationId xmlns:a16="http://schemas.microsoft.com/office/drawing/2014/main" id="{CBCF0DAE-F6D1-F009-1E39-004F490BEF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4263" y="1422400"/>
            <a:ext cx="7143473"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BDC23F0A-6A28-441E-99F9-723363B0E227}"/>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section-355">
            <a:extLst>
              <a:ext uri="{FF2B5EF4-FFF2-40B4-BE49-F238E27FC236}">
                <a16:creationId xmlns:a16="http://schemas.microsoft.com/office/drawing/2014/main" id="{DB8C1F3E-7FF8-432F-A4F0-99480ED39CD7}"/>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a:ext uri="{FF2B5EF4-FFF2-40B4-BE49-F238E27FC236}">
                <a16:creationId xmlns:a16="http://schemas.microsoft.com/office/drawing/2014/main" id="{974343D5-E23C-4F68-A772-6AD975F804CB}"/>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a:ext uri="{FF2B5EF4-FFF2-40B4-BE49-F238E27FC236}">
                <a16:creationId xmlns:a16="http://schemas.microsoft.com/office/drawing/2014/main" id="{6AB2B0E1-B75D-400B-B852-C133150A86D6}"/>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357">
            <a:extLst>
              <a:ext uri="{FF2B5EF4-FFF2-40B4-BE49-F238E27FC236}">
                <a16:creationId xmlns:a16="http://schemas.microsoft.com/office/drawing/2014/main" id="{72CA5A8E-704A-448D-B2F2-E2F5A146D05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a:ext uri="{FF2B5EF4-FFF2-40B4-BE49-F238E27FC236}">
                <a16:creationId xmlns:a16="http://schemas.microsoft.com/office/drawing/2014/main" id="{83C1283D-B5EA-4795-8AAB-22B72A0A0DF8}"/>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6" name="text-359">
            <a:extLst>
              <a:ext uri="{FF2B5EF4-FFF2-40B4-BE49-F238E27FC236}">
                <a16:creationId xmlns:a16="http://schemas.microsoft.com/office/drawing/2014/main" id="{F5C97437-57C1-447F-A551-06101A8D2713}"/>
              </a:ext>
            </a:extLst>
          </p:cNvPr>
          <p:cNvSpPr>
            <a:spLocks noGrp="1"/>
          </p:cNvSpPr>
          <p:nvPr/>
        </p:nvSpPr>
        <p:spPr>
          <a:xfrm>
            <a:off x="742950" y="1485900"/>
            <a:ext cx="200025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a:ext uri="{FF2B5EF4-FFF2-40B4-BE49-F238E27FC236}">
                <a16:creationId xmlns:a16="http://schemas.microsoft.com/office/drawing/2014/main" id="{F03822A9-7F78-4C4A-86F8-2FE972663EB9}"/>
              </a:ext>
            </a:extLst>
          </p:cNvPr>
          <p:cNvSpPr>
            <a:spLocks noGrp="1"/>
          </p:cNvSpPr>
          <p:nvPr/>
        </p:nvSpPr>
        <p:spPr>
          <a:xfrm>
            <a:off x="3238500" y="1485900"/>
            <a:ext cx="495300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a:ext uri="{FF2B5EF4-FFF2-40B4-BE49-F238E27FC236}">
                <a16:creationId xmlns:a16="http://schemas.microsoft.com/office/drawing/2014/main" id="{A21A986A-CE2F-4BC0-86DA-B22605B5C06F}"/>
              </a:ext>
            </a:extLst>
          </p:cNvPr>
          <p:cNvSpPr>
            <a:spLocks noGrp="1"/>
          </p:cNvSpPr>
          <p:nvPr/>
        </p:nvSpPr>
        <p:spPr>
          <a:xfrm>
            <a:off x="8572500" y="1485900"/>
            <a:ext cx="285750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a:ext uri="{FF2B5EF4-FFF2-40B4-BE49-F238E27FC236}">
                <a16:creationId xmlns:a16="http://schemas.microsoft.com/office/drawing/2014/main" id="{32FEF9A1-25E1-42F6-A659-3A9226E08991}"/>
              </a:ext>
            </a:extLst>
          </p:cNvPr>
          <p:cNvSpPr>
            <a:spLocks noGrp="1"/>
          </p:cNvSpPr>
          <p:nvPr/>
        </p:nvSpPr>
        <p:spPr>
          <a:xfrm>
            <a:off x="742950" y="1885950"/>
            <a:ext cx="1809750" cy="533400"/>
          </a:xfrm>
          <a:prstGeom prst="roundRect">
            <a:avLst>
              <a:gd name="adj" fmla="val 12500"/>
            </a:avLst>
          </a:prstGeom>
          <a:solidFill>
            <a:srgbClr val="2D6CDF"/>
          </a:solidFill>
          <a:ln w="9525">
            <a:solidFill>
              <a:srgbClr val="2D6CDF"/>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a:ext uri="{FF2B5EF4-FFF2-40B4-BE49-F238E27FC236}">
                <a16:creationId xmlns:a16="http://schemas.microsoft.com/office/drawing/2014/main" id="{05803DF9-E0D2-433B-8BBB-6D7AEF4EF235}"/>
              </a:ext>
            </a:extLst>
          </p:cNvPr>
          <p:cNvSpPr>
            <a:spLocks noGrp="1"/>
          </p:cNvSpPr>
          <p:nvPr/>
        </p:nvSpPr>
        <p:spPr>
          <a:xfrm>
            <a:off x="3238500" y="1885950"/>
            <a:ext cx="4857750" cy="552450"/>
          </a:xfrm>
          <a:prstGeom prst="rect">
            <a:avLst/>
          </a:prstGeom>
          <a:noFill/>
          <a:ln w="0">
            <a:noFill/>
            <a:prstDash val="solid"/>
          </a:ln>
        </p:spPr>
        <p:txBody>
          <a:bodyPr wrap="square" lIns="38100" tIns="38100" rIns="38100" bIns="38100" anchor="ctr">
            <a:noAutofit/>
          </a:bodyPr>
          <a:lstStyle/>
          <a:p>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a:ext uri="{FF2B5EF4-FFF2-40B4-BE49-F238E27FC236}">
                <a16:creationId xmlns:a16="http://schemas.microsoft.com/office/drawing/2014/main" id="{7E05D41F-7B19-405E-B94A-FFB20BFE4F80}"/>
              </a:ext>
            </a:extLst>
          </p:cNvPr>
          <p:cNvSpPr>
            <a:spLocks noGrp="1"/>
          </p:cNvSpPr>
          <p:nvPr/>
        </p:nvSpPr>
        <p:spPr>
          <a:xfrm>
            <a:off x="8572500" y="1885950"/>
            <a:ext cx="28575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a:ext uri="{FF2B5EF4-FFF2-40B4-BE49-F238E27FC236}">
                <a16:creationId xmlns:a16="http://schemas.microsoft.com/office/drawing/2014/main" id="{F9BAF144-06CD-461E-8918-904E75CF9F21}"/>
              </a:ext>
            </a:extLst>
          </p:cNvPr>
          <p:cNvSpPr>
            <a:spLocks noGrp="1"/>
          </p:cNvSpPr>
          <p:nvPr/>
        </p:nvSpPr>
        <p:spPr>
          <a:xfrm>
            <a:off x="685800" y="2514600"/>
            <a:ext cx="10820400" cy="0"/>
          </a:xfrm>
          <a:prstGeom prst="line">
            <a:avLst/>
          </a:prstGeom>
          <a:noFill/>
          <a:ln w="9525">
            <a:solidFill>
              <a:srgbClr val="C9D8E3"/>
            </a:solidFill>
            <a:prstDash val="solid"/>
          </a:ln>
        </p:spPr>
      </p:sp>
      <p:sp>
        <p:nvSpPr>
          <p:cNvPr id="13" name="box-366">
            <a:extLst>
              <a:ext uri="{FF2B5EF4-FFF2-40B4-BE49-F238E27FC236}">
                <a16:creationId xmlns:a16="http://schemas.microsoft.com/office/drawing/2014/main" id="{26065905-5C87-400A-A25C-D42F573BF575}"/>
              </a:ext>
            </a:extLst>
          </p:cNvPr>
          <p:cNvSpPr>
            <a:spLocks noGrp="1"/>
          </p:cNvSpPr>
          <p:nvPr/>
        </p:nvSpPr>
        <p:spPr>
          <a:xfrm>
            <a:off x="742950" y="2647950"/>
            <a:ext cx="1809750" cy="533400"/>
          </a:xfrm>
          <a:prstGeom prst="roundRect">
            <a:avLst>
              <a:gd name="adj" fmla="val 12500"/>
            </a:avLst>
          </a:prstGeom>
          <a:solidFill>
            <a:srgbClr val="20B7C5"/>
          </a:solidFill>
          <a:ln w="9525">
            <a:solidFill>
              <a:srgbClr val="20B7C5"/>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a:ext uri="{FF2B5EF4-FFF2-40B4-BE49-F238E27FC236}">
                <a16:creationId xmlns:a16="http://schemas.microsoft.com/office/drawing/2014/main" id="{1773B375-37A0-49EB-BB0B-DBD52B61D849}"/>
              </a:ext>
            </a:extLst>
          </p:cNvPr>
          <p:cNvSpPr>
            <a:spLocks noGrp="1"/>
          </p:cNvSpPr>
          <p:nvPr/>
        </p:nvSpPr>
        <p:spPr>
          <a:xfrm>
            <a:off x="3238500" y="2647950"/>
            <a:ext cx="4857750" cy="552450"/>
          </a:xfrm>
          <a:prstGeom prst="rect">
            <a:avLst/>
          </a:prstGeom>
          <a:noFill/>
          <a:ln w="0">
            <a:noFill/>
            <a:prstDash val="solid"/>
          </a:ln>
        </p:spPr>
        <p:txBody>
          <a:bodyPr wrap="square" lIns="38100" tIns="38100" rIns="38100" bIns="38100" anchor="ctr">
            <a:noAutofit/>
          </a:bodyPr>
          <a:lstStyle/>
          <a:p>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a:ext uri="{FF2B5EF4-FFF2-40B4-BE49-F238E27FC236}">
                <a16:creationId xmlns:a16="http://schemas.microsoft.com/office/drawing/2014/main" id="{3E114649-18FE-4B05-9F7A-8D1B3FCDE5F3}"/>
              </a:ext>
            </a:extLst>
          </p:cNvPr>
          <p:cNvSpPr>
            <a:spLocks noGrp="1"/>
          </p:cNvSpPr>
          <p:nvPr/>
        </p:nvSpPr>
        <p:spPr>
          <a:xfrm>
            <a:off x="8572500" y="2647950"/>
            <a:ext cx="28575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a:ext uri="{FF2B5EF4-FFF2-40B4-BE49-F238E27FC236}">
                <a16:creationId xmlns:a16="http://schemas.microsoft.com/office/drawing/2014/main" id="{61B573A7-07B1-4B3C-8412-C8EF11D88B7E}"/>
              </a:ext>
            </a:extLst>
          </p:cNvPr>
          <p:cNvSpPr>
            <a:spLocks noGrp="1"/>
          </p:cNvSpPr>
          <p:nvPr/>
        </p:nvSpPr>
        <p:spPr>
          <a:xfrm>
            <a:off x="685800" y="3276600"/>
            <a:ext cx="10820400" cy="0"/>
          </a:xfrm>
          <a:prstGeom prst="line">
            <a:avLst/>
          </a:prstGeom>
          <a:noFill/>
          <a:ln w="9525">
            <a:solidFill>
              <a:srgbClr val="C9D8E3"/>
            </a:solidFill>
            <a:prstDash val="solid"/>
          </a:ln>
        </p:spPr>
      </p:sp>
      <p:sp>
        <p:nvSpPr>
          <p:cNvPr id="17" name="box-370">
            <a:extLst>
              <a:ext uri="{FF2B5EF4-FFF2-40B4-BE49-F238E27FC236}">
                <a16:creationId xmlns:a16="http://schemas.microsoft.com/office/drawing/2014/main" id="{6782CBEC-E726-4D2D-931D-2CAC15E3EBDB}"/>
              </a:ext>
            </a:extLst>
          </p:cNvPr>
          <p:cNvSpPr>
            <a:spLocks noGrp="1"/>
          </p:cNvSpPr>
          <p:nvPr/>
        </p:nvSpPr>
        <p:spPr>
          <a:xfrm>
            <a:off x="742950" y="3409950"/>
            <a:ext cx="1809750" cy="533400"/>
          </a:xfrm>
          <a:prstGeom prst="roundRect">
            <a:avLst>
              <a:gd name="adj" fmla="val 12500"/>
            </a:avLst>
          </a:prstGeom>
          <a:solidFill>
            <a:srgbClr val="E9A23B"/>
          </a:solidFill>
          <a:ln w="9525">
            <a:solidFill>
              <a:srgbClr val="E9A23B"/>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a:ext uri="{FF2B5EF4-FFF2-40B4-BE49-F238E27FC236}">
                <a16:creationId xmlns:a16="http://schemas.microsoft.com/office/drawing/2014/main" id="{4EE8A224-85E6-4B27-B67C-51A385EBF459}"/>
              </a:ext>
            </a:extLst>
          </p:cNvPr>
          <p:cNvSpPr>
            <a:spLocks noGrp="1"/>
          </p:cNvSpPr>
          <p:nvPr/>
        </p:nvSpPr>
        <p:spPr>
          <a:xfrm>
            <a:off x="3238500" y="3409950"/>
            <a:ext cx="4857750" cy="552450"/>
          </a:xfrm>
          <a:prstGeom prst="rect">
            <a:avLst/>
          </a:prstGeom>
          <a:noFill/>
          <a:ln w="0">
            <a:noFill/>
            <a:prstDash val="solid"/>
          </a:ln>
        </p:spPr>
        <p:txBody>
          <a:bodyPr wrap="square" lIns="38100" tIns="38100" rIns="38100" bIns="38100" anchor="ctr">
            <a:noAutofit/>
          </a:bodyPr>
          <a:lstStyle/>
          <a:p>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a:ext uri="{FF2B5EF4-FFF2-40B4-BE49-F238E27FC236}">
                <a16:creationId xmlns:a16="http://schemas.microsoft.com/office/drawing/2014/main" id="{87EC0183-EA91-40B1-8269-476A500EEB87}"/>
              </a:ext>
            </a:extLst>
          </p:cNvPr>
          <p:cNvSpPr>
            <a:spLocks noGrp="1"/>
          </p:cNvSpPr>
          <p:nvPr/>
        </p:nvSpPr>
        <p:spPr>
          <a:xfrm>
            <a:off x="8572500" y="3409950"/>
            <a:ext cx="28575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a:ext uri="{FF2B5EF4-FFF2-40B4-BE49-F238E27FC236}">
                <a16:creationId xmlns:a16="http://schemas.microsoft.com/office/drawing/2014/main" id="{C7F237EE-443F-4605-AED9-74823232B23A}"/>
              </a:ext>
            </a:extLst>
          </p:cNvPr>
          <p:cNvSpPr>
            <a:spLocks noGrp="1"/>
          </p:cNvSpPr>
          <p:nvPr/>
        </p:nvSpPr>
        <p:spPr>
          <a:xfrm>
            <a:off x="685800" y="4038600"/>
            <a:ext cx="10820400" cy="0"/>
          </a:xfrm>
          <a:prstGeom prst="line">
            <a:avLst/>
          </a:prstGeom>
          <a:noFill/>
          <a:ln w="9525">
            <a:solidFill>
              <a:srgbClr val="C9D8E3"/>
            </a:solidFill>
            <a:prstDash val="solid"/>
          </a:ln>
        </p:spPr>
      </p:sp>
      <p:sp>
        <p:nvSpPr>
          <p:cNvPr id="21" name="box-374">
            <a:extLst>
              <a:ext uri="{FF2B5EF4-FFF2-40B4-BE49-F238E27FC236}">
                <a16:creationId xmlns:a16="http://schemas.microsoft.com/office/drawing/2014/main" id="{7F0353DD-18E6-4F86-B554-0ADF2ADAD0EC}"/>
              </a:ext>
            </a:extLst>
          </p:cNvPr>
          <p:cNvSpPr>
            <a:spLocks noGrp="1"/>
          </p:cNvSpPr>
          <p:nvPr/>
        </p:nvSpPr>
        <p:spPr>
          <a:xfrm>
            <a:off x="742950" y="4171950"/>
            <a:ext cx="1809750" cy="533400"/>
          </a:xfrm>
          <a:prstGeom prst="roundRect">
            <a:avLst>
              <a:gd name="adj" fmla="val 12500"/>
            </a:avLst>
          </a:prstGeom>
          <a:solidFill>
            <a:srgbClr val="D75A64"/>
          </a:solidFill>
          <a:ln w="9525">
            <a:solidFill>
              <a:srgbClr val="D75A64"/>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a:ext uri="{FF2B5EF4-FFF2-40B4-BE49-F238E27FC236}">
                <a16:creationId xmlns:a16="http://schemas.microsoft.com/office/drawing/2014/main" id="{194C0AF4-8A70-4CCC-ABFB-928E6AFD80EE}"/>
              </a:ext>
            </a:extLst>
          </p:cNvPr>
          <p:cNvSpPr>
            <a:spLocks noGrp="1"/>
          </p:cNvSpPr>
          <p:nvPr/>
        </p:nvSpPr>
        <p:spPr>
          <a:xfrm>
            <a:off x="3238500" y="4171950"/>
            <a:ext cx="4857750" cy="552450"/>
          </a:xfrm>
          <a:prstGeom prst="rect">
            <a:avLst/>
          </a:prstGeom>
          <a:noFill/>
          <a:ln w="0">
            <a:noFill/>
            <a:prstDash val="solid"/>
          </a:ln>
        </p:spPr>
        <p:txBody>
          <a:bodyPr wrap="square" lIns="38100" tIns="38100" rIns="38100" bIns="38100" anchor="ctr">
            <a:noAutofit/>
          </a:bodyPr>
          <a:lstStyle/>
          <a:p>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a:ext uri="{FF2B5EF4-FFF2-40B4-BE49-F238E27FC236}">
                <a16:creationId xmlns:a16="http://schemas.microsoft.com/office/drawing/2014/main" id="{7904C25D-65A9-47EE-ADF8-637D0E75B0AB}"/>
              </a:ext>
            </a:extLst>
          </p:cNvPr>
          <p:cNvSpPr>
            <a:spLocks noGrp="1"/>
          </p:cNvSpPr>
          <p:nvPr/>
        </p:nvSpPr>
        <p:spPr>
          <a:xfrm>
            <a:off x="8572500" y="4171950"/>
            <a:ext cx="28575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a:ext uri="{FF2B5EF4-FFF2-40B4-BE49-F238E27FC236}">
                <a16:creationId xmlns:a16="http://schemas.microsoft.com/office/drawing/2014/main" id="{30247D1C-45CC-40EF-8010-EA3AD51CECDA}"/>
              </a:ext>
            </a:extLst>
          </p:cNvPr>
          <p:cNvSpPr>
            <a:spLocks noGrp="1"/>
          </p:cNvSpPr>
          <p:nvPr/>
        </p:nvSpPr>
        <p:spPr>
          <a:xfrm>
            <a:off x="685800" y="4800600"/>
            <a:ext cx="10820400" cy="0"/>
          </a:xfrm>
          <a:prstGeom prst="line">
            <a:avLst/>
          </a:prstGeom>
          <a:noFill/>
          <a:ln w="9525">
            <a:solidFill>
              <a:srgbClr val="C9D8E3"/>
            </a:solidFill>
            <a:prstDash val="solid"/>
          </a:ln>
        </p:spPr>
      </p:sp>
      <p:sp>
        <p:nvSpPr>
          <p:cNvPr id="25" name="box-378">
            <a:extLst>
              <a:ext uri="{FF2B5EF4-FFF2-40B4-BE49-F238E27FC236}">
                <a16:creationId xmlns:a16="http://schemas.microsoft.com/office/drawing/2014/main" id="{CE099581-F51A-45BF-B951-23CA5940A1CF}"/>
              </a:ext>
            </a:extLst>
          </p:cNvPr>
          <p:cNvSpPr>
            <a:spLocks noGrp="1"/>
          </p:cNvSpPr>
          <p:nvPr/>
        </p:nvSpPr>
        <p:spPr>
          <a:xfrm>
            <a:off x="742950" y="4933950"/>
            <a:ext cx="1809750" cy="533400"/>
          </a:xfrm>
          <a:prstGeom prst="roundRect">
            <a:avLst>
              <a:gd name="adj" fmla="val 12500"/>
            </a:avLst>
          </a:prstGeom>
          <a:solidFill>
            <a:srgbClr val="2CA56F"/>
          </a:solidFill>
          <a:ln w="9525">
            <a:solidFill>
              <a:srgbClr val="2CA56F"/>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a:ext uri="{FF2B5EF4-FFF2-40B4-BE49-F238E27FC236}">
                <a16:creationId xmlns:a16="http://schemas.microsoft.com/office/drawing/2014/main" id="{D3D34DDF-F0B0-4375-9013-AB497AEB4135}"/>
              </a:ext>
            </a:extLst>
          </p:cNvPr>
          <p:cNvSpPr>
            <a:spLocks noGrp="1"/>
          </p:cNvSpPr>
          <p:nvPr/>
        </p:nvSpPr>
        <p:spPr>
          <a:xfrm>
            <a:off x="3238500" y="4933950"/>
            <a:ext cx="4857750" cy="552450"/>
          </a:xfrm>
          <a:prstGeom prst="rect">
            <a:avLst/>
          </a:prstGeom>
          <a:noFill/>
          <a:ln w="0">
            <a:noFill/>
            <a:prstDash val="solid"/>
          </a:ln>
        </p:spPr>
        <p:txBody>
          <a:bodyPr wrap="square" lIns="38100" tIns="38100" rIns="38100" bIns="38100" anchor="ctr">
            <a:noAutofit/>
          </a:bodyPr>
          <a:lstStyle/>
          <a:p>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a:ext uri="{FF2B5EF4-FFF2-40B4-BE49-F238E27FC236}">
                <a16:creationId xmlns:a16="http://schemas.microsoft.com/office/drawing/2014/main" id="{4DDAEE01-8584-4E0E-B003-556B2107E94B}"/>
              </a:ext>
            </a:extLst>
          </p:cNvPr>
          <p:cNvSpPr>
            <a:spLocks noGrp="1"/>
          </p:cNvSpPr>
          <p:nvPr/>
        </p:nvSpPr>
        <p:spPr>
          <a:xfrm>
            <a:off x="8572500" y="4933950"/>
            <a:ext cx="28575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a:ext uri="{FF2B5EF4-FFF2-40B4-BE49-F238E27FC236}">
                <a16:creationId xmlns:a16="http://schemas.microsoft.com/office/drawing/2014/main" id="{F5083E1B-CAE1-4E8B-B645-E4445DAA0F57}"/>
              </a:ext>
            </a:extLst>
          </p:cNvPr>
          <p:cNvSpPr>
            <a:spLocks noGrp="1"/>
          </p:cNvSpPr>
          <p:nvPr/>
        </p:nvSpPr>
        <p:spPr>
          <a:xfrm>
            <a:off x="685800" y="5562600"/>
            <a:ext cx="10820400" cy="0"/>
          </a:xfrm>
          <a:prstGeom prst="line">
            <a:avLst/>
          </a:prstGeom>
          <a:noFill/>
          <a:ln w="9525">
            <a:solidFill>
              <a:srgbClr val="C9D8E3"/>
            </a:solidFill>
            <a:prstDash val="solid"/>
          </a:ln>
        </p:spPr>
      </p:sp>
      <p:sp>
        <p:nvSpPr>
          <p:cNvPr id="29" name="text-382">
            <a:extLst>
              <a:ext uri="{FF2B5EF4-FFF2-40B4-BE49-F238E27FC236}">
                <a16:creationId xmlns:a16="http://schemas.microsoft.com/office/drawing/2014/main" id="{D33AFB95-F512-4924-B361-67C804081D3E}"/>
              </a:ext>
            </a:extLst>
          </p:cNvPr>
          <p:cNvSpPr>
            <a:spLocks noGrp="1"/>
          </p:cNvSpPr>
          <p:nvPr/>
        </p:nvSpPr>
        <p:spPr>
          <a:xfrm>
            <a:off x="1028700" y="5829300"/>
            <a:ext cx="10134600" cy="323850"/>
          </a:xfrm>
          <a:prstGeom prst="rect">
            <a:avLst/>
          </a:prstGeom>
          <a:noFill/>
          <a:ln w="0">
            <a:noFill/>
            <a:prstDash val="solid"/>
          </a:ln>
        </p:spPr>
        <p:txBody>
          <a:bodyPr wrap="square" lIns="38100" tIns="38100" rIns="38100" bIns="38100" anchor="t">
            <a:noAutofit/>
          </a:bodyPr>
          <a:lstStyle/>
          <a:p>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6" name="section-382">
            <a:extLst>
              <a:ext uri="{FF2B5EF4-FFF2-40B4-BE49-F238E27FC236}">
                <a16:creationId xmlns:a16="http://schemas.microsoft.com/office/drawing/2014/main" id="{F5CFB3FD-395D-4683-A0A2-E7AA3BDF80F8}"/>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a:ext uri="{FF2B5EF4-FFF2-40B4-BE49-F238E27FC236}">
                <a16:creationId xmlns:a16="http://schemas.microsoft.com/office/drawing/2014/main" id="{CCEECEC1-20A0-4FD4-91E9-400EB3AA3589}"/>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nSpc>
                <a:spcPct val="94000"/>
              </a:lnSpc>
              <a:buNone/>
              <a:defRPr sz="3525" b="1" i="0">
                <a:solidFill>
                  <a:srgbClr val="FFFFFF"/>
                </a:solidFill>
                <a:latin typeface="Aptos"/>
                <a:ea typeface="Aptos"/>
                <a:cs typeface="Aptos"/>
              </a:defRPr>
            </a:pPr>
            <a:r>
              <a:rPr lang="en-US" sz="3525" b="1" i="0">
                <a:solidFill>
                  <a:srgbClr val="FFFFFF"/>
                </a:solidFill>
                <a:latin typeface="Aptos" panose="020B0004020202020204" pitchFamily="34" charset="0"/>
                <a:ea typeface="Aptos"/>
                <a:cs typeface="Aptos"/>
              </a:rPr>
              <a:t>MATLAB tests preserve intent without .mldatx</a:t>
            </a:r>
            <a:endParaRPr sz="3525" b="1" i="0">
              <a:solidFill>
                <a:srgbClr val="FFFFFF"/>
              </a:solidFill>
              <a:latin typeface="Aptos" panose="020B0004020202020204" pitchFamily="34" charset="0"/>
              <a:ea typeface="Aptos"/>
              <a:cs typeface="Aptos"/>
            </a:endParaRPr>
          </a:p>
        </p:txBody>
      </p:sp>
      <p:sp>
        <p:nvSpPr>
          <p:cNvPr id="3" name="line-383">
            <a:extLst>
              <a:ext uri="{FF2B5EF4-FFF2-40B4-BE49-F238E27FC236}">
                <a16:creationId xmlns:a16="http://schemas.microsoft.com/office/drawing/2014/main" id="{49D78A63-8DF4-498E-B062-3624D15A287D}"/>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384">
            <a:extLst>
              <a:ext uri="{FF2B5EF4-FFF2-40B4-BE49-F238E27FC236}">
                <a16:creationId xmlns:a16="http://schemas.microsoft.com/office/drawing/2014/main" id="{731DCEC0-6610-4E3D-B137-3BFE13CFEC61}"/>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a:ext uri="{FF2B5EF4-FFF2-40B4-BE49-F238E27FC236}">
                <a16:creationId xmlns:a16="http://schemas.microsoft.com/office/drawing/2014/main" id="{F0DBCDF6-67ED-4B1D-85BD-D6B3DFC5945D}"/>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24</a:t>
            </a:r>
          </a:p>
        </p:txBody>
      </p:sp>
      <p:pic>
        <p:nvPicPr>
          <p:cNvPr id="9" name="Picture 8" descr="Actual executable MATLAB test-suite report summary">
            <a:extLst>
              <a:ext uri="{FF2B5EF4-FFF2-40B4-BE49-F238E27FC236}">
                <a16:creationId xmlns:a16="http://schemas.microsoft.com/office/drawing/2014/main" id="{1914DE0D-A099-4438-49BF-EBAECECBF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6589" y="1422400"/>
            <a:ext cx="6158823"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36F3A7E7-0409-4438-5076-41FC73ED2C2B}"/>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69DCE6"/>
                </a:solidFill>
                <a:latin typeface="Aptos" panose="020B0004020202020204" pitchFamily="34" charset="0"/>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2" name="section-398">
            <a:extLst>
              <a:ext uri="{FF2B5EF4-FFF2-40B4-BE49-F238E27FC236}">
                <a16:creationId xmlns:a16="http://schemas.microsoft.com/office/drawing/2014/main" id="{47B47782-605B-4C62-B69F-4EB1C82FEA14}"/>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a:ext uri="{FF2B5EF4-FFF2-40B4-BE49-F238E27FC236}">
                <a16:creationId xmlns:a16="http://schemas.microsoft.com/office/drawing/2014/main" id="{7ADB05D0-38D6-4E43-B29C-C6BCE219B311}"/>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a:ext uri="{FF2B5EF4-FFF2-40B4-BE49-F238E27FC236}">
                <a16:creationId xmlns:a16="http://schemas.microsoft.com/office/drawing/2014/main" id="{8B720D7C-4440-4D8A-913B-8DB5FF355DDA}"/>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400">
            <a:extLst>
              <a:ext uri="{FF2B5EF4-FFF2-40B4-BE49-F238E27FC236}">
                <a16:creationId xmlns:a16="http://schemas.microsoft.com/office/drawing/2014/main" id="{70402650-5984-4D38-95D9-9FC244B1814D}"/>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a:ext uri="{FF2B5EF4-FFF2-40B4-BE49-F238E27FC236}">
                <a16:creationId xmlns:a16="http://schemas.microsoft.com/office/drawing/2014/main" id="{53160D6A-7D4B-4D9C-B478-0C6C7D0BA144}"/>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pic>
        <p:nvPicPr>
          <p:cNvPr id="9" name="Picture 8" descr="Actual callback workflow and code summary">
            <a:extLst>
              <a:ext uri="{FF2B5EF4-FFF2-40B4-BE49-F238E27FC236}">
                <a16:creationId xmlns:a16="http://schemas.microsoft.com/office/drawing/2014/main" id="{130D6042-5C2D-B498-07F0-46BD5E232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6652" y="1422400"/>
            <a:ext cx="7738696"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41D90C93-9146-45EF-D18B-D22D888910D1}"/>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Actual external callback functions • setup, preload, post-load, simulate/assess, and cleanup</a:t>
            </a:r>
          </a:p>
        </p:txBody>
      </p:sp>
    </p:spTree>
    <p:extLst>
      <p:ext uri="{BB962C8B-B14F-4D97-AF65-F5344CB8AC3E}">
        <p14:creationId xmlns:p14="http://schemas.microsoft.com/office/powerpoint/2010/main" val="1450052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9" name="section-412">
            <a:extLst>
              <a:ext uri="{FF2B5EF4-FFF2-40B4-BE49-F238E27FC236}">
                <a16:creationId xmlns:a16="http://schemas.microsoft.com/office/drawing/2014/main" id="{622948AF-D70D-4DFB-B819-027CBD4D974F}"/>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a:ext uri="{FF2B5EF4-FFF2-40B4-BE49-F238E27FC236}">
                <a16:creationId xmlns:a16="http://schemas.microsoft.com/office/drawing/2014/main" id="{97301C4B-B240-4DDD-A0ED-4D7B6CF5E8A2}"/>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Integration succeeds when interfaces agree</a:t>
            </a:r>
          </a:p>
        </p:txBody>
      </p:sp>
      <p:sp>
        <p:nvSpPr>
          <p:cNvPr id="3" name="line-413">
            <a:extLst>
              <a:ext uri="{FF2B5EF4-FFF2-40B4-BE49-F238E27FC236}">
                <a16:creationId xmlns:a16="http://schemas.microsoft.com/office/drawing/2014/main" id="{ED69F032-C6AE-4587-84D8-6454983F9363}"/>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414">
            <a:extLst>
              <a:ext uri="{FF2B5EF4-FFF2-40B4-BE49-F238E27FC236}">
                <a16:creationId xmlns:a16="http://schemas.microsoft.com/office/drawing/2014/main" id="{41653C2F-E40F-4DE2-BD48-71C5A193ED98}"/>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a:ext uri="{FF2B5EF4-FFF2-40B4-BE49-F238E27FC236}">
                <a16:creationId xmlns:a16="http://schemas.microsoft.com/office/drawing/2014/main" id="{90770552-8853-4FE0-8723-3E7F838A2C3B}"/>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9" name="Picture 8" descr="Authentic referenced flight-control architecture">
            <a:extLst>
              <a:ext uri="{FF2B5EF4-FFF2-40B4-BE49-F238E27FC236}">
                <a16:creationId xmlns:a16="http://schemas.microsoft.com/office/drawing/2014/main" id="{F804F0CD-332C-8A32-D645-C653A7B57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103" y="1422399"/>
            <a:ext cx="7721794" cy="4292601"/>
          </a:xfrm>
          <a:prstGeom prst="rect">
            <a:avLst/>
          </a:prstGeom>
          <a:ln w="15875">
            <a:solidFill>
              <a:srgbClr val="2AB5C4"/>
            </a:solidFill>
          </a:ln>
        </p:spPr>
      </p:pic>
      <p:sp>
        <p:nvSpPr>
          <p:cNvPr id="10" name="V2 Artifact Caption">
            <a:extLst>
              <a:ext uri="{FF2B5EF4-FFF2-40B4-BE49-F238E27FC236}">
                <a16:creationId xmlns:a16="http://schemas.microsoft.com/office/drawing/2014/main" id="{5F522652-0D8C-CDFD-4D6B-393ED4CD04F6}"/>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10243A"/>
                </a:solidFill>
                <a:latin typeface="Aptos" panose="020B0004020202020204" pitchFamily="34" charset="0"/>
              </a:rPr>
              <a:t>Updated architecture • model references, explicit routing, FlightControlBus, and resolved interfaces</a:t>
            </a:r>
          </a:p>
        </p:txBody>
      </p:sp>
    </p:spTree>
    <p:extLst>
      <p:ext uri="{BB962C8B-B14F-4D97-AF65-F5344CB8AC3E}">
        <p14:creationId xmlns:p14="http://schemas.microsoft.com/office/powerpoint/2010/main" val="1586749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7" name="section-425">
            <a:extLst>
              <a:ext uri="{FF2B5EF4-FFF2-40B4-BE49-F238E27FC236}">
                <a16:creationId xmlns:a16="http://schemas.microsoft.com/office/drawing/2014/main" id="{84B853C9-7494-4593-A0EA-D6704866BD70}"/>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a:ext uri="{FF2B5EF4-FFF2-40B4-BE49-F238E27FC236}">
                <a16:creationId xmlns:a16="http://schemas.microsoft.com/office/drawing/2014/main" id="{8E382DA7-3333-42CA-B821-65C161CF9C6E}"/>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a:ext uri="{FF2B5EF4-FFF2-40B4-BE49-F238E27FC236}">
                <a16:creationId xmlns:a16="http://schemas.microsoft.com/office/drawing/2014/main" id="{69605B9E-CD00-4DE0-A1C1-89DBDB4D9962}"/>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427">
            <a:extLst>
              <a:ext uri="{FF2B5EF4-FFF2-40B4-BE49-F238E27FC236}">
                <a16:creationId xmlns:a16="http://schemas.microsoft.com/office/drawing/2014/main" id="{C06A717A-D6FD-4A14-8CDB-1C15B66FF552}"/>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a:ext uri="{FF2B5EF4-FFF2-40B4-BE49-F238E27FC236}">
                <a16:creationId xmlns:a16="http://schemas.microsoft.com/office/drawing/2014/main" id="{C2E53156-CD14-4DE1-806B-8EED8DBA4D55}"/>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27</a:t>
            </a:r>
          </a:p>
        </p:txBody>
      </p:sp>
      <p:sp>
        <p:nvSpPr>
          <p:cNvPr id="6" name="box-429">
            <a:extLst>
              <a:ext uri="{FF2B5EF4-FFF2-40B4-BE49-F238E27FC236}">
                <a16:creationId xmlns:a16="http://schemas.microsoft.com/office/drawing/2014/main" id="{6B80003F-FA96-4E5F-9A30-BFD7C9F3FD1A}"/>
              </a:ext>
            </a:extLst>
          </p:cNvPr>
          <p:cNvSpPr>
            <a:spLocks noGrp="1"/>
          </p:cNvSpPr>
          <p:nvPr/>
        </p:nvSpPr>
        <p:spPr>
          <a:xfrm>
            <a:off x="552450" y="1809750"/>
            <a:ext cx="1600200" cy="628650"/>
          </a:xfrm>
          <a:prstGeom prst="roundRect">
            <a:avLst>
              <a:gd name="adj" fmla="val 12121"/>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a:ext uri="{FF2B5EF4-FFF2-40B4-BE49-F238E27FC236}">
                <a16:creationId xmlns:a16="http://schemas.microsoft.com/office/drawing/2014/main" id="{F014702A-D1EE-4086-B75D-805F0D4672AC}"/>
              </a:ext>
            </a:extLst>
          </p:cNvPr>
          <p:cNvSpPr>
            <a:spLocks noGrp="1"/>
          </p:cNvSpPr>
          <p:nvPr/>
        </p:nvSpPr>
        <p:spPr>
          <a:xfrm>
            <a:off x="2495550" y="1809750"/>
            <a:ext cx="1600200" cy="628650"/>
          </a:xfrm>
          <a:prstGeom prst="roundRect">
            <a:avLst>
              <a:gd name="adj" fmla="val 12121"/>
            </a:avLst>
          </a:prstGeom>
          <a:solidFill>
            <a:srgbClr val="0B2438"/>
          </a:solidFill>
          <a:ln w="19050">
            <a:solidFill>
              <a:srgbClr val="20B7C5"/>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a:ext uri="{FF2B5EF4-FFF2-40B4-BE49-F238E27FC236}">
                <a16:creationId xmlns:a16="http://schemas.microsoft.com/office/drawing/2014/main" id="{4E6103F6-0C97-4137-B1F5-D7D062CD4C97}"/>
              </a:ext>
            </a:extLst>
          </p:cNvPr>
          <p:cNvSpPr>
            <a:spLocks noGrp="1"/>
          </p:cNvSpPr>
          <p:nvPr/>
        </p:nvSpPr>
        <p:spPr>
          <a:xfrm>
            <a:off x="4438650" y="1809750"/>
            <a:ext cx="1600200" cy="628650"/>
          </a:xfrm>
          <a:prstGeom prst="roundRect">
            <a:avLst>
              <a:gd name="adj" fmla="val 12121"/>
            </a:avLst>
          </a:prstGeom>
          <a:solidFill>
            <a:srgbClr val="0B2438"/>
          </a:solidFill>
          <a:ln w="19050">
            <a:solidFill>
              <a:srgbClr val="2D6CDF"/>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a:ext uri="{FF2B5EF4-FFF2-40B4-BE49-F238E27FC236}">
                <a16:creationId xmlns:a16="http://schemas.microsoft.com/office/drawing/2014/main" id="{88FEB925-6E90-4BD8-8C1C-5F833B4C5778}"/>
              </a:ext>
            </a:extLst>
          </p:cNvPr>
          <p:cNvSpPr>
            <a:spLocks noGrp="1"/>
          </p:cNvSpPr>
          <p:nvPr/>
        </p:nvSpPr>
        <p:spPr>
          <a:xfrm>
            <a:off x="6381750" y="1809750"/>
            <a:ext cx="1600200" cy="628650"/>
          </a:xfrm>
          <a:prstGeom prst="roundRect">
            <a:avLst>
              <a:gd name="adj" fmla="val 12121"/>
            </a:avLst>
          </a:prstGeom>
          <a:solidFill>
            <a:srgbClr val="0B2438"/>
          </a:solidFill>
          <a:ln w="19050">
            <a:solidFill>
              <a:srgbClr val="E9A23B"/>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a:ext uri="{FF2B5EF4-FFF2-40B4-BE49-F238E27FC236}">
                <a16:creationId xmlns:a16="http://schemas.microsoft.com/office/drawing/2014/main" id="{2CB4FC25-4B36-4C69-AF87-48521F37CEF5}"/>
              </a:ext>
            </a:extLst>
          </p:cNvPr>
          <p:cNvSpPr>
            <a:spLocks noGrp="1"/>
          </p:cNvSpPr>
          <p:nvPr/>
        </p:nvSpPr>
        <p:spPr>
          <a:xfrm>
            <a:off x="8324850" y="1809750"/>
            <a:ext cx="1600200" cy="628650"/>
          </a:xfrm>
          <a:prstGeom prst="roundRect">
            <a:avLst>
              <a:gd name="adj" fmla="val 12121"/>
            </a:avLst>
          </a:prstGeom>
          <a:solidFill>
            <a:srgbClr val="0B2438"/>
          </a:solidFill>
          <a:ln w="19050">
            <a:solidFill>
              <a:srgbClr val="20B7C5"/>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a:ext uri="{FF2B5EF4-FFF2-40B4-BE49-F238E27FC236}">
                <a16:creationId xmlns:a16="http://schemas.microsoft.com/office/drawing/2014/main" id="{F9CEC0EC-847A-42DF-9B24-ADC29EEBF891}"/>
              </a:ext>
            </a:extLst>
          </p:cNvPr>
          <p:cNvSpPr>
            <a:spLocks noGrp="1"/>
          </p:cNvSpPr>
          <p:nvPr/>
        </p:nvSpPr>
        <p:spPr>
          <a:xfrm>
            <a:off x="10267950" y="1809750"/>
            <a:ext cx="1600200" cy="628650"/>
          </a:xfrm>
          <a:prstGeom prst="roundRect">
            <a:avLst>
              <a:gd name="adj" fmla="val 12121"/>
            </a:avLst>
          </a:prstGeom>
          <a:solidFill>
            <a:srgbClr val="10372A"/>
          </a:solidFill>
          <a:ln w="19050">
            <a:solidFill>
              <a:srgbClr val="2CA56F"/>
            </a:solidFill>
            <a:prstDash val="solid"/>
          </a:ln>
        </p:spPr>
        <p:txBody>
          <a:bodyPr lIns="76200" tIns="57150" rIns="76200" bIns="57150"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38" name="Straight Arrow Connector 37"/>
          <p:cNvCxnSpPr>
            <a:stCxn id="6" idx="3"/>
            <a:endCxn id="7" idx="1"/>
          </p:cNvCxnSpPr>
          <p:nvPr/>
        </p:nvCxnSpPr>
        <p:spPr>
          <a:xfrm>
            <a:off x="2152650" y="2124075"/>
            <a:ext cx="342900" cy="0"/>
          </a:xfrm>
          <a:prstGeom prst="straightConnector1">
            <a:avLst/>
          </a:prstGeom>
          <a:ln w="28575">
            <a:solidFill>
              <a:srgbClr val="20B7C5"/>
            </a:solidFill>
            <a:prstDash val="solid"/>
            <a:tailEnd type="triangle" w="sm" len="sm"/>
          </a:ln>
        </p:spPr>
      </p:cxnSp>
      <p:cxnSp>
        <p:nvCxnSpPr>
          <p:cNvPr id="39" name="Straight Arrow Connector 38"/>
          <p:cNvCxnSpPr>
            <a:stCxn id="7" idx="3"/>
            <a:endCxn id="8" idx="1"/>
          </p:cNvCxnSpPr>
          <p:nvPr/>
        </p:nvCxnSpPr>
        <p:spPr>
          <a:xfrm>
            <a:off x="4095750" y="2124075"/>
            <a:ext cx="342900" cy="0"/>
          </a:xfrm>
          <a:prstGeom prst="straightConnector1">
            <a:avLst/>
          </a:prstGeom>
          <a:ln w="28575">
            <a:solidFill>
              <a:srgbClr val="2D6CDF"/>
            </a:solidFill>
            <a:prstDash val="solid"/>
            <a:tailEnd type="triangle" w="sm" len="sm"/>
          </a:ln>
        </p:spPr>
      </p:cxnSp>
      <p:cxnSp>
        <p:nvCxnSpPr>
          <p:cNvPr id="40" name="Straight Arrow Connector 39"/>
          <p:cNvCxnSpPr>
            <a:stCxn id="8" idx="3"/>
            <a:endCxn id="9" idx="1"/>
          </p:cNvCxnSpPr>
          <p:nvPr/>
        </p:nvCxnSpPr>
        <p:spPr>
          <a:xfrm>
            <a:off x="6038850" y="2124075"/>
            <a:ext cx="342900" cy="0"/>
          </a:xfrm>
          <a:prstGeom prst="straightConnector1">
            <a:avLst/>
          </a:prstGeom>
          <a:ln w="28575">
            <a:solidFill>
              <a:srgbClr val="E9A23B"/>
            </a:solidFill>
            <a:prstDash val="solid"/>
            <a:tailEnd type="triangle" w="sm" len="sm"/>
          </a:ln>
        </p:spPr>
      </p:cxnSp>
      <p:cxnSp>
        <p:nvCxnSpPr>
          <p:cNvPr id="41" name="Straight Arrow Connector 40"/>
          <p:cNvCxnSpPr>
            <a:stCxn id="9" idx="3"/>
            <a:endCxn id="10" idx="1"/>
          </p:cNvCxnSpPr>
          <p:nvPr/>
        </p:nvCxnSpPr>
        <p:spPr>
          <a:xfrm>
            <a:off x="7981950" y="2124075"/>
            <a:ext cx="342900" cy="0"/>
          </a:xfrm>
          <a:prstGeom prst="straightConnector1">
            <a:avLst/>
          </a:prstGeom>
          <a:ln w="28575">
            <a:solidFill>
              <a:srgbClr val="20B7C5"/>
            </a:solidFill>
            <a:prstDash val="solid"/>
            <a:tailEnd type="triangle" w="sm" len="sm"/>
          </a:ln>
        </p:spPr>
      </p:cxnSp>
      <p:cxnSp>
        <p:nvCxnSpPr>
          <p:cNvPr id="42" name="Straight Arrow Connector 41"/>
          <p:cNvCxnSpPr>
            <a:stCxn id="10" idx="3"/>
            <a:endCxn id="11" idx="1"/>
          </p:cNvCxnSpPr>
          <p:nvPr/>
        </p:nvCxnSpPr>
        <p:spPr>
          <a:xfrm>
            <a:off x="9925050" y="2124075"/>
            <a:ext cx="342900" cy="0"/>
          </a:xfrm>
          <a:prstGeom prst="straightConnector1">
            <a:avLst/>
          </a:prstGeom>
          <a:ln w="28575">
            <a:solidFill>
              <a:srgbClr val="2CA56F"/>
            </a:solidFill>
            <a:prstDash val="solid"/>
            <a:tailEnd type="triangle" w="sm" len="sm"/>
          </a:ln>
        </p:spPr>
      </p:cxnSp>
      <p:sp>
        <p:nvSpPr>
          <p:cNvPr id="17" name="text-435">
            <a:extLst>
              <a:ext uri="{FF2B5EF4-FFF2-40B4-BE49-F238E27FC236}">
                <a16:creationId xmlns:a16="http://schemas.microsoft.com/office/drawing/2014/main" id="{9A50BA15-ECE2-4C7D-BC6C-C85A1DCC01FA}"/>
              </a:ext>
            </a:extLst>
          </p:cNvPr>
          <p:cNvSpPr>
            <a:spLocks noGrp="1"/>
          </p:cNvSpPr>
          <p:nvPr/>
        </p:nvSpPr>
        <p:spPr>
          <a:xfrm>
            <a:off x="819150" y="3238500"/>
            <a:ext cx="2857500" cy="285750"/>
          </a:xfrm>
          <a:prstGeom prst="rect">
            <a:avLst/>
          </a:prstGeom>
          <a:noFill/>
          <a:ln w="0">
            <a:noFill/>
            <a:prstDash val="solid"/>
          </a:ln>
        </p:spPr>
        <p:txBody>
          <a:bodyPr wrap="square" lIns="38100" tIns="38100" rIns="38100" bIns="38100" anchor="t">
            <a:noAutofit/>
          </a:bodyPr>
          <a:lstStyle/>
          <a:p>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a:ext uri="{FF2B5EF4-FFF2-40B4-BE49-F238E27FC236}">
                <a16:creationId xmlns:a16="http://schemas.microsoft.com/office/drawing/2014/main" id="{CCCC1C0B-1A3E-4826-B956-545014BE5760}"/>
              </a:ext>
            </a:extLst>
          </p:cNvPr>
          <p:cNvSpPr>
            <a:spLocks noGrp="1"/>
          </p:cNvSpPr>
          <p:nvPr/>
        </p:nvSpPr>
        <p:spPr>
          <a:xfrm>
            <a:off x="3714750" y="3238500"/>
            <a:ext cx="7524750" cy="4381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a:ext uri="{FF2B5EF4-FFF2-40B4-BE49-F238E27FC236}">
                <a16:creationId xmlns:a16="http://schemas.microsoft.com/office/drawing/2014/main" id="{A848100F-1B90-432E-AFFF-EE2F0B4E3732}"/>
              </a:ext>
            </a:extLst>
          </p:cNvPr>
          <p:cNvSpPr>
            <a:spLocks noGrp="1"/>
          </p:cNvSpPr>
          <p:nvPr/>
        </p:nvSpPr>
        <p:spPr>
          <a:xfrm>
            <a:off x="819150" y="3810000"/>
            <a:ext cx="10420350" cy="0"/>
          </a:xfrm>
          <a:prstGeom prst="line">
            <a:avLst/>
          </a:prstGeom>
          <a:noFill/>
          <a:ln w="9525">
            <a:solidFill>
              <a:srgbClr val="143A55"/>
            </a:solidFill>
            <a:prstDash val="solid"/>
          </a:ln>
        </p:spPr>
      </p:sp>
      <p:sp>
        <p:nvSpPr>
          <p:cNvPr id="20" name="text-438">
            <a:extLst>
              <a:ext uri="{FF2B5EF4-FFF2-40B4-BE49-F238E27FC236}">
                <a16:creationId xmlns:a16="http://schemas.microsoft.com/office/drawing/2014/main" id="{9E349B35-A410-4ED4-935A-B09EE8683BBF}"/>
              </a:ext>
            </a:extLst>
          </p:cNvPr>
          <p:cNvSpPr>
            <a:spLocks noGrp="1"/>
          </p:cNvSpPr>
          <p:nvPr/>
        </p:nvSpPr>
        <p:spPr>
          <a:xfrm>
            <a:off x="819150" y="4076700"/>
            <a:ext cx="2857500" cy="285750"/>
          </a:xfrm>
          <a:prstGeom prst="rect">
            <a:avLst/>
          </a:prstGeom>
          <a:noFill/>
          <a:ln w="0">
            <a:noFill/>
            <a:prstDash val="solid"/>
          </a:ln>
        </p:spPr>
        <p:txBody>
          <a:bodyPr wrap="square" lIns="38100" tIns="38100" rIns="38100" bIns="38100" anchor="t">
            <a:noAutofit/>
          </a:bodyPr>
          <a:lstStyle/>
          <a:p>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a:ext uri="{FF2B5EF4-FFF2-40B4-BE49-F238E27FC236}">
                <a16:creationId xmlns:a16="http://schemas.microsoft.com/office/drawing/2014/main" id="{9C3415C8-3BC3-4120-B405-BC30778EB2DA}"/>
              </a:ext>
            </a:extLst>
          </p:cNvPr>
          <p:cNvSpPr>
            <a:spLocks noGrp="1"/>
          </p:cNvSpPr>
          <p:nvPr/>
        </p:nvSpPr>
        <p:spPr>
          <a:xfrm>
            <a:off x="3714750" y="4076700"/>
            <a:ext cx="7524750" cy="4381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opens project, compiles models, runs checks and .mldatx suites, emits CI results</a:t>
            </a:r>
          </a:p>
        </p:txBody>
      </p:sp>
      <p:sp>
        <p:nvSpPr>
          <p:cNvPr id="22" name="line-440">
            <a:extLst>
              <a:ext uri="{FF2B5EF4-FFF2-40B4-BE49-F238E27FC236}">
                <a16:creationId xmlns:a16="http://schemas.microsoft.com/office/drawing/2014/main" id="{3F8ADD45-A15E-49E5-9F2F-3171DF1E5ED7}"/>
              </a:ext>
            </a:extLst>
          </p:cNvPr>
          <p:cNvSpPr>
            <a:spLocks noGrp="1"/>
          </p:cNvSpPr>
          <p:nvPr/>
        </p:nvSpPr>
        <p:spPr>
          <a:xfrm>
            <a:off x="819150" y="4648200"/>
            <a:ext cx="10420350" cy="0"/>
          </a:xfrm>
          <a:prstGeom prst="line">
            <a:avLst/>
          </a:prstGeom>
          <a:noFill/>
          <a:ln w="9525">
            <a:solidFill>
              <a:srgbClr val="143A55"/>
            </a:solidFill>
            <a:prstDash val="solid"/>
          </a:ln>
        </p:spPr>
      </p:sp>
      <p:sp>
        <p:nvSpPr>
          <p:cNvPr id="23" name="text-441">
            <a:extLst>
              <a:ext uri="{FF2B5EF4-FFF2-40B4-BE49-F238E27FC236}">
                <a16:creationId xmlns:a16="http://schemas.microsoft.com/office/drawing/2014/main" id="{6164949F-1370-43CD-9889-5A2294C15DAD}"/>
              </a:ext>
            </a:extLst>
          </p:cNvPr>
          <p:cNvSpPr>
            <a:spLocks noGrp="1"/>
          </p:cNvSpPr>
          <p:nvPr/>
        </p:nvSpPr>
        <p:spPr>
          <a:xfrm>
            <a:off x="819150" y="4914900"/>
            <a:ext cx="2857500" cy="285750"/>
          </a:xfrm>
          <a:prstGeom prst="rect">
            <a:avLst/>
          </a:prstGeom>
          <a:noFill/>
          <a:ln w="0">
            <a:noFill/>
            <a:prstDash val="solid"/>
          </a:ln>
        </p:spPr>
        <p:txBody>
          <a:bodyPr wrap="square" lIns="38100" tIns="38100" rIns="38100" bIns="38100" anchor="t">
            <a:noAutofit/>
          </a:bodyPr>
          <a:lstStyle/>
          <a:p>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a:ext uri="{FF2B5EF4-FFF2-40B4-BE49-F238E27FC236}">
                <a16:creationId xmlns:a16="http://schemas.microsoft.com/office/drawing/2014/main" id="{DD751F3A-FCDB-4440-BD10-4F46B3E51056}"/>
              </a:ext>
            </a:extLst>
          </p:cNvPr>
          <p:cNvSpPr>
            <a:spLocks noGrp="1"/>
          </p:cNvSpPr>
          <p:nvPr/>
        </p:nvSpPr>
        <p:spPr>
          <a:xfrm>
            <a:off x="3714750" y="4914900"/>
            <a:ext cx="7524750" cy="4381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a:ext uri="{FF2B5EF4-FFF2-40B4-BE49-F238E27FC236}">
                <a16:creationId xmlns:a16="http://schemas.microsoft.com/office/drawing/2014/main" id="{B4A15AA6-12C4-4A14-B1F0-18936CF9CAC2}"/>
              </a:ext>
            </a:extLst>
          </p:cNvPr>
          <p:cNvSpPr>
            <a:spLocks noGrp="1"/>
          </p:cNvSpPr>
          <p:nvPr/>
        </p:nvSpPr>
        <p:spPr>
          <a:xfrm>
            <a:off x="819150" y="5486400"/>
            <a:ext cx="10420350" cy="0"/>
          </a:xfrm>
          <a:prstGeom prst="line">
            <a:avLst/>
          </a:prstGeom>
          <a:noFill/>
          <a:ln w="9525">
            <a:solidFill>
              <a:srgbClr val="143A55"/>
            </a:solidFill>
            <a:prstDash val="solid"/>
          </a:ln>
        </p:spPr>
      </p:sp>
      <p:sp>
        <p:nvSpPr>
          <p:cNvPr id="26" name="text-444">
            <a:extLst>
              <a:ext uri="{FF2B5EF4-FFF2-40B4-BE49-F238E27FC236}">
                <a16:creationId xmlns:a16="http://schemas.microsoft.com/office/drawing/2014/main" id="{8C7B9B7F-4C1D-4B10-8192-A711B2378B78}"/>
              </a:ext>
            </a:extLst>
          </p:cNvPr>
          <p:cNvSpPr>
            <a:spLocks noGrp="1"/>
          </p:cNvSpPr>
          <p:nvPr/>
        </p:nvSpPr>
        <p:spPr>
          <a:xfrm>
            <a:off x="1295400" y="5953125"/>
            <a:ext cx="9601200" cy="285750"/>
          </a:xfrm>
          <a:prstGeom prst="rect">
            <a:avLst/>
          </a:prstGeom>
          <a:noFill/>
          <a:ln w="0">
            <a:noFill/>
            <a:prstDash val="solid"/>
          </a:ln>
        </p:spPr>
        <p:txBody>
          <a:bodyPr wrap="square" lIns="38100" tIns="38100" rIns="38100" bIns="38100" anchor="t">
            <a:noAutofit/>
          </a:bodyPr>
          <a:lstStyle/>
          <a:p>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16" name="section-444">
            <a:extLst>
              <a:ext uri="{FF2B5EF4-FFF2-40B4-BE49-F238E27FC236}">
                <a16:creationId xmlns:a16="http://schemas.microsoft.com/office/drawing/2014/main" id="{B7967667-1559-492F-8957-875528EDB045}"/>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a:ext uri="{FF2B5EF4-FFF2-40B4-BE49-F238E27FC236}">
                <a16:creationId xmlns:a16="http://schemas.microsoft.com/office/drawing/2014/main" id="{50F491A5-17FC-4A6D-B7FD-66EC28F19FF7}"/>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a:ext uri="{FF2B5EF4-FFF2-40B4-BE49-F238E27FC236}">
                <a16:creationId xmlns:a16="http://schemas.microsoft.com/office/drawing/2014/main" id="{5CEBA712-C0DC-450D-8E1F-B3E5575A85AD}"/>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446">
            <a:extLst>
              <a:ext uri="{FF2B5EF4-FFF2-40B4-BE49-F238E27FC236}">
                <a16:creationId xmlns:a16="http://schemas.microsoft.com/office/drawing/2014/main" id="{392024D4-26D9-480A-ACBB-8F23D2B00D9F}"/>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a:ext uri="{FF2B5EF4-FFF2-40B4-BE49-F238E27FC236}">
                <a16:creationId xmlns:a16="http://schemas.microsoft.com/office/drawing/2014/main" id="{8CC7157F-69BF-48ED-A1A5-8D11578F337C}"/>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28</a:t>
            </a:r>
          </a:p>
        </p:txBody>
      </p:sp>
      <p:sp>
        <p:nvSpPr>
          <p:cNvPr id="6" name="box-448">
            <a:extLst>
              <a:ext uri="{FF2B5EF4-FFF2-40B4-BE49-F238E27FC236}">
                <a16:creationId xmlns:a16="http://schemas.microsoft.com/office/drawing/2014/main" id="{EDDC7DD9-C0BA-49E7-8A66-5716E10E9211}"/>
              </a:ext>
            </a:extLst>
          </p:cNvPr>
          <p:cNvSpPr>
            <a:spLocks noGrp="1"/>
          </p:cNvSpPr>
          <p:nvPr/>
        </p:nvSpPr>
        <p:spPr>
          <a:xfrm>
            <a:off x="4476750" y="1428750"/>
            <a:ext cx="3238500" cy="590550"/>
          </a:xfrm>
          <a:prstGeom prst="roundRect">
            <a:avLst>
              <a:gd name="adj" fmla="val 12903"/>
            </a:avLst>
          </a:prstGeom>
          <a:solidFill>
            <a:srgbClr val="FBE6E8"/>
          </a:solidFill>
          <a:ln w="19050">
            <a:solidFill>
              <a:srgbClr val="D75A64"/>
            </a:solidFill>
            <a:prstDash val="solid"/>
          </a:ln>
        </p:spPr>
        <p:txBody>
          <a:bodyPr lIns="76200" tIns="57150" rIns="76200" bIns="57150" anchor="ctr">
            <a:noAutofit/>
          </a:bodyPr>
          <a:lstStyle/>
          <a:p>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a:ext uri="{FF2B5EF4-FFF2-40B4-BE49-F238E27FC236}">
                <a16:creationId xmlns:a16="http://schemas.microsoft.com/office/drawing/2014/main" id="{FFE5CB04-2C4E-4A9A-9BDB-07C43C7EC104}"/>
              </a:ext>
            </a:extLst>
          </p:cNvPr>
          <p:cNvSpPr>
            <a:spLocks noGrp="1"/>
          </p:cNvSpPr>
          <p:nvPr/>
        </p:nvSpPr>
        <p:spPr>
          <a:xfrm>
            <a:off x="4476750" y="2457450"/>
            <a:ext cx="3238500" cy="762000"/>
          </a:xfrm>
          <a:prstGeom prst="roundRect">
            <a:avLst>
              <a:gd name="adj" fmla="val 12500"/>
            </a:avLst>
          </a:prstGeom>
          <a:solidFill>
            <a:srgbClr val="FFFFFF"/>
          </a:solidFill>
          <a:ln w="19050">
            <a:solidFill>
              <a:srgbClr val="20B7C5"/>
            </a:solidFill>
            <a:prstDash val="solid"/>
          </a:ln>
        </p:spPr>
        <p:txBody>
          <a:bodyPr lIns="76200" tIns="57150" rIns="76200" bIns="57150" anchor="ctr">
            <a:noAutofit/>
          </a:bodyPr>
          <a:lstStyle/>
          <a:p>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a:ext uri="{FF2B5EF4-FFF2-40B4-BE49-F238E27FC236}">
                <a16:creationId xmlns:a16="http://schemas.microsoft.com/office/drawing/2014/main" id="{58A6C376-536E-467F-98DF-AEDA4FF4C1C7}"/>
              </a:ext>
            </a:extLst>
          </p:cNvPr>
          <p:cNvSpPr>
            <a:spLocks noGrp="1"/>
          </p:cNvSpPr>
          <p:nvPr/>
        </p:nvSpPr>
        <p:spPr>
          <a:xfrm>
            <a:off x="838200" y="3810000"/>
            <a:ext cx="3143250" cy="1047750"/>
          </a:xfrm>
          <a:prstGeom prst="roundRect">
            <a:avLst>
              <a:gd name="adj" fmla="val 9091"/>
            </a:avLst>
          </a:prstGeom>
          <a:solidFill>
            <a:srgbClr val="FFF0D7"/>
          </a:solidFill>
          <a:ln w="19050">
            <a:solidFill>
              <a:srgbClr val="E9A23B"/>
            </a:solidFill>
            <a:prstDash val="solid"/>
          </a:ln>
        </p:spPr>
        <p:txBody>
          <a:bodyPr lIns="76200" tIns="57150" rIns="76200" bIns="57150" anchor="ctr">
            <a:noAutofit/>
          </a:bodyPr>
          <a:lstStyle/>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a:ext uri="{FF2B5EF4-FFF2-40B4-BE49-F238E27FC236}">
                <a16:creationId xmlns:a16="http://schemas.microsoft.com/office/drawing/2014/main" id="{C305EFF5-B41C-49E9-AD2A-F57CFD79BA7E}"/>
              </a:ext>
            </a:extLst>
          </p:cNvPr>
          <p:cNvSpPr>
            <a:spLocks noGrp="1"/>
          </p:cNvSpPr>
          <p:nvPr/>
        </p:nvSpPr>
        <p:spPr>
          <a:xfrm>
            <a:off x="4524375" y="3810000"/>
            <a:ext cx="3143250" cy="1047750"/>
          </a:xfrm>
          <a:prstGeom prst="roundRect">
            <a:avLst>
              <a:gd name="adj" fmla="val 9091"/>
            </a:avLst>
          </a:prstGeom>
          <a:solidFill>
            <a:srgbClr val="E2ECFF"/>
          </a:solidFill>
          <a:ln w="19050">
            <a:solidFill>
              <a:srgbClr val="2D6CDF"/>
            </a:solidFill>
            <a:prstDash val="solid"/>
          </a:ln>
        </p:spPr>
        <p:txBody>
          <a:bodyPr lIns="76200" tIns="57150" rIns="76200" bIns="57150" anchor="ctr">
            <a:noAutofit/>
          </a:bodyPr>
          <a:lstStyle/>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a:ext uri="{FF2B5EF4-FFF2-40B4-BE49-F238E27FC236}">
                <a16:creationId xmlns:a16="http://schemas.microsoft.com/office/drawing/2014/main" id="{DFEE7E19-1989-4CD4-90E2-5B3AA461E206}"/>
              </a:ext>
            </a:extLst>
          </p:cNvPr>
          <p:cNvSpPr>
            <a:spLocks noGrp="1"/>
          </p:cNvSpPr>
          <p:nvPr/>
        </p:nvSpPr>
        <p:spPr>
          <a:xfrm>
            <a:off x="8210550" y="3810000"/>
            <a:ext cx="3143250" cy="1047750"/>
          </a:xfrm>
          <a:prstGeom prst="roundRect">
            <a:avLst>
              <a:gd name="adj" fmla="val 9091"/>
            </a:avLst>
          </a:prstGeom>
          <a:solidFill>
            <a:srgbClr val="DFF6F8"/>
          </a:solidFill>
          <a:ln w="19050">
            <a:solidFill>
              <a:srgbClr val="20B7C5"/>
            </a:solidFill>
            <a:prstDash val="solid"/>
          </a:ln>
        </p:spPr>
        <p:txBody>
          <a:bodyPr lIns="76200" tIns="57150" rIns="76200" bIns="57150" anchor="ctr">
            <a:noAutofit/>
          </a:bodyPr>
          <a:lstStyle/>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6" name="Straight Arrow Connector 25"/>
          <p:cNvCxnSpPr>
            <a:stCxn id="6" idx="2"/>
            <a:endCxn id="7" idx="0"/>
          </p:cNvCxnSpPr>
          <p:nvPr/>
        </p:nvCxnSpPr>
        <p:spPr>
          <a:xfrm>
            <a:off x="6096000" y="2019300"/>
            <a:ext cx="0" cy="438150"/>
          </a:xfrm>
          <a:prstGeom prst="straightConnector1">
            <a:avLst/>
          </a:prstGeom>
          <a:ln w="28575">
            <a:solidFill>
              <a:srgbClr val="D75A64"/>
            </a:solidFill>
            <a:prstDash val="solid"/>
            <a:tailEnd type="triangle" w="sm" len="sm"/>
          </a:ln>
        </p:spPr>
      </p:cxnSp>
      <p:cxnSp>
        <p:nvCxnSpPr>
          <p:cNvPr id="27" name="Connector: Elbow 26"/>
          <p:cNvCxnSpPr>
            <a:stCxn id="7" idx="1"/>
            <a:endCxn id="8" idx="0"/>
          </p:cNvCxnSpPr>
          <p:nvPr/>
        </p:nvCxnSpPr>
        <p:spPr>
          <a:xfrm flipH="1">
            <a:off x="2409825" y="2838450"/>
            <a:ext cx="2066925" cy="971550"/>
          </a:xfrm>
          <a:prstGeom prst="bentConnector2">
            <a:avLst/>
          </a:prstGeom>
          <a:ln w="28575">
            <a:solidFill>
              <a:srgbClr val="E9A23B"/>
            </a:solidFill>
            <a:prstDash val="solid"/>
            <a:tailEnd type="triangle" w="sm" len="sm"/>
          </a:ln>
        </p:spPr>
      </p:cxnSp>
      <p:cxnSp>
        <p:nvCxnSpPr>
          <p:cNvPr id="28" name="Straight Arrow Connector 27"/>
          <p:cNvCxnSpPr>
            <a:stCxn id="7" idx="2"/>
            <a:endCxn id="9" idx="0"/>
          </p:cNvCxnSpPr>
          <p:nvPr/>
        </p:nvCxnSpPr>
        <p:spPr>
          <a:xfrm>
            <a:off x="6096000" y="3219450"/>
            <a:ext cx="0" cy="590550"/>
          </a:xfrm>
          <a:prstGeom prst="straightConnector1">
            <a:avLst/>
          </a:prstGeom>
          <a:ln w="28575">
            <a:solidFill>
              <a:srgbClr val="2D6CDF"/>
            </a:solidFill>
            <a:prstDash val="solid"/>
            <a:tailEnd type="triangle" w="sm" len="sm"/>
          </a:ln>
        </p:spPr>
      </p:cxnSp>
      <p:cxnSp>
        <p:nvCxnSpPr>
          <p:cNvPr id="29" name="Connector: Elbow 28"/>
          <p:cNvCxnSpPr>
            <a:stCxn id="7" idx="3"/>
            <a:endCxn id="10" idx="0"/>
          </p:cNvCxnSpPr>
          <p:nvPr/>
        </p:nvCxnSpPr>
        <p:spPr>
          <a:xfrm>
            <a:off x="7715250" y="2838450"/>
            <a:ext cx="2066925" cy="971550"/>
          </a:xfrm>
          <a:prstGeom prst="bentConnector2">
            <a:avLst/>
          </a:prstGeom>
          <a:ln w="28575">
            <a:solidFill>
              <a:srgbClr val="20B7C5"/>
            </a:solidFill>
            <a:prstDash val="solid"/>
            <a:tailEnd type="triangle" w="sm" len="sm"/>
          </a:ln>
        </p:spPr>
      </p:cxnSp>
      <p:sp>
        <p:nvSpPr>
          <p:cNvPr id="15" name="box-453">
            <a:extLst>
              <a:ext uri="{FF2B5EF4-FFF2-40B4-BE49-F238E27FC236}">
                <a16:creationId xmlns:a16="http://schemas.microsoft.com/office/drawing/2014/main" id="{D919C782-A4DD-4E83-8D27-191320E8CDB9}"/>
              </a:ext>
            </a:extLst>
          </p:cNvPr>
          <p:cNvSpPr>
            <a:spLocks noGrp="1"/>
          </p:cNvSpPr>
          <p:nvPr/>
        </p:nvSpPr>
        <p:spPr>
          <a:xfrm>
            <a:off x="1524000" y="5429250"/>
            <a:ext cx="9144000" cy="571500"/>
          </a:xfrm>
          <a:prstGeom prst="roundRect">
            <a:avLst>
              <a:gd name="adj" fmla="val 13333"/>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17" name="section-453">
            <a:extLst>
              <a:ext uri="{FF2B5EF4-FFF2-40B4-BE49-F238E27FC236}">
                <a16:creationId xmlns:a16="http://schemas.microsoft.com/office/drawing/2014/main" id="{167C50D1-0B97-4DF0-9224-14D2CD658FF2}"/>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a:ext uri="{FF2B5EF4-FFF2-40B4-BE49-F238E27FC236}">
                <a16:creationId xmlns:a16="http://schemas.microsoft.com/office/drawing/2014/main" id="{BC539958-0826-4EF4-A598-04CADF6C866B}"/>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a:ext uri="{FF2B5EF4-FFF2-40B4-BE49-F238E27FC236}">
                <a16:creationId xmlns:a16="http://schemas.microsoft.com/office/drawing/2014/main" id="{3E6809E5-87B8-4C51-A443-3CBF82104013}"/>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455">
            <a:extLst>
              <a:ext uri="{FF2B5EF4-FFF2-40B4-BE49-F238E27FC236}">
                <a16:creationId xmlns:a16="http://schemas.microsoft.com/office/drawing/2014/main" id="{51B59FC2-2C1C-440E-B77C-78DCDECE2368}"/>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a:ext uri="{FF2B5EF4-FFF2-40B4-BE49-F238E27FC236}">
                <a16:creationId xmlns:a16="http://schemas.microsoft.com/office/drawing/2014/main" id="{B657F59D-CCCA-4658-B4D7-4556339BE377}"/>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29</a:t>
            </a:r>
          </a:p>
        </p:txBody>
      </p:sp>
      <p:sp>
        <p:nvSpPr>
          <p:cNvPr id="6" name="box-457">
            <a:extLst>
              <a:ext uri="{FF2B5EF4-FFF2-40B4-BE49-F238E27FC236}">
                <a16:creationId xmlns:a16="http://schemas.microsoft.com/office/drawing/2014/main" id="{8BD9C519-B638-493F-9C65-E5512B07C925}"/>
              </a:ext>
            </a:extLst>
          </p:cNvPr>
          <p:cNvSpPr>
            <a:spLocks noGrp="1"/>
          </p:cNvSpPr>
          <p:nvPr/>
        </p:nvSpPr>
        <p:spPr>
          <a:xfrm>
            <a:off x="704850" y="2190750"/>
            <a:ext cx="2286000" cy="952500"/>
          </a:xfrm>
          <a:prstGeom prst="roundRect">
            <a:avLst>
              <a:gd name="adj" fmla="val 10000"/>
            </a:avLst>
          </a:prstGeom>
          <a:solidFill>
            <a:srgbClr val="0B2438"/>
          </a:solidFill>
          <a:ln w="19050">
            <a:solidFill>
              <a:srgbClr val="20B7C5"/>
            </a:solidFill>
            <a:prstDash val="solid"/>
          </a:ln>
        </p:spPr>
        <p:txBody>
          <a:bodyPr lIns="76200" tIns="57150" rIns="76200" bIns="57150" anchor="ctr">
            <a:noAutofit/>
          </a:bodyPr>
          <a:lstStyle/>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a:ext uri="{FF2B5EF4-FFF2-40B4-BE49-F238E27FC236}">
                <a16:creationId xmlns:a16="http://schemas.microsoft.com/office/drawing/2014/main" id="{CA78C6CA-A876-44DA-869B-3AB82DE3AB70}"/>
              </a:ext>
            </a:extLst>
          </p:cNvPr>
          <p:cNvSpPr>
            <a:spLocks noGrp="1"/>
          </p:cNvSpPr>
          <p:nvPr/>
        </p:nvSpPr>
        <p:spPr>
          <a:xfrm>
            <a:off x="3714750" y="2000250"/>
            <a:ext cx="2857500" cy="1333500"/>
          </a:xfrm>
          <a:prstGeom prst="roundRect">
            <a:avLst>
              <a:gd name="adj" fmla="val 7143"/>
            </a:avLst>
          </a:prstGeom>
          <a:solidFill>
            <a:srgbClr val="10372A"/>
          </a:solidFill>
          <a:ln w="28575">
            <a:solidFill>
              <a:srgbClr val="2CA56F"/>
            </a:solidFill>
            <a:prstDash val="solid"/>
          </a:ln>
        </p:spPr>
        <p:txBody>
          <a:bodyPr lIns="76200" tIns="57150" rIns="76200" bIns="57150" anchor="ctr">
            <a:noAutofit/>
          </a:bodyPr>
          <a:lstStyle/>
          <a:p>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a:ext uri="{FF2B5EF4-FFF2-40B4-BE49-F238E27FC236}">
                <a16:creationId xmlns:a16="http://schemas.microsoft.com/office/drawing/2014/main" id="{8640E0FC-7902-477B-BA1A-593D51BAFA71}"/>
              </a:ext>
            </a:extLst>
          </p:cNvPr>
          <p:cNvSpPr>
            <a:spLocks noGrp="1"/>
          </p:cNvSpPr>
          <p:nvPr/>
        </p:nvSpPr>
        <p:spPr>
          <a:xfrm>
            <a:off x="7239000" y="2190750"/>
            <a:ext cx="2286000" cy="952500"/>
          </a:xfrm>
          <a:prstGeom prst="roundRect">
            <a:avLst>
              <a:gd name="adj" fmla="val 10000"/>
            </a:avLst>
          </a:prstGeom>
          <a:solidFill>
            <a:srgbClr val="0B2438"/>
          </a:solidFill>
          <a:ln w="19050">
            <a:solidFill>
              <a:srgbClr val="E9A23B"/>
            </a:solidFill>
            <a:prstDash val="solid"/>
          </a:ln>
        </p:spPr>
        <p:txBody>
          <a:bodyPr lIns="76200" tIns="57150" rIns="76200" bIns="5715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a:ext uri="{FF2B5EF4-FFF2-40B4-BE49-F238E27FC236}">
                <a16:creationId xmlns:a16="http://schemas.microsoft.com/office/drawing/2014/main" id="{FDB2F2DF-0628-49D7-B82F-EAE2CB2B04EE}"/>
              </a:ext>
            </a:extLst>
          </p:cNvPr>
          <p:cNvSpPr>
            <a:spLocks noGrp="1"/>
          </p:cNvSpPr>
          <p:nvPr/>
        </p:nvSpPr>
        <p:spPr>
          <a:xfrm>
            <a:off x="8191500" y="4095750"/>
            <a:ext cx="3238500" cy="1238250"/>
          </a:xfrm>
          <a:prstGeom prst="roundRect">
            <a:avLst>
              <a:gd name="adj" fmla="val 7692"/>
            </a:avLst>
          </a:prstGeom>
          <a:solidFill>
            <a:srgbClr val="0B2438"/>
          </a:solidFill>
          <a:ln w="28575">
            <a:solidFill>
              <a:srgbClr val="2D6CDF"/>
            </a:solidFill>
            <a:prstDash val="solid"/>
          </a:ln>
        </p:spPr>
        <p:txBody>
          <a:bodyPr lIns="76200" tIns="57150" rIns="76200" bIns="57150" anchor="ctr">
            <a:no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26" name="Straight Arrow Connector 25"/>
          <p:cNvCxnSpPr>
            <a:stCxn id="6" idx="3"/>
            <a:endCxn id="7" idx="1"/>
          </p:cNvCxnSpPr>
          <p:nvPr/>
        </p:nvCxnSpPr>
        <p:spPr>
          <a:xfrm>
            <a:off x="2990850" y="2667000"/>
            <a:ext cx="723900" cy="0"/>
          </a:xfrm>
          <a:prstGeom prst="straightConnector1">
            <a:avLst/>
          </a:prstGeom>
          <a:ln w="28575">
            <a:solidFill>
              <a:srgbClr val="20B7C5"/>
            </a:solidFill>
            <a:prstDash val="solid"/>
            <a:headEnd type="triangle" w="sm" len="sm"/>
            <a:tailEnd type="triangle" w="sm" len="sm"/>
          </a:ln>
        </p:spPr>
      </p:cxnSp>
      <p:cxnSp>
        <p:nvCxnSpPr>
          <p:cNvPr id="27" name="Straight Arrow Connector 26"/>
          <p:cNvCxnSpPr>
            <a:stCxn id="7" idx="3"/>
            <a:endCxn id="8" idx="1"/>
          </p:cNvCxnSpPr>
          <p:nvPr/>
        </p:nvCxnSpPr>
        <p:spPr>
          <a:xfrm>
            <a:off x="6572250" y="2667000"/>
            <a:ext cx="666750" cy="0"/>
          </a:xfrm>
          <a:prstGeom prst="straightConnector1">
            <a:avLst/>
          </a:prstGeom>
          <a:ln w="38100">
            <a:solidFill>
              <a:srgbClr val="E9A23B"/>
            </a:solidFill>
            <a:prstDash val="solid"/>
            <a:headEnd type="triangle" w="sm" len="sm"/>
            <a:tailEnd type="triangle" w="sm" len="sm"/>
          </a:ln>
        </p:spPr>
      </p:cxnSp>
      <p:cxnSp>
        <p:nvCxnSpPr>
          <p:cNvPr id="28" name="Connector: Elbow 27"/>
          <p:cNvCxnSpPr>
            <a:stCxn id="8" idx="2"/>
            <a:endCxn id="9" idx="0"/>
          </p:cNvCxnSpPr>
          <p:nvPr/>
        </p:nvCxnSpPr>
        <p:spPr>
          <a:xfrm>
            <a:off x="8382000" y="3143250"/>
            <a:ext cx="1428750" cy="952500"/>
          </a:xfrm>
          <a:prstGeom prst="bentConnector4">
            <a:avLst>
              <a:gd name="adj1" fmla="val 0"/>
              <a:gd name="adj2" fmla="val 50000"/>
            </a:avLst>
          </a:prstGeom>
          <a:ln w="38100">
            <a:solidFill>
              <a:srgbClr val="2D6CDF"/>
            </a:solidFill>
            <a:prstDash val="solid"/>
            <a:headEnd type="triangle" w="sm" len="sm"/>
            <a:tailEnd type="triangle" w="sm" len="sm"/>
          </a:ln>
        </p:spPr>
      </p:cxnSp>
      <p:sp>
        <p:nvSpPr>
          <p:cNvPr id="13" name="box-461">
            <a:extLst>
              <a:ext uri="{FF2B5EF4-FFF2-40B4-BE49-F238E27FC236}">
                <a16:creationId xmlns:a16="http://schemas.microsoft.com/office/drawing/2014/main" id="{71EF8D96-5582-4102-BE6A-3599C810B10B}"/>
              </a:ext>
            </a:extLst>
          </p:cNvPr>
          <p:cNvSpPr>
            <a:spLocks noGrp="1"/>
          </p:cNvSpPr>
          <p:nvPr/>
        </p:nvSpPr>
        <p:spPr>
          <a:xfrm>
            <a:off x="914400" y="4286250"/>
            <a:ext cx="4476750" cy="876300"/>
          </a:xfrm>
          <a:prstGeom prst="roundRect">
            <a:avLst>
              <a:gd name="adj" fmla="val 10870"/>
            </a:avLst>
          </a:prstGeom>
          <a:solidFill>
            <a:srgbClr val="3A2028"/>
          </a:solidFill>
          <a:ln w="19050">
            <a:solidFill>
              <a:srgbClr val="D75A64"/>
            </a:solidFill>
            <a:prstDash val="solid"/>
          </a:ln>
        </p:spPr>
        <p:txBody>
          <a:bodyPr lIns="76200" tIns="57150" rIns="76200" bIns="57150" anchor="ctr">
            <a:noAutofit/>
          </a:bodyPr>
          <a:lstStyle/>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30" name="Straight Arrow Connector 29"/>
          <p:cNvCxnSpPr>
            <a:stCxn id="13" idx="3"/>
            <a:endCxn id="9" idx="1"/>
          </p:cNvCxnSpPr>
          <p:nvPr/>
        </p:nvCxnSpPr>
        <p:spPr>
          <a:xfrm flipV="1">
            <a:off x="5391150" y="4714875"/>
            <a:ext cx="2800350" cy="9525"/>
          </a:xfrm>
          <a:prstGeom prst="straightConnector1">
            <a:avLst/>
          </a:prstGeom>
          <a:ln w="28575">
            <a:solidFill>
              <a:srgbClr val="D75A64"/>
            </a:solidFill>
            <a:prstDash val="solid"/>
            <a:tailEnd type="triangle" w="sm" len="sm"/>
          </a:ln>
        </p:spPr>
      </p:cxnSp>
      <p:sp>
        <p:nvSpPr>
          <p:cNvPr id="15" name="text-462">
            <a:extLst>
              <a:ext uri="{FF2B5EF4-FFF2-40B4-BE49-F238E27FC236}">
                <a16:creationId xmlns:a16="http://schemas.microsoft.com/office/drawing/2014/main" id="{FD6E7C1C-EFAC-4267-8776-D207FCD51AEA}"/>
              </a:ext>
            </a:extLst>
          </p:cNvPr>
          <p:cNvSpPr>
            <a:spLocks noGrp="1"/>
          </p:cNvSpPr>
          <p:nvPr/>
        </p:nvSpPr>
        <p:spPr>
          <a:xfrm>
            <a:off x="4057650" y="3600450"/>
            <a:ext cx="2152650" cy="228600"/>
          </a:xfrm>
          <a:prstGeom prst="rect">
            <a:avLst/>
          </a:prstGeom>
          <a:noFill/>
          <a:ln w="0">
            <a:noFill/>
            <a:prstDash val="solid"/>
          </a:ln>
        </p:spPr>
        <p:txBody>
          <a:bodyPr wrap="square" lIns="38100" tIns="38100" rIns="38100" bIns="38100" anchor="t">
            <a:noAutofit/>
          </a:bodyPr>
          <a:lstStyle/>
          <a:p>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a:ext uri="{FF2B5EF4-FFF2-40B4-BE49-F238E27FC236}">
                <a16:creationId xmlns:a16="http://schemas.microsoft.com/office/drawing/2014/main" id="{D4ED9B45-4322-4092-8DB3-ED62D639120D}"/>
              </a:ext>
            </a:extLst>
          </p:cNvPr>
          <p:cNvSpPr>
            <a:spLocks noGrp="1"/>
          </p:cNvSpPr>
          <p:nvPr/>
        </p:nvSpPr>
        <p:spPr>
          <a:xfrm>
            <a:off x="8763000" y="5600700"/>
            <a:ext cx="2190750" cy="228600"/>
          </a:xfrm>
          <a:prstGeom prst="rect">
            <a:avLst/>
          </a:prstGeom>
          <a:noFill/>
          <a:ln w="0">
            <a:noFill/>
            <a:prstDash val="solid"/>
          </a:ln>
        </p:spPr>
        <p:txBody>
          <a:bodyPr wrap="square" lIns="38100" tIns="38100" rIns="38100" bIns="38100" anchor="t">
            <a:noAutofit/>
          </a:bodyPr>
          <a:lstStyle/>
          <a:p>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section-463">
            <a:extLst>
              <a:ext uri="{FF2B5EF4-FFF2-40B4-BE49-F238E27FC236}">
                <a16:creationId xmlns:a16="http://schemas.microsoft.com/office/drawing/2014/main" id="{5F722B4A-15D0-4BC0-8B00-39427679F741}"/>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a:ext uri="{FF2B5EF4-FFF2-40B4-BE49-F238E27FC236}">
                <a16:creationId xmlns:a16="http://schemas.microsoft.com/office/drawing/2014/main" id="{2117EA39-A93D-49FB-A2DD-08F17C8258B5}"/>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a:ext uri="{FF2B5EF4-FFF2-40B4-BE49-F238E27FC236}">
                <a16:creationId xmlns:a16="http://schemas.microsoft.com/office/drawing/2014/main" id="{DB12B06D-3F8A-40D7-A5C9-3E7DD8D5F5CF}"/>
              </a:ext>
            </a:extLst>
          </p:cNvPr>
          <p:cNvSpPr>
            <a:spLocks noGrp="1"/>
          </p:cNvSpPr>
          <p:nvPr/>
        </p:nvSpPr>
        <p:spPr>
          <a:xfrm>
            <a:off x="685800" y="1200150"/>
            <a:ext cx="10820400" cy="0"/>
          </a:xfrm>
          <a:prstGeom prst="line">
            <a:avLst/>
          </a:prstGeom>
          <a:noFill/>
          <a:ln w="14288">
            <a:solidFill>
              <a:srgbClr val="C9D8E3"/>
            </a:solidFill>
            <a:prstDash val="solid"/>
          </a:ln>
        </p:spPr>
      </p:sp>
      <p:sp>
        <p:nvSpPr>
          <p:cNvPr id="4" name="text-465">
            <a:extLst>
              <a:ext uri="{FF2B5EF4-FFF2-40B4-BE49-F238E27FC236}">
                <a16:creationId xmlns:a16="http://schemas.microsoft.com/office/drawing/2014/main" id="{C71FF6B9-5DFE-4109-8A3E-B4201F0FF899}"/>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a:ext uri="{FF2B5EF4-FFF2-40B4-BE49-F238E27FC236}">
                <a16:creationId xmlns:a16="http://schemas.microsoft.com/office/drawing/2014/main" id="{9F5B685D-4E7A-4FC1-A775-31D465F6A5E4}"/>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30</a:t>
            </a:r>
          </a:p>
        </p:txBody>
      </p:sp>
      <p:sp>
        <p:nvSpPr>
          <p:cNvPr id="6" name="text-467">
            <a:extLst>
              <a:ext uri="{FF2B5EF4-FFF2-40B4-BE49-F238E27FC236}">
                <a16:creationId xmlns:a16="http://schemas.microsoft.com/office/drawing/2014/main" id="{BC53B95F-86CB-4AFD-B71B-615DE91CDA0E}"/>
              </a:ext>
            </a:extLst>
          </p:cNvPr>
          <p:cNvSpPr>
            <a:spLocks noGrp="1"/>
          </p:cNvSpPr>
          <p:nvPr/>
        </p:nvSpPr>
        <p:spPr>
          <a:xfrm>
            <a:off x="723900" y="1504950"/>
            <a:ext cx="209550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a:ext uri="{FF2B5EF4-FFF2-40B4-BE49-F238E27FC236}">
                <a16:creationId xmlns:a16="http://schemas.microsoft.com/office/drawing/2014/main" id="{EB2DAFA4-916A-4908-B2E3-7F100846F7AB}"/>
              </a:ext>
            </a:extLst>
          </p:cNvPr>
          <p:cNvSpPr>
            <a:spLocks noGrp="1"/>
          </p:cNvSpPr>
          <p:nvPr/>
        </p:nvSpPr>
        <p:spPr>
          <a:xfrm>
            <a:off x="3219450" y="1504950"/>
            <a:ext cx="457200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a:ext uri="{FF2B5EF4-FFF2-40B4-BE49-F238E27FC236}">
                <a16:creationId xmlns:a16="http://schemas.microsoft.com/office/drawing/2014/main" id="{AA779E72-BDCA-4E7F-B014-37586140A133}"/>
              </a:ext>
            </a:extLst>
          </p:cNvPr>
          <p:cNvSpPr>
            <a:spLocks noGrp="1"/>
          </p:cNvSpPr>
          <p:nvPr/>
        </p:nvSpPr>
        <p:spPr>
          <a:xfrm>
            <a:off x="8286750" y="1504950"/>
            <a:ext cx="3048000" cy="247650"/>
          </a:xfrm>
          <a:prstGeom prst="rect">
            <a:avLst/>
          </a:prstGeom>
          <a:noFill/>
          <a:ln w="0">
            <a:noFill/>
            <a:prstDash val="solid"/>
          </a:ln>
        </p:spPr>
        <p:txBody>
          <a:bodyPr wrap="square" lIns="38100" tIns="38100" rIns="38100" bIns="38100" anchor="t">
            <a:noAutofit/>
          </a:bodyPr>
          <a:lstStyle/>
          <a:p>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a:ext uri="{FF2B5EF4-FFF2-40B4-BE49-F238E27FC236}">
                <a16:creationId xmlns:a16="http://schemas.microsoft.com/office/drawing/2014/main" id="{8F2C98BD-E643-4273-B940-0D797173168D}"/>
              </a:ext>
            </a:extLst>
          </p:cNvPr>
          <p:cNvSpPr>
            <a:spLocks noGrp="1"/>
          </p:cNvSpPr>
          <p:nvPr/>
        </p:nvSpPr>
        <p:spPr>
          <a:xfrm>
            <a:off x="723900" y="1866900"/>
            <a:ext cx="2000250" cy="533400"/>
          </a:xfrm>
          <a:prstGeom prst="roundRect">
            <a:avLst>
              <a:gd name="adj" fmla="val 12500"/>
            </a:avLst>
          </a:prstGeom>
          <a:solidFill>
            <a:srgbClr val="2D6CDF"/>
          </a:solidFill>
          <a:ln w="9525">
            <a:solidFill>
              <a:srgbClr val="2D6CDF"/>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a:ext uri="{FF2B5EF4-FFF2-40B4-BE49-F238E27FC236}">
                <a16:creationId xmlns:a16="http://schemas.microsoft.com/office/drawing/2014/main" id="{CB2E1526-0F3F-473B-B577-7B622BE5865F}"/>
              </a:ext>
            </a:extLst>
          </p:cNvPr>
          <p:cNvSpPr>
            <a:spLocks noGrp="1"/>
          </p:cNvSpPr>
          <p:nvPr/>
        </p:nvSpPr>
        <p:spPr>
          <a:xfrm>
            <a:off x="3219450" y="1866900"/>
            <a:ext cx="4476750" cy="5524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a:ext uri="{FF2B5EF4-FFF2-40B4-BE49-F238E27FC236}">
                <a16:creationId xmlns:a16="http://schemas.microsoft.com/office/drawing/2014/main" id="{C65DCF3A-74F3-4848-8954-472D4E017852}"/>
              </a:ext>
            </a:extLst>
          </p:cNvPr>
          <p:cNvSpPr>
            <a:spLocks noGrp="1"/>
          </p:cNvSpPr>
          <p:nvPr/>
        </p:nvSpPr>
        <p:spPr>
          <a:xfrm>
            <a:off x="8286750" y="1866900"/>
            <a:ext cx="30480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a:ext uri="{FF2B5EF4-FFF2-40B4-BE49-F238E27FC236}">
                <a16:creationId xmlns:a16="http://schemas.microsoft.com/office/drawing/2014/main" id="{B2F94644-333C-4A64-91D4-8FE7863229CD}"/>
              </a:ext>
            </a:extLst>
          </p:cNvPr>
          <p:cNvSpPr>
            <a:spLocks noGrp="1"/>
          </p:cNvSpPr>
          <p:nvPr/>
        </p:nvSpPr>
        <p:spPr>
          <a:xfrm>
            <a:off x="685800" y="2495550"/>
            <a:ext cx="10820400" cy="0"/>
          </a:xfrm>
          <a:prstGeom prst="line">
            <a:avLst/>
          </a:prstGeom>
          <a:noFill/>
          <a:ln w="9525">
            <a:solidFill>
              <a:srgbClr val="C9D8E3"/>
            </a:solidFill>
            <a:prstDash val="solid"/>
          </a:ln>
        </p:spPr>
      </p:sp>
      <p:sp>
        <p:nvSpPr>
          <p:cNvPr id="13" name="box-474">
            <a:extLst>
              <a:ext uri="{FF2B5EF4-FFF2-40B4-BE49-F238E27FC236}">
                <a16:creationId xmlns:a16="http://schemas.microsoft.com/office/drawing/2014/main" id="{64110308-9F07-4F47-98D6-17259561455D}"/>
              </a:ext>
            </a:extLst>
          </p:cNvPr>
          <p:cNvSpPr>
            <a:spLocks noGrp="1"/>
          </p:cNvSpPr>
          <p:nvPr/>
        </p:nvSpPr>
        <p:spPr>
          <a:xfrm>
            <a:off x="723900" y="2619375"/>
            <a:ext cx="2000250" cy="533400"/>
          </a:xfrm>
          <a:prstGeom prst="roundRect">
            <a:avLst>
              <a:gd name="adj" fmla="val 12500"/>
            </a:avLst>
          </a:prstGeom>
          <a:solidFill>
            <a:srgbClr val="20B7C5"/>
          </a:solidFill>
          <a:ln w="9525">
            <a:solidFill>
              <a:srgbClr val="20B7C5"/>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a:ext uri="{FF2B5EF4-FFF2-40B4-BE49-F238E27FC236}">
                <a16:creationId xmlns:a16="http://schemas.microsoft.com/office/drawing/2014/main" id="{E9CE37B0-3BF6-405D-9EE8-D0E240577C5F}"/>
              </a:ext>
            </a:extLst>
          </p:cNvPr>
          <p:cNvSpPr>
            <a:spLocks noGrp="1"/>
          </p:cNvSpPr>
          <p:nvPr/>
        </p:nvSpPr>
        <p:spPr>
          <a:xfrm>
            <a:off x="3219450" y="2619375"/>
            <a:ext cx="4476750" cy="5524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a:ext uri="{FF2B5EF4-FFF2-40B4-BE49-F238E27FC236}">
                <a16:creationId xmlns:a16="http://schemas.microsoft.com/office/drawing/2014/main" id="{B8EE19D5-1700-4551-87FB-AFECE8328530}"/>
              </a:ext>
            </a:extLst>
          </p:cNvPr>
          <p:cNvSpPr>
            <a:spLocks noGrp="1"/>
          </p:cNvSpPr>
          <p:nvPr/>
        </p:nvSpPr>
        <p:spPr>
          <a:xfrm>
            <a:off x="8286750" y="2619375"/>
            <a:ext cx="30480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a:ext uri="{FF2B5EF4-FFF2-40B4-BE49-F238E27FC236}">
                <a16:creationId xmlns:a16="http://schemas.microsoft.com/office/drawing/2014/main" id="{97F20A89-46B2-49DF-BEED-9F8DF34F2F49}"/>
              </a:ext>
            </a:extLst>
          </p:cNvPr>
          <p:cNvSpPr>
            <a:spLocks noGrp="1"/>
          </p:cNvSpPr>
          <p:nvPr/>
        </p:nvSpPr>
        <p:spPr>
          <a:xfrm>
            <a:off x="685800" y="3248025"/>
            <a:ext cx="10820400" cy="0"/>
          </a:xfrm>
          <a:prstGeom prst="line">
            <a:avLst/>
          </a:prstGeom>
          <a:noFill/>
          <a:ln w="9525">
            <a:solidFill>
              <a:srgbClr val="C9D8E3"/>
            </a:solidFill>
            <a:prstDash val="solid"/>
          </a:ln>
        </p:spPr>
      </p:sp>
      <p:sp>
        <p:nvSpPr>
          <p:cNvPr id="17" name="box-478">
            <a:extLst>
              <a:ext uri="{FF2B5EF4-FFF2-40B4-BE49-F238E27FC236}">
                <a16:creationId xmlns:a16="http://schemas.microsoft.com/office/drawing/2014/main" id="{E264380A-C7BF-4DFA-8187-3BB4F061698E}"/>
              </a:ext>
            </a:extLst>
          </p:cNvPr>
          <p:cNvSpPr>
            <a:spLocks noGrp="1"/>
          </p:cNvSpPr>
          <p:nvPr/>
        </p:nvSpPr>
        <p:spPr>
          <a:xfrm>
            <a:off x="723900" y="3371850"/>
            <a:ext cx="2000250" cy="533400"/>
          </a:xfrm>
          <a:prstGeom prst="roundRect">
            <a:avLst>
              <a:gd name="adj" fmla="val 12500"/>
            </a:avLst>
          </a:prstGeom>
          <a:solidFill>
            <a:srgbClr val="E9A23B"/>
          </a:solidFill>
          <a:ln w="9525">
            <a:solidFill>
              <a:srgbClr val="E9A23B"/>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a:ext uri="{FF2B5EF4-FFF2-40B4-BE49-F238E27FC236}">
                <a16:creationId xmlns:a16="http://schemas.microsoft.com/office/drawing/2014/main" id="{ABEDB4E9-A7EA-4A03-A4B6-C288AB267BB7}"/>
              </a:ext>
            </a:extLst>
          </p:cNvPr>
          <p:cNvSpPr>
            <a:spLocks noGrp="1"/>
          </p:cNvSpPr>
          <p:nvPr/>
        </p:nvSpPr>
        <p:spPr>
          <a:xfrm>
            <a:off x="3219450" y="3371850"/>
            <a:ext cx="4476750" cy="5524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a:ext uri="{FF2B5EF4-FFF2-40B4-BE49-F238E27FC236}">
                <a16:creationId xmlns:a16="http://schemas.microsoft.com/office/drawing/2014/main" id="{B45D2D83-3D27-47DE-8247-18C60FC452E0}"/>
              </a:ext>
            </a:extLst>
          </p:cNvPr>
          <p:cNvSpPr>
            <a:spLocks noGrp="1"/>
          </p:cNvSpPr>
          <p:nvPr/>
        </p:nvSpPr>
        <p:spPr>
          <a:xfrm>
            <a:off x="8286750" y="3371850"/>
            <a:ext cx="30480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a:ext uri="{FF2B5EF4-FFF2-40B4-BE49-F238E27FC236}">
                <a16:creationId xmlns:a16="http://schemas.microsoft.com/office/drawing/2014/main" id="{2C671D9C-634C-4F2F-A09D-7567BDFE2496}"/>
              </a:ext>
            </a:extLst>
          </p:cNvPr>
          <p:cNvSpPr>
            <a:spLocks noGrp="1"/>
          </p:cNvSpPr>
          <p:nvPr/>
        </p:nvSpPr>
        <p:spPr>
          <a:xfrm>
            <a:off x="685800" y="4000500"/>
            <a:ext cx="10820400" cy="0"/>
          </a:xfrm>
          <a:prstGeom prst="line">
            <a:avLst/>
          </a:prstGeom>
          <a:noFill/>
          <a:ln w="9525">
            <a:solidFill>
              <a:srgbClr val="C9D8E3"/>
            </a:solidFill>
            <a:prstDash val="solid"/>
          </a:ln>
        </p:spPr>
      </p:sp>
      <p:sp>
        <p:nvSpPr>
          <p:cNvPr id="21" name="box-482">
            <a:extLst>
              <a:ext uri="{FF2B5EF4-FFF2-40B4-BE49-F238E27FC236}">
                <a16:creationId xmlns:a16="http://schemas.microsoft.com/office/drawing/2014/main" id="{BE812D2F-F72B-413B-979A-7EFC78CC5357}"/>
              </a:ext>
            </a:extLst>
          </p:cNvPr>
          <p:cNvSpPr>
            <a:spLocks noGrp="1"/>
          </p:cNvSpPr>
          <p:nvPr/>
        </p:nvSpPr>
        <p:spPr>
          <a:xfrm>
            <a:off x="723900" y="4124325"/>
            <a:ext cx="2000250" cy="533400"/>
          </a:xfrm>
          <a:prstGeom prst="roundRect">
            <a:avLst>
              <a:gd name="adj" fmla="val 12500"/>
            </a:avLst>
          </a:prstGeom>
          <a:solidFill>
            <a:srgbClr val="D75A64"/>
          </a:solidFill>
          <a:ln w="9525">
            <a:solidFill>
              <a:srgbClr val="D75A64"/>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a:ext uri="{FF2B5EF4-FFF2-40B4-BE49-F238E27FC236}">
                <a16:creationId xmlns:a16="http://schemas.microsoft.com/office/drawing/2014/main" id="{40692C5C-18FE-47B3-8517-F267EF1A8E1E}"/>
              </a:ext>
            </a:extLst>
          </p:cNvPr>
          <p:cNvSpPr>
            <a:spLocks noGrp="1"/>
          </p:cNvSpPr>
          <p:nvPr/>
        </p:nvSpPr>
        <p:spPr>
          <a:xfrm>
            <a:off x="3219450" y="4124325"/>
            <a:ext cx="4476750" cy="5524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a:ext uri="{FF2B5EF4-FFF2-40B4-BE49-F238E27FC236}">
                <a16:creationId xmlns:a16="http://schemas.microsoft.com/office/drawing/2014/main" id="{9524EFB1-9719-40BF-8354-F5C2D1B23685}"/>
              </a:ext>
            </a:extLst>
          </p:cNvPr>
          <p:cNvSpPr>
            <a:spLocks noGrp="1"/>
          </p:cNvSpPr>
          <p:nvPr/>
        </p:nvSpPr>
        <p:spPr>
          <a:xfrm>
            <a:off x="8286750" y="4124325"/>
            <a:ext cx="30480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a:ext uri="{FF2B5EF4-FFF2-40B4-BE49-F238E27FC236}">
                <a16:creationId xmlns:a16="http://schemas.microsoft.com/office/drawing/2014/main" id="{7745F776-E2C8-47F1-BD7C-C493FD2E4B1D}"/>
              </a:ext>
            </a:extLst>
          </p:cNvPr>
          <p:cNvSpPr>
            <a:spLocks noGrp="1"/>
          </p:cNvSpPr>
          <p:nvPr/>
        </p:nvSpPr>
        <p:spPr>
          <a:xfrm>
            <a:off x="685800" y="4752975"/>
            <a:ext cx="10820400" cy="0"/>
          </a:xfrm>
          <a:prstGeom prst="line">
            <a:avLst/>
          </a:prstGeom>
          <a:noFill/>
          <a:ln w="9525">
            <a:solidFill>
              <a:srgbClr val="C9D8E3"/>
            </a:solidFill>
            <a:prstDash val="solid"/>
          </a:ln>
        </p:spPr>
      </p:sp>
      <p:sp>
        <p:nvSpPr>
          <p:cNvPr id="25" name="box-486">
            <a:extLst>
              <a:ext uri="{FF2B5EF4-FFF2-40B4-BE49-F238E27FC236}">
                <a16:creationId xmlns:a16="http://schemas.microsoft.com/office/drawing/2014/main" id="{E78A072B-4A7D-42B1-B32C-B36464E51C30}"/>
              </a:ext>
            </a:extLst>
          </p:cNvPr>
          <p:cNvSpPr>
            <a:spLocks noGrp="1"/>
          </p:cNvSpPr>
          <p:nvPr/>
        </p:nvSpPr>
        <p:spPr>
          <a:xfrm>
            <a:off x="723900" y="4876800"/>
            <a:ext cx="2000250" cy="533400"/>
          </a:xfrm>
          <a:prstGeom prst="roundRect">
            <a:avLst>
              <a:gd name="adj" fmla="val 12500"/>
            </a:avLst>
          </a:prstGeom>
          <a:solidFill>
            <a:srgbClr val="2CA56F"/>
          </a:solidFill>
          <a:ln w="9525">
            <a:solidFill>
              <a:srgbClr val="2CA56F"/>
            </a:solidFill>
            <a:prstDash val="solid"/>
          </a:ln>
        </p:spPr>
        <p:txBody>
          <a:bodyPr lIns="76200" tIns="57150" rIns="76200" bIns="57150" anchor="ctr">
            <a:no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a:ext uri="{FF2B5EF4-FFF2-40B4-BE49-F238E27FC236}">
                <a16:creationId xmlns:a16="http://schemas.microsoft.com/office/drawing/2014/main" id="{17972074-D854-47AE-8708-C814EFC8E736}"/>
              </a:ext>
            </a:extLst>
          </p:cNvPr>
          <p:cNvSpPr>
            <a:spLocks noGrp="1"/>
          </p:cNvSpPr>
          <p:nvPr/>
        </p:nvSpPr>
        <p:spPr>
          <a:xfrm>
            <a:off x="3219450" y="4876800"/>
            <a:ext cx="4476750" cy="552450"/>
          </a:xfrm>
          <a:prstGeom prst="rect">
            <a:avLst/>
          </a:prstGeom>
          <a:noFill/>
          <a:ln w="0">
            <a:noFill/>
            <a:prstDash val="solid"/>
          </a:ln>
        </p:spPr>
        <p:txBody>
          <a:bodyPr wrap="square" lIns="38100" tIns="38100" rIns="38100" bIns="38100" anchor="ctr">
            <a:noAutofit/>
          </a:bodyPr>
          <a:lstStyle/>
          <a:p>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a:ext uri="{FF2B5EF4-FFF2-40B4-BE49-F238E27FC236}">
                <a16:creationId xmlns:a16="http://schemas.microsoft.com/office/drawing/2014/main" id="{858AA293-E557-4EAF-9FA1-697B7AAA2CF1}"/>
              </a:ext>
            </a:extLst>
          </p:cNvPr>
          <p:cNvSpPr>
            <a:spLocks noGrp="1"/>
          </p:cNvSpPr>
          <p:nvPr/>
        </p:nvSpPr>
        <p:spPr>
          <a:xfrm>
            <a:off x="8286750" y="4876800"/>
            <a:ext cx="3048000" cy="552450"/>
          </a:xfrm>
          <a:prstGeom prst="rect">
            <a:avLst/>
          </a:prstGeom>
          <a:noFill/>
          <a:ln w="0">
            <a:noFill/>
            <a:prstDash val="solid"/>
          </a:ln>
        </p:spPr>
        <p:txBody>
          <a:bodyPr wrap="square" lIns="38100" tIns="38100" rIns="38100" bIns="38100" anchor="ctr">
            <a:noAutofit/>
          </a:bodyPr>
          <a:lstStyle/>
          <a:p>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a:ext uri="{FF2B5EF4-FFF2-40B4-BE49-F238E27FC236}">
                <a16:creationId xmlns:a16="http://schemas.microsoft.com/office/drawing/2014/main" id="{F3FB9C40-6AE8-4717-A86E-A1689122E485}"/>
              </a:ext>
            </a:extLst>
          </p:cNvPr>
          <p:cNvSpPr>
            <a:spLocks noGrp="1"/>
          </p:cNvSpPr>
          <p:nvPr/>
        </p:nvSpPr>
        <p:spPr>
          <a:xfrm>
            <a:off x="685800" y="5505450"/>
            <a:ext cx="10820400" cy="0"/>
          </a:xfrm>
          <a:prstGeom prst="line">
            <a:avLst/>
          </a:prstGeom>
          <a:noFill/>
          <a:ln w="9525">
            <a:solidFill>
              <a:srgbClr val="C9D8E3"/>
            </a:solidFill>
            <a:prstDash val="solid"/>
          </a:ln>
        </p:spPr>
      </p:sp>
      <p:sp>
        <p:nvSpPr>
          <p:cNvPr id="29" name="box-490">
            <a:extLst>
              <a:ext uri="{FF2B5EF4-FFF2-40B4-BE49-F238E27FC236}">
                <a16:creationId xmlns:a16="http://schemas.microsoft.com/office/drawing/2014/main" id="{D8530848-4E3B-4AA5-B6B0-2A9032732551}"/>
              </a:ext>
            </a:extLst>
          </p:cNvPr>
          <p:cNvSpPr>
            <a:spLocks noGrp="1"/>
          </p:cNvSpPr>
          <p:nvPr/>
        </p:nvSpPr>
        <p:spPr>
          <a:xfrm>
            <a:off x="1333500" y="5753100"/>
            <a:ext cx="9525000" cy="476250"/>
          </a:xfrm>
          <a:prstGeom prst="roundRect">
            <a:avLst>
              <a:gd name="adj" fmla="val 16000"/>
            </a:avLst>
          </a:prstGeom>
          <a:solidFill>
            <a:srgbClr val="0B2438"/>
          </a:solidFill>
          <a:ln w="9525">
            <a:solidFill>
              <a:srgbClr val="0B2438"/>
            </a:solidFill>
            <a:prstDash val="solid"/>
          </a:ln>
        </p:spPr>
        <p:txBody>
          <a:bodyPr lIns="76200" tIns="57150" rIns="76200" bIns="57150" anchor="ctr">
            <a:noAutofit/>
          </a:bodyPr>
          <a:lstStyle/>
          <a:p>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23" name="section-490">
            <a:extLst>
              <a:ext uri="{FF2B5EF4-FFF2-40B4-BE49-F238E27FC236}">
                <a16:creationId xmlns:a16="http://schemas.microsoft.com/office/drawing/2014/main" id="{1517FAAE-DDA5-486D-A3C7-FB586788CA6E}"/>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a:ext uri="{FF2B5EF4-FFF2-40B4-BE49-F238E27FC236}">
                <a16:creationId xmlns:a16="http://schemas.microsoft.com/office/drawing/2014/main" id="{4B9B1F30-DE5E-4DCB-A220-1CA7AF0D7E34}"/>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a:ext uri="{FF2B5EF4-FFF2-40B4-BE49-F238E27FC236}">
                <a16:creationId xmlns:a16="http://schemas.microsoft.com/office/drawing/2014/main" id="{4499C323-8AAD-4703-8814-D4AED6239951}"/>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492">
            <a:extLst>
              <a:ext uri="{FF2B5EF4-FFF2-40B4-BE49-F238E27FC236}">
                <a16:creationId xmlns:a16="http://schemas.microsoft.com/office/drawing/2014/main" id="{F3B165B8-FCB8-4777-A161-96DF4EF4F2C3}"/>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a:ext uri="{FF2B5EF4-FFF2-40B4-BE49-F238E27FC236}">
                <a16:creationId xmlns:a16="http://schemas.microsoft.com/office/drawing/2014/main" id="{FC3641C8-8D37-4421-8615-0D5A2A9CC82D}"/>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pic>
        <p:nvPicPr>
          <p:cNvPr id="9" name="Picture 8" descr="Actual desktop training evidence-chain summary">
            <a:extLst>
              <a:ext uri="{FF2B5EF4-FFF2-40B4-BE49-F238E27FC236}">
                <a16:creationId xmlns:a16="http://schemas.microsoft.com/office/drawing/2014/main" id="{08F4D3CC-BA03-34D1-6F8E-D8C45D1BBA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2766" y="1422400"/>
            <a:ext cx="7446468" cy="4292600"/>
          </a:xfrm>
          <a:prstGeom prst="rect">
            <a:avLst/>
          </a:prstGeom>
          <a:ln w="15875">
            <a:solidFill>
              <a:srgbClr val="2AB5C4"/>
            </a:solidFill>
          </a:ln>
        </p:spPr>
      </p:pic>
      <p:sp>
        <p:nvSpPr>
          <p:cNvPr id="10" name="V2 Artifact Caption">
            <a:extLst>
              <a:ext uri="{FF2B5EF4-FFF2-40B4-BE49-F238E27FC236}">
                <a16:creationId xmlns:a16="http://schemas.microsoft.com/office/drawing/2014/main" id="{E85BD6EC-B8DC-DF0F-AD45-4808A48CC38C}"/>
              </a:ext>
            </a:extLst>
          </p:cNvPr>
          <p:cNvSpPr txBox="1"/>
          <p:nvPr/>
        </p:nvSpPr>
        <p:spPr>
          <a:xfrm>
            <a:off x="889000" y="5862766"/>
            <a:ext cx="10414000" cy="192360"/>
          </a:xfrm>
          <a:prstGeom prst="rect">
            <a:avLst/>
          </a:prstGeom>
          <a:noFill/>
        </p:spPr>
        <p:txBody>
          <a:bodyPr vert="horz" lIns="0" tIns="0" rIns="0" bIns="0" rtlCol="0" anchor="ctr">
            <a:spAutoFit/>
          </a:bodyPr>
          <a:lstStyle/>
          <a:p>
            <a:pPr algn="ctr"/>
            <a:r>
              <a:rPr lang="en-US" sz="1250" b="1">
                <a:solidFill>
                  <a:srgbClr val="69DCE6"/>
                </a:solidFill>
                <a:latin typeface="Aptos" panose="020B0004020202020204" pitchFamily="34" charset="0"/>
              </a:rPr>
              <a:t>Verified desktop training chain • no Jenkins or HIL execution claimed</a:t>
            </a:r>
          </a:p>
        </p:txBody>
      </p:sp>
    </p:spTree>
    <p:extLst>
      <p:ext uri="{BB962C8B-B14F-4D97-AF65-F5344CB8AC3E}">
        <p14:creationId xmlns:p14="http://schemas.microsoft.com/office/powerpoint/2010/main" val="807636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1521"/>
        </a:solidFill>
        <a:effectLst/>
      </p:bgPr>
    </p:bg>
    <p:spTree>
      <p:nvGrpSpPr>
        <p:cNvPr id="1" name=""/>
        <p:cNvGrpSpPr/>
        <p:nvPr/>
      </p:nvGrpSpPr>
      <p:grpSpPr>
        <a:xfrm>
          <a:off x="0" y="0"/>
          <a:ext cx="0" cy="0"/>
          <a:chOff x="0" y="0"/>
          <a:chExt cx="0" cy="0"/>
        </a:xfrm>
      </p:grpSpPr>
      <p:sp>
        <p:nvSpPr>
          <p:cNvPr id="17" name="section-503">
            <a:extLst>
              <a:ext uri="{FF2B5EF4-FFF2-40B4-BE49-F238E27FC236}">
                <a16:creationId xmlns:a16="http://schemas.microsoft.com/office/drawing/2014/main" id="{B9339CC5-0322-4A6D-A398-EC17103D7BD4}"/>
              </a:ext>
            </a:extLst>
          </p:cNvPr>
          <p:cNvSpPr>
            <a:spLocks noGrp="1"/>
          </p:cNvSpPr>
          <p:nvPr/>
        </p:nvSpPr>
        <p:spPr>
          <a:xfrm>
            <a:off x="685800" y="323850"/>
            <a:ext cx="7239000" cy="228600"/>
          </a:xfrm>
          <a:prstGeom prst="rect">
            <a:avLst/>
          </a:prstGeom>
          <a:noFill/>
          <a:ln w="0">
            <a:noFill/>
            <a:prstDash val="solid"/>
          </a:ln>
        </p:spPr>
        <p:txBody>
          <a:bodyPr wrap="square" lIns="38100" tIns="38100" rIns="38100" bIns="38100" anchor="t">
            <a:noAutofit/>
          </a:bodyPr>
          <a:lstStyle/>
          <a:p>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a:ext uri="{FF2B5EF4-FFF2-40B4-BE49-F238E27FC236}">
                <a16:creationId xmlns:a16="http://schemas.microsoft.com/office/drawing/2014/main" id="{9704C947-B76A-4532-85E2-375167EE132E}"/>
              </a:ext>
            </a:extLst>
          </p:cNvPr>
          <p:cNvSpPr>
            <a:spLocks noGrp="1"/>
          </p:cNvSpPr>
          <p:nvPr/>
        </p:nvSpPr>
        <p:spPr>
          <a:xfrm>
            <a:off x="685800" y="590550"/>
            <a:ext cx="10820400" cy="552450"/>
          </a:xfrm>
          <a:prstGeom prst="rect">
            <a:avLst/>
          </a:prstGeom>
          <a:noFill/>
          <a:ln w="0">
            <a:noFill/>
            <a:prstDash val="solid"/>
          </a:ln>
        </p:spPr>
        <p:txBody>
          <a:bodyPr wrap="square" lIns="38100" tIns="38100" rIns="38100" bIns="38100" anchor="t">
            <a:noAutofit/>
          </a:bodyPr>
          <a:lstStyle/>
          <a:p>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Align behavior, interfaces, and evidence</a:t>
            </a:r>
          </a:p>
        </p:txBody>
      </p:sp>
      <p:sp>
        <p:nvSpPr>
          <p:cNvPr id="3" name="line-504">
            <a:extLst>
              <a:ext uri="{FF2B5EF4-FFF2-40B4-BE49-F238E27FC236}">
                <a16:creationId xmlns:a16="http://schemas.microsoft.com/office/drawing/2014/main" id="{B537E2FC-7C16-47EA-9D18-66A638AC3B6B}"/>
              </a:ext>
            </a:extLst>
          </p:cNvPr>
          <p:cNvSpPr>
            <a:spLocks noGrp="1"/>
          </p:cNvSpPr>
          <p:nvPr/>
        </p:nvSpPr>
        <p:spPr>
          <a:xfrm>
            <a:off x="685800" y="1200150"/>
            <a:ext cx="10820400" cy="0"/>
          </a:xfrm>
          <a:prstGeom prst="line">
            <a:avLst/>
          </a:prstGeom>
          <a:noFill/>
          <a:ln w="14288">
            <a:solidFill>
              <a:srgbClr val="143A55"/>
            </a:solidFill>
            <a:prstDash val="solid"/>
          </a:ln>
        </p:spPr>
      </p:sp>
      <p:sp>
        <p:nvSpPr>
          <p:cNvPr id="4" name="text-505">
            <a:extLst>
              <a:ext uri="{FF2B5EF4-FFF2-40B4-BE49-F238E27FC236}">
                <a16:creationId xmlns:a16="http://schemas.microsoft.com/office/drawing/2014/main" id="{5F8E862E-2A9D-4EAA-A06D-8B57A7FB4A7A}"/>
              </a:ext>
            </a:extLst>
          </p:cNvPr>
          <p:cNvSpPr>
            <a:spLocks noGrp="1"/>
          </p:cNvSpPr>
          <p:nvPr/>
        </p:nvSpPr>
        <p:spPr>
          <a:xfrm>
            <a:off x="685800" y="6457950"/>
            <a:ext cx="4953000" cy="190500"/>
          </a:xfrm>
          <a:prstGeom prst="rect">
            <a:avLst/>
          </a:prstGeom>
          <a:noFill/>
          <a:ln w="0">
            <a:noFill/>
            <a:prstDash val="solid"/>
          </a:ln>
        </p:spPr>
        <p:txBody>
          <a:bodyPr wrap="square" lIns="0" tIns="0" rIns="0" bIns="0" anchor="t">
            <a:noAutofit/>
          </a:bodyPr>
          <a:lstStyle/>
          <a:p>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506">
            <a:extLst>
              <a:ext uri="{FF2B5EF4-FFF2-40B4-BE49-F238E27FC236}">
                <a16:creationId xmlns:a16="http://schemas.microsoft.com/office/drawing/2014/main" id="{3165F452-01A1-43F2-A507-7EF8382BC229}"/>
              </a:ext>
            </a:extLst>
          </p:cNvPr>
          <p:cNvSpPr>
            <a:spLocks noGrp="1"/>
          </p:cNvSpPr>
          <p:nvPr/>
        </p:nvSpPr>
        <p:spPr>
          <a:xfrm>
            <a:off x="11010900" y="6438900"/>
            <a:ext cx="495300" cy="209550"/>
          </a:xfrm>
          <a:prstGeom prst="rect">
            <a:avLst/>
          </a:prstGeom>
          <a:noFill/>
          <a:ln w="0">
            <a:noFill/>
            <a:prstDash val="solid"/>
          </a:ln>
        </p:spPr>
        <p:txBody>
          <a:bodyPr wrap="square" lIns="0" tIns="0" rIns="0" bIns="0" anchor="t">
            <a:noAutofit/>
          </a:bodyPr>
          <a:lstStyle/>
          <a:p>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sp>
        <p:nvSpPr>
          <p:cNvPr id="6" name="text-507">
            <a:extLst>
              <a:ext uri="{FF2B5EF4-FFF2-40B4-BE49-F238E27FC236}">
                <a16:creationId xmlns:a16="http://schemas.microsoft.com/office/drawing/2014/main" id="{0E700A0F-2F94-4602-96B5-4956814AF4A9}"/>
              </a:ext>
            </a:extLst>
          </p:cNvPr>
          <p:cNvSpPr>
            <a:spLocks noGrp="1"/>
          </p:cNvSpPr>
          <p:nvPr/>
        </p:nvSpPr>
        <p:spPr>
          <a:xfrm>
            <a:off x="819150" y="1504950"/>
            <a:ext cx="4667250" cy="28575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a:ext uri="{FF2B5EF4-FFF2-40B4-BE49-F238E27FC236}">
                <a16:creationId xmlns:a16="http://schemas.microsoft.com/office/drawing/2014/main" id="{7CDF9D49-08B8-4DAF-9CB9-8F1822EEB39C}"/>
              </a:ext>
            </a:extLst>
          </p:cNvPr>
          <p:cNvSpPr>
            <a:spLocks noGrp="1"/>
          </p:cNvSpPr>
          <p:nvPr/>
        </p:nvSpPr>
        <p:spPr>
          <a:xfrm>
            <a:off x="781050" y="1981200"/>
            <a:ext cx="5334000" cy="2857500"/>
          </a:xfrm>
          <a:prstGeom prst="rect">
            <a:avLst/>
          </a:prstGeom>
          <a:noFill/>
          <a:ln w="0">
            <a:noFill/>
            <a:prstDash val="solid"/>
          </a:ln>
        </p:spPr>
        <p:txBody>
          <a:bodyPr wrap="square" lIns="19050" tIns="0" rIns="19050" bIns="0" anchor="t">
            <a:noAutofit/>
          </a:bodyPr>
          <a:lstStyle/>
          <a:p>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a:ext uri="{FF2B5EF4-FFF2-40B4-BE49-F238E27FC236}">
                <a16:creationId xmlns:a16="http://schemas.microsoft.com/office/drawing/2014/main" id="{053DB801-A2B8-4C10-AD1C-B7D824EDB3E7}"/>
              </a:ext>
            </a:extLst>
          </p:cNvPr>
          <p:cNvSpPr>
            <a:spLocks noGrp="1"/>
          </p:cNvSpPr>
          <p:nvPr/>
        </p:nvSpPr>
        <p:spPr>
          <a:xfrm>
            <a:off x="6286500" y="1504950"/>
            <a:ext cx="0" cy="3600450"/>
          </a:xfrm>
          <a:prstGeom prst="line">
            <a:avLst/>
          </a:prstGeom>
          <a:noFill/>
          <a:ln w="19050">
            <a:solidFill>
              <a:srgbClr val="143A55"/>
            </a:solidFill>
            <a:prstDash val="solid"/>
          </a:ln>
        </p:spPr>
      </p:sp>
      <p:sp>
        <p:nvSpPr>
          <p:cNvPr id="9" name="text-510">
            <a:extLst>
              <a:ext uri="{FF2B5EF4-FFF2-40B4-BE49-F238E27FC236}">
                <a16:creationId xmlns:a16="http://schemas.microsoft.com/office/drawing/2014/main" id="{3EDDC643-C96B-4F44-BE46-191A5A6458BE}"/>
              </a:ext>
            </a:extLst>
          </p:cNvPr>
          <p:cNvSpPr>
            <a:spLocks noGrp="1"/>
          </p:cNvSpPr>
          <p:nvPr/>
        </p:nvSpPr>
        <p:spPr>
          <a:xfrm>
            <a:off x="6858000" y="1504950"/>
            <a:ext cx="4095750" cy="285750"/>
          </a:xfrm>
          <a:prstGeom prst="rect">
            <a:avLst/>
          </a:prstGeom>
          <a:noFill/>
          <a:ln w="0">
            <a:noFill/>
            <a:prstDash val="solid"/>
          </a:ln>
        </p:spPr>
        <p:txBody>
          <a:bodyPr wrap="square" lIns="38100" tIns="38100" rIns="38100" bIns="38100" anchor="t">
            <a:noAutofit/>
          </a:bodyPr>
          <a:lstStyle/>
          <a:p>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30 DAYS</a:t>
            </a:r>
          </a:p>
        </p:txBody>
      </p:sp>
      <p:sp>
        <p:nvSpPr>
          <p:cNvPr id="10" name="box-511">
            <a:extLst>
              <a:ext uri="{FF2B5EF4-FFF2-40B4-BE49-F238E27FC236}">
                <a16:creationId xmlns:a16="http://schemas.microsoft.com/office/drawing/2014/main" id="{5EF92CC0-FA7A-4292-8844-30171E3C92EA}"/>
              </a:ext>
            </a:extLst>
          </p:cNvPr>
          <p:cNvSpPr>
            <a:spLocks noGrp="1"/>
          </p:cNvSpPr>
          <p:nvPr/>
        </p:nvSpPr>
        <p:spPr>
          <a:xfrm>
            <a:off x="6858000" y="1981200"/>
            <a:ext cx="4381500" cy="419100"/>
          </a:xfrm>
          <a:prstGeom prst="roundRect">
            <a:avLst>
              <a:gd name="adj" fmla="val 13636"/>
            </a:avLst>
          </a:prstGeom>
          <a:solidFill>
            <a:srgbClr val="0B2438"/>
          </a:solidFill>
          <a:ln w="9525">
            <a:solidFill>
              <a:srgbClr val="143A55"/>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01  open the project correctly</a:t>
            </a:r>
          </a:p>
        </p:txBody>
      </p:sp>
      <p:sp>
        <p:nvSpPr>
          <p:cNvPr id="11" name="box-512">
            <a:extLst>
              <a:ext uri="{FF2B5EF4-FFF2-40B4-BE49-F238E27FC236}">
                <a16:creationId xmlns:a16="http://schemas.microsoft.com/office/drawing/2014/main" id="{0552A155-2C11-438A-9BBE-B8BD5615C51F}"/>
              </a:ext>
            </a:extLst>
          </p:cNvPr>
          <p:cNvSpPr>
            <a:spLocks noGrp="1"/>
          </p:cNvSpPr>
          <p:nvPr/>
        </p:nvSpPr>
        <p:spPr>
          <a:xfrm>
            <a:off x="6858000" y="2533650"/>
            <a:ext cx="4381500" cy="419100"/>
          </a:xfrm>
          <a:prstGeom prst="roundRect">
            <a:avLst>
              <a:gd name="adj" fmla="val 13636"/>
            </a:avLst>
          </a:prstGeom>
          <a:solidFill>
            <a:srgbClr val="0B2438"/>
          </a:solidFill>
          <a:ln w="9525">
            <a:solidFill>
              <a:srgbClr val="143A55"/>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02  trace one requirement end-to-end</a:t>
            </a:r>
          </a:p>
        </p:txBody>
      </p:sp>
      <p:sp>
        <p:nvSpPr>
          <p:cNvPr id="12" name="box-513">
            <a:extLst>
              <a:ext uri="{FF2B5EF4-FFF2-40B4-BE49-F238E27FC236}">
                <a16:creationId xmlns:a16="http://schemas.microsoft.com/office/drawing/2014/main" id="{59EB19FF-2FCB-4B3B-A2EE-1FCF1ABB3800}"/>
              </a:ext>
            </a:extLst>
          </p:cNvPr>
          <p:cNvSpPr>
            <a:spLocks noGrp="1"/>
          </p:cNvSpPr>
          <p:nvPr/>
        </p:nvSpPr>
        <p:spPr>
          <a:xfrm>
            <a:off x="6858000" y="3086100"/>
            <a:ext cx="4381500" cy="419100"/>
          </a:xfrm>
          <a:prstGeom prst="roundRect">
            <a:avLst>
              <a:gd name="adj" fmla="val 13636"/>
            </a:avLst>
          </a:prstGeom>
          <a:solidFill>
            <a:srgbClr val="0B2438"/>
          </a:solidFill>
          <a:ln w="9525">
            <a:solidFill>
              <a:srgbClr val="143A55"/>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03  modify one small component</a:t>
            </a:r>
          </a:p>
        </p:txBody>
      </p:sp>
      <p:sp>
        <p:nvSpPr>
          <p:cNvPr id="13" name="box-514">
            <a:extLst>
              <a:ext uri="{FF2B5EF4-FFF2-40B4-BE49-F238E27FC236}">
                <a16:creationId xmlns:a16="http://schemas.microsoft.com/office/drawing/2014/main" id="{86DE6C69-5797-46A0-83DA-A03DD80F58F4}"/>
              </a:ext>
            </a:extLst>
          </p:cNvPr>
          <p:cNvSpPr>
            <a:spLocks noGrp="1"/>
          </p:cNvSpPr>
          <p:nvPr/>
        </p:nvSpPr>
        <p:spPr>
          <a:xfrm>
            <a:off x="6858000" y="3638550"/>
            <a:ext cx="4381500" cy="419100"/>
          </a:xfrm>
          <a:prstGeom prst="roundRect">
            <a:avLst>
              <a:gd name="adj" fmla="val 13636"/>
            </a:avLst>
          </a:prstGeom>
          <a:solidFill>
            <a:srgbClr val="0B2438"/>
          </a:solidFill>
          <a:ln w="9525">
            <a:solidFill>
              <a:srgbClr val="143A55"/>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04  add one boundary test</a:t>
            </a:r>
          </a:p>
        </p:txBody>
      </p:sp>
      <p:sp>
        <p:nvSpPr>
          <p:cNvPr id="14" name="box-515">
            <a:extLst>
              <a:ext uri="{FF2B5EF4-FFF2-40B4-BE49-F238E27FC236}">
                <a16:creationId xmlns:a16="http://schemas.microsoft.com/office/drawing/2014/main" id="{E0F4BD95-2774-4FE4-8D94-374A28C3E8E5}"/>
              </a:ext>
            </a:extLst>
          </p:cNvPr>
          <p:cNvSpPr>
            <a:spLocks noGrp="1"/>
          </p:cNvSpPr>
          <p:nvPr/>
        </p:nvSpPr>
        <p:spPr>
          <a:xfrm>
            <a:off x="6858000" y="4191000"/>
            <a:ext cx="4381500" cy="419100"/>
          </a:xfrm>
          <a:prstGeom prst="roundRect">
            <a:avLst>
              <a:gd name="adj" fmla="val 13636"/>
            </a:avLst>
          </a:prstGeom>
          <a:solidFill>
            <a:srgbClr val="0B2438"/>
          </a:solidFill>
          <a:ln w="9525">
            <a:solidFill>
              <a:srgbClr val="143A55"/>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05  reproduce one CI failure locally</a:t>
            </a:r>
          </a:p>
        </p:txBody>
      </p:sp>
      <p:sp>
        <p:nvSpPr>
          <p:cNvPr id="15" name="box-516">
            <a:extLst>
              <a:ext uri="{FF2B5EF4-FFF2-40B4-BE49-F238E27FC236}">
                <a16:creationId xmlns:a16="http://schemas.microsoft.com/office/drawing/2014/main" id="{0815572C-20E2-4D01-B52E-5E58F8BCEE66}"/>
              </a:ext>
            </a:extLst>
          </p:cNvPr>
          <p:cNvSpPr>
            <a:spLocks noGrp="1"/>
          </p:cNvSpPr>
          <p:nvPr/>
        </p:nvSpPr>
        <p:spPr>
          <a:xfrm>
            <a:off x="6858000" y="4743450"/>
            <a:ext cx="4381500" cy="419100"/>
          </a:xfrm>
          <a:prstGeom prst="roundRect">
            <a:avLst>
              <a:gd name="adj" fmla="val 13636"/>
            </a:avLst>
          </a:prstGeom>
          <a:solidFill>
            <a:srgbClr val="10372A"/>
          </a:solidFill>
          <a:ln w="9525">
            <a:solidFill>
              <a:srgbClr val="2CA56F"/>
            </a:solidFill>
            <a:prstDash val="solid"/>
          </a:ln>
        </p:spPr>
        <p:txBody>
          <a:bodyPr lIns="133350" tIns="28575" rIns="76200" bIns="28575" anchor="ctr">
            <a:noAutofit/>
          </a:bodyPr>
          <a:lstStyle/>
          <a:p>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06  observe one HIL run + evidence review</a:t>
            </a:r>
          </a:p>
        </p:txBody>
      </p:sp>
      <p:sp>
        <p:nvSpPr>
          <p:cNvPr id="16" name="box-517">
            <a:extLst>
              <a:ext uri="{FF2B5EF4-FFF2-40B4-BE49-F238E27FC236}">
                <a16:creationId xmlns:a16="http://schemas.microsoft.com/office/drawing/2014/main" id="{4C86E091-2C53-4EF0-83CC-1406EE6AA817}"/>
              </a:ext>
            </a:extLst>
          </p:cNvPr>
          <p:cNvSpPr>
            <a:spLocks noGrp="1"/>
          </p:cNvSpPr>
          <p:nvPr/>
        </p:nvSpPr>
        <p:spPr>
          <a:xfrm>
            <a:off x="1238250" y="5619750"/>
            <a:ext cx="9715500" cy="552450"/>
          </a:xfrm>
          <a:prstGeom prst="roundRect">
            <a:avLst>
              <a:gd name="adj" fmla="val 13793"/>
            </a:avLst>
          </a:prstGeom>
          <a:solidFill>
            <a:srgbClr val="20B7C5"/>
          </a:solidFill>
          <a:ln w="9525">
            <a:solidFill>
              <a:srgbClr val="20B7C5"/>
            </a:solidFill>
            <a:prstDash val="solid"/>
          </a:ln>
        </p:spPr>
        <p:txBody>
          <a:bodyPr lIns="76200" tIns="57150" rIns="76200" bIns="57150" anchor="ctr">
            <a:noAutofit/>
          </a:bodyPr>
          <a:lstStyle/>
          <a:p>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When the chain is unbroken, certification becomes a review of evidence—not a rescue project.</a:t>
            </a:r>
          </a:p>
        </p:txBody>
      </p:sp>
    </p:spTree>
    <p:extLst>
      <p:ext uri="{BB962C8B-B14F-4D97-AF65-F5344CB8AC3E}">
        <p14:creationId xmlns:p14="http://schemas.microsoft.com/office/powerpoint/2010/main" val="3928484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13426</Words>
  <Application>Microsoft Office PowerPoint</Application>
  <DocSecurity>0</DocSecurity>
  <PresentationFormat>Widescreen</PresentationFormat>
  <Paragraphs>1100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Nathaniel Tyler</cp:lastModifiedBy>
  <cp:revision>3</cp:revision>
  <dcterms:created xsi:type="dcterms:W3CDTF">2026-08-26T16:52:24Z</dcterms:created>
  <dcterms:modified xsi:type="dcterms:W3CDTF">2026-08-26T19:55:29Z</dcterms:modified>
</cp:coreProperties>
</file>