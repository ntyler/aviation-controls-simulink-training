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eb1d24f4a54ff9" /><Relationship Type="http://schemas.openxmlformats.org/officeDocument/2006/relationships/extended-properties" Target="/docProps/app.xml" Id="R2ac34c7f682e4b2c" /><Relationship Type="http://schemas.openxmlformats.org/officeDocument/2006/relationships/officeDocument" Target="/ppt/presentation.xml" Id="R33b652f27b604095" /></Relationships>
</file>

<file path=ppt/presentation.xml><?xml version="1.0" encoding="utf-8"?>
<p:presentation xmlns:p="http://schemas.openxmlformats.org/presentationml/2006/main">
  <p:sldMasterIdLst>
    <p:sldMasterId xmlns:r="http://schemas.openxmlformats.org/officeDocument/2006/relationships" id="2147483648" r:id="R947a9c12cbd94142"/>
  </p:sldMasterIdLst>
  <p:notesMasterIdLst>
    <p:notesMasterId xmlns:r="http://schemas.openxmlformats.org/officeDocument/2006/relationships" r:id="R23d76800c1bb442f"/>
  </p:notesMasterIdLst>
  <p:sldIdLst>
    <p:sldId xmlns:r="http://schemas.openxmlformats.org/officeDocument/2006/relationships" id="256" r:id="R920dae85e4f44457"/>
    <p:sldId xmlns:r="http://schemas.openxmlformats.org/officeDocument/2006/relationships" id="257" r:id="R1b3d338e8663455b"/>
    <p:sldId xmlns:r="http://schemas.openxmlformats.org/officeDocument/2006/relationships" id="258" r:id="R1feb5efc28434d02"/>
    <p:sldId xmlns:r="http://schemas.openxmlformats.org/officeDocument/2006/relationships" id="259" r:id="R93d41267abc84a05"/>
    <p:sldId xmlns:r="http://schemas.openxmlformats.org/officeDocument/2006/relationships" id="260" r:id="R951e980c77db4504"/>
    <p:sldId xmlns:r="http://schemas.openxmlformats.org/officeDocument/2006/relationships" id="261" r:id="R18f58f755bfa4d6f"/>
    <p:sldId xmlns:r="http://schemas.openxmlformats.org/officeDocument/2006/relationships" id="262" r:id="R37750098ca68494f"/>
    <p:sldId xmlns:r="http://schemas.openxmlformats.org/officeDocument/2006/relationships" id="263" r:id="R2b68ad2d732242a3"/>
    <p:sldId xmlns:r="http://schemas.openxmlformats.org/officeDocument/2006/relationships" id="264" r:id="Ra8f4e3b413554899"/>
    <p:sldId xmlns:r="http://schemas.openxmlformats.org/officeDocument/2006/relationships" id="265" r:id="R16b7d7a72e6d41b0"/>
    <p:sldId xmlns:r="http://schemas.openxmlformats.org/officeDocument/2006/relationships" id="266" r:id="R352a6b6edb5a4204"/>
    <p:sldId xmlns:r="http://schemas.openxmlformats.org/officeDocument/2006/relationships" id="267" r:id="R5ed2eee0c923441b"/>
    <p:sldId xmlns:r="http://schemas.openxmlformats.org/officeDocument/2006/relationships" id="268" r:id="R0c9d2105f5ad4336"/>
    <p:sldId xmlns:r="http://schemas.openxmlformats.org/officeDocument/2006/relationships" id="269" r:id="R4e944d8b875f4ef0"/>
    <p:sldId xmlns:r="http://schemas.openxmlformats.org/officeDocument/2006/relationships" id="270" r:id="R6b3a444a0f3f44ed"/>
    <p:sldId xmlns:r="http://schemas.openxmlformats.org/officeDocument/2006/relationships" id="271" r:id="R64aa3b4fe9c24113"/>
    <p:sldId xmlns:r="http://schemas.openxmlformats.org/officeDocument/2006/relationships" id="272" r:id="R3dd4715a704a4c1e"/>
    <p:sldId xmlns:r="http://schemas.openxmlformats.org/officeDocument/2006/relationships" id="273" r:id="Raf2cf575d4f644c7"/>
    <p:sldId xmlns:r="http://schemas.openxmlformats.org/officeDocument/2006/relationships" id="274" r:id="R139abce8334f46a9"/>
    <p:sldId xmlns:r="http://schemas.openxmlformats.org/officeDocument/2006/relationships" id="275" r:id="Rbbb2f308b4da47df"/>
    <p:sldId xmlns:r="http://schemas.openxmlformats.org/officeDocument/2006/relationships" id="276" r:id="R95506300ed0e4cf6"/>
    <p:sldId xmlns:r="http://schemas.openxmlformats.org/officeDocument/2006/relationships" id="277" r:id="R17ec22ea8e004b75"/>
    <p:sldId xmlns:r="http://schemas.openxmlformats.org/officeDocument/2006/relationships" id="278" r:id="R438fba51bc954671"/>
    <p:sldId xmlns:r="http://schemas.openxmlformats.org/officeDocument/2006/relationships" id="279" r:id="Rd60c9273be3a41fe"/>
    <p:sldId xmlns:r="http://schemas.openxmlformats.org/officeDocument/2006/relationships" id="280" r:id="R7103f1b191d6447a"/>
    <p:sldId xmlns:r="http://schemas.openxmlformats.org/officeDocument/2006/relationships" id="281" r:id="Re1ca85c355a44977"/>
    <p:sldId xmlns:r="http://schemas.openxmlformats.org/officeDocument/2006/relationships" id="282" r:id="Rf63e482bc2a243bf"/>
    <p:sldId xmlns:r="http://schemas.openxmlformats.org/officeDocument/2006/relationships" id="283" r:id="R7ca87fc0f9a44035"/>
    <p:sldId xmlns:r="http://schemas.openxmlformats.org/officeDocument/2006/relationships" id="284" r:id="Racb08ce2a32f4985"/>
    <p:sldId xmlns:r="http://schemas.openxmlformats.org/officeDocument/2006/relationships" id="285" r:id="Rfdffaab610c64d83"/>
    <p:sldId xmlns:r="http://schemas.openxmlformats.org/officeDocument/2006/relationships" id="286" r:id="R4711d35e72524205"/>
    <p:sldId xmlns:r="http://schemas.openxmlformats.org/officeDocument/2006/relationships" id="287" r:id="Rea3ca378ee1d434c"/>
    <p:sldId xmlns:r="http://schemas.openxmlformats.org/officeDocument/2006/relationships" id="288" r:id="R185e87b5706c48cb"/>
    <p:sldId xmlns:r="http://schemas.openxmlformats.org/officeDocument/2006/relationships" id="289" r:id="Rc64322fb33d4479f"/>
    <p:sldId xmlns:r="http://schemas.openxmlformats.org/officeDocument/2006/relationships" id="290" r:id="Re1a6ef078f9b4b8f"/>
    <p:sldId xmlns:r="http://schemas.openxmlformats.org/officeDocument/2006/relationships" id="291" r:id="R3e32fa09d5074a5e"/>
    <p:sldId xmlns:r="http://schemas.openxmlformats.org/officeDocument/2006/relationships" id="292" r:id="R5d53bd592e514449"/>
    <p:sldId xmlns:r="http://schemas.openxmlformats.org/officeDocument/2006/relationships" id="293" r:id="R5e9d9c6e90694920"/>
    <p:sldId xmlns:r="http://schemas.openxmlformats.org/officeDocument/2006/relationships" id="294" r:id="R4746bde33505405d"/>
    <p:sldId xmlns:r="http://schemas.openxmlformats.org/officeDocument/2006/relationships" id="295" r:id="R26770e9314724bf0"/>
    <p:sldId xmlns:r="http://schemas.openxmlformats.org/officeDocument/2006/relationships" id="296" r:id="Rcd81c15a5d6449a8"/>
    <p:sldId xmlns:r="http://schemas.openxmlformats.org/officeDocument/2006/relationships" id="297" r:id="R6a7efcf54ed345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4409d2554ed4102" /><Relationship Type="http://schemas.openxmlformats.org/officeDocument/2006/relationships/slideMaster" Target="/ppt/slideMasters/slideMaster1.xml" Id="R947a9c12cbd94142" /><Relationship Type="http://schemas.openxmlformats.org/officeDocument/2006/relationships/notesMaster" Target="/ppt/notesMasters/notesMaster1.xml" Id="R23d76800c1bb442f" /><Relationship Type="http://schemas.openxmlformats.org/officeDocument/2006/relationships/presProps" Target="/ppt/presProps.xml" Id="R430cb4f9c1444560" /><Relationship Type="http://schemas.openxmlformats.org/officeDocument/2006/relationships/viewProps" Target="/ppt/viewProps.xml" Id="R4a7bd767d0254e93" /><Relationship Type="http://schemas.openxmlformats.org/officeDocument/2006/relationships/tableStyles" Target="/ppt/tableStyles.xml" Id="R12c64bb83de24e85" /><Relationship Type="http://schemas.openxmlformats.org/officeDocument/2006/relationships/slide" Target="/ppt/slides/slide1.xml" Id="R920dae85e4f44457" /><Relationship Type="http://schemas.openxmlformats.org/officeDocument/2006/relationships/slide" Target="/ppt/slides/slide2.xml" Id="R1b3d338e8663455b" /><Relationship Type="http://schemas.openxmlformats.org/officeDocument/2006/relationships/slide" Target="/ppt/slides/slide3.xml" Id="R1feb5efc28434d02" /><Relationship Type="http://schemas.openxmlformats.org/officeDocument/2006/relationships/slide" Target="/ppt/slides/slide4.xml" Id="R93d41267abc84a05" /><Relationship Type="http://schemas.openxmlformats.org/officeDocument/2006/relationships/slide" Target="/ppt/slides/slide5.xml" Id="R951e980c77db4504" /><Relationship Type="http://schemas.openxmlformats.org/officeDocument/2006/relationships/slide" Target="/ppt/slides/slide6.xml" Id="R18f58f755bfa4d6f" /><Relationship Type="http://schemas.openxmlformats.org/officeDocument/2006/relationships/slide" Target="/ppt/slides/slide7.xml" Id="R37750098ca68494f" /><Relationship Type="http://schemas.openxmlformats.org/officeDocument/2006/relationships/slide" Target="/ppt/slides/slide8.xml" Id="R2b68ad2d732242a3" /><Relationship Type="http://schemas.openxmlformats.org/officeDocument/2006/relationships/slide" Target="/ppt/slides/slide9.xml" Id="Ra8f4e3b413554899" /><Relationship Type="http://schemas.openxmlformats.org/officeDocument/2006/relationships/slide" Target="/ppt/slides/slide10.xml" Id="R16b7d7a72e6d41b0" /><Relationship Type="http://schemas.openxmlformats.org/officeDocument/2006/relationships/slide" Target="/ppt/slides/slide11.xml" Id="R352a6b6edb5a4204" /><Relationship Type="http://schemas.openxmlformats.org/officeDocument/2006/relationships/slide" Target="/ppt/slides/slide12.xml" Id="R5ed2eee0c923441b" /><Relationship Type="http://schemas.openxmlformats.org/officeDocument/2006/relationships/slide" Target="/ppt/slides/slide13.xml" Id="R0c9d2105f5ad4336" /><Relationship Type="http://schemas.openxmlformats.org/officeDocument/2006/relationships/slide" Target="/ppt/slides/slide14.xml" Id="R4e944d8b875f4ef0" /><Relationship Type="http://schemas.openxmlformats.org/officeDocument/2006/relationships/slide" Target="/ppt/slides/slide15.xml" Id="R6b3a444a0f3f44ed" /><Relationship Type="http://schemas.openxmlformats.org/officeDocument/2006/relationships/slide" Target="/ppt/slides/slide16.xml" Id="R64aa3b4fe9c24113" /><Relationship Type="http://schemas.openxmlformats.org/officeDocument/2006/relationships/slide" Target="/ppt/slides/slide17.xml" Id="R3dd4715a704a4c1e" /><Relationship Type="http://schemas.openxmlformats.org/officeDocument/2006/relationships/slide" Target="/ppt/slides/slide18.xml" Id="Raf2cf575d4f644c7" /><Relationship Type="http://schemas.openxmlformats.org/officeDocument/2006/relationships/slide" Target="/ppt/slides/slide19.xml" Id="R139abce8334f46a9" /><Relationship Type="http://schemas.openxmlformats.org/officeDocument/2006/relationships/slide" Target="/ppt/slides/slide20.xml" Id="Rbbb2f308b4da47df" /><Relationship Type="http://schemas.openxmlformats.org/officeDocument/2006/relationships/slide" Target="/ppt/slides/slide21.xml" Id="R95506300ed0e4cf6" /><Relationship Type="http://schemas.openxmlformats.org/officeDocument/2006/relationships/slide" Target="/ppt/slides/slide22.xml" Id="R17ec22ea8e004b75" /><Relationship Type="http://schemas.openxmlformats.org/officeDocument/2006/relationships/slide" Target="/ppt/slides/slide23.xml" Id="R438fba51bc954671" /><Relationship Type="http://schemas.openxmlformats.org/officeDocument/2006/relationships/slide" Target="/ppt/slides/slide24.xml" Id="Rd60c9273be3a41fe" /><Relationship Type="http://schemas.openxmlformats.org/officeDocument/2006/relationships/slide" Target="/ppt/slides/slide25.xml" Id="R7103f1b191d6447a" /><Relationship Type="http://schemas.openxmlformats.org/officeDocument/2006/relationships/slide" Target="/ppt/slides/slide26.xml" Id="Re1ca85c355a44977" /><Relationship Type="http://schemas.openxmlformats.org/officeDocument/2006/relationships/slide" Target="/ppt/slides/slide27.xml" Id="Rf63e482bc2a243bf" /><Relationship Type="http://schemas.openxmlformats.org/officeDocument/2006/relationships/slide" Target="/ppt/slides/slide28.xml" Id="R7ca87fc0f9a44035" /><Relationship Type="http://schemas.openxmlformats.org/officeDocument/2006/relationships/slide" Target="/ppt/slides/slide29.xml" Id="Racb08ce2a32f4985" /><Relationship Type="http://schemas.openxmlformats.org/officeDocument/2006/relationships/slide" Target="/ppt/slides/slide30.xml" Id="Rfdffaab610c64d83" /><Relationship Type="http://schemas.openxmlformats.org/officeDocument/2006/relationships/slide" Target="/ppt/slides/slide31.xml" Id="R4711d35e72524205" /><Relationship Type="http://schemas.openxmlformats.org/officeDocument/2006/relationships/slide" Target="/ppt/slides/slide32.xml" Id="Rea3ca378ee1d434c" /><Relationship Type="http://schemas.openxmlformats.org/officeDocument/2006/relationships/slide" Target="/ppt/slides/slide33.xml" Id="R185e87b5706c48cb" /><Relationship Type="http://schemas.openxmlformats.org/officeDocument/2006/relationships/slide" Target="/ppt/slides/slide34.xml" Id="Rc64322fb33d4479f" /><Relationship Type="http://schemas.openxmlformats.org/officeDocument/2006/relationships/slide" Target="/ppt/slides/slide35.xml" Id="Re1a6ef078f9b4b8f" /><Relationship Type="http://schemas.openxmlformats.org/officeDocument/2006/relationships/slide" Target="/ppt/slides/slide36.xml" Id="R3e32fa09d5074a5e" /><Relationship Type="http://schemas.openxmlformats.org/officeDocument/2006/relationships/slide" Target="/ppt/slides/slide37.xml" Id="R5d53bd592e514449" /><Relationship Type="http://schemas.openxmlformats.org/officeDocument/2006/relationships/slide" Target="/ppt/slides/slide38.xml" Id="R5e9d9c6e90694920" /><Relationship Type="http://schemas.openxmlformats.org/officeDocument/2006/relationships/slide" Target="/ppt/slides/slide39.xml" Id="R4746bde33505405d" /><Relationship Type="http://schemas.openxmlformats.org/officeDocument/2006/relationships/slide" Target="/ppt/slides/slide40.xml" Id="R26770e9314724bf0" /><Relationship Type="http://schemas.openxmlformats.org/officeDocument/2006/relationships/slide" Target="/ppt/slides/slide41.xml" Id="Rcd81c15a5d6449a8" /><Relationship Type="http://schemas.openxmlformats.org/officeDocument/2006/relationships/slide" Target="/ppt/slides/slide42.xml" Id="R6a7efcf54ed345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9b92325c0d4d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b9e0f4c7f4443b" /><Relationship Type="http://schemas.openxmlformats.org/officeDocument/2006/relationships/notesMaster" Target="/ppt/notesMasters/notesMaster1.xml" Id="R53fac0f5a83a48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00acec61464bf3" /><Relationship Type="http://schemas.openxmlformats.org/officeDocument/2006/relationships/notesMaster" Target="/ppt/notesMasters/notesMaster1.xml" Id="R094939d5c5f149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8a77093bd04a90" /><Relationship Type="http://schemas.openxmlformats.org/officeDocument/2006/relationships/notesMaster" Target="/ppt/notesMasters/notesMaster1.xml" Id="Ra84581d6981f4e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8b4fc4d76c4824" /><Relationship Type="http://schemas.openxmlformats.org/officeDocument/2006/relationships/notesMaster" Target="/ppt/notesMasters/notesMaster1.xml" Id="Ra1b03fdcac3441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f44d8b84884033" /><Relationship Type="http://schemas.openxmlformats.org/officeDocument/2006/relationships/notesMaster" Target="/ppt/notesMasters/notesMaster1.xml" Id="R4645fb04920e47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834e49f61843fa" /><Relationship Type="http://schemas.openxmlformats.org/officeDocument/2006/relationships/notesMaster" Target="/ppt/notesMasters/notesMaster1.xml" Id="R00aa3f790cc246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c7907501514f6f" /><Relationship Type="http://schemas.openxmlformats.org/officeDocument/2006/relationships/notesMaster" Target="/ppt/notesMasters/notesMaster1.xml" Id="Ra9767a7fda2e44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d23a4da6ae41d2" /><Relationship Type="http://schemas.openxmlformats.org/officeDocument/2006/relationships/notesMaster" Target="/ppt/notesMasters/notesMaster1.xml" Id="Rb6fa9f6697b046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21aed2135d45ad" /><Relationship Type="http://schemas.openxmlformats.org/officeDocument/2006/relationships/notesMaster" Target="/ppt/notesMasters/notesMaster1.xml" Id="R173151b35ad841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fb93665b474574" /><Relationship Type="http://schemas.openxmlformats.org/officeDocument/2006/relationships/notesMaster" Target="/ppt/notesMasters/notesMaster1.xml" Id="R127b738c13bb4b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c29bdcdab2419c" /><Relationship Type="http://schemas.openxmlformats.org/officeDocument/2006/relationships/notesMaster" Target="/ppt/notesMasters/notesMaster1.xml" Id="Rd07b057fe38949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c5c74eaa6446dc" /><Relationship Type="http://schemas.openxmlformats.org/officeDocument/2006/relationships/notesMaster" Target="/ppt/notesMasters/notesMaster1.xml" Id="R8d0b7c97c75647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8e7e5768c343ff" /><Relationship Type="http://schemas.openxmlformats.org/officeDocument/2006/relationships/notesMaster" Target="/ppt/notesMasters/notesMaster1.xml" Id="Rd4e17a1877984e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fb93c8beed4596" /><Relationship Type="http://schemas.openxmlformats.org/officeDocument/2006/relationships/notesMaster" Target="/ppt/notesMasters/notesMaster1.xml" Id="Rf012418cf09a418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13368b6d694d69" /><Relationship Type="http://schemas.openxmlformats.org/officeDocument/2006/relationships/notesMaster" Target="/ppt/notesMasters/notesMaster1.xml" Id="R6423e55a460642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a0c5717c0c8413d" /><Relationship Type="http://schemas.openxmlformats.org/officeDocument/2006/relationships/notesMaster" Target="/ppt/notesMasters/notesMaster1.xml" Id="Ra993175295884b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b61e909b3904df6" /><Relationship Type="http://schemas.openxmlformats.org/officeDocument/2006/relationships/notesMaster" Target="/ppt/notesMasters/notesMaster1.xml" Id="R62ea9ea3f9f649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859fc923e4c48dc" /><Relationship Type="http://schemas.openxmlformats.org/officeDocument/2006/relationships/notesMaster" Target="/ppt/notesMasters/notesMaster1.xml" Id="R6cae2b67f94f48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348983207a24539" /><Relationship Type="http://schemas.openxmlformats.org/officeDocument/2006/relationships/notesMaster" Target="/ppt/notesMasters/notesMaster1.xml" Id="R11e9b208e5c341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f45f44e522f4e3a" /><Relationship Type="http://schemas.openxmlformats.org/officeDocument/2006/relationships/notesMaster" Target="/ppt/notesMasters/notesMaster1.xml" Id="R86524c770af245d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81d8868161d4e6f" /><Relationship Type="http://schemas.openxmlformats.org/officeDocument/2006/relationships/notesMaster" Target="/ppt/notesMasters/notesMaster1.xml" Id="Rb0ae22763734419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33eefe5ee294a30" /><Relationship Type="http://schemas.openxmlformats.org/officeDocument/2006/relationships/notesMaster" Target="/ppt/notesMasters/notesMaster1.xml" Id="R49ed485a3802441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aefd308232e4f32" /><Relationship Type="http://schemas.openxmlformats.org/officeDocument/2006/relationships/notesMaster" Target="/ppt/notesMasters/notesMaster1.xml" Id="R026f9deaba4f4fe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375b60da43b4ccc" /><Relationship Type="http://schemas.openxmlformats.org/officeDocument/2006/relationships/notesMaster" Target="/ppt/notesMasters/notesMaster1.xml" Id="R98f42476098c4ac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6f40d8286294f70" /><Relationship Type="http://schemas.openxmlformats.org/officeDocument/2006/relationships/notesMaster" Target="/ppt/notesMasters/notesMaster1.xml" Id="Rcadc4e529bca4ab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97ca85170fc453a" /><Relationship Type="http://schemas.openxmlformats.org/officeDocument/2006/relationships/notesMaster" Target="/ppt/notesMasters/notesMaster1.xml" Id="R7ca3a8bb689e4a9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b4463efb94a4df5" /><Relationship Type="http://schemas.openxmlformats.org/officeDocument/2006/relationships/notesMaster" Target="/ppt/notesMasters/notesMaster1.xml" Id="R3f1ae850bcb9467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5fb097ba0394d71" /><Relationship Type="http://schemas.openxmlformats.org/officeDocument/2006/relationships/notesMaster" Target="/ppt/notesMasters/notesMaster1.xml" Id="Rcdcfee9e7a0d498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220a388e01e4715" /><Relationship Type="http://schemas.openxmlformats.org/officeDocument/2006/relationships/notesMaster" Target="/ppt/notesMasters/notesMaster1.xml" Id="R0508aa410452423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7e119a5cb7a405f" /><Relationship Type="http://schemas.openxmlformats.org/officeDocument/2006/relationships/notesMaster" Target="/ppt/notesMasters/notesMaster1.xml" Id="R80d1a6d2664647d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ccb952bf767411a" /><Relationship Type="http://schemas.openxmlformats.org/officeDocument/2006/relationships/notesMaster" Target="/ppt/notesMasters/notesMaster1.xml" Id="Rb7d5fe7fc1b24c4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4f5baf304de402a" /><Relationship Type="http://schemas.openxmlformats.org/officeDocument/2006/relationships/notesMaster" Target="/ppt/notesMasters/notesMaster1.xml" Id="Rd6eac9cd3add4ff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394b567f57c404b" /><Relationship Type="http://schemas.openxmlformats.org/officeDocument/2006/relationships/notesMaster" Target="/ppt/notesMasters/notesMaster1.xml" Id="R8340519d04904c0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701edc2908c4e10" /><Relationship Type="http://schemas.openxmlformats.org/officeDocument/2006/relationships/notesMaster" Target="/ppt/notesMasters/notesMaster1.xml" Id="Rca91cfd6eb03433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5410b6a47dc464f" /><Relationship Type="http://schemas.openxmlformats.org/officeDocument/2006/relationships/notesMaster" Target="/ppt/notesMasters/notesMaster1.xml" Id="R771689f283314f0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40881c568cf41c9" /><Relationship Type="http://schemas.openxmlformats.org/officeDocument/2006/relationships/notesMaster" Target="/ppt/notesMasters/notesMaster1.xml" Id="R39d194f4ca714a6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dad8d7b57904d31" /><Relationship Type="http://schemas.openxmlformats.org/officeDocument/2006/relationships/notesMaster" Target="/ppt/notesMasters/notesMaster1.xml" Id="R56acceba42f848e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8d18cec531a40a0" /><Relationship Type="http://schemas.openxmlformats.org/officeDocument/2006/relationships/notesMaster" Target="/ppt/notesMasters/notesMaster1.xml" Id="R6a01fad59d39497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183e21dda614a0d" /><Relationship Type="http://schemas.openxmlformats.org/officeDocument/2006/relationships/notesMaster" Target="/ppt/notesMasters/notesMaster1.xml" Id="R0ec0fa55d84342b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7409063d2fd407a" /><Relationship Type="http://schemas.openxmlformats.org/officeDocument/2006/relationships/notesMaster" Target="/ppt/notesMasters/notesMaster1.xml" Id="R0f9a7dc3b5294d6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0964d49cfc447f5" /><Relationship Type="http://schemas.openxmlformats.org/officeDocument/2006/relationships/notesMaster" Target="/ppt/notesMasters/notesMaster1.xml" Id="Rbfb3525029204ea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374bb72b4c049cd" /><Relationship Type="http://schemas.openxmlformats.org/officeDocument/2006/relationships/notesMaster" Target="/ppt/notesMasters/notesMaster1.xml" Id="R5adb26e0499147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endParaRPr/>
          </a:p>
          <a:p xmlns:a="http://schemas.openxmlformats.org/drawingml/2006/main">
            <a:r>
              <a:t>Suggested visual:</a:t>
            </a:r>
          </a:p>
          <a:p xmlns:a="http://schemas.openxmlformats.org/drawingml/2006/main">
            <a:r>
              <a:t>A four-stage signal path—Require, Model, Verify, Evidence—sets the throughline for the course.</a:t>
            </a:r>
          </a:p>
          <a:p xmlns:a="http://schemas.openxmlformats.org/drawingml/2006/main">
            <a:endParaRPr/>
          </a:p>
          <a:p xmlns:a="http://schemas.openxmlformats.org/drawingml/2006/main">
            <a:r>
              <a:t>Speaker notes:</a:t>
            </a:r>
          </a:p>
          <a:p xmlns:a="http://schemas.openxmlformats.org/drawingml/2006/main">
            <a:r>
              <a:t>Welcome the new engineer and establish the scope: this is not a block-by-block product tutorial and not a complete certification course. It is a practical mental model for how a controls engineer works inside an aerospace Model-Based Design program. The central idea is that the Simulink model sits inside a governed evidence chain. A good control law is necessary, but it is not sufficient. The engineer must also understand where the behavior came from, how interfaces are controlled, how tests prove the requirement, and how results become reviewable life-cycle data. The pitch-rate-limiter example will reappear throughout the session so every artifact feels connected rather than abstract.</a:t>
            </a:r>
          </a:p>
          <a:p xmlns:a="http://schemas.openxmlformats.org/drawingml/2006/main">
            <a:endParaRPr/>
          </a:p>
          <a:p xmlns:a="http://schemas.openxmlformats.org/drawingml/2006/main">
            <a:r>
              <a:t>Key teaching points:</a:t>
            </a:r>
          </a:p>
          <a:p xmlns:a="http://schemas.openxmlformats.org/drawingml/2006/main">
            <a:r>
              <a:t>• Simulink is one part of a controlled software lifecycle.</a:t>
            </a:r>
          </a:p>
          <a:p xmlns:a="http://schemas.openxmlformats.org/drawingml/2006/main">
            <a:r>
              <a:t>• The course follows one behavior from requirement to HIL evidence.</a:t>
            </a:r>
          </a:p>
          <a:p xmlns:a="http://schemas.openxmlformats.org/drawingml/2006/main">
            <a:r>
              <a:t>• The target outcome is practical onboarding, not standards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An executable model at the center connects requirements, control design, simulation, and verification.</a:t>
            </a:r>
          </a:p>
          <a:p xmlns:a="http://schemas.openxmlformats.org/drawingml/2006/main">
            <a:endParaRPr/>
          </a:p>
          <a:p xmlns:a="http://schemas.openxmlformats.org/drawingml/2006/main">
            <a:r>
              <a:t>Speaker notes:</a:t>
            </a:r>
          </a:p>
          <a:p xmlns:a="http://schemas.openxmlformats.org/drawingml/2006/main">
            <a:r>
              <a:t>Explain Model-Based Design as a lifecycle pattern, not merely drawing blocks. The model is executable: it has time, data types, sample rates, state, interfaces, and observable behavior. Requirements can link to model elements; tests can stimulate the model; generated code can be compared with model behavior; the same interfaces can later connect to architecture and hardware benches. This shared representation reduces translation between a control-law equation, a software implementation, and a test procedure—but it does not remove the need for reviews, independent verification, or configuration control. The model’s formal role must be defined in the project plans: it may be a design model, a source model used for code generation, or another project-defined artifact.</a:t>
            </a:r>
          </a:p>
          <a:p xmlns:a="http://schemas.openxmlformats.org/drawingml/2006/main">
            <a:endParaRPr/>
          </a:p>
          <a:p xmlns:a="http://schemas.openxmlformats.org/drawingml/2006/main">
            <a:r>
              <a:t>Key teaching points:</a:t>
            </a:r>
          </a:p>
          <a:p xmlns:a="http://schemas.openxmlformats.org/drawingml/2006/main">
            <a:r>
              <a:t>• Model-Based Design keeps the model central across the lifecycle.</a:t>
            </a:r>
          </a:p>
          <a:p xmlns:a="http://schemas.openxmlformats.org/drawingml/2006/main">
            <a:r>
              <a:t>• Execution exposes dynamic behavior before hardware is available.</a:t>
            </a:r>
          </a:p>
          <a:p xmlns:a="http://schemas.openxmlformats.org/drawingml/2006/main">
            <a:r>
              <a:t>• The project defines the certification role of each model.</a:t>
            </a:r>
          </a:p>
          <a:p xmlns:a="http://schemas.openxmlformats.org/drawingml/2006/main">
            <a:endParaRPr/>
          </a:p>
          <a:p xmlns:a="http://schemas.openxmlformats.org/drawingml/2006/main">
            <a:r>
              <a:t>[Sources]</a:t>
            </a:r>
          </a:p>
          <a:p xmlns:a="http://schemas.openxmlformats.org/drawingml/2006/main">
            <a:r>
              <a:t>- https://www.mathworks.com/help/simulink/gs/model-based-design.html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This orientation now previews the first-session actions that follow. The key distinction is between operating the tool, understanding the model hierarchy, reviewing displayed semantics, inspecting logged data, and tracing behavior to evidence. Keep “top level” tied to the current job: simulation, integration, development, or unit verification.</a:t>
            </a:r>
          </a:p>
          <a:p xmlns:a="http://schemas.openxmlformats.org/drawingml/2006/main">
            <a:r>
              <a:t/>
            </a:r>
          </a:p>
          <a:p xmlns:a="http://schemas.openxmlformats.org/drawingml/2006/main">
            <a:r>
              <a:t>[Sources]</a:t>
            </a:r>
            <a:endParaRPr/>
          </a:p>
          <a:p xmlns:a="http://schemas.openxmlformats.org/drawingml/2006/main">
            <a:r>
              <a:t>- https://www.mathworks.com/help/simulink/slref/simulinkeditor.html</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balanced MATLAB-versus-Simulink comparison converges into one integrated workflow.</a:t>
            </a:r>
          </a:p>
          <a:p xmlns:a="http://schemas.openxmlformats.org/drawingml/2006/main">
            <a:endParaRPr/>
          </a:p>
          <a:p xmlns:a="http://schemas.openxmlformats.org/drawingml/2006/main">
            <a:r>
              <a:t>Speaker notes:</a:t>
            </a:r>
          </a:p>
          <a:p xmlns:a="http://schemas.openxmlformats.org/drawingml/2006/main">
            <a:r>
              <a:t>Connect the learner’s existing MATLAB knowledge to Simulink. MATLAB is ideal for calculations, data conditioning, parameter studies, optimization, and post-processing. Simulink adds an executable block-diagram representation of a dynamic system. The arrows are not simply a visual ordering of statements; they carry typed values over simulated time, and blocks may maintain internal state. In daily work the tools are tightly coupled: a MATLAB script may open a project, configure a model, run a test suite, analyze logs, and publish a report. Aerospace teams use Simulink because control laws, plant dynamics, sensor processing, mode logic, interfaces, and tests can be reviewed in a shared environment before flight hardware exists.</a:t>
            </a:r>
          </a:p>
          <a:p xmlns:a="http://schemas.openxmlformats.org/drawingml/2006/main">
            <a:endParaRPr/>
          </a:p>
          <a:p xmlns:a="http://schemas.openxmlformats.org/drawingml/2006/main">
            <a:r>
              <a:t>Key teaching points:</a:t>
            </a:r>
          </a:p>
          <a:p xmlns:a="http://schemas.openxmlformats.org/drawingml/2006/main">
            <a:r>
              <a:t>• Simulink is a block-diagram environment for dynamic simulation and Model-Based Design.</a:t>
            </a:r>
          </a:p>
          <a:p xmlns:a="http://schemas.openxmlformats.org/drawingml/2006/main">
            <a:r>
              <a:t>• Graphical data flow complements—not replaces—MATLAB scripting.</a:t>
            </a:r>
          </a:p>
          <a:p xmlns:a="http://schemas.openxmlformats.org/drawingml/2006/main">
            <a:r>
              <a:t>• Time, state, data type, and interface semantics are first-class concerns.</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First-session command path:</a:t>
            </a:r>
          </a:p>
          <a:p xmlns:a="http://schemas.openxmlformats.org/drawingml/2006/main">
            <a:r>
              <a:t>1. projectRoot = pwd;</a:t>
            </a:r>
          </a:p>
          <a:p xmlns:a="http://schemas.openxmlformats.org/drawingml/2006/main">
            <a:r>
              <a:t>2. addpath(fullfile(projectRoot,'scripts'), fullfile(projectRoot,'models'), fullfile(projectRoot,'data'));</a:t>
            </a:r>
            <a:endParaRPr/>
          </a:p>
          <a:p xmlns:a="http://schemas.openxmlformats.org/drawingml/2006/main">
            <a:r>
              <a:t>3. initialize_training_data(projectRoot);</a:t>
            </a:r>
          </a:p>
          <a:p xmlns:a="http://schemas.openxmlformats.org/drawingml/2006/main">
            <a:r>
              <a:t>4. open_system(fullfile(projectRoot,'models','AircraftFeedbackControlLoop.slx'));</a:t>
            </a:r>
          </a:p>
          <a:p xmlns:a="http://schemas.openxmlformats.org/drawingml/2006/main">
            <a:r>
              <a:t>5. Update Model with Ctrl+D before the first run; run with Ctrl+T or F5; stop with Ctrl+Shift+T.</a:t>
            </a:r>
            <a:endParaRPr/>
          </a:p>
          <a:p xmlns:a="http://schemas.openxmlformats.org/drawingml/2006/main">
            <a:r>
              <a:t/>
            </a:r>
          </a:p>
          <a:p xmlns:a="http://schemas.openxmlformats.org/drawingml/2006/main">
            <a:r>
              <a:t>Update/compile resolves and propagates model semantics; it is not a simulation. Run executes the desktop model. Ctrl+B is a configured code-generation build, which is a separate action. This training package does not claim generated-code, PIL, or HIL evidence.</a:t>
            </a:r>
          </a:p>
          <a:p xmlns:a="http://schemas.openxmlformats.org/drawingml/2006/main">
            <a:r>
              <a:t/>
            </a:r>
          </a:p>
          <a:p xmlns:a="http://schemas.openxmlformats.org/drawingml/2006/main">
            <a:r>
              <a:t>The displaced file-type lesson remains useful: .slx is a model, .m is MATLAB code, .mlx is live code, .sldd is controlled design data, and .mldatx is a Simulink Test artifact. This package does not supply a .mldatx file.</a:t>
            </a:r>
          </a:p>
          <a:p xmlns:a="http://schemas.openxmlformats.org/drawingml/2006/main">
            <a:r>
              <a:t/>
            </a:r>
            <a:endParaRPr/>
          </a:p>
          <a:p xmlns:a="http://schemas.openxmlformats.org/drawingml/2006/main">
            <a:r>
              <a:t>[Sources]</a:t>
            </a: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Use this authentic local R2023b editor capture to orient the learner. Start at the toolstrip:</a:t>
            </a:r>
          </a:p>
          <a:p xmlns:a="http://schemas.openxmlformats.org/drawingml/2006/main">
            <a:r>
              <a:t>- Simulation: Run, Stop, and Data Inspector.</a:t>
            </a:r>
          </a:p>
          <a:p xmlns:a="http://schemas.openxmlformats.org/drawingml/2006/main">
            <a:r>
              <a:t>- Debug: diagnostics and Information Overlays.</a:t>
            </a:r>
            <a:endParaRPr/>
          </a:p>
          <a:p xmlns:a="http://schemas.openxmlformats.org/drawingml/2006/main">
            <a:r>
              <a:t>- Modeling: Update Model and model configuration/settings.</a:t>
            </a:r>
            <a:endParaRPr/>
          </a:p>
          <a:p xmlns:a="http://schemas.openxmlformats.org/drawingml/2006/main">
            <a:r>
              <a:t>- Apps: optional products such as testing and code generation.</a:t>
            </a:r>
            <a:endParaRPr/>
          </a:p>
          <a:p xmlns:a="http://schemas.openxmlformats.org/drawingml/2006/main">
            <a:r>
              <a:t/>
            </a:r>
            <a:endParaRPr/>
          </a:p>
          <a:p xmlns:a="http://schemas.openxmlformats.org/drawingml/2006/main">
            <a:r>
              <a:t>The visible model is models/AircraftFeedbackControlLoop.slx, the runnable closed-loop training simulation. The title-bar asterisk reflects temporary display settings used for the capture; the source model was not saved or modified.</a:t>
            </a:r>
            <a:endParaRPr/>
          </a:p>
          <a:p xmlns:a="http://schemas.openxmlformats.org/drawingml/2006/main">
            <a:r>
              <a:t/>
            </a:r>
            <a:endParaRPr/>
          </a:p>
          <a:p xmlns:a="http://schemas.openxmlformats.org/drawingml/2006/main">
            <a:r>
              <a:t>[Sources]</a:t>
            </a:r>
            <a:endParaRPr/>
          </a:p>
          <a:p xmlns:a="http://schemas.openxmlformats.org/drawingml/2006/main">
            <a:r>
              <a:t>- https://www.mathworks.com/help/simulink/slref/simulinkeditor.html</a:t>
            </a:r>
          </a:p>
          <a:p xmlns:a="http://schemas.openxmlformats.org/drawingml/2006/main">
            <a:r>
              <a:t>- https://www.mathworks.com/help/simulink/ug/summary-of-mouse-and-keyboard-actions.html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From Debug &gt; Information Overlays, show or hide Units, Base Data Types, Signal Dimensions, and Log &amp; Testpoint indicators. Use overlays while reviewing interfaces, then reduce them when the diagram becomes visually crowded. The displayed unit is metadata associated with the port or signal; turning the overlay off does not remove the underlying unit.</a:t>
            </a:r>
          </a:p>
          <a:p xmlns:a="http://schemas.openxmlformats.org/drawingml/2006/main">
            <a:r>
              <a:t/>
            </a:r>
          </a:p>
          <a:p xmlns:a="http://schemas.openxmlformats.org/drawingml/2006/main">
            <a:r>
              <a:t>Distinguish three ideas:</a:t>
            </a:r>
            <a:endParaRPr/>
          </a:p>
          <a:p xmlns:a="http://schemas.openxmlformats.org/drawingml/2006/main">
            <a:r>
              <a:t>- A signal can be configured for logging.</a:t>
            </a:r>
          </a:p>
          <a:p xmlns:a="http://schemas.openxmlformats.org/drawingml/2006/main">
            <a:r>
              <a:t>- A model overlay can show the logging/test-point badge and other metadata on the diagram.</a:t>
            </a:r>
          </a:p>
          <a:p xmlns:a="http://schemas.openxmlformats.org/drawingml/2006/main">
            <a:r>
              <a:t>- An SDI marker shows an exact logged sample on a plotted trace.</a:t>
            </a:r>
            <a:endParaRPr/>
          </a:p>
          <a:p xmlns:a="http://schemas.openxmlformats.org/drawingml/2006/main">
            <a:r>
              <a:t/>
            </a:r>
          </a:p>
          <a:p xmlns:a="http://schemas.openxmlformats.org/drawingml/2006/main">
            <a:r>
              <a:t>[Sources]</a:t>
            </a:r>
          </a:p>
          <a:p xmlns:a="http://schemas.openxmlformats.org/drawingml/2006/main">
            <a:r>
              <a:t>- https://www.mathworks.com/help/simulink/slref/simulinkeditor.html</a:t>
            </a:r>
          </a:p>
          <a:p xmlns:a="http://schemas.openxmlformats.org/drawingml/2006/main">
            <a:r>
              <a:t>- https://www.mathworks.com/help/simulink/ug/displaying-units.html</a:t>
            </a:r>
          </a:p>
          <a:p xmlns:a="http://schemas.openxmlformats.org/drawingml/2006/main">
            <a:r>
              <a:t>- https://www.mathworks.com/help/simulink/gui/signallogging.html</a:t>
            </a:r>
            <a:endParaRP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Four entry points are visible because they answer different questions:</a:t>
            </a:r>
          </a:p>
          <a:p xmlns:a="http://schemas.openxmlformats.org/drawingml/2006/main">
            <a:r>
              <a:t>- AircraftFeedbackControlLoop.slx: runnable closed-loop system-level training simulation.</a:t>
            </a:r>
          </a:p>
          <a:p xmlns:a="http://schemas.openxmlformats.org/drawingml/2006/main">
            <a:r>
              <a:t>- ReferencedFlightControlArchitecture.slx: integration parent containing SensorProcessingRef, PitchRateLimiter, PitchControllerRef, and ActuatorCommandRef model references.</a:t>
            </a:r>
            <a:endParaRPr/>
          </a:p>
          <a:p xmlns:a="http://schemas.openxmlformats.org/drawingml/2006/main">
            <a:r>
              <a:t>- PitchRateLimiter.slx: software component implementation.</a:t>
            </a:r>
            <a:endParaRPr/>
          </a:p>
          <a:p xmlns:a="http://schemas.openxmlformats.org/drawingml/2006/main">
            <a:r>
              <a:t>- PitchRateLimiter_Harness.slx: separate unit harness that points to PitchRateLimiter.</a:t>
            </a:r>
            <a:endParaRPr/>
          </a:p>
          <a:p xmlns:a="http://schemas.openxmlformats.org/drawingml/2006/main">
            <a:r>
              <a:t/>
            </a:r>
            <a:endParaRPr/>
          </a:p>
          <a:p xmlns:a="http://schemas.openxmlformats.org/drawingml/2006/main">
            <a:r>
              <a:t>Do not imply that AircraftFeedbackControlLoop is the parent of ReferencedFlightControlArchitecture; they are separate top-level models for different jobs.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Stateflow chart shows OFF, ARMED, ENGAGED, and DEGRADED states with guarded transitions.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Explain the separation of concerns. Mode logic decides whether a control law is off, armed, engaged, or degraded and specifies the guards for transitions. Stateflow is a common representation, but explicit Simulink logic may also be used. Scheduling changes gains or limits as functions of Mach, altitude, angle of attack, center of gravity, or aircraft configuration. A schedule is not a mode switch unless the requirement defines it that way; interpolation and breakpoint behavior matter. Verification must cover transition guards, persistence, priorities, temporal behavior, boundary points, extrapolation policy, and invalid scheduling data. The new engineer should never assume that a colorful state diagram or smooth lookup surface is self-explanatory—each transition and breakpoint needs requirements and tests.</a:t>
            </a:r>
          </a:p>
          <a:p xmlns:a="http://schemas.openxmlformats.org/drawingml/2006/main">
            <a:endParaRPr/>
          </a:p>
          <a:p xmlns:a="http://schemas.openxmlformats.org/drawingml/2006/main">
            <a:r>
              <a:t>Key teaching points:</a:t>
            </a:r>
          </a:p>
          <a:p xmlns:a="http://schemas.openxmlformats.org/drawingml/2006/main">
            <a:r>
              <a:t>• State machines govern discrete modes and transitions.</a:t>
            </a:r>
          </a:p>
          <a:p xmlns:a="http://schemas.openxmlformats.org/drawingml/2006/main">
            <a:r>
              <a:t>• Lookup tables adapt continuous behavior across the envelope.</a:t>
            </a:r>
          </a:p>
          <a:p xmlns:a="http://schemas.openxmlformats.org/drawingml/2006/main">
            <a:r>
              <a:t>• Transitions and breakpoints are first-class boundary tests.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https://www.mathworks.com/help/simulink/getting-started-with-simulink.html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Open models/ReferencedFlightControlArchitecture.slx when the job is integration. Its referenced children are SensorProcessingRef, PitchRateLimiter, PitchControllerRef, and ActuatorCommandRef. Update Model before simulation to validate model-reference availability and interface consistency. This is separate from AircraftFeedbackControlLoop.slx, the runnable closed-loop training simulation.</a:t>
            </a:r>
          </a:p>
          <a:p xmlns:a="http://schemas.openxmlformats.org/drawingml/2006/main">
            <a:r>
              <a:t/>
            </a:r>
          </a:p>
          <a:p xmlns:a="http://schemas.openxmlformats.org/drawingml/2006/main">
            <a:r>
              <a:t>Architecture update/compile evidence is useful input, not approval by itself. This package does not claim HIL execution.</a:t>
            </a:r>
            <a:endParaRPr/>
          </a:p>
          <a:p xmlns:a="http://schemas.openxmlformats.org/drawingml/2006/main">
            <a:r>
              <a:t/>
            </a:r>
            <a:endParaRPr/>
          </a:p>
          <a:p xmlns:a="http://schemas.openxmlformats.org/drawingml/2006/main">
            <a:r>
              <a:t>[Sources]</a:t>
            </a:r>
            <a:endParaRPr/>
          </a:p>
          <a:p xmlns:a="http://schemas.openxmlformats.org/drawingml/2006/main">
            <a:r>
              <a:t>- https://www.mathworks.com/help/simulink/slref/simulinkeditor.html</a:t>
            </a:r>
            <a:endParaRP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Open models/ReferencedFlightControlArchitecture.slx when the job is integration. Its referenced children are SensorProcessingRef, PitchRateLimiter, PitchControllerRef, and ActuatorCommandRef. Update Model before simulation to validate model-reference availability and interface consistency. This is separate from AircraftFeedbackControlLoop.slx, the runnable closed-loop training simulation.</a:t>
            </a:r>
          </a:p>
          <a:p xmlns:a="http://schemas.openxmlformats.org/drawingml/2006/main">
            <a:r>
              <a:t/>
            </a:r>
          </a:p>
          <a:p xmlns:a="http://schemas.openxmlformats.org/drawingml/2006/main">
            <a:r>
              <a:t>Architecture update/compile evidence is useful input, not approval by itself. This package does not claim HIL execution.</a:t>
            </a:r>
            <a:endParaRPr/>
          </a:p>
          <a:p xmlns:a="http://schemas.openxmlformats.org/drawingml/2006/main">
            <a:r>
              <a:t/>
            </a:r>
            <a:endParaRPr/>
          </a:p>
          <a:p xmlns:a="http://schemas.openxmlformats.org/drawingml/2006/main">
            <a:r>
              <a:t>[Sources]</a:t>
            </a:r>
            <a:endParaRPr/>
          </a:p>
          <a:p xmlns:a="http://schemas.openxmlformats.org/drawingml/2006/main">
            <a:r>
              <a:t>- https://www.mathworks.com/help/simulink/slref/simulinkeditor.html</a:t>
            </a:r>
            <a:endParaRP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Rate Limiter Logic subsystem shows magnitude saturation, validity selection, fallback, and active-flag logic.</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Walk the development sequence. Start with a subsystem whose responsibility can be stated in one sentence. Create input and output ports with controlled types, dimensions, units, and sample times. Add only the logic needed by the requirements. Parameterize tunable or project-controlled values in the designated dictionary rather than scattering numeric literals. Define the interface through bus or port specifications and link requirements to the relevant model elements. Compile or update early to catch semantic errors. Then run a focused test before expanding the component. The mockup is intentionally simple: if the real model is hard to review at this level, add hierarchy rather than accepting a wall of blocks.</a:t>
            </a:r>
          </a:p>
          <a:p xmlns:a="http://schemas.openxmlformats.org/drawingml/2006/main">
            <a:endParaRPr/>
          </a:p>
          <a:p xmlns:a="http://schemas.openxmlformats.org/drawingml/2006/main">
            <a:r>
              <a:t>Key teaching points:</a:t>
            </a:r>
          </a:p>
          <a:p xmlns:a="http://schemas.openxmlformats.org/drawingml/2006/main">
            <a:r>
              <a:t>• Interfaces come before internal complexity.</a:t>
            </a:r>
          </a:p>
          <a:p xmlns:a="http://schemas.openxmlformats.org/drawingml/2006/main">
            <a:r>
              <a:t>• Controlled parameters replace unexplained literals.</a:t>
            </a:r>
          </a:p>
          <a:p xmlns:a="http://schemas.openxmlformats.org/drawingml/2006/main">
            <a:r>
              <a:t>• Compile and test at the smallest meaningful increment.</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Rate Limiter Logic subsystem shows magnitude saturation, validity selection, fallback, and active-flag logic.</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Walk the development sequence. Start with a subsystem whose responsibility can be stated in one sentence. Create input and output ports with controlled types, dimensions, units, and sample times. Add only the logic needed by the requirements. Parameterize tunable or project-controlled values in the designated dictionary rather than scattering numeric literals. Define the interface through bus or port specifications and link requirements to the relevant model elements. Compile or update early to catch semantic errors. Then run a focused test before expanding the component. The mockup is intentionally simple: if the real model is hard to review at this level, add hierarchy rather than accepting a wall of blocks.</a:t>
            </a:r>
          </a:p>
          <a:p xmlns:a="http://schemas.openxmlformats.org/drawingml/2006/main">
            <a:endParaRPr/>
          </a:p>
          <a:p xmlns:a="http://schemas.openxmlformats.org/drawingml/2006/main">
            <a:r>
              <a:t>Key teaching points:</a:t>
            </a:r>
          </a:p>
          <a:p xmlns:a="http://schemas.openxmlformats.org/drawingml/2006/main">
            <a:r>
              <a:t>• Interfaces come before internal complexity.</a:t>
            </a:r>
          </a:p>
          <a:p xmlns:a="http://schemas.openxmlformats.org/drawingml/2006/main">
            <a:r>
              <a:t>• Controlled parameters replace unexplained literals.</a:t>
            </a:r>
          </a:p>
          <a:p xmlns:a="http://schemas.openxmlformats.org/drawingml/2006/main">
            <a:r>
              <a:t>• Compile and test at the smallest meaningful increment.</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Open models/ReferencedFlightControlArchitecture.slx when the job is integration. Its referenced children are SensorProcessingRef, PitchRateLimiter, PitchControllerRef, and ActuatorCommandRef. Update Model before simulation to validate model-reference availability and interface consistency. This is separate from AircraftFeedbackControlLoop.slx, the runnable closed-loop training simulation.</a:t>
            </a:r>
          </a:p>
          <a:p xmlns:a="http://schemas.openxmlformats.org/drawingml/2006/main">
            <a:r>
              <a:t/>
            </a:r>
          </a:p>
          <a:p xmlns:a="http://schemas.openxmlformats.org/drawingml/2006/main">
            <a:r>
              <a:t>Architecture update/compile evidence is useful input, not approval by itself. This package does not claim HIL execution.</a:t>
            </a:r>
            <a:endParaRPr/>
          </a:p>
          <a:p xmlns:a="http://schemas.openxmlformats.org/drawingml/2006/main">
            <a:r>
              <a:t/>
            </a:r>
            <a:endParaRPr/>
          </a:p>
          <a:p xmlns:a="http://schemas.openxmlformats.org/drawingml/2006/main">
            <a:r>
              <a:t>[Sources]</a:t>
            </a:r>
            <a:endParaRPr/>
          </a:p>
          <a:p xmlns:a="http://schemas.openxmlformats.org/drawingml/2006/main">
            <a:r>
              <a:t>- https://www.mathworks.com/help/simulink/slref/simulinkeditor.html</a:t>
            </a:r>
            <a:endParaRP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Open models/ReferencedFlightControlArchitecture.slx when the job is integration. Its referenced children are SensorProcessingRef, PitchRateLimiter, PitchControllerRef, and ActuatorCommandRef. Update Model before simulation to validate model-reference availability and interface consistency. This is separate from AircraftFeedbackControlLoop.slx, the runnable closed-loop training simulation.</a:t>
            </a:r>
          </a:p>
          <a:p xmlns:a="http://schemas.openxmlformats.org/drawingml/2006/main">
            <a:r>
              <a:t/>
            </a:r>
          </a:p>
          <a:p xmlns:a="http://schemas.openxmlformats.org/drawingml/2006/main">
            <a:r>
              <a:t>Architecture update/compile evidence is useful input, not approval by itself. This package does not claim HIL execution.</a:t>
            </a:r>
            <a:endParaRPr/>
          </a:p>
          <a:p xmlns:a="http://schemas.openxmlformats.org/drawingml/2006/main">
            <a:r>
              <a:t/>
            </a:r>
            <a:endParaRPr/>
          </a:p>
          <a:p xmlns:a="http://schemas.openxmlformats.org/drawingml/2006/main">
            <a:r>
              <a:t>[Sources]</a:t>
            </a:r>
            <a:endParaRPr/>
          </a:p>
          <a:p xmlns:a="http://schemas.openxmlformats.org/drawingml/2006/main">
            <a:r>
              <a:t>- https://www.mathworks.com/help/simulink/slref/simulinkeditor.html</a:t>
            </a:r>
            <a:endParaRP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standalone PitchRateLimiter_Harness model shows sources, referenced component, and retained outputs.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Because Simulink Test is unavailable, the delivered project uses a standalone executable Simulink harness. From Workspace blocks provide deterministic q_cmd_in, normal_mode, and input_valid signals at 50 Hz. A Model block references PitchRateLimiter, and To Workspace blocks retain q_cmd_out and limiter_active. run_pitch_rate_limiter_tests.m evaluates expected values, active-flag behavior, numeric tolerance, and timing outside the harness. This preserves the important separation: the harness supplies and captures data, while the requirement oracle remains in reviewable assessment code. No .mldatx file is manufactured.</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Harnesses isolate the component without modifying production logic.</a:t>
            </a:r>
          </a:p>
          <a:p xmlns:a="http://schemas.openxmlformats.org/drawingml/2006/main">
            <a:r>
              <a:t>• Expected behavior comes from requirements and acceptance criteria.</a:t>
            </a:r>
          </a:p>
          <a:p xmlns:a="http://schemas.openxmlformats.org/drawingml/2006/main">
            <a:r>
              <a:t>• Unit tests provide fast, precise, repeatable regression evidence.</a:t>
            </a:r>
          </a:p>
          <a:p xmlns:a="http://schemas.openxmlformats.org/drawingml/2006/main">
            <a:endParaRPr/>
          </a:p>
          <a:p xmlns:a="http://schemas.openxmlformats.org/drawingml/2006/main">
            <a:r>
              <a:t>[Sources]</a:t>
            </a:r>
          </a:p>
          <a:p xmlns:a="http://schemas.openxmlformats.org/drawingml/2006/main">
            <a:r>
              <a:t>- https://www.mathworks.com/products/simulink-test.html</a:t>
            </a:r>
          </a:p>
          <a:p xmlns:a="http://schemas.openxmlformats.org/drawingml/2006/main">
            <a:r>
              <a:t>- https://www.mathworks.com/help/sltest/gs/test-planning-and-strategies.html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The visible plot is the authentic retained desktop result from results/AircraftFeedback_CommandTracking.mat. In a live R2023b demonstration:</a:t>
            </a:r>
          </a:p>
          <a:p xmlns:a="http://schemas.openxmlformats.org/drawingml/2006/main">
            <a:r>
              <a:t>1. Configure the relevant signals for logging.</a:t>
            </a:r>
          </a:p>
          <a:p xmlns:a="http://schemas.openxmlformats.org/drawingml/2006/main">
            <a:r>
              <a:t>2. Run the model, then open Simulation &gt; Data Inspector.</a:t>
            </a:r>
            <a:endParaRPr/>
          </a:p>
          <a:p xmlns:a="http://schemas.openxmlformats.org/drawingml/2006/main">
            <a:r>
              <a:t>3. Select a run and plot command, response, tracking error, and actuator command.</a:t>
            </a:r>
            <a:endParaRPr/>
          </a:p>
          <a:p xmlns:a="http://schemas.openxmlformats.org/drawingml/2006/main">
            <a:r>
              <a:t>4. Turn markers on to expose exact logged samples; use cursors to read values and time differences.</a:t>
            </a:r>
            <a:endParaRPr/>
          </a:p>
          <a:p xmlns:a="http://schemas.openxmlformats.org/drawingml/2006/main">
            <a:r>
              <a:t>5. Use Compare for baseline-versus-candidate results with planned time, absolute, and relative tolerances.</a:t>
            </a:r>
            <a:endParaRPr/>
          </a:p>
          <a:p xmlns:a="http://schemas.openxmlformats.org/drawingml/2006/main">
            <a:r>
              <a:t>6. Retain run/session metadata with the controlled model and configuration.</a:t>
            </a:r>
            <a:endParaRPr/>
          </a:p>
          <a:p xmlns:a="http://schemas.openxmlformats.org/drawingml/2006/main">
            <a:r>
              <a:t/>
            </a:r>
            <a:endParaRPr/>
          </a:p>
          <a:p xmlns:a="http://schemas.openxmlformats.org/drawingml/2006/main">
            <a:r>
              <a:t>Data points are the logged samples. Markers merely make those samples visible; hiding markers does not discard them. A passing comparison remains evidence input, not certification approval by itself.</a:t>
            </a:r>
            <a:endParaRPr/>
          </a:p>
          <a:p xmlns:a="http://schemas.openxmlformats.org/drawingml/2006/main">
            <a:r>
              <a:t/>
            </a:r>
          </a:p>
          <a:p xmlns:a="http://schemas.openxmlformats.org/drawingml/2006/main">
            <a:r>
              <a:t>[Sources]</a:t>
            </a:r>
          </a:p>
          <a:p xmlns:a="http://schemas.openxmlformats.org/drawingml/2006/main">
            <a:r>
              <a:t>- https://www.mathworks.com/help/simulink/gui/signallogging.html</a:t>
            </a:r>
            <a:endParaRPr/>
          </a:p>
          <a:p xmlns:a="http://schemas.openxmlformats.org/drawingml/2006/main">
            <a:r>
              <a:t>- https://www.mathworks.com/help/simulink/slref/simulationdatainspector.html</a:t>
            </a:r>
          </a:p>
          <a:p xmlns:a="http://schemas.openxmlformats.org/drawingml/2006/main">
            <a:r>
              <a:t>- https://www.mathworks.com/help/simulink/slref/simulink.sdi.setmarkerson.html</a:t>
            </a:r>
          </a:p>
          <a:p xmlns:a="http://schemas.openxmlformats.org/drawingml/2006/main">
            <a:r>
              <a:t>- https://www.mathworks.com/help/simulink/ug/compare-simulation-data.html</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Two complementary columns separate the base DO-178C objectives from the DO-331 model-based supplement.</a:t>
            </a:r>
          </a:p>
          <a:p xmlns:a="http://schemas.openxmlformats.org/drawingml/2006/main">
            <a:endParaRPr/>
          </a:p>
          <a:p xmlns:a="http://schemas.openxmlformats.org/drawingml/2006/main">
            <a:r>
              <a:t>Speaker notes:</a:t>
            </a:r>
          </a:p>
          <a:p xmlns:a="http://schemas.openxmlformats.org/drawingml/2006/main">
            <a:r>
              <a:t>Frame DO-178C correctly. FAA AC 20-115D recognizes DO-178C and applicable supplements as an acceptable means of compliance for airborne software; it is not a regulation and not a product certificate. The standard is objective-based. It expects planned processes and evidence showing that applicable objectives are satisfied. DO-331 supplements the base guidance when models are used for development or verification. The project must define each model’s role because that determines which standards, reviews, verification activities, traceability, and tool considerations apply. Emphasize that generated code and automated tests can reduce manual effort, but automation does not remove responsibility for correct requirements, model standards, independent verification where required, configuration control, or credible results.</a:t>
            </a:r>
          </a:p>
          <a:p xmlns:a="http://schemas.openxmlformats.org/drawingml/2006/main">
            <a:endParaRPr/>
          </a:p>
          <a:p xmlns:a="http://schemas.openxmlformats.org/drawingml/2006/main">
            <a:r>
              <a:t>Key teaching points:</a:t>
            </a:r>
          </a:p>
          <a:p xmlns:a="http://schemas.openxmlformats.org/drawingml/2006/main">
            <a:r>
              <a:t>• DO-178C is an objectives-and-evidence framework.</a:t>
            </a:r>
          </a:p>
          <a:p xmlns:a="http://schemas.openxmlformats.org/drawingml/2006/main">
            <a:r>
              <a:t>• DO-331 applies model-based guidance alongside DO-178C.</a:t>
            </a:r>
          </a:p>
          <a:p xmlns:a="http://schemas.openxmlformats.org/drawingml/2006/main">
            <a:r>
              <a:t>• A model’s planned certification role controls how it must be verified.</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a:p xmlns:a="http://schemas.openxmlformats.org/drawingml/2006/main">
            <a:r>
              <a:t>
V3 terminology clarification:
- Prefer the training-example title “Gas Turbine Controls: Model-Based Development with Independent Verification,” not “independent compliance.”
- DO-178C is an accepted means of compliance, not a standalone software certificate. DO-331 supplements DO-178C for model-based development and verification.
- A Simulink model is not automatically compliant; its planned role, traceability, reviews, verification, configuration control, and lifecycle data determine what credit may be requested.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five-level ladder links Levels A through E to failure conditions and increasing assurance rigor.</a:t>
            </a:r>
          </a:p>
          <a:p xmlns:a="http://schemas.openxmlformats.org/drawingml/2006/main">
            <a:endParaRPr/>
          </a:p>
          <a:p xmlns:a="http://schemas.openxmlformats.org/drawingml/2006/main">
            <a:r>
              <a:t>Speaker notes:</a:t>
            </a:r>
          </a:p>
          <a:p xmlns:a="http://schemas.openxmlformats.org/drawingml/2006/main">
            <a:r>
              <a:t>Introduce the levels without turning them into arbitrary quality grades. The system safety process determines the effect of software failure and allocates the software level. Level A corresponds to a catastrophic failure condition, B to hazardous or severe-major, C to major, D to minor, and E to no effect. More safety-critical software must satisfy more objectives and greater verification independence. Avoid implying that every flight-control function is automatically Level A; allocation depends on system architecture and failure effects. For the engineer, the level changes review rigor, coverage expectations, independence, configuration evidence, and the acceptable use or qualification of tools. It never changes the basic obligation to implement the requirement correctly.</a:t>
            </a:r>
          </a:p>
          <a:p xmlns:a="http://schemas.openxmlformats.org/drawingml/2006/main">
            <a:endParaRPr/>
          </a:p>
          <a:p xmlns:a="http://schemas.openxmlformats.org/drawingml/2006/main">
            <a:r>
              <a:t>Key teaching points:</a:t>
            </a:r>
          </a:p>
          <a:p xmlns:a="http://schemas.openxmlformats.org/drawingml/2006/main">
            <a:r>
              <a:t>• Levels come from system safety analysis.</a:t>
            </a:r>
          </a:p>
          <a:p xmlns:a="http://schemas.openxmlformats.org/drawingml/2006/main">
            <a:r>
              <a:t>• Rigor increases as failure consequence increases.</a:t>
            </a:r>
          </a:p>
          <a:p xmlns:a="http://schemas.openxmlformats.org/drawingml/2006/main">
            <a:r>
              <a:t>• Software level affects objectives, independence, and evidence strategy.</a:t>
            </a:r>
          </a:p>
          <a:p xmlns:a="http://schemas.openxmlformats.org/drawingml/2006/main">
            <a:endParaRPr/>
          </a:p>
          <a:p xmlns:a="http://schemas.openxmlformats.org/drawingml/2006/main">
            <a:r>
              <a:t>[Sources]</a:t>
            </a:r>
          </a:p>
          <a:p xmlns:a="http://schemas.openxmlformats.org/drawingml/2006/main">
            <a:r>
              <a:t>- https://www.faa.gov/aircraft/air_cert/design_approvals/dah/software</a:t>
            </a:r>
          </a:p>
          <a:p xmlns:a="http://schemas.openxmlformats.org/drawingml/2006/main">
            <a:r>
              <a:t>- https://www.faa.gov/documentLibrary/media/Advisory_Circular/AC_20-115D.pdf</a:t>
            </a:r>
          </a:p>
          <a:p xmlns:a="http://schemas.openxmlformats.org/drawingml/2006/main">
            <a:r>
              <a:t>
V3 software-level and independence clarification:
- Say “DO-178C Software Level A” when discussing software objectives. Use a broader system Development Assurance Level only when discussing the system-level allocation that informed the software level.
- Independence applies to designated verification objectives under approved plans. Avoid the blanket claim that an author can never participate in review; where independence is required, the author should not be the sole independent verifier of their own work.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bidirectional chain links requirement, model element, test case, and result above an evidence package.</a:t>
            </a:r>
          </a:p>
          <a:p xmlns:a="http://schemas.openxmlformats.org/drawingml/2006/main">
            <a:endParaRPr/>
          </a:p>
          <a:p xmlns:a="http://schemas.openxmlformats.org/drawingml/2006/main">
            <a:r>
              <a:t>Speaker notes:</a:t>
            </a:r>
          </a:p>
          <a:p xmlns:a="http://schemas.openxmlformats.org/drawingml/2006/main">
            <a:r>
              <a:t>Define traceability as a practical navigation system. Forward trace answers: where is this requirement implemented and how is it verified? Backward trace answers: why does this model element, parameter, test, or code path exist? Gaps can reveal missing tests, unintended functionality, or unreviewed derived behavior. Verification evidence includes more than pass/fail plots: approved plans and standards, review records, procedures, requirements-based results, applicable coverage and analyses, configuration records, quality records, and problem reports. A Jenkins job or HIL campaign can produce valuable evidence, but the project must control the configuration, link results to requirements, review failures and waivers, and retain the artifacts required by the plans.</a:t>
            </a:r>
          </a:p>
          <a:p xmlns:a="http://schemas.openxmlformats.org/drawingml/2006/main">
            <a:endParaRPr/>
          </a:p>
          <a:p xmlns:a="http://schemas.openxmlformats.org/drawingml/2006/main">
            <a:r>
              <a:t>Key teaching points:</a:t>
            </a:r>
          </a:p>
          <a:p xmlns:a="http://schemas.openxmlformats.org/drawingml/2006/main">
            <a:r>
              <a:t>• Traceability must work in both directions.</a:t>
            </a:r>
          </a:p>
          <a:p xmlns:a="http://schemas.openxmlformats.org/drawingml/2006/main">
            <a:r>
              <a:t>• Evidence includes reviews, analyses, configuration, and results.</a:t>
            </a:r>
          </a:p>
          <a:p xmlns:a="http://schemas.openxmlformats.org/drawingml/2006/main">
            <a:r>
              <a:t>• Automation produces evidence only when configuration and meaning are controlled.</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https://www.mathworks.com/help/slrequirements/ug/find-and-link-unlinked-requirements-with-a-traceability-matrix.html</a:t>
            </a:r>
          </a:p>
          <a:p xmlns:a="http://schemas.openxmlformats.org/drawingml/2006/main">
            <a:r>
              <a:t>- https://www.faa.gov/documentLibrary/media/Order/FAA_Order_8110.49A.pdf</a:t>
            </a:r>
          </a:p>
          <a:p xmlns:a="http://schemas.openxmlformats.org/drawingml/2006/main">
            <a:r>
              <a:t>
V3 evidence clarification:
- A passing pipeline or test result is an evidence input. It is not certification approval by itself.
- MIL, SIL, PIL, HIL, bench, and system-integration testing are different verification environments. This training project did not perform HIL testing.
[Sources]
- https://www.faa.gov/documentLibrary/media/Order/FAA_Order_8110.49A.pdf</a:t>
            </a:r>
          </a:p>
          <a:p xmlns:a="http://schemas.openxmlformats.org/drawingml/2006/main">
            <a:r>
              <a:t>
V4 first-user connection:
- Update, simulation, scripted tests, and CI are different evidence-producing actions. A pass from any one action is input to review, not automatic approval.
- This training package did not perform HIL.
[Sources]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the V down the left from system/engine requirements through HLR, architecture/design and low-level requirements, model/source implementation, and executable object code. The controlled software baseline is the configuration-controlled vertex. Then walk up the right through target and integration environments, MIL/SIL analysis and coverage, component or unit verification, software integration verification, and system verification and validation. The dashed two-headed links emphasize bidirectional traceability: each definition has planned verification, and every result identifies the definition and controlled configuration it covers.</a:t>
            </a:r>
          </a:p>
          <a:p xmlns:a="http://schemas.openxmlformats.org/drawingml/2006/main">
            <a:r>
              <a:t/>
            </a:r>
          </a:p>
          <a:p xmlns:a="http://schemas.openxmlformats.org/drawingml/2006/main">
            <a:r>
              <a:t>Use the four callouts to separate responsibilities:</a:t>
            </a:r>
            <a:endParaRPr/>
          </a:p>
          <a:p xmlns:a="http://schemas.openxmlformats.org/drawingml/2006/main">
            <a:r>
              <a:t>- Model-based software development uses MATLAB/Simulink as planned lifecycle tools and artifacts; a Simulink model is not automatically compliant.</a:t>
            </a:r>
          </a:p>
          <a:p xmlns:a="http://schemas.openxmlformats.org/drawingml/2006/main">
            <a:r>
              <a:t>- Requirements need bidirectional traceability into implementation, verification procedures, results, reviews, and problem dispositions.</a:t>
            </a:r>
          </a:p>
          <a:p xmlns:a="http://schemas.openxmlformats.org/drawingml/2006/main">
            <a:r>
              <a:t>- Independence applies to designated verification objectives under approved plans. An author is not categorically prohibited from participating in review, but should not be the sole independent verifier of their own work where independence is required.</a:t>
            </a:r>
            <a:endParaRPr/>
          </a:p>
          <a:p xmlns:a="http://schemas.openxmlformats.org/drawingml/2006/main">
            <a:r>
              <a:t>- MIL, SIL, PIL, HIL, bench, and system-integration testing are distinct verification environments. PIL is an execution environment and is not automatically synonymous with unit testing. Call a test HIL only when actual controller or target hardware, a real-time plant environment, and physical I/O are used. This training project performed no HIL testing.</a:t>
            </a:r>
          </a:p>
          <a:p xmlns:a="http://schemas.openxmlformats.org/drawingml/2006/main">
            <a:r>
              <a:t/>
            </a:r>
          </a:p>
          <a:p xmlns:a="http://schemas.openxmlformats.org/drawingml/2006/main">
            <a:r>
              <a:t>Certification and lifecycle language:</a:t>
            </a:r>
          </a:p>
          <a:p xmlns:a="http://schemas.openxmlformats.org/drawingml/2006/main">
            <a:r>
              <a:t>- Prefer the example title “Gas Turbine Controls: Model-Based Development with Independent Verification,” not “independent compliance.”</a:t>
            </a:r>
          </a:p>
          <a:p xmlns:a="http://schemas.openxmlformats.org/drawingml/2006/main">
            <a:r>
              <a:t>- DO-178C is an accepted means of compliance, not a standalone software certificate. DO-331 supplements DO-178C for model-based development and verification.</a:t>
            </a:r>
            <a:endParaRPr/>
          </a:p>
          <a:p xmlns:a="http://schemas.openxmlformats.org/drawingml/2006/main">
            <a:r>
              <a:t>- Use “DO-178C Software Level A” unless the discussion is explicitly about a broader system Development Assurance Level allocation.</a:t>
            </a:r>
          </a:p>
          <a:p xmlns:a="http://schemas.openxmlformats.org/drawingml/2006/main">
            <a:r>
              <a:t>- Agile and waterfall can both be used. Agile changes cadence, not the need for lifecycle data, ordered reviews, traceability, configuration control, controlled baselines, planned verification, or designated independence.</a:t>
            </a:r>
          </a:p>
          <a:p xmlns:a="http://schemas.openxmlformats.org/drawingml/2006/main">
            <a:r>
              <a:t>- A passing pipeline or test result is evidence input, not certification approval by itself.</a:t>
            </a:r>
          </a:p>
          <a:p xmlns:a="http://schemas.openxmlformats.org/drawingml/2006/main">
            <a:r>
              <a:t/>
            </a: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a:p xmlns:a="http://schemas.openxmlformats.org/drawingml/2006/main">
            <a:r>
              <a:t>- https://www.nasa.gov/reference/systems-engineering-handbook/</a:t>
            </a:r>
          </a:p>
          <a:p xmlns:a="http://schemas.openxmlformats.org/drawingml/2006/main">
            <a:r>
              <a:t>
V4 first-user connection:
- The visible pseudo requirements on slide 18 and trace chain on slide 19 are classroom artifacts. A Simulink model is not automatically compliant; its planned lifecycle role, reviews, traceability, configuration control, and verification data determine what credit may be requested.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These are illustrative classroom requirements, not production aircraft data and not an approved certification baseline. Whether a Simulink model represents HLR, LLR, design, or verification data is established by approved project plans; a Simulink model is not automatically compliant. This package has no live Simulink Requirements links, so the demonstration uses CSV/script/result associations.</a:t>
            </a:r>
          </a:p>
          <a:p xmlns:a="http://schemas.openxmlformats.org/drawingml/2006/main">
            <a:r>
              <a:t/>
            </a:r>
          </a:p>
          <a:p xmlns:a="http://schemas.openxmlformats.org/drawingml/2006/main">
            <a:r>
              <a:t>Complete training set:</a:t>
            </a:r>
            <a:endParaRPr/>
          </a:p>
          <a:p xmlns:a="http://schemas.openxmlformats.org/drawingml/2006/main">
            <a:r>
              <a:t>- PSYS-001: command-path protection allocated to ReferencedFlightControlArchitecture/Pitch Rate Limiter and PitchRateLimiter.</a:t>
            </a:r>
          </a:p>
          <a:p xmlns:a="http://schemas.openxmlformats.org/drawingml/2006/main">
            <a:r>
              <a:t>- SWHLR-001 / PRL-001: inclusive clamp to ±12 deg/s while valid and Normal.</a:t>
            </a:r>
          </a:p>
          <a:p xmlns:a="http://schemas.openxmlformats.org/drawingml/2006/main">
            <a:r>
              <a:t>- SWHLR-002 / PRL-002: zero fallback when mode or validity is false.</a:t>
            </a:r>
            <a:endParaRPr/>
          </a:p>
          <a:p xmlns:a="http://schemas.openxmlformats.org/drawingml/2006/main">
            <a:r>
              <a:t>- SWHLR-003 / PRL-003: limiter_active only for strictly out-of-limit valid Normal inputs; false at exactly ±12 and during fallback.</a:t>
            </a:r>
          </a:p>
          <a:p xmlns:a="http://schemas.openxmlformats.org/drawingml/2006/main">
            <a:r>
              <a:t>- SWHLR-004 / PRL-004/005: 50 Hz, same-sample output, no added slew/state dynamics.</a:t>
            </a:r>
          </a:p>
          <a:p xmlns:a="http://schemas.openxmlformats.org/drawingml/2006/main">
            <a:r>
              <a:t>- SWLLR-001..004: exact blocks, strict comparisons, types, units, Boolean status, and fixed-step 0.02 s contract.</a:t>
            </a:r>
          </a:p>
          <a:p xmlns:a="http://schemas.openxmlformats.org/drawingml/2006/main">
            <a:r>
              <a:t/>
            </a:r>
          </a:p>
          <a:p xmlns:a="http://schemas.openxmlformats.org/drawingml/2006/main">
            <a:r>
              <a:t>[Sources]</a:t>
            </a:r>
            <a:endParaRPr/>
          </a:p>
          <a:p xmlns:a="http://schemas.openxmlformats.org/drawingml/2006/main">
            <a:r>
              <a:t>- docs/PitchRateLimiter_Requirements_Traceability.csv</a:t>
            </a:r>
          </a:p>
          <a:p xmlns:a="http://schemas.openxmlformats.org/drawingml/2006/main">
            <a:r>
              <a:t>- models/PitchRateLimiter.slx</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Walk left to right, then return right to left:</a:t>
            </a:r>
          </a:p>
          <a:p xmlns:a="http://schemas.openxmlformats.org/drawingml/2006/main">
            <a:r>
              <a:t>PSYS-001 → SWHLR-001 / PRL-001 → SWLLR-001 → PitchRateLimiter/Pitch Rate Limiter Logic/Magnitude Clamp → PitchRateLimiter_Harness/Unit Under Test - PitchRateLimiter → scripts/run_pitch_rate_limiter_tests.m, case “Boundary above upper limit” → retained result Iteration 8.</a:t>
            </a:r>
          </a:p>
          <a:p xmlns:a="http://schemas.openxmlformats.org/drawingml/2006/main">
            <a:r>
              <a:t/>
            </a:r>
            <a:endParaRPr/>
          </a:p>
          <a:p xmlns:a="http://schemas.openxmlformats.org/drawingml/2006/main">
            <a:r>
              <a:t>Result detail: t=0.14 s; input=12.1 deg/s; expected=12; actual=12; error=0; tolerance=1e−9; timestamp/timing PASS; overall PASS. The retained CSV result field AssociatedRequirement lists PRL-001, PRL-003, and PRL-004; this slide focuses the chain on the PRL-001 clamp allocation while preserving the complete association. Environment: desktop Simulink model execution (MIL), not SIL, PIL, or HIL.</a:t>
            </a:r>
            <a:endParaRPr/>
          </a:p>
          <a:p xmlns:a="http://schemas.openxmlformats.org/drawingml/2006/main">
            <a:r>
              <a:t/>
            </a:r>
            <a:endParaRPr/>
          </a:p>
          <a:p xmlns:a="http://schemas.openxmlformats.org/drawingml/2006/main">
            <a:r>
              <a:t>Use the corrected live-model names: Magnitude Clamp, Select Valid Command, and Valid Clamp Active. The package uses CSV/script/result associations, not live Simulink Requirements links. A passing result is evidence input, not certification approval.</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nine-step serpentine flow moves from assurance objectives and planning through component behavior verification.</a:t>
            </a:r>
          </a:p>
          <a:p xmlns:a="http://schemas.openxmlformats.org/drawingml/2006/main">
            <a:endParaRPr/>
          </a:p>
          <a:p xmlns:a="http://schemas.openxmlformats.org/drawingml/2006/main">
            <a:r>
              <a:t>Speaker notes:</a:t>
            </a:r>
          </a:p>
          <a:p xmlns:a="http://schemas.openxmlformats.org/drawingml/2006/main">
            <a:r>
              <a:t>Walk the first half slowly. DO-178C and DO-331 define the objective framework; the project’s certification and software plans define how the team will satisfy it. System requirements are decomposed into software or component requirements with interfaces and acceptance criteria. The engineer creates a Simulink component using controlled interfaces and data. Unit-test design begins from requirements, not from the diagram. Simulink Test definitions are organized in .mldatx files, while callbacks or external .m functions establish deterministic setup and cleanup. The component is then verified against its requirements. Clarify that this exact tool sequence is a realistic company workflow, not a sequence prescribed by DO-178C. The compliance obligation is satisfaction of applicable objectives with controlled evidence.</a:t>
            </a:r>
          </a:p>
          <a:p xmlns:a="http://schemas.openxmlformats.org/drawingml/2006/main">
            <a:endParaRPr/>
          </a:p>
          <a:p xmlns:a="http://schemas.openxmlformats.org/drawingml/2006/main">
            <a:r>
              <a:t>Key teaching points:</a:t>
            </a:r>
          </a:p>
          <a:p xmlns:a="http://schemas.openxmlformats.org/drawingml/2006/main">
            <a:r>
              <a:t>• Planning defines the model and tool roles before implementation.</a:t>
            </a:r>
          </a:p>
          <a:p xmlns:a="http://schemas.openxmlformats.org/drawingml/2006/main">
            <a:r>
              <a:t>• Test design starts from requirements and acceptance criteria.</a:t>
            </a:r>
          </a:p>
          <a:p xmlns:a="http://schemas.openxmlformats.org/drawingml/2006/main">
            <a:r>
              <a:t>• The .mldatx and callbacks support verification; they are not requirements themselves.</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a:p xmlns:a="http://schemas.openxmlformats.org/drawingml/2006/main">
            <a:r>
              <a:t>- https://www.mathworks.com/help/sltest/ref/sltest.testmanager.testfile-class.html</a:t>
            </a:r>
          </a:p>
          <a:p xmlns:a="http://schemas.openxmlformats.org/drawingml/2006/main">
            <a:r>
              <a:t>- https://www.mathworks.com/help/sltest/ug/specify-test-properties-in-the-test-manager.html</a:t>
            </a:r>
          </a:p>
          <a:p xmlns:a="http://schemas.openxmlformats.org/drawingml/2006/main">
            <a:r>
              <a:t>
V3 lifecycle clarification:
- Agile and waterfall are both usable lifecycle organizations. Whichever cadence is selected, approved plans still have to account for lifecycle data, traceability, reviews, configuration control, controlled baselines, verification objectives, and planned independence.
- Review gates should be ordered around stable inputs and exit criteria even when development iterates in short increments.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test matrix applies nominal, boundary, invalid, and timing tests to the Pitch Rate Limiter.</a:t>
            </a:r>
          </a:p>
          <a:p xmlns:a="http://schemas.openxmlformats.org/drawingml/2006/main">
            <a:endParaRPr/>
          </a:p>
          <a:p xmlns:a="http://schemas.openxmlformats.org/drawingml/2006/main">
            <a:r>
              <a:t>Speaker notes:</a:t>
            </a:r>
          </a:p>
          <a:p xmlns:a="http://schemas.openxmlformats.org/drawingml/2006/main">
            <a:r>
              <a:t>Explain test design as a deliberate coverage strategy. Nominal cases show ordinary behavior. Exact boundaries prove inclusive or exclusive semantics. Just-inside and just-outside values expose comparison and numerical errors. Invalid inputs and mode changes verify fallback and state transitions. Timing cases verify discrete execution and response latency. When features interact, use a small combinatorial matrix rather than testing each dimension in isolation. For a magnitude limiter, do not call the Simulink Rate Limiter block unless the requirement limits slew rate. Also test numeric types and fixed-point behavior if applicable, because saturation boundaries can move under scaling or conversion.</a:t>
            </a:r>
          </a:p>
          <a:p xmlns:a="http://schemas.openxmlformats.org/drawingml/2006/main">
            <a:endParaRPr/>
          </a:p>
          <a:p xmlns:a="http://schemas.openxmlformats.org/drawingml/2006/main">
            <a:r>
              <a:t>Key teaching points:</a:t>
            </a:r>
          </a:p>
          <a:p xmlns:a="http://schemas.openxmlformats.org/drawingml/2006/main">
            <a:r>
              <a:t>• Boundary values are more informative than many random nominal points.</a:t>
            </a:r>
          </a:p>
          <a:p xmlns:a="http://schemas.openxmlformats.org/drawingml/2006/main">
            <a:r>
              <a:t>• Mode and validity behavior must be tested explicitly.</a:t>
            </a:r>
          </a:p>
          <a:p xmlns:a="http://schemas.openxmlformats.org/drawingml/2006/main">
            <a:r>
              <a:t>• Test interactions when requirements share logic or state.</a:t>
            </a:r>
          </a:p>
          <a:p xmlns:a="http://schemas.openxmlformats.org/drawingml/2006/main">
            <a:endParaRPr/>
          </a:p>
          <a:p xmlns:a="http://schemas.openxmlformats.org/drawingml/2006/main">
            <a:r>
              <a:t>[Sources]</a:t>
            </a:r>
          </a:p>
          <a:p xmlns:a="http://schemas.openxmlformats.org/drawingml/2006/main">
            <a:r>
              <a:t>- https://www.mathworks.com/help/sltest/gs/test-planning-and-strategies.html</a:t>
            </a:r>
          </a:p>
          <a:p xmlns:a="http://schemas.openxmlformats.org/drawingml/2006/main">
            <a:r>
              <a:t>- https://www.mathworks.com/products/simulink-test.html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actual report summary shows the executable MATLAB fallback used because Simulink Test is unavailable.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Simulink Test is not installed or licensed on this computer, so the delivered project deliberately contains no .mldatx file. The authentic visual summarizes the executable MATLAB assessment suite and retained CSV, MAT, HTML, and PNG results. In a licensed environment, Test Manager can organize test files, suites, cases, callbacks, assessments, and iterations. That organization is useful, but the artifact alone would still require controlled configuration, traceability, review, and disposition of failures. The fallback used here is explicit, repeatable, and honest about the available products.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Test files organize reusable test intent and hierarchy.</a:t>
            </a:r>
          </a:p>
          <a:p xmlns:a="http://schemas.openxmlformats.org/drawingml/2006/main">
            <a:r>
              <a:t>• Requirements links make cases reviewable and reportable.</a:t>
            </a:r>
          </a:p>
          <a:p xmlns:a="http://schemas.openxmlformats.org/drawingml/2006/main">
            <a:r>
              <a:t>• Definition files and exported result sets serve different lifecycle purposes.</a:t>
            </a:r>
          </a:p>
          <a:p xmlns:a="http://schemas.openxmlformats.org/drawingml/2006/main">
            <a:endParaRPr/>
          </a:p>
          <a:p xmlns:a="http://schemas.openxmlformats.org/drawingml/2006/main">
            <a:r>
              <a:t>[Sources]</a:t>
            </a:r>
          </a:p>
          <a:p xmlns:a="http://schemas.openxmlformats.org/drawingml/2006/main">
            <a:r>
              <a:t>- https://www.mathworks.com/help/sltest/ref/sltest.testmanager.testfile-class.html</a:t>
            </a:r>
          </a:p>
          <a:p xmlns:a="http://schemas.openxmlformats.org/drawingml/2006/main">
            <a:r>
              <a:t>- https://www.mathworks.com/help/sltest/ug/test-models-using-matlab-based-simulink-tests.html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generated view of the delivered external callback functions shows setup through cleanup.</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Define callbacks as MATLAB code invoked at lifecycle events. Simulink models have callbacks such as PreLoadFcn, PostLoadFcn, InitFcn, StartFcn, and StopFcn. Simulink Test provides file and suite Setup/Cleanup callbacks and test-case Pre-load, Post-load, and Cleanup callbacks. Projects may place substantial callback logic in reviewed external .m functions, but a separate file is a convention, not a product requirement. Use callbacks to open the project, load controlled data, configure the environment, initialize deterministic signals, and restore state. Keep the primary verification oracle in assessments, expected outputs, baselines, or custom criteria—not hidden inside a cleanup script. Callback ordering matters, especially in parallel execution and when model callbacks also modify state.</a:t>
            </a:r>
          </a:p>
          <a:p xmlns:a="http://schemas.openxmlformats.org/drawingml/2006/main">
            <a:endParaRPr/>
          </a:p>
          <a:p xmlns:a="http://schemas.openxmlformats.org/drawingml/2006/main">
            <a:r>
              <a:t>Key teaching points:</a:t>
            </a:r>
          </a:p>
          <a:p xmlns:a="http://schemas.openxmlformats.org/drawingml/2006/main">
            <a:r>
              <a:t>• Callbacks establish and clean up deterministic conditions.</a:t>
            </a:r>
          </a:p>
          <a:p xmlns:a="http://schemas.openxmlformats.org/drawingml/2006/main">
            <a:r>
              <a:t>• Execution order and workspace scope matter.</a:t>
            </a:r>
          </a:p>
          <a:p xmlns:a="http://schemas.openxmlformats.org/drawingml/2006/main">
            <a:r>
              <a:t>• Do not hide the requirement’s pass/fail logic in ad hoc setup code.</a:t>
            </a:r>
          </a:p>
          <a:p xmlns:a="http://schemas.openxmlformats.org/drawingml/2006/main">
            <a:endParaRPr/>
          </a:p>
          <a:p xmlns:a="http://schemas.openxmlformats.org/drawingml/2006/main">
            <a:r>
              <a:t>[Sources]</a:t>
            </a:r>
          </a:p>
          <a:p xmlns:a="http://schemas.openxmlformats.org/drawingml/2006/main">
            <a:r>
              <a:t>- https://www.mathworks.com/help/sltest/ug/specify-test-properties-in-the-test-manager.html</a:t>
            </a:r>
          </a:p>
          <a:p xmlns:a="http://schemas.openxmlformats.org/drawingml/2006/main">
            <a:r>
              <a:t>- https://www.mathworks.com/help/sltest/ug/test-execution-order.html</a:t>
            </a:r>
          </a:p>
          <a:p xmlns:a="http://schemas.openxmlformats.org/drawingml/2006/main">
            <a:r>
              <a:t>- https://www.mathworks.com/help/simulink/ug/model-callbacks.html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dictionary-derived inventory shows FlightControlBus elements and controlled training parameters from FCS_Data.sldd.</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Clarify three concepts that are often confused. A model reference provides modular behavior in a separately managed model and can support isolated testing and incremental workflows. A bus groups related interface elements, reducing line clutter while preserving a defined contract when backed by bus objects. A data dictionary stores the shared types, parameters, enumerations, and bus definitions. Integration quality depends on ownership: which component produces each element, which consumes it, what units and rates apply, and how validity is represented. A bus is not a license to move an unstructured bundle of data. Interfaces should be narrow, named, versioned, and reviewed.</a:t>
            </a:r>
          </a:p>
          <a:p xmlns:a="http://schemas.openxmlformats.org/drawingml/2006/main">
            <a:endParaRPr/>
          </a:p>
          <a:p xmlns:a="http://schemas.openxmlformats.org/drawingml/2006/main">
            <a:r>
              <a:t>Key teaching points:</a:t>
            </a:r>
          </a:p>
          <a:p xmlns:a="http://schemas.openxmlformats.org/drawingml/2006/main">
            <a:r>
              <a:t>• Model references support modular development and isolated verification.</a:t>
            </a:r>
          </a:p>
          <a:p xmlns:a="http://schemas.openxmlformats.org/drawingml/2006/main">
            <a:r>
              <a:t>• Buses group signals but must preserve explicit contracts.</a:t>
            </a:r>
          </a:p>
          <a:p xmlns:a="http://schemas.openxmlformats.org/drawingml/2006/main">
            <a:r>
              <a:t>• Dictionaries centralize controlled definitions and parameters.</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Five model-review rules are presented as a large-format engineering checklist.</a:t>
            </a:r>
          </a:p>
          <a:p xmlns:a="http://schemas.openxmlformats.org/drawingml/2006/main">
            <a:endParaRPr/>
          </a:p>
          <a:p xmlns:a="http://schemas.openxmlformats.org/drawingml/2006/main">
            <a:r>
              <a:t>Speaker notes:</a:t>
            </a:r>
          </a:p>
          <a:p xmlns:a="http://schemas.openxmlformats.org/drawingml/2006/main">
            <a:r>
              <a:t>Stress that readability is a verification feature. Reviewers should be able to see the main signal path, understand the hierarchy, identify interfaces, and locate the requirement-linked behavior without tracing crossings and unlabeled lines. Names should carry engineering meaning. Signal labels should include the concepts needed by the project—often units, types, dimensions, rates, validity, and ownership. Layout should establish a consistent flow. A subsystem should have one clear responsibility, and library or referenced content should be reused under configuration control rather than copied. Clever compression, hidden data stores, masked side effects, and undocumented callbacks may make a model look smaller while making the lifecycle harder to verify.</a:t>
            </a:r>
          </a:p>
          <a:p xmlns:a="http://schemas.openxmlformats.org/drawingml/2006/main">
            <a:endParaRPr/>
          </a:p>
          <a:p xmlns:a="http://schemas.openxmlformats.org/drawingml/2006/main">
            <a:r>
              <a:t>Key teaching points:</a:t>
            </a:r>
          </a:p>
          <a:p xmlns:a="http://schemas.openxmlformats.org/drawingml/2006/main">
            <a:r>
              <a:t>• Readability reduces review error and investigation time.</a:t>
            </a:r>
          </a:p>
          <a:p xmlns:a="http://schemas.openxmlformats.org/drawingml/2006/main">
            <a:r>
              <a:t>• Naming and labeling are part of the interface contract.</a:t>
            </a:r>
          </a:p>
          <a:p xmlns:a="http://schemas.openxmlformats.org/drawingml/2006/main">
            <a:r>
              <a:t>• Controlled reuse prevents silent divergence.</a:t>
            </a:r>
          </a:p>
          <a:p xmlns:a="http://schemas.openxmlformats.org/drawingml/2006/main">
            <a:endParaRPr/>
          </a:p>
          <a:p xmlns:a="http://schemas.openxmlformats.org/drawingml/2006/main">
            <a:r>
              <a:t>[Sources]</a:t>
            </a:r>
          </a:p>
          <a:p xmlns:a="http://schemas.openxmlformats.org/drawingml/2006/main">
            <a:r>
              <a:t>- https://www.mathworks.com/help/slcheck/ref/model-advisor-checks-for-do-178cdo-331-industry-standards.html</a:t>
            </a:r>
          </a:p>
          <a:p xmlns:a="http://schemas.openxmlformats.org/drawingml/2006/main">
            <a:r>
              <a:t>- https://www.mathworks.com/help/simulink/ug/interface-design.html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six-stage Jenkins pipeline sits above three responsibility lanes for Groovy, MATLAB/Simulink, and Robot Framework.</a:t>
            </a:r>
          </a:p>
          <a:p xmlns:a="http://schemas.openxmlformats.org/drawingml/2006/main">
            <a:endParaRPr/>
          </a:p>
          <a:p xmlns:a="http://schemas.openxmlformats.org/drawingml/2006/main">
            <a:r>
              <a:t>Speaker notes:</a:t>
            </a:r>
          </a:p>
          <a:p xmlns:a="http://schemas.openxmlformats.org/drawingml/2006/main">
            <a:r>
              <a:t>Explain Jenkins as an automation server, not a Simulink-aware verifier by itself. A version-controlled Jenkinsfile defines stages and provides reviewability and history. Pipeline syntax can be Declarative or Scripted; Scripted Pipeline uses a Groovy-based DSL. A configured agent invokes MATLAB, opens the project, compiles or updates models, runs model checks and tests, and publishes CI-compatible reports. Robot Framework may be used as an optional keyword-driven layer to control benches, external interfaces, or higher-level system tests; it is not a DO-178C requirement and has no automatic certification status. The valuable outcome is a reproducible, controlled run with retained logs, results, environment information, and configuration identity.</a:t>
            </a:r>
          </a:p>
          <a:p xmlns:a="http://schemas.openxmlformats.org/drawingml/2006/main">
            <a:endParaRPr/>
          </a:p>
          <a:p xmlns:a="http://schemas.openxmlformats.org/drawingml/2006/main">
            <a:r>
              <a:t>Key teaching points:</a:t>
            </a:r>
          </a:p>
          <a:p xmlns:a="http://schemas.openxmlformats.org/drawingml/2006/main">
            <a:r>
              <a:t>• Jenkins orchestrates; project scripts perform the engineering work.</a:t>
            </a:r>
          </a:p>
          <a:p xmlns:a="http://schemas.openxmlformats.org/drawingml/2006/main">
            <a:r>
              <a:t>• Pipeline-as-code improves reviewability and repeatability.</a:t>
            </a:r>
          </a:p>
          <a:p xmlns:a="http://schemas.openxmlformats.org/drawingml/2006/main">
            <a:r>
              <a:t>• A pipeline pass becomes useful evidence only with controlled configuration and traceability.</a:t>
            </a:r>
          </a:p>
          <a:p xmlns:a="http://schemas.openxmlformats.org/drawingml/2006/main">
            <a:endParaRPr/>
          </a:p>
          <a:p xmlns:a="http://schemas.openxmlformats.org/drawingml/2006/main">
            <a:r>
              <a:t>[Sources]</a:t>
            </a:r>
          </a:p>
          <a:p xmlns:a="http://schemas.openxmlformats.org/drawingml/2006/main">
            <a:r>
              <a:t>- https://www.jenkins.io/doc/book/pipeline/</a:t>
            </a:r>
          </a:p>
          <a:p xmlns:a="http://schemas.openxmlformats.org/drawingml/2006/main">
            <a:r>
              <a:t>- https://www.jenkins.io/doc/book/pipeline/jenkinsfile/</a:t>
            </a:r>
          </a:p>
          <a:p xmlns:a="http://schemas.openxmlformats.org/drawingml/2006/main">
            <a:r>
              <a:t>- https://www.mathworks.com/help/sltest/ug/output-results-for-continuous-integration-systems.html</a:t>
            </a:r>
          </a:p>
          <a:p xmlns:a="http://schemas.openxmlformats.org/drawingml/2006/main">
            <a:r>
              <a:t>- https://robotframework.org/robotframework/latest/RobotFrameworkUserGuide.html</a:t>
            </a:r>
          </a:p>
          <a:p xmlns:a="http://schemas.openxmlformats.org/drawingml/2006/main">
            <a:r>
              <a:t>
V3 pipeline clarification:
- A passing pipeline shows that configured steps passed on a controlled agent and baseline. It is evidence input, not certification approval by itself, and does not remove review, traceability, configuration, problem-report, or independence objectives.
[Sources]
- https://www.faa.gov/documentLibrary/media/Order/FAA_Order_8110.49A.pdf</a:t>
            </a:r>
          </a:p>
          <a:p xmlns:a="http://schemas.openxmlformats.org/drawingml/2006/main">
            <a:r>
              <a:t>
V4 first-user clarification:
- The supplied package uses MATLAB scripts and retained CSV/MAT/PNG/HTML-style artifacts; it does not contain a .mldatx suite.
- A green CI stage is evidence input from the controlled agent/configuration. It is not certification approval and does not replace traceability, review, configuration control, problem reporting, or designated independence.
[Sources]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triage flow splits an unreproducible failure from semantic/compile and functional/test failures.</a:t>
            </a:r>
          </a:p>
          <a:p xmlns:a="http://schemas.openxmlformats.org/drawingml/2006/main">
            <a:endParaRPr/>
          </a:p>
          <a:p xmlns:a="http://schemas.openxmlformats.org/drawingml/2006/main">
            <a:r>
              <a:t>Speaker notes:</a:t>
            </a:r>
          </a:p>
          <a:p xmlns:a="http://schemas.openxmlformats.org/drawingml/2006/main">
            <a:r>
              <a:t>Teach disciplined triage. Preserve the failing log, build identifier, commit, configuration, agent, and first meaningful error. Try the controlled local command rather than improvising a different workflow. If the failure does not reproduce, compare environment: MATLAB release, licensed products, project startup, path order, data dictionaries, environment variables, cached artifacts, and agent configuration. If it reproduces, classify it. Compile and static failures usually point to references, types, dimensions, rates, parameters, variants, or standards. Functional failures require checking stimulus, expected output, tolerance, modes, initial state, timing, and the actual requirement. Fix the root cause, add a regression test or check, and re-run both the affected scope and the controlled full pipeline.</a:t>
            </a:r>
          </a:p>
          <a:p xmlns:a="http://schemas.openxmlformats.org/drawingml/2006/main">
            <a:endParaRPr/>
          </a:p>
          <a:p xmlns:a="http://schemas.openxmlformats.org/drawingml/2006/main">
            <a:r>
              <a:t>Key teaching points:</a:t>
            </a:r>
          </a:p>
          <a:p xmlns:a="http://schemas.openxmlformats.org/drawingml/2006/main">
            <a:r>
              <a:t>• Preserve the exact failing configuration before investigation.</a:t>
            </a:r>
          </a:p>
          <a:p xmlns:a="http://schemas.openxmlformats.org/drawingml/2006/main">
            <a:r>
              <a:t>• Classify environment, semantic, and behavioral failures separately.</a:t>
            </a:r>
          </a:p>
          <a:p xmlns:a="http://schemas.openxmlformats.org/drawingml/2006/main">
            <a:r>
              <a:t>• Every meaningful defect should leave regression protection behind.</a:t>
            </a:r>
          </a:p>
          <a:p xmlns:a="http://schemas.openxmlformats.org/drawingml/2006/main">
            <a:endParaRPr/>
          </a:p>
          <a:p xmlns:a="http://schemas.openxmlformats.org/drawingml/2006/main">
            <a:r>
              <a:t>[Sources]</a:t>
            </a:r>
          </a:p>
          <a:p xmlns:a="http://schemas.openxmlformats.org/drawingml/2006/main">
            <a:r>
              <a:t>- https://www.jenkins.io/doc/book/pipeline/</a:t>
            </a:r>
          </a:p>
          <a:p xmlns:a="http://schemas.openxmlformats.org/drawingml/2006/main">
            <a:r>
              <a:t>- https://www.mathworks.com/help/sltest/ug/output-results-for-continuous-integration-systems.html</a:t>
            </a:r>
          </a:p>
          <a:p xmlns:a="http://schemas.openxmlformats.org/drawingml/2006/main">
            <a:r>
              <a:t>- https://www.mathworks.com/help/sltest/ug/test-execution-order.html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closed-loop HIL architecture connects test host, real flight-control computer, physical I/O, and a real-time plant with fault injection.</a:t>
            </a:r>
          </a:p>
          <a:p xmlns:a="http://schemas.openxmlformats.org/drawingml/2006/main">
            <a:endParaRPr/>
          </a:p>
          <a:p xmlns:a="http://schemas.openxmlformats.org/drawingml/2006/main">
            <a:r>
              <a:t>Speaker notes:</a:t>
            </a:r>
          </a:p>
          <a:p xmlns:a="http://schemas.openxmlformats.org/drawingml/2006/main">
            <a:r>
              <a:t>Correct the common oversimplification that software runs ‘in the HIL hardware.’ In controller HIL, the production software normally executes on the real flight-control computer or representative controller hardware. Its real analog, digital, discrete, and communication interfaces connect through I/O and load hardware to a real-time target. The target simulates aircraft dynamics, actuators, sensors, environment, and failures. The test host orchestrates scenarios and collects results. HIL exposes hardware/software integration, scaling, wiring, latency, scheduling, bus behavior, startup, resets, and fault response that desktop model-in-the-loop tests cannot fully reproduce. The real-time plant still has modeling assumptions, so HIL does not equal flight test or prove every requirement automatically.</a:t>
            </a:r>
          </a:p>
          <a:p xmlns:a="http://schemas.openxmlformats.org/drawingml/2006/main">
            <a:endParaRPr/>
          </a:p>
          <a:p xmlns:a="http://schemas.openxmlformats.org/drawingml/2006/main">
            <a:r>
              <a:t>Key teaching points:</a:t>
            </a:r>
          </a:p>
          <a:p xmlns:a="http://schemas.openxmlformats.org/drawingml/2006/main">
            <a:r>
              <a:t>• The real controller closes the loop with a simulated plant in real time.</a:t>
            </a:r>
          </a:p>
          <a:p xmlns:a="http://schemas.openxmlformats.org/drawingml/2006/main">
            <a:r>
              <a:t>• Physical I/O and timing are central HIL test targets.</a:t>
            </a:r>
          </a:p>
          <a:p xmlns:a="http://schemas.openxmlformats.org/drawingml/2006/main">
            <a:r>
              <a:t>• HIL complements MIL/SIL/PIL and other verification—it does not replace them.</a:t>
            </a:r>
          </a:p>
          <a:p xmlns:a="http://schemas.openxmlformats.org/drawingml/2006/main">
            <a:endParaRP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a:p xmlns:a="http://schemas.openxmlformats.org/drawingml/2006/main">
            <a:r>
              <a:t>
V3 HIL clarification:
- This slide describes a possible program verification environment; this training project did not perform HIL.
- Only call testing HIL when actual controller or target hardware, a real-time plant environment, and physical I/O are used. PIL/target execution, bench testing, and system integration are distinct environments and should be named precisely.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executed desktop evidence summary connects requirements, controlled artifacts, tests, results, and validation without HIL claims.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Narrate the verified desktop training chain only. PRL-001 through PRL-005 define the illustrative limiter behavior and interface expectations. FCS_Data.sldd controls parameters and FlightControlBus. PitchRateLimiter.slx implements the magnitude clamp and fallback; the standalone harness executes deterministic 50 Hz stimuli; MATLAB assessments retain actual and expected values, pass/fail, configuration, and reports; the referenced architecture update validates interface consistency. No .mldatx, Jenkins run, HIL hardware, generated code, or certification approval is claimed. The value is a reproducible, inspectable training evidence path—not a completed aircraft certification package.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Every step produces or consumes controlled lifecycle data.</a:t>
            </a:r>
          </a:p>
          <a:p xmlns:a="http://schemas.openxmlformats.org/drawingml/2006/main">
            <a:r>
              <a:t>• The same requirement stays visible from model to HIL.</a:t>
            </a:r>
          </a:p>
          <a:p xmlns:a="http://schemas.openxmlformats.org/drawingml/2006/main">
            <a:r>
              <a:t>• Evidence is complete only when results, configuration, reviews, and dispositions agree.</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https://www.mathworks.com/help/slrequirements/ug/create-and-store-links.html</a:t>
            </a:r>
          </a:p>
          <a:p xmlns:a="http://schemas.openxmlformats.org/drawingml/2006/main">
            <a:r>
              <a:t>- https://www.mathworks.com/help/sltest/ref/sltest.testmanager.testfile-class.html</a:t>
            </a:r>
          </a:p>
          <a:p xmlns:a="http://schemas.openxmlformats.org/drawingml/2006/main">
            <a:r>
              <a:t>- https://www.jenkins.io/doc/book/pipeline/</a:t>
            </a:r>
          </a:p>
          <a:p xmlns:a="http://schemas.openxmlformats.org/drawingml/2006/main">
            <a:r>
              <a:t>- https://www.mathworks.com/discovery/hardware-in-the-loop-hil.html</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endParaRPr/>
          </a:p>
          <a:p xmlns:a="http://schemas.openxmlformats.org/drawingml/2006/main">
            <a:r>
              <a:t>
V3 evidence-chain clarification:
- For this training project, the demonstrated chain ends with controlled desktop models, harnesses, assessments, retained results, and architecture update/compile evidence. It does not extend to HIL.
- Any future PIL, target, bench, HIL, or system-integration evidence must identify its specific execution environment and controlled baseline.
[Sources]
- https://www.faa.gov/documentLibrary/media/Order/FAA_Order_8110.49A.pdf</a:t>
            </a:r>
          </a:p>
          <a:p xmlns:a="http://schemas.openxmlformats.org/drawingml/2006/main">
            <a:r>
              <a:t>
V4 first-user clarification:
- The requirement remains visible through each executed environment. This package stops at desktop model execution and architecture update; it does not extend to HIL.
- Use the exact execution-environment name in retained evidence. PIL is not automatically unit testing, and HIL requires actual controller/target hardware, a real-time plant environment, and physical I/O.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HIL verification matrix pairs objectives, realistic tests, and quantitative pass criteria.</a:t>
            </a:r>
          </a:p>
          <a:p xmlns:a="http://schemas.openxmlformats.org/drawingml/2006/main">
            <a:endParaRPr/>
          </a:p>
          <a:p xmlns:a="http://schemas.openxmlformats.org/drawingml/2006/main">
            <a:r>
              <a:t>Speaker notes:</a:t>
            </a:r>
          </a:p>
          <a:p xmlns:a="http://schemas.openxmlformats.org/drawingml/2006/main">
            <a:r>
              <a:t>Turn HIL from a demo into verification. Functional tests connect inputs and outputs to requirement tolerances. Timing tests specify frame rate, latency, jitter, and overrun criteria. Interface tests verify scaling, units, freshness, status, protocol behavior, and electrical behavior as applicable. Fault tests inject realistic stale data, dropouts, resets, actuator failures, and power transitions and verify the required response time and state. Evidence criteria require the released software, hardware, plant, I/O, test, and tool configurations to be identifiable. Plots support analysis, but a reviewer needs quantitative criteria, procedures, logs, results, trace links, and dispositions.</a:t>
            </a:r>
          </a:p>
          <a:p xmlns:a="http://schemas.openxmlformats.org/drawingml/2006/main">
            <a:endParaRPr/>
          </a:p>
          <a:p xmlns:a="http://schemas.openxmlformats.org/drawingml/2006/main">
            <a:r>
              <a:t>Key teaching points:</a:t>
            </a:r>
          </a:p>
          <a:p xmlns:a="http://schemas.openxmlformats.org/drawingml/2006/main">
            <a:r>
              <a:t>• Every HIL test needs an explicit requirement and quantitative oracle.</a:t>
            </a:r>
          </a:p>
          <a:p xmlns:a="http://schemas.openxmlformats.org/drawingml/2006/main">
            <a:r>
              <a:t>• Timing, interfaces, and faults are core HIL objectives.</a:t>
            </a:r>
          </a:p>
          <a:p xmlns:a="http://schemas.openxmlformats.org/drawingml/2006/main">
            <a:r>
              <a:t>• Configuration identity determines whether a result is reusable evidence.</a:t>
            </a:r>
          </a:p>
          <a:p xmlns:a="http://schemas.openxmlformats.org/drawingml/2006/main">
            <a:endParaRP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a:p xmlns:a="http://schemas.openxmlformats.org/drawingml/2006/main">
            <a:r>
              <a:t>- https://www.faa.gov/documentLibrary/media/Advisory_Circular/AC_20-115D.pdf</a:t>
            </a:r>
          </a:p>
          <a:p xmlns:a="http://schemas.openxmlformats.org/drawingml/2006/main">
            <a:r>
              <a:t>
V3 execution-environment clarification:
- HIL criteria are meaningful only for a setup with actual controller or target hardware, real-time plant execution, and physical I/O. No such setup was used by this project.
- MIL, SIL, PIL, HIL, bench, and system-integration results answer different questions. PIL is an execution environment and is not automatically synonymous with unit testing.
- Passing results remain evidence inputs and do not constitute certification approval.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The learner’s first week should end with one reproducible chain, not only passive familiarity with screenshots. Use the illustrative PSYS/SWHLR/PRL requirements in this training package; transition to approved program requirements only under the project’s actual plans and data controls.</a:t>
            </a:r>
          </a:p>
          <a:p xmlns:a="http://schemas.openxmlformats.org/drawingml/2006/main">
            <a:r>
              <a:t/>
            </a:r>
          </a:p>
          <a:p xmlns:a="http://schemas.openxmlformats.org/drawingml/2006/main">
            <a:r>
              <a:t>This package stops at desktop model execution and architecture update. It did not perform HIL. DO-178C is an accepted means of compliance, not a standalone software certificate; DO-331 supplements it for model-based development and verification. A passing test or pipeline is evidence input, not approval by itself.</a:t>
            </a:r>
            <a:endParaRPr/>
          </a:p>
          <a:p xmlns:a="http://schemas.openxmlformats.org/drawingml/2006/main">
            <a:r>
              <a:t/>
            </a:r>
          </a:p>
          <a:p xmlns:a="http://schemas.openxmlformats.org/drawingml/2006/main">
            <a:r>
              <a:t>[Sources]</a:t>
            </a:r>
          </a:p>
          <a:p xmlns:a="http://schemas.openxmlformats.org/drawingml/2006/main">
            <a:r>
              <a:t>- https://www.faa.gov/regulations_policies/advisory_circulars/index.cfm/go/document.information/documentID/1032046</a:t>
            </a:r>
            <a:endParaRP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4cd7f6b44e43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5205327d83448d" /><Relationship Type="http://schemas.openxmlformats.org/officeDocument/2006/relationships/slideLayout" Target="/ppt/slideLayouts/slideLayout1.xml" Id="R9c69996a1d544c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69996a1d544c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b1080a67b24cd8" /><Relationship Type="http://schemas.openxmlformats.org/officeDocument/2006/relationships/notesSlide" Target="/ppt/notesSlides/notesSlide1.xml" Id="Re01483fc67a44c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4a8a50c88f430d" /><Relationship Type="http://schemas.openxmlformats.org/officeDocument/2006/relationships/notesSlide" Target="/ppt/notesSlides/notesSlide2.xml" Id="R589b8d93dc1c44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629cd3fd444334" /><Relationship Type="http://schemas.openxmlformats.org/officeDocument/2006/relationships/notesSlide" Target="/ppt/notesSlides/notesSlide3.xml" Id="Re984f30c069a44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29ef5e71b04cf0" /><Relationship Type="http://schemas.openxmlformats.org/officeDocument/2006/relationships/notesSlide" Target="/ppt/notesSlides/notesSlide4.xml" Id="R594544808edd41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4e42ef0372418c" /><Relationship Type="http://schemas.openxmlformats.org/officeDocument/2006/relationships/notesSlide" Target="/ppt/notesSlides/notesSlide5.xml" Id="Rf9e761972c4b41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f12499aef54518" /><Relationship Type="http://schemas.openxmlformats.org/officeDocument/2006/relationships/notesSlide" Target="/ppt/notesSlides/notesSlide6.xml" Id="R4ae10e7c59844f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1a99c01c9134346" /><Relationship Type="http://schemas.openxmlformats.org/officeDocument/2006/relationships/notesSlide" Target="/ppt/notesSlides/notesSlide7.xml" Id="R328afde12c7b44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d914df9c9e34296" /><Relationship Type="http://schemas.openxmlformats.org/officeDocument/2006/relationships/notesSlide" Target="/ppt/notesSlides/notesSlide8.xml" Id="Rfbd1cf02c42d43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e35c173deaf4412" /><Relationship Type="http://schemas.openxmlformats.org/officeDocument/2006/relationships/notesSlide" Target="/ppt/notesSlides/notesSlide9.xml" Id="Rd0785f51aaea4c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fdeae9d33f4cbf" /><Relationship Type="http://schemas.openxmlformats.org/officeDocument/2006/relationships/notesSlide" Target="/ppt/notesSlides/notesSlide10.xml" Id="Rd319adc796584c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1ee8e79915e4e59" /><Relationship Type="http://schemas.openxmlformats.org/officeDocument/2006/relationships/notesSlide" Target="/ppt/notesSlides/notesSlide11.xml" Id="R4dbbc259fd9341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fa60ebe018f4d6e" /><Relationship Type="http://schemas.openxmlformats.org/officeDocument/2006/relationships/notesSlide" Target="/ppt/notesSlides/notesSlide12.xml" Id="R0317e160692447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11b1ec57c4b443c" /><Relationship Type="http://schemas.openxmlformats.org/officeDocument/2006/relationships/notesSlide" Target="/ppt/notesSlides/notesSlide13.xml" Id="Reb4faad388ac4e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0b151502218417c" /><Relationship Type="http://schemas.openxmlformats.org/officeDocument/2006/relationships/notesSlide" Target="/ppt/notesSlides/notesSlide14.xml" Id="Rad33d76f7dde4a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050a4cb065d46ae" /><Relationship Type="http://schemas.openxmlformats.org/officeDocument/2006/relationships/notesSlide" Target="/ppt/notesSlides/notesSlide15.xml" Id="R1c87f1ec608f4b9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7a16965a90a42ad" /><Relationship Type="http://schemas.openxmlformats.org/officeDocument/2006/relationships/notesSlide" Target="/ppt/notesSlides/notesSlide16.xml" Id="R6b71526362de4e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0f76dd1c6c74ca9" /><Relationship Type="http://schemas.openxmlformats.org/officeDocument/2006/relationships/notesSlide" Target="/ppt/notesSlides/notesSlide17.xml" Id="R4f60b310f90844d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008588035034a08" /><Relationship Type="http://schemas.openxmlformats.org/officeDocument/2006/relationships/notesSlide" Target="/ppt/notesSlides/notesSlide18.xml" Id="Ra318339a9fa5436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0c73bf10b74430c" /><Relationship Type="http://schemas.openxmlformats.org/officeDocument/2006/relationships/notesSlide" Target="/ppt/notesSlides/notesSlide19.xml" Id="Rfa8067d3af5645a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fd54b3bc28c4f3c" /><Relationship Type="http://schemas.openxmlformats.org/officeDocument/2006/relationships/notesSlide" Target="/ppt/notesSlides/notesSlide20.xml" Id="Rc3f881ed842e401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a505072226f4de3" /><Relationship Type="http://schemas.openxmlformats.org/officeDocument/2006/relationships/notesSlide" Target="/ppt/notesSlides/notesSlide21.xml" Id="R9e2ced8a08eb470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fb34f28f50c446b" /><Relationship Type="http://schemas.openxmlformats.org/officeDocument/2006/relationships/notesSlide" Target="/ppt/notesSlides/notesSlide22.xml" Id="R7540ca2e97c9401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68f7a1e459546f1" /><Relationship Type="http://schemas.openxmlformats.org/officeDocument/2006/relationships/notesSlide" Target="/ppt/notesSlides/notesSlide23.xml" Id="Recfe5ee25474422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ec64ae040474910" /><Relationship Type="http://schemas.openxmlformats.org/officeDocument/2006/relationships/notesSlide" Target="/ppt/notesSlides/notesSlide24.xml" Id="R33053aeeac36409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3e2b3e71e044d91" /><Relationship Type="http://schemas.openxmlformats.org/officeDocument/2006/relationships/notesSlide" Target="/ppt/notesSlides/notesSlide25.xml" Id="R652857f42bec452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e2f1006d7584d9d" /><Relationship Type="http://schemas.openxmlformats.org/officeDocument/2006/relationships/notesSlide" Target="/ppt/notesSlides/notesSlide26.xml" Id="R0aab63a4c9fd471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e359518668a401a" /><Relationship Type="http://schemas.openxmlformats.org/officeDocument/2006/relationships/notesSlide" Target="/ppt/notesSlides/notesSlide27.xml" Id="R05d7bd416ebc412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b65c0faaac84f0b" /><Relationship Type="http://schemas.openxmlformats.org/officeDocument/2006/relationships/notesSlide" Target="/ppt/notesSlides/notesSlide28.xml" Id="R9b478109972b4da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5756a22eade4cfc" /><Relationship Type="http://schemas.openxmlformats.org/officeDocument/2006/relationships/notesSlide" Target="/ppt/notesSlides/notesSlide29.xml" Id="R1a039ad07422406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21eb891b6304a31" /><Relationship Type="http://schemas.openxmlformats.org/officeDocument/2006/relationships/notesSlide" Target="/ppt/notesSlides/notesSlide30.xml" Id="Rbb6759fb2f154dc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d13f71f4e484498" /><Relationship Type="http://schemas.openxmlformats.org/officeDocument/2006/relationships/notesSlide" Target="/ppt/notesSlides/notesSlide31.xml" Id="R7887ce23014a485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83579cfe7d84207" /><Relationship Type="http://schemas.openxmlformats.org/officeDocument/2006/relationships/notesSlide" Target="/ppt/notesSlides/notesSlide32.xml" Id="Rc9b252c7a42a414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d24547269a8453a" /><Relationship Type="http://schemas.openxmlformats.org/officeDocument/2006/relationships/notesSlide" Target="/ppt/notesSlides/notesSlide33.xml" Id="Rde36aaded7f1446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284c68af30f444a" /><Relationship Type="http://schemas.openxmlformats.org/officeDocument/2006/relationships/notesSlide" Target="/ppt/notesSlides/notesSlide34.xml" Id="R961a0bb0edc3474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10b06702eed41ec" /><Relationship Type="http://schemas.openxmlformats.org/officeDocument/2006/relationships/notesSlide" Target="/ppt/notesSlides/notesSlide35.xml" Id="R4db2dcba1e74463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68d774041564fe9" /><Relationship Type="http://schemas.openxmlformats.org/officeDocument/2006/relationships/notesSlide" Target="/ppt/notesSlides/notesSlide36.xml" Id="Rd5986b9cacf3438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f4bd38cc8e7490a" /><Relationship Type="http://schemas.openxmlformats.org/officeDocument/2006/relationships/notesSlide" Target="/ppt/notesSlides/notesSlide37.xml" Id="R1dd3bc6be82c4c8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a5f291bf4f74de0" /><Relationship Type="http://schemas.openxmlformats.org/officeDocument/2006/relationships/notesSlide" Target="/ppt/notesSlides/notesSlide38.xml" Id="Rf5c4c7a14fdb402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5ca0dbe8af84b6d" /><Relationship Type="http://schemas.openxmlformats.org/officeDocument/2006/relationships/notesSlide" Target="/ppt/notesSlides/notesSlide39.xml" Id="R09f157654fac4bd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dacfe6114364941" /><Relationship Type="http://schemas.openxmlformats.org/officeDocument/2006/relationships/notesSlide" Target="/ppt/notesSlides/notesSlide40.xml" Id="R9156d471b30d4b3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ede201bba754bfc" /><Relationship Type="http://schemas.openxmlformats.org/officeDocument/2006/relationships/notesSlide" Target="/ppt/notesSlides/notesSlide41.xml" Id="R6844779c69dc4a0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edd18ab14c64867" /><Relationship Type="http://schemas.openxmlformats.org/officeDocument/2006/relationships/notesSlide" Target="/ppt/notesSlides/notesSlide42.xml" Id="Rb14e2648475e4221"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Simulink in the Aerospace</a:t>
            </a:r>
          </a:p>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10000"/>
              </a:lnSpc>
              <a:buNone/>
              <a:defRPr sz="1950" b="0" i="0">
                <a:solidFill>
                  <a:srgbClr val="BDD1DE"/>
                </a:solidFill>
                <a:latin typeface="Aptos"/>
                <a:ea typeface="Aptos"/>
                <a:cs typeface="Aptos"/>
              </a:defRPr>
            </a:pPr>
            <a:r>
              <a:rPr sz="1950" b="0" i="0">
                <a:solidFill>
                  <a:srgbClr val="BDD1DE"/>
                </a:solidFill>
                <a:latin typeface="Aptos"/>
                <a:ea typeface="Aptos"/>
                <a:cs typeface="Aptos"/>
              </a:rPr>
              <a:t>A practical guide from requirements and control-law models to HIL results and certification evidence</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8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8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8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111"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12"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13"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14"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300" b="1" i="0">
                <a:solidFill>
                  <a:srgbClr val="FFFFFF"/>
                </a:solidFill>
                <a:latin typeface="Aptos"/>
                <a:ea typeface="Aptos"/>
                <a:cs typeface="Aptos"/>
              </a:defRPr>
            </a:pPr>
            <a:r>
              <a:rPr sz="330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xmlns:a="http://schemas.openxmlformats.org/drawingml/2006/main">
              <a:ext uri="{FF2B5EF4-FFF2-40B4-BE49-F238E27FC236}">
                <a16:creationId xmlns:a16="http://schemas.microsoft.com/office/drawing/2014/main" id="{AA438571-D9D1-471E-AA88-C446F1322C99}"/>
              </a:ext>
            </a:extLst>
          </p:cNvPr>
          <p:cNvSpPr>
            <a:spLocks xmlns:a="http://schemas.openxmlformats.org/drawingml/2006/main" noGrp="1"/>
          </p:cNvSpPr>
          <p:nvPr/>
        </p:nvSpPr>
        <p:spPr>
          <a:xfrm xmlns:a="http://schemas.openxmlformats.org/drawingml/2006/main">
            <a:off x="800100" y="16764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57150" bIns="38100" anchor="t">
            <a:noAutofit/>
          </a:bodyPr>
          <a:lstStyle xmlns:a="http://schemas.openxmlformats.org/drawingml/2006/main"/>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Operate a model — initialize paths; open, update, run, stop, and inspect results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Navigate the editor — Simulation, Debug, Modeling, and Apps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Read semantics — units, data types, dimensions, timing, and logging</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Trace behavior — top level → component → harness → executed evidence</a:t>
            </a:r>
          </a:p>
        </p:txBody>
      </p:sp>
      <p:sp>
        <p:nvSpPr>
          <p:cNvPr id="7" name="box-25">
            <a:extLst xmlns:a="http://schemas.openxmlformats.org/drawingml/2006/main">
              <a:ext uri="{FF2B5EF4-FFF2-40B4-BE49-F238E27FC236}">
                <a16:creationId xmlns:a16="http://schemas.microsoft.com/office/drawing/2014/main" id="{F64BA3F6-72F9-49DA-9761-E25998217D04}"/>
              </a:ext>
            </a:extLst>
          </p:cNvPr>
          <p:cNvSpPr>
            <a:spLocks xmlns:a="http://schemas.openxmlformats.org/drawingml/2006/main" noGrp="1"/>
          </p:cNvSpPr>
          <p:nvPr/>
        </p:nvSpPr>
        <p:spPr>
          <a:xfrm xmlns:a="http://schemas.openxmlformats.org/drawingml/2006/main">
            <a:off x="8096250" y="1600200"/>
            <a:ext cx="3238500" cy="533400"/>
          </a:xfrm>
          <a:prstGeom xmlns:a="http://schemas.openxmlformats.org/drawingml/2006/main" prst="roundRect">
            <a:avLst>
              <a:gd name="adj" fmla="val 17857"/>
            </a:avLst>
          </a:prstGeom>
          <a:solidFill xmlns:a="http://schemas.openxmlformats.org/drawingml/2006/main">
            <a:srgbClr val="20B7C5"/>
          </a:solidFill>
          <a:ln xmlns:a="http://schemas.openxmlformats.org/drawingml/2006/main" w="9525">
            <a:solidFill>
              <a:srgbClr val="70DCE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START + RUN</a:t>
            </a:r>
          </a:p>
        </p:txBody>
      </p:sp>
      <p:sp>
        <p:nvSpPr>
          <p:cNvPr id="8" name="box-26">
            <a:extLst xmlns:a="http://schemas.openxmlformats.org/drawingml/2006/main">
              <a:ext uri="{FF2B5EF4-FFF2-40B4-BE49-F238E27FC236}">
                <a16:creationId xmlns:a16="http://schemas.microsoft.com/office/drawing/2014/main" id="{E192F255-6CFE-423E-8171-4D95D1ECAAAA}"/>
              </a:ext>
            </a:extLst>
          </p:cNvPr>
          <p:cNvSpPr>
            <a:spLocks xmlns:a="http://schemas.openxmlformats.org/drawingml/2006/main" noGrp="1"/>
          </p:cNvSpPr>
          <p:nvPr/>
        </p:nvSpPr>
        <p:spPr>
          <a:xfrm xmlns:a="http://schemas.openxmlformats.org/drawingml/2006/main">
            <a:off x="8096250" y="23431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MODEL HIERARCHY</a:t>
            </a:r>
          </a:p>
        </p:txBody>
      </p:sp>
      <p:sp>
        <p:nvSpPr>
          <p:cNvPr id="9" name="box-27">
            <a:extLst xmlns:a="http://schemas.openxmlformats.org/drawingml/2006/main">
              <a:ext uri="{FF2B5EF4-FFF2-40B4-BE49-F238E27FC236}">
                <a16:creationId xmlns:a16="http://schemas.microsoft.com/office/drawing/2014/main" id="{D3B12475-01C3-44AC-8DBC-ADB2A28BEC16}"/>
              </a:ext>
            </a:extLst>
          </p:cNvPr>
          <p:cNvSpPr>
            <a:spLocks xmlns:a="http://schemas.openxmlformats.org/drawingml/2006/main" noGrp="1"/>
          </p:cNvSpPr>
          <p:nvPr/>
        </p:nvSpPr>
        <p:spPr>
          <a:xfrm xmlns:a="http://schemas.openxmlformats.org/drawingml/2006/main">
            <a:off x="8096250" y="30861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OVERLAYS</a:t>
            </a:r>
          </a:p>
        </p:txBody>
      </p:sp>
      <p:sp>
        <p:nvSpPr>
          <p:cNvPr id="10" name="box-28">
            <a:extLst xmlns:a="http://schemas.openxmlformats.org/drawingml/2006/main">
              <a:ext uri="{FF2B5EF4-FFF2-40B4-BE49-F238E27FC236}">
                <a16:creationId xmlns:a16="http://schemas.microsoft.com/office/drawing/2014/main" id="{62C7045B-E32A-44F5-A79F-59AE4772F83C}"/>
              </a:ext>
            </a:extLst>
          </p:cNvPr>
          <p:cNvSpPr>
            <a:spLocks xmlns:a="http://schemas.openxmlformats.org/drawingml/2006/main" noGrp="1"/>
          </p:cNvSpPr>
          <p:nvPr/>
        </p:nvSpPr>
        <p:spPr>
          <a:xfrm xmlns:a="http://schemas.openxmlformats.org/drawingml/2006/main">
            <a:off x="8096250" y="38290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DATA INSPECTOR</a:t>
            </a:r>
          </a:p>
        </p:txBody>
      </p:sp>
      <p:sp>
        <p:nvSpPr>
          <p:cNvPr id="11" name="box-29">
            <a:extLst xmlns:a="http://schemas.openxmlformats.org/drawingml/2006/main">
              <a:ext uri="{FF2B5EF4-FFF2-40B4-BE49-F238E27FC236}">
                <a16:creationId xmlns:a16="http://schemas.microsoft.com/office/drawing/2014/main" id="{661A1047-6DAF-4542-B5E7-6ED1A4BDE75A}"/>
              </a:ext>
            </a:extLst>
          </p:cNvPr>
          <p:cNvSpPr>
            <a:spLocks xmlns:a="http://schemas.openxmlformats.org/drawingml/2006/main" noGrp="1"/>
          </p:cNvSpPr>
          <p:nvPr/>
        </p:nvSpPr>
        <p:spPr>
          <a:xfrm xmlns:a="http://schemas.openxmlformats.org/drawingml/2006/main">
            <a:off x="8096250" y="45720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TRACEABILITY</a:t>
            </a:r>
          </a:p>
        </p:txBody>
      </p:sp>
      <p:sp>
        <p:nvSpPr>
          <p:cNvPr id="12" name="text-30">
            <a:extLst xmlns:a="http://schemas.openxmlformats.org/drawingml/2006/main">
              <a:ext uri="{FF2B5EF4-FFF2-40B4-BE49-F238E27FC236}">
                <a16:creationId xmlns:a16="http://schemas.microsoft.com/office/drawing/2014/main" id="{5AC44D38-2825-475A-90E1-BDFA09584ECD}"/>
              </a:ext>
            </a:extLst>
          </p:cNvPr>
          <p:cNvSpPr>
            <a:spLocks xmlns:a="http://schemas.openxmlformats.org/drawingml/2006/main" noGrp="1"/>
          </p:cNvSpPr>
          <p:nvPr/>
        </p:nvSpPr>
        <p:spPr>
          <a:xfrm xmlns:a="http://schemas.openxmlformats.org/drawingml/2006/main">
            <a:off x="800100" y="51435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Keep asking: Which model am I in, what state is visible, and what evidence proves the requirement?</a:t>
            </a:r>
          </a:p>
        </p:txBody>
      </p:sp>
    </p:spTree>
    <p:extLst>
      <p:ext uri="{BB962C8B-B14F-4D97-AF65-F5344CB8AC3E}">
        <p14:creationId xmlns:p14="http://schemas.microsoft.com/office/powerpoint/2010/main" val="888420416"/>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25" b="1" i="0">
                <a:solidFill>
                  <a:srgbClr val="0B1F33"/>
                </a:solidFill>
                <a:latin typeface="Aptos"/>
                <a:ea typeface="Aptos"/>
                <a:cs typeface="Aptos"/>
              </a:defRPr>
            </a:pPr>
            <a:r>
              <a:rPr sz="3225" b="1" i="0">
                <a:solidFill>
                  <a:srgbClr val="0B1F33"/>
                </a:solidFill>
                <a:latin typeface="Aptos"/>
                <a:ea typeface="Aptos"/>
                <a:cs typeface="Aptos"/>
              </a:rPr>
              <a:t>Five actions start every first Simulink session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Tree>
    <p:extLst>
      <p:ext uri="{BB962C8B-B14F-4D97-AF65-F5344CB8AC3E}">
        <p14:creationId xmlns:p14="http://schemas.microsoft.com/office/powerpoint/2010/main" val="254232730"/>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63" b="1" i="0">
                <a:solidFill>
                  <a:srgbClr val="0B1F33"/>
                </a:solidFill>
                <a:latin typeface="Aptos"/>
                <a:ea typeface="Aptos"/>
                <a:cs typeface="Aptos"/>
              </a:defRPr>
            </a:pPr>
            <a:r>
              <a:rPr sz="3263"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01 • INTRODUCTION TO SIMULINK</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080256114"/>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63" b="1" i="0">
                <a:solidFill>
                  <a:srgbClr val="0B1F33"/>
                </a:solidFill>
                <a:latin typeface="Aptos"/>
                <a:ea typeface="Aptos"/>
                <a:cs typeface="Aptos"/>
              </a:defRPr>
            </a:pPr>
            <a:r>
              <a:rPr sz="3263" b="1" i="0">
                <a:solidFill>
                  <a:srgbClr val="0B1F33"/>
                </a:solidFill>
                <a:latin typeface="Aptos"/>
                <a:ea typeface="Aptos"/>
                <a:cs typeface="Aptos"/>
              </a:rPr>
              <a:t>Turn review overlays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Tree>
    <p:extLst>
      <p:ext uri="{BB962C8B-B14F-4D97-AF65-F5344CB8AC3E}">
        <p14:creationId xmlns:p14="http://schemas.microsoft.com/office/powerpoint/2010/main" val="28635293"/>
      </p:ext>
    </p:extLst>
  </p:cSld>
</p:sld>
</file>

<file path=ppt/slides/slide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01 • INTRODUCTION TO SIMULINK</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375" b="1" i="0">
                <a:solidFill>
                  <a:srgbClr val="FFFFFF"/>
                </a:solidFill>
                <a:latin typeface="Aptos"/>
                <a:ea typeface="Aptos"/>
                <a:cs typeface="Aptos"/>
              </a:defRPr>
            </a:pPr>
            <a:r>
              <a:rPr sz="3375" b="1" i="0">
                <a:solidFill>
                  <a:srgbClr val="FFFFFF"/>
                </a:solidFill>
                <a:latin typeface="Aptos"/>
                <a:ea typeface="Aptos"/>
                <a:cs typeface="Aptos"/>
              </a:rPr>
              <a:t>Know which top-level model you opened</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08</a:t>
            </a:r>
          </a:p>
        </p:txBody>
      </p:sp>
    </p:spTree>
    <p:extLst>
      <p:ext uri="{BB962C8B-B14F-4D97-AF65-F5344CB8AC3E}">
        <p14:creationId xmlns:p14="http://schemas.microsoft.com/office/powerpoint/2010/main" val="1442167591"/>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Tree>
    <p:extLst>
      <p:ext uri="{BB962C8B-B14F-4D97-AF65-F5344CB8AC3E}">
        <p14:creationId xmlns:p14="http://schemas.microsoft.com/office/powerpoint/2010/main" val="1578336787"/>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Tree>
    <p:extLst>
      <p:ext uri="{BB962C8B-B14F-4D97-AF65-F5344CB8AC3E}">
        <p14:creationId xmlns:p14="http://schemas.microsoft.com/office/powerpoint/2010/main" val="1578336787"/>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Tree>
    <p:extLst>
      <p:ext uri="{BB962C8B-B14F-4D97-AF65-F5344CB8AC3E}">
        <p14:creationId xmlns:p14="http://schemas.microsoft.com/office/powerpoint/2010/main" val="1578336787"/>
      </p:ext>
    </p:extLst>
  </p:cSld>
</p:sld>
</file>

<file path=ppt/slides/slide1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Tree>
    <p:extLst>
      <p:ext uri="{BB962C8B-B14F-4D97-AF65-F5344CB8AC3E}">
        <p14:creationId xmlns:p14="http://schemas.microsoft.com/office/powerpoint/2010/main" val="1578336787"/>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Tree>
    <p:extLst>
      <p:ext uri="{BB962C8B-B14F-4D97-AF65-F5344CB8AC3E}">
        <p14:creationId xmlns:p14="http://schemas.microsoft.com/office/powerpoint/2010/main" val="1578336787"/>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Tree>
    <p:extLst>
      <p:ext uri="{BB962C8B-B14F-4D97-AF65-F5344CB8AC3E}">
        <p14:creationId xmlns:p14="http://schemas.microsoft.com/office/powerpoint/2010/main" val="1578336787"/>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Modes select the law; schedules adapt it</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spTree>
    <p:extLst>
      <p:ext uri="{BB962C8B-B14F-4D97-AF65-F5344CB8AC3E}">
        <p14:creationId xmlns:p14="http://schemas.microsoft.com/office/powerpoint/2010/main" val="812255478"/>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2963" b="1" i="0">
                <a:solidFill>
                  <a:srgbClr val="0B1F33"/>
                </a:solidFill>
                <a:latin typeface="Aptos"/>
                <a:ea typeface="Aptos"/>
                <a:cs typeface="Aptos"/>
              </a:defRPr>
            </a:pPr>
            <a:r>
              <a:rPr sz="2963"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spTree>
    <p:extLst>
      <p:ext uri="{BB962C8B-B14F-4D97-AF65-F5344CB8AC3E}">
        <p14:creationId xmlns:p14="http://schemas.microsoft.com/office/powerpoint/2010/main" val="1586749842"/>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2963" b="1" i="0">
                <a:solidFill>
                  <a:srgbClr val="0B1F33"/>
                </a:solidFill>
                <a:latin typeface="Aptos"/>
                <a:ea typeface="Aptos"/>
                <a:cs typeface="Aptos"/>
              </a:defRPr>
            </a:pPr>
            <a:r>
              <a:rPr sz="2963"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spTree>
    <p:extLst>
      <p:ext uri="{BB962C8B-B14F-4D97-AF65-F5344CB8AC3E}">
        <p14:creationId xmlns:p14="http://schemas.microsoft.com/office/powerpoint/2010/main" val="1586749842"/>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Build the component in six reviewable steps</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Tree>
    <p:extLst>
      <p:ext uri="{BB962C8B-B14F-4D97-AF65-F5344CB8AC3E}">
        <p14:creationId xmlns:p14="http://schemas.microsoft.com/office/powerpoint/2010/main" val="112507120"/>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Build the component in six reviewable steps</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Tree>
    <p:extLst>
      <p:ext uri="{BB962C8B-B14F-4D97-AF65-F5344CB8AC3E}">
        <p14:creationId xmlns:p14="http://schemas.microsoft.com/office/powerpoint/2010/main" val="112507120"/>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2963" b="1" i="0">
                <a:solidFill>
                  <a:srgbClr val="0B1F33"/>
                </a:solidFill>
                <a:latin typeface="Aptos"/>
                <a:ea typeface="Aptos"/>
                <a:cs typeface="Aptos"/>
              </a:defRPr>
            </a:pPr>
            <a:r>
              <a:rPr sz="2963"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spTree>
    <p:extLst>
      <p:ext uri="{BB962C8B-B14F-4D97-AF65-F5344CB8AC3E}">
        <p14:creationId xmlns:p14="http://schemas.microsoft.com/office/powerpoint/2010/main" val="1586749842"/>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Tree>
    <p:extLst>
      <p:ext uri="{BB962C8B-B14F-4D97-AF65-F5344CB8AC3E}">
        <p14:creationId xmlns:p14="http://schemas.microsoft.com/office/powerpoint/2010/main" val="1578336787"/>
      </p:ext>
    </p:extLst>
  </p:cSld>
</p:sld>
</file>

<file path=ppt/slides/slide2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2963" b="1" i="0">
                <a:solidFill>
                  <a:srgbClr val="0B1F33"/>
                </a:solidFill>
                <a:latin typeface="Aptos"/>
                <a:ea typeface="Aptos"/>
                <a:cs typeface="Aptos"/>
              </a:defRPr>
            </a:pPr>
            <a:r>
              <a:rPr sz="2963"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spTree>
    <p:extLst>
      <p:ext uri="{BB962C8B-B14F-4D97-AF65-F5344CB8AC3E}">
        <p14:creationId xmlns:p14="http://schemas.microsoft.com/office/powerpoint/2010/main" val="1586749842"/>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harness makes expectations executable</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spTree>
    <p:extLst>
      <p:ext uri="{BB962C8B-B14F-4D97-AF65-F5344CB8AC3E}">
        <p14:creationId xmlns:p14="http://schemas.microsoft.com/office/powerpoint/2010/main" val="1234053405"/>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113" b="1" i="0">
                <a:solidFill>
                  <a:srgbClr val="0B1F33"/>
                </a:solidFill>
                <a:latin typeface="Aptos"/>
                <a:ea typeface="Aptos"/>
                <a:cs typeface="Aptos"/>
              </a:defRPr>
            </a:pPr>
            <a:r>
              <a:rPr sz="3113" b="1" i="0">
                <a:solidFill>
                  <a:srgbClr val="0B1F33"/>
                </a:solidFill>
                <a:latin typeface="Aptos"/>
                <a:ea typeface="Aptos"/>
                <a:cs typeface="Aptos"/>
              </a:rPr>
              <a:t>The Data Inspector makes runs inspectable and comparable</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spTree>
    <p:extLst>
      <p:ext uri="{BB962C8B-B14F-4D97-AF65-F5344CB8AC3E}">
        <p14:creationId xmlns:p14="http://schemas.microsoft.com/office/powerpoint/2010/main" val="354341949"/>
      </p:ext>
    </p:extLst>
  </p:cSld>
</p:sld>
</file>

<file path=ppt/slides/slide2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03 • DO-178C OVERVIEW</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DO-178C demands evidence—not diagrams</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Software levels scale rigor with consequence</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Tree>
    <p:extLst>
      <p:ext uri="{BB962C8B-B14F-4D97-AF65-F5344CB8AC3E}">
        <p14:creationId xmlns:p14="http://schemas.microsoft.com/office/powerpoint/2010/main" val="1670726246"/>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94"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95"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96"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test results are evidence inputs—not automatic approval.</a:t>
            </a:r>
          </a:p>
        </p:txBody>
      </p:sp>
      <p:sp>
        <p:nvSpPr>
          <p:cNvPr id="45" name="section-221-v3">
            <a:extLst xmlns:a="http://schemas.openxmlformats.org/drawingml/2006/main">
              <a:ext uri="{FF2B5EF4-FFF2-40B4-BE49-F238E27FC236}">
                <a16:creationId xmlns:a16="http://schemas.microsoft.com/office/drawing/2014/main" id="{3245DEDA-FCCB-4048-ABBD-52C4B480B43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03 • DO-178C OVERVIEW</a:t>
            </a:r>
          </a:p>
        </p:txBody>
      </p:sp>
      <p:sp>
        <p:nvSpPr>
          <p:cNvPr id="46" name="text-223-v3">
            <a:extLst xmlns:a="http://schemas.openxmlformats.org/drawingml/2006/main">
              <a:ext uri="{FF2B5EF4-FFF2-40B4-BE49-F238E27FC236}">
                <a16:creationId xmlns:a16="http://schemas.microsoft.com/office/drawing/2014/main" id="{5E425080-B351-4217-A1BF-75920FDAEB5C}"/>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622149317"/>
      </p:ext>
    </p:extLst>
  </p:cSld>
</p:sld>
</file>

<file path=ppt/slides/slide2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038" b="1" i="0">
                <a:solidFill>
                  <a:srgbClr val="0B1F33"/>
                </a:solidFill>
                <a:latin typeface="Aptos"/>
                <a:ea typeface="Aptos"/>
                <a:cs typeface="Aptos"/>
              </a:defRPr>
            </a:pPr>
            <a:r>
              <a:rPr sz="3038" b="1" i="0">
                <a:solidFill>
                  <a:srgbClr val="0B1F33"/>
                </a:solidFill>
                <a:latin typeface="Aptos"/>
                <a:ea typeface="Aptos"/>
                <a:cs typeface="Aptos"/>
              </a:rPr>
              <a:t>The V-model links every definition to its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15</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208"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209"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210"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211"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212"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05 • REQUIREMENTS DEVELOPMENT</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25" b="1" i="0">
                <a:solidFill>
                  <a:srgbClr val="0B1F33"/>
                </a:solidFill>
                <a:latin typeface="Aptos"/>
                <a:ea typeface="Aptos"/>
                <a:cs typeface="Aptos"/>
              </a:defRPr>
            </a:pPr>
            <a:r>
              <a:rPr sz="3225" b="1" i="0">
                <a:solidFill>
                  <a:srgbClr val="0B1F33"/>
                </a:solidFill>
                <a:latin typeface="Aptos"/>
                <a:ea typeface="Aptos"/>
                <a:cs typeface="Aptos"/>
              </a:rPr>
              <a:t>Pseudo requirements make the training chain explicit</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SYSTEM</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SOFTWARE HLR</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SWHLR-001 / 002</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DESIGN / LLR</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SWLLR-001 / 002</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STATUS + TIMING</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SWHLR-003 / 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95250" tIns="38100" rIns="95250" bIns="3810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18</a:t>
            </a:r>
          </a:p>
        </p:txBody>
      </p:sp>
    </p:spTree>
    <p:extLst>
      <p:ext uri="{BB962C8B-B14F-4D97-AF65-F5344CB8AC3E}">
        <p14:creationId xmlns:p14="http://schemas.microsoft.com/office/powerpoint/2010/main" val="125380021"/>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05 • REQUIREMENTS DEVELOPMENT</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25" b="1" i="0">
                <a:solidFill>
                  <a:srgbClr val="FFFFFF"/>
                </a:solidFill>
                <a:latin typeface="Aptos"/>
                <a:ea typeface="Aptos"/>
                <a:cs typeface="Aptos"/>
              </a:defRPr>
            </a:pPr>
            <a:r>
              <a:rPr sz="3225" b="1" i="0">
                <a:solidFill>
                  <a:srgbClr val="FFFFFF"/>
                </a:solidFill>
                <a:latin typeface="Aptos"/>
                <a:ea typeface="Aptos"/>
                <a:cs typeface="Aptos"/>
              </a:rPr>
              <a:t>One limiter requirement, one traceable evidence chain</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19</a:t>
            </a:r>
          </a:p>
        </p:txBody>
      </p:sp>
    </p:spTree>
    <p:extLst>
      <p:ext uri="{BB962C8B-B14F-4D97-AF65-F5344CB8AC3E}">
        <p14:creationId xmlns:p14="http://schemas.microsoft.com/office/powerpoint/2010/main" val="2043144866"/>
      </p:ext>
    </p:extLst>
  </p:cSld>
</p:sld>
</file>

<file path=ppt/slides/slide3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1 — plan, specify, develop, and test</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16</a:t>
            </a:r>
          </a:p>
        </p:txBody>
      </p:sp>
    </p:spTree>
    <p:extLst>
      <p:ext uri="{BB962C8B-B14F-4D97-AF65-F5344CB8AC3E}">
        <p14:creationId xmlns:p14="http://schemas.microsoft.com/office/powerpoint/2010/main" val="445827379"/>
      </p:ext>
    </p:extLst>
  </p:cSld>
</p:sld>
</file>

<file path=ppt/slides/slide3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Strong tests target boundaries and failures</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3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08 • MLDATX TEST FILES</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MATLAB tests preserve intent without .mldatx</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25</a:t>
            </a:r>
          </a:p>
        </p:txBody>
      </p:sp>
    </p:spTree>
    <p:extLst>
      <p:ext uri="{BB962C8B-B14F-4D97-AF65-F5344CB8AC3E}">
        <p14:creationId xmlns:p14="http://schemas.microsoft.com/office/powerpoint/2010/main" val="1092961568"/>
      </p:ext>
    </p:extLst>
  </p:cSld>
</p:sld>
</file>

<file path=ppt/slides/slide3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09 • CALLBACK SCRIPTS</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Callbacks make tests deterministic</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spTree>
    <p:extLst>
      <p:ext uri="{BB962C8B-B14F-4D97-AF65-F5344CB8AC3E}">
        <p14:creationId xmlns:p14="http://schemas.microsoft.com/office/powerpoint/2010/main" val="1450052894"/>
      </p:ext>
    </p:extLst>
  </p:cSld>
</p:sld>
</file>

<file path=ppt/slides/slide3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Explicit interfaces make integration predictable</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21</a:t>
            </a:r>
          </a:p>
        </p:txBody>
      </p:sp>
    </p:spTree>
    <p:extLst>
      <p:ext uri="{BB962C8B-B14F-4D97-AF65-F5344CB8AC3E}">
        <p14:creationId xmlns:p14="http://schemas.microsoft.com/office/powerpoint/2010/main" val="786167458"/>
      </p:ext>
    </p:extLst>
  </p:cSld>
</p:sld>
</file>

<file path=ppt/slides/slide3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06 • SIMULINK DEVELOPMENT</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22</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3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11 • CONTINUOUS INTEGRATION</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Jenkins makes verification repeatable</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28</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134"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35"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36"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37"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38"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13" b="0" i="0">
                <a:solidFill>
                  <a:srgbClr val="D8E8F1"/>
                </a:solidFill>
                <a:latin typeface="Aptos"/>
                <a:ea typeface="Aptos"/>
                <a:cs typeface="Aptos"/>
              </a:defRPr>
            </a:pPr>
            <a:r>
              <a:rPr sz="1313" b="0" i="0">
                <a:solidFill>
                  <a:srgbClr val="D8E8F1"/>
                </a:solidFill>
                <a:latin typeface="Aptos"/>
                <a:ea typeface="Aptos"/>
                <a:cs typeface="Aptos"/>
              </a:rPr>
              <a:t>opens the project, updates models, runs checks and scripted tests; .mldatx suites are an optional generic capability, not supplied here</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425" b="1" i="0">
                <a:solidFill>
                  <a:srgbClr val="70DCE5"/>
                </a:solidFill>
                <a:latin typeface="Aptos"/>
                <a:ea typeface="Aptos"/>
                <a:cs typeface="Aptos"/>
              </a:defRPr>
            </a:pPr>
            <a:r>
              <a:rPr sz="1425" b="1" i="0">
                <a:solidFill>
                  <a:srgbClr val="70DCE5"/>
                </a:solidFill>
                <a:latin typeface="Aptos"/>
                <a:ea typeface="Aptos"/>
                <a:cs typeface="Aptos"/>
              </a:rPr>
              <a:t>Use continuous integration and verification automation—not automatic deployment to airborne software.</a:t>
            </a:r>
          </a:p>
        </p:txBody>
      </p:sp>
    </p:spTree>
    <p:extLst>
      <p:ext uri="{BB962C8B-B14F-4D97-AF65-F5344CB8AC3E}">
        <p14:creationId xmlns:p14="http://schemas.microsoft.com/office/powerpoint/2010/main" val="92477978"/>
      </p:ext>
    </p:extLst>
  </p:cSld>
</p:sld>
</file>

<file path=ppt/slides/slide3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12 • FAILURE INVESTIGATION</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110"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111"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112"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13"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3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13 • HARDWARE-IN-THE-LOOP</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HIL tests real hardware in a virtual aircraft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Tree>
    <p:extLst>
      <p:ext uri="{BB962C8B-B14F-4D97-AF65-F5344CB8AC3E}">
        <p14:creationId xmlns:p14="http://schemas.microsoft.com/office/powerpoint/2010/main" val="198638874"/>
      </p:ext>
    </p:extLst>
  </p:cSld>
</p:sld>
</file>

<file path=ppt/slides/slide4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14 • COMPLETE END-TO-END EXAMPLE</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one unbroken evidence chain</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32</a:t>
            </a:r>
          </a:p>
        </p:txBody>
      </p:sp>
    </p:spTree>
    <p:extLst>
      <p:ext uri="{BB962C8B-B14F-4D97-AF65-F5344CB8AC3E}">
        <p14:creationId xmlns:p14="http://schemas.microsoft.com/office/powerpoint/2010/main" val="807636582"/>
      </p:ext>
    </p:extLst>
  </p:cSld>
</p:sld>
</file>

<file path=ppt/slides/slide4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13 • HARDWARE-IN-THE-LOOP</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HIL pass criteria must be quantitative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31</a:t>
            </a:r>
          </a:p>
        </p:txBody>
      </p:sp>
    </p:spTree>
    <p:extLst>
      <p:ext uri="{BB962C8B-B14F-4D97-AF65-F5344CB8AC3E}">
        <p14:creationId xmlns:p14="http://schemas.microsoft.com/office/powerpoint/2010/main" val="140704512"/>
      </p:ext>
    </p:extLst>
  </p:cSld>
</p:sld>
</file>

<file path=ppt/slides/slide4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15 • KEY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300" b="1" i="0">
                <a:solidFill>
                  <a:srgbClr val="FFFFFF"/>
                </a:solidFill>
                <a:latin typeface="Aptos"/>
                <a:ea typeface="Aptos"/>
                <a:cs typeface="Aptos"/>
              </a:defRPr>
            </a:pPr>
            <a:r>
              <a:rPr sz="330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WEEK</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01  initialize paths + open the simulation top level</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02  update (Ctrl+D), then run (Ctrl+T)</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03  toggle units, types, dimensions + logging</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04  inspect samples + compare runs in SDI</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05  trace PSYS-001 to one executed result</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06  modify one component; rerun affected evidence</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 repeatable chain makes review possible: requirement → model → test → result → controlled baseline.</a:t>
            </a:r>
          </a:p>
        </p:txBody>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33</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2026-08-27T12:08:55.3360000Z</dcterms:created>
  <dcterms:modified xsi:type="dcterms:W3CDTF">2026-08-27T12:08:55.3360000Z</dcterms:modified>
</coreProperties>
</file>