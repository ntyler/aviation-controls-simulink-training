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a1cef76904c4695" /><Relationship Type="http://schemas.openxmlformats.org/officeDocument/2006/relationships/extended-properties" Target="/docProps/app.xml" Id="R89afc634fa464f4b" /><Relationship Type="http://schemas.openxmlformats.org/officeDocument/2006/relationships/officeDocument" Target="/ppt/presentation.xml" Id="R7d8c3c681e9443a8" /></Relationships>
</file>

<file path=ppt/presentation.xml><?xml version="1.0" encoding="utf-8"?>
<p:presentation xmlns:p="http://schemas.openxmlformats.org/presentationml/2006/main">
  <p:sldMasterIdLst>
    <p:sldMasterId xmlns:r="http://schemas.openxmlformats.org/officeDocument/2006/relationships" id="2147483648" r:id="R22d92c9ae14549c2"/>
  </p:sldMasterIdLst>
  <p:notesMasterIdLst>
    <p:notesMasterId xmlns:r="http://schemas.openxmlformats.org/officeDocument/2006/relationships" r:id="R810c19ab85b44d19"/>
  </p:notesMasterIdLst>
  <p:sldIdLst>
    <p:sldId xmlns:r="http://schemas.openxmlformats.org/officeDocument/2006/relationships" id="256" r:id="R89545226badd494a"/>
    <p:sldId xmlns:r="http://schemas.openxmlformats.org/officeDocument/2006/relationships" id="257" r:id="R6b3747e480fc40b8"/>
    <p:sldId xmlns:r="http://schemas.openxmlformats.org/officeDocument/2006/relationships" id="258" r:id="R67a0aebe1441413f"/>
    <p:sldId xmlns:r="http://schemas.openxmlformats.org/officeDocument/2006/relationships" id="259" r:id="R75818c5487004e12"/>
    <p:sldId xmlns:r="http://schemas.openxmlformats.org/officeDocument/2006/relationships" id="260" r:id="R77533ba1389b4059"/>
    <p:sldId xmlns:r="http://schemas.openxmlformats.org/officeDocument/2006/relationships" id="261" r:id="R48c9b9967f874009"/>
    <p:sldId xmlns:r="http://schemas.openxmlformats.org/officeDocument/2006/relationships" id="262" r:id="Rcc818860ef904512"/>
    <p:sldId xmlns:r="http://schemas.openxmlformats.org/officeDocument/2006/relationships" id="263" r:id="Re683c2e9ecd24607"/>
    <p:sldId xmlns:r="http://schemas.openxmlformats.org/officeDocument/2006/relationships" id="264" r:id="R9a8ef17a39ce489b"/>
    <p:sldId xmlns:r="http://schemas.openxmlformats.org/officeDocument/2006/relationships" id="265" r:id="R7d8a06a7dd6b4d0e"/>
    <p:sldId xmlns:r="http://schemas.openxmlformats.org/officeDocument/2006/relationships" id="266" r:id="Re5a71e4f1785452c"/>
    <p:sldId xmlns:r="http://schemas.openxmlformats.org/officeDocument/2006/relationships" id="267" r:id="R4a912100853e4298"/>
    <p:sldId xmlns:r="http://schemas.openxmlformats.org/officeDocument/2006/relationships" id="268" r:id="R20cb8e5f3c8643d4"/>
    <p:sldId xmlns:r="http://schemas.openxmlformats.org/officeDocument/2006/relationships" id="269" r:id="R35e9a564c545434f"/>
    <p:sldId xmlns:r="http://schemas.openxmlformats.org/officeDocument/2006/relationships" id="270" r:id="R1e11cb6ba8fe402b"/>
    <p:sldId xmlns:r="http://schemas.openxmlformats.org/officeDocument/2006/relationships" id="271" r:id="R544690790aa24575"/>
    <p:sldId xmlns:r="http://schemas.openxmlformats.org/officeDocument/2006/relationships" id="272" r:id="R059c00dc3a72407c"/>
    <p:sldId xmlns:r="http://schemas.openxmlformats.org/officeDocument/2006/relationships" id="273" r:id="R995c6f1a6b0c48bb"/>
    <p:sldId xmlns:r="http://schemas.openxmlformats.org/officeDocument/2006/relationships" id="274" r:id="Rea8c9791a2304da5"/>
    <p:sldId xmlns:r="http://schemas.openxmlformats.org/officeDocument/2006/relationships" id="275" r:id="R4728d914325f41fc"/>
    <p:sldId xmlns:r="http://schemas.openxmlformats.org/officeDocument/2006/relationships" id="276" r:id="R2441256c8f724a67"/>
    <p:sldId xmlns:r="http://schemas.openxmlformats.org/officeDocument/2006/relationships" id="277" r:id="R317fe6fad93a417f"/>
    <p:sldId xmlns:r="http://schemas.openxmlformats.org/officeDocument/2006/relationships" id="278" r:id="Rbc58aa3e64094c77"/>
    <p:sldId xmlns:r="http://schemas.openxmlformats.org/officeDocument/2006/relationships" id="279" r:id="R295d729942374902"/>
    <p:sldId xmlns:r="http://schemas.openxmlformats.org/officeDocument/2006/relationships" id="280" r:id="R797407d0ed4147d9"/>
    <p:sldId xmlns:r="http://schemas.openxmlformats.org/officeDocument/2006/relationships" id="281" r:id="Rc86c61f8b29d4adc"/>
    <p:sldId xmlns:r="http://schemas.openxmlformats.org/officeDocument/2006/relationships" id="282" r:id="Re84bb7d8b5304925"/>
    <p:sldId xmlns:r="http://schemas.openxmlformats.org/officeDocument/2006/relationships" id="283" r:id="Rdf572f7e24674ebe"/>
    <p:sldId xmlns:r="http://schemas.openxmlformats.org/officeDocument/2006/relationships" id="284" r:id="Rbeb9b183e4324266"/>
    <p:sldId xmlns:r="http://schemas.openxmlformats.org/officeDocument/2006/relationships" id="285" r:id="R986b4fb5f271452c"/>
    <p:sldId xmlns:r="http://schemas.openxmlformats.org/officeDocument/2006/relationships" id="286" r:id="Rc55c92b193f14ea9"/>
    <p:sldId xmlns:r="http://schemas.openxmlformats.org/officeDocument/2006/relationships" id="287" r:id="R90fe361128b043d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df0156e582842e4" /><Relationship Type="http://schemas.openxmlformats.org/officeDocument/2006/relationships/slideMaster" Target="/ppt/slideMasters/slideMaster1.xml" Id="R22d92c9ae14549c2" /><Relationship Type="http://schemas.openxmlformats.org/officeDocument/2006/relationships/notesMaster" Target="/ppt/notesMasters/notesMaster1.xml" Id="R810c19ab85b44d19" /><Relationship Type="http://schemas.openxmlformats.org/officeDocument/2006/relationships/presProps" Target="/ppt/presProps.xml" Id="Rf8f62ea06f2f4cd3" /><Relationship Type="http://schemas.openxmlformats.org/officeDocument/2006/relationships/tableStyles" Target="/ppt/tableStyles.xml" Id="Rbfb299e1327f4266" /><Relationship Type="http://schemas.openxmlformats.org/officeDocument/2006/relationships/slide" Target="/ppt/slides/slide1.xml" Id="R89545226badd494a" /><Relationship Type="http://schemas.openxmlformats.org/officeDocument/2006/relationships/slide" Target="/ppt/slides/slide2.xml" Id="R6b3747e480fc40b8" /><Relationship Type="http://schemas.openxmlformats.org/officeDocument/2006/relationships/slide" Target="/ppt/slides/slide3.xml" Id="R67a0aebe1441413f" /><Relationship Type="http://schemas.openxmlformats.org/officeDocument/2006/relationships/slide" Target="/ppt/slides/slide4.xml" Id="R75818c5487004e12" /><Relationship Type="http://schemas.openxmlformats.org/officeDocument/2006/relationships/slide" Target="/ppt/slides/slide5.xml" Id="R77533ba1389b4059" /><Relationship Type="http://schemas.openxmlformats.org/officeDocument/2006/relationships/slide" Target="/ppt/slides/slide6.xml" Id="R48c9b9967f874009" /><Relationship Type="http://schemas.openxmlformats.org/officeDocument/2006/relationships/slide" Target="/ppt/slides/slide7.xml" Id="Rcc818860ef904512" /><Relationship Type="http://schemas.openxmlformats.org/officeDocument/2006/relationships/slide" Target="/ppt/slides/slide8.xml" Id="Re683c2e9ecd24607" /><Relationship Type="http://schemas.openxmlformats.org/officeDocument/2006/relationships/slide" Target="/ppt/slides/slide9.xml" Id="R9a8ef17a39ce489b" /><Relationship Type="http://schemas.openxmlformats.org/officeDocument/2006/relationships/slide" Target="/ppt/slides/slide10.xml" Id="R7d8a06a7dd6b4d0e" /><Relationship Type="http://schemas.openxmlformats.org/officeDocument/2006/relationships/slide" Target="/ppt/slides/slide11.xml" Id="Re5a71e4f1785452c" /><Relationship Type="http://schemas.openxmlformats.org/officeDocument/2006/relationships/slide" Target="/ppt/slides/slide12.xml" Id="R4a912100853e4298" /><Relationship Type="http://schemas.openxmlformats.org/officeDocument/2006/relationships/slide" Target="/ppt/slides/slide13.xml" Id="R20cb8e5f3c8643d4" /><Relationship Type="http://schemas.openxmlformats.org/officeDocument/2006/relationships/slide" Target="/ppt/slides/slide14.xml" Id="R35e9a564c545434f" /><Relationship Type="http://schemas.openxmlformats.org/officeDocument/2006/relationships/slide" Target="/ppt/slides/slide15.xml" Id="R1e11cb6ba8fe402b" /><Relationship Type="http://schemas.openxmlformats.org/officeDocument/2006/relationships/slide" Target="/ppt/slides/slide16.xml" Id="R544690790aa24575" /><Relationship Type="http://schemas.openxmlformats.org/officeDocument/2006/relationships/slide" Target="/ppt/slides/slide17.xml" Id="R059c00dc3a72407c" /><Relationship Type="http://schemas.openxmlformats.org/officeDocument/2006/relationships/slide" Target="/ppt/slides/slide18.xml" Id="R995c6f1a6b0c48bb" /><Relationship Type="http://schemas.openxmlformats.org/officeDocument/2006/relationships/slide" Target="/ppt/slides/slide19.xml" Id="Rea8c9791a2304da5" /><Relationship Type="http://schemas.openxmlformats.org/officeDocument/2006/relationships/slide" Target="/ppt/slides/slide20.xml" Id="R4728d914325f41fc" /><Relationship Type="http://schemas.openxmlformats.org/officeDocument/2006/relationships/slide" Target="/ppt/slides/slide21.xml" Id="R2441256c8f724a67" /><Relationship Type="http://schemas.openxmlformats.org/officeDocument/2006/relationships/slide" Target="/ppt/slides/slide22.xml" Id="R317fe6fad93a417f" /><Relationship Type="http://schemas.openxmlformats.org/officeDocument/2006/relationships/slide" Target="/ppt/slides/slide23.xml" Id="Rbc58aa3e64094c77" /><Relationship Type="http://schemas.openxmlformats.org/officeDocument/2006/relationships/slide" Target="/ppt/slides/slide24.xml" Id="R295d729942374902" /><Relationship Type="http://schemas.openxmlformats.org/officeDocument/2006/relationships/slide" Target="/ppt/slides/slide25.xml" Id="R797407d0ed4147d9" /><Relationship Type="http://schemas.openxmlformats.org/officeDocument/2006/relationships/slide" Target="/ppt/slides/slide26.xml" Id="Rc86c61f8b29d4adc" /><Relationship Type="http://schemas.openxmlformats.org/officeDocument/2006/relationships/slide" Target="/ppt/slides/slide27.xml" Id="Re84bb7d8b5304925" /><Relationship Type="http://schemas.openxmlformats.org/officeDocument/2006/relationships/slide" Target="/ppt/slides/slide28.xml" Id="Rdf572f7e24674ebe" /><Relationship Type="http://schemas.openxmlformats.org/officeDocument/2006/relationships/slide" Target="/ppt/slides/slide29.xml" Id="Rbeb9b183e4324266" /><Relationship Type="http://schemas.openxmlformats.org/officeDocument/2006/relationships/slide" Target="/ppt/slides/slide30.xml" Id="R986b4fb5f271452c" /><Relationship Type="http://schemas.openxmlformats.org/officeDocument/2006/relationships/slide" Target="/ppt/slides/slide31.xml" Id="Rc55c92b193f14ea9" /><Relationship Type="http://schemas.openxmlformats.org/officeDocument/2006/relationships/slide" Target="/ppt/slides/slide32.xml" Id="R90fe361128b043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8f56d4b22af48e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6adae4055424b63" /><Relationship Type="http://schemas.openxmlformats.org/officeDocument/2006/relationships/notesMaster" Target="/ppt/notesMasters/notesMaster1.xml" Id="R2d01e71f11b9449f" /></Relationships>
</file>

<file path=ppt/notesSlides/_rels/notesSlide2.xml.rels>&#65279;<?xml version="1.0" encoding="utf-8"?><Relationships xmlns="http://schemas.openxmlformats.org/package/2006/relationships"><Relationship Type="http://schemas.openxmlformats.org/officeDocument/2006/relationships/slide" Target="/ppt/slides/slide2.xml" Id="R8be7db019a344e7a" /><Relationship Type="http://schemas.openxmlformats.org/officeDocument/2006/relationships/notesMaster" Target="/ppt/notesMasters/notesMaster1.xml" Id="Rb18b17d9ac7c4add" /></Relationships>
</file>

<file path=ppt/notesSlides/_rels/notesSlide3.xml.rels>&#65279;<?xml version="1.0" encoding="utf-8"?><Relationships xmlns="http://schemas.openxmlformats.org/package/2006/relationships"><Relationship Type="http://schemas.openxmlformats.org/officeDocument/2006/relationships/slide" Target="/ppt/slides/slide3.xml" Id="Rbdf99dfd512e4a0f" /><Relationship Type="http://schemas.openxmlformats.org/officeDocument/2006/relationships/notesMaster" Target="/ppt/notesMasters/notesMaster1.xml" Id="Rcf91120d2ed940fb" /></Relationships>
</file>

<file path=ppt/notesSlides/_rels/notesSlide4.xml.rels>&#65279;<?xml version="1.0" encoding="utf-8"?><Relationships xmlns="http://schemas.openxmlformats.org/package/2006/relationships"><Relationship Type="http://schemas.openxmlformats.org/officeDocument/2006/relationships/slide" Target="/ppt/slides/slide4.xml" Id="Rcd7db44c582544da" /><Relationship Type="http://schemas.openxmlformats.org/officeDocument/2006/relationships/notesMaster" Target="/ppt/notesMasters/notesMaster1.xml" Id="Rb8da8417bdcc4a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a7aed0f9746c4d47" /><Relationship Type="http://schemas.openxmlformats.org/officeDocument/2006/relationships/notesMaster" Target="/ppt/notesMasters/notesMaster1.xml" Id="R34e32328e2a14a96" /></Relationships>
</file>

<file path=ppt/notesSlides/_rels/notesSlide6.xml.rels>&#65279;<?xml version="1.0" encoding="utf-8"?><Relationships xmlns="http://schemas.openxmlformats.org/package/2006/relationships"><Relationship Type="http://schemas.openxmlformats.org/officeDocument/2006/relationships/slide" Target="/ppt/slides/slide6.xml" Id="R921fec1039414779" /><Relationship Type="http://schemas.openxmlformats.org/officeDocument/2006/relationships/notesMaster" Target="/ppt/notesMasters/notesMaster1.xml" Id="Re7843fe9eb7f4c7a" /></Relationships>
</file>

<file path=ppt/notesSlides/_rels/notesSlide7.xml.rels>&#65279;<?xml version="1.0" encoding="utf-8"?><Relationships xmlns="http://schemas.openxmlformats.org/package/2006/relationships"><Relationship Type="http://schemas.openxmlformats.org/officeDocument/2006/relationships/slide" Target="/ppt/slides/slide7.xml" Id="R3a1d02497cbb467b" /><Relationship Type="http://schemas.openxmlformats.org/officeDocument/2006/relationships/notesMaster" Target="/ppt/notesMasters/notesMaster1.xml" Id="Rd1029827438747f9" /></Relationships>
</file>

<file path=ppt/notesSlides/_rels/notesSlide8.xml.rels>&#65279;<?xml version="1.0" encoding="utf-8"?><Relationships xmlns="http://schemas.openxmlformats.org/package/2006/relationships"><Relationship Type="http://schemas.openxmlformats.org/officeDocument/2006/relationships/slide" Target="/ppt/slides/slide8.xml" Id="R4c05448af535456c" /><Relationship Type="http://schemas.openxmlformats.org/officeDocument/2006/relationships/notesMaster" Target="/ppt/notesMasters/notesMaster1.xml" Id="R6a85b76d76a44f03" /></Relationships>
</file>

<file path=ppt/notesSlides/_rels/notesSlide9.xml.rels>&#65279;<?xml version="1.0" encoding="utf-8"?><Relationships xmlns="http://schemas.openxmlformats.org/package/2006/relationships"><Relationship Type="http://schemas.openxmlformats.org/officeDocument/2006/relationships/slide" Target="/ppt/slides/slide9.xml" Id="R554a7c0faf3846d8" /><Relationship Type="http://schemas.openxmlformats.org/officeDocument/2006/relationships/notesMaster" Target="/ppt/notesMasters/notesMaster1.xml" Id="Rc0f3ecb7802647b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5400d9612bc4cbe" /><Relationship Type="http://schemas.openxmlformats.org/officeDocument/2006/relationships/notesMaster" Target="/ppt/notesMasters/notesMaster1.xml" Id="Rde37aaf4a738474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6c24f7d0bad4a25" /><Relationship Type="http://schemas.openxmlformats.org/officeDocument/2006/relationships/notesMaster" Target="/ppt/notesMasters/notesMaster1.xml" Id="Re9759de221b3411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1509b3481d84785" /><Relationship Type="http://schemas.openxmlformats.org/officeDocument/2006/relationships/notesMaster" Target="/ppt/notesMasters/notesMaster1.xml" Id="Rff50e93285ef483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36ec8c256f74620" /><Relationship Type="http://schemas.openxmlformats.org/officeDocument/2006/relationships/notesMaster" Target="/ppt/notesMasters/notesMaster1.xml" Id="R5d64570c871346d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3d35f7a370147c8" /><Relationship Type="http://schemas.openxmlformats.org/officeDocument/2006/relationships/notesMaster" Target="/ppt/notesMasters/notesMaster1.xml" Id="R86953d6c7c8f45c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501cfc9838f48b0" /><Relationship Type="http://schemas.openxmlformats.org/officeDocument/2006/relationships/notesMaster" Target="/ppt/notesMasters/notesMaster1.xml" Id="R9c047dc16c164e8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6610176e09343b4" /><Relationship Type="http://schemas.openxmlformats.org/officeDocument/2006/relationships/notesMaster" Target="/ppt/notesMasters/notesMaster1.xml" Id="R6f01099c0029485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2f128f87a734f32" /><Relationship Type="http://schemas.openxmlformats.org/officeDocument/2006/relationships/notesMaster" Target="/ppt/notesMasters/notesMaster1.xml" Id="Rb1f5185125d74bf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c15691fdece4ef9" /><Relationship Type="http://schemas.openxmlformats.org/officeDocument/2006/relationships/notesMaster" Target="/ppt/notesMasters/notesMaster1.xml" Id="R744e342922904e7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8b26f92cf344782" /><Relationship Type="http://schemas.openxmlformats.org/officeDocument/2006/relationships/notesMaster" Target="/ppt/notesMasters/notesMaster1.xml" Id="R077122b78613436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50b6df12d6a4c7e" /><Relationship Type="http://schemas.openxmlformats.org/officeDocument/2006/relationships/notesMaster" Target="/ppt/notesMasters/notesMaster1.xml" Id="Rfa09473eb94f4c9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bcb59c6210e44d1" /><Relationship Type="http://schemas.openxmlformats.org/officeDocument/2006/relationships/notesMaster" Target="/ppt/notesMasters/notesMaster1.xml" Id="R00d2b5e4353143e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4e57f8f78aa4d7c" /><Relationship Type="http://schemas.openxmlformats.org/officeDocument/2006/relationships/notesMaster" Target="/ppt/notesMasters/notesMaster1.xml" Id="R03fa53175e3d474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b3b4e31e37b4621" /><Relationship Type="http://schemas.openxmlformats.org/officeDocument/2006/relationships/notesMaster" Target="/ppt/notesMasters/notesMaster1.xml" Id="R7063151715ab4b3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cb02488a9ef439b" /><Relationship Type="http://schemas.openxmlformats.org/officeDocument/2006/relationships/notesMaster" Target="/ppt/notesMasters/notesMaster1.xml" Id="R0355aea653744c9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e0ca3a11fdc42f3" /><Relationship Type="http://schemas.openxmlformats.org/officeDocument/2006/relationships/notesMaster" Target="/ppt/notesMasters/notesMaster1.xml" Id="R4e2976a4b81a4d3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e2a6b31d1a34fef" /><Relationship Type="http://schemas.openxmlformats.org/officeDocument/2006/relationships/notesMaster" Target="/ppt/notesMasters/notesMaster1.xml" Id="Rfae0a8df3c18432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4d5c4fc9ca040e4" /><Relationship Type="http://schemas.openxmlformats.org/officeDocument/2006/relationships/notesMaster" Target="/ppt/notesMasters/notesMaster1.xml" Id="R81a3f5470242489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0e00c23e6894151" /><Relationship Type="http://schemas.openxmlformats.org/officeDocument/2006/relationships/notesMaster" Target="/ppt/notesMasters/notesMaster1.xml" Id="Re4a0b782b452462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0ee80a296c34252" /><Relationship Type="http://schemas.openxmlformats.org/officeDocument/2006/relationships/notesMaster" Target="/ppt/notesMasters/notesMaster1.xml" Id="Rfd7b6f4507384ba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f4e1b0575534b3a" /><Relationship Type="http://schemas.openxmlformats.org/officeDocument/2006/relationships/notesMaster" Target="/ppt/notesMasters/notesMaster1.xml" Id="R7a1f2c3a2aa44ec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7dba3ef0813416f" /><Relationship Type="http://schemas.openxmlformats.org/officeDocument/2006/relationships/notesMaster" Target="/ppt/notesMasters/notesMaster1.xml" Id="R96cbd543c88c461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9bf43e3ed734826" /><Relationship Type="http://schemas.openxmlformats.org/officeDocument/2006/relationships/notesMaster" Target="/ppt/notesMasters/notesMaster1.xml" Id="Rd25025ac26fd4c4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
            </a:r>
          </a:p>
          <a:p xmlns:a="http://schemas.openxmlformats.org/drawingml/2006/main">
            <a:r>
              <a:t>Suggested visual:</a:t>
            </a:r>
          </a:p>
          <a:p xmlns:a="http://schemas.openxmlformats.org/drawingml/2006/main">
            <a:r>
              <a:t>A four-stage signal path—Require, Model, Verify, Evidence—sets the throughline for the course.</a:t>
            </a:r>
          </a:p>
          <a:p xmlns:a="http://schemas.openxmlformats.org/drawingml/2006/main">
            <a:r>
              <a:t/>
            </a:r>
          </a:p>
          <a:p xmlns:a="http://schemas.openxmlformats.org/drawingml/2006/main">
            <a:r>
              <a:t>Speaker notes:</a:t>
            </a:r>
          </a:p>
          <a:p xmlns:a="http://schemas.openxmlformats.org/drawingml/2006/main">
            <a:r>
              <a:t>Welcome the new engineer and establish the scope: this is not a block-by-block product tutorial and not a complete certification course. It is a practical mental model for how a controls engineer works inside an aerospace Model-Based Design program. The central idea is that the Simulink model sits inside a governed evidence chain. A good control law is necessary, but it is not sufficient. The engineer must also understand where the behavior came from, how interfaces are controlled, how tests prove the requirement, and how results become reviewable life-cycle data. The pitch-rate-limiter example will reappear throughout the session so every artifact feels connected rather than abstract.</a:t>
            </a:r>
          </a:p>
          <a:p xmlns:a="http://schemas.openxmlformats.org/drawingml/2006/main">
            <a:r>
              <a:t/>
            </a:r>
          </a:p>
          <a:p xmlns:a="http://schemas.openxmlformats.org/drawingml/2006/main">
            <a:r>
              <a:t>Key teaching points:</a:t>
            </a:r>
          </a:p>
          <a:p xmlns:a="http://schemas.openxmlformats.org/drawingml/2006/main">
            <a:r>
              <a:t>• Simulink is one part of a controlled software lifecycle.</a:t>
            </a:r>
          </a:p>
          <a:p xmlns:a="http://schemas.openxmlformats.org/drawingml/2006/main">
            <a:r>
              <a:t>• The course follows one behavior from requirement to HIL evidence.</a:t>
            </a:r>
          </a:p>
          <a:p xmlns:a="http://schemas.openxmlformats.org/drawingml/2006/main">
            <a:r>
              <a:t>• The target outcome is practical onboarding, not standards interpretation.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Suggested visual:</a:t>
            </a:r>
          </a:p>
          <a:p xmlns:a="http://schemas.openxmlformats.org/drawingml/2006/main">
            <a:r>
              <a:t>An executable model at the center connects requirements, control design, simulation, and verification.</a:t>
            </a:r>
          </a:p>
          <a:p xmlns:a="http://schemas.openxmlformats.org/drawingml/2006/main">
            <a:r>
              <a:t/>
            </a:r>
          </a:p>
          <a:p xmlns:a="http://schemas.openxmlformats.org/drawingml/2006/main">
            <a:r>
              <a:t>Speaker notes:</a:t>
            </a:r>
          </a:p>
          <a:p xmlns:a="http://schemas.openxmlformats.org/drawingml/2006/main">
            <a:r>
              <a:t>Explain Model-Based Design as a lifecycle pattern, not merely drawing blocks. The model is executable: it has time, data types, sample rates, state, interfaces, and observable behavior. Requirements can link to model elements; tests can stimulate the model; generated code can be compared with model behavior; the same interfaces can later connect to architecture and hardware benches. This shared representation reduces translation between a control-law equation, a software implementation, and a test procedure—but it does not remove the need for reviews, independent verification, or configuration control. The model’s formal role must be defined in the project plans: it may be a design model, a source model used for code generation, or another project-defined artifact.</a:t>
            </a:r>
          </a:p>
          <a:p xmlns:a="http://schemas.openxmlformats.org/drawingml/2006/main">
            <a:r>
              <a:t/>
            </a:r>
          </a:p>
          <a:p xmlns:a="http://schemas.openxmlformats.org/drawingml/2006/main">
            <a:r>
              <a:t>Key teaching points:</a:t>
            </a:r>
          </a:p>
          <a:p xmlns:a="http://schemas.openxmlformats.org/drawingml/2006/main">
            <a:r>
              <a:t>• Model-Based Design keeps the model central across the lifecycle.</a:t>
            </a:r>
          </a:p>
          <a:p xmlns:a="http://schemas.openxmlformats.org/drawingml/2006/main">
            <a:r>
              <a:t>• Execution exposes dynamic behavior before hardware is available.</a:t>
            </a:r>
          </a:p>
          <a:p xmlns:a="http://schemas.openxmlformats.org/drawingml/2006/main">
            <a:r>
              <a:t>• The project defines the certification role of each model.</a:t>
            </a:r>
          </a:p>
          <a:p xmlns:a="http://schemas.openxmlformats.org/drawingml/2006/main">
            <a:r>
              <a:t/>
            </a:r>
          </a:p>
          <a:p xmlns:a="http://schemas.openxmlformats.org/drawingml/2006/main">
            <a:r>
              <a:t>[Sources]</a:t>
            </a:r>
          </a:p>
          <a:p xmlns:a="http://schemas.openxmlformats.org/drawingml/2006/main">
            <a:r>
              <a:t>- https://www.mathworks.com/help/simulink/gs/model-based-design.html</a:t>
            </a:r>
          </a:p>
          <a:p xmlns:a="http://schemas.openxmlformats.org/drawingml/2006/main">
            <a:r>
              <a:t>- https://www.faa.gov/documentLibrary/media/Advisory_Circular/AC_20-115D.pdf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
            </a:r>
          </a:p>
          <a:p xmlns:a="http://schemas.openxmlformats.org/drawingml/2006/main">
            <a:r>
              <a:t>Suggested visual:</a:t>
            </a:r>
          </a:p>
          <a:p xmlns:a="http://schemas.openxmlformats.org/drawingml/2006/main">
            <a:r>
              <a:t>Four learning objectives and a five-part route map show the cumulative learning progression.</a:t>
            </a:r>
          </a:p>
          <a:p xmlns:a="http://schemas.openxmlformats.org/drawingml/2006/main">
            <a:r>
              <a:t/>
            </a:r>
          </a:p>
          <a:p xmlns:a="http://schemas.openxmlformats.org/drawingml/2006/main">
            <a:r>
              <a:t>Speaker notes:</a:t>
            </a:r>
          </a:p>
          <a:p xmlns:a="http://schemas.openxmlformats.org/drawingml/2006/main">
            <a:r>
              <a:t>Set expectations for the session. A MATLAB-experienced engineer already understands variables, functions, plots, and numerical analysis. The new skills are graphical execution semantics, explicit interfaces and timing, requirements-based verification, and the evidence discipline required in airborne software. Tell the learner to keep one question active throughout the deck: what requirement does this artifact implement, and what objective evidence proves the behavior? That question connects model readability, test design, traceability, CI failures, and HIL results. The route map also helps the audience understand why certification appears early rather than being appended at the end.</a:t>
            </a:r>
          </a:p>
          <a:p xmlns:a="http://schemas.openxmlformats.org/drawingml/2006/main">
            <a:r>
              <a:t/>
            </a:r>
          </a:p>
          <a:p xmlns:a="http://schemas.openxmlformats.org/drawingml/2006/main">
            <a:r>
              <a:t>Key teaching points:</a:t>
            </a:r>
          </a:p>
          <a:p xmlns:a="http://schemas.openxmlformats.org/drawingml/2006/main">
            <a:r>
              <a:t>• The course builds from model literacy to lifecycle literacy.</a:t>
            </a:r>
          </a:p>
          <a:p xmlns:a="http://schemas.openxmlformats.org/drawingml/2006/main">
            <a:r>
              <a:t>• Aerospace work requires both correct behavior and reviewable evidence.</a:t>
            </a:r>
          </a:p>
          <a:p xmlns:a="http://schemas.openxmlformats.org/drawingml/2006/main">
            <a:r>
              <a:t>• The recurring question is requirement-to-result traceability.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Suggested visual:</a:t>
            </a:r>
          </a:p>
          <a:p xmlns:a="http://schemas.openxmlformats.org/drawingml/2006/main">
            <a:r>
              <a:t>A balanced MATLAB-versus-Simulink comparison converges into one integrated workflow.</a:t>
            </a:r>
          </a:p>
          <a:p xmlns:a="http://schemas.openxmlformats.org/drawingml/2006/main">
            <a:r>
              <a:t/>
            </a:r>
          </a:p>
          <a:p xmlns:a="http://schemas.openxmlformats.org/drawingml/2006/main">
            <a:r>
              <a:t>Speaker notes:</a:t>
            </a:r>
          </a:p>
          <a:p xmlns:a="http://schemas.openxmlformats.org/drawingml/2006/main">
            <a:r>
              <a:t>Connect the learner’s existing MATLAB knowledge to Simulink. MATLAB is ideal for calculations, data conditioning, parameter studies, optimization, and post-processing. Simulink adds an executable block-diagram representation of a dynamic system. The arrows are not simply a visual ordering of statements; they carry typed values over simulated time, and blocks may maintain internal state. In daily work the tools are tightly coupled: a MATLAB script may open a project, configure a model, run a test suite, analyze logs, and publish a report. Aerospace teams use Simulink because control laws, plant dynamics, sensor processing, mode logic, interfaces, and tests can be reviewed in a shared environment before flight hardware exists.</a:t>
            </a:r>
          </a:p>
          <a:p xmlns:a="http://schemas.openxmlformats.org/drawingml/2006/main">
            <a:r>
              <a:t/>
            </a:r>
          </a:p>
          <a:p xmlns:a="http://schemas.openxmlformats.org/drawingml/2006/main">
            <a:r>
              <a:t>Key teaching points:</a:t>
            </a:r>
          </a:p>
          <a:p xmlns:a="http://schemas.openxmlformats.org/drawingml/2006/main">
            <a:r>
              <a:t>• Simulink is a block-diagram environment for dynamic simulation and Model-Based Design.</a:t>
            </a:r>
          </a:p>
          <a:p xmlns:a="http://schemas.openxmlformats.org/drawingml/2006/main">
            <a:r>
              <a:t>• Graphical data flow complements—not replaces—MATLAB scripting.</a:t>
            </a:r>
          </a:p>
          <a:p xmlns:a="http://schemas.openxmlformats.org/drawingml/2006/main">
            <a:r>
              <a:t>• Time, state, data type, and interface semantics are first-class concerns.</a:t>
            </a:r>
          </a:p>
          <a:p xmlns:a="http://schemas.openxmlformats.org/drawingml/2006/main">
            <a:r>
              <a:t/>
            </a:r>
          </a:p>
          <a:p xmlns:a="http://schemas.openxmlformats.org/drawingml/2006/main">
            <a:r>
              <a:t>[Sources]</a:t>
            </a:r>
          </a:p>
          <a:p xmlns:a="http://schemas.openxmlformats.org/drawingml/2006/main">
            <a:r>
              <a:t>- https://www.mathworks.com/help/simulink/getting-started-with-simulink.html</a:t>
            </a:r>
          </a:p>
          <a:p xmlns:a="http://schemas.openxmlformats.org/drawingml/2006/main">
            <a:r>
              <a:t>- https://www.mathworks.com/help/simulink/gs/model-based-design.html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Suggested visual:</a:t>
            </a:r>
          </a:p>
          <a:p xmlns:a="http://schemas.openxmlformats.org/drawingml/2006/main">
            <a:r>
              <a:t>A five-row project-file map distinguishes model, MATLAB, live code, test, and dictionary artifacts.</a:t>
            </a:r>
          </a:p>
          <a:p xmlns:a="http://schemas.openxmlformats.org/drawingml/2006/main">
            <a:r>
              <a:t/>
            </a:r>
          </a:p>
          <a:p xmlns:a="http://schemas.openxmlformats.org/drawingml/2006/main">
            <a:r>
              <a:t>Speaker notes:</a:t>
            </a:r>
          </a:p>
          <a:p xmlns:a="http://schemas.openxmlformats.org/drawingml/2006/main">
            <a:r>
              <a:t>Walk through the file types the engineer will encounter. The .slx file holds a Simulink model. MATLAB .m files contain scripts, functions, or classes; projects often use them for automation and callbacks. An .mlx file is a binary live script or live function that can combine code, narrative, and inline output. An .mldatx file is a binary Simulink Test artifact. It can contain Test Manager test definitions, and exported result sets can also use the extension. Do not treat it as a text file; use Test Manager or supported APIs. Add .sldd because a data dictionary is frequently essential to controlled model data. A reproducible configuration includes the model plus its tests, dictionaries, scripts, referenced models, project settings, and tool versions.</a:t>
            </a:r>
          </a:p>
          <a:p xmlns:a="http://schemas.openxmlformats.org/drawingml/2006/main">
            <a:r>
              <a:t/>
            </a:r>
          </a:p>
          <a:p xmlns:a="http://schemas.openxmlformats.org/drawingml/2006/main">
            <a:r>
              <a:t>Key teaching points:</a:t>
            </a:r>
          </a:p>
          <a:p xmlns:a="http://schemas.openxmlformats.org/drawingml/2006/main">
            <a:r>
              <a:t>• Know which files define behavior, data, automation, and evidence.</a:t>
            </a:r>
          </a:p>
          <a:p xmlns:a="http://schemas.openxmlformats.org/drawingml/2006/main">
            <a:r>
              <a:t>• .mldatx is binary and should be managed with supported tools.</a:t>
            </a:r>
          </a:p>
          <a:p xmlns:a="http://schemas.openxmlformats.org/drawingml/2006/main">
            <a:r>
              <a:t>• A model without its configuration is not reproducible.</a:t>
            </a:r>
          </a:p>
          <a:p xmlns:a="http://schemas.openxmlformats.org/drawingml/2006/main">
            <a:r>
              <a:t/>
            </a:r>
          </a:p>
          <a:p xmlns:a="http://schemas.openxmlformats.org/drawingml/2006/main">
            <a:r>
              <a:t>[Sources]</a:t>
            </a:r>
          </a:p>
          <a:p xmlns:a="http://schemas.openxmlformats.org/drawingml/2006/main">
            <a:r>
              <a:t>- https://www.mathworks.com/help/matlab/ref/visdiff.html</a:t>
            </a:r>
          </a:p>
          <a:p xmlns:a="http://schemas.openxmlformats.org/drawingml/2006/main">
            <a:r>
              <a:t>- https://www.mathworks.com/help/matlab/ref/type.html</a:t>
            </a:r>
          </a:p>
          <a:p xmlns:a="http://schemas.openxmlformats.org/drawingml/2006/main">
            <a:r>
              <a:t>- https://www.mathworks.com/help/sltest/ref/sltest.testmanager.testfile-class.html</a:t>
            </a:r>
          </a:p>
          <a:p xmlns:a="http://schemas.openxmlformats.org/drawingml/2006/main">
            <a:r>
              <a:t>- https://www.mathworks.com/help/simulink/ug/determine-where-to-store-data-for-simulink-models.html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Suggested visual:</a:t>
            </a:r>
          </a:p>
          <a:p xmlns:a="http://schemas.openxmlformats.org/drawingml/2006/main">
            <a:r>
              <a:t>A Simulink-style editor mockup labels the Library Browser, model canvas, inspector, simulation controls, and diagnostics.</a:t>
            </a:r>
          </a:p>
          <a:p xmlns:a="http://schemas.openxmlformats.org/drawingml/2006/main">
            <a:r>
              <a:t/>
            </a:r>
          </a:p>
          <a:p xmlns:a="http://schemas.openxmlformats.org/drawingml/2006/main">
            <a:r>
              <a:t>Speaker notes:</a:t>
            </a:r>
          </a:p>
          <a:p xmlns:a="http://schemas.openxmlformats.org/drawingml/2006/main">
            <a:r>
              <a:t>Orient the learner before discussing individual blocks. The Library Browser supplies reusable blocks and project libraries. The center canvas shows data flow and hierarchy. The Property Inspector and block dialogs expose parameters, data types, limits, and sample-time settings. Simulation controls run the model, but an aerospace workflow often launches simulations and tests from project scripts or CI. Diagnostics are not background noise: compile/update messages reveal unresolved references, dimension mismatches, type conflicts, sample-time problems, and configuration issues. Encourage the engineer to learn keyboard navigation, signal highlighting, model hierarchy, and compile diagnostics early; these save more time than memorizing every library block.</a:t>
            </a:r>
          </a:p>
          <a:p xmlns:a="http://schemas.openxmlformats.org/drawingml/2006/main">
            <a:r>
              <a:t/>
            </a:r>
          </a:p>
          <a:p xmlns:a="http://schemas.openxmlformats.org/drawingml/2006/main">
            <a:r>
              <a:t>Key teaching points:</a:t>
            </a:r>
          </a:p>
          <a:p xmlns:a="http://schemas.openxmlformats.org/drawingml/2006/main">
            <a:r>
              <a:t>• The canvas is only one part of the working environment.</a:t>
            </a:r>
          </a:p>
          <a:p xmlns:a="http://schemas.openxmlformats.org/drawingml/2006/main">
            <a:r>
              <a:t>• Properties and diagnostics define execution semantics.</a:t>
            </a:r>
          </a:p>
          <a:p xmlns:a="http://schemas.openxmlformats.org/drawingml/2006/main">
            <a:r>
              <a:t>• Project libraries and automation matter as much as built-in blocks.</a:t>
            </a:r>
          </a:p>
          <a:p xmlns:a="http://schemas.openxmlformats.org/drawingml/2006/main">
            <a:r>
              <a:t/>
            </a:r>
          </a:p>
          <a:p xmlns:a="http://schemas.openxmlformats.org/drawingml/2006/main">
            <a:r>
              <a:t>[Sources]</a:t>
            </a:r>
          </a:p>
          <a:p xmlns:a="http://schemas.openxmlformats.org/drawingml/2006/main">
            <a:r>
              <a:t>- https://www.mathworks.com/help/simulink/getting-started-with-simulink.html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Suggested visual:</a:t>
            </a:r>
          </a:p>
          <a:p xmlns:a="http://schemas.openxmlformats.org/drawingml/2006/main">
            <a:r>
              <a:t>A hierarchy of library, block, signal, and subsystem sits beside a bus and data-dictionary interface example.</a:t>
            </a:r>
          </a:p>
          <a:p xmlns:a="http://schemas.openxmlformats.org/drawingml/2006/main">
            <a:r>
              <a:t/>
            </a:r>
          </a:p>
          <a:p xmlns:a="http://schemas.openxmlformats.org/drawingml/2006/main">
            <a:r>
              <a:t>Speaker notes:</a:t>
            </a:r>
          </a:p>
          <a:p xmlns:a="http://schemas.openxmlformats.org/drawingml/2006/main">
            <a:r>
              <a:t>Define the core vocabulary. A block performs an operation: gain, filter, integrator, switch, lookup, saturation, state chart, or custom algorithm. Signals carry values between blocks and should have meaningful names, units, dimensions, types, and rates. A subsystem creates hierarchy and an interface around related behavior. Libraries provide controlled reusable blocks. A bus groups related signals through a port; it is valuable when the interface is defined by a Simulink.Bus object rather than by appearance alone. A data dictionary stores persistent design data such as parameters, bus objects, enumerations, and signal definitions. The point is not to hide complexity. The point is to expose it at the right level while keeping contracts controlled.</a:t>
            </a:r>
          </a:p>
          <a:p xmlns:a="http://schemas.openxmlformats.org/drawingml/2006/main">
            <a:r>
              <a:t/>
            </a:r>
          </a:p>
          <a:p xmlns:a="http://schemas.openxmlformats.org/drawingml/2006/main">
            <a:r>
              <a:t>Key teaching points:</a:t>
            </a:r>
          </a:p>
          <a:p xmlns:a="http://schemas.openxmlformats.org/drawingml/2006/main">
            <a:r>
              <a:t>• Blocks express behavior; signals express data flow.</a:t>
            </a:r>
          </a:p>
          <a:p xmlns:a="http://schemas.openxmlformats.org/drawingml/2006/main">
            <a:r>
              <a:t>• Subsystems manage hierarchy and review scope.</a:t>
            </a:r>
          </a:p>
          <a:p xmlns:a="http://schemas.openxmlformats.org/drawingml/2006/main">
            <a:r>
              <a:t>• Buses and data dictionaries turn visual connections into controlled interfaces.</a:t>
            </a:r>
          </a:p>
          <a:p xmlns:a="http://schemas.openxmlformats.org/drawingml/2006/main">
            <a:r>
              <a:t/>
            </a:r>
          </a:p>
          <a:p xmlns:a="http://schemas.openxmlformats.org/drawingml/2006/main">
            <a:r>
              <a:t>[Sources]</a:t>
            </a:r>
          </a:p>
          <a:p xmlns:a="http://schemas.openxmlformats.org/drawingml/2006/main">
            <a:r>
              <a:t>- https://www.mathworks.com/help/simulink/ug/interface-design.html</a:t>
            </a:r>
          </a:p>
          <a:p xmlns:a="http://schemas.openxmlformats.org/drawingml/2006/main">
            <a:r>
              <a:t>- https://www.mathworks.com/help/simulink/ug/determine-where-to-store-data-for-simulink-models.html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Suggested visual:</a:t>
            </a:r>
          </a:p>
          <a:p xmlns:a="http://schemas.openxmlformats.org/drawingml/2006/main">
            <a:r>
              <a:t>A complete feedback loop shows command, controller, actuator/aircraft dynamics, sensors, feedback, and disturbances.</a:t>
            </a:r>
          </a:p>
          <a:p xmlns:a="http://schemas.openxmlformats.org/drawingml/2006/main">
            <a:r>
              <a:t/>
            </a:r>
          </a:p>
          <a:p xmlns:a="http://schemas.openxmlformats.org/drawingml/2006/main">
            <a:r>
              <a:t>Speaker notes:</a:t>
            </a:r>
          </a:p>
          <a:p xmlns:a="http://schemas.openxmlformats.org/drawingml/2006/main">
            <a:r>
              <a:t>Use this loop as the mental map for most later diagrams. The pilot or guidance system provides a command. The controller compares commanded and measured behavior and produces an actuator command. Actuator dynamics and aircraft dynamics create motion. Sensor processing returns measured pitch, roll, rate, altitude, acceleration, or other states. Disturbances and uncertainty enter through gusts, aerodynamic variation, mass properties, failures, and latency. In Simulink, the plant model may be simple for a unit test and far more detailed for system simulation. The control-law model must be evaluated for stability, tracking, disturbance rejection, saturation, mode transitions, invalid data, timing, and interfaces—not simply whether one nominal plot looks correct.</a:t>
            </a:r>
          </a:p>
          <a:p xmlns:a="http://schemas.openxmlformats.org/drawingml/2006/main">
            <a:r>
              <a:t/>
            </a:r>
          </a:p>
          <a:p xmlns:a="http://schemas.openxmlformats.org/drawingml/2006/main">
            <a:r>
              <a:t>Key teaching points:</a:t>
            </a:r>
          </a:p>
          <a:p xmlns:a="http://schemas.openxmlformats.org/drawingml/2006/main">
            <a:r>
              <a:t>• Feedback closes the loop from aircraft response to controller.</a:t>
            </a:r>
          </a:p>
          <a:p xmlns:a="http://schemas.openxmlformats.org/drawingml/2006/main">
            <a:r>
              <a:t>• The plant and sensors are part of the verification environment.</a:t>
            </a:r>
          </a:p>
          <a:p xmlns:a="http://schemas.openxmlformats.org/drawingml/2006/main">
            <a:r>
              <a:t>• The operating envelope and fault cases define the real test space.</a:t>
            </a:r>
          </a:p>
          <a:p xmlns:a="http://schemas.openxmlformats.org/drawingml/2006/main">
            <a:r>
              <a:t/>
            </a:r>
          </a:p>
          <a:p xmlns:a="http://schemas.openxmlformats.org/drawingml/2006/main">
            <a:r>
              <a:t>[Sources]</a:t>
            </a:r>
          </a:p>
          <a:p xmlns:a="http://schemas.openxmlformats.org/drawingml/2006/main">
            <a:r>
              <a:t>- https://www.mathworks.com/help/simulink/slref/designing-a-high-angle-of-attack-pitch-mode-control.html</a:t>
            </a:r>
          </a:p>
          <a:p xmlns:a="http://schemas.openxmlformats.org/drawingml/2006/main">
            <a:r>
              <a:t>- https://www.mathworks.com/help/simulink/slref/designing-a-guidance-system-in-matlab-and-simulink.html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Suggested visual:</a:t>
            </a:r>
          </a:p>
          <a:p xmlns:a="http://schemas.openxmlformats.org/drawingml/2006/main">
            <a:r>
              <a:t>A block-pattern glossary connects gains, filters, integrators, lookup tables, Stateflow, and limits to a pitch-control path.</a:t>
            </a:r>
          </a:p>
          <a:p xmlns:a="http://schemas.openxmlformats.org/drawingml/2006/main">
            <a:r>
              <a:t/>
            </a:r>
          </a:p>
          <a:p xmlns:a="http://schemas.openxmlformats.org/drawingml/2006/main">
            <a:r>
              <a:t>Speaker notes:</a:t>
            </a:r>
          </a:p>
          <a:p xmlns:a="http://schemas.openxmlformats.org/drawingml/2006/main">
            <a:r>
              <a:t>Relate familiar control concepts to model patterns. A Gain block implements a scalar or matrix gain. Filters can be represented as transfer functions, discrete filters, state-space blocks, or explicit difference equations. Integrators represent continuous or discrete accumulation and require careful initial-condition handling. Lookup tables implement calibrated or scheduled behavior across operating conditions. Stateflow is commonly used for modes, guards, transitions, and fault logic. Saturation and rate-limiting blocks protect actuators and commands—but distinguish a magnitude limiter from a slew-rate limiter. Sensor processing often includes scaling, validity, filtering, voting, and unit conversion; actuator paths may include command shaping, rate limits, position limits, and monitoring.</a:t>
            </a:r>
          </a:p>
          <a:p xmlns:a="http://schemas.openxmlformats.org/drawingml/2006/main">
            <a:r>
              <a:t/>
            </a:r>
          </a:p>
          <a:p xmlns:a="http://schemas.openxmlformats.org/drawingml/2006/main">
            <a:r>
              <a:t>Key teaching points:</a:t>
            </a:r>
          </a:p>
          <a:p xmlns:a="http://schemas.openxmlformats.org/drawingml/2006/main">
            <a:r>
              <a:t>• Choose blocks that preserve the intended mathematics and execution semantics.</a:t>
            </a:r>
          </a:p>
          <a:p xmlns:a="http://schemas.openxmlformats.org/drawingml/2006/main">
            <a:r>
              <a:t>• Scheduling connects one control-law structure to a changing flight envelope.</a:t>
            </a:r>
          </a:p>
          <a:p xmlns:a="http://schemas.openxmlformats.org/drawingml/2006/main">
            <a:r>
              <a:t>• Limits and mode logic are requirements, not cosmetic safeguards.</a:t>
            </a:r>
          </a:p>
          <a:p xmlns:a="http://schemas.openxmlformats.org/drawingml/2006/main">
            <a:r>
              <a:t/>
            </a:r>
          </a:p>
          <a:p xmlns:a="http://schemas.openxmlformats.org/drawingml/2006/main">
            <a:r>
              <a:t>[Sources]</a:t>
            </a:r>
          </a:p>
          <a:p xmlns:a="http://schemas.openxmlformats.org/drawingml/2006/main">
            <a:r>
              <a:t>- https://www.mathworks.com/help/simulink/slref/designing-a-guidance-system-in-matlab-and-simulink.html</a:t>
            </a:r>
          </a:p>
          <a:p xmlns:a="http://schemas.openxmlformats.org/drawingml/2006/main">
            <a:r>
              <a:t>- https://www.mathworks.com/help/simulink/slref/designing-a-high-angle-of-attack-pitch-mode-control.html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Suggested visual:</a:t>
            </a:r>
          </a:p>
          <a:p xmlns:a="http://schemas.openxmlformats.org/drawingml/2006/main">
            <a:r>
              <a:t>Three compact feedback rows compare pitch, roll, and altitude-hold loops.</a:t>
            </a:r>
          </a:p>
          <a:p xmlns:a="http://schemas.openxmlformats.org/drawingml/2006/main">
            <a:r>
              <a:t/>
            </a:r>
          </a:p>
          <a:p xmlns:a="http://schemas.openxmlformats.org/drawingml/2006/main">
            <a:r>
              <a:t>Speaker notes:</a:t>
            </a:r>
          </a:p>
          <a:p xmlns:a="http://schemas.openxmlformats.org/drawingml/2006/main">
            <a:r>
              <a:t>Contrast the loops without turning the slide into a control-theory lecture. Pitch and roll inner loops often regulate rate or attitude and drive control surfaces. Altitude hold is usually an outer loop that creates a pitch or vertical-speed command for an inner loop. The exact architecture varies, but the modeling discipline is consistent: explicit inputs and outputs, defined units and coordinate conventions, sample rates, limits, valid modes, scheduling variables, and fallback behavior. During model review, a sign error or unit mismatch can be more dangerous than a badly tuned gain, because a nominal desktop test may not expose it across every interface and mode.</a:t>
            </a:r>
          </a:p>
          <a:p xmlns:a="http://schemas.openxmlformats.org/drawingml/2006/main">
            <a:r>
              <a:t/>
            </a:r>
          </a:p>
          <a:p xmlns:a="http://schemas.openxmlformats.org/drawingml/2006/main">
            <a:r>
              <a:t>Key teaching points:</a:t>
            </a:r>
          </a:p>
          <a:p xmlns:a="http://schemas.openxmlformats.org/drawingml/2006/main">
            <a:r>
              <a:t>• Nested loops turn high-level objectives into inner-loop commands.</a:t>
            </a:r>
          </a:p>
          <a:p xmlns:a="http://schemas.openxmlformats.org/drawingml/2006/main">
            <a:r>
              <a:t>• Interfaces and conventions must be reviewable at every loop boundary.</a:t>
            </a:r>
          </a:p>
          <a:p xmlns:a="http://schemas.openxmlformats.org/drawingml/2006/main">
            <a:r>
              <a:t>• Nominal plots do not replace boundary, mode, and fault verification.</a:t>
            </a:r>
          </a:p>
          <a:p xmlns:a="http://schemas.openxmlformats.org/drawingml/2006/main">
            <a:r>
              <a:t/>
            </a:r>
          </a:p>
          <a:p xmlns:a="http://schemas.openxmlformats.org/drawingml/2006/main">
            <a:r>
              <a:t>[Sources]</a:t>
            </a:r>
          </a:p>
          <a:p xmlns:a="http://schemas.openxmlformats.org/drawingml/2006/main">
            <a:r>
              <a:t>- https://www.mathworks.com/help/simulink/slref/designing-a-high-angle-of-attack-pitch-mode-control.html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Suggested visual:</a:t>
            </a:r>
          </a:p>
          <a:p xmlns:a="http://schemas.openxmlformats.org/drawingml/2006/main">
            <a:r>
              <a:t>A four-state autopilot mode diagram sits beside a gain-schedule curve.</a:t>
            </a:r>
          </a:p>
          <a:p xmlns:a="http://schemas.openxmlformats.org/drawingml/2006/main">
            <a:r>
              <a:t/>
            </a:r>
          </a:p>
          <a:p xmlns:a="http://schemas.openxmlformats.org/drawingml/2006/main">
            <a:r>
              <a:t>Speaker notes:</a:t>
            </a:r>
          </a:p>
          <a:p xmlns:a="http://schemas.openxmlformats.org/drawingml/2006/main">
            <a:r>
              <a:t>Explain the separation of concerns. Mode logic decides whether a control law is off, armed, engaged, or degraded and specifies the guards for transitions. Stateflow is a common representation, but explicit Simulink logic may also be used. Scheduling changes gains or limits as functions of Mach, altitude, angle of attack, center of gravity, or aircraft configuration. A schedule is not a mode switch unless the requirement defines it that way; interpolation and breakpoint behavior matter. Verification must cover transition guards, persistence, priorities, temporal behavior, boundary points, extrapolation policy, and invalid scheduling data. The new engineer should never assume that a colorful state diagram or smooth lookup surface is self-explanatory—each transition and breakpoint needs requirements and tests.</a:t>
            </a:r>
          </a:p>
          <a:p xmlns:a="http://schemas.openxmlformats.org/drawingml/2006/main">
            <a:r>
              <a:t/>
            </a:r>
          </a:p>
          <a:p xmlns:a="http://schemas.openxmlformats.org/drawingml/2006/main">
            <a:r>
              <a:t>Key teaching points:</a:t>
            </a:r>
          </a:p>
          <a:p xmlns:a="http://schemas.openxmlformats.org/drawingml/2006/main">
            <a:r>
              <a:t>• State machines govern discrete modes and transitions.</a:t>
            </a:r>
          </a:p>
          <a:p xmlns:a="http://schemas.openxmlformats.org/drawingml/2006/main">
            <a:r>
              <a:t>• Lookup tables adapt continuous behavior across the envelope.</a:t>
            </a:r>
          </a:p>
          <a:p xmlns:a="http://schemas.openxmlformats.org/drawingml/2006/main">
            <a:r>
              <a:t>• Transitions and breakpoints are first-class boundary tests.</a:t>
            </a:r>
          </a:p>
          <a:p xmlns:a="http://schemas.openxmlformats.org/drawingml/2006/main">
            <a:r>
              <a:t/>
            </a:r>
          </a:p>
          <a:p xmlns:a="http://schemas.openxmlformats.org/drawingml/2006/main">
            <a:r>
              <a:t>[Sources]</a:t>
            </a:r>
          </a:p>
          <a:p xmlns:a="http://schemas.openxmlformats.org/drawingml/2006/main">
            <a:r>
              <a:t>- https://www.mathworks.com/help/simulink/slref/designing-a-guidance-system-in-matlab-and-simulink.html</a:t>
            </a:r>
          </a:p>
          <a:p xmlns:a="http://schemas.openxmlformats.org/drawingml/2006/main">
            <a:r>
              <a:t>- https://www.mathworks.com/help/simulink/getting-started-with-simulink.html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Suggested visual:</a:t>
            </a:r>
          </a:p>
          <a:p xmlns:a="http://schemas.openxmlformats.org/drawingml/2006/main">
            <a:r>
              <a:t>Two complementary columns separate the base DO-178C objectives from the DO-331 model-based supplement.</a:t>
            </a:r>
          </a:p>
          <a:p xmlns:a="http://schemas.openxmlformats.org/drawingml/2006/main">
            <a:r>
              <a:t/>
            </a:r>
          </a:p>
          <a:p xmlns:a="http://schemas.openxmlformats.org/drawingml/2006/main">
            <a:r>
              <a:t>Speaker notes:</a:t>
            </a:r>
          </a:p>
          <a:p xmlns:a="http://schemas.openxmlformats.org/drawingml/2006/main">
            <a:r>
              <a:t>Frame DO-178C correctly. FAA AC 20-115D recognizes DO-178C and applicable supplements as an acceptable means of compliance for airborne software; it is not a regulation and not a product certificate. The standard is objective-based. It expects planned processes and evidence showing that applicable objectives are satisfied. DO-331 supplements the base guidance when models are used for development or verification. The project must define each model’s role because that determines which standards, reviews, verification activities, traceability, and tool considerations apply. Emphasize that generated code and automated tests can reduce manual effort, but automation does not remove responsibility for correct requirements, model standards, independent verification where required, configuration control, or credible results.</a:t>
            </a:r>
          </a:p>
          <a:p xmlns:a="http://schemas.openxmlformats.org/drawingml/2006/main">
            <a:r>
              <a:t/>
            </a:r>
          </a:p>
          <a:p xmlns:a="http://schemas.openxmlformats.org/drawingml/2006/main">
            <a:r>
              <a:t>Key teaching points:</a:t>
            </a:r>
          </a:p>
          <a:p xmlns:a="http://schemas.openxmlformats.org/drawingml/2006/main">
            <a:r>
              <a:t>• DO-178C is an objectives-and-evidence framework.</a:t>
            </a:r>
          </a:p>
          <a:p xmlns:a="http://schemas.openxmlformats.org/drawingml/2006/main">
            <a:r>
              <a:t>• DO-331 applies model-based guidance alongside DO-178C.</a:t>
            </a:r>
          </a:p>
          <a:p xmlns:a="http://schemas.openxmlformats.org/drawingml/2006/main">
            <a:r>
              <a:t>• A model’s planned certification role controls how it must be verified.</a:t>
            </a:r>
          </a:p>
          <a:p xmlns:a="http://schemas.openxmlformats.org/drawingml/2006/main">
            <a:r>
              <a:t/>
            </a:r>
          </a:p>
          <a:p xmlns:a="http://schemas.openxmlformats.org/drawingml/2006/main">
            <a:r>
              <a:t>[Sources]</a:t>
            </a:r>
          </a:p>
          <a:p xmlns:a="http://schemas.openxmlformats.org/drawingml/2006/main">
            <a:r>
              <a:t>- https://www.faa.gov/documentLibrary/media/Advisory_Circular/AC_20-115D.pdf</a:t>
            </a:r>
          </a:p>
          <a:p xmlns:a="http://schemas.openxmlformats.org/drawingml/2006/main">
            <a:r>
              <a:t>- https://www.rtca.org/do-178/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Suggested visual:</a:t>
            </a:r>
          </a:p>
          <a:p xmlns:a="http://schemas.openxmlformats.org/drawingml/2006/main">
            <a:r>
              <a:t>A five-level ladder links Levels A through E to failure conditions and increasing assurance rigor.</a:t>
            </a:r>
          </a:p>
          <a:p xmlns:a="http://schemas.openxmlformats.org/drawingml/2006/main">
            <a:r>
              <a:t/>
            </a:r>
          </a:p>
          <a:p xmlns:a="http://schemas.openxmlformats.org/drawingml/2006/main">
            <a:r>
              <a:t>Speaker notes:</a:t>
            </a:r>
          </a:p>
          <a:p xmlns:a="http://schemas.openxmlformats.org/drawingml/2006/main">
            <a:r>
              <a:t>Introduce the levels without turning them into arbitrary quality grades. The system safety process determines the effect of software failure and allocates the software level. Level A corresponds to a catastrophic failure condition, B to hazardous or severe-major, C to major, D to minor, and E to no effect. More safety-critical software must satisfy more objectives and greater verification independence. Avoid implying that every flight-control function is automatically Level A; allocation depends on system architecture and failure effects. For the engineer, the level changes review rigor, coverage expectations, independence, configuration evidence, and the acceptable use or qualification of tools. It never changes the basic obligation to implement the requirement correctly.</a:t>
            </a:r>
          </a:p>
          <a:p xmlns:a="http://schemas.openxmlformats.org/drawingml/2006/main">
            <a:r>
              <a:t/>
            </a:r>
          </a:p>
          <a:p xmlns:a="http://schemas.openxmlformats.org/drawingml/2006/main">
            <a:r>
              <a:t>Key teaching points:</a:t>
            </a:r>
          </a:p>
          <a:p xmlns:a="http://schemas.openxmlformats.org/drawingml/2006/main">
            <a:r>
              <a:t>• Levels come from system safety analysis.</a:t>
            </a:r>
          </a:p>
          <a:p xmlns:a="http://schemas.openxmlformats.org/drawingml/2006/main">
            <a:r>
              <a:t>• Rigor increases as failure consequence increases.</a:t>
            </a:r>
          </a:p>
          <a:p xmlns:a="http://schemas.openxmlformats.org/drawingml/2006/main">
            <a:r>
              <a:t>• Software level affects objectives, independence, and evidence strategy.</a:t>
            </a:r>
          </a:p>
          <a:p xmlns:a="http://schemas.openxmlformats.org/drawingml/2006/main">
            <a:r>
              <a:t/>
            </a:r>
          </a:p>
          <a:p xmlns:a="http://schemas.openxmlformats.org/drawingml/2006/main">
            <a:r>
              <a:t>[Sources]</a:t>
            </a:r>
          </a:p>
          <a:p xmlns:a="http://schemas.openxmlformats.org/drawingml/2006/main">
            <a:r>
              <a:t>- https://www.faa.gov/aircraft/air_cert/design_approvals/dah/software</a:t>
            </a:r>
          </a:p>
          <a:p xmlns:a="http://schemas.openxmlformats.org/drawingml/2006/main">
            <a:r>
              <a:t>- https://www.faa.gov/documentLibrary/media/Advisory_Circular/AC_20-115D.pdf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Suggested visual:</a:t>
            </a:r>
          </a:p>
          <a:p xmlns:a="http://schemas.openxmlformats.org/drawingml/2006/main">
            <a:r>
              <a:t>A bidirectional chain links requirement, model element, test case, and result above an evidence package.</a:t>
            </a:r>
          </a:p>
          <a:p xmlns:a="http://schemas.openxmlformats.org/drawingml/2006/main">
            <a:r>
              <a:t/>
            </a:r>
          </a:p>
          <a:p xmlns:a="http://schemas.openxmlformats.org/drawingml/2006/main">
            <a:r>
              <a:t>Speaker notes:</a:t>
            </a:r>
          </a:p>
          <a:p xmlns:a="http://schemas.openxmlformats.org/drawingml/2006/main">
            <a:r>
              <a:t>Define traceability as a practical navigation system. Forward trace answers: where is this requirement implemented and how is it verified? Backward trace answers: why does this model element, parameter, test, or code path exist? Gaps can reveal missing tests, unintended functionality, or unreviewed derived behavior. Verification evidence includes more than pass/fail plots: approved plans and standards, review records, procedures, requirements-based results, applicable coverage and analyses, configuration records, quality records, and problem reports. A Jenkins job or HIL campaign can produce valuable evidence, but the project must control the configuration, link results to requirements, review failures and waivers, and retain the artifacts required by the plans.</a:t>
            </a:r>
          </a:p>
          <a:p xmlns:a="http://schemas.openxmlformats.org/drawingml/2006/main">
            <a:r>
              <a:t/>
            </a:r>
          </a:p>
          <a:p xmlns:a="http://schemas.openxmlformats.org/drawingml/2006/main">
            <a:r>
              <a:t>Key teaching points:</a:t>
            </a:r>
          </a:p>
          <a:p xmlns:a="http://schemas.openxmlformats.org/drawingml/2006/main">
            <a:r>
              <a:t>• Traceability must work in both directions.</a:t>
            </a:r>
          </a:p>
          <a:p xmlns:a="http://schemas.openxmlformats.org/drawingml/2006/main">
            <a:r>
              <a:t>• Evidence includes reviews, analyses, configuration, and results.</a:t>
            </a:r>
          </a:p>
          <a:p xmlns:a="http://schemas.openxmlformats.org/drawingml/2006/main">
            <a:r>
              <a:t>• Automation produces evidence only when configuration and meaning are controlled.</a:t>
            </a:r>
          </a:p>
          <a:p xmlns:a="http://schemas.openxmlformats.org/drawingml/2006/main">
            <a:r>
              <a:t/>
            </a:r>
          </a:p>
          <a:p xmlns:a="http://schemas.openxmlformats.org/drawingml/2006/main">
            <a:r>
              <a:t>[Sources]</a:t>
            </a:r>
          </a:p>
          <a:p xmlns:a="http://schemas.openxmlformats.org/drawingml/2006/main">
            <a:r>
              <a:t>- https://www.mathworks.com/help/slrequirements/ug/create-and-store-links.html</a:t>
            </a:r>
          </a:p>
          <a:p xmlns:a="http://schemas.openxmlformats.org/drawingml/2006/main">
            <a:r>
              <a:t>- https://www.mathworks.com/help/slrequirements/ug/find-and-link-unlinked-requirements-with-a-traceability-matrix.html</a:t>
            </a:r>
          </a:p>
          <a:p xmlns:a="http://schemas.openxmlformats.org/drawingml/2006/main">
            <a:r>
              <a:t>-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Suggested visual:</a:t>
            </a:r>
          </a:p>
          <a:p xmlns:a="http://schemas.openxmlformats.org/drawingml/2006/main">
            <a:r>
              <a:t>A nine-step serpentine flow moves from assurance objectives and planning through component behavior verification.</a:t>
            </a:r>
          </a:p>
          <a:p xmlns:a="http://schemas.openxmlformats.org/drawingml/2006/main">
            <a:r>
              <a:t/>
            </a:r>
          </a:p>
          <a:p xmlns:a="http://schemas.openxmlformats.org/drawingml/2006/main">
            <a:r>
              <a:t>Speaker notes:</a:t>
            </a:r>
          </a:p>
          <a:p xmlns:a="http://schemas.openxmlformats.org/drawingml/2006/main">
            <a:r>
              <a:t>Walk the first half slowly. DO-178C and DO-331 define the objective framework; the project’s certification and software plans define how the team will satisfy it. System requirements are decomposed into software or component requirements with interfaces and acceptance criteria. The engineer creates a Simulink component using controlled interfaces and data. Unit-test design begins from requirements, not from the diagram. Simulink Test definitions are organized in .mldatx files, while callbacks or external .m functions establish deterministic setup and cleanup. The component is then verified against its requirements. Clarify that this exact tool sequence is a realistic company workflow, not a sequence prescribed by DO-178C. The compliance obligation is satisfaction of applicable objectives with controlled evidence.</a:t>
            </a:r>
          </a:p>
          <a:p xmlns:a="http://schemas.openxmlformats.org/drawingml/2006/main">
            <a:r>
              <a:t/>
            </a:r>
          </a:p>
          <a:p xmlns:a="http://schemas.openxmlformats.org/drawingml/2006/main">
            <a:r>
              <a:t>Key teaching points:</a:t>
            </a:r>
          </a:p>
          <a:p xmlns:a="http://schemas.openxmlformats.org/drawingml/2006/main">
            <a:r>
              <a:t>• Planning defines the model and tool roles before implementation.</a:t>
            </a:r>
          </a:p>
          <a:p xmlns:a="http://schemas.openxmlformats.org/drawingml/2006/main">
            <a:r>
              <a:t>• Test design starts from requirements and acceptance criteria.</a:t>
            </a:r>
          </a:p>
          <a:p xmlns:a="http://schemas.openxmlformats.org/drawingml/2006/main">
            <a:r>
              <a:t>• The .mldatx and callbacks support verification; they are not requirements themselves.</a:t>
            </a:r>
          </a:p>
          <a:p xmlns:a="http://schemas.openxmlformats.org/drawingml/2006/main">
            <a:r>
              <a:t/>
            </a:r>
          </a:p>
          <a:p xmlns:a="http://schemas.openxmlformats.org/drawingml/2006/main">
            <a:r>
              <a:t>[Sources]</a:t>
            </a:r>
          </a:p>
          <a:p xmlns:a="http://schemas.openxmlformats.org/drawingml/2006/main">
            <a:r>
              <a:t>- https://www.faa.gov/documentLibrary/media/Advisory_Circular/AC_20-115D.pdf</a:t>
            </a:r>
          </a:p>
          <a:p xmlns:a="http://schemas.openxmlformats.org/drawingml/2006/main">
            <a:r>
              <a:t>- https://www.rtca.org/do-178/</a:t>
            </a:r>
          </a:p>
          <a:p xmlns:a="http://schemas.openxmlformats.org/drawingml/2006/main">
            <a:r>
              <a:t>- https://www.mathworks.com/help/sltest/ref/sltest.testmanager.testfile-class.html</a:t>
            </a:r>
          </a:p>
          <a:p xmlns:a="http://schemas.openxmlformats.org/drawingml/2006/main">
            <a:r>
              <a:t>- https://www.mathworks.com/help/sltest/ug/specify-test-properties-in-the-test-manager.html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Suggested visual:</a:t>
            </a:r>
          </a:p>
          <a:p xmlns:a="http://schemas.openxmlformats.org/drawingml/2006/main">
            <a:r>
              <a:t>A second nine-step serpentine flow covers integration, compile, CI failure loops, HIL, and final evidence.</a:t>
            </a:r>
          </a:p>
          <a:p xmlns:a="http://schemas.openxmlformats.org/drawingml/2006/main">
            <a:r>
              <a:t/>
            </a:r>
          </a:p>
          <a:p xmlns:a="http://schemas.openxmlformats.org/drawingml/2006/main">
            <a:r>
              <a:t>Speaker notes:</a:t>
            </a:r>
          </a:p>
          <a:p xmlns:a="http://schemas.openxmlformats.org/drawingml/2006/main">
            <a:r>
              <a:t>Continue from verified component behavior. Integration places the component into a referenced-model or architecture framework and connects controlled interfaces. Compile or model update is a semantic gate: it resolves references and catches type, dimension, rate, variant, and configuration problems. Jenkins then orchestrates repeatable checks, builds, tests, and reports. When the pipeline fails, investigate the first meaningful failure rather than treating every downstream message as independent. Fix the root cause, add a regression test or check where appropriate, re-run the affected scope, and then run the controlled full pipeline. A passing configuration can proceed to HIL, where real hardware, real I/O, real-time execution, faults, and closed-loop plant behavior are evaluated. Final evidence assembles results with configuration identity, trace links, reviews, and dispositions.</a:t>
            </a:r>
          </a:p>
          <a:p xmlns:a="http://schemas.openxmlformats.org/drawingml/2006/main">
            <a:r>
              <a:t/>
            </a:r>
          </a:p>
          <a:p xmlns:a="http://schemas.openxmlformats.org/drawingml/2006/main">
            <a:r>
              <a:t>Key teaching points:</a:t>
            </a:r>
          </a:p>
          <a:p xmlns:a="http://schemas.openxmlformats.org/drawingml/2006/main">
            <a:r>
              <a:t>• Compile validates model semantics, not requirements compliance.</a:t>
            </a:r>
          </a:p>
          <a:p xmlns:a="http://schemas.openxmlformats.org/drawingml/2006/main">
            <a:r>
              <a:t>• CI failures are a feedback loop, not a paperwork step.</a:t>
            </a:r>
          </a:p>
          <a:p xmlns:a="http://schemas.openxmlformats.org/drawingml/2006/main">
            <a:r>
              <a:t>• HIL and pipeline results must remain linked to requirements and configuration.</a:t>
            </a:r>
          </a:p>
          <a:p xmlns:a="http://schemas.openxmlformats.org/drawingml/2006/main">
            <a:r>
              <a:t/>
            </a:r>
          </a:p>
          <a:p xmlns:a="http://schemas.openxmlformats.org/drawingml/2006/main">
            <a:r>
              <a:t>[Sources]</a:t>
            </a:r>
          </a:p>
          <a:p xmlns:a="http://schemas.openxmlformats.org/drawingml/2006/main">
            <a:r>
              <a:t>- https://www.mathworks.com/help/simulink/ug/overview-of-model-referencing-1.html</a:t>
            </a:r>
          </a:p>
          <a:p xmlns:a="http://schemas.openxmlformats.org/drawingml/2006/main">
            <a:r>
              <a:t>- https://www.jenkins.io/doc/book/pipeline/</a:t>
            </a:r>
          </a:p>
          <a:p xmlns:a="http://schemas.openxmlformats.org/drawingml/2006/main">
            <a:r>
              <a:t>- https://www.mathworks.com/discovery/hardware-in-the-loop-hil.html</a:t>
            </a:r>
          </a:p>
          <a:p xmlns:a="http://schemas.openxmlformats.org/drawingml/2006/main">
            <a:r>
              <a:t>- https://www.faa.gov/documentLibrary/media/Advisory_Circular/AC_20-115D.pdf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Suggested visual:</a:t>
            </a:r>
          </a:p>
          <a:p xmlns:a="http://schemas.openxmlformats.org/drawingml/2006/main">
            <a:r>
              <a:t>Four requirement levels—system, interface, component, and derived—use a consistent flight-control example.</a:t>
            </a:r>
          </a:p>
          <a:p xmlns:a="http://schemas.openxmlformats.org/drawingml/2006/main">
            <a:r>
              <a:t/>
            </a:r>
          </a:p>
          <a:p xmlns:a="http://schemas.openxmlformats.org/drawingml/2006/main">
            <a:r>
              <a:t>Speaker notes:</a:t>
            </a:r>
          </a:p>
          <a:p xmlns:a="http://schemas.openxmlformats.org/drawingml/2006/main">
            <a:r>
              <a:t>Show how ambiguity is removed through decomposition. A system requirement states the aircraft-level need. Interface requirements define units, sign conventions, ranges, rates, validity, and ownership. Component or software requirements define observable behavior. Derived requirements arise from design choices or newly identified constraints and must be explicitly identified and fed into the project’s system and safety processes. Acceptance criteria make verification unambiguous by defining outputs, tolerances, timing, modes, and invalid-input behavior. The pitch-rate-limiter values are training data, not program data. Distinguish magnitude limiting in degrees per second from slew-rate limiting in degrees per second squared; selecting the wrong Simulink block would implement a different requirement.</a:t>
            </a:r>
          </a:p>
          <a:p xmlns:a="http://schemas.openxmlformats.org/drawingml/2006/main">
            <a:r>
              <a:t/>
            </a:r>
          </a:p>
          <a:p xmlns:a="http://schemas.openxmlformats.org/drawingml/2006/main">
            <a:r>
              <a:t>Key teaching points:</a:t>
            </a:r>
          </a:p>
          <a:p xmlns:a="http://schemas.openxmlformats.org/drawingml/2006/main">
            <a:r>
              <a:t>• Requirements should be observable and testable.</a:t>
            </a:r>
          </a:p>
          <a:p xmlns:a="http://schemas.openxmlformats.org/drawingml/2006/main">
            <a:r>
              <a:t>• Interface requirements prevent unit, sign, rate, and validity ambiguity.</a:t>
            </a:r>
          </a:p>
          <a:p xmlns:a="http://schemas.openxmlformats.org/drawingml/2006/main">
            <a:r>
              <a:t>• Derived behavior must be identified, traced, and assessed—not hidden in the model.</a:t>
            </a:r>
          </a:p>
          <a:p xmlns:a="http://schemas.openxmlformats.org/drawingml/2006/main">
            <a:r>
              <a:t/>
            </a:r>
          </a:p>
          <a:p xmlns:a="http://schemas.openxmlformats.org/drawingml/2006/main">
            <a:r>
              <a:t>[Sources]</a:t>
            </a:r>
          </a:p>
          <a:p xmlns:a="http://schemas.openxmlformats.org/drawingml/2006/main">
            <a:r>
              <a:t>- https://www.mathworks.com/help/slrequirements/ug/create-and-store-links.html</a:t>
            </a:r>
          </a:p>
          <a:p xmlns:a="http://schemas.openxmlformats.org/drawingml/2006/main">
            <a:r>
              <a:t>- https://www.faa.gov/documentLibrary/media/Advisory_Circular/AC_20-115D.pdf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Suggested visual:</a:t>
            </a:r>
          </a:p>
          <a:p xmlns:a="http://schemas.openxmlformats.org/drawingml/2006/main">
            <a:r>
              <a:t>A complete bidirectional trace chain follows a realistic magnitude-limiter requirement through model element, boundary tests, and result.</a:t>
            </a:r>
          </a:p>
          <a:p xmlns:a="http://schemas.openxmlformats.org/drawingml/2006/main">
            <a:r>
              <a:t/>
            </a:r>
          </a:p>
          <a:p xmlns:a="http://schemas.openxmlformats.org/drawingml/2006/main">
            <a:r>
              <a:t>Speaker notes:</a:t>
            </a:r>
          </a:p>
          <a:p xmlns:a="http://schemas.openxmlformats.org/drawingml/2006/main">
            <a:r>
              <a:t>Use the example to make traceability tangible. PRL-001 specifies inclusive magnitude limits. The implementing model element is a magnitude saturation function, not a rate-of-change limiter. Boundary tests include just below, exactly at, inside, exactly at the positive boundary, and just above. The result records pass/fail plus the controlled configuration, tool environment, and report identity. During review, each link should be navigable in both directions. A result that cannot identify the exact model and test configuration is weak evidence. A model element without a requirement may indicate unintended functionality. A requirement without a test or analysis is an uncovered obligation.</a:t>
            </a:r>
          </a:p>
          <a:p xmlns:a="http://schemas.openxmlformats.org/drawingml/2006/main">
            <a:r>
              <a:t/>
            </a:r>
          </a:p>
          <a:p xmlns:a="http://schemas.openxmlformats.org/drawingml/2006/main">
            <a:r>
              <a:t>Key teaching points:</a:t>
            </a:r>
          </a:p>
          <a:p xmlns:a="http://schemas.openxmlformats.org/drawingml/2006/main">
            <a:r>
              <a:t>• Choose the model element that matches the physical quantity in the requirement.</a:t>
            </a:r>
          </a:p>
          <a:p xmlns:a="http://schemas.openxmlformats.org/drawingml/2006/main">
            <a:r>
              <a:t>• Boundary values prove inclusive/exclusive semantics.</a:t>
            </a:r>
          </a:p>
          <a:p xmlns:a="http://schemas.openxmlformats.org/drawingml/2006/main">
            <a:r>
              <a:t>• Results must identify the exact configuration they verified.</a:t>
            </a:r>
          </a:p>
          <a:p xmlns:a="http://schemas.openxmlformats.org/drawingml/2006/main">
            <a:r>
              <a:t/>
            </a:r>
          </a:p>
          <a:p xmlns:a="http://schemas.openxmlformats.org/drawingml/2006/main">
            <a:r>
              <a:t>[Sources]</a:t>
            </a:r>
          </a:p>
          <a:p xmlns:a="http://schemas.openxmlformats.org/drawingml/2006/main">
            <a:r>
              <a:t>- https://www.mathworks.com/help/slrequirements/ug/create-and-store-links.html</a:t>
            </a:r>
          </a:p>
          <a:p xmlns:a="http://schemas.openxmlformats.org/drawingml/2006/main">
            <a:r>
              <a:t>- https://www.mathworks.com/help/slrequirements/ug/find-and-link-unlinked-requirements-with-a-traceability-matrix.html</a:t>
            </a:r>
          </a:p>
          <a:p xmlns:a="http://schemas.openxmlformats.org/drawingml/2006/main">
            <a:r>
              <a:t>- https://www.mathworks.com/help/sltest/gs/test-planning-and-strategies.html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Suggested visual:</a:t>
            </a:r>
          </a:p>
          <a:p xmlns:a="http://schemas.openxmlformats.org/drawingml/2006/main">
            <a:r>
              <a:t>A six-step checklist sits beside a Simulink-style mockup of the Pitch Rate Limiter component.</a:t>
            </a:r>
          </a:p>
          <a:p xmlns:a="http://schemas.openxmlformats.org/drawingml/2006/main">
            <a:r>
              <a:t/>
            </a:r>
          </a:p>
          <a:p xmlns:a="http://schemas.openxmlformats.org/drawingml/2006/main">
            <a:r>
              <a:t>Speaker notes:</a:t>
            </a:r>
          </a:p>
          <a:p xmlns:a="http://schemas.openxmlformats.org/drawingml/2006/main">
            <a:r>
              <a:t>Walk the development sequence. Start with a subsystem whose responsibility can be stated in one sentence. Create input and output ports with controlled types, dimensions, units, and sample times. Add only the logic needed by the requirements. Parameterize tunable or project-controlled values in the designated dictionary rather than scattering numeric literals. Define the interface through bus or port specifications and link requirements to the relevant model elements. Compile or update early to catch semantic errors. Then run a focused test before expanding the component. The mockup is intentionally simple: if the real model is hard to review at this level, add hierarchy rather than accepting a wall of blocks.</a:t>
            </a:r>
          </a:p>
          <a:p xmlns:a="http://schemas.openxmlformats.org/drawingml/2006/main">
            <a:r>
              <a:t/>
            </a:r>
          </a:p>
          <a:p xmlns:a="http://schemas.openxmlformats.org/drawingml/2006/main">
            <a:r>
              <a:t>Key teaching points:</a:t>
            </a:r>
          </a:p>
          <a:p xmlns:a="http://schemas.openxmlformats.org/drawingml/2006/main">
            <a:r>
              <a:t>• Interfaces come before internal complexity.</a:t>
            </a:r>
          </a:p>
          <a:p xmlns:a="http://schemas.openxmlformats.org/drawingml/2006/main">
            <a:r>
              <a:t>• Controlled parameters replace unexplained literals.</a:t>
            </a:r>
          </a:p>
          <a:p xmlns:a="http://schemas.openxmlformats.org/drawingml/2006/main">
            <a:r>
              <a:t>• Compile and test at the smallest meaningful increment.</a:t>
            </a:r>
          </a:p>
          <a:p xmlns:a="http://schemas.openxmlformats.org/drawingml/2006/main">
            <a:r>
              <a:t/>
            </a:r>
          </a:p>
          <a:p xmlns:a="http://schemas.openxmlformats.org/drawingml/2006/main">
            <a:r>
              <a:t>[Sources]</a:t>
            </a:r>
          </a:p>
          <a:p xmlns:a="http://schemas.openxmlformats.org/drawingml/2006/main">
            <a:r>
              <a:t>- https://www.mathworks.com/help/simulink/getting-started-with-simulink.html</a:t>
            </a:r>
          </a:p>
          <a:p xmlns:a="http://schemas.openxmlformats.org/drawingml/2006/main">
            <a:r>
              <a:t>- https://www.mathworks.com/help/simulink/ug/interface-design.html</a:t>
            </a:r>
          </a:p>
          <a:p xmlns:a="http://schemas.openxmlformats.org/drawingml/2006/main">
            <a:r>
              <a:t>- https://www.mathworks.com/help/simulink/ug/determine-where-to-store-data-for-simulink-models.html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Suggested visual:</a:t>
            </a:r>
          </a:p>
          <a:p xmlns:a="http://schemas.openxmlformats.org/drawingml/2006/main">
            <a:r>
              <a:t>A shared data dictionary defines a horizontal bus connecting three referenced components.</a:t>
            </a:r>
          </a:p>
          <a:p xmlns:a="http://schemas.openxmlformats.org/drawingml/2006/main">
            <a:r>
              <a:t/>
            </a:r>
          </a:p>
          <a:p xmlns:a="http://schemas.openxmlformats.org/drawingml/2006/main">
            <a:r>
              <a:t>Speaker notes:</a:t>
            </a:r>
          </a:p>
          <a:p xmlns:a="http://schemas.openxmlformats.org/drawingml/2006/main">
            <a:r>
              <a:t>Clarify three concepts that are often confused. A model reference provides modular behavior in a separately managed model and can support isolated testing and incremental workflows. A bus groups related interface elements, reducing line clutter while preserving a defined contract when backed by bus objects. A data dictionary stores the shared types, parameters, enumerations, and bus definitions. Integration quality depends on ownership: which component produces each element, which consumes it, what units and rates apply, and how validity is represented. A bus is not a license to move an unstructured bundle of data. Interfaces should be narrow, named, versioned, and reviewed.</a:t>
            </a:r>
          </a:p>
          <a:p xmlns:a="http://schemas.openxmlformats.org/drawingml/2006/main">
            <a:r>
              <a:t/>
            </a:r>
          </a:p>
          <a:p xmlns:a="http://schemas.openxmlformats.org/drawingml/2006/main">
            <a:r>
              <a:t>Key teaching points:</a:t>
            </a:r>
          </a:p>
          <a:p xmlns:a="http://schemas.openxmlformats.org/drawingml/2006/main">
            <a:r>
              <a:t>• Model references support modular development and isolated verification.</a:t>
            </a:r>
          </a:p>
          <a:p xmlns:a="http://schemas.openxmlformats.org/drawingml/2006/main">
            <a:r>
              <a:t>• Buses group signals but must preserve explicit contracts.</a:t>
            </a:r>
          </a:p>
          <a:p xmlns:a="http://schemas.openxmlformats.org/drawingml/2006/main">
            <a:r>
              <a:t>• Dictionaries centralize controlled definitions and parameters.</a:t>
            </a:r>
          </a:p>
          <a:p xmlns:a="http://schemas.openxmlformats.org/drawingml/2006/main">
            <a:r>
              <a:t/>
            </a:r>
          </a:p>
          <a:p xmlns:a="http://schemas.openxmlformats.org/drawingml/2006/main">
            <a:r>
              <a:t>[Sources]</a:t>
            </a:r>
          </a:p>
          <a:p xmlns:a="http://schemas.openxmlformats.org/drawingml/2006/main">
            <a:r>
              <a:t>- https://www.mathworks.com/help/simulink/ug/overview-of-model-referencing-1.html</a:t>
            </a:r>
          </a:p>
          <a:p xmlns:a="http://schemas.openxmlformats.org/drawingml/2006/main">
            <a:r>
              <a:t>- https://www.mathworks.com/help/simulink/ug/interface-design.html</a:t>
            </a:r>
          </a:p>
          <a:p xmlns:a="http://schemas.openxmlformats.org/drawingml/2006/main">
            <a:r>
              <a:t>- https://www.mathworks.com/help/simulink/ug/determine-where-to-store-data-for-simulink-models.html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Suggested visual:</a:t>
            </a:r>
          </a:p>
          <a:p xmlns:a="http://schemas.openxmlformats.org/drawingml/2006/main">
            <a:r>
              <a:t>Five model-review rules are presented as a large-format engineering checklist.</a:t>
            </a:r>
          </a:p>
          <a:p xmlns:a="http://schemas.openxmlformats.org/drawingml/2006/main">
            <a:r>
              <a:t/>
            </a:r>
          </a:p>
          <a:p xmlns:a="http://schemas.openxmlformats.org/drawingml/2006/main">
            <a:r>
              <a:t>Speaker notes:</a:t>
            </a:r>
          </a:p>
          <a:p xmlns:a="http://schemas.openxmlformats.org/drawingml/2006/main">
            <a:r>
              <a:t>Stress that readability is a verification feature. Reviewers should be able to see the main signal path, understand the hierarchy, identify interfaces, and locate the requirement-linked behavior without tracing crossings and unlabeled lines. Names should carry engineering meaning. Signal labels should include the concepts needed by the project—often units, types, dimensions, rates, validity, and ownership. Layout should establish a consistent flow. A subsystem should have one clear responsibility, and library or referenced content should be reused under configuration control rather than copied. Clever compression, hidden data stores, masked side effects, and undocumented callbacks may make a model look smaller while making the lifecycle harder to verify.</a:t>
            </a:r>
          </a:p>
          <a:p xmlns:a="http://schemas.openxmlformats.org/drawingml/2006/main">
            <a:r>
              <a:t/>
            </a:r>
          </a:p>
          <a:p xmlns:a="http://schemas.openxmlformats.org/drawingml/2006/main">
            <a:r>
              <a:t>Key teaching points:</a:t>
            </a:r>
          </a:p>
          <a:p xmlns:a="http://schemas.openxmlformats.org/drawingml/2006/main">
            <a:r>
              <a:t>• Readability reduces review error and investigation time.</a:t>
            </a:r>
          </a:p>
          <a:p xmlns:a="http://schemas.openxmlformats.org/drawingml/2006/main">
            <a:r>
              <a:t>• Naming and labeling are part of the interface contract.</a:t>
            </a:r>
          </a:p>
          <a:p xmlns:a="http://schemas.openxmlformats.org/drawingml/2006/main">
            <a:r>
              <a:t>• Controlled reuse prevents silent divergence.</a:t>
            </a:r>
          </a:p>
          <a:p xmlns:a="http://schemas.openxmlformats.org/drawingml/2006/main">
            <a:r>
              <a:t/>
            </a:r>
          </a:p>
          <a:p xmlns:a="http://schemas.openxmlformats.org/drawingml/2006/main">
            <a:r>
              <a:t>[Sources]</a:t>
            </a:r>
          </a:p>
          <a:p xmlns:a="http://schemas.openxmlformats.org/drawingml/2006/main">
            <a:r>
              <a:t>- https://www.mathworks.com/help/slcheck/ref/model-advisor-checks-for-do-178cdo-331-industry-standards.html</a:t>
            </a:r>
          </a:p>
          <a:p xmlns:a="http://schemas.openxmlformats.org/drawingml/2006/main">
            <a:r>
              <a:t>- https://www.mathworks.com/help/simulink/ug/interface-design.html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Suggested visual:</a:t>
            </a:r>
          </a:p>
          <a:p xmlns:a="http://schemas.openxmlformats.org/drawingml/2006/main">
            <a:r>
              <a:t>A five-stage unit-test flow moves from component model through harness, stimulus, expectation, and result.</a:t>
            </a:r>
          </a:p>
          <a:p xmlns:a="http://schemas.openxmlformats.org/drawingml/2006/main">
            <a:r>
              <a:t/>
            </a:r>
          </a:p>
          <a:p xmlns:a="http://schemas.openxmlformats.org/drawingml/2006/main">
            <a:r>
              <a:t>Speaker notes:</a:t>
            </a:r>
          </a:p>
          <a:p xmlns:a="http://schemas.openxmlformats.org/drawingml/2006/main">
            <a:r>
              <a:t>Define the harness as a test environment around the component under test. It supplies controlled sources, sinks, sequencing, parameter overrides, and assessments without changing production behavior. Test sequences can express time-ordered inputs and expected transitions. Baseline comparisons can compare actual outputs with expected data and tolerances. Equivalence tests can compare model and generated-code executions. Unit testing matters because it removes architecture noise and gives precise fault localization. The certification obligation is requirements-based verification; ‘unit test’ is a practical level for satisfying part of that obligation. Tests must remain independent of the implementation where required and should not simply encode the same flawed algorithm in a different form.</a:t>
            </a:r>
          </a:p>
          <a:p xmlns:a="http://schemas.openxmlformats.org/drawingml/2006/main">
            <a:r>
              <a:t/>
            </a:r>
          </a:p>
          <a:p xmlns:a="http://schemas.openxmlformats.org/drawingml/2006/main">
            <a:r>
              <a:t>Key teaching points:</a:t>
            </a:r>
          </a:p>
          <a:p xmlns:a="http://schemas.openxmlformats.org/drawingml/2006/main">
            <a:r>
              <a:t>• Harnesses isolate the component without modifying production logic.</a:t>
            </a:r>
          </a:p>
          <a:p xmlns:a="http://schemas.openxmlformats.org/drawingml/2006/main">
            <a:r>
              <a:t>• Expected behavior comes from requirements and acceptance criteria.</a:t>
            </a:r>
          </a:p>
          <a:p xmlns:a="http://schemas.openxmlformats.org/drawingml/2006/main">
            <a:r>
              <a:t>• Unit tests provide fast, precise, repeatable regression evidence.</a:t>
            </a:r>
          </a:p>
          <a:p xmlns:a="http://schemas.openxmlformats.org/drawingml/2006/main">
            <a:r>
              <a:t/>
            </a:r>
          </a:p>
          <a:p xmlns:a="http://schemas.openxmlformats.org/drawingml/2006/main">
            <a:r>
              <a:t>[Sources]</a:t>
            </a:r>
          </a:p>
          <a:p xmlns:a="http://schemas.openxmlformats.org/drawingml/2006/main">
            <a:r>
              <a:t>- https://www.mathworks.com/products/simulink-test.html</a:t>
            </a:r>
          </a:p>
          <a:p xmlns:a="http://schemas.openxmlformats.org/drawingml/2006/main">
            <a:r>
              <a:t>- https://www.mathworks.com/help/sltest/gs/test-planning-and-strategies.html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Suggested visual:</a:t>
            </a:r>
          </a:p>
          <a:p xmlns:a="http://schemas.openxmlformats.org/drawingml/2006/main">
            <a:r>
              <a:t>A five-row test matrix applies nominal, boundary, invalid, and timing tests to the Pitch Rate Limiter.</a:t>
            </a:r>
          </a:p>
          <a:p xmlns:a="http://schemas.openxmlformats.org/drawingml/2006/main">
            <a:r>
              <a:t/>
            </a:r>
          </a:p>
          <a:p xmlns:a="http://schemas.openxmlformats.org/drawingml/2006/main">
            <a:r>
              <a:t>Speaker notes:</a:t>
            </a:r>
          </a:p>
          <a:p xmlns:a="http://schemas.openxmlformats.org/drawingml/2006/main">
            <a:r>
              <a:t>Explain test design as a deliberate coverage strategy. Nominal cases show ordinary behavior. Exact boundaries prove inclusive or exclusive semantics. Just-inside and just-outside values expose comparison and numerical errors. Invalid inputs and mode changes verify fallback and state transitions. Timing cases verify discrete execution and response latency. When features interact, use a small combinatorial matrix rather than testing each dimension in isolation. For a magnitude limiter, do not call the Simulink Rate Limiter block unless the requirement limits slew rate. Also test numeric types and fixed-point behavior if applicable, because saturation boundaries can move under scaling or conversion.</a:t>
            </a:r>
          </a:p>
          <a:p xmlns:a="http://schemas.openxmlformats.org/drawingml/2006/main">
            <a:r>
              <a:t/>
            </a:r>
          </a:p>
          <a:p xmlns:a="http://schemas.openxmlformats.org/drawingml/2006/main">
            <a:r>
              <a:t>Key teaching points:</a:t>
            </a:r>
          </a:p>
          <a:p xmlns:a="http://schemas.openxmlformats.org/drawingml/2006/main">
            <a:r>
              <a:t>• Boundary values are more informative than many random nominal points.</a:t>
            </a:r>
          </a:p>
          <a:p xmlns:a="http://schemas.openxmlformats.org/drawingml/2006/main">
            <a:r>
              <a:t>• Mode and validity behavior must be tested explicitly.</a:t>
            </a:r>
          </a:p>
          <a:p xmlns:a="http://schemas.openxmlformats.org/drawingml/2006/main">
            <a:r>
              <a:t>• Test interactions when requirements share logic or state.</a:t>
            </a:r>
          </a:p>
          <a:p xmlns:a="http://schemas.openxmlformats.org/drawingml/2006/main">
            <a:r>
              <a:t/>
            </a:r>
          </a:p>
          <a:p xmlns:a="http://schemas.openxmlformats.org/drawingml/2006/main">
            <a:r>
              <a:t>[Sources]</a:t>
            </a:r>
          </a:p>
          <a:p xmlns:a="http://schemas.openxmlformats.org/drawingml/2006/main">
            <a:r>
              <a:t>- https://www.mathworks.com/help/sltest/gs/test-planning-and-strategies.html</a:t>
            </a:r>
          </a:p>
          <a:p xmlns:a="http://schemas.openxmlformats.org/drawingml/2006/main">
            <a:r>
              <a:t>- https://www.mathworks.com/products/simulink-test.html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Suggested visual:</a:t>
            </a:r>
          </a:p>
          <a:p xmlns:a="http://schemas.openxmlformats.org/drawingml/2006/main">
            <a:r>
              <a:t>A Test Manager hierarchy is paired with a requirement-to-report execution chain.</a:t>
            </a:r>
          </a:p>
          <a:p xmlns:a="http://schemas.openxmlformats.org/drawingml/2006/main">
            <a:r>
              <a:t/>
            </a:r>
          </a:p>
          <a:p xmlns:a="http://schemas.openxmlformats.org/drawingml/2006/main">
            <a:r>
              <a:t>Speaker notes:</a:t>
            </a:r>
          </a:p>
          <a:p xmlns:a="http://schemas.openxmlformats.org/drawingml/2006/main">
            <a:r>
              <a:t>Explain what the .mldatx file contributes. A Test Manager test file can contain suites and cases, and cases can contain configurations, inputs, parameter overrides, callbacks, assessments, and iterations. Requirements can be linked at appropriate hierarchy levels. The file is binary and should be changed through Test Manager or supported APIs so the structure remains valid. Be precise about results: exported Simulink Test results can also use .mldatx, but an exported result set is not a substitute for the original test definition. The report must identify the test, requirement, configuration, expected behavior, actual behavior, and pass/fail result required by the project.</a:t>
            </a:r>
          </a:p>
          <a:p xmlns:a="http://schemas.openxmlformats.org/drawingml/2006/main">
            <a:r>
              <a:t/>
            </a:r>
          </a:p>
          <a:p xmlns:a="http://schemas.openxmlformats.org/drawingml/2006/main">
            <a:r>
              <a:t>Key teaching points:</a:t>
            </a:r>
          </a:p>
          <a:p xmlns:a="http://schemas.openxmlformats.org/drawingml/2006/main">
            <a:r>
              <a:t>• Test files organize reusable test intent and hierarchy.</a:t>
            </a:r>
          </a:p>
          <a:p xmlns:a="http://schemas.openxmlformats.org/drawingml/2006/main">
            <a:r>
              <a:t>• Requirements links make cases reviewable and reportable.</a:t>
            </a:r>
          </a:p>
          <a:p xmlns:a="http://schemas.openxmlformats.org/drawingml/2006/main">
            <a:r>
              <a:t>• Definition files and exported result sets serve different lifecycle purposes.</a:t>
            </a:r>
          </a:p>
          <a:p xmlns:a="http://schemas.openxmlformats.org/drawingml/2006/main">
            <a:r>
              <a:t/>
            </a:r>
          </a:p>
          <a:p xmlns:a="http://schemas.openxmlformats.org/drawingml/2006/main">
            <a:r>
              <a:t>[Sources]</a:t>
            </a:r>
          </a:p>
          <a:p xmlns:a="http://schemas.openxmlformats.org/drawingml/2006/main">
            <a:r>
              <a:t>- https://www.mathworks.com/help/sltest/ref/sltest.testmanager.testfile-class.html</a:t>
            </a:r>
          </a:p>
          <a:p xmlns:a="http://schemas.openxmlformats.org/drawingml/2006/main">
            <a:r>
              <a:t>- https://www.mathworks.com/help/sltest/ug/test-models-using-matlab-based-simulink-tests.html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Suggested visual:</a:t>
            </a:r>
          </a:p>
          <a:p xmlns:a="http://schemas.openxmlformats.org/drawingml/2006/main">
            <a:r>
              <a:t>A callback execution timeline sits above a MATLAB example and five callback design rules.</a:t>
            </a:r>
          </a:p>
          <a:p xmlns:a="http://schemas.openxmlformats.org/drawingml/2006/main">
            <a:r>
              <a:t/>
            </a:r>
          </a:p>
          <a:p xmlns:a="http://schemas.openxmlformats.org/drawingml/2006/main">
            <a:r>
              <a:t>Speaker notes:</a:t>
            </a:r>
          </a:p>
          <a:p xmlns:a="http://schemas.openxmlformats.org/drawingml/2006/main">
            <a:r>
              <a:t>Define callbacks as MATLAB code invoked at lifecycle events. Simulink models have callbacks such as PreLoadFcn, PostLoadFcn, InitFcn, StartFcn, and StopFcn. Simulink Test provides file and suite Setup/Cleanup callbacks and test-case Pre-load, Post-load, and Cleanup callbacks. Projects may place substantial callback logic in reviewed external .m functions, but a separate file is a convention, not a product requirement. Use callbacks to open the project, load controlled data, configure the environment, initialize deterministic signals, and restore state. Keep the primary verification oracle in assessments, expected outputs, baselines, or custom criteria—not hidden inside a cleanup script. Callback ordering matters, especially in parallel execution and when model callbacks also modify state.</a:t>
            </a:r>
          </a:p>
          <a:p xmlns:a="http://schemas.openxmlformats.org/drawingml/2006/main">
            <a:r>
              <a:t/>
            </a:r>
          </a:p>
          <a:p xmlns:a="http://schemas.openxmlformats.org/drawingml/2006/main">
            <a:r>
              <a:t>Key teaching points:</a:t>
            </a:r>
          </a:p>
          <a:p xmlns:a="http://schemas.openxmlformats.org/drawingml/2006/main">
            <a:r>
              <a:t>• Callbacks establish and clean up deterministic conditions.</a:t>
            </a:r>
          </a:p>
          <a:p xmlns:a="http://schemas.openxmlformats.org/drawingml/2006/main">
            <a:r>
              <a:t>• Execution order and workspace scope matter.</a:t>
            </a:r>
          </a:p>
          <a:p xmlns:a="http://schemas.openxmlformats.org/drawingml/2006/main">
            <a:r>
              <a:t>• Do not hide the requirement’s pass/fail logic in ad hoc setup code.</a:t>
            </a:r>
          </a:p>
          <a:p xmlns:a="http://schemas.openxmlformats.org/drawingml/2006/main">
            <a:r>
              <a:t/>
            </a:r>
          </a:p>
          <a:p xmlns:a="http://schemas.openxmlformats.org/drawingml/2006/main">
            <a:r>
              <a:t>[Sources]</a:t>
            </a:r>
          </a:p>
          <a:p xmlns:a="http://schemas.openxmlformats.org/drawingml/2006/main">
            <a:r>
              <a:t>- https://www.mathworks.com/help/sltest/ug/specify-test-properties-in-the-test-manager.html</a:t>
            </a:r>
          </a:p>
          <a:p xmlns:a="http://schemas.openxmlformats.org/drawingml/2006/main">
            <a:r>
              <a:t>- https://www.mathworks.com/help/sltest/ug/test-execution-order.html</a:t>
            </a:r>
          </a:p>
          <a:p xmlns:a="http://schemas.openxmlformats.org/drawingml/2006/main">
            <a:r>
              <a:t>- https://www.mathworks.com/help/simulink/ug/model-callbacks.html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Suggested visual:</a:t>
            </a:r>
          </a:p>
          <a:p xmlns:a="http://schemas.openxmlformats.org/drawingml/2006/main">
            <a:r>
              <a:t>Four referenced components connect in an architecture, with a compile/update gate list on the right.</a:t>
            </a:r>
          </a:p>
          <a:p xmlns:a="http://schemas.openxmlformats.org/drawingml/2006/main">
            <a:r>
              <a:t/>
            </a:r>
          </a:p>
          <a:p xmlns:a="http://schemas.openxmlformats.org/drawingml/2006/main">
            <a:r>
              <a:t>Speaker notes:</a:t>
            </a:r>
          </a:p>
          <a:p xmlns:a="http://schemas.openxmlformats.org/drawingml/2006/main">
            <a:r>
              <a:t>Describe integration as the moment local assumptions meet system contracts. Model references must resolve to the intended versions. Bus definitions, dimensions, data types, units, sample times, rate transitions, enumerations, variants, and parameters must agree. Compile or model update propagates these properties and often exposes errors before simulation. Model checks can add project and DO-178C/DO-331 modeling-standard checks. A clean compile is necessary but not sufficient: it proves semantic consistency in the configured model, not that the behavior satisfies requirements. After integration, add component-interaction tests for coupling, scheduling, mode coordination, and data validity.</a:t>
            </a:r>
          </a:p>
          <a:p xmlns:a="http://schemas.openxmlformats.org/drawingml/2006/main">
            <a:r>
              <a:t/>
            </a:r>
          </a:p>
          <a:p xmlns:a="http://schemas.openxmlformats.org/drawingml/2006/main">
            <a:r>
              <a:t>Key teaching points:</a:t>
            </a:r>
          </a:p>
          <a:p xmlns:a="http://schemas.openxmlformats.org/drawingml/2006/main">
            <a:r>
              <a:t>• Integration failures usually expose inconsistent contracts or configuration.</a:t>
            </a:r>
          </a:p>
          <a:p xmlns:a="http://schemas.openxmlformats.org/drawingml/2006/main">
            <a:r>
              <a:t>• Compile/update is a fast semantic gate.</a:t>
            </a:r>
          </a:p>
          <a:p xmlns:a="http://schemas.openxmlformats.org/drawingml/2006/main">
            <a:r>
              <a:t>• Behavioral compliance still requires requirements-based verification.</a:t>
            </a:r>
          </a:p>
          <a:p xmlns:a="http://schemas.openxmlformats.org/drawingml/2006/main">
            <a:r>
              <a:t/>
            </a:r>
          </a:p>
          <a:p xmlns:a="http://schemas.openxmlformats.org/drawingml/2006/main">
            <a:r>
              <a:t>[Sources]</a:t>
            </a:r>
          </a:p>
          <a:p xmlns:a="http://schemas.openxmlformats.org/drawingml/2006/main">
            <a:r>
              <a:t>- https://www.mathworks.com/help/simulink/ug/overview-of-model-referencing-1.html</a:t>
            </a:r>
          </a:p>
          <a:p xmlns:a="http://schemas.openxmlformats.org/drawingml/2006/main">
            <a:r>
              <a:t>- https://www.mathworks.com/help/simulink/ug/interface-design.html</a:t>
            </a:r>
          </a:p>
          <a:p xmlns:a="http://schemas.openxmlformats.org/drawingml/2006/main">
            <a:r>
              <a:t>- https://www.mathworks.com/help/slcheck/ref/model-advisor-checks-for-do-178cdo-331-industry-standards.html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Suggested visual:</a:t>
            </a:r>
          </a:p>
          <a:p xmlns:a="http://schemas.openxmlformats.org/drawingml/2006/main">
            <a:r>
              <a:t>A six-stage Jenkins pipeline sits above three responsibility lanes for Groovy, MATLAB/Simulink, and Robot Framework.</a:t>
            </a:r>
          </a:p>
          <a:p xmlns:a="http://schemas.openxmlformats.org/drawingml/2006/main">
            <a:r>
              <a:t/>
            </a:r>
          </a:p>
          <a:p xmlns:a="http://schemas.openxmlformats.org/drawingml/2006/main">
            <a:r>
              <a:t>Speaker notes:</a:t>
            </a:r>
          </a:p>
          <a:p xmlns:a="http://schemas.openxmlformats.org/drawingml/2006/main">
            <a:r>
              <a:t>Explain Jenkins as an automation server, not a Simulink-aware verifier by itself. A version-controlled Jenkinsfile defines stages and provides reviewability and history. Pipeline syntax can be Declarative or Scripted; Scripted Pipeline uses a Groovy-based DSL. A configured agent invokes MATLAB, opens the project, compiles or updates models, runs model checks and tests, and publishes CI-compatible reports. Robot Framework may be used as an optional keyword-driven layer to control benches, external interfaces, or higher-level system tests; it is not a DO-178C requirement and has no automatic certification status. The valuable outcome is a reproducible, controlled run with retained logs, results, environment information, and configuration identity.</a:t>
            </a:r>
          </a:p>
          <a:p xmlns:a="http://schemas.openxmlformats.org/drawingml/2006/main">
            <a:r>
              <a:t/>
            </a:r>
          </a:p>
          <a:p xmlns:a="http://schemas.openxmlformats.org/drawingml/2006/main">
            <a:r>
              <a:t>Key teaching points:</a:t>
            </a:r>
          </a:p>
          <a:p xmlns:a="http://schemas.openxmlformats.org/drawingml/2006/main">
            <a:r>
              <a:t>• Jenkins orchestrates; project scripts perform the engineering work.</a:t>
            </a:r>
          </a:p>
          <a:p xmlns:a="http://schemas.openxmlformats.org/drawingml/2006/main">
            <a:r>
              <a:t>• Pipeline-as-code improves reviewability and repeatability.</a:t>
            </a:r>
          </a:p>
          <a:p xmlns:a="http://schemas.openxmlformats.org/drawingml/2006/main">
            <a:r>
              <a:t>• A pipeline pass becomes useful evidence only with controlled configuration and traceability.</a:t>
            </a:r>
          </a:p>
          <a:p xmlns:a="http://schemas.openxmlformats.org/drawingml/2006/main">
            <a:r>
              <a:t/>
            </a:r>
          </a:p>
          <a:p xmlns:a="http://schemas.openxmlformats.org/drawingml/2006/main">
            <a:r>
              <a:t>[Sources]</a:t>
            </a:r>
          </a:p>
          <a:p xmlns:a="http://schemas.openxmlformats.org/drawingml/2006/main">
            <a:r>
              <a:t>- https://www.jenkins.io/doc/book/pipeline/</a:t>
            </a:r>
          </a:p>
          <a:p xmlns:a="http://schemas.openxmlformats.org/drawingml/2006/main">
            <a:r>
              <a:t>- https://www.jenkins.io/doc/book/pipeline/jenkinsfile/</a:t>
            </a:r>
          </a:p>
          <a:p xmlns:a="http://schemas.openxmlformats.org/drawingml/2006/main">
            <a:r>
              <a:t>- https://www.mathworks.com/help/sltest/ug/output-results-for-continuous-integration-systems.html</a:t>
            </a:r>
          </a:p>
          <a:p xmlns:a="http://schemas.openxmlformats.org/drawingml/2006/main">
            <a:r>
              <a:t>- https://robotframework.org/robotframework/latest/RobotFrameworkUserGuide.html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Suggested visual:</a:t>
            </a:r>
          </a:p>
          <a:p xmlns:a="http://schemas.openxmlformats.org/drawingml/2006/main">
            <a:r>
              <a:t>A triage flow splits an unreproducible failure from semantic/compile and functional/test failures.</a:t>
            </a:r>
          </a:p>
          <a:p xmlns:a="http://schemas.openxmlformats.org/drawingml/2006/main">
            <a:r>
              <a:t/>
            </a:r>
          </a:p>
          <a:p xmlns:a="http://schemas.openxmlformats.org/drawingml/2006/main">
            <a:r>
              <a:t>Speaker notes:</a:t>
            </a:r>
          </a:p>
          <a:p xmlns:a="http://schemas.openxmlformats.org/drawingml/2006/main">
            <a:r>
              <a:t>Teach disciplined triage. Preserve the failing log, build identifier, commit, configuration, agent, and first meaningful error. Try the controlled local command rather than improvising a different workflow. If the failure does not reproduce, compare environment: MATLAB release, licensed products, project startup, path order, data dictionaries, environment variables, cached artifacts, and agent configuration. If it reproduces, classify it. Compile and static failures usually point to references, types, dimensions, rates, parameters, variants, or standards. Functional failures require checking stimulus, expected output, tolerance, modes, initial state, timing, and the actual requirement. Fix the root cause, add a regression test or check, and re-run both the affected scope and the controlled full pipeline.</a:t>
            </a:r>
          </a:p>
          <a:p xmlns:a="http://schemas.openxmlformats.org/drawingml/2006/main">
            <a:r>
              <a:t/>
            </a:r>
          </a:p>
          <a:p xmlns:a="http://schemas.openxmlformats.org/drawingml/2006/main">
            <a:r>
              <a:t>Key teaching points:</a:t>
            </a:r>
          </a:p>
          <a:p xmlns:a="http://schemas.openxmlformats.org/drawingml/2006/main">
            <a:r>
              <a:t>• Preserve the exact failing configuration before investigation.</a:t>
            </a:r>
          </a:p>
          <a:p xmlns:a="http://schemas.openxmlformats.org/drawingml/2006/main">
            <a:r>
              <a:t>• Classify environment, semantic, and behavioral failures separately.</a:t>
            </a:r>
          </a:p>
          <a:p xmlns:a="http://schemas.openxmlformats.org/drawingml/2006/main">
            <a:r>
              <a:t>• Every meaningful defect should leave regression protection behind.</a:t>
            </a:r>
          </a:p>
          <a:p xmlns:a="http://schemas.openxmlformats.org/drawingml/2006/main">
            <a:r>
              <a:t/>
            </a:r>
          </a:p>
          <a:p xmlns:a="http://schemas.openxmlformats.org/drawingml/2006/main">
            <a:r>
              <a:t>[Sources]</a:t>
            </a:r>
          </a:p>
          <a:p xmlns:a="http://schemas.openxmlformats.org/drawingml/2006/main">
            <a:r>
              <a:t>- https://www.jenkins.io/doc/book/pipeline/</a:t>
            </a:r>
          </a:p>
          <a:p xmlns:a="http://schemas.openxmlformats.org/drawingml/2006/main">
            <a:r>
              <a:t>- https://www.mathworks.com/help/sltest/ug/output-results-for-continuous-integration-systems.html</a:t>
            </a:r>
          </a:p>
          <a:p xmlns:a="http://schemas.openxmlformats.org/drawingml/2006/main">
            <a:r>
              <a:t>- https://www.mathworks.com/help/sltest/ug/test-execution-order.html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Suggested visual:</a:t>
            </a:r>
          </a:p>
          <a:p xmlns:a="http://schemas.openxmlformats.org/drawingml/2006/main">
            <a:r>
              <a:t>A closed-loop HIL architecture connects test host, real flight-control computer, physical I/O, and a real-time plant with fault injection.</a:t>
            </a:r>
          </a:p>
          <a:p xmlns:a="http://schemas.openxmlformats.org/drawingml/2006/main">
            <a:r>
              <a:t/>
            </a:r>
          </a:p>
          <a:p xmlns:a="http://schemas.openxmlformats.org/drawingml/2006/main">
            <a:r>
              <a:t>Speaker notes:</a:t>
            </a:r>
          </a:p>
          <a:p xmlns:a="http://schemas.openxmlformats.org/drawingml/2006/main">
            <a:r>
              <a:t>Correct the common oversimplification that software runs ‘in the HIL hardware.’ In controller HIL, the production software normally executes on the real flight-control computer or representative controller hardware. Its real analog, digital, discrete, and communication interfaces connect through I/O and load hardware to a real-time target. The target simulates aircraft dynamics, actuators, sensors, environment, and failures. The test host orchestrates scenarios and collects results. HIL exposes hardware/software integration, scaling, wiring, latency, scheduling, bus behavior, startup, resets, and fault response that desktop model-in-the-loop tests cannot fully reproduce. The real-time plant still has modeling assumptions, so HIL does not equal flight test or prove every requirement automatically.</a:t>
            </a:r>
          </a:p>
          <a:p xmlns:a="http://schemas.openxmlformats.org/drawingml/2006/main">
            <a:r>
              <a:t/>
            </a:r>
          </a:p>
          <a:p xmlns:a="http://schemas.openxmlformats.org/drawingml/2006/main">
            <a:r>
              <a:t>Key teaching points:</a:t>
            </a:r>
          </a:p>
          <a:p xmlns:a="http://schemas.openxmlformats.org/drawingml/2006/main">
            <a:r>
              <a:t>• The real controller closes the loop with a simulated plant in real time.</a:t>
            </a:r>
          </a:p>
          <a:p xmlns:a="http://schemas.openxmlformats.org/drawingml/2006/main">
            <a:r>
              <a:t>• Physical I/O and timing are central HIL test targets.</a:t>
            </a:r>
          </a:p>
          <a:p xmlns:a="http://schemas.openxmlformats.org/drawingml/2006/main">
            <a:r>
              <a:t>• HIL complements MIL/SIL/PIL and other verification—it does not replace them.</a:t>
            </a:r>
          </a:p>
          <a:p xmlns:a="http://schemas.openxmlformats.org/drawingml/2006/main">
            <a:r>
              <a:t/>
            </a:r>
          </a:p>
          <a:p xmlns:a="http://schemas.openxmlformats.org/drawingml/2006/main">
            <a:r>
              <a:t>[Sources]</a:t>
            </a:r>
          </a:p>
          <a:p xmlns:a="http://schemas.openxmlformats.org/drawingml/2006/main">
            <a:r>
              <a:t>- https://www.mathworks.com/discovery/hardware-in-the-loop-hil.html</a:t>
            </a:r>
          </a:p>
          <a:p xmlns:a="http://schemas.openxmlformats.org/drawingml/2006/main">
            <a:r>
              <a:t>- https://www.mathworks.com/help/sltest/sil-pil-and-hil-tests.html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Suggested visual:</a:t>
            </a:r>
          </a:p>
          <a:p xmlns:a="http://schemas.openxmlformats.org/drawingml/2006/main">
            <a:r>
              <a:t>A five-row HIL verification matrix pairs objectives, realistic tests, and quantitative pass criteria.</a:t>
            </a:r>
          </a:p>
          <a:p xmlns:a="http://schemas.openxmlformats.org/drawingml/2006/main">
            <a:r>
              <a:t/>
            </a:r>
          </a:p>
          <a:p xmlns:a="http://schemas.openxmlformats.org/drawingml/2006/main">
            <a:r>
              <a:t>Speaker notes:</a:t>
            </a:r>
          </a:p>
          <a:p xmlns:a="http://schemas.openxmlformats.org/drawingml/2006/main">
            <a:r>
              <a:t>Turn HIL from a demo into verification. Functional tests connect inputs and outputs to requirement tolerances. Timing tests specify frame rate, latency, jitter, and overrun criteria. Interface tests verify scaling, units, freshness, status, protocol behavior, and electrical behavior as applicable. Fault tests inject realistic stale data, dropouts, resets, actuator failures, and power transitions and verify the required response time and state. Evidence criteria require the released software, hardware, plant, I/O, test, and tool configurations to be identifiable. Plots support analysis, but a reviewer needs quantitative criteria, procedures, logs, results, trace links, and dispositions.</a:t>
            </a:r>
          </a:p>
          <a:p xmlns:a="http://schemas.openxmlformats.org/drawingml/2006/main">
            <a:r>
              <a:t/>
            </a:r>
          </a:p>
          <a:p xmlns:a="http://schemas.openxmlformats.org/drawingml/2006/main">
            <a:r>
              <a:t>Key teaching points:</a:t>
            </a:r>
          </a:p>
          <a:p xmlns:a="http://schemas.openxmlformats.org/drawingml/2006/main">
            <a:r>
              <a:t>• Every HIL test needs an explicit requirement and quantitative oracle.</a:t>
            </a:r>
          </a:p>
          <a:p xmlns:a="http://schemas.openxmlformats.org/drawingml/2006/main">
            <a:r>
              <a:t>• Timing, interfaces, and faults are core HIL objectives.</a:t>
            </a:r>
          </a:p>
          <a:p xmlns:a="http://schemas.openxmlformats.org/drawingml/2006/main">
            <a:r>
              <a:t>• Configuration identity determines whether a result is reusable evidence.</a:t>
            </a:r>
          </a:p>
          <a:p xmlns:a="http://schemas.openxmlformats.org/drawingml/2006/main">
            <a:r>
              <a:t/>
            </a:r>
          </a:p>
          <a:p xmlns:a="http://schemas.openxmlformats.org/drawingml/2006/main">
            <a:r>
              <a:t>[Sources]</a:t>
            </a:r>
          </a:p>
          <a:p xmlns:a="http://schemas.openxmlformats.org/drawingml/2006/main">
            <a:r>
              <a:t>- https://www.mathworks.com/discovery/hardware-in-the-loop-hil.html</a:t>
            </a:r>
          </a:p>
          <a:p xmlns:a="http://schemas.openxmlformats.org/drawingml/2006/main">
            <a:r>
              <a:t>- https://www.mathworks.com/help/sltest/sil-pil-and-hil-tests.html</a:t>
            </a:r>
          </a:p>
          <a:p xmlns:a="http://schemas.openxmlformats.org/drawingml/2006/main">
            <a:r>
              <a:t>- https://www.faa.gov/documentLibrary/media/Advisory_Circular/AC_20-115D.pdf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Suggested visual:</a:t>
            </a:r>
          </a:p>
          <a:p xmlns:a="http://schemas.openxmlformats.org/drawingml/2006/main">
            <a:r>
              <a:t>An eight-stage serpentine case study follows the Pitch Rate Limiter from requirement through reviewed evidence.</a:t>
            </a:r>
          </a:p>
          <a:p xmlns:a="http://schemas.openxmlformats.org/drawingml/2006/main">
            <a:r>
              <a:t/>
            </a:r>
          </a:p>
          <a:p xmlns:a="http://schemas.openxmlformats.org/drawingml/2006/main">
            <a:r>
              <a:t>Speaker notes:</a:t>
            </a:r>
          </a:p>
          <a:p xmlns:a="http://schemas.openxmlformats.org/drawingml/2006/main">
            <a:r>
              <a:t>Close the example by narrating the entire chain. PRL-001 defines inclusive magnitude limits and modes. The Simulink component implements a magnitude saturation using controlled data and interfaces. Requirements-based unit tests cover nominal, exact boundaries, just-outside values, invalid data, modes, and timing. The .mldatx file organizes suites, cases, iterations, and links. Callbacks establish deterministic setup and cleanup. The referenced architecture compiles and the Jenkins pipeline runs controlled checks and tests. HIL executes the released software on real controller hardware with real-time plant and I/O, including faults. The final evidence bundle contains trace links, reviews, test definitions and results, CI and HIL reports, configuration IDs, coverage or analyses as applicable, and resolved problem reports. PASS means the applicable objective evidence has been reviewed—not merely that one green icon appeared.</a:t>
            </a:r>
          </a:p>
          <a:p xmlns:a="http://schemas.openxmlformats.org/drawingml/2006/main">
            <a:r>
              <a:t/>
            </a:r>
          </a:p>
          <a:p xmlns:a="http://schemas.openxmlformats.org/drawingml/2006/main">
            <a:r>
              <a:t>Key teaching points:</a:t>
            </a:r>
          </a:p>
          <a:p xmlns:a="http://schemas.openxmlformats.org/drawingml/2006/main">
            <a:r>
              <a:t>• Every step produces or consumes controlled lifecycle data.</a:t>
            </a:r>
          </a:p>
          <a:p xmlns:a="http://schemas.openxmlformats.org/drawingml/2006/main">
            <a:r>
              <a:t>• The same requirement stays visible from model to HIL.</a:t>
            </a:r>
          </a:p>
          <a:p xmlns:a="http://schemas.openxmlformats.org/drawingml/2006/main">
            <a:r>
              <a:t>• Evidence is complete only when results, configuration, reviews, and dispositions agree.</a:t>
            </a:r>
          </a:p>
          <a:p xmlns:a="http://schemas.openxmlformats.org/drawingml/2006/main">
            <a:r>
              <a:t/>
            </a:r>
          </a:p>
          <a:p xmlns:a="http://schemas.openxmlformats.org/drawingml/2006/main">
            <a:r>
              <a:t>[Sources]</a:t>
            </a:r>
          </a:p>
          <a:p xmlns:a="http://schemas.openxmlformats.org/drawingml/2006/main">
            <a:r>
              <a:t>- https://www.faa.gov/documentLibrary/media/Advisory_Circular/AC_20-115D.pdf</a:t>
            </a:r>
          </a:p>
          <a:p xmlns:a="http://schemas.openxmlformats.org/drawingml/2006/main">
            <a:r>
              <a:t>- https://www.mathworks.com/help/slrequirements/ug/create-and-store-links.html</a:t>
            </a:r>
          </a:p>
          <a:p xmlns:a="http://schemas.openxmlformats.org/drawingml/2006/main">
            <a:r>
              <a:t>- https://www.mathworks.com/help/sltest/ref/sltest.testmanager.testfile-class.html</a:t>
            </a:r>
          </a:p>
          <a:p xmlns:a="http://schemas.openxmlformats.org/drawingml/2006/main">
            <a:r>
              <a:t>- https://www.jenkins.io/doc/book/pipeline/</a:t>
            </a:r>
          </a:p>
          <a:p xmlns:a="http://schemas.openxmlformats.org/drawingml/2006/main">
            <a:r>
              <a:t>- https://www.mathworks.com/discovery/hardware-in-the-loop-hil.html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 plus questions</a:t>
            </a:r>
          </a:p>
          <a:p xmlns:a="http://schemas.openxmlformats.org/drawingml/2006/main">
            <a:r>
              <a:t/>
            </a:r>
          </a:p>
          <a:p xmlns:a="http://schemas.openxmlformats.org/drawingml/2006/main">
            <a:r>
              <a:t>Suggested visual:</a:t>
            </a:r>
          </a:p>
          <a:p xmlns:a="http://schemas.openxmlformats.org/drawingml/2006/main">
            <a:r>
              <a:t>A two-column close summarizes the lifecycle and gives the new engineer a practical first-30-days checklist.</a:t>
            </a:r>
          </a:p>
          <a:p xmlns:a="http://schemas.openxmlformats.org/drawingml/2006/main">
            <a:r>
              <a:t/>
            </a:r>
          </a:p>
          <a:p xmlns:a="http://schemas.openxmlformats.org/drawingml/2006/main">
            <a:r>
              <a:t>Speaker notes:</a:t>
            </a:r>
          </a:p>
          <a:p xmlns:a="http://schemas.openxmlformats.org/drawingml/2006/main">
            <a:r>
              <a:t>Synthesize the course rather than repeating slide titles. Simulink makes dynamic behavior executable and reviewable. DO-178C and DO-331 place that behavior inside planned objectives and evidence. Good requirements define conditions, boundaries, interfaces, timing, and observable results. Unit tests, .mldatx organization, callbacks, architecture compile, Jenkins, and HIL each answer different questions; none replaces the others. Encourage the engineer to learn the local project by tracing one real requirement end to end, making one small controlled change, adding a boundary test, reproducing one pipeline failure, and watching how a HIL run is reviewed and retained. End with questions focused on the organization’s actual plans, standards, model role, toolchain, and evidence repositories.</a:t>
            </a:r>
          </a:p>
          <a:p xmlns:a="http://schemas.openxmlformats.org/drawingml/2006/main">
            <a:r>
              <a:t/>
            </a:r>
          </a:p>
          <a:p xmlns:a="http://schemas.openxmlformats.org/drawingml/2006/main">
            <a:r>
              <a:t>Key teaching points:</a:t>
            </a:r>
          </a:p>
          <a:p xmlns:a="http://schemas.openxmlformats.org/drawingml/2006/main">
            <a:r>
              <a:t>• Correct control behavior and correct lifecycle evidence must stay synchronized.</a:t>
            </a:r>
          </a:p>
          <a:p xmlns:a="http://schemas.openxmlformats.org/drawingml/2006/main">
            <a:r>
              <a:t>• Each verification environment targets a different class of risk.</a:t>
            </a:r>
          </a:p>
          <a:p xmlns:a="http://schemas.openxmlformats.org/drawingml/2006/main">
            <a:r>
              <a:t>• The fastest onboarding path is one small end-to-end change under the project process.</a:t>
            </a:r>
          </a:p>
          <a:p xmlns:a="http://schemas.openxmlformats.org/drawingml/2006/main">
            <a:r>
              <a:t/>
            </a:r>
          </a:p>
          <a:p xmlns:a="http://schemas.openxmlformats.org/drawingml/2006/main">
            <a:r>
              <a:t>[Sources]</a:t>
            </a:r>
          </a:p>
          <a:p xmlns:a="http://schemas.openxmlformats.org/drawingml/2006/main">
            <a:r>
              <a:t>- https://www.mathworks.com/help/simulink/gs/model-based-design.html</a:t>
            </a:r>
          </a:p>
          <a:p xmlns:a="http://schemas.openxmlformats.org/drawingml/2006/main">
            <a:r>
              <a:t>- https://www.faa.gov/documentLibrary/media/Advisory_Circular/AC_20-115D.pdf</a:t>
            </a:r>
          </a:p>
          <a:p xmlns:a="http://schemas.openxmlformats.org/drawingml/2006/main">
            <a:r>
              <a:t>- https://www.mathworks.com/discovery/hardware-in-the-loop-hil.html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e313fdbfce460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fc8af62909c47a8" /><Relationship Type="http://schemas.openxmlformats.org/officeDocument/2006/relationships/slideLayout" Target="/ppt/slideLayouts/slideLayout1.xml" Id="R7aa751ed9b31484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aa751ed9b31484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b485a137a8a46e7" /><Relationship Type="http://schemas.openxmlformats.org/officeDocument/2006/relationships/notesSlide" Target="/ppt/notesSlides/notesSlide1.xml" Id="Rec94e0dfd808405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ff1ad02b4ba4ead" /><Relationship Type="http://schemas.openxmlformats.org/officeDocument/2006/relationships/notesSlide" Target="/ppt/notesSlides/notesSlide2.xml" Id="R5f1e031a6c5f449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fbeab1123aa4baf" /><Relationship Type="http://schemas.openxmlformats.org/officeDocument/2006/relationships/notesSlide" Target="/ppt/notesSlides/notesSlide3.xml" Id="Rebdc48f3956b48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80bdc6a7af04e61" /><Relationship Type="http://schemas.openxmlformats.org/officeDocument/2006/relationships/notesSlide" Target="/ppt/notesSlides/notesSlide4.xml" Id="Rc67404d29a9e47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c4117475b574f64" /><Relationship Type="http://schemas.openxmlformats.org/officeDocument/2006/relationships/notesSlide" Target="/ppt/notesSlides/notesSlide5.xml" Id="Rf3b482468fac407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8d6da9ce44c4032" /><Relationship Type="http://schemas.openxmlformats.org/officeDocument/2006/relationships/notesSlide" Target="/ppt/notesSlides/notesSlide6.xml" Id="R994fcb2d045f461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157d2a781b74e69" /><Relationship Type="http://schemas.openxmlformats.org/officeDocument/2006/relationships/notesSlide" Target="/ppt/notesSlides/notesSlide7.xml" Id="Ra1ba6dac7b50465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1dc64ff847249cb" /><Relationship Type="http://schemas.openxmlformats.org/officeDocument/2006/relationships/notesSlide" Target="/ppt/notesSlides/notesSlide8.xml" Id="Raaf9ef26fc95436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00bf22ec69847e5" /><Relationship Type="http://schemas.openxmlformats.org/officeDocument/2006/relationships/notesSlide" Target="/ppt/notesSlides/notesSlide9.xml" Id="R76b2932c090a426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b9dbada8b3441f3" /><Relationship Type="http://schemas.openxmlformats.org/officeDocument/2006/relationships/notesSlide" Target="/ppt/notesSlides/notesSlide10.xml" Id="Rd287e97a162c44f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5bb3f8c2d134b4f" /><Relationship Type="http://schemas.openxmlformats.org/officeDocument/2006/relationships/notesSlide" Target="/ppt/notesSlides/notesSlide11.xml" Id="R4eb707826a70414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8f878f81186405f" /><Relationship Type="http://schemas.openxmlformats.org/officeDocument/2006/relationships/notesSlide" Target="/ppt/notesSlides/notesSlide12.xml" Id="R4bd102d553a240a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92659d9bf0248bb" /><Relationship Type="http://schemas.openxmlformats.org/officeDocument/2006/relationships/notesSlide" Target="/ppt/notesSlides/notesSlide13.xml" Id="R85fc70ccdbc7425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722c7ec2a9b49aa" /><Relationship Type="http://schemas.openxmlformats.org/officeDocument/2006/relationships/notesSlide" Target="/ppt/notesSlides/notesSlide14.xml" Id="Rc929595a9a13466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252c11d511649a6" /><Relationship Type="http://schemas.openxmlformats.org/officeDocument/2006/relationships/notesSlide" Target="/ppt/notesSlides/notesSlide15.xml" Id="Rc0315e6d4afb453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05d10cb58cf445e" /><Relationship Type="http://schemas.openxmlformats.org/officeDocument/2006/relationships/notesSlide" Target="/ppt/notesSlides/notesSlide16.xml" Id="Rddd18210418040b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5de338a1f3d4db1" /><Relationship Type="http://schemas.openxmlformats.org/officeDocument/2006/relationships/notesSlide" Target="/ppt/notesSlides/notesSlide17.xml" Id="R57cf253692d5432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f6faffd1a9a43fe" /><Relationship Type="http://schemas.openxmlformats.org/officeDocument/2006/relationships/notesSlide" Target="/ppt/notesSlides/notesSlide18.xml" Id="Rd78e02ec476e488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2a7e0db347c450b" /><Relationship Type="http://schemas.openxmlformats.org/officeDocument/2006/relationships/notesSlide" Target="/ppt/notesSlides/notesSlide19.xml" Id="R89a55c777c3d4ec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690269f8d004a98" /><Relationship Type="http://schemas.openxmlformats.org/officeDocument/2006/relationships/notesSlide" Target="/ppt/notesSlides/notesSlide20.xml" Id="R09e6b51132c7427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632c3e2dfa24350" /><Relationship Type="http://schemas.openxmlformats.org/officeDocument/2006/relationships/notesSlide" Target="/ppt/notesSlides/notesSlide21.xml" Id="R1ebc0951534247e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cdb7c3393ec4faf" /><Relationship Type="http://schemas.openxmlformats.org/officeDocument/2006/relationships/notesSlide" Target="/ppt/notesSlides/notesSlide22.xml" Id="R47521dbe55a74bd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c00fa017fa64096" /><Relationship Type="http://schemas.openxmlformats.org/officeDocument/2006/relationships/notesSlide" Target="/ppt/notesSlides/notesSlide23.xml" Id="R98b422e2e070443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8663441cbb0481a" /><Relationship Type="http://schemas.openxmlformats.org/officeDocument/2006/relationships/notesSlide" Target="/ppt/notesSlides/notesSlide24.xml" Id="Re9cfe6d7942a449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5e341dfbdae42ac" /><Relationship Type="http://schemas.openxmlformats.org/officeDocument/2006/relationships/notesSlide" Target="/ppt/notesSlides/notesSlide25.xml" Id="Rdd0b9b1d746949a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3b0babcb4c045da" /><Relationship Type="http://schemas.openxmlformats.org/officeDocument/2006/relationships/notesSlide" Target="/ppt/notesSlides/notesSlide26.xml" Id="Rc6fe8420243641b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c586946aa66f44ce" /><Relationship Type="http://schemas.openxmlformats.org/officeDocument/2006/relationships/notesSlide" Target="/ppt/notesSlides/notesSlide27.xml" Id="R2f56a083afed4ec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6722081fa6a84efd" /><Relationship Type="http://schemas.openxmlformats.org/officeDocument/2006/relationships/notesSlide" Target="/ppt/notesSlides/notesSlide28.xml" Id="R7f9d1e7689f44a0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96b391c9e9084150" /><Relationship Type="http://schemas.openxmlformats.org/officeDocument/2006/relationships/notesSlide" Target="/ppt/notesSlides/notesSlide29.xml" Id="R71dfd78553c2454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6047047459844f6c" /><Relationship Type="http://schemas.openxmlformats.org/officeDocument/2006/relationships/notesSlide" Target="/ppt/notesSlides/notesSlide30.xml" Id="Rf392add30db1454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9156ea7ff4ee4aa5" /><Relationship Type="http://schemas.openxmlformats.org/officeDocument/2006/relationships/notesSlide" Target="/ppt/notesSlides/notesSlide31.xml" Id="R35d4c16dfa25432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74213cd08d7d4469" /><Relationship Type="http://schemas.openxmlformats.org/officeDocument/2006/relationships/notesSlide" Target="/ppt/notesSlides/notesSlide32.xml" Id="R39787916b4d642c6" /></Relationships>
</file>

<file path=ppt/slides/slide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4" name="text-1">
            <a:extLst xmlns:a="http://schemas.openxmlformats.org/drawingml/2006/main">
              <a:ext uri="{FF2B5EF4-FFF2-40B4-BE49-F238E27FC236}">
                <a16:creationId xmlns:a16="http://schemas.microsoft.com/office/drawing/2014/main" id="{C8E11374-631D-4D3D-B028-9B856910503F}"/>
              </a:ext>
            </a:extLst>
          </p:cNvPr>
          <p:cNvSpPr>
            <a:spLocks xmlns:a="http://schemas.openxmlformats.org/drawingml/2006/main" noGrp="1"/>
          </p:cNvSpPr>
          <p:nvPr/>
        </p:nvSpPr>
        <p:spPr>
          <a:xfrm xmlns:a="http://schemas.openxmlformats.org/drawingml/2006/main">
            <a:off x="685800" y="6667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70DCE5"/>
                </a:solidFill>
                <a:latin typeface="Aptos"/>
                <a:ea typeface="Aptos"/>
                <a:cs typeface="Aptos"/>
              </a:defRPr>
            </a:pPr>
            <a:r>
              <a:rPr sz="1275" b="1" i="0">
                <a:solidFill>
                  <a:srgbClr val="70DCE5"/>
                </a:solidFill>
                <a:latin typeface="Aptos"/>
                <a:ea typeface="Aptos"/>
                <a:cs typeface="Aptos"/>
              </a:rPr>
              <a:t>NEW AVIATION CONTROLS ENGINEER ONBOARDING</a:t>
            </a:r>
          </a:p>
        </p:txBody>
      </p:sp>
      <p:sp>
        <p:nvSpPr>
          <p:cNvPr id="2" name="text-2">
            <a:extLst xmlns:a="http://schemas.openxmlformats.org/drawingml/2006/main">
              <a:ext uri="{FF2B5EF4-FFF2-40B4-BE49-F238E27FC236}">
                <a16:creationId xmlns:a16="http://schemas.microsoft.com/office/drawing/2014/main" id="{E4983FC6-2522-412A-B743-95DFDE0F2D22}"/>
              </a:ext>
            </a:extLst>
          </p:cNvPr>
          <p:cNvSpPr>
            <a:spLocks xmlns:a="http://schemas.openxmlformats.org/drawingml/2006/main" noGrp="1"/>
          </p:cNvSpPr>
          <p:nvPr/>
        </p:nvSpPr>
        <p:spPr>
          <a:xfrm xmlns:a="http://schemas.openxmlformats.org/drawingml/2006/main">
            <a:off x="685800" y="1200150"/>
            <a:ext cx="800100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88000"/>
              </a:lnSpc>
              <a:buNone/>
              <a:defRPr sz="5250" b="1" i="0">
                <a:solidFill>
                  <a:srgbClr val="FFFFFF"/>
                </a:solidFill>
                <a:latin typeface="Aptos"/>
                <a:ea typeface="Aptos"/>
                <a:cs typeface="Aptos"/>
              </a:defRPr>
            </a:pPr>
            <a:r>
              <a:rPr sz="5250" b="1" i="0">
                <a:solidFill>
                  <a:srgbClr val="FFFFFF"/>
                </a:solidFill>
                <a:latin typeface="Aptos"/>
                <a:ea typeface="Aptos"/>
                <a:cs typeface="Aptos"/>
              </a:rPr>
              <a:t>Simulink in the Aerospace</a:t>
            </a:r>
          </a:p>
          <a:p xmlns:a="http://schemas.openxmlformats.org/drawingml/2006/main">
            <a:pPr algn="l">
              <a:lnSpc>
                <a:spcPct val="88000"/>
              </a:lnSpc>
              <a:buNone/>
              <a:defRPr sz="5250" b="1" i="0">
                <a:solidFill>
                  <a:srgbClr val="FFFFFF"/>
                </a:solidFill>
                <a:latin typeface="Aptos"/>
                <a:ea typeface="Aptos"/>
                <a:cs typeface="Aptos"/>
              </a:defRPr>
            </a:pPr>
            <a:r>
              <a:rPr sz="5250" b="1" i="0">
                <a:solidFill>
                  <a:srgbClr val="FFFFFF"/>
                </a:solidFill>
                <a:latin typeface="Aptos"/>
                <a:ea typeface="Aptos"/>
                <a:cs typeface="Aptos"/>
              </a:rPr>
              <a:t>Controls Lifecycle</a:t>
            </a:r>
          </a:p>
        </p:txBody>
      </p:sp>
      <p:sp>
        <p:nvSpPr>
          <p:cNvPr id="3" name="text-3">
            <a:extLst xmlns:a="http://schemas.openxmlformats.org/drawingml/2006/main">
              <a:ext uri="{FF2B5EF4-FFF2-40B4-BE49-F238E27FC236}">
                <a16:creationId xmlns:a16="http://schemas.microsoft.com/office/drawing/2014/main" id="{F76AF1FC-DEAB-4387-BC0D-D899BA9F5E84}"/>
              </a:ext>
            </a:extLst>
          </p:cNvPr>
          <p:cNvSpPr>
            <a:spLocks xmlns:a="http://schemas.openxmlformats.org/drawingml/2006/main" noGrp="1"/>
          </p:cNvSpPr>
          <p:nvPr/>
        </p:nvSpPr>
        <p:spPr>
          <a:xfrm xmlns:a="http://schemas.openxmlformats.org/drawingml/2006/main">
            <a:off x="723900" y="3524250"/>
            <a:ext cx="8096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10000"/>
              </a:lnSpc>
              <a:buNone/>
              <a:defRPr sz="1950" b="0" i="0">
                <a:solidFill>
                  <a:srgbClr val="BDD1DE"/>
                </a:solidFill>
                <a:latin typeface="Aptos"/>
                <a:ea typeface="Aptos"/>
                <a:cs typeface="Aptos"/>
              </a:defRPr>
            </a:pPr>
            <a:r>
              <a:rPr sz="1950" b="0" i="0">
                <a:solidFill>
                  <a:srgbClr val="BDD1DE"/>
                </a:solidFill>
                <a:latin typeface="Aptos"/>
                <a:ea typeface="Aptos"/>
                <a:cs typeface="Aptos"/>
              </a:rPr>
              <a:t>A practical guide from requirements and control-law models to HIL results and certification evidence</a:t>
            </a:r>
          </a:p>
        </p:txBody>
      </p:sp>
      <p:sp>
        <p:nvSpPr>
          <p:cNvPr id="4" name="box-4">
            <a:extLst xmlns:a="http://schemas.openxmlformats.org/drawingml/2006/main">
              <a:ext uri="{FF2B5EF4-FFF2-40B4-BE49-F238E27FC236}">
                <a16:creationId xmlns:a16="http://schemas.microsoft.com/office/drawing/2014/main" id="{1F87C1DC-8DA3-43EC-B54E-F253DBF33622}"/>
              </a:ext>
            </a:extLst>
          </p:cNvPr>
          <p:cNvSpPr>
            <a:spLocks xmlns:a="http://schemas.openxmlformats.org/drawingml/2006/main" noGrp="1"/>
          </p:cNvSpPr>
          <p:nvPr/>
        </p:nvSpPr>
        <p:spPr>
          <a:xfrm xmlns:a="http://schemas.openxmlformats.org/drawingml/2006/main">
            <a:off x="72390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REQUIRE</a:t>
            </a:r>
          </a:p>
        </p:txBody>
      </p:sp>
      <p:sp>
        <p:nvSpPr>
          <p:cNvPr id="5" name="box-5">
            <a:extLst xmlns:a="http://schemas.openxmlformats.org/drawingml/2006/main">
              <a:ext uri="{FF2B5EF4-FFF2-40B4-BE49-F238E27FC236}">
                <a16:creationId xmlns:a16="http://schemas.microsoft.com/office/drawing/2014/main" id="{600EF8B5-0D0A-4CD2-A6F4-416AB6353FDE}"/>
              </a:ext>
            </a:extLst>
          </p:cNvPr>
          <p:cNvSpPr>
            <a:spLocks xmlns:a="http://schemas.openxmlformats.org/drawingml/2006/main" noGrp="1"/>
          </p:cNvSpPr>
          <p:nvPr/>
        </p:nvSpPr>
        <p:spPr>
          <a:xfrm xmlns:a="http://schemas.openxmlformats.org/drawingml/2006/main">
            <a:off x="314325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MODEL</a:t>
            </a:r>
          </a:p>
        </p:txBody>
      </p:sp>
      <p:sp>
        <p:nvSpPr>
          <p:cNvPr id="6" name="box-6">
            <a:extLst xmlns:a="http://schemas.openxmlformats.org/drawingml/2006/main">
              <a:ext uri="{FF2B5EF4-FFF2-40B4-BE49-F238E27FC236}">
                <a16:creationId xmlns:a16="http://schemas.microsoft.com/office/drawing/2014/main" id="{9F06AD17-EC65-4DFF-88F9-5359E4460EBA}"/>
              </a:ext>
            </a:extLst>
          </p:cNvPr>
          <p:cNvSpPr>
            <a:spLocks xmlns:a="http://schemas.openxmlformats.org/drawingml/2006/main" noGrp="1"/>
          </p:cNvSpPr>
          <p:nvPr/>
        </p:nvSpPr>
        <p:spPr>
          <a:xfrm xmlns:a="http://schemas.openxmlformats.org/drawingml/2006/main">
            <a:off x="556260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VERIFY</a:t>
            </a:r>
          </a:p>
        </p:txBody>
      </p:sp>
      <p:sp>
        <p:nvSpPr>
          <p:cNvPr id="7" name="box-7">
            <a:extLst xmlns:a="http://schemas.openxmlformats.org/drawingml/2006/main">
              <a:ext uri="{FF2B5EF4-FFF2-40B4-BE49-F238E27FC236}">
                <a16:creationId xmlns:a16="http://schemas.microsoft.com/office/drawing/2014/main" id="{C593C195-FB41-4899-8987-677A9884ED12}"/>
              </a:ext>
            </a:extLst>
          </p:cNvPr>
          <p:cNvSpPr>
            <a:spLocks xmlns:a="http://schemas.openxmlformats.org/drawingml/2006/main" noGrp="1"/>
          </p:cNvSpPr>
          <p:nvPr/>
        </p:nvSpPr>
        <p:spPr>
          <a:xfrm xmlns:a="http://schemas.openxmlformats.org/drawingml/2006/main">
            <a:off x="798195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EVIDENCE</a:t>
            </a:r>
          </a:p>
        </p:txBody>
      </p: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253365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495300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cxnSp>
        <p:nvCxnSpPr>
          <p:cNvPr id="23" name=""/>
          <p:cNvCxnSpPr>
            <a:stCxn xmlns:a="http://schemas.openxmlformats.org/drawingml/2006/main" id="6" idx="3"/>
            <a:endCxn xmlns:a="http://schemas.openxmlformats.org/drawingml/2006/main" id="7" idx="1"/>
          </p:cNvCxnSpPr>
          <p:nvPr/>
        </p:nvCxnSpPr>
        <p:spPr>
          <a:xfrm xmlns:a="http://schemas.openxmlformats.org/drawingml/2006/main">
            <a:off x="737235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sp>
        <p:nvSpPr>
          <p:cNvPr id="11" name="text-8">
            <a:extLst xmlns:a="http://schemas.openxmlformats.org/drawingml/2006/main">
              <a:ext uri="{FF2B5EF4-FFF2-40B4-BE49-F238E27FC236}">
                <a16:creationId xmlns:a16="http://schemas.microsoft.com/office/drawing/2014/main" id="{1AF2C06B-1BA7-4AC2-8717-995E6F411D6B}"/>
              </a:ext>
            </a:extLst>
          </p:cNvPr>
          <p:cNvSpPr>
            <a:spLocks xmlns:a="http://schemas.openxmlformats.org/drawingml/2006/main" noGrp="1"/>
          </p:cNvSpPr>
          <p:nvPr/>
        </p:nvSpPr>
        <p:spPr>
          <a:xfrm xmlns:a="http://schemas.openxmlformats.org/drawingml/2006/main">
            <a:off x="723900" y="58102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7EA4BC"/>
                </a:solidFill>
                <a:latin typeface="Aptos"/>
                <a:ea typeface="Aptos"/>
                <a:cs typeface="Aptos"/>
              </a:defRPr>
            </a:pPr>
            <a:r>
              <a:rPr sz="1200" b="1" i="0">
                <a:solidFill>
                  <a:srgbClr val="7EA4BC"/>
                </a:solidFill>
                <a:latin typeface="Aptos"/>
                <a:ea typeface="Aptos"/>
                <a:cs typeface="Aptos"/>
              </a:rPr>
              <a:t>FLIGHT-CONTROL SOFTWARE IS AN UNBROKEN CHAIN</a:t>
            </a:r>
          </a:p>
        </p:txBody>
      </p:sp>
      <p:sp>
        <p:nvSpPr>
          <p:cNvPr id="12" name="text-9">
            <a:extLst xmlns:a="http://schemas.openxmlformats.org/drawingml/2006/main">
              <a:ext uri="{FF2B5EF4-FFF2-40B4-BE49-F238E27FC236}">
                <a16:creationId xmlns:a16="http://schemas.microsoft.com/office/drawing/2014/main" id="{45E35177-3C67-45EF-8016-85900502A313}"/>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13" name="text-10">
            <a:extLst xmlns:a="http://schemas.openxmlformats.org/drawingml/2006/main">
              <a:ext uri="{FF2B5EF4-FFF2-40B4-BE49-F238E27FC236}">
                <a16:creationId xmlns:a16="http://schemas.microsoft.com/office/drawing/2014/main" id="{1D2BB9AF-7F6B-4E24-A93F-47AEB05E91D2}"/>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01</a:t>
            </a:r>
          </a:p>
        </p:txBody>
      </p:sp>
    </p:spTree>
    <p:extLst>
      <p:ext uri="{BB962C8B-B14F-4D97-AF65-F5344CB8AC3E}">
        <p14:creationId xmlns:p14="http://schemas.microsoft.com/office/powerpoint/2010/main" val="230896597"/>
      </p:ext>
    </p:extLst>
  </p:cSld>
</p:sld>
</file>

<file path=ppt/slides/slide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7" name="section-10">
            <a:extLst xmlns:a="http://schemas.openxmlformats.org/drawingml/2006/main">
              <a:ext uri="{FF2B5EF4-FFF2-40B4-BE49-F238E27FC236}">
                <a16:creationId xmlns:a16="http://schemas.microsoft.com/office/drawing/2014/main" id="{5DF16D04-B00A-4E4C-A095-ED89E1AEAFB8}"/>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ORIENTATION</a:t>
            </a:r>
          </a:p>
        </p:txBody>
      </p:sp>
      <p:sp>
        <p:nvSpPr>
          <p:cNvPr id="2" name="title-10">
            <a:extLst xmlns:a="http://schemas.openxmlformats.org/drawingml/2006/main">
              <a:ext uri="{FF2B5EF4-FFF2-40B4-BE49-F238E27FC236}">
                <a16:creationId xmlns:a16="http://schemas.microsoft.com/office/drawing/2014/main" id="{B0269A63-E7BA-432F-9B37-2EE87D7A0950}"/>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The executable model is the engineering hub</a:t>
            </a:r>
          </a:p>
        </p:txBody>
      </p:sp>
      <p:sp>
        <p:nvSpPr>
          <p:cNvPr id="3" name="line-11">
            <a:extLst xmlns:a="http://schemas.openxmlformats.org/drawingml/2006/main">
              <a:ext uri="{FF2B5EF4-FFF2-40B4-BE49-F238E27FC236}">
                <a16:creationId xmlns:a16="http://schemas.microsoft.com/office/drawing/2014/main" id="{FA9754DA-A4FF-4EBB-9B82-FEC296828A62}"/>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2">
            <a:extLst xmlns:a="http://schemas.openxmlformats.org/drawingml/2006/main">
              <a:ext uri="{FF2B5EF4-FFF2-40B4-BE49-F238E27FC236}">
                <a16:creationId xmlns:a16="http://schemas.microsoft.com/office/drawing/2014/main" id="{ABB038EF-4798-4C15-ACE8-5A861A9CF34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3">
            <a:extLst xmlns:a="http://schemas.openxmlformats.org/drawingml/2006/main">
              <a:ext uri="{FF2B5EF4-FFF2-40B4-BE49-F238E27FC236}">
                <a16:creationId xmlns:a16="http://schemas.microsoft.com/office/drawing/2014/main" id="{1D45823F-3226-4E7D-B7F4-CFD0660FB1D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02</a:t>
            </a:r>
          </a:p>
        </p:txBody>
      </p:sp>
      <p:sp>
        <p:nvSpPr>
          <p:cNvPr id="6" name="box-14">
            <a:extLst xmlns:a="http://schemas.openxmlformats.org/drawingml/2006/main">
              <a:ext uri="{FF2B5EF4-FFF2-40B4-BE49-F238E27FC236}">
                <a16:creationId xmlns:a16="http://schemas.microsoft.com/office/drawing/2014/main" id="{21A273C8-888A-48CE-A9A5-B4ED9A5C2C6A}"/>
              </a:ext>
            </a:extLst>
          </p:cNvPr>
          <p:cNvSpPr>
            <a:spLocks xmlns:a="http://schemas.openxmlformats.org/drawingml/2006/main" noGrp="1"/>
          </p:cNvSpPr>
          <p:nvPr/>
        </p:nvSpPr>
        <p:spPr>
          <a:xfrm xmlns:a="http://schemas.openxmlformats.org/drawingml/2006/main">
            <a:off x="4762500" y="2476500"/>
            <a:ext cx="2667000" cy="1238250"/>
          </a:xfrm>
          <a:prstGeom xmlns:a="http://schemas.openxmlformats.org/drawingml/2006/main" prst="roundRect">
            <a:avLst>
              <a:gd name="adj" fmla="val 50000"/>
            </a:avLst>
          </a:prstGeom>
          <a:solidFill xmlns:a="http://schemas.openxmlformats.org/drawingml/2006/main">
            <a:srgbClr val="0B2438"/>
          </a:solidFill>
          <a:ln xmlns:a="http://schemas.openxmlformats.org/drawingml/2006/main" w="2857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325" b="1">
                <a:solidFill>
                  <a:srgbClr val="FFFFFF"/>
                </a:solidFill>
                <a:latin typeface="Aptos"/>
                <a:ea typeface="Aptos"/>
                <a:cs typeface="Aptos"/>
              </a:defRPr>
            </a:pPr>
            <a:r>
              <a:rPr sz="2325" b="1">
                <a:solidFill>
                  <a:srgbClr val="FFFFFF"/>
                </a:solidFill>
                <a:latin typeface="Aptos"/>
                <a:ea typeface="Aptos"/>
                <a:cs typeface="Aptos"/>
              </a:rPr>
              <a:t>EXECUTABLE</a:t>
            </a:r>
          </a:p>
          <a:p xmlns:a="http://schemas.openxmlformats.org/drawingml/2006/main">
            <a:pPr algn="ctr">
              <a:lnSpc>
                <a:spcPct val="100000"/>
              </a:lnSpc>
              <a:buNone/>
              <a:defRPr sz="2325" b="1">
                <a:solidFill>
                  <a:srgbClr val="FFFFFF"/>
                </a:solidFill>
                <a:latin typeface="Aptos"/>
                <a:ea typeface="Aptos"/>
                <a:cs typeface="Aptos"/>
              </a:defRPr>
            </a:pPr>
            <a:r>
              <a:rPr sz="2325" b="1">
                <a:solidFill>
                  <a:srgbClr val="FFFFFF"/>
                </a:solidFill>
                <a:latin typeface="Aptos"/>
                <a:ea typeface="Aptos"/>
                <a:cs typeface="Aptos"/>
              </a:rPr>
              <a:t>MODEL</a:t>
            </a:r>
          </a:p>
        </p:txBody>
      </p:sp>
      <p:sp>
        <p:nvSpPr>
          <p:cNvPr id="7" name="box-15">
            <a:extLst xmlns:a="http://schemas.openxmlformats.org/drawingml/2006/main">
              <a:ext uri="{FF2B5EF4-FFF2-40B4-BE49-F238E27FC236}">
                <a16:creationId xmlns:a16="http://schemas.microsoft.com/office/drawing/2014/main" id="{A0AA67E0-AC58-4ED7-ADFD-8450A9F2E2D5}"/>
              </a:ext>
            </a:extLst>
          </p:cNvPr>
          <p:cNvSpPr>
            <a:spLocks xmlns:a="http://schemas.openxmlformats.org/drawingml/2006/main" noGrp="1"/>
          </p:cNvSpPr>
          <p:nvPr/>
        </p:nvSpPr>
        <p:spPr>
          <a:xfrm xmlns:a="http://schemas.openxmlformats.org/drawingml/2006/main">
            <a:off x="857250" y="1905000"/>
            <a:ext cx="2095500" cy="685800"/>
          </a:xfrm>
          <a:prstGeom xmlns:a="http://schemas.openxmlformats.org/drawingml/2006/main" prst="roundRect">
            <a:avLst>
              <a:gd name="adj" fmla="val 13889"/>
            </a:avLst>
          </a:prstGeom>
          <a:solidFill xmlns:a="http://schemas.openxmlformats.org/drawingml/2006/main">
            <a:srgbClr val="E2ECF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Requirements</a:t>
            </a:r>
          </a:p>
        </p:txBody>
      </p:sp>
      <p:sp>
        <p:nvSpPr>
          <p:cNvPr id="8" name="box-16">
            <a:extLst xmlns:a="http://schemas.openxmlformats.org/drawingml/2006/main">
              <a:ext uri="{FF2B5EF4-FFF2-40B4-BE49-F238E27FC236}">
                <a16:creationId xmlns:a16="http://schemas.microsoft.com/office/drawing/2014/main" id="{FB75FED5-0AED-449C-8836-90BE963E8251}"/>
              </a:ext>
            </a:extLst>
          </p:cNvPr>
          <p:cNvSpPr>
            <a:spLocks xmlns:a="http://schemas.openxmlformats.org/drawingml/2006/main" noGrp="1"/>
          </p:cNvSpPr>
          <p:nvPr/>
        </p:nvSpPr>
        <p:spPr>
          <a:xfrm xmlns:a="http://schemas.openxmlformats.org/drawingml/2006/main">
            <a:off x="857250" y="4000500"/>
            <a:ext cx="2095500" cy="685800"/>
          </a:xfrm>
          <a:prstGeom xmlns:a="http://schemas.openxmlformats.org/drawingml/2006/main" prst="roundRect">
            <a:avLst>
              <a:gd name="adj" fmla="val 13889"/>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Control design</a:t>
            </a:r>
          </a:p>
        </p:txBody>
      </p:sp>
      <p:sp>
        <p:nvSpPr>
          <p:cNvPr id="9" name="box-17">
            <a:extLst xmlns:a="http://schemas.openxmlformats.org/drawingml/2006/main">
              <a:ext uri="{FF2B5EF4-FFF2-40B4-BE49-F238E27FC236}">
                <a16:creationId xmlns:a16="http://schemas.microsoft.com/office/drawing/2014/main" id="{419A118D-61E6-4047-9750-05FEB30D3348}"/>
              </a:ext>
            </a:extLst>
          </p:cNvPr>
          <p:cNvSpPr>
            <a:spLocks xmlns:a="http://schemas.openxmlformats.org/drawingml/2006/main" noGrp="1"/>
          </p:cNvSpPr>
          <p:nvPr/>
        </p:nvSpPr>
        <p:spPr>
          <a:xfrm xmlns:a="http://schemas.openxmlformats.org/drawingml/2006/main">
            <a:off x="9239250" y="1905000"/>
            <a:ext cx="2095500" cy="685800"/>
          </a:xfrm>
          <a:prstGeom xmlns:a="http://schemas.openxmlformats.org/drawingml/2006/main" prst="roundRect">
            <a:avLst>
              <a:gd name="adj" fmla="val 13889"/>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Simulation</a:t>
            </a:r>
          </a:p>
        </p:txBody>
      </p:sp>
      <p:sp>
        <p:nvSpPr>
          <p:cNvPr id="10" name="box-18">
            <a:extLst xmlns:a="http://schemas.openxmlformats.org/drawingml/2006/main">
              <a:ext uri="{FF2B5EF4-FFF2-40B4-BE49-F238E27FC236}">
                <a16:creationId xmlns:a16="http://schemas.microsoft.com/office/drawing/2014/main" id="{6AF0C6FC-D9B4-4732-9690-440AFCA5B73E}"/>
              </a:ext>
            </a:extLst>
          </p:cNvPr>
          <p:cNvSpPr>
            <a:spLocks xmlns:a="http://schemas.openxmlformats.org/drawingml/2006/main" noGrp="1"/>
          </p:cNvSpPr>
          <p:nvPr/>
        </p:nvSpPr>
        <p:spPr>
          <a:xfrm xmlns:a="http://schemas.openxmlformats.org/drawingml/2006/main">
            <a:off x="9239250" y="4000500"/>
            <a:ext cx="2095500" cy="685800"/>
          </a:xfrm>
          <a:prstGeom xmlns:a="http://schemas.openxmlformats.org/drawingml/2006/main" prst="roundRect">
            <a:avLst>
              <a:gd name="adj" fmla="val 13889"/>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Verification</a:t>
            </a:r>
          </a:p>
        </p:txBody>
      </p:sp>
      <p:cxnSp>
        <p:nvCxnSpPr>
          <p:cNvPr id="27" name=""/>
          <p:cNvCxnSpPr>
            <a:stCxn xmlns:a="http://schemas.openxmlformats.org/drawingml/2006/main" id="7" idx="3"/>
            <a:endCxn xmlns:a="http://schemas.openxmlformats.org/drawingml/2006/main" id="6" idx="1"/>
          </p:cNvCxnSpPr>
          <p:nvPr/>
        </p:nvCxnSpPr>
        <p:spPr>
          <a:xfrm xmlns:a="http://schemas.openxmlformats.org/drawingml/2006/main">
            <a:off x="2952750" y="2247900"/>
            <a:ext cx="1809750" cy="847725"/>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28" name=""/>
          <p:cNvCxnSpPr>
            <a:stCxn xmlns:a="http://schemas.openxmlformats.org/drawingml/2006/main" id="8" idx="3"/>
            <a:endCxn xmlns:a="http://schemas.openxmlformats.org/drawingml/2006/main" id="6" idx="1"/>
          </p:cNvCxnSpPr>
          <p:nvPr/>
        </p:nvCxnSpPr>
        <p:spPr>
          <a:xfrm xmlns:a="http://schemas.openxmlformats.org/drawingml/2006/main" flipV="1">
            <a:off x="2952750" y="3095625"/>
            <a:ext cx="1809750" cy="1247775"/>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29" name=""/>
          <p:cNvCxnSpPr>
            <a:stCxn xmlns:a="http://schemas.openxmlformats.org/drawingml/2006/main" id="6" idx="3"/>
            <a:endCxn xmlns:a="http://schemas.openxmlformats.org/drawingml/2006/main" id="9" idx="1"/>
          </p:cNvCxnSpPr>
          <p:nvPr/>
        </p:nvCxnSpPr>
        <p:spPr>
          <a:xfrm xmlns:a="http://schemas.openxmlformats.org/drawingml/2006/main" flipV="1">
            <a:off x="7429500" y="2247900"/>
            <a:ext cx="1809750" cy="847725"/>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30" name=""/>
          <p:cNvCxnSpPr>
            <a:stCxn xmlns:a="http://schemas.openxmlformats.org/drawingml/2006/main" id="6" idx="3"/>
            <a:endCxn xmlns:a="http://schemas.openxmlformats.org/drawingml/2006/main" id="10" idx="1"/>
          </p:cNvCxnSpPr>
          <p:nvPr/>
        </p:nvCxnSpPr>
        <p:spPr>
          <a:xfrm xmlns:a="http://schemas.openxmlformats.org/drawingml/2006/main">
            <a:off x="7429500" y="3095625"/>
            <a:ext cx="1809750" cy="1247775"/>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sp>
        <p:nvSpPr>
          <p:cNvPr id="15" name="text-19">
            <a:extLst xmlns:a="http://schemas.openxmlformats.org/drawingml/2006/main">
              <a:ext uri="{FF2B5EF4-FFF2-40B4-BE49-F238E27FC236}">
                <a16:creationId xmlns:a16="http://schemas.microsoft.com/office/drawing/2014/main" id="{AFFAF025-4E91-40CA-BD30-D5EF1529C583}"/>
              </a:ext>
            </a:extLst>
          </p:cNvPr>
          <p:cNvSpPr>
            <a:spLocks xmlns:a="http://schemas.openxmlformats.org/drawingml/2006/main" noGrp="1"/>
          </p:cNvSpPr>
          <p:nvPr/>
        </p:nvSpPr>
        <p:spPr>
          <a:xfrm xmlns:a="http://schemas.openxmlformats.org/drawingml/2006/main">
            <a:off x="2647950" y="5095875"/>
            <a:ext cx="689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950" b="1" i="0">
                <a:solidFill>
                  <a:srgbClr val="0B1F33"/>
                </a:solidFill>
                <a:latin typeface="Aptos"/>
                <a:ea typeface="Aptos"/>
                <a:cs typeface="Aptos"/>
              </a:defRPr>
            </a:pPr>
            <a:r>
              <a:rPr sz="1950" b="1" i="0">
                <a:solidFill>
                  <a:srgbClr val="0B1F33"/>
                </a:solidFill>
                <a:latin typeface="Aptos"/>
                <a:ea typeface="Aptos"/>
                <a:cs typeface="Aptos"/>
              </a:rPr>
              <a:t>The same behavior can be discussed, simulated, reviewed, tested, integrated, and traced.</a:t>
            </a:r>
          </a:p>
        </p:txBody>
      </p:sp>
      <p:sp>
        <p:nvSpPr>
          <p:cNvPr id="16" name="text-20">
            <a:extLst xmlns:a="http://schemas.openxmlformats.org/drawingml/2006/main">
              <a:ext uri="{FF2B5EF4-FFF2-40B4-BE49-F238E27FC236}">
                <a16:creationId xmlns:a16="http://schemas.microsoft.com/office/drawing/2014/main" id="{52C2E410-3595-4ED2-9D42-08A2FD3360C0}"/>
              </a:ext>
            </a:extLst>
          </p:cNvPr>
          <p:cNvSpPr>
            <a:spLocks xmlns:a="http://schemas.openxmlformats.org/drawingml/2006/main" noGrp="1"/>
          </p:cNvSpPr>
          <p:nvPr/>
        </p:nvSpPr>
        <p:spPr>
          <a:xfrm xmlns:a="http://schemas.openxmlformats.org/drawingml/2006/main">
            <a:off x="4762500" y="3952875"/>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MODEL-BASED DESIGN</a:t>
            </a:r>
          </a:p>
        </p:txBody>
      </p:sp>
    </p:spTree>
    <p:extLst>
      <p:ext uri="{BB962C8B-B14F-4D97-AF65-F5344CB8AC3E}">
        <p14:creationId xmlns:p14="http://schemas.microsoft.com/office/powerpoint/2010/main" val="425577241"/>
      </p:ext>
    </p:extLst>
  </p:cSld>
</p:sld>
</file>

<file path=ppt/slides/slide3.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3" name="section-20">
            <a:extLst xmlns:a="http://schemas.openxmlformats.org/drawingml/2006/main">
              <a:ext uri="{FF2B5EF4-FFF2-40B4-BE49-F238E27FC236}">
                <a16:creationId xmlns:a16="http://schemas.microsoft.com/office/drawing/2014/main" id="{A11A59CD-4E44-4DDB-8FC6-8CC7EC48FE90}"/>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ORIENTATION</a:t>
            </a:r>
          </a:p>
        </p:txBody>
      </p:sp>
      <p:sp>
        <p:nvSpPr>
          <p:cNvPr id="2" name="title-20">
            <a:extLst xmlns:a="http://schemas.openxmlformats.org/drawingml/2006/main">
              <a:ext uri="{FF2B5EF4-FFF2-40B4-BE49-F238E27FC236}">
                <a16:creationId xmlns:a16="http://schemas.microsoft.com/office/drawing/2014/main" id="{50957822-C261-4495-95B3-78AED16F3851}"/>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Navigate the entire aerospace evidence chain</a:t>
            </a:r>
          </a:p>
        </p:txBody>
      </p:sp>
      <p:sp>
        <p:nvSpPr>
          <p:cNvPr id="3" name="line-21">
            <a:extLst xmlns:a="http://schemas.openxmlformats.org/drawingml/2006/main">
              <a:ext uri="{FF2B5EF4-FFF2-40B4-BE49-F238E27FC236}">
                <a16:creationId xmlns:a16="http://schemas.microsoft.com/office/drawing/2014/main" id="{D22B8537-33D7-4277-8DE3-FB485EB7158C}"/>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2">
            <a:extLst xmlns:a="http://schemas.openxmlformats.org/drawingml/2006/main">
              <a:ext uri="{FF2B5EF4-FFF2-40B4-BE49-F238E27FC236}">
                <a16:creationId xmlns:a16="http://schemas.microsoft.com/office/drawing/2014/main" id="{DC3553AF-F21C-4ABF-BA12-A4CF86480AF8}"/>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23">
            <a:extLst xmlns:a="http://schemas.openxmlformats.org/drawingml/2006/main">
              <a:ext uri="{FF2B5EF4-FFF2-40B4-BE49-F238E27FC236}">
                <a16:creationId xmlns:a16="http://schemas.microsoft.com/office/drawing/2014/main" id="{259BF12E-66FF-4C2A-A903-7CB6293A061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03</a:t>
            </a:r>
          </a:p>
        </p:txBody>
      </p:sp>
      <p:sp>
        <p:nvSpPr>
          <p:cNvPr id="6" name="text-24">
            <a:extLst xmlns:a="http://schemas.openxmlformats.org/drawingml/2006/main">
              <a:ext uri="{FF2B5EF4-FFF2-40B4-BE49-F238E27FC236}">
                <a16:creationId xmlns:a16="http://schemas.microsoft.com/office/drawing/2014/main" id="{AA438571-D9D1-471E-AA88-C446F1322C99}"/>
              </a:ext>
            </a:extLst>
          </p:cNvPr>
          <p:cNvSpPr>
            <a:spLocks xmlns:a="http://schemas.openxmlformats.org/drawingml/2006/main" noGrp="1"/>
          </p:cNvSpPr>
          <p:nvPr/>
        </p:nvSpPr>
        <p:spPr>
          <a:xfrm xmlns:a="http://schemas.openxmlformats.org/drawingml/2006/main">
            <a:off x="800100" y="1676400"/>
            <a:ext cx="6572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8"/>
              </a:spcAft>
              <a:buNone/>
              <a:defRPr sz="1800" b="0" i="0">
                <a:solidFill>
                  <a:srgbClr val="FFFFFF"/>
                </a:solidFill>
                <a:latin typeface="Aptos"/>
                <a:ea typeface="Aptos"/>
                <a:cs typeface="Aptos"/>
              </a:defRPr>
            </a:pPr>
            <a:r>
              <a:rPr sz="1800" b="0" i="0">
                <a:solidFill>
                  <a:srgbClr val="FFFFFF"/>
                </a:solidFill>
                <a:latin typeface="Aptos"/>
                <a:ea typeface="Aptos"/>
                <a:cs typeface="Aptos"/>
              </a:rPr>
              <a:t>Read a model — </a:t>
            </a:r>
            <a:r>
              <a:rPr sz="1800" b="0" i="0">
                <a:solidFill>
                  <a:srgbClr val="FFFFFF"/>
                </a:solidFill>
                <a:latin typeface="Aptos"/>
                <a:ea typeface="Aptos"/>
                <a:cs typeface="Aptos"/>
              </a:rPr>
              <a:t>identify blocks, signals, hierarchy, buses, parameters, and timing</a:t>
            </a:r>
          </a:p>
          <a:p xmlns:a="http://schemas.openxmlformats.org/drawingml/2006/main">
            <a:pPr marL="24" indent="-13" algn="l">
              <a:lnSpc>
                <a:spcPct val="108000"/>
              </a:lnSpc>
              <a:spcAft>
                <a:spcPts val="18"/>
              </a:spcAft>
              <a:buNone/>
              <a:defRPr sz="1800" b="0" i="0">
                <a:solidFill>
                  <a:srgbClr val="FFFFFF"/>
                </a:solidFill>
                <a:latin typeface="Aptos"/>
                <a:ea typeface="Aptos"/>
                <a:cs typeface="Aptos"/>
              </a:defRPr>
            </a:pPr>
            <a:r>
              <a:rPr sz="1800" b="0" i="0">
                <a:solidFill>
                  <a:srgbClr val="FFFFFF"/>
                </a:solidFill>
                <a:latin typeface="Aptos"/>
                <a:ea typeface="Aptos"/>
                <a:cs typeface="Aptos"/>
              </a:rPr>
              <a:t>Build a component — </a:t>
            </a:r>
            <a:r>
              <a:rPr sz="1800" b="0" i="0">
                <a:solidFill>
                  <a:srgbClr val="FFFFFF"/>
                </a:solidFill>
                <a:latin typeface="Aptos"/>
                <a:ea typeface="Aptos"/>
                <a:cs typeface="Aptos"/>
              </a:rPr>
              <a:t>turn a testable control requirement into a reviewable subsystem</a:t>
            </a:r>
          </a:p>
          <a:p xmlns:a="http://schemas.openxmlformats.org/drawingml/2006/main">
            <a:pPr marL="24" indent="-13" algn="l">
              <a:lnSpc>
                <a:spcPct val="108000"/>
              </a:lnSpc>
              <a:spcAft>
                <a:spcPts val="18"/>
              </a:spcAft>
              <a:buNone/>
              <a:defRPr sz="1800" b="0" i="0">
                <a:solidFill>
                  <a:srgbClr val="FFFFFF"/>
                </a:solidFill>
                <a:latin typeface="Aptos"/>
                <a:ea typeface="Aptos"/>
                <a:cs typeface="Aptos"/>
              </a:defRPr>
            </a:pPr>
            <a:r>
              <a:rPr sz="1800" b="0" i="0">
                <a:solidFill>
                  <a:srgbClr val="FFFFFF"/>
                </a:solidFill>
                <a:latin typeface="Aptos"/>
                <a:ea typeface="Aptos"/>
                <a:cs typeface="Aptos"/>
              </a:rPr>
              <a:t>Verify behavior — </a:t>
            </a:r>
            <a:r>
              <a:rPr sz="1800" b="0" i="0">
                <a:solidFill>
                  <a:srgbClr val="FFFFFF"/>
                </a:solidFill>
                <a:latin typeface="Aptos"/>
                <a:ea typeface="Aptos"/>
                <a:cs typeface="Aptos"/>
              </a:rPr>
              <a:t>create harnesses, test cases, callbacks, and traceable results</a:t>
            </a:r>
          </a:p>
          <a:p xmlns:a="http://schemas.openxmlformats.org/drawingml/2006/main">
            <a:pPr marL="24" indent="-13" algn="l">
              <a:lnSpc>
                <a:spcPct val="108000"/>
              </a:lnSpc>
              <a:spcAft>
                <a:spcPts val="18"/>
              </a:spcAft>
              <a:buNone/>
              <a:defRPr sz="1800" b="0" i="0">
                <a:solidFill>
                  <a:srgbClr val="FFFFFF"/>
                </a:solidFill>
                <a:latin typeface="Aptos"/>
                <a:ea typeface="Aptos"/>
                <a:cs typeface="Aptos"/>
              </a:defRPr>
            </a:pPr>
            <a:r>
              <a:rPr sz="1800" b="0" i="0">
                <a:solidFill>
                  <a:srgbClr val="FFFFFF"/>
                </a:solidFill>
                <a:latin typeface="Aptos"/>
                <a:ea typeface="Aptos"/>
                <a:cs typeface="Aptos"/>
              </a:rPr>
              <a:t>Integrate with confidence — </a:t>
            </a:r>
            <a:r>
              <a:rPr sz="1800" b="0" i="0">
                <a:solidFill>
                  <a:srgbClr val="FFFFFF"/>
                </a:solidFill>
                <a:latin typeface="Aptos"/>
                <a:ea typeface="Aptos"/>
                <a:cs typeface="Aptos"/>
              </a:rPr>
              <a:t>interpret compile, Jenkins, and HIL outcomes as evidence</a:t>
            </a:r>
          </a:p>
        </p:txBody>
      </p:sp>
      <p:sp>
        <p:nvSpPr>
          <p:cNvPr id="7" name="box-25">
            <a:extLst xmlns:a="http://schemas.openxmlformats.org/drawingml/2006/main">
              <a:ext uri="{FF2B5EF4-FFF2-40B4-BE49-F238E27FC236}">
                <a16:creationId xmlns:a16="http://schemas.microsoft.com/office/drawing/2014/main" id="{F64BA3F6-72F9-49DA-9761-E25998217D04}"/>
              </a:ext>
            </a:extLst>
          </p:cNvPr>
          <p:cNvSpPr>
            <a:spLocks xmlns:a="http://schemas.openxmlformats.org/drawingml/2006/main" noGrp="1"/>
          </p:cNvSpPr>
          <p:nvPr/>
        </p:nvSpPr>
        <p:spPr>
          <a:xfrm xmlns:a="http://schemas.openxmlformats.org/drawingml/2006/main">
            <a:off x="8096250" y="1600200"/>
            <a:ext cx="3238500" cy="533400"/>
          </a:xfrm>
          <a:prstGeom xmlns:a="http://schemas.openxmlformats.org/drawingml/2006/main" prst="roundRect">
            <a:avLst>
              <a:gd name="adj" fmla="val 17857"/>
            </a:avLst>
          </a:prstGeom>
          <a:solidFill xmlns:a="http://schemas.openxmlformats.org/drawingml/2006/main">
            <a:srgbClr val="20B7C5"/>
          </a:solidFill>
          <a:ln xmlns:a="http://schemas.openxmlformats.org/drawingml/2006/main" w="9525">
            <a:solidFill>
              <a:srgbClr val="70DCE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1  LANGUAGE</a:t>
            </a:r>
          </a:p>
        </p:txBody>
      </p:sp>
      <p:sp>
        <p:nvSpPr>
          <p:cNvPr id="8" name="box-26">
            <a:extLst xmlns:a="http://schemas.openxmlformats.org/drawingml/2006/main">
              <a:ext uri="{FF2B5EF4-FFF2-40B4-BE49-F238E27FC236}">
                <a16:creationId xmlns:a16="http://schemas.microsoft.com/office/drawing/2014/main" id="{E192F255-6CFE-423E-8171-4D95D1ECAAAA}"/>
              </a:ext>
            </a:extLst>
          </p:cNvPr>
          <p:cNvSpPr>
            <a:spLocks xmlns:a="http://schemas.openxmlformats.org/drawingml/2006/main" noGrp="1"/>
          </p:cNvSpPr>
          <p:nvPr/>
        </p:nvSpPr>
        <p:spPr>
          <a:xfrm xmlns:a="http://schemas.openxmlformats.org/drawingml/2006/main">
            <a:off x="8096250" y="234315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2  CONTROL LAWS</a:t>
            </a:r>
          </a:p>
        </p:txBody>
      </p:sp>
      <p:sp>
        <p:nvSpPr>
          <p:cNvPr id="9" name="box-27">
            <a:extLst xmlns:a="http://schemas.openxmlformats.org/drawingml/2006/main">
              <a:ext uri="{FF2B5EF4-FFF2-40B4-BE49-F238E27FC236}">
                <a16:creationId xmlns:a16="http://schemas.microsoft.com/office/drawing/2014/main" id="{D3B12475-01C3-44AC-8DBC-ADB2A28BEC16}"/>
              </a:ext>
            </a:extLst>
          </p:cNvPr>
          <p:cNvSpPr>
            <a:spLocks xmlns:a="http://schemas.openxmlformats.org/drawingml/2006/main" noGrp="1"/>
          </p:cNvSpPr>
          <p:nvPr/>
        </p:nvSpPr>
        <p:spPr>
          <a:xfrm xmlns:a="http://schemas.openxmlformats.org/drawingml/2006/main">
            <a:off x="8096250" y="308610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3  ASSURANCE</a:t>
            </a:r>
          </a:p>
        </p:txBody>
      </p:sp>
      <p:sp>
        <p:nvSpPr>
          <p:cNvPr id="10" name="box-28">
            <a:extLst xmlns:a="http://schemas.openxmlformats.org/drawingml/2006/main">
              <a:ext uri="{FF2B5EF4-FFF2-40B4-BE49-F238E27FC236}">
                <a16:creationId xmlns:a16="http://schemas.microsoft.com/office/drawing/2014/main" id="{62C7045B-E32A-44F5-A79F-59AE4772F83C}"/>
              </a:ext>
            </a:extLst>
          </p:cNvPr>
          <p:cNvSpPr>
            <a:spLocks xmlns:a="http://schemas.openxmlformats.org/drawingml/2006/main" noGrp="1"/>
          </p:cNvSpPr>
          <p:nvPr/>
        </p:nvSpPr>
        <p:spPr>
          <a:xfrm xmlns:a="http://schemas.openxmlformats.org/drawingml/2006/main">
            <a:off x="8096250" y="382905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4  AUTOMATION</a:t>
            </a:r>
          </a:p>
        </p:txBody>
      </p:sp>
      <p:sp>
        <p:nvSpPr>
          <p:cNvPr id="11" name="box-29">
            <a:extLst xmlns:a="http://schemas.openxmlformats.org/drawingml/2006/main">
              <a:ext uri="{FF2B5EF4-FFF2-40B4-BE49-F238E27FC236}">
                <a16:creationId xmlns:a16="http://schemas.microsoft.com/office/drawing/2014/main" id="{661A1047-6DAF-4542-B5E7-6ED1A4BDE75A}"/>
              </a:ext>
            </a:extLst>
          </p:cNvPr>
          <p:cNvSpPr>
            <a:spLocks xmlns:a="http://schemas.openxmlformats.org/drawingml/2006/main" noGrp="1"/>
          </p:cNvSpPr>
          <p:nvPr/>
        </p:nvSpPr>
        <p:spPr>
          <a:xfrm xmlns:a="http://schemas.openxmlformats.org/drawingml/2006/main">
            <a:off x="8096250" y="457200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5  HIL + EVIDENCE</a:t>
            </a:r>
          </a:p>
        </p:txBody>
      </p:sp>
      <p:sp>
        <p:nvSpPr>
          <p:cNvPr id="12" name="text-30">
            <a:extLst xmlns:a="http://schemas.openxmlformats.org/drawingml/2006/main">
              <a:ext uri="{FF2B5EF4-FFF2-40B4-BE49-F238E27FC236}">
                <a16:creationId xmlns:a16="http://schemas.microsoft.com/office/drawing/2014/main" id="{5AC44D38-2825-475A-90E1-BDFA09584ECD}"/>
              </a:ext>
            </a:extLst>
          </p:cNvPr>
          <p:cNvSpPr>
            <a:spLocks xmlns:a="http://schemas.openxmlformats.org/drawingml/2006/main" noGrp="1"/>
          </p:cNvSpPr>
          <p:nvPr/>
        </p:nvSpPr>
        <p:spPr>
          <a:xfrm xmlns:a="http://schemas.openxmlformats.org/drawingml/2006/main">
            <a:off x="800100" y="5143500"/>
            <a:ext cx="10382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2100" b="1" i="0">
                <a:solidFill>
                  <a:srgbClr val="70DCE5"/>
                </a:solidFill>
                <a:latin typeface="Aptos"/>
                <a:ea typeface="Aptos"/>
                <a:cs typeface="Aptos"/>
              </a:defRPr>
            </a:pPr>
            <a:r>
              <a:rPr sz="2100" b="1" i="0">
                <a:solidFill>
                  <a:srgbClr val="70DCE5"/>
                </a:solidFill>
                <a:latin typeface="Aptos"/>
                <a:ea typeface="Aptos"/>
                <a:cs typeface="Aptos"/>
              </a:rPr>
              <a:t>Keep asking: What requirement does this element implement, and what result proves it?</a:t>
            </a:r>
          </a:p>
        </p:txBody>
      </p:sp>
    </p:spTree>
    <p:extLst>
      <p:ext uri="{BB962C8B-B14F-4D97-AF65-F5344CB8AC3E}">
        <p14:creationId xmlns:p14="http://schemas.microsoft.com/office/powerpoint/2010/main" val="888420416"/>
      </p:ext>
    </p:extLst>
  </p:cSld>
</p:sld>
</file>

<file path=ppt/slides/slide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2" name="section-30">
            <a:extLst xmlns:a="http://schemas.openxmlformats.org/drawingml/2006/main">
              <a:ext uri="{FF2B5EF4-FFF2-40B4-BE49-F238E27FC236}">
                <a16:creationId xmlns:a16="http://schemas.microsoft.com/office/drawing/2014/main" id="{209F2F4C-DE79-4F56-974B-0F965786C992}"/>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01 • INTRODUCTION TO SIMULINK</a:t>
            </a:r>
          </a:p>
        </p:txBody>
      </p:sp>
      <p:sp>
        <p:nvSpPr>
          <p:cNvPr id="2" name="title-30">
            <a:extLst xmlns:a="http://schemas.openxmlformats.org/drawingml/2006/main">
              <a:ext uri="{FF2B5EF4-FFF2-40B4-BE49-F238E27FC236}">
                <a16:creationId xmlns:a16="http://schemas.microsoft.com/office/drawing/2014/main" id="{DFA293E7-5425-418E-A394-D6A968B0E073}"/>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MATLAB computes; Simulink exposes behavior</a:t>
            </a:r>
          </a:p>
        </p:txBody>
      </p:sp>
      <p:sp>
        <p:nvSpPr>
          <p:cNvPr id="3" name="line-31">
            <a:extLst xmlns:a="http://schemas.openxmlformats.org/drawingml/2006/main">
              <a:ext uri="{FF2B5EF4-FFF2-40B4-BE49-F238E27FC236}">
                <a16:creationId xmlns:a16="http://schemas.microsoft.com/office/drawing/2014/main" id="{B90AABD0-0F0F-4DCF-BC87-B15E5D7922B8}"/>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2">
            <a:extLst xmlns:a="http://schemas.openxmlformats.org/drawingml/2006/main">
              <a:ext uri="{FF2B5EF4-FFF2-40B4-BE49-F238E27FC236}">
                <a16:creationId xmlns:a16="http://schemas.microsoft.com/office/drawing/2014/main" id="{ACD4C613-28EE-444C-8C96-E3A87E250505}"/>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33">
            <a:extLst xmlns:a="http://schemas.openxmlformats.org/drawingml/2006/main">
              <a:ext uri="{FF2B5EF4-FFF2-40B4-BE49-F238E27FC236}">
                <a16:creationId xmlns:a16="http://schemas.microsoft.com/office/drawing/2014/main" id="{2B38A077-F518-4551-84BE-0BD0DE1C09E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04</a:t>
            </a:r>
          </a:p>
        </p:txBody>
      </p:sp>
      <p:sp>
        <p:nvSpPr>
          <p:cNvPr id="6" name="text-34">
            <a:extLst xmlns:a="http://schemas.openxmlformats.org/drawingml/2006/main">
              <a:ext uri="{FF2B5EF4-FFF2-40B4-BE49-F238E27FC236}">
                <a16:creationId xmlns:a16="http://schemas.microsoft.com/office/drawing/2014/main" id="{73C14DEC-BE99-4F7A-ADE8-8341565592B3}"/>
              </a:ext>
            </a:extLst>
          </p:cNvPr>
          <p:cNvSpPr>
            <a:spLocks xmlns:a="http://schemas.openxmlformats.org/drawingml/2006/main" noGrp="1"/>
          </p:cNvSpPr>
          <p:nvPr/>
        </p:nvSpPr>
        <p:spPr>
          <a:xfrm xmlns:a="http://schemas.openxmlformats.org/drawingml/2006/main">
            <a:off x="857250" y="16192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2850" b="1" i="0">
                <a:solidFill>
                  <a:srgbClr val="2D6CDF"/>
                </a:solidFill>
                <a:latin typeface="Aptos"/>
                <a:ea typeface="Aptos"/>
                <a:cs typeface="Aptos"/>
              </a:defRPr>
            </a:pPr>
            <a:r>
              <a:rPr sz="2850" b="1" i="0">
                <a:solidFill>
                  <a:srgbClr val="2D6CDF"/>
                </a:solidFill>
                <a:latin typeface="Aptos"/>
                <a:ea typeface="Aptos"/>
                <a:cs typeface="Aptos"/>
              </a:rPr>
              <a:t>MATLAB</a:t>
            </a:r>
          </a:p>
        </p:txBody>
      </p:sp>
      <p:sp>
        <p:nvSpPr>
          <p:cNvPr id="7" name="text-35">
            <a:extLst xmlns:a="http://schemas.openxmlformats.org/drawingml/2006/main">
              <a:ext uri="{FF2B5EF4-FFF2-40B4-BE49-F238E27FC236}">
                <a16:creationId xmlns:a16="http://schemas.microsoft.com/office/drawing/2014/main" id="{2735EE3B-08C2-4B2C-BBE9-989A7F5F0ED8}"/>
              </a:ext>
            </a:extLst>
          </p:cNvPr>
          <p:cNvSpPr>
            <a:spLocks xmlns:a="http://schemas.openxmlformats.org/drawingml/2006/main" noGrp="1"/>
          </p:cNvSpPr>
          <p:nvPr/>
        </p:nvSpPr>
        <p:spPr>
          <a:xfrm xmlns:a="http://schemas.openxmlformats.org/drawingml/2006/main">
            <a:off x="6858000" y="1619250"/>
            <a:ext cx="361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2850" b="1" i="0">
                <a:solidFill>
                  <a:srgbClr val="20B7C5"/>
                </a:solidFill>
                <a:latin typeface="Aptos"/>
                <a:ea typeface="Aptos"/>
                <a:cs typeface="Aptos"/>
              </a:defRPr>
            </a:pPr>
            <a:r>
              <a:rPr sz="2850" b="1" i="0">
                <a:solidFill>
                  <a:srgbClr val="20B7C5"/>
                </a:solidFill>
                <a:latin typeface="Aptos"/>
                <a:ea typeface="Aptos"/>
                <a:cs typeface="Aptos"/>
              </a:rPr>
              <a:t>SIMULINK</a:t>
            </a:r>
          </a:p>
        </p:txBody>
      </p:sp>
      <p:sp>
        <p:nvSpPr>
          <p:cNvPr id="8" name="line-36">
            <a:extLst xmlns:a="http://schemas.openxmlformats.org/drawingml/2006/main">
              <a:ext uri="{FF2B5EF4-FFF2-40B4-BE49-F238E27FC236}">
                <a16:creationId xmlns:a16="http://schemas.microsoft.com/office/drawing/2014/main" id="{28C46C5E-08EA-4D80-BF5D-2E24751DFF88}"/>
              </a:ext>
            </a:extLst>
          </p:cNvPr>
          <p:cNvSpPr>
            <a:spLocks xmlns:a="http://schemas.openxmlformats.org/drawingml/2006/main" noGrp="1"/>
          </p:cNvSpPr>
          <p:nvPr/>
        </p:nvSpPr>
        <p:spPr>
          <a:xfrm xmlns:a="http://schemas.openxmlformats.org/drawingml/2006/main">
            <a:off x="6096000" y="1600200"/>
            <a:ext cx="0" cy="3238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9" name="text-37">
            <a:extLst xmlns:a="http://schemas.openxmlformats.org/drawingml/2006/main">
              <a:ext uri="{FF2B5EF4-FFF2-40B4-BE49-F238E27FC236}">
                <a16:creationId xmlns:a16="http://schemas.microsoft.com/office/drawing/2014/main" id="{5D0AB1E5-A815-4B03-8030-21FA26481682}"/>
              </a:ext>
            </a:extLst>
          </p:cNvPr>
          <p:cNvSpPr>
            <a:spLocks xmlns:a="http://schemas.openxmlformats.org/drawingml/2006/main" noGrp="1"/>
          </p:cNvSpPr>
          <p:nvPr/>
        </p:nvSpPr>
        <p:spPr>
          <a:xfrm xmlns:a="http://schemas.openxmlformats.org/drawingml/2006/main">
            <a:off x="819150" y="2286000"/>
            <a:ext cx="4476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Best at — </a:t>
            </a:r>
            <a:r>
              <a:rPr sz="1725" b="0" i="0">
                <a:solidFill>
                  <a:srgbClr val="17324A"/>
                </a:solidFill>
                <a:latin typeface="Aptos"/>
                <a:ea typeface="Aptos"/>
                <a:cs typeface="Aptos"/>
              </a:rPr>
              <a:t>scripts, algorithms, matrices, optimization, data analysis</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Execution — </a:t>
            </a:r>
            <a:r>
              <a:rPr sz="1725" b="0" i="0">
                <a:solidFill>
                  <a:srgbClr val="17324A"/>
                </a:solidFill>
                <a:latin typeface="Aptos"/>
                <a:ea typeface="Aptos"/>
                <a:cs typeface="Aptos"/>
              </a:rPr>
              <a:t>statements and functions run in defined order</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View — </a:t>
            </a:r>
            <a:r>
              <a:rPr sz="1725" b="0" i="0">
                <a:solidFill>
                  <a:srgbClr val="17324A"/>
                </a:solidFill>
                <a:latin typeface="Aptos"/>
                <a:ea typeface="Aptos"/>
                <a:cs typeface="Aptos"/>
              </a:rPr>
              <a:t>variables, arrays, figures, tables, reports</a:t>
            </a:r>
          </a:p>
        </p:txBody>
      </p:sp>
      <p:sp>
        <p:nvSpPr>
          <p:cNvPr id="10" name="text-38">
            <a:extLst xmlns:a="http://schemas.openxmlformats.org/drawingml/2006/main">
              <a:ext uri="{FF2B5EF4-FFF2-40B4-BE49-F238E27FC236}">
                <a16:creationId xmlns:a16="http://schemas.microsoft.com/office/drawing/2014/main" id="{B2F47B8C-6E42-464D-AF53-026999F06CE5}"/>
              </a:ext>
            </a:extLst>
          </p:cNvPr>
          <p:cNvSpPr>
            <a:spLocks xmlns:a="http://schemas.openxmlformats.org/drawingml/2006/main" noGrp="1"/>
          </p:cNvSpPr>
          <p:nvPr/>
        </p:nvSpPr>
        <p:spPr>
          <a:xfrm xmlns:a="http://schemas.openxmlformats.org/drawingml/2006/main">
            <a:off x="6800850" y="2286000"/>
            <a:ext cx="4572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Best at — </a:t>
            </a:r>
            <a:r>
              <a:rPr sz="1725" b="0" i="0">
                <a:solidFill>
                  <a:srgbClr val="17324A"/>
                </a:solidFill>
                <a:latin typeface="Aptos"/>
                <a:ea typeface="Aptos"/>
                <a:cs typeface="Aptos"/>
              </a:rPr>
              <a:t>dynamic systems, feedback, hybrid logic, integration</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Execution — </a:t>
            </a:r>
            <a:r>
              <a:rPr sz="1725" b="0" i="0">
                <a:solidFill>
                  <a:srgbClr val="17324A"/>
                </a:solidFill>
                <a:latin typeface="Aptos"/>
                <a:ea typeface="Aptos"/>
                <a:cs typeface="Aptos"/>
              </a:rPr>
              <a:t>blocks exchange signals over simulated time</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View — </a:t>
            </a:r>
            <a:r>
              <a:rPr sz="1725" b="0" i="0">
                <a:solidFill>
                  <a:srgbClr val="17324A"/>
                </a:solidFill>
                <a:latin typeface="Aptos"/>
                <a:ea typeface="Aptos"/>
                <a:cs typeface="Aptos"/>
              </a:rPr>
              <a:t>data flow, hierarchy, state, sample time, interfaces</a:t>
            </a:r>
          </a:p>
        </p:txBody>
      </p:sp>
      <p:sp>
        <p:nvSpPr>
          <p:cNvPr id="11" name="box-39">
            <a:extLst xmlns:a="http://schemas.openxmlformats.org/drawingml/2006/main">
              <a:ext uri="{FF2B5EF4-FFF2-40B4-BE49-F238E27FC236}">
                <a16:creationId xmlns:a16="http://schemas.microsoft.com/office/drawing/2014/main" id="{93CE28BB-5447-4B4A-82BA-BBAEFE97F9AC}"/>
              </a:ext>
            </a:extLst>
          </p:cNvPr>
          <p:cNvSpPr>
            <a:spLocks xmlns:a="http://schemas.openxmlformats.org/drawingml/2006/main" noGrp="1"/>
          </p:cNvSpPr>
          <p:nvPr/>
        </p:nvSpPr>
        <p:spPr>
          <a:xfrm xmlns:a="http://schemas.openxmlformats.org/drawingml/2006/main">
            <a:off x="1524000" y="4953000"/>
            <a:ext cx="9144000" cy="666750"/>
          </a:xfrm>
          <a:prstGeom xmlns:a="http://schemas.openxmlformats.org/drawingml/2006/main" prst="roundRect">
            <a:avLst>
              <a:gd name="adj" fmla="val 14286"/>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875" b="1">
                <a:solidFill>
                  <a:srgbClr val="FFFFFF"/>
                </a:solidFill>
                <a:latin typeface="Aptos"/>
                <a:ea typeface="Aptos"/>
                <a:cs typeface="Aptos"/>
              </a:defRPr>
            </a:pPr>
            <a:r>
              <a:rPr sz="1875" b="1">
                <a:solidFill>
                  <a:srgbClr val="FFFFFF"/>
                </a:solidFill>
                <a:latin typeface="Aptos"/>
                <a:ea typeface="Aptos"/>
                <a:cs typeface="Aptos"/>
              </a:rPr>
              <a:t>They are one environment: MATLAB configures, analyzes, automates, and reports on Simulink models.</a:t>
            </a:r>
          </a:p>
        </p:txBody>
      </p:sp>
    </p:spTree>
    <p:extLst>
      <p:ext uri="{BB962C8B-B14F-4D97-AF65-F5344CB8AC3E}">
        <p14:creationId xmlns:p14="http://schemas.microsoft.com/office/powerpoint/2010/main" val="1993218485"/>
      </p:ext>
    </p:extLst>
  </p:cSld>
</p:sld>
</file>

<file path=ppt/slides/slide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39">
            <a:extLst xmlns:a="http://schemas.openxmlformats.org/drawingml/2006/main">
              <a:ext uri="{FF2B5EF4-FFF2-40B4-BE49-F238E27FC236}">
                <a16:creationId xmlns:a16="http://schemas.microsoft.com/office/drawing/2014/main" id="{7B22C228-EDF9-4D40-89F0-D80EF6B6D81C}"/>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01 • INTRODUCTION TO SIMULINK</a:t>
            </a:r>
          </a:p>
        </p:txBody>
      </p:sp>
      <p:sp>
        <p:nvSpPr>
          <p:cNvPr id="2" name="title-39">
            <a:extLst xmlns:a="http://schemas.openxmlformats.org/drawingml/2006/main">
              <a:ext uri="{FF2B5EF4-FFF2-40B4-BE49-F238E27FC236}">
                <a16:creationId xmlns:a16="http://schemas.microsoft.com/office/drawing/2014/main" id="{4A8105EB-3279-4423-80B5-613E6E267C5B}"/>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A Simulink project is more than the model</a:t>
            </a:r>
          </a:p>
        </p:txBody>
      </p:sp>
      <p:sp>
        <p:nvSpPr>
          <p:cNvPr id="3" name="line-40">
            <a:extLst xmlns:a="http://schemas.openxmlformats.org/drawingml/2006/main">
              <a:ext uri="{FF2B5EF4-FFF2-40B4-BE49-F238E27FC236}">
                <a16:creationId xmlns:a16="http://schemas.microsoft.com/office/drawing/2014/main" id="{D61265E4-C954-49D0-92C6-850F898A11B4}"/>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
            <a:extLst xmlns:a="http://schemas.openxmlformats.org/drawingml/2006/main">
              <a:ext uri="{FF2B5EF4-FFF2-40B4-BE49-F238E27FC236}">
                <a16:creationId xmlns:a16="http://schemas.microsoft.com/office/drawing/2014/main" id="{925F3177-FA1E-4CEB-B1BD-510B77D35C5F}"/>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2">
            <a:extLst xmlns:a="http://schemas.openxmlformats.org/drawingml/2006/main">
              <a:ext uri="{FF2B5EF4-FFF2-40B4-BE49-F238E27FC236}">
                <a16:creationId xmlns:a16="http://schemas.microsoft.com/office/drawing/2014/main" id="{D43AE519-D5F6-4779-8D80-9E460471A499}"/>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05</a:t>
            </a:r>
          </a:p>
        </p:txBody>
      </p:sp>
      <p:sp>
        <p:nvSpPr>
          <p:cNvPr id="6" name="text-43">
            <a:extLst xmlns:a="http://schemas.openxmlformats.org/drawingml/2006/main">
              <a:ext uri="{FF2B5EF4-FFF2-40B4-BE49-F238E27FC236}">
                <a16:creationId xmlns:a16="http://schemas.microsoft.com/office/drawing/2014/main" id="{2F493ACD-FE23-4AE2-B100-FA28BD8217DE}"/>
              </a:ext>
            </a:extLst>
          </p:cNvPr>
          <p:cNvSpPr>
            <a:spLocks xmlns:a="http://schemas.openxmlformats.org/drawingml/2006/main" noGrp="1"/>
          </p:cNvSpPr>
          <p:nvPr/>
        </p:nvSpPr>
        <p:spPr>
          <a:xfrm xmlns:a="http://schemas.openxmlformats.org/drawingml/2006/main">
            <a:off x="685800" y="15049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5D7487"/>
                </a:solidFill>
                <a:latin typeface="Aptos"/>
                <a:ea typeface="Aptos"/>
                <a:cs typeface="Aptos"/>
              </a:defRPr>
            </a:pPr>
            <a:r>
              <a:rPr sz="1275" b="1" i="0">
                <a:solidFill>
                  <a:srgbClr val="5D7487"/>
                </a:solidFill>
                <a:latin typeface="Aptos"/>
                <a:ea typeface="Aptos"/>
                <a:cs typeface="Aptos"/>
              </a:rPr>
              <a:t>FILE</a:t>
            </a:r>
          </a:p>
        </p:txBody>
      </p:sp>
      <p:sp>
        <p:nvSpPr>
          <p:cNvPr id="7" name="text-44">
            <a:extLst xmlns:a="http://schemas.openxmlformats.org/drawingml/2006/main">
              <a:ext uri="{FF2B5EF4-FFF2-40B4-BE49-F238E27FC236}">
                <a16:creationId xmlns:a16="http://schemas.microsoft.com/office/drawing/2014/main" id="{8A28FF2F-949D-4BEF-8E19-936D4A1FD417}"/>
              </a:ext>
            </a:extLst>
          </p:cNvPr>
          <p:cNvSpPr>
            <a:spLocks xmlns:a="http://schemas.openxmlformats.org/drawingml/2006/main" noGrp="1"/>
          </p:cNvSpPr>
          <p:nvPr/>
        </p:nvSpPr>
        <p:spPr>
          <a:xfrm xmlns:a="http://schemas.openxmlformats.org/drawingml/2006/main">
            <a:off x="2381250" y="15049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5D7487"/>
                </a:solidFill>
                <a:latin typeface="Aptos"/>
                <a:ea typeface="Aptos"/>
                <a:cs typeface="Aptos"/>
              </a:defRPr>
            </a:pPr>
            <a:r>
              <a:rPr sz="1275" b="1" i="0">
                <a:solidFill>
                  <a:srgbClr val="5D7487"/>
                </a:solidFill>
                <a:latin typeface="Aptos"/>
                <a:ea typeface="Aptos"/>
                <a:cs typeface="Aptos"/>
              </a:rPr>
              <a:t>PRIMARY ROLE</a:t>
            </a:r>
          </a:p>
        </p:txBody>
      </p:sp>
      <p:sp>
        <p:nvSpPr>
          <p:cNvPr id="8" name="text-45">
            <a:extLst xmlns:a="http://schemas.openxmlformats.org/drawingml/2006/main">
              <a:ext uri="{FF2B5EF4-FFF2-40B4-BE49-F238E27FC236}">
                <a16:creationId xmlns:a16="http://schemas.microsoft.com/office/drawing/2014/main" id="{237E6982-8B28-4B28-A9EC-F64B644F9F64}"/>
              </a:ext>
            </a:extLst>
          </p:cNvPr>
          <p:cNvSpPr>
            <a:spLocks xmlns:a="http://schemas.openxmlformats.org/drawingml/2006/main" noGrp="1"/>
          </p:cNvSpPr>
          <p:nvPr/>
        </p:nvSpPr>
        <p:spPr>
          <a:xfrm xmlns:a="http://schemas.openxmlformats.org/drawingml/2006/main">
            <a:off x="5429250" y="1504950"/>
            <a:ext cx="600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5D7487"/>
                </a:solidFill>
                <a:latin typeface="Aptos"/>
                <a:ea typeface="Aptos"/>
                <a:cs typeface="Aptos"/>
              </a:defRPr>
            </a:pPr>
            <a:r>
              <a:rPr sz="1275" b="1" i="0">
                <a:solidFill>
                  <a:srgbClr val="5D7487"/>
                </a:solidFill>
                <a:latin typeface="Aptos"/>
                <a:ea typeface="Aptos"/>
                <a:cs typeface="Aptos"/>
              </a:rPr>
              <a:t>WHAT YOU WILL DO WITH IT</a:t>
            </a:r>
          </a:p>
        </p:txBody>
      </p:sp>
      <p:sp>
        <p:nvSpPr>
          <p:cNvPr id="9" name="line-46">
            <a:extLst xmlns:a="http://schemas.openxmlformats.org/drawingml/2006/main">
              <a:ext uri="{FF2B5EF4-FFF2-40B4-BE49-F238E27FC236}">
                <a16:creationId xmlns:a16="http://schemas.microsoft.com/office/drawing/2014/main" id="{FE96FF62-7105-445F-B987-283DBD5800B3}"/>
              </a:ext>
            </a:extLst>
          </p:cNvPr>
          <p:cNvSpPr>
            <a:spLocks xmlns:a="http://schemas.openxmlformats.org/drawingml/2006/main" noGrp="1"/>
          </p:cNvSpPr>
          <p:nvPr/>
        </p:nvSpPr>
        <p:spPr>
          <a:xfrm xmlns:a="http://schemas.openxmlformats.org/drawingml/2006/main">
            <a:off x="685800" y="253365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0" name="text-47">
            <a:extLst xmlns:a="http://schemas.openxmlformats.org/drawingml/2006/main">
              <a:ext uri="{FF2B5EF4-FFF2-40B4-BE49-F238E27FC236}">
                <a16:creationId xmlns:a16="http://schemas.microsoft.com/office/drawing/2014/main" id="{D423DCA9-EF15-480B-A599-F6AC875EF519}"/>
              </a:ext>
            </a:extLst>
          </p:cNvPr>
          <p:cNvSpPr>
            <a:spLocks xmlns:a="http://schemas.openxmlformats.org/drawingml/2006/main" noGrp="1"/>
          </p:cNvSpPr>
          <p:nvPr/>
        </p:nvSpPr>
        <p:spPr>
          <a:xfrm xmlns:a="http://schemas.openxmlformats.org/drawingml/2006/main">
            <a:off x="685800" y="186690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2025" b="1" i="0">
                <a:solidFill>
                  <a:srgbClr val="2D6CDF"/>
                </a:solidFill>
                <a:latin typeface="Aptos"/>
                <a:ea typeface="Aptos"/>
                <a:cs typeface="Aptos"/>
              </a:defRPr>
            </a:pPr>
            <a:r>
              <a:rPr sz="2025" b="1" i="0">
                <a:solidFill>
                  <a:srgbClr val="2D6CDF"/>
                </a:solidFill>
                <a:latin typeface="Aptos"/>
                <a:ea typeface="Aptos"/>
                <a:cs typeface="Aptos"/>
              </a:rPr>
              <a:t>.slx</a:t>
            </a:r>
          </a:p>
        </p:txBody>
      </p:sp>
      <p:sp>
        <p:nvSpPr>
          <p:cNvPr id="11" name="text-48">
            <a:extLst xmlns:a="http://schemas.openxmlformats.org/drawingml/2006/main">
              <a:ext uri="{FF2B5EF4-FFF2-40B4-BE49-F238E27FC236}">
                <a16:creationId xmlns:a16="http://schemas.microsoft.com/office/drawing/2014/main" id="{99752240-8DF1-4012-972F-350D46E96A4E}"/>
              </a:ext>
            </a:extLst>
          </p:cNvPr>
          <p:cNvSpPr>
            <a:spLocks xmlns:a="http://schemas.openxmlformats.org/drawingml/2006/main" noGrp="1"/>
          </p:cNvSpPr>
          <p:nvPr/>
        </p:nvSpPr>
        <p:spPr>
          <a:xfrm xmlns:a="http://schemas.openxmlformats.org/drawingml/2006/main">
            <a:off x="2381250" y="18669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650" b="1" i="0">
                <a:solidFill>
                  <a:srgbClr val="0B1F33"/>
                </a:solidFill>
                <a:latin typeface="Aptos"/>
                <a:ea typeface="Aptos"/>
                <a:cs typeface="Aptos"/>
              </a:defRPr>
            </a:pPr>
            <a:r>
              <a:rPr sz="1650" b="1" i="0">
                <a:solidFill>
                  <a:srgbClr val="0B1F33"/>
                </a:solidFill>
                <a:latin typeface="Aptos"/>
                <a:ea typeface="Aptos"/>
                <a:cs typeface="Aptos"/>
              </a:rPr>
              <a:t>Simulink model</a:t>
            </a:r>
          </a:p>
        </p:txBody>
      </p:sp>
      <p:sp>
        <p:nvSpPr>
          <p:cNvPr id="12" name="text-49">
            <a:extLst xmlns:a="http://schemas.openxmlformats.org/drawingml/2006/main">
              <a:ext uri="{FF2B5EF4-FFF2-40B4-BE49-F238E27FC236}">
                <a16:creationId xmlns:a16="http://schemas.microsoft.com/office/drawing/2014/main" id="{0B2D5B0B-A78C-4F93-83C4-E4B4962E49ED}"/>
              </a:ext>
            </a:extLst>
          </p:cNvPr>
          <p:cNvSpPr>
            <a:spLocks xmlns:a="http://schemas.openxmlformats.org/drawingml/2006/main" noGrp="1"/>
          </p:cNvSpPr>
          <p:nvPr/>
        </p:nvSpPr>
        <p:spPr>
          <a:xfrm xmlns:a="http://schemas.openxmlformats.org/drawingml/2006/main">
            <a:off x="5429250" y="1866900"/>
            <a:ext cx="5953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Open, edit, simulate, compile/update, reference, and review</a:t>
            </a:r>
          </a:p>
        </p:txBody>
      </p:sp>
      <p:sp>
        <p:nvSpPr>
          <p:cNvPr id="13" name="line-50">
            <a:extLst xmlns:a="http://schemas.openxmlformats.org/drawingml/2006/main">
              <a:ext uri="{FF2B5EF4-FFF2-40B4-BE49-F238E27FC236}">
                <a16:creationId xmlns:a16="http://schemas.microsoft.com/office/drawing/2014/main" id="{98C16CE9-D7E8-490C-9A1B-F53A9FF7158D}"/>
              </a:ext>
            </a:extLst>
          </p:cNvPr>
          <p:cNvSpPr>
            <a:spLocks xmlns:a="http://schemas.openxmlformats.org/drawingml/2006/main" noGrp="1"/>
          </p:cNvSpPr>
          <p:nvPr/>
        </p:nvSpPr>
        <p:spPr>
          <a:xfrm xmlns:a="http://schemas.openxmlformats.org/drawingml/2006/main">
            <a:off x="685800" y="33147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4" name="text-51">
            <a:extLst xmlns:a="http://schemas.openxmlformats.org/drawingml/2006/main">
              <a:ext uri="{FF2B5EF4-FFF2-40B4-BE49-F238E27FC236}">
                <a16:creationId xmlns:a16="http://schemas.microsoft.com/office/drawing/2014/main" id="{E3F76D13-A7D7-43AA-871F-5A459FF83FC6}"/>
              </a:ext>
            </a:extLst>
          </p:cNvPr>
          <p:cNvSpPr>
            <a:spLocks xmlns:a="http://schemas.openxmlformats.org/drawingml/2006/main" noGrp="1"/>
          </p:cNvSpPr>
          <p:nvPr/>
        </p:nvSpPr>
        <p:spPr>
          <a:xfrm xmlns:a="http://schemas.openxmlformats.org/drawingml/2006/main">
            <a:off x="685800" y="264795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2025" b="1" i="0">
                <a:solidFill>
                  <a:srgbClr val="2D6CDF"/>
                </a:solidFill>
                <a:latin typeface="Aptos"/>
                <a:ea typeface="Aptos"/>
                <a:cs typeface="Aptos"/>
              </a:defRPr>
            </a:pPr>
            <a:r>
              <a:rPr sz="2025" b="1" i="0">
                <a:solidFill>
                  <a:srgbClr val="2D6CDF"/>
                </a:solidFill>
                <a:latin typeface="Aptos"/>
                <a:ea typeface="Aptos"/>
                <a:cs typeface="Aptos"/>
              </a:rPr>
              <a:t>.m</a:t>
            </a:r>
          </a:p>
        </p:txBody>
      </p:sp>
      <p:sp>
        <p:nvSpPr>
          <p:cNvPr id="15" name="text-52">
            <a:extLst xmlns:a="http://schemas.openxmlformats.org/drawingml/2006/main">
              <a:ext uri="{FF2B5EF4-FFF2-40B4-BE49-F238E27FC236}">
                <a16:creationId xmlns:a16="http://schemas.microsoft.com/office/drawing/2014/main" id="{A0033C3F-6442-4B86-8AAC-7FFBBF9D0C7D}"/>
              </a:ext>
            </a:extLst>
          </p:cNvPr>
          <p:cNvSpPr>
            <a:spLocks xmlns:a="http://schemas.openxmlformats.org/drawingml/2006/main" noGrp="1"/>
          </p:cNvSpPr>
          <p:nvPr/>
        </p:nvSpPr>
        <p:spPr>
          <a:xfrm xmlns:a="http://schemas.openxmlformats.org/drawingml/2006/main">
            <a:off x="2381250" y="264795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650" b="1" i="0">
                <a:solidFill>
                  <a:srgbClr val="0B1F33"/>
                </a:solidFill>
                <a:latin typeface="Aptos"/>
                <a:ea typeface="Aptos"/>
                <a:cs typeface="Aptos"/>
              </a:defRPr>
            </a:pPr>
            <a:r>
              <a:rPr sz="1650" b="1" i="0">
                <a:solidFill>
                  <a:srgbClr val="0B1F33"/>
                </a:solidFill>
                <a:latin typeface="Aptos"/>
                <a:ea typeface="Aptos"/>
                <a:cs typeface="Aptos"/>
              </a:rPr>
              <a:t>MATLAB code</a:t>
            </a:r>
          </a:p>
        </p:txBody>
      </p:sp>
      <p:sp>
        <p:nvSpPr>
          <p:cNvPr id="16" name="text-53">
            <a:extLst xmlns:a="http://schemas.openxmlformats.org/drawingml/2006/main">
              <a:ext uri="{FF2B5EF4-FFF2-40B4-BE49-F238E27FC236}">
                <a16:creationId xmlns:a16="http://schemas.microsoft.com/office/drawing/2014/main" id="{4E4B721F-4AE4-46E2-B159-BF98ED8B69A0}"/>
              </a:ext>
            </a:extLst>
          </p:cNvPr>
          <p:cNvSpPr>
            <a:spLocks xmlns:a="http://schemas.openxmlformats.org/drawingml/2006/main" noGrp="1"/>
          </p:cNvSpPr>
          <p:nvPr/>
        </p:nvSpPr>
        <p:spPr>
          <a:xfrm xmlns:a="http://schemas.openxmlformats.org/drawingml/2006/main">
            <a:off x="5429250" y="2647950"/>
            <a:ext cx="5953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Automate builds/tests, define functions, callbacks, analyses, and reports</a:t>
            </a:r>
          </a:p>
        </p:txBody>
      </p:sp>
      <p:sp>
        <p:nvSpPr>
          <p:cNvPr id="17" name="line-54">
            <a:extLst xmlns:a="http://schemas.openxmlformats.org/drawingml/2006/main">
              <a:ext uri="{FF2B5EF4-FFF2-40B4-BE49-F238E27FC236}">
                <a16:creationId xmlns:a16="http://schemas.microsoft.com/office/drawing/2014/main" id="{CFAA708E-3565-4799-BF14-F52A7A926CA6}"/>
              </a:ext>
            </a:extLst>
          </p:cNvPr>
          <p:cNvSpPr>
            <a:spLocks xmlns:a="http://schemas.openxmlformats.org/drawingml/2006/main" noGrp="1"/>
          </p:cNvSpPr>
          <p:nvPr/>
        </p:nvSpPr>
        <p:spPr>
          <a:xfrm xmlns:a="http://schemas.openxmlformats.org/drawingml/2006/main">
            <a:off x="685800" y="409575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8" name="text-55">
            <a:extLst xmlns:a="http://schemas.openxmlformats.org/drawingml/2006/main">
              <a:ext uri="{FF2B5EF4-FFF2-40B4-BE49-F238E27FC236}">
                <a16:creationId xmlns:a16="http://schemas.microsoft.com/office/drawing/2014/main" id="{130234CC-6A13-49AE-838B-03155F3C5A21}"/>
              </a:ext>
            </a:extLst>
          </p:cNvPr>
          <p:cNvSpPr>
            <a:spLocks xmlns:a="http://schemas.openxmlformats.org/drawingml/2006/main" noGrp="1"/>
          </p:cNvSpPr>
          <p:nvPr/>
        </p:nvSpPr>
        <p:spPr>
          <a:xfrm xmlns:a="http://schemas.openxmlformats.org/drawingml/2006/main">
            <a:off x="685800" y="342900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2025" b="1" i="0">
                <a:solidFill>
                  <a:srgbClr val="2D6CDF"/>
                </a:solidFill>
                <a:latin typeface="Aptos"/>
                <a:ea typeface="Aptos"/>
                <a:cs typeface="Aptos"/>
              </a:defRPr>
            </a:pPr>
            <a:r>
              <a:rPr sz="2025" b="1" i="0">
                <a:solidFill>
                  <a:srgbClr val="2D6CDF"/>
                </a:solidFill>
                <a:latin typeface="Aptos"/>
                <a:ea typeface="Aptos"/>
                <a:cs typeface="Aptos"/>
              </a:rPr>
              <a:t>.mlx</a:t>
            </a:r>
          </a:p>
        </p:txBody>
      </p:sp>
      <p:sp>
        <p:nvSpPr>
          <p:cNvPr id="19" name="text-56">
            <a:extLst xmlns:a="http://schemas.openxmlformats.org/drawingml/2006/main">
              <a:ext uri="{FF2B5EF4-FFF2-40B4-BE49-F238E27FC236}">
                <a16:creationId xmlns:a16="http://schemas.microsoft.com/office/drawing/2014/main" id="{64A0670B-A428-4D25-80F2-4B64E6811052}"/>
              </a:ext>
            </a:extLst>
          </p:cNvPr>
          <p:cNvSpPr>
            <a:spLocks xmlns:a="http://schemas.openxmlformats.org/drawingml/2006/main" noGrp="1"/>
          </p:cNvSpPr>
          <p:nvPr/>
        </p:nvSpPr>
        <p:spPr>
          <a:xfrm xmlns:a="http://schemas.openxmlformats.org/drawingml/2006/main">
            <a:off x="2381250" y="34290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650" b="1" i="0">
                <a:solidFill>
                  <a:srgbClr val="0B1F33"/>
                </a:solidFill>
                <a:latin typeface="Aptos"/>
                <a:ea typeface="Aptos"/>
                <a:cs typeface="Aptos"/>
              </a:defRPr>
            </a:pPr>
            <a:r>
              <a:rPr sz="1650" b="1" i="0">
                <a:solidFill>
                  <a:srgbClr val="0B1F33"/>
                </a:solidFill>
                <a:latin typeface="Aptos"/>
                <a:ea typeface="Aptos"/>
                <a:cs typeface="Aptos"/>
              </a:rPr>
              <a:t>MATLAB live code</a:t>
            </a:r>
          </a:p>
        </p:txBody>
      </p:sp>
      <p:sp>
        <p:nvSpPr>
          <p:cNvPr id="20" name="text-57">
            <a:extLst xmlns:a="http://schemas.openxmlformats.org/drawingml/2006/main">
              <a:ext uri="{FF2B5EF4-FFF2-40B4-BE49-F238E27FC236}">
                <a16:creationId xmlns:a16="http://schemas.microsoft.com/office/drawing/2014/main" id="{F0F48253-9263-4776-B3D2-6E7754B1E336}"/>
              </a:ext>
            </a:extLst>
          </p:cNvPr>
          <p:cNvSpPr>
            <a:spLocks xmlns:a="http://schemas.openxmlformats.org/drawingml/2006/main" noGrp="1"/>
          </p:cNvSpPr>
          <p:nvPr/>
        </p:nvSpPr>
        <p:spPr>
          <a:xfrm xmlns:a="http://schemas.openxmlformats.org/drawingml/2006/main">
            <a:off x="5429250" y="3429000"/>
            <a:ext cx="5953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Combine executable code with formatted explanation and inline results</a:t>
            </a:r>
          </a:p>
        </p:txBody>
      </p:sp>
      <p:sp>
        <p:nvSpPr>
          <p:cNvPr id="21" name="line-58">
            <a:extLst xmlns:a="http://schemas.openxmlformats.org/drawingml/2006/main">
              <a:ext uri="{FF2B5EF4-FFF2-40B4-BE49-F238E27FC236}">
                <a16:creationId xmlns:a16="http://schemas.microsoft.com/office/drawing/2014/main" id="{59D220CB-1EEC-4046-9E8D-1D50B57A9A2D}"/>
              </a:ext>
            </a:extLst>
          </p:cNvPr>
          <p:cNvSpPr>
            <a:spLocks xmlns:a="http://schemas.openxmlformats.org/drawingml/2006/main" noGrp="1"/>
          </p:cNvSpPr>
          <p:nvPr/>
        </p:nvSpPr>
        <p:spPr>
          <a:xfrm xmlns:a="http://schemas.openxmlformats.org/drawingml/2006/main">
            <a:off x="685800" y="48768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2" name="text-59">
            <a:extLst xmlns:a="http://schemas.openxmlformats.org/drawingml/2006/main">
              <a:ext uri="{FF2B5EF4-FFF2-40B4-BE49-F238E27FC236}">
                <a16:creationId xmlns:a16="http://schemas.microsoft.com/office/drawing/2014/main" id="{018E046F-EFEA-48AC-923E-CEC1E3CBF6DD}"/>
              </a:ext>
            </a:extLst>
          </p:cNvPr>
          <p:cNvSpPr>
            <a:spLocks xmlns:a="http://schemas.openxmlformats.org/drawingml/2006/main" noGrp="1"/>
          </p:cNvSpPr>
          <p:nvPr/>
        </p:nvSpPr>
        <p:spPr>
          <a:xfrm xmlns:a="http://schemas.openxmlformats.org/drawingml/2006/main">
            <a:off x="685800" y="421005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2025" b="1" i="0">
                <a:solidFill>
                  <a:srgbClr val="E9A23B"/>
                </a:solidFill>
                <a:latin typeface="Aptos"/>
                <a:ea typeface="Aptos"/>
                <a:cs typeface="Aptos"/>
              </a:defRPr>
            </a:pPr>
            <a:r>
              <a:rPr sz="2025" b="1" i="0">
                <a:solidFill>
                  <a:srgbClr val="E9A23B"/>
                </a:solidFill>
                <a:latin typeface="Aptos"/>
                <a:ea typeface="Aptos"/>
                <a:cs typeface="Aptos"/>
              </a:rPr>
              <a:t>.mldatx</a:t>
            </a:r>
          </a:p>
        </p:txBody>
      </p:sp>
      <p:sp>
        <p:nvSpPr>
          <p:cNvPr id="23" name="text-60">
            <a:extLst xmlns:a="http://schemas.openxmlformats.org/drawingml/2006/main">
              <a:ext uri="{FF2B5EF4-FFF2-40B4-BE49-F238E27FC236}">
                <a16:creationId xmlns:a16="http://schemas.microsoft.com/office/drawing/2014/main" id="{098A5770-B49D-4C11-986D-1E7655E2A523}"/>
              </a:ext>
            </a:extLst>
          </p:cNvPr>
          <p:cNvSpPr>
            <a:spLocks xmlns:a="http://schemas.openxmlformats.org/drawingml/2006/main" noGrp="1"/>
          </p:cNvSpPr>
          <p:nvPr/>
        </p:nvSpPr>
        <p:spPr>
          <a:xfrm xmlns:a="http://schemas.openxmlformats.org/drawingml/2006/main">
            <a:off x="2381250" y="421005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650" b="1" i="0">
                <a:solidFill>
                  <a:srgbClr val="0B1F33"/>
                </a:solidFill>
                <a:latin typeface="Aptos"/>
                <a:ea typeface="Aptos"/>
                <a:cs typeface="Aptos"/>
              </a:defRPr>
            </a:pPr>
            <a:r>
              <a:rPr sz="1650" b="1" i="0">
                <a:solidFill>
                  <a:srgbClr val="0B1F33"/>
                </a:solidFill>
                <a:latin typeface="Aptos"/>
                <a:ea typeface="Aptos"/>
                <a:cs typeface="Aptos"/>
              </a:rPr>
              <a:t>Simulink Test binary</a:t>
            </a:r>
          </a:p>
        </p:txBody>
      </p:sp>
      <p:sp>
        <p:nvSpPr>
          <p:cNvPr id="24" name="text-61">
            <a:extLst xmlns:a="http://schemas.openxmlformats.org/drawingml/2006/main">
              <a:ext uri="{FF2B5EF4-FFF2-40B4-BE49-F238E27FC236}">
                <a16:creationId xmlns:a16="http://schemas.microsoft.com/office/drawing/2014/main" id="{E1FE0D66-A88C-4FD6-8F46-01A380F21D61}"/>
              </a:ext>
            </a:extLst>
          </p:cNvPr>
          <p:cNvSpPr>
            <a:spLocks xmlns:a="http://schemas.openxmlformats.org/drawingml/2006/main" noGrp="1"/>
          </p:cNvSpPr>
          <p:nvPr/>
        </p:nvSpPr>
        <p:spPr>
          <a:xfrm xmlns:a="http://schemas.openxmlformats.org/drawingml/2006/main">
            <a:off x="5429250" y="4210050"/>
            <a:ext cx="5953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Organize test suites/cases or store exported test results; edit via Test Manager/API</a:t>
            </a:r>
          </a:p>
        </p:txBody>
      </p:sp>
      <p:sp>
        <p:nvSpPr>
          <p:cNvPr id="25" name="line-62">
            <a:extLst xmlns:a="http://schemas.openxmlformats.org/drawingml/2006/main">
              <a:ext uri="{FF2B5EF4-FFF2-40B4-BE49-F238E27FC236}">
                <a16:creationId xmlns:a16="http://schemas.microsoft.com/office/drawing/2014/main" id="{F573DFBB-B957-4D8E-8FA9-72C9B73E95ED}"/>
              </a:ext>
            </a:extLst>
          </p:cNvPr>
          <p:cNvSpPr>
            <a:spLocks xmlns:a="http://schemas.openxmlformats.org/drawingml/2006/main" noGrp="1"/>
          </p:cNvSpPr>
          <p:nvPr/>
        </p:nvSpPr>
        <p:spPr>
          <a:xfrm xmlns:a="http://schemas.openxmlformats.org/drawingml/2006/main">
            <a:off x="685800" y="565785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6" name="text-63">
            <a:extLst xmlns:a="http://schemas.openxmlformats.org/drawingml/2006/main">
              <a:ext uri="{FF2B5EF4-FFF2-40B4-BE49-F238E27FC236}">
                <a16:creationId xmlns:a16="http://schemas.microsoft.com/office/drawing/2014/main" id="{77422703-9FAB-4DA7-B93C-5C52FD8A2317}"/>
              </a:ext>
            </a:extLst>
          </p:cNvPr>
          <p:cNvSpPr>
            <a:spLocks xmlns:a="http://schemas.openxmlformats.org/drawingml/2006/main" noGrp="1"/>
          </p:cNvSpPr>
          <p:nvPr/>
        </p:nvSpPr>
        <p:spPr>
          <a:xfrm xmlns:a="http://schemas.openxmlformats.org/drawingml/2006/main">
            <a:off x="685800" y="499110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2025" b="1" i="0">
                <a:solidFill>
                  <a:srgbClr val="2D6CDF"/>
                </a:solidFill>
                <a:latin typeface="Aptos"/>
                <a:ea typeface="Aptos"/>
                <a:cs typeface="Aptos"/>
              </a:defRPr>
            </a:pPr>
            <a:r>
              <a:rPr sz="2025" b="1" i="0">
                <a:solidFill>
                  <a:srgbClr val="2D6CDF"/>
                </a:solidFill>
                <a:latin typeface="Aptos"/>
                <a:ea typeface="Aptos"/>
                <a:cs typeface="Aptos"/>
              </a:rPr>
              <a:t>.sldd</a:t>
            </a:r>
          </a:p>
        </p:txBody>
      </p:sp>
      <p:sp>
        <p:nvSpPr>
          <p:cNvPr id="27" name="text-64">
            <a:extLst xmlns:a="http://schemas.openxmlformats.org/drawingml/2006/main">
              <a:ext uri="{FF2B5EF4-FFF2-40B4-BE49-F238E27FC236}">
                <a16:creationId xmlns:a16="http://schemas.microsoft.com/office/drawing/2014/main" id="{CE00C8F2-60E4-4157-B174-9429A3F4D8E1}"/>
              </a:ext>
            </a:extLst>
          </p:cNvPr>
          <p:cNvSpPr>
            <a:spLocks xmlns:a="http://schemas.openxmlformats.org/drawingml/2006/main" noGrp="1"/>
          </p:cNvSpPr>
          <p:nvPr/>
        </p:nvSpPr>
        <p:spPr>
          <a:xfrm xmlns:a="http://schemas.openxmlformats.org/drawingml/2006/main">
            <a:off x="2381250" y="49911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650" b="1" i="0">
                <a:solidFill>
                  <a:srgbClr val="0B1F33"/>
                </a:solidFill>
                <a:latin typeface="Aptos"/>
                <a:ea typeface="Aptos"/>
                <a:cs typeface="Aptos"/>
              </a:defRPr>
            </a:pPr>
            <a:r>
              <a:rPr sz="1650" b="1" i="0">
                <a:solidFill>
                  <a:srgbClr val="0B1F33"/>
                </a:solidFill>
                <a:latin typeface="Aptos"/>
                <a:ea typeface="Aptos"/>
                <a:cs typeface="Aptos"/>
              </a:rPr>
              <a:t>Data dictionary</a:t>
            </a:r>
          </a:p>
        </p:txBody>
      </p:sp>
      <p:sp>
        <p:nvSpPr>
          <p:cNvPr id="28" name="text-65">
            <a:extLst xmlns:a="http://schemas.openxmlformats.org/drawingml/2006/main">
              <a:ext uri="{FF2B5EF4-FFF2-40B4-BE49-F238E27FC236}">
                <a16:creationId xmlns:a16="http://schemas.microsoft.com/office/drawing/2014/main" id="{91F7DB1B-AFC4-4871-AD04-25EB557285D1}"/>
              </a:ext>
            </a:extLst>
          </p:cNvPr>
          <p:cNvSpPr>
            <a:spLocks xmlns:a="http://schemas.openxmlformats.org/drawingml/2006/main" noGrp="1"/>
          </p:cNvSpPr>
          <p:nvPr/>
        </p:nvSpPr>
        <p:spPr>
          <a:xfrm xmlns:a="http://schemas.openxmlformats.org/drawingml/2006/main">
            <a:off x="5429250" y="4991100"/>
            <a:ext cx="5953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Control parameters, signal types, bus objects, and shared design data</a:t>
            </a:r>
          </a:p>
        </p:txBody>
      </p:sp>
      <p:sp>
        <p:nvSpPr>
          <p:cNvPr id="29" name="text-66">
            <a:extLst xmlns:a="http://schemas.openxmlformats.org/drawingml/2006/main">
              <a:ext uri="{FF2B5EF4-FFF2-40B4-BE49-F238E27FC236}">
                <a16:creationId xmlns:a16="http://schemas.microsoft.com/office/drawing/2014/main" id="{1A6C0058-DEDD-400D-A72A-E96BF70E291C}"/>
              </a:ext>
            </a:extLst>
          </p:cNvPr>
          <p:cNvSpPr>
            <a:spLocks xmlns:a="http://schemas.openxmlformats.org/drawingml/2006/main" noGrp="1"/>
          </p:cNvSpPr>
          <p:nvPr/>
        </p:nvSpPr>
        <p:spPr>
          <a:xfrm xmlns:a="http://schemas.openxmlformats.org/drawingml/2006/main">
            <a:off x="685800" y="59055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725" b="1" i="0">
                <a:solidFill>
                  <a:srgbClr val="20B7C5"/>
                </a:solidFill>
                <a:latin typeface="Aptos"/>
                <a:ea typeface="Aptos"/>
                <a:cs typeface="Aptos"/>
              </a:defRPr>
            </a:pPr>
            <a:r>
              <a:rPr sz="1725" b="1" i="0">
                <a:solidFill>
                  <a:srgbClr val="20B7C5"/>
                </a:solidFill>
                <a:latin typeface="Aptos"/>
                <a:ea typeface="Aptos"/>
                <a:cs typeface="Aptos"/>
              </a:rPr>
              <a:t>Version-control the whole configuration—not only the .slx file.</a:t>
            </a:r>
          </a:p>
        </p:txBody>
      </p:sp>
    </p:spTree>
    <p:extLst>
      <p:ext uri="{BB962C8B-B14F-4D97-AF65-F5344CB8AC3E}">
        <p14:creationId xmlns:p14="http://schemas.microsoft.com/office/powerpoint/2010/main" val="254232730"/>
      </p:ext>
    </p:extLst>
  </p:cSld>
</p:sld>
</file>

<file path=ppt/slides/slide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8" name="section-66">
            <a:extLst xmlns:a="http://schemas.openxmlformats.org/drawingml/2006/main">
              <a:ext uri="{FF2B5EF4-FFF2-40B4-BE49-F238E27FC236}">
                <a16:creationId xmlns:a16="http://schemas.microsoft.com/office/drawing/2014/main" id="{B531DA07-3103-4EDB-9B79-BCD13A7FFD16}"/>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01 • INTRODUCTION TO SIMULINK</a:t>
            </a:r>
          </a:p>
        </p:txBody>
      </p:sp>
      <p:sp>
        <p:nvSpPr>
          <p:cNvPr id="2" name="title-66">
            <a:extLst xmlns:a="http://schemas.openxmlformats.org/drawingml/2006/main">
              <a:ext uri="{FF2B5EF4-FFF2-40B4-BE49-F238E27FC236}">
                <a16:creationId xmlns:a16="http://schemas.microsoft.com/office/drawing/2014/main" id="{C6D9F1C6-D120-4C20-88BA-CAD8C9811D88}"/>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The editor exposes structure and diagnostics</a:t>
            </a:r>
          </a:p>
        </p:txBody>
      </p:sp>
      <p:sp>
        <p:nvSpPr>
          <p:cNvPr id="3" name="line-67">
            <a:extLst xmlns:a="http://schemas.openxmlformats.org/drawingml/2006/main">
              <a:ext uri="{FF2B5EF4-FFF2-40B4-BE49-F238E27FC236}">
                <a16:creationId xmlns:a16="http://schemas.microsoft.com/office/drawing/2014/main" id="{C0E85360-30FB-48EE-B656-F1CD657615B6}"/>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68">
            <a:extLst xmlns:a="http://schemas.openxmlformats.org/drawingml/2006/main">
              <a:ext uri="{FF2B5EF4-FFF2-40B4-BE49-F238E27FC236}">
                <a16:creationId xmlns:a16="http://schemas.microsoft.com/office/drawing/2014/main" id="{941E2340-B2A5-4A96-9E16-722F5CADDF16}"/>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69">
            <a:extLst xmlns:a="http://schemas.openxmlformats.org/drawingml/2006/main">
              <a:ext uri="{FF2B5EF4-FFF2-40B4-BE49-F238E27FC236}">
                <a16:creationId xmlns:a16="http://schemas.microsoft.com/office/drawing/2014/main" id="{245825BF-FEE4-41E6-8130-BBCA53682AB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06</a:t>
            </a:r>
          </a:p>
        </p:txBody>
      </p:sp>
      <p:sp>
        <p:nvSpPr>
          <p:cNvPr id="6" name="box-70">
            <a:extLst xmlns:a="http://schemas.openxmlformats.org/drawingml/2006/main">
              <a:ext uri="{FF2B5EF4-FFF2-40B4-BE49-F238E27FC236}">
                <a16:creationId xmlns:a16="http://schemas.microsoft.com/office/drawing/2014/main" id="{49540128-4F3A-4DB6-98A8-E3F26027BCA2}"/>
              </a:ext>
            </a:extLst>
          </p:cNvPr>
          <p:cNvSpPr>
            <a:spLocks xmlns:a="http://schemas.openxmlformats.org/drawingml/2006/main" noGrp="1"/>
          </p:cNvSpPr>
          <p:nvPr/>
        </p:nvSpPr>
        <p:spPr>
          <a:xfrm xmlns:a="http://schemas.openxmlformats.org/drawingml/2006/main">
            <a:off x="685800" y="1447800"/>
            <a:ext cx="10820400" cy="4514850"/>
          </a:xfrm>
          <a:prstGeom xmlns:a="http://schemas.openxmlformats.org/drawingml/2006/main" prst="roundRect">
            <a:avLst>
              <a:gd name="adj" fmla="val 2110"/>
            </a:avLst>
          </a:prstGeom>
          <a:solidFill xmlns:a="http://schemas.openxmlformats.org/drawingml/2006/main">
            <a:srgbClr val="FFFFFF"/>
          </a:solidFill>
          <a:ln xmlns:a="http://schemas.openxmlformats.org/drawingml/2006/main" w="19050">
            <a:solidFill>
              <a:srgbClr val="9EB7C8"/>
            </a:solidFill>
            <a:prstDash val="solid"/>
          </a:ln>
        </p:spPr>
      </p:sp>
      <p:sp>
        <p:nvSpPr>
          <p:cNvPr id="7" name="box-71">
            <a:extLst xmlns:a="http://schemas.openxmlformats.org/drawingml/2006/main">
              <a:ext uri="{FF2B5EF4-FFF2-40B4-BE49-F238E27FC236}">
                <a16:creationId xmlns:a16="http://schemas.microsoft.com/office/drawing/2014/main" id="{1C25F34A-D9A3-46C4-8CEA-B74729A7BC18}"/>
              </a:ext>
            </a:extLst>
          </p:cNvPr>
          <p:cNvSpPr>
            <a:spLocks xmlns:a="http://schemas.openxmlformats.org/drawingml/2006/main" noGrp="1"/>
          </p:cNvSpPr>
          <p:nvPr/>
        </p:nvSpPr>
        <p:spPr>
          <a:xfrm xmlns:a="http://schemas.openxmlformats.org/drawingml/2006/main">
            <a:off x="685800" y="1447800"/>
            <a:ext cx="10820400" cy="419100"/>
          </a:xfrm>
          <a:prstGeom xmlns:a="http://schemas.openxmlformats.org/drawingml/2006/main" prst="roundRect">
            <a:avLst>
              <a:gd name="adj" fmla="val 22727"/>
            </a:avLst>
          </a:prstGeom>
          <a:solidFill xmlns:a="http://schemas.openxmlformats.org/drawingml/2006/main">
            <a:srgbClr val="0B2438"/>
          </a:solidFill>
          <a:ln xmlns:a="http://schemas.openxmlformats.org/drawingml/2006/main" w="0">
            <a:solidFill>
              <a:srgbClr val="0B2438"/>
            </a:solidFill>
            <a:prstDash val="solid"/>
          </a:ln>
        </p:spPr>
      </p:sp>
      <p:sp>
        <p:nvSpPr>
          <p:cNvPr id="8" name="text-72">
            <a:extLst xmlns:a="http://schemas.openxmlformats.org/drawingml/2006/main">
              <a:ext uri="{FF2B5EF4-FFF2-40B4-BE49-F238E27FC236}">
                <a16:creationId xmlns:a16="http://schemas.microsoft.com/office/drawing/2014/main" id="{4CA7154F-F5AE-4997-AD91-83D420F4B15D}"/>
              </a:ext>
            </a:extLst>
          </p:cNvPr>
          <p:cNvSpPr>
            <a:spLocks xmlns:a="http://schemas.openxmlformats.org/drawingml/2006/main" noGrp="1"/>
          </p:cNvSpPr>
          <p:nvPr/>
        </p:nvSpPr>
        <p:spPr>
          <a:xfrm xmlns:a="http://schemas.openxmlformats.org/drawingml/2006/main">
            <a:off x="876300" y="1533525"/>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200" b="1" i="0">
                <a:solidFill>
                  <a:srgbClr val="FFFFFF"/>
                </a:solidFill>
                <a:latin typeface="Aptos"/>
                <a:ea typeface="Aptos"/>
                <a:cs typeface="Aptos"/>
              </a:defRPr>
            </a:pPr>
            <a:r>
              <a:rPr sz="1200" b="1" i="0">
                <a:solidFill>
                  <a:srgbClr val="FFFFFF"/>
                </a:solidFill>
                <a:latin typeface="Aptos"/>
                <a:ea typeface="Aptos"/>
                <a:cs typeface="Aptos"/>
              </a:rPr>
              <a:t>PitchRateLimiter.slx</a:t>
            </a:r>
          </a:p>
        </p:txBody>
      </p:sp>
      <p:sp>
        <p:nvSpPr>
          <p:cNvPr id="9" name="text-73">
            <a:extLst xmlns:a="http://schemas.openxmlformats.org/drawingml/2006/main">
              <a:ext uri="{FF2B5EF4-FFF2-40B4-BE49-F238E27FC236}">
                <a16:creationId xmlns:a16="http://schemas.microsoft.com/office/drawing/2014/main" id="{B9AFDBF3-8207-44BE-BEF0-E08A62E2BB9D}"/>
              </a:ext>
            </a:extLst>
          </p:cNvPr>
          <p:cNvSpPr>
            <a:spLocks xmlns:a="http://schemas.openxmlformats.org/drawingml/2006/main" noGrp="1"/>
          </p:cNvSpPr>
          <p:nvPr/>
        </p:nvSpPr>
        <p:spPr>
          <a:xfrm xmlns:a="http://schemas.openxmlformats.org/drawingml/2006/main">
            <a:off x="5715000" y="1533525"/>
            <a:ext cx="542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r">
              <a:lnSpc>
                <a:spcPct val="105000"/>
              </a:lnSpc>
              <a:buNone/>
              <a:defRPr sz="1125" b="0" i="0">
                <a:solidFill>
                  <a:srgbClr val="CFE0EA"/>
                </a:solidFill>
                <a:latin typeface="Aptos"/>
                <a:ea typeface="Aptos"/>
                <a:cs typeface="Aptos"/>
              </a:defRPr>
            </a:pPr>
            <a:r>
              <a:rPr sz="1125" b="0" i="0">
                <a:solidFill>
                  <a:srgbClr val="CFE0EA"/>
                </a:solidFill>
                <a:latin typeface="Aptos"/>
                <a:ea typeface="Aptos"/>
                <a:cs typeface="Aptos"/>
              </a:rPr>
              <a:t>Simulation    ▸ Run     Stop time  10.0     Model Advisor</a:t>
            </a:r>
          </a:p>
        </p:txBody>
      </p:sp>
      <p:sp>
        <p:nvSpPr>
          <p:cNvPr id="10" name="box-74">
            <a:extLst xmlns:a="http://schemas.openxmlformats.org/drawingml/2006/main">
              <a:ext uri="{FF2B5EF4-FFF2-40B4-BE49-F238E27FC236}">
                <a16:creationId xmlns:a16="http://schemas.microsoft.com/office/drawing/2014/main" id="{4FA6FE44-2E3C-42FF-AF32-275AD28A4E97}"/>
              </a:ext>
            </a:extLst>
          </p:cNvPr>
          <p:cNvSpPr>
            <a:spLocks xmlns:a="http://schemas.openxmlformats.org/drawingml/2006/main" noGrp="1"/>
          </p:cNvSpPr>
          <p:nvPr/>
        </p:nvSpPr>
        <p:spPr>
          <a:xfrm xmlns:a="http://schemas.openxmlformats.org/drawingml/2006/main">
            <a:off x="685800" y="1866900"/>
            <a:ext cx="2095500" cy="3524250"/>
          </a:xfrm>
          <a:prstGeom xmlns:a="http://schemas.openxmlformats.org/drawingml/2006/main" prst="roundRect">
            <a:avLst>
              <a:gd name="adj" fmla="val 0"/>
            </a:avLst>
          </a:prstGeom>
          <a:solidFill xmlns:a="http://schemas.openxmlformats.org/drawingml/2006/main">
            <a:srgbClr val="EEF4F7"/>
          </a:solidFill>
          <a:ln xmlns:a="http://schemas.openxmlformats.org/drawingml/2006/main" w="9525">
            <a:solidFill>
              <a:srgbClr val="C9D8E3"/>
            </a:solidFill>
            <a:prstDash val="solid"/>
          </a:ln>
        </p:spPr>
      </p:sp>
      <p:sp>
        <p:nvSpPr>
          <p:cNvPr id="11" name="text-75">
            <a:extLst xmlns:a="http://schemas.openxmlformats.org/drawingml/2006/main">
              <a:ext uri="{FF2B5EF4-FFF2-40B4-BE49-F238E27FC236}">
                <a16:creationId xmlns:a16="http://schemas.microsoft.com/office/drawing/2014/main" id="{5795BEA6-BF0D-4990-AD51-F4757F47C3C4}"/>
              </a:ext>
            </a:extLst>
          </p:cNvPr>
          <p:cNvSpPr>
            <a:spLocks xmlns:a="http://schemas.openxmlformats.org/drawingml/2006/main" noGrp="1"/>
          </p:cNvSpPr>
          <p:nvPr/>
        </p:nvSpPr>
        <p:spPr>
          <a:xfrm xmlns:a="http://schemas.openxmlformats.org/drawingml/2006/main">
            <a:off x="857250" y="2019300"/>
            <a:ext cx="1762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5D7487"/>
                </a:solidFill>
                <a:latin typeface="Aptos"/>
                <a:ea typeface="Aptos"/>
                <a:cs typeface="Aptos"/>
              </a:defRPr>
            </a:pPr>
            <a:r>
              <a:rPr sz="1125" b="1" i="0">
                <a:solidFill>
                  <a:srgbClr val="5D7487"/>
                </a:solidFill>
                <a:latin typeface="Aptos"/>
                <a:ea typeface="Aptos"/>
                <a:cs typeface="Aptos"/>
              </a:rPr>
              <a:t>LIBRARY BROWSER</a:t>
            </a:r>
          </a:p>
        </p:txBody>
      </p:sp>
      <p:sp>
        <p:nvSpPr>
          <p:cNvPr id="12" name="text-76">
            <a:extLst xmlns:a="http://schemas.openxmlformats.org/drawingml/2006/main">
              <a:ext uri="{FF2B5EF4-FFF2-40B4-BE49-F238E27FC236}">
                <a16:creationId xmlns:a16="http://schemas.microsoft.com/office/drawing/2014/main" id="{01B868A7-A09C-42F9-BC65-96C8F2C4E943}"/>
              </a:ext>
            </a:extLst>
          </p:cNvPr>
          <p:cNvSpPr>
            <a:spLocks xmlns:a="http://schemas.openxmlformats.org/drawingml/2006/main" noGrp="1"/>
          </p:cNvSpPr>
          <p:nvPr/>
        </p:nvSpPr>
        <p:spPr>
          <a:xfrm xmlns:a="http://schemas.openxmlformats.org/drawingml/2006/main">
            <a:off x="914400" y="2400300"/>
            <a:ext cx="16192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25000"/>
              </a:lnSpc>
              <a:buNone/>
              <a:defRPr sz="1425" b="0" i="0">
                <a:solidFill>
                  <a:srgbClr val="17324A"/>
                </a:solidFill>
                <a:latin typeface="Aptos"/>
                <a:ea typeface="Aptos"/>
                <a:cs typeface="Aptos"/>
              </a:defRPr>
            </a:pPr>
            <a:r>
              <a:rPr sz="1425" b="0" i="0">
                <a:solidFill>
                  <a:srgbClr val="17324A"/>
                </a:solidFill>
                <a:latin typeface="Aptos"/>
                <a:ea typeface="Aptos"/>
                <a:cs typeface="Aptos"/>
              </a:rPr>
              <a:t>Commonly Used</a:t>
            </a:r>
          </a:p>
          <a:p xmlns:a="http://schemas.openxmlformats.org/drawingml/2006/main">
            <a:pPr algn="l">
              <a:lnSpc>
                <a:spcPct val="125000"/>
              </a:lnSpc>
              <a:buNone/>
              <a:defRPr sz="1425" b="0" i="0">
                <a:solidFill>
                  <a:srgbClr val="17324A"/>
                </a:solidFill>
                <a:latin typeface="Aptos"/>
                <a:ea typeface="Aptos"/>
                <a:cs typeface="Aptos"/>
              </a:defRPr>
            </a:pPr>
            <a:r>
              <a:rPr sz="1425" b="0" i="0">
                <a:solidFill>
                  <a:srgbClr val="17324A"/>
                </a:solidFill>
                <a:latin typeface="Aptos"/>
                <a:ea typeface="Aptos"/>
                <a:cs typeface="Aptos"/>
              </a:rPr>
              <a:t>Continuous</a:t>
            </a:r>
          </a:p>
          <a:p xmlns:a="http://schemas.openxmlformats.org/drawingml/2006/main">
            <a:pPr algn="l">
              <a:lnSpc>
                <a:spcPct val="125000"/>
              </a:lnSpc>
              <a:buNone/>
              <a:defRPr sz="1425" b="0" i="0">
                <a:solidFill>
                  <a:srgbClr val="17324A"/>
                </a:solidFill>
                <a:latin typeface="Aptos"/>
                <a:ea typeface="Aptos"/>
                <a:cs typeface="Aptos"/>
              </a:defRPr>
            </a:pPr>
            <a:r>
              <a:rPr sz="1425" b="0" i="0">
                <a:solidFill>
                  <a:srgbClr val="17324A"/>
                </a:solidFill>
                <a:latin typeface="Aptos"/>
                <a:ea typeface="Aptos"/>
                <a:cs typeface="Aptos"/>
              </a:rPr>
              <a:t>Discrete</a:t>
            </a:r>
          </a:p>
          <a:p xmlns:a="http://schemas.openxmlformats.org/drawingml/2006/main">
            <a:pPr algn="l">
              <a:lnSpc>
                <a:spcPct val="125000"/>
              </a:lnSpc>
              <a:buNone/>
              <a:defRPr sz="1425" b="0" i="0">
                <a:solidFill>
                  <a:srgbClr val="17324A"/>
                </a:solidFill>
                <a:latin typeface="Aptos"/>
                <a:ea typeface="Aptos"/>
                <a:cs typeface="Aptos"/>
              </a:defRPr>
            </a:pPr>
            <a:r>
              <a:rPr sz="1425" b="0" i="0">
                <a:solidFill>
                  <a:srgbClr val="17324A"/>
                </a:solidFill>
                <a:latin typeface="Aptos"/>
                <a:ea typeface="Aptos"/>
                <a:cs typeface="Aptos"/>
              </a:rPr>
              <a:t>Lookup Tables</a:t>
            </a:r>
          </a:p>
          <a:p xmlns:a="http://schemas.openxmlformats.org/drawingml/2006/main">
            <a:pPr algn="l">
              <a:lnSpc>
                <a:spcPct val="125000"/>
              </a:lnSpc>
              <a:buNone/>
              <a:defRPr sz="1425" b="0" i="0">
                <a:solidFill>
                  <a:srgbClr val="17324A"/>
                </a:solidFill>
                <a:latin typeface="Aptos"/>
                <a:ea typeface="Aptos"/>
                <a:cs typeface="Aptos"/>
              </a:defRPr>
            </a:pPr>
            <a:r>
              <a:rPr sz="1425" b="0" i="0">
                <a:solidFill>
                  <a:srgbClr val="17324A"/>
                </a:solidFill>
                <a:latin typeface="Aptos"/>
                <a:ea typeface="Aptos"/>
                <a:cs typeface="Aptos"/>
              </a:rPr>
              <a:t>Signal Routing</a:t>
            </a:r>
          </a:p>
          <a:p xmlns:a="http://schemas.openxmlformats.org/drawingml/2006/main">
            <a:pPr algn="l">
              <a:lnSpc>
                <a:spcPct val="125000"/>
              </a:lnSpc>
              <a:buNone/>
              <a:defRPr sz="1425" b="0" i="0">
                <a:solidFill>
                  <a:srgbClr val="17324A"/>
                </a:solidFill>
                <a:latin typeface="Aptos"/>
                <a:ea typeface="Aptos"/>
                <a:cs typeface="Aptos"/>
              </a:defRPr>
            </a:pPr>
            <a:r>
              <a:rPr sz="1425" b="0" i="0">
                <a:solidFill>
                  <a:srgbClr val="17324A"/>
                </a:solidFill>
                <a:latin typeface="Aptos"/>
                <a:ea typeface="Aptos"/>
                <a:cs typeface="Aptos"/>
              </a:rPr>
              <a:t>Stateflow</a:t>
            </a:r>
          </a:p>
        </p:txBody>
      </p:sp>
      <p:sp>
        <p:nvSpPr>
          <p:cNvPr id="13" name="box-77">
            <a:extLst xmlns:a="http://schemas.openxmlformats.org/drawingml/2006/main">
              <a:ext uri="{FF2B5EF4-FFF2-40B4-BE49-F238E27FC236}">
                <a16:creationId xmlns:a16="http://schemas.microsoft.com/office/drawing/2014/main" id="{220EFC1F-0E4E-4171-AA18-FD5079ECB5E5}"/>
              </a:ext>
            </a:extLst>
          </p:cNvPr>
          <p:cNvSpPr>
            <a:spLocks xmlns:a="http://schemas.openxmlformats.org/drawingml/2006/main" noGrp="1"/>
          </p:cNvSpPr>
          <p:nvPr/>
        </p:nvSpPr>
        <p:spPr>
          <a:xfrm xmlns:a="http://schemas.openxmlformats.org/drawingml/2006/main">
            <a:off x="2781300" y="1866900"/>
            <a:ext cx="6248400" cy="3524250"/>
          </a:xfrm>
          <a:prstGeom xmlns:a="http://schemas.openxmlformats.org/drawingml/2006/main" prst="roundRect">
            <a:avLst>
              <a:gd name="adj" fmla="val 0"/>
            </a:avLst>
          </a:prstGeom>
          <a:solidFill xmlns:a="http://schemas.openxmlformats.org/drawingml/2006/main">
            <a:srgbClr val="FFFFFF"/>
          </a:solidFill>
          <a:ln xmlns:a="http://schemas.openxmlformats.org/drawingml/2006/main" w="9525">
            <a:solidFill>
              <a:srgbClr val="C9D8E3"/>
            </a:solidFill>
            <a:prstDash val="solid"/>
          </a:ln>
        </p:spPr>
      </p:sp>
      <p:sp>
        <p:nvSpPr>
          <p:cNvPr id="14" name="text-78">
            <a:extLst xmlns:a="http://schemas.openxmlformats.org/drawingml/2006/main">
              <a:ext uri="{FF2B5EF4-FFF2-40B4-BE49-F238E27FC236}">
                <a16:creationId xmlns:a16="http://schemas.microsoft.com/office/drawing/2014/main" id="{08E0FF43-F038-4168-B926-5BCB77B9F9B9}"/>
              </a:ext>
            </a:extLst>
          </p:cNvPr>
          <p:cNvSpPr>
            <a:spLocks xmlns:a="http://schemas.openxmlformats.org/drawingml/2006/main" noGrp="1"/>
          </p:cNvSpPr>
          <p:nvPr/>
        </p:nvSpPr>
        <p:spPr>
          <a:xfrm xmlns:a="http://schemas.openxmlformats.org/drawingml/2006/main">
            <a:off x="2990850" y="20193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5D7487"/>
                </a:solidFill>
                <a:latin typeface="Aptos"/>
                <a:ea typeface="Aptos"/>
                <a:cs typeface="Aptos"/>
              </a:defRPr>
            </a:pPr>
            <a:r>
              <a:rPr sz="1125" b="1" i="0">
                <a:solidFill>
                  <a:srgbClr val="5D7487"/>
                </a:solidFill>
                <a:latin typeface="Aptos"/>
                <a:ea typeface="Aptos"/>
                <a:cs typeface="Aptos"/>
              </a:rPr>
              <a:t>MODEL CANVAS</a:t>
            </a:r>
          </a:p>
        </p:txBody>
      </p:sp>
      <p:sp>
        <p:nvSpPr>
          <p:cNvPr id="15" name="box-79">
            <a:extLst xmlns:a="http://schemas.openxmlformats.org/drawingml/2006/main">
              <a:ext uri="{FF2B5EF4-FFF2-40B4-BE49-F238E27FC236}">
                <a16:creationId xmlns:a16="http://schemas.microsoft.com/office/drawing/2014/main" id="{B6398E66-84C4-42BF-918E-4AA5F3A81B52}"/>
              </a:ext>
            </a:extLst>
          </p:cNvPr>
          <p:cNvSpPr>
            <a:spLocks xmlns:a="http://schemas.openxmlformats.org/drawingml/2006/main" noGrp="1"/>
          </p:cNvSpPr>
          <p:nvPr/>
        </p:nvSpPr>
        <p:spPr>
          <a:xfrm xmlns:a="http://schemas.openxmlformats.org/drawingml/2006/main">
            <a:off x="3143250" y="3095625"/>
            <a:ext cx="876300" cy="51435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q_cmd</a:t>
            </a:r>
          </a:p>
        </p:txBody>
      </p:sp>
      <p:sp>
        <p:nvSpPr>
          <p:cNvPr id="16" name="box-80">
            <a:extLst xmlns:a="http://schemas.openxmlformats.org/drawingml/2006/main">
              <a:ext uri="{FF2B5EF4-FFF2-40B4-BE49-F238E27FC236}">
                <a16:creationId xmlns:a16="http://schemas.microsoft.com/office/drawing/2014/main" id="{7E2F4248-92C4-425F-90C0-A00ECF59BFEA}"/>
              </a:ext>
            </a:extLst>
          </p:cNvPr>
          <p:cNvSpPr>
            <a:spLocks xmlns:a="http://schemas.openxmlformats.org/drawingml/2006/main" noGrp="1"/>
          </p:cNvSpPr>
          <p:nvPr/>
        </p:nvSpPr>
        <p:spPr>
          <a:xfrm xmlns:a="http://schemas.openxmlformats.org/drawingml/2006/main">
            <a:off x="4667250" y="2857500"/>
            <a:ext cx="1123950" cy="990600"/>
          </a:xfrm>
          <a:prstGeom xmlns:a="http://schemas.openxmlformats.org/drawingml/2006/main" prst="roundRect">
            <a:avLst>
              <a:gd name="adj" fmla="val 5769"/>
            </a:avLst>
          </a:prstGeom>
          <a:solidFill xmlns:a="http://schemas.openxmlformats.org/drawingml/2006/main">
            <a:srgbClr val="FFFFFF"/>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q_limit</a:t>
            </a:r>
          </a:p>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lookup</a:t>
            </a:r>
          </a:p>
        </p:txBody>
      </p:sp>
      <p:sp>
        <p:nvSpPr>
          <p:cNvPr id="17" name="box-81">
            <a:extLst xmlns:a="http://schemas.openxmlformats.org/drawingml/2006/main">
              <a:ext uri="{FF2B5EF4-FFF2-40B4-BE49-F238E27FC236}">
                <a16:creationId xmlns:a16="http://schemas.microsoft.com/office/drawing/2014/main" id="{B418C365-03DF-4245-B0DB-7EC0E6EB7BAF}"/>
              </a:ext>
            </a:extLst>
          </p:cNvPr>
          <p:cNvSpPr>
            <a:spLocks xmlns:a="http://schemas.openxmlformats.org/drawingml/2006/main" noGrp="1"/>
          </p:cNvSpPr>
          <p:nvPr/>
        </p:nvSpPr>
        <p:spPr>
          <a:xfrm xmlns:a="http://schemas.openxmlformats.org/drawingml/2006/main">
            <a:off x="6477000" y="3000375"/>
            <a:ext cx="1047750" cy="70485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 limit</a:t>
            </a:r>
          </a:p>
        </p:txBody>
      </p:sp>
      <p:sp>
        <p:nvSpPr>
          <p:cNvPr id="18" name="box-82">
            <a:extLst xmlns:a="http://schemas.openxmlformats.org/drawingml/2006/main">
              <a:ext uri="{FF2B5EF4-FFF2-40B4-BE49-F238E27FC236}">
                <a16:creationId xmlns:a16="http://schemas.microsoft.com/office/drawing/2014/main" id="{D8A21683-557C-437F-A278-E0C4DB448DFC}"/>
              </a:ext>
            </a:extLst>
          </p:cNvPr>
          <p:cNvSpPr>
            <a:spLocks xmlns:a="http://schemas.openxmlformats.org/drawingml/2006/main" noGrp="1"/>
          </p:cNvSpPr>
          <p:nvPr/>
        </p:nvSpPr>
        <p:spPr>
          <a:xfrm xmlns:a="http://schemas.openxmlformats.org/drawingml/2006/main">
            <a:off x="7924800" y="3095625"/>
            <a:ext cx="952500" cy="51435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200" b="1">
                <a:solidFill>
                  <a:srgbClr val="0B1F33"/>
                </a:solidFill>
                <a:latin typeface="Aptos"/>
                <a:ea typeface="Aptos"/>
                <a:cs typeface="Aptos"/>
              </a:defRPr>
            </a:pPr>
            <a:r>
              <a:rPr sz="1200" b="1">
                <a:solidFill>
                  <a:srgbClr val="0B1F33"/>
                </a:solidFill>
                <a:latin typeface="Aptos"/>
                <a:ea typeface="Aptos"/>
                <a:cs typeface="Aptos"/>
              </a:rPr>
              <a:t>q_limited</a:t>
            </a:r>
          </a:p>
        </p:txBody>
      </p:sp>
      <p:cxnSp>
        <p:nvCxnSpPr>
          <p:cNvPr id="46" name=""/>
          <p:cNvCxnSpPr>
            <a:stCxn xmlns:a="http://schemas.openxmlformats.org/drawingml/2006/main" id="15" idx="3"/>
            <a:endCxn xmlns:a="http://schemas.openxmlformats.org/drawingml/2006/main" id="16" idx="1"/>
          </p:cNvCxnSpPr>
          <p:nvPr/>
        </p:nvCxnSpPr>
        <p:spPr>
          <a:xfrm xmlns:a="http://schemas.openxmlformats.org/drawingml/2006/main">
            <a:off x="4019550" y="3352800"/>
            <a:ext cx="647700" cy="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47" name=""/>
          <p:cNvCxnSpPr>
            <a:stCxn xmlns:a="http://schemas.openxmlformats.org/drawingml/2006/main" id="16" idx="3"/>
            <a:endCxn xmlns:a="http://schemas.openxmlformats.org/drawingml/2006/main" id="17" idx="1"/>
          </p:cNvCxnSpPr>
          <p:nvPr/>
        </p:nvCxnSpPr>
        <p:spPr>
          <a:xfrm xmlns:a="http://schemas.openxmlformats.org/drawingml/2006/main">
            <a:off x="5791200" y="3352800"/>
            <a:ext cx="6858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48" name=""/>
          <p:cNvCxnSpPr>
            <a:stCxn xmlns:a="http://schemas.openxmlformats.org/drawingml/2006/main" id="17" idx="3"/>
            <a:endCxn xmlns:a="http://schemas.openxmlformats.org/drawingml/2006/main" id="18" idx="1"/>
          </p:cNvCxnSpPr>
          <p:nvPr/>
        </p:nvCxnSpPr>
        <p:spPr>
          <a:xfrm xmlns:a="http://schemas.openxmlformats.org/drawingml/2006/main">
            <a:off x="7524750" y="3352800"/>
            <a:ext cx="400050" cy="0"/>
          </a:xfrm>
          <a:prstGeom xmlns:a="http://schemas.openxmlformats.org/drawingml/2006/main" prst="straightConnector1">
            <a:avLst/>
          </a:prstGeom>
          <a:ln xmlns:a="http://schemas.openxmlformats.org/drawingml/2006/main" w="28575">
            <a:solidFill>
              <a:srgbClr val="2CA56F"/>
            </a:solidFill>
            <a:prstDash val="solid"/>
            <a:tailEnd type="triangle" w="sm" len="sm"/>
          </a:ln>
        </p:spPr>
      </p:cxnSp>
      <p:sp>
        <p:nvSpPr>
          <p:cNvPr id="22" name="text-83">
            <a:extLst xmlns:a="http://schemas.openxmlformats.org/drawingml/2006/main">
              <a:ext uri="{FF2B5EF4-FFF2-40B4-BE49-F238E27FC236}">
                <a16:creationId xmlns:a16="http://schemas.microsoft.com/office/drawing/2014/main" id="{070DD6F9-358E-4774-98E5-F21DB0344390}"/>
              </a:ext>
            </a:extLst>
          </p:cNvPr>
          <p:cNvSpPr>
            <a:spLocks xmlns:a="http://schemas.openxmlformats.org/drawingml/2006/main" noGrp="1"/>
          </p:cNvSpPr>
          <p:nvPr/>
        </p:nvSpPr>
        <p:spPr>
          <a:xfrm xmlns:a="http://schemas.openxmlformats.org/drawingml/2006/main">
            <a:off x="4095750" y="428625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350" b="0" i="0">
                <a:solidFill>
                  <a:srgbClr val="5D7487"/>
                </a:solidFill>
                <a:latin typeface="Aptos"/>
                <a:ea typeface="Aptos"/>
                <a:cs typeface="Aptos"/>
              </a:defRPr>
            </a:pPr>
            <a:r>
              <a:rPr sz="1350" b="0" i="0">
                <a:solidFill>
                  <a:srgbClr val="5D7487"/>
                </a:solidFill>
                <a:latin typeface="Aptos"/>
                <a:ea typeface="Aptos"/>
                <a:cs typeface="Aptos"/>
              </a:rPr>
              <a:t>Signal labels + data types + sample times</a:t>
            </a:r>
          </a:p>
        </p:txBody>
      </p:sp>
      <p:sp>
        <p:nvSpPr>
          <p:cNvPr id="23" name="box-84">
            <a:extLst xmlns:a="http://schemas.openxmlformats.org/drawingml/2006/main">
              <a:ext uri="{FF2B5EF4-FFF2-40B4-BE49-F238E27FC236}">
                <a16:creationId xmlns:a16="http://schemas.microsoft.com/office/drawing/2014/main" id="{D6952F12-384B-4DC2-8EF4-E3CA4CB4A7F7}"/>
              </a:ext>
            </a:extLst>
          </p:cNvPr>
          <p:cNvSpPr>
            <a:spLocks xmlns:a="http://schemas.openxmlformats.org/drawingml/2006/main" noGrp="1"/>
          </p:cNvSpPr>
          <p:nvPr/>
        </p:nvSpPr>
        <p:spPr>
          <a:xfrm xmlns:a="http://schemas.openxmlformats.org/drawingml/2006/main">
            <a:off x="9029700" y="1866900"/>
            <a:ext cx="2476500" cy="3524250"/>
          </a:xfrm>
          <a:prstGeom xmlns:a="http://schemas.openxmlformats.org/drawingml/2006/main" prst="roundRect">
            <a:avLst>
              <a:gd name="adj" fmla="val 0"/>
            </a:avLst>
          </a:prstGeom>
          <a:solidFill xmlns:a="http://schemas.openxmlformats.org/drawingml/2006/main">
            <a:srgbClr val="F7FAFC"/>
          </a:solidFill>
          <a:ln xmlns:a="http://schemas.openxmlformats.org/drawingml/2006/main" w="9525">
            <a:solidFill>
              <a:srgbClr val="C9D8E3"/>
            </a:solidFill>
            <a:prstDash val="solid"/>
          </a:ln>
        </p:spPr>
      </p:sp>
      <p:sp>
        <p:nvSpPr>
          <p:cNvPr id="24" name="text-85">
            <a:extLst xmlns:a="http://schemas.openxmlformats.org/drawingml/2006/main">
              <a:ext uri="{FF2B5EF4-FFF2-40B4-BE49-F238E27FC236}">
                <a16:creationId xmlns:a16="http://schemas.microsoft.com/office/drawing/2014/main" id="{065EF7BF-92F0-484A-AF09-17CC93C62C40}"/>
              </a:ext>
            </a:extLst>
          </p:cNvPr>
          <p:cNvSpPr>
            <a:spLocks xmlns:a="http://schemas.openxmlformats.org/drawingml/2006/main" noGrp="1"/>
          </p:cNvSpPr>
          <p:nvPr/>
        </p:nvSpPr>
        <p:spPr>
          <a:xfrm xmlns:a="http://schemas.openxmlformats.org/drawingml/2006/main">
            <a:off x="9239250" y="20193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5D7487"/>
                </a:solidFill>
                <a:latin typeface="Aptos"/>
                <a:ea typeface="Aptos"/>
                <a:cs typeface="Aptos"/>
              </a:defRPr>
            </a:pPr>
            <a:r>
              <a:rPr sz="1125" b="1" i="0">
                <a:solidFill>
                  <a:srgbClr val="5D7487"/>
                </a:solidFill>
                <a:latin typeface="Aptos"/>
                <a:ea typeface="Aptos"/>
                <a:cs typeface="Aptos"/>
              </a:rPr>
              <a:t>PROPERTY INSPECTOR</a:t>
            </a:r>
          </a:p>
        </p:txBody>
      </p:sp>
      <p:sp>
        <p:nvSpPr>
          <p:cNvPr id="25" name="text-86">
            <a:extLst xmlns:a="http://schemas.openxmlformats.org/drawingml/2006/main">
              <a:ext uri="{FF2B5EF4-FFF2-40B4-BE49-F238E27FC236}">
                <a16:creationId xmlns:a16="http://schemas.microsoft.com/office/drawing/2014/main" id="{59DC5F62-87B7-4B80-92CC-E5B4BD3BC693}"/>
              </a:ext>
            </a:extLst>
          </p:cNvPr>
          <p:cNvSpPr>
            <a:spLocks xmlns:a="http://schemas.openxmlformats.org/drawingml/2006/main" noGrp="1"/>
          </p:cNvSpPr>
          <p:nvPr/>
        </p:nvSpPr>
        <p:spPr>
          <a:xfrm xmlns:a="http://schemas.openxmlformats.org/drawingml/2006/main">
            <a:off x="9239250" y="2457450"/>
            <a:ext cx="20383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22000"/>
              </a:lnSpc>
              <a:buNone/>
              <a:defRPr sz="1350" b="0" i="0">
                <a:solidFill>
                  <a:srgbClr val="17324A"/>
                </a:solidFill>
                <a:latin typeface="Aptos"/>
                <a:ea typeface="Aptos"/>
                <a:cs typeface="Aptos"/>
              </a:defRPr>
            </a:pPr>
            <a:r>
              <a:rPr sz="1350" b="0" i="0">
                <a:solidFill>
                  <a:srgbClr val="17324A"/>
                </a:solidFill>
                <a:latin typeface="Aptos"/>
                <a:ea typeface="Aptos"/>
                <a:cs typeface="Aptos"/>
              </a:rPr>
              <a:t>Block: Saturation</a:t>
            </a:r>
          </a:p>
          <a:p xmlns:a="http://schemas.openxmlformats.org/drawingml/2006/main">
            <a:pPr algn="l">
              <a:lnSpc>
                <a:spcPct val="122000"/>
              </a:lnSpc>
              <a:buNone/>
              <a:defRPr sz="1350" b="0" i="0">
                <a:solidFill>
                  <a:srgbClr val="17324A"/>
                </a:solidFill>
                <a:latin typeface="Aptos"/>
                <a:ea typeface="Aptos"/>
                <a:cs typeface="Aptos"/>
              </a:defRPr>
            </a:pPr>
            <a:r>
              <a:rPr sz="1350" b="0" i="0">
                <a:solidFill>
                  <a:srgbClr val="17324A"/>
                </a:solidFill>
                <a:latin typeface="Aptos"/>
                <a:ea typeface="Aptos"/>
                <a:cs typeface="Aptos"/>
              </a:rPr>
              <a:t>Upper limit: q_max</a:t>
            </a:r>
          </a:p>
          <a:p xmlns:a="http://schemas.openxmlformats.org/drawingml/2006/main">
            <a:pPr algn="l">
              <a:lnSpc>
                <a:spcPct val="122000"/>
              </a:lnSpc>
              <a:buNone/>
              <a:defRPr sz="1350" b="0" i="0">
                <a:solidFill>
                  <a:srgbClr val="17324A"/>
                </a:solidFill>
                <a:latin typeface="Aptos"/>
                <a:ea typeface="Aptos"/>
                <a:cs typeface="Aptos"/>
              </a:defRPr>
            </a:pPr>
            <a:r>
              <a:rPr sz="1350" b="0" i="0">
                <a:solidFill>
                  <a:srgbClr val="17324A"/>
                </a:solidFill>
                <a:latin typeface="Aptos"/>
                <a:ea typeface="Aptos"/>
                <a:cs typeface="Aptos"/>
              </a:rPr>
              <a:t>Lower limit: -q_max</a:t>
            </a:r>
          </a:p>
          <a:p xmlns:a="http://schemas.openxmlformats.org/drawingml/2006/main">
            <a:pPr algn="l">
              <a:lnSpc>
                <a:spcPct val="122000"/>
              </a:lnSpc>
              <a:buNone/>
              <a:defRPr sz="1350" b="0" i="0">
                <a:solidFill>
                  <a:srgbClr val="17324A"/>
                </a:solidFill>
                <a:latin typeface="Aptos"/>
                <a:ea typeface="Aptos"/>
                <a:cs typeface="Aptos"/>
              </a:defRPr>
            </a:pPr>
            <a:r>
              <a:rPr sz="1350" b="0" i="0">
                <a:solidFill>
                  <a:srgbClr val="17324A"/>
                </a:solidFill>
                <a:latin typeface="Aptos"/>
                <a:ea typeface="Aptos"/>
                <a:cs typeface="Aptos"/>
              </a:rPr>
              <a:t>Data type: Inherit</a:t>
            </a:r>
          </a:p>
          <a:p xmlns:a="http://schemas.openxmlformats.org/drawingml/2006/main">
            <a:pPr algn="l">
              <a:lnSpc>
                <a:spcPct val="122000"/>
              </a:lnSpc>
              <a:buNone/>
              <a:defRPr sz="1350" b="0" i="0">
                <a:solidFill>
                  <a:srgbClr val="17324A"/>
                </a:solidFill>
                <a:latin typeface="Aptos"/>
                <a:ea typeface="Aptos"/>
                <a:cs typeface="Aptos"/>
              </a:defRPr>
            </a:pPr>
            <a:r>
              <a:rPr sz="1350" b="0" i="0">
                <a:solidFill>
                  <a:srgbClr val="17324A"/>
                </a:solidFill>
                <a:latin typeface="Aptos"/>
                <a:ea typeface="Aptos"/>
                <a:cs typeface="Aptos"/>
              </a:rPr>
              <a:t>Sample time: -1</a:t>
            </a:r>
          </a:p>
        </p:txBody>
      </p:sp>
      <p:sp>
        <p:nvSpPr>
          <p:cNvPr id="26" name="box-87">
            <a:extLst xmlns:a="http://schemas.openxmlformats.org/drawingml/2006/main">
              <a:ext uri="{FF2B5EF4-FFF2-40B4-BE49-F238E27FC236}">
                <a16:creationId xmlns:a16="http://schemas.microsoft.com/office/drawing/2014/main" id="{1DB8571A-CE0D-4287-82CC-8E774188BCD4}"/>
              </a:ext>
            </a:extLst>
          </p:cNvPr>
          <p:cNvSpPr>
            <a:spLocks xmlns:a="http://schemas.openxmlformats.org/drawingml/2006/main" noGrp="1"/>
          </p:cNvSpPr>
          <p:nvPr/>
        </p:nvSpPr>
        <p:spPr>
          <a:xfrm xmlns:a="http://schemas.openxmlformats.org/drawingml/2006/main">
            <a:off x="685800" y="5391150"/>
            <a:ext cx="10820400" cy="571500"/>
          </a:xfrm>
          <a:prstGeom xmlns:a="http://schemas.openxmlformats.org/drawingml/2006/main" prst="roundRect">
            <a:avLst>
              <a:gd name="adj" fmla="val 0"/>
            </a:avLst>
          </a:prstGeom>
          <a:solidFill xmlns:a="http://schemas.openxmlformats.org/drawingml/2006/main">
            <a:srgbClr val="0B2438"/>
          </a:solidFill>
          <a:ln xmlns:a="http://schemas.openxmlformats.org/drawingml/2006/main" w="0">
            <a:solidFill>
              <a:srgbClr val="0B2438"/>
            </a:solidFill>
            <a:prstDash val="solid"/>
          </a:ln>
        </p:spPr>
      </p:sp>
      <p:sp>
        <p:nvSpPr>
          <p:cNvPr id="27" name="text-88">
            <a:extLst xmlns:a="http://schemas.openxmlformats.org/drawingml/2006/main">
              <a:ext uri="{FF2B5EF4-FFF2-40B4-BE49-F238E27FC236}">
                <a16:creationId xmlns:a16="http://schemas.microsoft.com/office/drawing/2014/main" id="{7AAA3179-9EF3-4094-93E2-718F89A9E607}"/>
              </a:ext>
            </a:extLst>
          </p:cNvPr>
          <p:cNvSpPr>
            <a:spLocks xmlns:a="http://schemas.openxmlformats.org/drawingml/2006/main" noGrp="1"/>
          </p:cNvSpPr>
          <p:nvPr/>
        </p:nvSpPr>
        <p:spPr>
          <a:xfrm xmlns:a="http://schemas.openxmlformats.org/drawingml/2006/main">
            <a:off x="876300" y="5543550"/>
            <a:ext cx="1028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275" b="0" i="0">
                <a:solidFill>
                  <a:srgbClr val="70DCE5"/>
                </a:solidFill>
                <a:latin typeface="Aptos"/>
                <a:ea typeface="Aptos"/>
                <a:cs typeface="Aptos"/>
              </a:defRPr>
            </a:pPr>
            <a:r>
              <a:rPr sz="1275" b="0" i="0">
                <a:solidFill>
                  <a:srgbClr val="70DCE5"/>
                </a:solidFill>
                <a:latin typeface="Aptos"/>
                <a:ea typeface="Aptos"/>
                <a:cs typeface="Aptos"/>
              </a:rPr>
              <a:t>DIAGNOSTICS  |  build, solver, dimensions, data types, sample times, referenced models</a:t>
            </a:r>
          </a:p>
        </p:txBody>
      </p:sp>
    </p:spTree>
    <p:extLst>
      <p:ext uri="{BB962C8B-B14F-4D97-AF65-F5344CB8AC3E}">
        <p14:creationId xmlns:p14="http://schemas.microsoft.com/office/powerpoint/2010/main" val="1080256114"/>
      </p:ext>
    </p:extLst>
  </p:cSld>
</p:sld>
</file>

<file path=ppt/slides/slide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88">
            <a:extLst xmlns:a="http://schemas.openxmlformats.org/drawingml/2006/main">
              <a:ext uri="{FF2B5EF4-FFF2-40B4-BE49-F238E27FC236}">
                <a16:creationId xmlns:a16="http://schemas.microsoft.com/office/drawing/2014/main" id="{225C722D-6857-44D1-9507-EC13A7ACF701}"/>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01 • INTRODUCTION TO SIMULINK</a:t>
            </a:r>
          </a:p>
        </p:txBody>
      </p:sp>
      <p:sp>
        <p:nvSpPr>
          <p:cNvPr id="2" name="title-88">
            <a:extLst xmlns:a="http://schemas.openxmlformats.org/drawingml/2006/main">
              <a:ext uri="{FF2B5EF4-FFF2-40B4-BE49-F238E27FC236}">
                <a16:creationId xmlns:a16="http://schemas.microsoft.com/office/drawing/2014/main" id="{405076BC-2578-49F7-88DE-7DE6CEC93901}"/>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A small grammar scales to aircraft functions</a:t>
            </a:r>
          </a:p>
        </p:txBody>
      </p:sp>
      <p:sp>
        <p:nvSpPr>
          <p:cNvPr id="3" name="line-89">
            <a:extLst xmlns:a="http://schemas.openxmlformats.org/drawingml/2006/main">
              <a:ext uri="{FF2B5EF4-FFF2-40B4-BE49-F238E27FC236}">
                <a16:creationId xmlns:a16="http://schemas.microsoft.com/office/drawing/2014/main" id="{AB242A66-666B-4914-A3E0-AA6EB1FD0404}"/>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90">
            <a:extLst xmlns:a="http://schemas.openxmlformats.org/drawingml/2006/main">
              <a:ext uri="{FF2B5EF4-FFF2-40B4-BE49-F238E27FC236}">
                <a16:creationId xmlns:a16="http://schemas.microsoft.com/office/drawing/2014/main" id="{2DB323C3-AC65-48C9-A505-A9286AAC8AC9}"/>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91">
            <a:extLst xmlns:a="http://schemas.openxmlformats.org/drawingml/2006/main">
              <a:ext uri="{FF2B5EF4-FFF2-40B4-BE49-F238E27FC236}">
                <a16:creationId xmlns:a16="http://schemas.microsoft.com/office/drawing/2014/main" id="{951E5C0B-B10B-48A6-91FE-0C8CCF969DC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07</a:t>
            </a:r>
          </a:p>
        </p:txBody>
      </p:sp>
      <p:sp>
        <p:nvSpPr>
          <p:cNvPr id="6" name="box-92">
            <a:extLst xmlns:a="http://schemas.openxmlformats.org/drawingml/2006/main">
              <a:ext uri="{FF2B5EF4-FFF2-40B4-BE49-F238E27FC236}">
                <a16:creationId xmlns:a16="http://schemas.microsoft.com/office/drawing/2014/main" id="{01F51C1C-91A0-464B-9A70-C02B2EE711EB}"/>
              </a:ext>
            </a:extLst>
          </p:cNvPr>
          <p:cNvSpPr>
            <a:spLocks xmlns:a="http://schemas.openxmlformats.org/drawingml/2006/main" noGrp="1"/>
          </p:cNvSpPr>
          <p:nvPr/>
        </p:nvSpPr>
        <p:spPr>
          <a:xfrm xmlns:a="http://schemas.openxmlformats.org/drawingml/2006/main">
            <a:off x="838200" y="1619250"/>
            <a:ext cx="4286250" cy="552450"/>
          </a:xfrm>
          <a:prstGeom xmlns:a="http://schemas.openxmlformats.org/drawingml/2006/main" prst="roundRect">
            <a:avLst>
              <a:gd name="adj" fmla="val 17241"/>
            </a:avLst>
          </a:prstGeom>
          <a:solidFill xmlns:a="http://schemas.openxmlformats.org/drawingml/2006/main">
            <a:srgbClr val="FFFFFF"/>
          </a:solidFill>
          <a:ln xmlns:a="http://schemas.openxmlformats.org/drawingml/2006/main" w="19050">
            <a:solidFill>
              <a:srgbClr val="2D6CDF"/>
            </a:solidFill>
            <a:prstDash val="solid"/>
          </a:ln>
        </p:spPr>
        <p:txBody>
          <a:bodyPr xmlns:a="http://schemas.openxmlformats.org/drawingml/2006/main" lIns="152400" tIns="47625" rIns="95250" bIns="47625" anchor="ctr">
            <a:noAutofit/>
          </a:bodyPr>
          <a:lstStyle xmlns:a="http://schemas.openxmlformats.org/drawingml/2006/main"/>
          <a:p xmlns:a="http://schemas.openxmlformats.org/drawingml/2006/main">
            <a:pPr algn="l">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LIBRARY  —  approved reusable content</a:t>
            </a:r>
          </a:p>
        </p:txBody>
      </p:sp>
      <p:sp>
        <p:nvSpPr>
          <p:cNvPr id="7" name="box-93">
            <a:extLst xmlns:a="http://schemas.openxmlformats.org/drawingml/2006/main">
              <a:ext uri="{FF2B5EF4-FFF2-40B4-BE49-F238E27FC236}">
                <a16:creationId xmlns:a16="http://schemas.microsoft.com/office/drawing/2014/main" id="{AEBA9B20-EF8D-4BBA-8A99-1B964DF93E07}"/>
              </a:ext>
            </a:extLst>
          </p:cNvPr>
          <p:cNvSpPr>
            <a:spLocks xmlns:a="http://schemas.openxmlformats.org/drawingml/2006/main" noGrp="1"/>
          </p:cNvSpPr>
          <p:nvPr/>
        </p:nvSpPr>
        <p:spPr>
          <a:xfrm xmlns:a="http://schemas.openxmlformats.org/drawingml/2006/main">
            <a:off x="1052513" y="2362200"/>
            <a:ext cx="3857625" cy="552450"/>
          </a:xfrm>
          <a:prstGeom xmlns:a="http://schemas.openxmlformats.org/drawingml/2006/main" prst="roundRect">
            <a:avLst>
              <a:gd name="adj" fmla="val 17241"/>
            </a:avLst>
          </a:prstGeom>
          <a:solidFill xmlns:a="http://schemas.openxmlformats.org/drawingml/2006/main">
            <a:srgbClr val="FFFFFF"/>
          </a:solidFill>
          <a:ln xmlns:a="http://schemas.openxmlformats.org/drawingml/2006/main" w="19050">
            <a:solidFill>
              <a:srgbClr val="20B7C5"/>
            </a:solidFill>
            <a:prstDash val="solid"/>
          </a:ln>
        </p:spPr>
        <p:txBody>
          <a:bodyPr xmlns:a="http://schemas.openxmlformats.org/drawingml/2006/main" lIns="152400" tIns="47625" rIns="95250" bIns="47625" anchor="ctr">
            <a:noAutofit/>
          </a:bodyPr>
          <a:lstStyle xmlns:a="http://schemas.openxmlformats.org/drawingml/2006/main"/>
          <a:p xmlns:a="http://schemas.openxmlformats.org/drawingml/2006/main">
            <a:pPr algn="l">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BLOCK  —  one operation or dynamic element</a:t>
            </a:r>
          </a:p>
        </p:txBody>
      </p:sp>
      <p:sp>
        <p:nvSpPr>
          <p:cNvPr id="8" name="box-94">
            <a:extLst xmlns:a="http://schemas.openxmlformats.org/drawingml/2006/main">
              <a:ext uri="{FF2B5EF4-FFF2-40B4-BE49-F238E27FC236}">
                <a16:creationId xmlns:a16="http://schemas.microsoft.com/office/drawing/2014/main" id="{5A5E275E-180B-407C-A36A-62C926DCA653}"/>
              </a:ext>
            </a:extLst>
          </p:cNvPr>
          <p:cNvSpPr>
            <a:spLocks xmlns:a="http://schemas.openxmlformats.org/drawingml/2006/main" noGrp="1"/>
          </p:cNvSpPr>
          <p:nvPr/>
        </p:nvSpPr>
        <p:spPr>
          <a:xfrm xmlns:a="http://schemas.openxmlformats.org/drawingml/2006/main">
            <a:off x="1266825" y="3105150"/>
            <a:ext cx="3429000" cy="552450"/>
          </a:xfrm>
          <a:prstGeom xmlns:a="http://schemas.openxmlformats.org/drawingml/2006/main" prst="roundRect">
            <a:avLst>
              <a:gd name="adj" fmla="val 17241"/>
            </a:avLst>
          </a:prstGeom>
          <a:solidFill xmlns:a="http://schemas.openxmlformats.org/drawingml/2006/main">
            <a:srgbClr val="FFFFFF"/>
          </a:solidFill>
          <a:ln xmlns:a="http://schemas.openxmlformats.org/drawingml/2006/main" w="19050">
            <a:solidFill>
              <a:srgbClr val="2CA56F"/>
            </a:solidFill>
            <a:prstDash val="solid"/>
          </a:ln>
        </p:spPr>
        <p:txBody>
          <a:bodyPr xmlns:a="http://schemas.openxmlformats.org/drawingml/2006/main" lIns="152400" tIns="47625" rIns="95250" bIns="47625" anchor="ctr">
            <a:noAutofit/>
          </a:bodyPr>
          <a:lstStyle xmlns:a="http://schemas.openxmlformats.org/drawingml/2006/main"/>
          <a:p xmlns:a="http://schemas.openxmlformats.org/drawingml/2006/main">
            <a:pPr algn="l">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SIGNAL  —  typed value carried over time</a:t>
            </a:r>
          </a:p>
        </p:txBody>
      </p:sp>
      <p:sp>
        <p:nvSpPr>
          <p:cNvPr id="9" name="box-95">
            <a:extLst xmlns:a="http://schemas.openxmlformats.org/drawingml/2006/main">
              <a:ext uri="{FF2B5EF4-FFF2-40B4-BE49-F238E27FC236}">
                <a16:creationId xmlns:a16="http://schemas.microsoft.com/office/drawing/2014/main" id="{77601B90-7312-41E5-B65E-4CAAEBEC13C4}"/>
              </a:ext>
            </a:extLst>
          </p:cNvPr>
          <p:cNvSpPr>
            <a:spLocks xmlns:a="http://schemas.openxmlformats.org/drawingml/2006/main" noGrp="1"/>
          </p:cNvSpPr>
          <p:nvPr/>
        </p:nvSpPr>
        <p:spPr>
          <a:xfrm xmlns:a="http://schemas.openxmlformats.org/drawingml/2006/main">
            <a:off x="1481138" y="3848100"/>
            <a:ext cx="3000375" cy="552450"/>
          </a:xfrm>
          <a:prstGeom xmlns:a="http://schemas.openxmlformats.org/drawingml/2006/main" prst="roundRect">
            <a:avLst>
              <a:gd name="adj" fmla="val 17241"/>
            </a:avLst>
          </a:prstGeom>
          <a:solidFill xmlns:a="http://schemas.openxmlformats.org/drawingml/2006/main">
            <a:srgbClr val="FFFFFF"/>
          </a:solidFill>
          <a:ln xmlns:a="http://schemas.openxmlformats.org/drawingml/2006/main" w="19050">
            <a:solidFill>
              <a:srgbClr val="E9A23B"/>
            </a:solidFill>
            <a:prstDash val="solid"/>
          </a:ln>
        </p:spPr>
        <p:txBody>
          <a:bodyPr xmlns:a="http://schemas.openxmlformats.org/drawingml/2006/main" lIns="152400" tIns="47625" rIns="95250" bIns="47625" anchor="ctr">
            <a:noAutofit/>
          </a:bodyPr>
          <a:lstStyle xmlns:a="http://schemas.openxmlformats.org/drawingml/2006/main"/>
          <a:p xmlns:a="http://schemas.openxmlformats.org/drawingml/2006/main">
            <a:pPr algn="l">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SUBSYSTEM  —  encapsulated behavior and interface</a:t>
            </a:r>
          </a:p>
        </p:txBody>
      </p:sp>
      <p:sp>
        <p:nvSpPr>
          <p:cNvPr id="10" name="text-96">
            <a:extLst xmlns:a="http://schemas.openxmlformats.org/drawingml/2006/main">
              <a:ext uri="{FF2B5EF4-FFF2-40B4-BE49-F238E27FC236}">
                <a16:creationId xmlns:a16="http://schemas.microsoft.com/office/drawing/2014/main" id="{D570CA19-13FC-4992-A535-5E7EC7C22DE8}"/>
              </a:ext>
            </a:extLst>
          </p:cNvPr>
          <p:cNvSpPr>
            <a:spLocks xmlns:a="http://schemas.openxmlformats.org/drawingml/2006/main" noGrp="1"/>
          </p:cNvSpPr>
          <p:nvPr/>
        </p:nvSpPr>
        <p:spPr>
          <a:xfrm xmlns:a="http://schemas.openxmlformats.org/drawingml/2006/main">
            <a:off x="838200" y="47625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125" b="1" i="0">
                <a:solidFill>
                  <a:srgbClr val="5D7487"/>
                </a:solidFill>
                <a:latin typeface="Aptos"/>
                <a:ea typeface="Aptos"/>
                <a:cs typeface="Aptos"/>
              </a:defRPr>
            </a:pPr>
            <a:r>
              <a:rPr sz="1125" b="1" i="0">
                <a:solidFill>
                  <a:srgbClr val="5D7487"/>
                </a:solidFill>
                <a:latin typeface="Aptos"/>
                <a:ea typeface="Aptos"/>
                <a:cs typeface="Aptos"/>
              </a:rPr>
              <a:t>STRUCTURE</a:t>
            </a:r>
          </a:p>
        </p:txBody>
      </p:sp>
      <p:sp>
        <p:nvSpPr>
          <p:cNvPr id="11" name="text-97">
            <a:extLst xmlns:a="http://schemas.openxmlformats.org/drawingml/2006/main">
              <a:ext uri="{FF2B5EF4-FFF2-40B4-BE49-F238E27FC236}">
                <a16:creationId xmlns:a16="http://schemas.microsoft.com/office/drawing/2014/main" id="{BB11F39E-8C70-438C-8AC6-4656AB260F44}"/>
              </a:ext>
            </a:extLst>
          </p:cNvPr>
          <p:cNvSpPr>
            <a:spLocks xmlns:a="http://schemas.openxmlformats.org/drawingml/2006/main" noGrp="1"/>
          </p:cNvSpPr>
          <p:nvPr/>
        </p:nvSpPr>
        <p:spPr>
          <a:xfrm xmlns:a="http://schemas.openxmlformats.org/drawingml/2006/main">
            <a:off x="6096000" y="161925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2250" b="1" i="0">
                <a:solidFill>
                  <a:srgbClr val="0B1F33"/>
                </a:solidFill>
                <a:latin typeface="Aptos"/>
                <a:ea typeface="Aptos"/>
                <a:cs typeface="Aptos"/>
              </a:defRPr>
            </a:pPr>
            <a:r>
              <a:rPr sz="2250" b="1" i="0">
                <a:solidFill>
                  <a:srgbClr val="0B1F33"/>
                </a:solidFill>
                <a:latin typeface="Aptos"/>
                <a:ea typeface="Aptos"/>
                <a:cs typeface="Aptos"/>
              </a:rPr>
              <a:t>Buses and dictionaries keep interfaces explicit</a:t>
            </a:r>
          </a:p>
        </p:txBody>
      </p:sp>
      <p:sp>
        <p:nvSpPr>
          <p:cNvPr id="12" name="box-98">
            <a:extLst xmlns:a="http://schemas.openxmlformats.org/drawingml/2006/main">
              <a:ext uri="{FF2B5EF4-FFF2-40B4-BE49-F238E27FC236}">
                <a16:creationId xmlns:a16="http://schemas.microsoft.com/office/drawing/2014/main" id="{75024C31-D51B-4126-B0CE-805C7B1B4680}"/>
              </a:ext>
            </a:extLst>
          </p:cNvPr>
          <p:cNvSpPr>
            <a:spLocks xmlns:a="http://schemas.openxmlformats.org/drawingml/2006/main" noGrp="1"/>
          </p:cNvSpPr>
          <p:nvPr/>
        </p:nvSpPr>
        <p:spPr>
          <a:xfrm xmlns:a="http://schemas.openxmlformats.org/drawingml/2006/main">
            <a:off x="6191250" y="2457450"/>
            <a:ext cx="1333500" cy="62865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0B1F33"/>
                </a:solidFill>
                <a:latin typeface="Aptos"/>
                <a:ea typeface="Aptos"/>
                <a:cs typeface="Aptos"/>
              </a:defRPr>
            </a:pPr>
            <a:r>
              <a:rPr sz="1500" b="1">
                <a:solidFill>
                  <a:srgbClr val="0B1F33"/>
                </a:solidFill>
                <a:latin typeface="Aptos"/>
                <a:ea typeface="Aptos"/>
                <a:cs typeface="Aptos"/>
              </a:rPr>
              <a:t>SensorBus</a:t>
            </a:r>
          </a:p>
        </p:txBody>
      </p:sp>
      <p:sp>
        <p:nvSpPr>
          <p:cNvPr id="13" name="box-99">
            <a:extLst xmlns:a="http://schemas.openxmlformats.org/drawingml/2006/main">
              <a:ext uri="{FF2B5EF4-FFF2-40B4-BE49-F238E27FC236}">
                <a16:creationId xmlns:a16="http://schemas.microsoft.com/office/drawing/2014/main" id="{BA0DE612-8F3A-47C7-9BE5-F5800058330F}"/>
              </a:ext>
            </a:extLst>
          </p:cNvPr>
          <p:cNvSpPr>
            <a:spLocks xmlns:a="http://schemas.openxmlformats.org/drawingml/2006/main" noGrp="1"/>
          </p:cNvSpPr>
          <p:nvPr/>
        </p:nvSpPr>
        <p:spPr>
          <a:xfrm xmlns:a="http://schemas.openxmlformats.org/drawingml/2006/main">
            <a:off x="8429625" y="2305050"/>
            <a:ext cx="1809750" cy="933450"/>
          </a:xfrm>
          <a:prstGeom xmlns:a="http://schemas.openxmlformats.org/drawingml/2006/main" prst="roundRect">
            <a:avLst>
              <a:gd name="adj" fmla="val 6122"/>
            </a:avLst>
          </a:prstGeom>
          <a:solidFill xmlns:a="http://schemas.openxmlformats.org/drawingml/2006/main">
            <a:srgbClr val="FFFF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0B1F33"/>
                </a:solidFill>
                <a:latin typeface="Aptos"/>
                <a:ea typeface="Aptos"/>
                <a:cs typeface="Aptos"/>
              </a:defRPr>
            </a:pPr>
            <a:r>
              <a:rPr sz="1500" b="1">
                <a:solidFill>
                  <a:srgbClr val="0B1F33"/>
                </a:solidFill>
                <a:latin typeface="Aptos"/>
                <a:ea typeface="Aptos"/>
                <a:cs typeface="Aptos"/>
              </a:rPr>
              <a:t>FlightControl</a:t>
            </a:r>
          </a:p>
          <a:p xmlns:a="http://schemas.openxmlformats.org/drawingml/2006/main">
            <a:pPr algn="ctr">
              <a:lnSpc>
                <a:spcPct val="100000"/>
              </a:lnSpc>
              <a:buNone/>
              <a:defRPr sz="1500" b="1">
                <a:solidFill>
                  <a:srgbClr val="0B1F33"/>
                </a:solidFill>
                <a:latin typeface="Aptos"/>
                <a:ea typeface="Aptos"/>
                <a:cs typeface="Aptos"/>
              </a:defRPr>
            </a:pPr>
            <a:r>
              <a:rPr sz="1500" b="1">
                <a:solidFill>
                  <a:srgbClr val="0B1F33"/>
                </a:solidFill>
                <a:latin typeface="Aptos"/>
                <a:ea typeface="Aptos"/>
                <a:cs typeface="Aptos"/>
              </a:rPr>
              <a:t>Subsystem</a:t>
            </a:r>
          </a:p>
        </p:txBody>
      </p:sp>
      <p:cxnSp>
        <p:nvCxnSpPr>
          <p:cNvPr id="32" name=""/>
          <p:cNvCxnSpPr>
            <a:stCxn xmlns:a="http://schemas.openxmlformats.org/drawingml/2006/main" id="12" idx="3"/>
            <a:endCxn xmlns:a="http://schemas.openxmlformats.org/drawingml/2006/main" id="13" idx="1"/>
          </p:cNvCxnSpPr>
          <p:nvPr/>
        </p:nvCxnSpPr>
        <p:spPr>
          <a:xfrm xmlns:a="http://schemas.openxmlformats.org/drawingml/2006/main">
            <a:off x="7524750" y="2771775"/>
            <a:ext cx="904875" cy="0"/>
          </a:xfrm>
          <a:prstGeom xmlns:a="http://schemas.openxmlformats.org/drawingml/2006/main" prst="straightConnector1">
            <a:avLst/>
          </a:prstGeom>
          <a:ln xmlns:a="http://schemas.openxmlformats.org/drawingml/2006/main" w="57150">
            <a:solidFill>
              <a:srgbClr val="20B7C5"/>
            </a:solidFill>
            <a:prstDash val="solid"/>
            <a:tailEnd type="triangle" w="sm" len="sm"/>
          </a:ln>
        </p:spPr>
      </p:cxnSp>
      <p:sp>
        <p:nvSpPr>
          <p:cNvPr id="15" name="text-100">
            <a:extLst xmlns:a="http://schemas.openxmlformats.org/drawingml/2006/main">
              <a:ext uri="{FF2B5EF4-FFF2-40B4-BE49-F238E27FC236}">
                <a16:creationId xmlns:a16="http://schemas.microsoft.com/office/drawing/2014/main" id="{1B450B67-8ABB-4690-ABDF-44D94059B736}"/>
              </a:ext>
            </a:extLst>
          </p:cNvPr>
          <p:cNvSpPr>
            <a:spLocks xmlns:a="http://schemas.openxmlformats.org/drawingml/2006/main" noGrp="1"/>
          </p:cNvSpPr>
          <p:nvPr/>
        </p:nvSpPr>
        <p:spPr>
          <a:xfrm xmlns:a="http://schemas.openxmlformats.org/drawingml/2006/main">
            <a:off x="6438900" y="3257550"/>
            <a:ext cx="10477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350" b="0" i="0">
                <a:solidFill>
                  <a:srgbClr val="5D7487"/>
                </a:solidFill>
                <a:latin typeface="Aptos"/>
                <a:ea typeface="Aptos"/>
                <a:cs typeface="Aptos"/>
              </a:defRPr>
            </a:pPr>
            <a:r>
              <a:rPr sz="1350" b="0" i="0">
                <a:solidFill>
                  <a:srgbClr val="5D7487"/>
                </a:solidFill>
                <a:latin typeface="Aptos"/>
                <a:ea typeface="Aptos"/>
                <a:cs typeface="Aptos"/>
              </a:rPr>
              <a:t>q_rate</a:t>
            </a:r>
          </a:p>
          <a:p xmlns:a="http://schemas.openxmlformats.org/drawingml/2006/main">
            <a:pPr algn="ctr">
              <a:lnSpc>
                <a:spcPct val="105000"/>
              </a:lnSpc>
              <a:buNone/>
              <a:defRPr sz="1350" b="0" i="0">
                <a:solidFill>
                  <a:srgbClr val="5D7487"/>
                </a:solidFill>
                <a:latin typeface="Aptos"/>
                <a:ea typeface="Aptos"/>
                <a:cs typeface="Aptos"/>
              </a:defRPr>
            </a:pPr>
            <a:r>
              <a:rPr sz="1350" b="0" i="0">
                <a:solidFill>
                  <a:srgbClr val="5D7487"/>
                </a:solidFill>
                <a:latin typeface="Aptos"/>
                <a:ea typeface="Aptos"/>
                <a:cs typeface="Aptos"/>
              </a:rPr>
              <a:t>alpha</a:t>
            </a:r>
          </a:p>
          <a:p xmlns:a="http://schemas.openxmlformats.org/drawingml/2006/main">
            <a:pPr algn="ctr">
              <a:lnSpc>
                <a:spcPct val="105000"/>
              </a:lnSpc>
              <a:buNone/>
              <a:defRPr sz="1350" b="0" i="0">
                <a:solidFill>
                  <a:srgbClr val="5D7487"/>
                </a:solidFill>
                <a:latin typeface="Aptos"/>
                <a:ea typeface="Aptos"/>
                <a:cs typeface="Aptos"/>
              </a:defRPr>
            </a:pPr>
            <a:r>
              <a:rPr sz="1350" b="0" i="0">
                <a:solidFill>
                  <a:srgbClr val="5D7487"/>
                </a:solidFill>
                <a:latin typeface="Aptos"/>
                <a:ea typeface="Aptos"/>
                <a:cs typeface="Aptos"/>
              </a:rPr>
              <a:t>Mach</a:t>
            </a:r>
          </a:p>
          <a:p xmlns:a="http://schemas.openxmlformats.org/drawingml/2006/main">
            <a:pPr algn="ctr">
              <a:lnSpc>
                <a:spcPct val="105000"/>
              </a:lnSpc>
              <a:buNone/>
              <a:defRPr sz="1350" b="0" i="0">
                <a:solidFill>
                  <a:srgbClr val="5D7487"/>
                </a:solidFill>
                <a:latin typeface="Aptos"/>
                <a:ea typeface="Aptos"/>
                <a:cs typeface="Aptos"/>
              </a:defRPr>
            </a:pPr>
            <a:r>
              <a:rPr sz="1350" b="0" i="0">
                <a:solidFill>
                  <a:srgbClr val="5D7487"/>
                </a:solidFill>
                <a:latin typeface="Aptos"/>
                <a:ea typeface="Aptos"/>
                <a:cs typeface="Aptos"/>
              </a:rPr>
              <a:t>validity</a:t>
            </a:r>
          </a:p>
        </p:txBody>
      </p:sp>
      <p:sp>
        <p:nvSpPr>
          <p:cNvPr id="16" name="box-101">
            <a:extLst xmlns:a="http://schemas.openxmlformats.org/drawingml/2006/main">
              <a:ext uri="{FF2B5EF4-FFF2-40B4-BE49-F238E27FC236}">
                <a16:creationId xmlns:a16="http://schemas.microsoft.com/office/drawing/2014/main" id="{CD945CA6-9615-40DF-9F95-105818794253}"/>
              </a:ext>
            </a:extLst>
          </p:cNvPr>
          <p:cNvSpPr>
            <a:spLocks xmlns:a="http://schemas.openxmlformats.org/drawingml/2006/main" noGrp="1"/>
          </p:cNvSpPr>
          <p:nvPr/>
        </p:nvSpPr>
        <p:spPr>
          <a:xfrm xmlns:a="http://schemas.openxmlformats.org/drawingml/2006/main">
            <a:off x="6743700" y="4495800"/>
            <a:ext cx="4095750" cy="781050"/>
          </a:xfrm>
          <a:prstGeom xmlns:a="http://schemas.openxmlformats.org/drawingml/2006/main" prst="roundRect">
            <a:avLst>
              <a:gd name="adj" fmla="val 12195"/>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FCS_Data.sldd</a:t>
            </a:r>
          </a:p>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Bus types • parameters • units</a:t>
            </a:r>
          </a:p>
        </p:txBody>
      </p:sp>
      <p:cxnSp>
        <p:nvCxnSpPr>
          <p:cNvPr id="35" name=""/>
          <p:cNvCxnSpPr>
            <a:stCxn xmlns:a="http://schemas.openxmlformats.org/drawingml/2006/main" id="16" idx="0"/>
            <a:endCxn xmlns:a="http://schemas.openxmlformats.org/drawingml/2006/main" id="13" idx="2"/>
          </p:cNvCxnSpPr>
          <p:nvPr/>
        </p:nvCxnSpPr>
        <p:spPr>
          <a:xfrm xmlns:a="http://schemas.openxmlformats.org/drawingml/2006/main" flipV="1">
            <a:off x="8791575" y="3238500"/>
            <a:ext cx="542925" cy="1257300"/>
          </a:xfrm>
          <a:prstGeom xmlns:a="http://schemas.openxmlformats.org/drawingml/2006/main" prst="bentConnector4">
            <a:avLst>
              <a:gd name="adj1" fmla="val 0"/>
              <a:gd name="adj2" fmla="val 50000"/>
            </a:avLst>
          </a:prstGeom>
          <a:ln xmlns:a="http://schemas.openxmlformats.org/drawingml/2006/main" w="28575">
            <a:solidFill>
              <a:srgbClr val="E9A23B"/>
            </a:solidFill>
            <a:prstDash val="solid"/>
            <a:tailEnd type="triangle" w="sm" len="sm"/>
          </a:ln>
        </p:spPr>
      </p:cxnSp>
      <p:sp>
        <p:nvSpPr>
          <p:cNvPr id="18" name="text-102">
            <a:extLst xmlns:a="http://schemas.openxmlformats.org/drawingml/2006/main">
              <a:ext uri="{FF2B5EF4-FFF2-40B4-BE49-F238E27FC236}">
                <a16:creationId xmlns:a16="http://schemas.microsoft.com/office/drawing/2014/main" id="{993839E6-661A-4571-99F2-03634F557541}"/>
              </a:ext>
            </a:extLst>
          </p:cNvPr>
          <p:cNvSpPr>
            <a:spLocks xmlns:a="http://schemas.openxmlformats.org/drawingml/2006/main" noGrp="1"/>
          </p:cNvSpPr>
          <p:nvPr/>
        </p:nvSpPr>
        <p:spPr>
          <a:xfrm xmlns:a="http://schemas.openxmlformats.org/drawingml/2006/main">
            <a:off x="5943600" y="5572125"/>
            <a:ext cx="542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350" b="1" i="0">
                <a:solidFill>
                  <a:srgbClr val="20B7C5"/>
                </a:solidFill>
                <a:latin typeface="Aptos"/>
                <a:ea typeface="Aptos"/>
                <a:cs typeface="Aptos"/>
              </a:defRPr>
            </a:pPr>
            <a:r>
              <a:rPr sz="1350" b="1" i="0">
                <a:solidFill>
                  <a:srgbClr val="20B7C5"/>
                </a:solidFill>
                <a:latin typeface="Aptos"/>
                <a:ea typeface="Aptos"/>
                <a:cs typeface="Aptos"/>
              </a:rPr>
              <a:t>BUS = interface contract     DICTIONARY = controlled design data</a:t>
            </a:r>
          </a:p>
        </p:txBody>
      </p:sp>
    </p:spTree>
    <p:extLst>
      <p:ext uri="{BB962C8B-B14F-4D97-AF65-F5344CB8AC3E}">
        <p14:creationId xmlns:p14="http://schemas.microsoft.com/office/powerpoint/2010/main" val="28635293"/>
      </p:ext>
    </p:extLst>
  </p:cSld>
</p:sld>
</file>

<file path=ppt/slides/slide8.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1" name="section-102">
            <a:extLst xmlns:a="http://schemas.openxmlformats.org/drawingml/2006/main">
              <a:ext uri="{FF2B5EF4-FFF2-40B4-BE49-F238E27FC236}">
                <a16:creationId xmlns:a16="http://schemas.microsoft.com/office/drawing/2014/main" id="{EFD8CC6F-3DF0-4054-A86C-5A9C68F37536}"/>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01 • INTRODUCTION TO SIMULINK</a:t>
            </a:r>
          </a:p>
        </p:txBody>
      </p:sp>
      <p:sp>
        <p:nvSpPr>
          <p:cNvPr id="2" name="title-102">
            <a:extLst xmlns:a="http://schemas.openxmlformats.org/drawingml/2006/main">
              <a:ext uri="{FF2B5EF4-FFF2-40B4-BE49-F238E27FC236}">
                <a16:creationId xmlns:a16="http://schemas.microsoft.com/office/drawing/2014/main" id="{F06E638B-68B4-44E3-885A-1118016B3F48}"/>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Flight-control models begin with a closed loop</a:t>
            </a:r>
          </a:p>
        </p:txBody>
      </p:sp>
      <p:sp>
        <p:nvSpPr>
          <p:cNvPr id="3" name="line-103">
            <a:extLst xmlns:a="http://schemas.openxmlformats.org/drawingml/2006/main">
              <a:ext uri="{FF2B5EF4-FFF2-40B4-BE49-F238E27FC236}">
                <a16:creationId xmlns:a16="http://schemas.microsoft.com/office/drawing/2014/main" id="{42873680-4CA7-4843-B290-41043BA4C390}"/>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04">
            <a:extLst xmlns:a="http://schemas.openxmlformats.org/drawingml/2006/main">
              <a:ext uri="{FF2B5EF4-FFF2-40B4-BE49-F238E27FC236}">
                <a16:creationId xmlns:a16="http://schemas.microsoft.com/office/drawing/2014/main" id="{3CCE68AE-7D4E-4462-B128-EFBB6AD5ADF4}"/>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105">
            <a:extLst xmlns:a="http://schemas.openxmlformats.org/drawingml/2006/main">
              <a:ext uri="{FF2B5EF4-FFF2-40B4-BE49-F238E27FC236}">
                <a16:creationId xmlns:a16="http://schemas.microsoft.com/office/drawing/2014/main" id="{1E52342A-96A5-4F2A-AAFD-5B5819ECAF9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08</a:t>
            </a:r>
          </a:p>
        </p:txBody>
      </p:sp>
      <p:sp>
        <p:nvSpPr>
          <p:cNvPr id="6" name="box-106">
            <a:extLst xmlns:a="http://schemas.openxmlformats.org/drawingml/2006/main">
              <a:ext uri="{FF2B5EF4-FFF2-40B4-BE49-F238E27FC236}">
                <a16:creationId xmlns:a16="http://schemas.microsoft.com/office/drawing/2014/main" id="{8B8221A8-1E99-4B8C-9A9B-9B494442BD2F}"/>
              </a:ext>
            </a:extLst>
          </p:cNvPr>
          <p:cNvSpPr>
            <a:spLocks xmlns:a="http://schemas.openxmlformats.org/drawingml/2006/main" noGrp="1"/>
          </p:cNvSpPr>
          <p:nvPr/>
        </p:nvSpPr>
        <p:spPr>
          <a:xfrm xmlns:a="http://schemas.openxmlformats.org/drawingml/2006/main">
            <a:off x="800100" y="2628900"/>
            <a:ext cx="1905000" cy="857250"/>
          </a:xfrm>
          <a:prstGeom xmlns:a="http://schemas.openxmlformats.org/drawingml/2006/main" prst="roundRect">
            <a:avLst>
              <a:gd name="adj" fmla="val 11111"/>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Pilot /</a:t>
            </a:r>
          </a:p>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Guidance Command</a:t>
            </a:r>
          </a:p>
        </p:txBody>
      </p:sp>
      <p:sp>
        <p:nvSpPr>
          <p:cNvPr id="7" name="box-107">
            <a:extLst xmlns:a="http://schemas.openxmlformats.org/drawingml/2006/main">
              <a:ext uri="{FF2B5EF4-FFF2-40B4-BE49-F238E27FC236}">
                <a16:creationId xmlns:a16="http://schemas.microsoft.com/office/drawing/2014/main" id="{E21B3A9C-DDD2-49C9-AB09-65FE4F211A17}"/>
              </a:ext>
            </a:extLst>
          </p:cNvPr>
          <p:cNvSpPr>
            <a:spLocks xmlns:a="http://schemas.openxmlformats.org/drawingml/2006/main" noGrp="1"/>
          </p:cNvSpPr>
          <p:nvPr/>
        </p:nvSpPr>
        <p:spPr>
          <a:xfrm xmlns:a="http://schemas.openxmlformats.org/drawingml/2006/main">
            <a:off x="3619500" y="2628900"/>
            <a:ext cx="1714500" cy="857250"/>
          </a:xfrm>
          <a:prstGeom xmlns:a="http://schemas.openxmlformats.org/drawingml/2006/main" prst="roundRect">
            <a:avLst>
              <a:gd name="adj" fmla="val 11111"/>
            </a:avLst>
          </a:prstGeom>
          <a:solidFill xmlns:a="http://schemas.openxmlformats.org/drawingml/2006/main">
            <a:srgbClr val="20B7C5"/>
          </a:solidFill>
          <a:ln xmlns:a="http://schemas.openxmlformats.org/drawingml/2006/main" w="19050">
            <a:solidFill>
              <a:srgbClr val="70DCE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800" b="1">
                <a:solidFill>
                  <a:srgbClr val="071521"/>
                </a:solidFill>
                <a:latin typeface="Aptos"/>
                <a:ea typeface="Aptos"/>
                <a:cs typeface="Aptos"/>
              </a:defRPr>
            </a:pPr>
            <a:r>
              <a:rPr sz="1800" b="1">
                <a:solidFill>
                  <a:srgbClr val="071521"/>
                </a:solidFill>
                <a:latin typeface="Aptos"/>
                <a:ea typeface="Aptos"/>
                <a:cs typeface="Aptos"/>
              </a:rPr>
              <a:t>Controller</a:t>
            </a:r>
          </a:p>
        </p:txBody>
      </p:sp>
      <p:sp>
        <p:nvSpPr>
          <p:cNvPr id="8" name="box-108">
            <a:extLst xmlns:a="http://schemas.openxmlformats.org/drawingml/2006/main">
              <a:ext uri="{FF2B5EF4-FFF2-40B4-BE49-F238E27FC236}">
                <a16:creationId xmlns:a16="http://schemas.microsoft.com/office/drawing/2014/main" id="{FFB72F20-4A2F-4F89-B8E3-1B72AF5D81D5}"/>
              </a:ext>
            </a:extLst>
          </p:cNvPr>
          <p:cNvSpPr>
            <a:spLocks xmlns:a="http://schemas.openxmlformats.org/drawingml/2006/main" noGrp="1"/>
          </p:cNvSpPr>
          <p:nvPr/>
        </p:nvSpPr>
        <p:spPr>
          <a:xfrm xmlns:a="http://schemas.openxmlformats.org/drawingml/2006/main">
            <a:off x="6286500" y="2476500"/>
            <a:ext cx="2381250" cy="1162050"/>
          </a:xfrm>
          <a:prstGeom xmlns:a="http://schemas.openxmlformats.org/drawingml/2006/main" prst="roundRect">
            <a:avLst>
              <a:gd name="adj" fmla="val 8197"/>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Actuator +</a:t>
            </a:r>
          </a:p>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Aircraft Dynamics</a:t>
            </a:r>
          </a:p>
        </p:txBody>
      </p:sp>
      <p:sp>
        <p:nvSpPr>
          <p:cNvPr id="9" name="box-109">
            <a:extLst xmlns:a="http://schemas.openxmlformats.org/drawingml/2006/main">
              <a:ext uri="{FF2B5EF4-FFF2-40B4-BE49-F238E27FC236}">
                <a16:creationId xmlns:a16="http://schemas.microsoft.com/office/drawing/2014/main" id="{FF803E63-CA0D-468A-9107-61FF79FC7D4A}"/>
              </a:ext>
            </a:extLst>
          </p:cNvPr>
          <p:cNvSpPr>
            <a:spLocks xmlns:a="http://schemas.openxmlformats.org/drawingml/2006/main" noGrp="1"/>
          </p:cNvSpPr>
          <p:nvPr/>
        </p:nvSpPr>
        <p:spPr>
          <a:xfrm xmlns:a="http://schemas.openxmlformats.org/drawingml/2006/main">
            <a:off x="9525000" y="2628900"/>
            <a:ext cx="1714500" cy="857250"/>
          </a:xfrm>
          <a:prstGeom xmlns:a="http://schemas.openxmlformats.org/drawingml/2006/main" prst="roundRect">
            <a:avLst>
              <a:gd name="adj" fmla="val 11111"/>
            </a:avLst>
          </a:prstGeom>
          <a:solidFill xmlns:a="http://schemas.openxmlformats.org/drawingml/2006/main">
            <a:srgbClr val="0B2438"/>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Sensor</a:t>
            </a:r>
          </a:p>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Processing</a:t>
            </a:r>
          </a:p>
        </p:txBody>
      </p:sp>
      <p:cxnSp>
        <p:nvCxnSpPr>
          <p:cNvPr id="30" name=""/>
          <p:cNvCxnSpPr>
            <a:stCxn xmlns:a="http://schemas.openxmlformats.org/drawingml/2006/main" id="6" idx="3"/>
            <a:endCxn xmlns:a="http://schemas.openxmlformats.org/drawingml/2006/main" id="7" idx="1"/>
          </p:cNvCxnSpPr>
          <p:nvPr/>
        </p:nvCxnSpPr>
        <p:spPr>
          <a:xfrm xmlns:a="http://schemas.openxmlformats.org/drawingml/2006/main">
            <a:off x="2705100" y="3057525"/>
            <a:ext cx="914400" cy="0"/>
          </a:xfrm>
          <a:prstGeom xmlns:a="http://schemas.openxmlformats.org/drawingml/2006/main" prst="straightConnector1">
            <a:avLst/>
          </a:prstGeom>
          <a:ln xmlns:a="http://schemas.openxmlformats.org/drawingml/2006/main" w="38100">
            <a:solidFill>
              <a:srgbClr val="20B7C5"/>
            </a:solidFill>
            <a:prstDash val="solid"/>
            <a:tailEnd type="triangle" w="sm" len="sm"/>
          </a:ln>
        </p:spPr>
      </p:cxnSp>
      <p:cxnSp>
        <p:nvCxnSpPr>
          <p:cNvPr id="31" name=""/>
          <p:cNvCxnSpPr>
            <a:stCxn xmlns:a="http://schemas.openxmlformats.org/drawingml/2006/main" id="7" idx="3"/>
            <a:endCxn xmlns:a="http://schemas.openxmlformats.org/drawingml/2006/main" id="8" idx="1"/>
          </p:cNvCxnSpPr>
          <p:nvPr/>
        </p:nvCxnSpPr>
        <p:spPr>
          <a:xfrm xmlns:a="http://schemas.openxmlformats.org/drawingml/2006/main">
            <a:off x="5334000" y="3057525"/>
            <a:ext cx="952500" cy="0"/>
          </a:xfrm>
          <a:prstGeom xmlns:a="http://schemas.openxmlformats.org/drawingml/2006/main" prst="straightConnector1">
            <a:avLst/>
          </a:prstGeom>
          <a:ln xmlns:a="http://schemas.openxmlformats.org/drawingml/2006/main" w="38100">
            <a:solidFill>
              <a:srgbClr val="20B7C5"/>
            </a:solidFill>
            <a:prstDash val="solid"/>
            <a:tailEnd type="triangle" w="sm" len="sm"/>
          </a:ln>
        </p:spPr>
      </p:cxnSp>
      <p:cxnSp>
        <p:nvCxnSpPr>
          <p:cNvPr id="32" name=""/>
          <p:cNvCxnSpPr>
            <a:stCxn xmlns:a="http://schemas.openxmlformats.org/drawingml/2006/main" id="8" idx="3"/>
            <a:endCxn xmlns:a="http://schemas.openxmlformats.org/drawingml/2006/main" id="9" idx="1"/>
          </p:cNvCxnSpPr>
          <p:nvPr/>
        </p:nvCxnSpPr>
        <p:spPr>
          <a:xfrm xmlns:a="http://schemas.openxmlformats.org/drawingml/2006/main">
            <a:off x="8667750" y="3057525"/>
            <a:ext cx="857250" cy="0"/>
          </a:xfrm>
          <a:prstGeom xmlns:a="http://schemas.openxmlformats.org/drawingml/2006/main" prst="straightConnector1">
            <a:avLst/>
          </a:prstGeom>
          <a:ln xmlns:a="http://schemas.openxmlformats.org/drawingml/2006/main" w="38100">
            <a:solidFill>
              <a:srgbClr val="2CA56F"/>
            </a:solidFill>
            <a:prstDash val="solid"/>
            <a:tailEnd type="triangle" w="sm" len="sm"/>
          </a:ln>
        </p:spPr>
      </p:cxnSp>
      <p:cxnSp>
        <p:nvCxnSpPr>
          <p:cNvPr id="33" name=""/>
          <p:cNvCxnSpPr>
            <a:stCxn xmlns:a="http://schemas.openxmlformats.org/drawingml/2006/main" id="9" idx="2"/>
            <a:endCxn xmlns:a="http://schemas.openxmlformats.org/drawingml/2006/main" id="7" idx="2"/>
          </p:cNvCxnSpPr>
          <p:nvPr/>
        </p:nvCxnSpPr>
        <p:spPr>
          <a:xfrm xmlns:a="http://schemas.openxmlformats.org/drawingml/2006/main" flipH="1">
            <a:off x="4476750" y="3486150"/>
            <a:ext cx="5905500" cy="0"/>
          </a:xfrm>
          <a:prstGeom xmlns:a="http://schemas.openxmlformats.org/drawingml/2006/main" prst="straightConnector1">
            <a:avLst/>
          </a:prstGeom>
          <a:ln xmlns:a="http://schemas.openxmlformats.org/drawingml/2006/main" w="38100">
            <a:solidFill>
              <a:srgbClr val="2CA56F"/>
            </a:solidFill>
            <a:prstDash val="solid"/>
            <a:tailEnd type="triangle" w="sm" len="sm"/>
          </a:ln>
        </p:spPr>
      </p:cxnSp>
      <p:sp>
        <p:nvSpPr>
          <p:cNvPr id="14" name="text-110">
            <a:extLst xmlns:a="http://schemas.openxmlformats.org/drawingml/2006/main">
              <a:ext uri="{FF2B5EF4-FFF2-40B4-BE49-F238E27FC236}">
                <a16:creationId xmlns:a16="http://schemas.microsoft.com/office/drawing/2014/main" id="{3AFD43E7-9FC3-40AF-B30E-CD3948567CD7}"/>
              </a:ext>
            </a:extLst>
          </p:cNvPr>
          <p:cNvSpPr>
            <a:spLocks xmlns:a="http://schemas.openxmlformats.org/drawingml/2006/main" noGrp="1"/>
          </p:cNvSpPr>
          <p:nvPr/>
        </p:nvSpPr>
        <p:spPr>
          <a:xfrm xmlns:a="http://schemas.openxmlformats.org/drawingml/2006/main">
            <a:off x="2781300" y="22860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200" b="0" i="0">
                <a:solidFill>
                  <a:srgbClr val="8FB5C9"/>
                </a:solidFill>
                <a:latin typeface="Aptos"/>
                <a:ea typeface="Aptos"/>
                <a:cs typeface="Aptos"/>
              </a:defRPr>
            </a:pPr>
            <a:r>
              <a:rPr sz="1200" b="0" i="0">
                <a:solidFill>
                  <a:srgbClr val="8FB5C9"/>
                </a:solidFill>
                <a:latin typeface="Aptos"/>
                <a:ea typeface="Aptos"/>
                <a:cs typeface="Aptos"/>
              </a:rPr>
              <a:t>command</a:t>
            </a:r>
          </a:p>
        </p:txBody>
      </p:sp>
      <p:sp>
        <p:nvSpPr>
          <p:cNvPr id="15" name="text-111">
            <a:extLst xmlns:a="http://schemas.openxmlformats.org/drawingml/2006/main">
              <a:ext uri="{FF2B5EF4-FFF2-40B4-BE49-F238E27FC236}">
                <a16:creationId xmlns:a16="http://schemas.microsoft.com/office/drawing/2014/main" id="{B0E1C251-B3EF-4D2D-909E-5E432E2AA8C1}"/>
              </a:ext>
            </a:extLst>
          </p:cNvPr>
          <p:cNvSpPr>
            <a:spLocks xmlns:a="http://schemas.openxmlformats.org/drawingml/2006/main" noGrp="1"/>
          </p:cNvSpPr>
          <p:nvPr/>
        </p:nvSpPr>
        <p:spPr>
          <a:xfrm xmlns:a="http://schemas.openxmlformats.org/drawingml/2006/main">
            <a:off x="5372100" y="2286000"/>
            <a:ext cx="895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200" b="0" i="0">
                <a:solidFill>
                  <a:srgbClr val="8FB5C9"/>
                </a:solidFill>
                <a:latin typeface="Aptos"/>
                <a:ea typeface="Aptos"/>
                <a:cs typeface="Aptos"/>
              </a:defRPr>
            </a:pPr>
            <a:r>
              <a:rPr sz="1200" b="0" i="0">
                <a:solidFill>
                  <a:srgbClr val="8FB5C9"/>
                </a:solidFill>
                <a:latin typeface="Aptos"/>
                <a:ea typeface="Aptos"/>
                <a:cs typeface="Aptos"/>
              </a:rPr>
              <a:t>actuator command</a:t>
            </a:r>
          </a:p>
        </p:txBody>
      </p:sp>
      <p:sp>
        <p:nvSpPr>
          <p:cNvPr id="16" name="text-112">
            <a:extLst xmlns:a="http://schemas.openxmlformats.org/drawingml/2006/main">
              <a:ext uri="{FF2B5EF4-FFF2-40B4-BE49-F238E27FC236}">
                <a16:creationId xmlns:a16="http://schemas.microsoft.com/office/drawing/2014/main" id="{60A39E94-9EB9-4E5C-9B0A-ABE0390F19A5}"/>
              </a:ext>
            </a:extLst>
          </p:cNvPr>
          <p:cNvSpPr>
            <a:spLocks xmlns:a="http://schemas.openxmlformats.org/drawingml/2006/main" noGrp="1"/>
          </p:cNvSpPr>
          <p:nvPr/>
        </p:nvSpPr>
        <p:spPr>
          <a:xfrm xmlns:a="http://schemas.openxmlformats.org/drawingml/2006/main">
            <a:off x="8420100" y="381000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200" b="0" i="0">
                <a:solidFill>
                  <a:srgbClr val="8FB5C9"/>
                </a:solidFill>
                <a:latin typeface="Aptos"/>
                <a:ea typeface="Aptos"/>
                <a:cs typeface="Aptos"/>
              </a:defRPr>
            </a:pPr>
            <a:r>
              <a:rPr sz="1200" b="0" i="0">
                <a:solidFill>
                  <a:srgbClr val="8FB5C9"/>
                </a:solidFill>
                <a:latin typeface="Aptos"/>
                <a:ea typeface="Aptos"/>
                <a:cs typeface="Aptos"/>
              </a:rPr>
              <a:t>measured response</a:t>
            </a:r>
          </a:p>
        </p:txBody>
      </p:sp>
      <p:sp>
        <p:nvSpPr>
          <p:cNvPr id="17" name="box-113">
            <a:extLst xmlns:a="http://schemas.openxmlformats.org/drawingml/2006/main">
              <a:ext uri="{FF2B5EF4-FFF2-40B4-BE49-F238E27FC236}">
                <a16:creationId xmlns:a16="http://schemas.microsoft.com/office/drawing/2014/main" id="{6B46E76F-9221-4EE4-A876-0C4AEE44C46F}"/>
              </a:ext>
            </a:extLst>
          </p:cNvPr>
          <p:cNvSpPr>
            <a:spLocks xmlns:a="http://schemas.openxmlformats.org/drawingml/2006/main" noGrp="1"/>
          </p:cNvSpPr>
          <p:nvPr/>
        </p:nvSpPr>
        <p:spPr>
          <a:xfrm xmlns:a="http://schemas.openxmlformats.org/drawingml/2006/main">
            <a:off x="6191250" y="4552950"/>
            <a:ext cx="4476750" cy="590550"/>
          </a:xfrm>
          <a:prstGeom xmlns:a="http://schemas.openxmlformats.org/drawingml/2006/main" prst="roundRect">
            <a:avLst>
              <a:gd name="adj" fmla="val 12903"/>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0B1F33"/>
                </a:solidFill>
                <a:latin typeface="Aptos"/>
                <a:ea typeface="Aptos"/>
                <a:cs typeface="Aptos"/>
              </a:defRPr>
            </a:pPr>
            <a:r>
              <a:rPr sz="1500" b="1">
                <a:solidFill>
                  <a:srgbClr val="0B1F33"/>
                </a:solidFill>
                <a:latin typeface="Aptos"/>
                <a:ea typeface="Aptos"/>
                <a:cs typeface="Aptos"/>
              </a:rPr>
              <a:t>Gusts • turbulence • mass properties • failures</a:t>
            </a:r>
          </a:p>
        </p:txBody>
      </p:sp>
      <p:sp>
        <p:nvSpPr>
          <p:cNvPr id="18" name="box-114">
            <a:extLst xmlns:a="http://schemas.openxmlformats.org/drawingml/2006/main">
              <a:ext uri="{FF2B5EF4-FFF2-40B4-BE49-F238E27FC236}">
                <a16:creationId xmlns:a16="http://schemas.microsoft.com/office/drawing/2014/main" id="{8194072A-3937-4D08-ABAE-B2F745F67F38}"/>
              </a:ext>
            </a:extLst>
          </p:cNvPr>
          <p:cNvSpPr>
            <a:spLocks xmlns:a="http://schemas.openxmlformats.org/drawingml/2006/main" noGrp="1"/>
          </p:cNvSpPr>
          <p:nvPr/>
        </p:nvSpPr>
        <p:spPr>
          <a:xfrm xmlns:a="http://schemas.openxmlformats.org/drawingml/2006/main">
            <a:off x="4191000" y="4552950"/>
            <a:ext cx="1524000" cy="590550"/>
          </a:xfrm>
          <a:prstGeom xmlns:a="http://schemas.openxmlformats.org/drawingml/2006/main" prst="roundRect">
            <a:avLst>
              <a:gd name="adj" fmla="val 16129"/>
            </a:avLst>
          </a:prstGeom>
          <a:solidFill xmlns:a="http://schemas.openxmlformats.org/drawingml/2006/main">
            <a:srgbClr val="0B2438"/>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Disturbances</a:t>
            </a:r>
          </a:p>
        </p:txBody>
      </p:sp>
      <p:cxnSp>
        <p:nvCxnSpPr>
          <p:cNvPr id="39" name=""/>
          <p:cNvCxnSpPr>
            <a:stCxn xmlns:a="http://schemas.openxmlformats.org/drawingml/2006/main" id="18" idx="3"/>
            <a:endCxn xmlns:a="http://schemas.openxmlformats.org/drawingml/2006/main" id="8" idx="2"/>
          </p:cNvCxnSpPr>
          <p:nvPr/>
        </p:nvCxnSpPr>
        <p:spPr>
          <a:xfrm xmlns:a="http://schemas.openxmlformats.org/drawingml/2006/main" flipV="1">
            <a:off x="5715000" y="3638550"/>
            <a:ext cx="1762125" cy="1209675"/>
          </a:xfrm>
          <a:prstGeom xmlns:a="http://schemas.openxmlformats.org/drawingml/2006/main" prst="bentConnector4">
            <a:avLst>
              <a:gd name="adj1" fmla="val 12973"/>
              <a:gd name="adj2" fmla="val 81102"/>
            </a:avLst>
          </a:prstGeom>
          <a:ln xmlns:a="http://schemas.openxmlformats.org/drawingml/2006/main" w="28575">
            <a:solidFill>
              <a:srgbClr val="E9A23B"/>
            </a:solidFill>
            <a:prstDash val="solid"/>
            <a:tailEnd type="triangle" w="sm" len="sm"/>
          </a:ln>
        </p:spPr>
      </p:cxnSp>
      <p:sp>
        <p:nvSpPr>
          <p:cNvPr id="20" name="text-115">
            <a:extLst xmlns:a="http://schemas.openxmlformats.org/drawingml/2006/main">
              <a:ext uri="{FF2B5EF4-FFF2-40B4-BE49-F238E27FC236}">
                <a16:creationId xmlns:a16="http://schemas.microsoft.com/office/drawing/2014/main" id="{B322F65F-4B55-4DD0-8E2A-3BECB1BD257E}"/>
              </a:ext>
            </a:extLst>
          </p:cNvPr>
          <p:cNvSpPr>
            <a:spLocks xmlns:a="http://schemas.openxmlformats.org/drawingml/2006/main" noGrp="1"/>
          </p:cNvSpPr>
          <p:nvPr/>
        </p:nvSpPr>
        <p:spPr>
          <a:xfrm xmlns:a="http://schemas.openxmlformats.org/drawingml/2006/main">
            <a:off x="952500" y="54292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Design question: does the response remain stable, accurate, timely, and safe across the operating envelope?</a:t>
            </a:r>
          </a:p>
        </p:txBody>
      </p:sp>
    </p:spTree>
    <p:extLst>
      <p:ext uri="{BB962C8B-B14F-4D97-AF65-F5344CB8AC3E}">
        <p14:creationId xmlns:p14="http://schemas.microsoft.com/office/powerpoint/2010/main" val="1442167591"/>
      </p:ext>
    </p:extLst>
  </p:cSld>
</p:sld>
</file>

<file path=ppt/slides/slide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02 • CONTROLS ENGINEERING IN SIMULINK</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Control-law math maps to reusable patterns</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09</a:t>
            </a:r>
          </a:p>
        </p:txBody>
      </p:sp>
      <p:sp>
        <p:nvSpPr>
          <p:cNvPr id="6" name="box-119">
            <a:extLst xmlns:a="http://schemas.openxmlformats.org/drawingml/2006/main">
              <a:ext uri="{FF2B5EF4-FFF2-40B4-BE49-F238E27FC236}">
                <a16:creationId xmlns:a16="http://schemas.microsoft.com/office/drawing/2014/main" id="{2CA70403-A59F-497A-B8E4-C2B1EFE8AF72}"/>
              </a:ext>
            </a:extLst>
          </p:cNvPr>
          <p:cNvSpPr>
            <a:spLocks xmlns:a="http://schemas.openxmlformats.org/drawingml/2006/main" noGrp="1"/>
          </p:cNvSpPr>
          <p:nvPr/>
        </p:nvSpPr>
        <p:spPr>
          <a:xfrm xmlns:a="http://schemas.openxmlformats.org/drawingml/2006/main">
            <a:off x="723900" y="1504950"/>
            <a:ext cx="876300" cy="514350"/>
          </a:xfrm>
          <a:prstGeom xmlns:a="http://schemas.openxmlformats.org/drawingml/2006/main" prst="roundRect">
            <a:avLst>
              <a:gd name="adj" fmla="val 12963"/>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K</a:t>
            </a:r>
          </a:p>
        </p:txBody>
      </p:sp>
      <p:sp>
        <p:nvSpPr>
          <p:cNvPr id="7" name="text-120">
            <a:extLst xmlns:a="http://schemas.openxmlformats.org/drawingml/2006/main">
              <a:ext uri="{FF2B5EF4-FFF2-40B4-BE49-F238E27FC236}">
                <a16:creationId xmlns:a16="http://schemas.microsoft.com/office/drawing/2014/main" id="{0FE4068D-C4A9-4187-82C7-1B687348D8A9}"/>
              </a:ext>
            </a:extLst>
          </p:cNvPr>
          <p:cNvSpPr>
            <a:spLocks xmlns:a="http://schemas.openxmlformats.org/drawingml/2006/main" noGrp="1"/>
          </p:cNvSpPr>
          <p:nvPr/>
        </p:nvSpPr>
        <p:spPr>
          <a:xfrm xmlns:a="http://schemas.openxmlformats.org/drawingml/2006/main">
            <a:off x="1809750" y="148590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0B1F33"/>
                </a:solidFill>
                <a:latin typeface="Aptos"/>
                <a:ea typeface="Aptos"/>
                <a:cs typeface="Aptos"/>
              </a:defRPr>
            </a:pPr>
            <a:r>
              <a:rPr sz="1425" b="1" i="0">
                <a:solidFill>
                  <a:srgbClr val="0B1F33"/>
                </a:solidFill>
                <a:latin typeface="Aptos"/>
                <a:ea typeface="Aptos"/>
                <a:cs typeface="Aptos"/>
              </a:rPr>
              <a:t>GAIN</a:t>
            </a:r>
          </a:p>
        </p:txBody>
      </p:sp>
      <p:sp>
        <p:nvSpPr>
          <p:cNvPr id="8" name="text-121">
            <a:extLst xmlns:a="http://schemas.openxmlformats.org/drawingml/2006/main">
              <a:ext uri="{FF2B5EF4-FFF2-40B4-BE49-F238E27FC236}">
                <a16:creationId xmlns:a16="http://schemas.microsoft.com/office/drawing/2014/main" id="{9FB4BE03-1935-4037-99C5-7E0BB72F80D7}"/>
              </a:ext>
            </a:extLst>
          </p:cNvPr>
          <p:cNvSpPr>
            <a:spLocks xmlns:a="http://schemas.openxmlformats.org/drawingml/2006/main" noGrp="1"/>
          </p:cNvSpPr>
          <p:nvPr/>
        </p:nvSpPr>
        <p:spPr>
          <a:xfrm xmlns:a="http://schemas.openxmlformats.org/drawingml/2006/main">
            <a:off x="1809750" y="1762125"/>
            <a:ext cx="3381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350" b="0" i="0">
                <a:solidFill>
                  <a:srgbClr val="5D7487"/>
                </a:solidFill>
                <a:latin typeface="Aptos"/>
                <a:ea typeface="Aptos"/>
                <a:cs typeface="Aptos"/>
              </a:defRPr>
            </a:pPr>
            <a:r>
              <a:rPr sz="1350" b="0" i="0">
                <a:solidFill>
                  <a:srgbClr val="5D7487"/>
                </a:solidFill>
                <a:latin typeface="Aptos"/>
                <a:ea typeface="Aptos"/>
                <a:cs typeface="Aptos"/>
              </a:rPr>
              <a:t>multiply error or feedback</a:t>
            </a:r>
          </a:p>
        </p:txBody>
      </p:sp>
      <p:sp>
        <p:nvSpPr>
          <p:cNvPr id="9" name="box-122">
            <a:extLst xmlns:a="http://schemas.openxmlformats.org/drawingml/2006/main">
              <a:ext uri="{FF2B5EF4-FFF2-40B4-BE49-F238E27FC236}">
                <a16:creationId xmlns:a16="http://schemas.microsoft.com/office/drawing/2014/main" id="{FF379DAF-529D-4D0B-94E8-EAD2F03BB08B}"/>
              </a:ext>
            </a:extLst>
          </p:cNvPr>
          <p:cNvSpPr>
            <a:spLocks xmlns:a="http://schemas.openxmlformats.org/drawingml/2006/main" noGrp="1"/>
          </p:cNvSpPr>
          <p:nvPr/>
        </p:nvSpPr>
        <p:spPr>
          <a:xfrm xmlns:a="http://schemas.openxmlformats.org/drawingml/2006/main">
            <a:off x="723900" y="2219325"/>
            <a:ext cx="876300" cy="514350"/>
          </a:xfrm>
          <a:prstGeom xmlns:a="http://schemas.openxmlformats.org/drawingml/2006/main" prst="roundRect">
            <a:avLst>
              <a:gd name="adj" fmla="val 12963"/>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200" b="1">
                <a:solidFill>
                  <a:srgbClr val="FFFFFF"/>
                </a:solidFill>
                <a:latin typeface="Aptos"/>
                <a:ea typeface="Aptos"/>
                <a:cs typeface="Aptos"/>
              </a:defRPr>
            </a:pPr>
            <a:r>
              <a:rPr sz="1200" b="1">
                <a:solidFill>
                  <a:srgbClr val="FFFFFF"/>
                </a:solidFill>
                <a:latin typeface="Aptos"/>
                <a:ea typeface="Aptos"/>
                <a:cs typeface="Aptos"/>
              </a:rPr>
              <a:t>1/(τs+1)</a:t>
            </a:r>
          </a:p>
        </p:txBody>
      </p:sp>
      <p:sp>
        <p:nvSpPr>
          <p:cNvPr id="10" name="text-123">
            <a:extLst xmlns:a="http://schemas.openxmlformats.org/drawingml/2006/main">
              <a:ext uri="{FF2B5EF4-FFF2-40B4-BE49-F238E27FC236}">
                <a16:creationId xmlns:a16="http://schemas.microsoft.com/office/drawing/2014/main" id="{762CBBE8-F70C-4E38-945C-4D46B7A3DECB}"/>
              </a:ext>
            </a:extLst>
          </p:cNvPr>
          <p:cNvSpPr>
            <a:spLocks xmlns:a="http://schemas.openxmlformats.org/drawingml/2006/main" noGrp="1"/>
          </p:cNvSpPr>
          <p:nvPr/>
        </p:nvSpPr>
        <p:spPr>
          <a:xfrm xmlns:a="http://schemas.openxmlformats.org/drawingml/2006/main">
            <a:off x="1809750" y="2200275"/>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0B1F33"/>
                </a:solidFill>
                <a:latin typeface="Aptos"/>
                <a:ea typeface="Aptos"/>
                <a:cs typeface="Aptos"/>
              </a:defRPr>
            </a:pPr>
            <a:r>
              <a:rPr sz="1425" b="1" i="0">
                <a:solidFill>
                  <a:srgbClr val="0B1F33"/>
                </a:solidFill>
                <a:latin typeface="Aptos"/>
                <a:ea typeface="Aptos"/>
                <a:cs typeface="Aptos"/>
              </a:rPr>
              <a:t>FILTER</a:t>
            </a:r>
          </a:p>
        </p:txBody>
      </p:sp>
      <p:sp>
        <p:nvSpPr>
          <p:cNvPr id="11" name="text-124">
            <a:extLst xmlns:a="http://schemas.openxmlformats.org/drawingml/2006/main">
              <a:ext uri="{FF2B5EF4-FFF2-40B4-BE49-F238E27FC236}">
                <a16:creationId xmlns:a16="http://schemas.microsoft.com/office/drawing/2014/main" id="{F3DF7827-1805-4C44-AE9C-EF121A568155}"/>
              </a:ext>
            </a:extLst>
          </p:cNvPr>
          <p:cNvSpPr>
            <a:spLocks xmlns:a="http://schemas.openxmlformats.org/drawingml/2006/main" noGrp="1"/>
          </p:cNvSpPr>
          <p:nvPr/>
        </p:nvSpPr>
        <p:spPr>
          <a:xfrm xmlns:a="http://schemas.openxmlformats.org/drawingml/2006/main">
            <a:off x="1809750" y="2476500"/>
            <a:ext cx="3381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350" b="0" i="0">
                <a:solidFill>
                  <a:srgbClr val="5D7487"/>
                </a:solidFill>
                <a:latin typeface="Aptos"/>
                <a:ea typeface="Aptos"/>
                <a:cs typeface="Aptos"/>
              </a:defRPr>
            </a:pPr>
            <a:r>
              <a:rPr sz="1350" b="0" i="0">
                <a:solidFill>
                  <a:srgbClr val="5D7487"/>
                </a:solidFill>
                <a:latin typeface="Aptos"/>
                <a:ea typeface="Aptos"/>
                <a:cs typeface="Aptos"/>
              </a:rPr>
              <a:t>attenuate noise / shape dynamics</a:t>
            </a:r>
          </a:p>
        </p:txBody>
      </p:sp>
      <p:sp>
        <p:nvSpPr>
          <p:cNvPr id="12" name="box-125">
            <a:extLst xmlns:a="http://schemas.openxmlformats.org/drawingml/2006/main">
              <a:ext uri="{FF2B5EF4-FFF2-40B4-BE49-F238E27FC236}">
                <a16:creationId xmlns:a16="http://schemas.microsoft.com/office/drawing/2014/main" id="{5438F2F4-316C-4070-910C-F284A4FF7E6A}"/>
              </a:ext>
            </a:extLst>
          </p:cNvPr>
          <p:cNvSpPr>
            <a:spLocks xmlns:a="http://schemas.openxmlformats.org/drawingml/2006/main" noGrp="1"/>
          </p:cNvSpPr>
          <p:nvPr/>
        </p:nvSpPr>
        <p:spPr>
          <a:xfrm xmlns:a="http://schemas.openxmlformats.org/drawingml/2006/main">
            <a:off x="723900" y="2933700"/>
            <a:ext cx="876300" cy="514350"/>
          </a:xfrm>
          <a:prstGeom xmlns:a="http://schemas.openxmlformats.org/drawingml/2006/main" prst="roundRect">
            <a:avLst>
              <a:gd name="adj" fmla="val 12963"/>
            </a:avLst>
          </a:prstGeom>
          <a:solidFill xmlns:a="http://schemas.openxmlformats.org/drawingml/2006/main">
            <a:srgbClr val="2CA56F"/>
          </a:solidFill>
          <a:ln xmlns:a="http://schemas.openxmlformats.org/drawingml/2006/main" w="9525">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1/s</a:t>
            </a:r>
          </a:p>
        </p:txBody>
      </p:sp>
      <p:sp>
        <p:nvSpPr>
          <p:cNvPr id="13" name="text-126">
            <a:extLst xmlns:a="http://schemas.openxmlformats.org/drawingml/2006/main">
              <a:ext uri="{FF2B5EF4-FFF2-40B4-BE49-F238E27FC236}">
                <a16:creationId xmlns:a16="http://schemas.microsoft.com/office/drawing/2014/main" id="{12D49693-072A-4FE4-A351-901D0ACBB558}"/>
              </a:ext>
            </a:extLst>
          </p:cNvPr>
          <p:cNvSpPr>
            <a:spLocks xmlns:a="http://schemas.openxmlformats.org/drawingml/2006/main" noGrp="1"/>
          </p:cNvSpPr>
          <p:nvPr/>
        </p:nvSpPr>
        <p:spPr>
          <a:xfrm xmlns:a="http://schemas.openxmlformats.org/drawingml/2006/main">
            <a:off x="1809750" y="2914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0B1F33"/>
                </a:solidFill>
                <a:latin typeface="Aptos"/>
                <a:ea typeface="Aptos"/>
                <a:cs typeface="Aptos"/>
              </a:defRPr>
            </a:pPr>
            <a:r>
              <a:rPr sz="1425" b="1" i="0">
                <a:solidFill>
                  <a:srgbClr val="0B1F33"/>
                </a:solidFill>
                <a:latin typeface="Aptos"/>
                <a:ea typeface="Aptos"/>
                <a:cs typeface="Aptos"/>
              </a:rPr>
              <a:t>INTEGRATOR</a:t>
            </a:r>
          </a:p>
        </p:txBody>
      </p:sp>
      <p:sp>
        <p:nvSpPr>
          <p:cNvPr id="14" name="text-127">
            <a:extLst xmlns:a="http://schemas.openxmlformats.org/drawingml/2006/main">
              <a:ext uri="{FF2B5EF4-FFF2-40B4-BE49-F238E27FC236}">
                <a16:creationId xmlns:a16="http://schemas.microsoft.com/office/drawing/2014/main" id="{9BFCE252-28CF-4406-94FD-F6328AEB8B0F}"/>
              </a:ext>
            </a:extLst>
          </p:cNvPr>
          <p:cNvSpPr>
            <a:spLocks xmlns:a="http://schemas.openxmlformats.org/drawingml/2006/main" noGrp="1"/>
          </p:cNvSpPr>
          <p:nvPr/>
        </p:nvSpPr>
        <p:spPr>
          <a:xfrm xmlns:a="http://schemas.openxmlformats.org/drawingml/2006/main">
            <a:off x="1809750" y="3190875"/>
            <a:ext cx="3381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350" b="0" i="0">
                <a:solidFill>
                  <a:srgbClr val="5D7487"/>
                </a:solidFill>
                <a:latin typeface="Aptos"/>
                <a:ea typeface="Aptos"/>
                <a:cs typeface="Aptos"/>
              </a:defRPr>
            </a:pPr>
            <a:r>
              <a:rPr sz="1350" b="0" i="0">
                <a:solidFill>
                  <a:srgbClr val="5D7487"/>
                </a:solidFill>
                <a:latin typeface="Aptos"/>
                <a:ea typeface="Aptos"/>
                <a:cs typeface="Aptos"/>
              </a:rPr>
              <a:t>accumulate error or propagate state</a:t>
            </a:r>
          </a:p>
        </p:txBody>
      </p:sp>
      <p:sp>
        <p:nvSpPr>
          <p:cNvPr id="15" name="box-128">
            <a:extLst xmlns:a="http://schemas.openxmlformats.org/drawingml/2006/main">
              <a:ext uri="{FF2B5EF4-FFF2-40B4-BE49-F238E27FC236}">
                <a16:creationId xmlns:a16="http://schemas.microsoft.com/office/drawing/2014/main" id="{8E16573D-4BB8-40BA-A9D3-9E6CCF902E3D}"/>
              </a:ext>
            </a:extLst>
          </p:cNvPr>
          <p:cNvSpPr>
            <a:spLocks xmlns:a="http://schemas.openxmlformats.org/drawingml/2006/main" noGrp="1"/>
          </p:cNvSpPr>
          <p:nvPr/>
        </p:nvSpPr>
        <p:spPr>
          <a:xfrm xmlns:a="http://schemas.openxmlformats.org/drawingml/2006/main">
            <a:off x="723900" y="3648075"/>
            <a:ext cx="876300" cy="514350"/>
          </a:xfrm>
          <a:prstGeom xmlns:a="http://schemas.openxmlformats.org/drawingml/2006/main" prst="roundRect">
            <a:avLst>
              <a:gd name="adj" fmla="val 12963"/>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f(M,h)</a:t>
            </a:r>
          </a:p>
        </p:txBody>
      </p:sp>
      <p:sp>
        <p:nvSpPr>
          <p:cNvPr id="16" name="text-129">
            <a:extLst xmlns:a="http://schemas.openxmlformats.org/drawingml/2006/main">
              <a:ext uri="{FF2B5EF4-FFF2-40B4-BE49-F238E27FC236}">
                <a16:creationId xmlns:a16="http://schemas.microsoft.com/office/drawing/2014/main" id="{BA0F3159-6B32-4078-8FF8-ECE0ED262550}"/>
              </a:ext>
            </a:extLst>
          </p:cNvPr>
          <p:cNvSpPr>
            <a:spLocks xmlns:a="http://schemas.openxmlformats.org/drawingml/2006/main" noGrp="1"/>
          </p:cNvSpPr>
          <p:nvPr/>
        </p:nvSpPr>
        <p:spPr>
          <a:xfrm xmlns:a="http://schemas.openxmlformats.org/drawingml/2006/main">
            <a:off x="1809750" y="3629025"/>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0B1F33"/>
                </a:solidFill>
                <a:latin typeface="Aptos"/>
                <a:ea typeface="Aptos"/>
                <a:cs typeface="Aptos"/>
              </a:defRPr>
            </a:pPr>
            <a:r>
              <a:rPr sz="1425" b="1" i="0">
                <a:solidFill>
                  <a:srgbClr val="0B1F33"/>
                </a:solidFill>
                <a:latin typeface="Aptos"/>
                <a:ea typeface="Aptos"/>
                <a:cs typeface="Aptos"/>
              </a:rPr>
              <a:t>LOOKUP</a:t>
            </a:r>
          </a:p>
        </p:txBody>
      </p:sp>
      <p:sp>
        <p:nvSpPr>
          <p:cNvPr id="17" name="text-130">
            <a:extLst xmlns:a="http://schemas.openxmlformats.org/drawingml/2006/main">
              <a:ext uri="{FF2B5EF4-FFF2-40B4-BE49-F238E27FC236}">
                <a16:creationId xmlns:a16="http://schemas.microsoft.com/office/drawing/2014/main" id="{52CEAAEC-EA8C-477C-B62F-7C467AF911E0}"/>
              </a:ext>
            </a:extLst>
          </p:cNvPr>
          <p:cNvSpPr>
            <a:spLocks xmlns:a="http://schemas.openxmlformats.org/drawingml/2006/main" noGrp="1"/>
          </p:cNvSpPr>
          <p:nvPr/>
        </p:nvSpPr>
        <p:spPr>
          <a:xfrm xmlns:a="http://schemas.openxmlformats.org/drawingml/2006/main">
            <a:off x="1809750" y="3905250"/>
            <a:ext cx="3381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350" b="0" i="0">
                <a:solidFill>
                  <a:srgbClr val="5D7487"/>
                </a:solidFill>
                <a:latin typeface="Aptos"/>
                <a:ea typeface="Aptos"/>
                <a:cs typeface="Aptos"/>
              </a:defRPr>
            </a:pPr>
            <a:r>
              <a:rPr sz="1350" b="0" i="0">
                <a:solidFill>
                  <a:srgbClr val="5D7487"/>
                </a:solidFill>
                <a:latin typeface="Aptos"/>
                <a:ea typeface="Aptos"/>
                <a:cs typeface="Aptos"/>
              </a:rPr>
              <a:t>schedule by Mach, altitude, or configuration</a:t>
            </a:r>
          </a:p>
        </p:txBody>
      </p:sp>
      <p:sp>
        <p:nvSpPr>
          <p:cNvPr id="18" name="box-131">
            <a:extLst xmlns:a="http://schemas.openxmlformats.org/drawingml/2006/main">
              <a:ext uri="{FF2B5EF4-FFF2-40B4-BE49-F238E27FC236}">
                <a16:creationId xmlns:a16="http://schemas.microsoft.com/office/drawing/2014/main" id="{F374AC2A-4138-4059-8604-A13BF660A717}"/>
              </a:ext>
            </a:extLst>
          </p:cNvPr>
          <p:cNvSpPr>
            <a:spLocks xmlns:a="http://schemas.openxmlformats.org/drawingml/2006/main" noGrp="1"/>
          </p:cNvSpPr>
          <p:nvPr/>
        </p:nvSpPr>
        <p:spPr>
          <a:xfrm xmlns:a="http://schemas.openxmlformats.org/drawingml/2006/main">
            <a:off x="723900" y="4362450"/>
            <a:ext cx="876300" cy="514350"/>
          </a:xfrm>
          <a:prstGeom xmlns:a="http://schemas.openxmlformats.org/drawingml/2006/main" prst="roundRect">
            <a:avLst>
              <a:gd name="adj" fmla="val 12963"/>
            </a:avLst>
          </a:prstGeom>
          <a:solidFill xmlns:a="http://schemas.openxmlformats.org/drawingml/2006/main">
            <a:srgbClr val="D75A64"/>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MODE</a:t>
            </a:r>
          </a:p>
        </p:txBody>
      </p:sp>
      <p:sp>
        <p:nvSpPr>
          <p:cNvPr id="19" name="text-132">
            <a:extLst xmlns:a="http://schemas.openxmlformats.org/drawingml/2006/main">
              <a:ext uri="{FF2B5EF4-FFF2-40B4-BE49-F238E27FC236}">
                <a16:creationId xmlns:a16="http://schemas.microsoft.com/office/drawing/2014/main" id="{7AE5A585-F745-4D19-84BD-E29470CFE3EC}"/>
              </a:ext>
            </a:extLst>
          </p:cNvPr>
          <p:cNvSpPr>
            <a:spLocks xmlns:a="http://schemas.openxmlformats.org/drawingml/2006/main" noGrp="1"/>
          </p:cNvSpPr>
          <p:nvPr/>
        </p:nvSpPr>
        <p:spPr>
          <a:xfrm xmlns:a="http://schemas.openxmlformats.org/drawingml/2006/main">
            <a:off x="1809750" y="434340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0B1F33"/>
                </a:solidFill>
                <a:latin typeface="Aptos"/>
                <a:ea typeface="Aptos"/>
                <a:cs typeface="Aptos"/>
              </a:defRPr>
            </a:pPr>
            <a:r>
              <a:rPr sz="1425" b="1" i="0">
                <a:solidFill>
                  <a:srgbClr val="0B1F33"/>
                </a:solidFill>
                <a:latin typeface="Aptos"/>
                <a:ea typeface="Aptos"/>
                <a:cs typeface="Aptos"/>
              </a:rPr>
              <a:t>STATEFLOW</a:t>
            </a:r>
          </a:p>
        </p:txBody>
      </p:sp>
      <p:sp>
        <p:nvSpPr>
          <p:cNvPr id="20" name="text-133">
            <a:extLst xmlns:a="http://schemas.openxmlformats.org/drawingml/2006/main">
              <a:ext uri="{FF2B5EF4-FFF2-40B4-BE49-F238E27FC236}">
                <a16:creationId xmlns:a16="http://schemas.microsoft.com/office/drawing/2014/main" id="{5177EE2D-72CC-4450-A788-82BECEFB65EE}"/>
              </a:ext>
            </a:extLst>
          </p:cNvPr>
          <p:cNvSpPr>
            <a:spLocks xmlns:a="http://schemas.openxmlformats.org/drawingml/2006/main" noGrp="1"/>
          </p:cNvSpPr>
          <p:nvPr/>
        </p:nvSpPr>
        <p:spPr>
          <a:xfrm xmlns:a="http://schemas.openxmlformats.org/drawingml/2006/main">
            <a:off x="1809750" y="4619625"/>
            <a:ext cx="3381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350" b="0" i="0">
                <a:solidFill>
                  <a:srgbClr val="5D7487"/>
                </a:solidFill>
                <a:latin typeface="Aptos"/>
                <a:ea typeface="Aptos"/>
                <a:cs typeface="Aptos"/>
              </a:defRPr>
            </a:pPr>
            <a:r>
              <a:rPr sz="1350" b="0" i="0">
                <a:solidFill>
                  <a:srgbClr val="5D7487"/>
                </a:solidFill>
                <a:latin typeface="Aptos"/>
                <a:ea typeface="Aptos"/>
                <a:cs typeface="Aptos"/>
              </a:rPr>
              <a:t>mode, guard, transition, fault logic</a:t>
            </a:r>
          </a:p>
        </p:txBody>
      </p:sp>
      <p:sp>
        <p:nvSpPr>
          <p:cNvPr id="21" name="box-134">
            <a:extLst xmlns:a="http://schemas.openxmlformats.org/drawingml/2006/main">
              <a:ext uri="{FF2B5EF4-FFF2-40B4-BE49-F238E27FC236}">
                <a16:creationId xmlns:a16="http://schemas.microsoft.com/office/drawing/2014/main" id="{B2149920-F91A-4966-9AC5-DC1E5CEE9165}"/>
              </a:ext>
            </a:extLst>
          </p:cNvPr>
          <p:cNvSpPr>
            <a:spLocks xmlns:a="http://schemas.openxmlformats.org/drawingml/2006/main" noGrp="1"/>
          </p:cNvSpPr>
          <p:nvPr/>
        </p:nvSpPr>
        <p:spPr>
          <a:xfrm xmlns:a="http://schemas.openxmlformats.org/drawingml/2006/main">
            <a:off x="723900" y="5076825"/>
            <a:ext cx="876300" cy="514350"/>
          </a:xfrm>
          <a:prstGeom xmlns:a="http://schemas.openxmlformats.org/drawingml/2006/main" prst="roundRect">
            <a:avLst>
              <a:gd name="adj" fmla="val 12963"/>
            </a:avLst>
          </a:prstGeom>
          <a:solidFill xmlns:a="http://schemas.openxmlformats.org/drawingml/2006/main">
            <a:srgbClr val="143A55"/>
          </a:solidFill>
          <a:ln xmlns:a="http://schemas.openxmlformats.org/drawingml/2006/main" w="9525">
            <a:solidFill>
              <a:srgbClr val="143A5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sat</a:t>
            </a:r>
          </a:p>
        </p:txBody>
      </p:sp>
      <p:sp>
        <p:nvSpPr>
          <p:cNvPr id="22" name="text-135">
            <a:extLst xmlns:a="http://schemas.openxmlformats.org/drawingml/2006/main">
              <a:ext uri="{FF2B5EF4-FFF2-40B4-BE49-F238E27FC236}">
                <a16:creationId xmlns:a16="http://schemas.microsoft.com/office/drawing/2014/main" id="{3AB1A834-D23E-409C-B343-96AA992F382D}"/>
              </a:ext>
            </a:extLst>
          </p:cNvPr>
          <p:cNvSpPr>
            <a:spLocks xmlns:a="http://schemas.openxmlformats.org/drawingml/2006/main" noGrp="1"/>
          </p:cNvSpPr>
          <p:nvPr/>
        </p:nvSpPr>
        <p:spPr>
          <a:xfrm xmlns:a="http://schemas.openxmlformats.org/drawingml/2006/main">
            <a:off x="1809750" y="5057775"/>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0B1F33"/>
                </a:solidFill>
                <a:latin typeface="Aptos"/>
                <a:ea typeface="Aptos"/>
                <a:cs typeface="Aptos"/>
              </a:defRPr>
            </a:pPr>
            <a:r>
              <a:rPr sz="1425" b="1" i="0">
                <a:solidFill>
                  <a:srgbClr val="0B1F33"/>
                </a:solidFill>
                <a:latin typeface="Aptos"/>
                <a:ea typeface="Aptos"/>
                <a:cs typeface="Aptos"/>
              </a:rPr>
              <a:t>LIMIT</a:t>
            </a:r>
          </a:p>
        </p:txBody>
      </p:sp>
      <p:sp>
        <p:nvSpPr>
          <p:cNvPr id="23" name="text-136">
            <a:extLst xmlns:a="http://schemas.openxmlformats.org/drawingml/2006/main">
              <a:ext uri="{FF2B5EF4-FFF2-40B4-BE49-F238E27FC236}">
                <a16:creationId xmlns:a16="http://schemas.microsoft.com/office/drawing/2014/main" id="{238CDC07-D59C-48DB-BF6F-B6025D284AC4}"/>
              </a:ext>
            </a:extLst>
          </p:cNvPr>
          <p:cNvSpPr>
            <a:spLocks xmlns:a="http://schemas.openxmlformats.org/drawingml/2006/main" noGrp="1"/>
          </p:cNvSpPr>
          <p:nvPr/>
        </p:nvSpPr>
        <p:spPr>
          <a:xfrm xmlns:a="http://schemas.openxmlformats.org/drawingml/2006/main">
            <a:off x="1809750" y="5334000"/>
            <a:ext cx="3381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350" b="0" i="0">
                <a:solidFill>
                  <a:srgbClr val="5D7487"/>
                </a:solidFill>
                <a:latin typeface="Aptos"/>
                <a:ea typeface="Aptos"/>
                <a:cs typeface="Aptos"/>
              </a:defRPr>
            </a:pPr>
            <a:r>
              <a:rPr sz="1350" b="0" i="0">
                <a:solidFill>
                  <a:srgbClr val="5D7487"/>
                </a:solidFill>
                <a:latin typeface="Aptos"/>
                <a:ea typeface="Aptos"/>
                <a:cs typeface="Aptos"/>
              </a:rPr>
              <a:t>protect command magnitude or rate</a:t>
            </a:r>
          </a:p>
        </p:txBody>
      </p:sp>
      <p:sp>
        <p:nvSpPr>
          <p:cNvPr id="24" name="text-137">
            <a:extLst xmlns:a="http://schemas.openxmlformats.org/drawingml/2006/main">
              <a:ext uri="{FF2B5EF4-FFF2-40B4-BE49-F238E27FC236}">
                <a16:creationId xmlns:a16="http://schemas.microsoft.com/office/drawing/2014/main" id="{1543C7D1-0B6B-4EF4-BAC8-5D3E9CAD52AD}"/>
              </a:ext>
            </a:extLst>
          </p:cNvPr>
          <p:cNvSpPr>
            <a:spLocks xmlns:a="http://schemas.openxmlformats.org/drawingml/2006/main" noGrp="1"/>
          </p:cNvSpPr>
          <p:nvPr/>
        </p:nvSpPr>
        <p:spPr>
          <a:xfrm xmlns:a="http://schemas.openxmlformats.org/drawingml/2006/main">
            <a:off x="6096000" y="1581150"/>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275" b="1" i="0">
                <a:solidFill>
                  <a:srgbClr val="5D7487"/>
                </a:solidFill>
                <a:latin typeface="Aptos"/>
                <a:ea typeface="Aptos"/>
                <a:cs typeface="Aptos"/>
              </a:defRPr>
            </a:pPr>
            <a:r>
              <a:rPr sz="1275" b="1" i="0">
                <a:solidFill>
                  <a:srgbClr val="5D7487"/>
                </a:solidFill>
                <a:latin typeface="Aptos"/>
                <a:ea typeface="Aptos"/>
                <a:cs typeface="Aptos"/>
              </a:rPr>
              <a:t>PITCH CONTROL PATH</a:t>
            </a:r>
          </a:p>
        </p:txBody>
      </p:sp>
      <p:sp>
        <p:nvSpPr>
          <p:cNvPr id="25" name="box-138">
            <a:extLst xmlns:a="http://schemas.openxmlformats.org/drawingml/2006/main">
              <a:ext uri="{FF2B5EF4-FFF2-40B4-BE49-F238E27FC236}">
                <a16:creationId xmlns:a16="http://schemas.microsoft.com/office/drawing/2014/main" id="{A16E1B2F-8BA0-44E3-96FA-CB82F8F0E44E}"/>
              </a:ext>
            </a:extLst>
          </p:cNvPr>
          <p:cNvSpPr>
            <a:spLocks xmlns:a="http://schemas.openxmlformats.org/drawingml/2006/main" noGrp="1"/>
          </p:cNvSpPr>
          <p:nvPr/>
        </p:nvSpPr>
        <p:spPr>
          <a:xfrm xmlns:a="http://schemas.openxmlformats.org/drawingml/2006/main">
            <a:off x="5886450" y="2419350"/>
            <a:ext cx="1047750" cy="6096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q error</a:t>
            </a:r>
          </a:p>
        </p:txBody>
      </p:sp>
      <p:sp>
        <p:nvSpPr>
          <p:cNvPr id="26" name="box-139">
            <a:extLst xmlns:a="http://schemas.openxmlformats.org/drawingml/2006/main">
              <a:ext uri="{FF2B5EF4-FFF2-40B4-BE49-F238E27FC236}">
                <a16:creationId xmlns:a16="http://schemas.microsoft.com/office/drawing/2014/main" id="{0D42C493-CB07-450F-B67A-BB1678BAB77B}"/>
              </a:ext>
            </a:extLst>
          </p:cNvPr>
          <p:cNvSpPr>
            <a:spLocks xmlns:a="http://schemas.openxmlformats.org/drawingml/2006/main" noGrp="1"/>
          </p:cNvSpPr>
          <p:nvPr/>
        </p:nvSpPr>
        <p:spPr>
          <a:xfrm xmlns:a="http://schemas.openxmlformats.org/drawingml/2006/main">
            <a:off x="7524750" y="2419350"/>
            <a:ext cx="1047750" cy="6096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filter</a:t>
            </a:r>
          </a:p>
        </p:txBody>
      </p:sp>
      <p:sp>
        <p:nvSpPr>
          <p:cNvPr id="27" name="box-140">
            <a:extLst xmlns:a="http://schemas.openxmlformats.org/drawingml/2006/main">
              <a:ext uri="{FF2B5EF4-FFF2-40B4-BE49-F238E27FC236}">
                <a16:creationId xmlns:a16="http://schemas.microsoft.com/office/drawing/2014/main" id="{AAA10F08-11A6-45BC-B078-10E55EF73F36}"/>
              </a:ext>
            </a:extLst>
          </p:cNvPr>
          <p:cNvSpPr>
            <a:spLocks xmlns:a="http://schemas.openxmlformats.org/drawingml/2006/main" noGrp="1"/>
          </p:cNvSpPr>
          <p:nvPr/>
        </p:nvSpPr>
        <p:spPr>
          <a:xfrm xmlns:a="http://schemas.openxmlformats.org/drawingml/2006/main">
            <a:off x="9163050" y="2419350"/>
            <a:ext cx="1047750" cy="6096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0B1F33"/>
                </a:solidFill>
                <a:latin typeface="Aptos"/>
                <a:ea typeface="Aptos"/>
                <a:cs typeface="Aptos"/>
              </a:defRPr>
            </a:pPr>
            <a:r>
              <a:rPr sz="1500" b="1">
                <a:solidFill>
                  <a:srgbClr val="0B1F33"/>
                </a:solidFill>
                <a:latin typeface="Aptos"/>
                <a:ea typeface="Aptos"/>
                <a:cs typeface="Aptos"/>
              </a:rPr>
              <a:t>Kq</a:t>
            </a:r>
          </a:p>
        </p:txBody>
      </p:sp>
      <p:sp>
        <p:nvSpPr>
          <p:cNvPr id="28" name="box-141">
            <a:extLst xmlns:a="http://schemas.openxmlformats.org/drawingml/2006/main">
              <a:ext uri="{FF2B5EF4-FFF2-40B4-BE49-F238E27FC236}">
                <a16:creationId xmlns:a16="http://schemas.microsoft.com/office/drawing/2014/main" id="{04F9D7EE-D8C1-4953-B40F-2101DDD09372}"/>
              </a:ext>
            </a:extLst>
          </p:cNvPr>
          <p:cNvSpPr>
            <a:spLocks xmlns:a="http://schemas.openxmlformats.org/drawingml/2006/main" noGrp="1"/>
          </p:cNvSpPr>
          <p:nvPr/>
        </p:nvSpPr>
        <p:spPr>
          <a:xfrm xmlns:a="http://schemas.openxmlformats.org/drawingml/2006/main">
            <a:off x="10525125" y="2305050"/>
            <a:ext cx="876300" cy="838200"/>
          </a:xfrm>
          <a:prstGeom xmlns:a="http://schemas.openxmlformats.org/drawingml/2006/main" prst="roundRect">
            <a:avLst>
              <a:gd name="adj" fmla="val 6818"/>
            </a:avLst>
          </a:prstGeom>
          <a:solidFill xmlns:a="http://schemas.openxmlformats.org/drawingml/2006/main">
            <a:srgbClr val="FFFFFF"/>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275" b="1">
                <a:solidFill>
                  <a:srgbClr val="0B1F33"/>
                </a:solidFill>
                <a:latin typeface="Aptos"/>
                <a:ea typeface="Aptos"/>
                <a:cs typeface="Aptos"/>
              </a:defRPr>
            </a:pPr>
            <a:r>
              <a:rPr sz="1275" b="1">
                <a:solidFill>
                  <a:srgbClr val="0B1F33"/>
                </a:solidFill>
                <a:latin typeface="Aptos"/>
                <a:ea typeface="Aptos"/>
                <a:cs typeface="Aptos"/>
              </a:rPr>
              <a:t>actuator</a:t>
            </a:r>
          </a:p>
          <a:p xmlns:a="http://schemas.openxmlformats.org/drawingml/2006/main">
            <a:pPr algn="ctr">
              <a:lnSpc>
                <a:spcPct val="100000"/>
              </a:lnSpc>
              <a:buNone/>
              <a:defRPr sz="1275" b="1">
                <a:solidFill>
                  <a:srgbClr val="0B1F33"/>
                </a:solidFill>
                <a:latin typeface="Aptos"/>
                <a:ea typeface="Aptos"/>
                <a:cs typeface="Aptos"/>
              </a:defRPr>
            </a:pPr>
            <a:r>
              <a:rPr sz="1275" b="1">
                <a:solidFill>
                  <a:srgbClr val="0B1F33"/>
                </a:solidFill>
                <a:latin typeface="Aptos"/>
                <a:ea typeface="Aptos"/>
                <a:cs typeface="Aptos"/>
              </a:rPr>
              <a:t>limit</a:t>
            </a:r>
          </a:p>
        </p:txBody>
      </p:sp>
      <p:cxnSp>
        <p:nvCxnSpPr>
          <p:cNvPr id="63" name=""/>
          <p:cNvCxnSpPr>
            <a:stCxn xmlns:a="http://schemas.openxmlformats.org/drawingml/2006/main" id="25" idx="3"/>
            <a:endCxn xmlns:a="http://schemas.openxmlformats.org/drawingml/2006/main" id="26" idx="1"/>
          </p:cNvCxnSpPr>
          <p:nvPr/>
        </p:nvCxnSpPr>
        <p:spPr>
          <a:xfrm xmlns:a="http://schemas.openxmlformats.org/drawingml/2006/main">
            <a:off x="6934200" y="2724150"/>
            <a:ext cx="590550" cy="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64" name=""/>
          <p:cNvCxnSpPr>
            <a:stCxn xmlns:a="http://schemas.openxmlformats.org/drawingml/2006/main" id="26" idx="3"/>
            <a:endCxn xmlns:a="http://schemas.openxmlformats.org/drawingml/2006/main" id="27" idx="1"/>
          </p:cNvCxnSpPr>
          <p:nvPr/>
        </p:nvCxnSpPr>
        <p:spPr>
          <a:xfrm xmlns:a="http://schemas.openxmlformats.org/drawingml/2006/main">
            <a:off x="8572500" y="2724150"/>
            <a:ext cx="59055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65" name=""/>
          <p:cNvCxnSpPr>
            <a:stCxn xmlns:a="http://schemas.openxmlformats.org/drawingml/2006/main" id="27" idx="3"/>
            <a:endCxn xmlns:a="http://schemas.openxmlformats.org/drawingml/2006/main" id="28" idx="1"/>
          </p:cNvCxnSpPr>
          <p:nvPr/>
        </p:nvCxnSpPr>
        <p:spPr>
          <a:xfrm xmlns:a="http://schemas.openxmlformats.org/drawingml/2006/main">
            <a:off x="10210800" y="2724150"/>
            <a:ext cx="314325" cy="0"/>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sp>
        <p:nvSpPr>
          <p:cNvPr id="32" name="box-142">
            <a:extLst xmlns:a="http://schemas.openxmlformats.org/drawingml/2006/main">
              <a:ext uri="{FF2B5EF4-FFF2-40B4-BE49-F238E27FC236}">
                <a16:creationId xmlns:a16="http://schemas.microsoft.com/office/drawing/2014/main" id="{62A2B11C-B4EC-4D02-A4BB-BFE54F5D4217}"/>
              </a:ext>
            </a:extLst>
          </p:cNvPr>
          <p:cNvSpPr>
            <a:spLocks xmlns:a="http://schemas.openxmlformats.org/drawingml/2006/main" noGrp="1"/>
          </p:cNvSpPr>
          <p:nvPr/>
        </p:nvSpPr>
        <p:spPr>
          <a:xfrm xmlns:a="http://schemas.openxmlformats.org/drawingml/2006/main">
            <a:off x="7429500" y="3857625"/>
            <a:ext cx="3048000" cy="742950"/>
          </a:xfrm>
          <a:prstGeom xmlns:a="http://schemas.openxmlformats.org/drawingml/2006/main" prst="roundRect">
            <a:avLst>
              <a:gd name="adj" fmla="val 10256"/>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0B1F33"/>
                </a:solidFill>
                <a:latin typeface="Aptos"/>
                <a:ea typeface="Aptos"/>
                <a:cs typeface="Aptos"/>
              </a:defRPr>
            </a:pPr>
            <a:r>
              <a:rPr sz="1500" b="1">
                <a:solidFill>
                  <a:srgbClr val="0B1F33"/>
                </a:solidFill>
                <a:latin typeface="Aptos"/>
                <a:ea typeface="Aptos"/>
                <a:cs typeface="Aptos"/>
              </a:rPr>
              <a:t>Gain schedule</a:t>
            </a:r>
          </a:p>
          <a:p xmlns:a="http://schemas.openxmlformats.org/drawingml/2006/main">
            <a:pPr algn="ctr">
              <a:lnSpc>
                <a:spcPct val="100000"/>
              </a:lnSpc>
              <a:buNone/>
              <a:defRPr sz="1500" b="1">
                <a:solidFill>
                  <a:srgbClr val="0B1F33"/>
                </a:solidFill>
                <a:latin typeface="Aptos"/>
                <a:ea typeface="Aptos"/>
                <a:cs typeface="Aptos"/>
              </a:defRPr>
            </a:pPr>
            <a:r>
              <a:rPr sz="1500" b="1">
                <a:solidFill>
                  <a:srgbClr val="0B1F33"/>
                </a:solidFill>
                <a:latin typeface="Aptos"/>
                <a:ea typeface="Aptos"/>
                <a:cs typeface="Aptos"/>
              </a:rPr>
              <a:t>Kq = f(Mach, altitude)</a:t>
            </a:r>
          </a:p>
        </p:txBody>
      </p:sp>
      <p:cxnSp>
        <p:nvCxnSpPr>
          <p:cNvPr id="67" name=""/>
          <p:cNvCxnSpPr>
            <a:stCxn xmlns:a="http://schemas.openxmlformats.org/drawingml/2006/main" id="32" idx="0"/>
            <a:endCxn xmlns:a="http://schemas.openxmlformats.org/drawingml/2006/main" id="27" idx="2"/>
          </p:cNvCxnSpPr>
          <p:nvPr/>
        </p:nvCxnSpPr>
        <p:spPr>
          <a:xfrm xmlns:a="http://schemas.openxmlformats.org/drawingml/2006/main" flipV="1">
            <a:off x="8953500" y="3028950"/>
            <a:ext cx="733425" cy="828675"/>
          </a:xfrm>
          <a:prstGeom xmlns:a="http://schemas.openxmlformats.org/drawingml/2006/main" prst="bentConnector4">
            <a:avLst>
              <a:gd name="adj1" fmla="val 0"/>
              <a:gd name="adj2" fmla="val 50000"/>
            </a:avLst>
          </a:prstGeom>
          <a:ln xmlns:a="http://schemas.openxmlformats.org/drawingml/2006/main" w="28575">
            <a:solidFill>
              <a:srgbClr val="E9A23B"/>
            </a:solidFill>
            <a:prstDash val="solid"/>
            <a:tailEnd type="triangle" w="sm" len="sm"/>
          </a:ln>
        </p:spPr>
      </p:cxnSp>
      <p:sp>
        <p:nvSpPr>
          <p:cNvPr id="34" name="text-143">
            <a:extLst xmlns:a="http://schemas.openxmlformats.org/drawingml/2006/main">
              <a:ext uri="{FF2B5EF4-FFF2-40B4-BE49-F238E27FC236}">
                <a16:creationId xmlns:a16="http://schemas.microsoft.com/office/drawing/2014/main" id="{3B2E528D-1D5F-4AE1-A757-9CBD7C654E40}"/>
              </a:ext>
            </a:extLst>
          </p:cNvPr>
          <p:cNvSpPr>
            <a:spLocks xmlns:a="http://schemas.openxmlformats.org/drawingml/2006/main" noGrp="1"/>
          </p:cNvSpPr>
          <p:nvPr/>
        </p:nvSpPr>
        <p:spPr>
          <a:xfrm xmlns:a="http://schemas.openxmlformats.org/drawingml/2006/main">
            <a:off x="6096000" y="5143500"/>
            <a:ext cx="514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725" b="1" i="0">
                <a:solidFill>
                  <a:srgbClr val="20B7C5"/>
                </a:solidFill>
                <a:latin typeface="Aptos"/>
                <a:ea typeface="Aptos"/>
                <a:cs typeface="Aptos"/>
              </a:defRPr>
            </a:pPr>
            <a:r>
              <a:rPr sz="1725" b="1" i="0">
                <a:solidFill>
                  <a:srgbClr val="20B7C5"/>
                </a:solidFill>
                <a:latin typeface="Aptos"/>
                <a:ea typeface="Aptos"/>
                <a:cs typeface="Aptos"/>
              </a:rPr>
              <a:t>Sensor processing enters on the left; actuator commands leave on the right.</a:t>
            </a:r>
          </a:p>
        </p:txBody>
      </p:sp>
    </p:spTree>
    <p:extLst>
      <p:ext uri="{BB962C8B-B14F-4D97-AF65-F5344CB8AC3E}">
        <p14:creationId xmlns:p14="http://schemas.microsoft.com/office/powerpoint/2010/main" val="1578336787"/>
      </p:ext>
    </p:extLst>
  </p:cSld>
</p:sld>
</file>

<file path=ppt/slides/slide1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02 • CONTROLS ENGINEERING IN SIMULINK</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Pitch, roll, and altitude share one discipline</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10</a:t>
            </a:r>
          </a:p>
        </p:txBody>
      </p:sp>
      <p:sp>
        <p:nvSpPr>
          <p:cNvPr id="6" name="text-147">
            <a:extLst xmlns:a="http://schemas.openxmlformats.org/drawingml/2006/main">
              <a:ext uri="{FF2B5EF4-FFF2-40B4-BE49-F238E27FC236}">
                <a16:creationId xmlns:a16="http://schemas.microsoft.com/office/drawing/2014/main" id="{4977B175-1BB8-4C31-AFDC-355EC74FB972}"/>
              </a:ext>
            </a:extLst>
          </p:cNvPr>
          <p:cNvSpPr>
            <a:spLocks xmlns:a="http://schemas.openxmlformats.org/drawingml/2006/main" noGrp="1"/>
          </p:cNvSpPr>
          <p:nvPr/>
        </p:nvSpPr>
        <p:spPr>
          <a:xfrm xmlns:a="http://schemas.openxmlformats.org/drawingml/2006/main">
            <a:off x="704850" y="1781175"/>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00" b="1" i="0">
                <a:solidFill>
                  <a:srgbClr val="2D6CDF"/>
                </a:solidFill>
                <a:latin typeface="Aptos"/>
                <a:ea typeface="Aptos"/>
                <a:cs typeface="Aptos"/>
              </a:defRPr>
            </a:pPr>
            <a:r>
              <a:rPr sz="1500" b="1" i="0">
                <a:solidFill>
                  <a:srgbClr val="2D6CDF"/>
                </a:solidFill>
                <a:latin typeface="Aptos"/>
                <a:ea typeface="Aptos"/>
                <a:cs typeface="Aptos"/>
              </a:rPr>
              <a:t>PITCH</a:t>
            </a:r>
          </a:p>
        </p:txBody>
      </p:sp>
      <p:sp>
        <p:nvSpPr>
          <p:cNvPr id="7" name="box-148">
            <a:extLst xmlns:a="http://schemas.openxmlformats.org/drawingml/2006/main">
              <a:ext uri="{FF2B5EF4-FFF2-40B4-BE49-F238E27FC236}">
                <a16:creationId xmlns:a16="http://schemas.microsoft.com/office/drawing/2014/main" id="{7BE18FCD-63EC-4421-BAA3-71F73C94D8EA}"/>
              </a:ext>
            </a:extLst>
          </p:cNvPr>
          <p:cNvSpPr>
            <a:spLocks xmlns:a="http://schemas.openxmlformats.org/drawingml/2006/main" noGrp="1"/>
          </p:cNvSpPr>
          <p:nvPr/>
        </p:nvSpPr>
        <p:spPr>
          <a:xfrm xmlns:a="http://schemas.openxmlformats.org/drawingml/2006/main">
            <a:off x="2143125" y="1666875"/>
            <a:ext cx="1809750" cy="590550"/>
          </a:xfrm>
          <a:prstGeom xmlns:a="http://schemas.openxmlformats.org/drawingml/2006/main" prst="roundRect">
            <a:avLst>
              <a:gd name="adj" fmla="val 9677"/>
            </a:avLst>
          </a:prstGeom>
          <a:solidFill xmlns:a="http://schemas.openxmlformats.org/drawingml/2006/main">
            <a:srgbClr val="FFFF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q or θ command</a:t>
            </a:r>
          </a:p>
        </p:txBody>
      </p:sp>
      <p:sp>
        <p:nvSpPr>
          <p:cNvPr id="8" name="box-149">
            <a:extLst xmlns:a="http://schemas.openxmlformats.org/drawingml/2006/main">
              <a:ext uri="{FF2B5EF4-FFF2-40B4-BE49-F238E27FC236}">
                <a16:creationId xmlns:a16="http://schemas.microsoft.com/office/drawing/2014/main" id="{027133CD-2900-4170-8A89-B8D747665C7B}"/>
              </a:ext>
            </a:extLst>
          </p:cNvPr>
          <p:cNvSpPr>
            <a:spLocks xmlns:a="http://schemas.openxmlformats.org/drawingml/2006/main" noGrp="1"/>
          </p:cNvSpPr>
          <p:nvPr/>
        </p:nvSpPr>
        <p:spPr>
          <a:xfrm xmlns:a="http://schemas.openxmlformats.org/drawingml/2006/main">
            <a:off x="4619625" y="1666875"/>
            <a:ext cx="1809750" cy="590550"/>
          </a:xfrm>
          <a:prstGeom xmlns:a="http://schemas.openxmlformats.org/drawingml/2006/main" prst="roundRect">
            <a:avLst>
              <a:gd name="adj" fmla="val 9677"/>
            </a:avLst>
          </a:prstGeom>
          <a:solidFill xmlns:a="http://schemas.openxmlformats.org/drawingml/2006/main">
            <a:srgbClr val="FFFF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Pitch controller</a:t>
            </a:r>
          </a:p>
        </p:txBody>
      </p:sp>
      <p:sp>
        <p:nvSpPr>
          <p:cNvPr id="9" name="box-150">
            <a:extLst xmlns:a="http://schemas.openxmlformats.org/drawingml/2006/main">
              <a:ext uri="{FF2B5EF4-FFF2-40B4-BE49-F238E27FC236}">
                <a16:creationId xmlns:a16="http://schemas.microsoft.com/office/drawing/2014/main" id="{EE9791E4-64B3-4E6F-978A-CA0F47C49D64}"/>
              </a:ext>
            </a:extLst>
          </p:cNvPr>
          <p:cNvSpPr>
            <a:spLocks xmlns:a="http://schemas.openxmlformats.org/drawingml/2006/main" noGrp="1"/>
          </p:cNvSpPr>
          <p:nvPr/>
        </p:nvSpPr>
        <p:spPr>
          <a:xfrm xmlns:a="http://schemas.openxmlformats.org/drawingml/2006/main">
            <a:off x="7096125" y="1666875"/>
            <a:ext cx="1809750" cy="590550"/>
          </a:xfrm>
          <a:prstGeom xmlns:a="http://schemas.openxmlformats.org/drawingml/2006/main" prst="roundRect">
            <a:avLst>
              <a:gd name="adj" fmla="val 9677"/>
            </a:avLst>
          </a:prstGeom>
          <a:solidFill xmlns:a="http://schemas.openxmlformats.org/drawingml/2006/main">
            <a:srgbClr val="FFFF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Elevator / stabilator</a:t>
            </a:r>
          </a:p>
        </p:txBody>
      </p:sp>
      <p:sp>
        <p:nvSpPr>
          <p:cNvPr id="10" name="box-151">
            <a:extLst xmlns:a="http://schemas.openxmlformats.org/drawingml/2006/main">
              <a:ext uri="{FF2B5EF4-FFF2-40B4-BE49-F238E27FC236}">
                <a16:creationId xmlns:a16="http://schemas.microsoft.com/office/drawing/2014/main" id="{E5AF2D0F-97EA-428D-9475-5BC16D1E6754}"/>
              </a:ext>
            </a:extLst>
          </p:cNvPr>
          <p:cNvSpPr>
            <a:spLocks xmlns:a="http://schemas.openxmlformats.org/drawingml/2006/main" noGrp="1"/>
          </p:cNvSpPr>
          <p:nvPr/>
        </p:nvSpPr>
        <p:spPr>
          <a:xfrm xmlns:a="http://schemas.openxmlformats.org/drawingml/2006/main">
            <a:off x="9572625" y="1666875"/>
            <a:ext cx="1809750" cy="590550"/>
          </a:xfrm>
          <a:prstGeom xmlns:a="http://schemas.openxmlformats.org/drawingml/2006/main" prst="roundRect">
            <a:avLst>
              <a:gd name="adj" fmla="val 9677"/>
            </a:avLst>
          </a:prstGeom>
          <a:solidFill xmlns:a="http://schemas.openxmlformats.org/drawingml/2006/main">
            <a:srgbClr val="FFFF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275" b="1">
                <a:solidFill>
                  <a:srgbClr val="0B1F33"/>
                </a:solidFill>
                <a:latin typeface="Aptos"/>
                <a:ea typeface="Aptos"/>
                <a:cs typeface="Aptos"/>
              </a:defRPr>
            </a:pPr>
            <a:r>
              <a:rPr sz="1275" b="1">
                <a:solidFill>
                  <a:srgbClr val="0B1F33"/>
                </a:solidFill>
                <a:latin typeface="Aptos"/>
                <a:ea typeface="Aptos"/>
                <a:cs typeface="Aptos"/>
              </a:rPr>
              <a:t>q, θ feedback</a:t>
            </a:r>
          </a:p>
        </p:txBody>
      </p:sp>
      <p:cxnSp>
        <p:nvCxnSpPr>
          <p:cNvPr id="44" name=""/>
          <p:cNvCxnSpPr>
            <a:stCxn xmlns:a="http://schemas.openxmlformats.org/drawingml/2006/main" id="7" idx="3"/>
            <a:endCxn xmlns:a="http://schemas.openxmlformats.org/drawingml/2006/main" id="8" idx="1"/>
          </p:cNvCxnSpPr>
          <p:nvPr/>
        </p:nvCxnSpPr>
        <p:spPr>
          <a:xfrm xmlns:a="http://schemas.openxmlformats.org/drawingml/2006/main">
            <a:off x="3952875" y="1962150"/>
            <a:ext cx="666750" cy="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45" name=""/>
          <p:cNvCxnSpPr>
            <a:stCxn xmlns:a="http://schemas.openxmlformats.org/drawingml/2006/main" id="8" idx="3"/>
            <a:endCxn xmlns:a="http://schemas.openxmlformats.org/drawingml/2006/main" id="9" idx="1"/>
          </p:cNvCxnSpPr>
          <p:nvPr/>
        </p:nvCxnSpPr>
        <p:spPr>
          <a:xfrm xmlns:a="http://schemas.openxmlformats.org/drawingml/2006/main">
            <a:off x="6429375" y="1962150"/>
            <a:ext cx="666750" cy="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46" name=""/>
          <p:cNvCxnSpPr>
            <a:stCxn xmlns:a="http://schemas.openxmlformats.org/drawingml/2006/main" id="9" idx="3"/>
            <a:endCxn xmlns:a="http://schemas.openxmlformats.org/drawingml/2006/main" id="10" idx="1"/>
          </p:cNvCxnSpPr>
          <p:nvPr/>
        </p:nvCxnSpPr>
        <p:spPr>
          <a:xfrm xmlns:a="http://schemas.openxmlformats.org/drawingml/2006/main">
            <a:off x="8905875" y="1962150"/>
            <a:ext cx="666750" cy="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47" name=""/>
          <p:cNvCxnSpPr>
            <a:stCxn xmlns:a="http://schemas.openxmlformats.org/drawingml/2006/main" id="10" idx="2"/>
            <a:endCxn xmlns:a="http://schemas.openxmlformats.org/drawingml/2006/main" id="8" idx="2"/>
          </p:cNvCxnSpPr>
          <p:nvPr/>
        </p:nvCxnSpPr>
        <p:spPr>
          <a:xfrm xmlns:a="http://schemas.openxmlformats.org/drawingml/2006/main" flipH="1">
            <a:off x="5524500" y="2257425"/>
            <a:ext cx="4953000" cy="228600"/>
          </a:xfrm>
          <a:prstGeom xmlns:a="http://schemas.openxmlformats.org/drawingml/2006/main" prst="bentConnector5">
            <a:avLst/>
          </a:prstGeom>
          <a:ln xmlns:a="http://schemas.openxmlformats.org/drawingml/2006/main" w="19050">
            <a:solidFill>
              <a:srgbClr val="2D6CDF"/>
            </a:solidFill>
            <a:prstDash val="solid"/>
            <a:tailEnd type="triangle" w="sm" len="sm"/>
          </a:ln>
        </p:spPr>
      </p:cxnSp>
      <p:sp>
        <p:nvSpPr>
          <p:cNvPr id="15" name="text-152">
            <a:extLst xmlns:a="http://schemas.openxmlformats.org/drawingml/2006/main">
              <a:ext uri="{FF2B5EF4-FFF2-40B4-BE49-F238E27FC236}">
                <a16:creationId xmlns:a16="http://schemas.microsoft.com/office/drawing/2014/main" id="{2AA18E50-18CB-4E22-B7EF-23A48C0108A4}"/>
              </a:ext>
            </a:extLst>
          </p:cNvPr>
          <p:cNvSpPr>
            <a:spLocks xmlns:a="http://schemas.openxmlformats.org/drawingml/2006/main" noGrp="1"/>
          </p:cNvSpPr>
          <p:nvPr/>
        </p:nvSpPr>
        <p:spPr>
          <a:xfrm xmlns:a="http://schemas.openxmlformats.org/drawingml/2006/main">
            <a:off x="704850" y="3114675"/>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00" b="1" i="0">
                <a:solidFill>
                  <a:srgbClr val="20B7C5"/>
                </a:solidFill>
                <a:latin typeface="Aptos"/>
                <a:ea typeface="Aptos"/>
                <a:cs typeface="Aptos"/>
              </a:defRPr>
            </a:pPr>
            <a:r>
              <a:rPr sz="1500" b="1" i="0">
                <a:solidFill>
                  <a:srgbClr val="20B7C5"/>
                </a:solidFill>
                <a:latin typeface="Aptos"/>
                <a:ea typeface="Aptos"/>
                <a:cs typeface="Aptos"/>
              </a:rPr>
              <a:t>ROLL</a:t>
            </a:r>
          </a:p>
        </p:txBody>
      </p:sp>
      <p:sp>
        <p:nvSpPr>
          <p:cNvPr id="16" name="box-153">
            <a:extLst xmlns:a="http://schemas.openxmlformats.org/drawingml/2006/main">
              <a:ext uri="{FF2B5EF4-FFF2-40B4-BE49-F238E27FC236}">
                <a16:creationId xmlns:a16="http://schemas.microsoft.com/office/drawing/2014/main" id="{EEEBF92F-3FB3-46C8-BD13-0D3D17799052}"/>
              </a:ext>
            </a:extLst>
          </p:cNvPr>
          <p:cNvSpPr>
            <a:spLocks xmlns:a="http://schemas.openxmlformats.org/drawingml/2006/main" noGrp="1"/>
          </p:cNvSpPr>
          <p:nvPr/>
        </p:nvSpPr>
        <p:spPr>
          <a:xfrm xmlns:a="http://schemas.openxmlformats.org/drawingml/2006/main">
            <a:off x="2143125" y="3000375"/>
            <a:ext cx="1809750" cy="590550"/>
          </a:xfrm>
          <a:prstGeom xmlns:a="http://schemas.openxmlformats.org/drawingml/2006/main" prst="roundRect">
            <a:avLst>
              <a:gd name="adj" fmla="val 9677"/>
            </a:avLst>
          </a:prstGeom>
          <a:solidFill xmlns:a="http://schemas.openxmlformats.org/drawingml/2006/main">
            <a:srgbClr val="FFFFFF"/>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p or ϕ command</a:t>
            </a:r>
          </a:p>
        </p:txBody>
      </p:sp>
      <p:sp>
        <p:nvSpPr>
          <p:cNvPr id="17" name="box-154">
            <a:extLst xmlns:a="http://schemas.openxmlformats.org/drawingml/2006/main">
              <a:ext uri="{FF2B5EF4-FFF2-40B4-BE49-F238E27FC236}">
                <a16:creationId xmlns:a16="http://schemas.microsoft.com/office/drawing/2014/main" id="{4D008090-952D-4C4A-9769-A8756F8C8B77}"/>
              </a:ext>
            </a:extLst>
          </p:cNvPr>
          <p:cNvSpPr>
            <a:spLocks xmlns:a="http://schemas.openxmlformats.org/drawingml/2006/main" noGrp="1"/>
          </p:cNvSpPr>
          <p:nvPr/>
        </p:nvSpPr>
        <p:spPr>
          <a:xfrm xmlns:a="http://schemas.openxmlformats.org/drawingml/2006/main">
            <a:off x="4619625" y="3000375"/>
            <a:ext cx="1809750" cy="590550"/>
          </a:xfrm>
          <a:prstGeom xmlns:a="http://schemas.openxmlformats.org/drawingml/2006/main" prst="roundRect">
            <a:avLst>
              <a:gd name="adj" fmla="val 9677"/>
            </a:avLst>
          </a:prstGeom>
          <a:solidFill xmlns:a="http://schemas.openxmlformats.org/drawingml/2006/main">
            <a:srgbClr val="FFFFFF"/>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Roll controller</a:t>
            </a:r>
          </a:p>
        </p:txBody>
      </p:sp>
      <p:sp>
        <p:nvSpPr>
          <p:cNvPr id="18" name="box-155">
            <a:extLst xmlns:a="http://schemas.openxmlformats.org/drawingml/2006/main">
              <a:ext uri="{FF2B5EF4-FFF2-40B4-BE49-F238E27FC236}">
                <a16:creationId xmlns:a16="http://schemas.microsoft.com/office/drawing/2014/main" id="{065744F8-0630-48BD-B3D4-D1C491FC26B1}"/>
              </a:ext>
            </a:extLst>
          </p:cNvPr>
          <p:cNvSpPr>
            <a:spLocks xmlns:a="http://schemas.openxmlformats.org/drawingml/2006/main" noGrp="1"/>
          </p:cNvSpPr>
          <p:nvPr/>
        </p:nvSpPr>
        <p:spPr>
          <a:xfrm xmlns:a="http://schemas.openxmlformats.org/drawingml/2006/main">
            <a:off x="7096125" y="3000375"/>
            <a:ext cx="1809750" cy="590550"/>
          </a:xfrm>
          <a:prstGeom xmlns:a="http://schemas.openxmlformats.org/drawingml/2006/main" prst="roundRect">
            <a:avLst>
              <a:gd name="adj" fmla="val 9677"/>
            </a:avLst>
          </a:prstGeom>
          <a:solidFill xmlns:a="http://schemas.openxmlformats.org/drawingml/2006/main">
            <a:srgbClr val="FFFFFF"/>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Aileron / spoiler</a:t>
            </a:r>
          </a:p>
        </p:txBody>
      </p:sp>
      <p:sp>
        <p:nvSpPr>
          <p:cNvPr id="19" name="box-156">
            <a:extLst xmlns:a="http://schemas.openxmlformats.org/drawingml/2006/main">
              <a:ext uri="{FF2B5EF4-FFF2-40B4-BE49-F238E27FC236}">
                <a16:creationId xmlns:a16="http://schemas.microsoft.com/office/drawing/2014/main" id="{6C046F29-593C-4FE9-B723-19778B284866}"/>
              </a:ext>
            </a:extLst>
          </p:cNvPr>
          <p:cNvSpPr>
            <a:spLocks xmlns:a="http://schemas.openxmlformats.org/drawingml/2006/main" noGrp="1"/>
          </p:cNvSpPr>
          <p:nvPr/>
        </p:nvSpPr>
        <p:spPr>
          <a:xfrm xmlns:a="http://schemas.openxmlformats.org/drawingml/2006/main">
            <a:off x="9572625" y="3000375"/>
            <a:ext cx="1809750" cy="590550"/>
          </a:xfrm>
          <a:prstGeom xmlns:a="http://schemas.openxmlformats.org/drawingml/2006/main" prst="roundRect">
            <a:avLst>
              <a:gd name="adj" fmla="val 9677"/>
            </a:avLst>
          </a:prstGeom>
          <a:solidFill xmlns:a="http://schemas.openxmlformats.org/drawingml/2006/main">
            <a:srgbClr val="FFFFFF"/>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275" b="1">
                <a:solidFill>
                  <a:srgbClr val="0B1F33"/>
                </a:solidFill>
                <a:latin typeface="Aptos"/>
                <a:ea typeface="Aptos"/>
                <a:cs typeface="Aptos"/>
              </a:defRPr>
            </a:pPr>
            <a:r>
              <a:rPr sz="1275" b="1">
                <a:solidFill>
                  <a:srgbClr val="0B1F33"/>
                </a:solidFill>
                <a:latin typeface="Aptos"/>
                <a:ea typeface="Aptos"/>
                <a:cs typeface="Aptos"/>
              </a:rPr>
              <a:t>p, ϕ feedback</a:t>
            </a:r>
          </a:p>
        </p:txBody>
      </p:sp>
      <p:cxnSp>
        <p:nvCxnSpPr>
          <p:cNvPr id="53" name=""/>
          <p:cNvCxnSpPr>
            <a:stCxn xmlns:a="http://schemas.openxmlformats.org/drawingml/2006/main" id="16" idx="3"/>
            <a:endCxn xmlns:a="http://schemas.openxmlformats.org/drawingml/2006/main" id="17" idx="1"/>
          </p:cNvCxnSpPr>
          <p:nvPr/>
        </p:nvCxnSpPr>
        <p:spPr>
          <a:xfrm xmlns:a="http://schemas.openxmlformats.org/drawingml/2006/main">
            <a:off x="3952875" y="3295650"/>
            <a:ext cx="66675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54" name=""/>
          <p:cNvCxnSpPr>
            <a:stCxn xmlns:a="http://schemas.openxmlformats.org/drawingml/2006/main" id="17" idx="3"/>
            <a:endCxn xmlns:a="http://schemas.openxmlformats.org/drawingml/2006/main" id="18" idx="1"/>
          </p:cNvCxnSpPr>
          <p:nvPr/>
        </p:nvCxnSpPr>
        <p:spPr>
          <a:xfrm xmlns:a="http://schemas.openxmlformats.org/drawingml/2006/main">
            <a:off x="6429375" y="3295650"/>
            <a:ext cx="66675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55" name=""/>
          <p:cNvCxnSpPr>
            <a:stCxn xmlns:a="http://schemas.openxmlformats.org/drawingml/2006/main" id="18" idx="3"/>
            <a:endCxn xmlns:a="http://schemas.openxmlformats.org/drawingml/2006/main" id="19" idx="1"/>
          </p:cNvCxnSpPr>
          <p:nvPr/>
        </p:nvCxnSpPr>
        <p:spPr>
          <a:xfrm xmlns:a="http://schemas.openxmlformats.org/drawingml/2006/main">
            <a:off x="8905875" y="3295650"/>
            <a:ext cx="66675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56" name=""/>
          <p:cNvCxnSpPr>
            <a:stCxn xmlns:a="http://schemas.openxmlformats.org/drawingml/2006/main" id="19" idx="2"/>
            <a:endCxn xmlns:a="http://schemas.openxmlformats.org/drawingml/2006/main" id="17" idx="2"/>
          </p:cNvCxnSpPr>
          <p:nvPr/>
        </p:nvCxnSpPr>
        <p:spPr>
          <a:xfrm xmlns:a="http://schemas.openxmlformats.org/drawingml/2006/main" flipH="1">
            <a:off x="5524500" y="3590925"/>
            <a:ext cx="4953000" cy="228600"/>
          </a:xfrm>
          <a:prstGeom xmlns:a="http://schemas.openxmlformats.org/drawingml/2006/main" prst="bentConnector5">
            <a:avLst/>
          </a:prstGeom>
          <a:ln xmlns:a="http://schemas.openxmlformats.org/drawingml/2006/main" w="19050">
            <a:solidFill>
              <a:srgbClr val="20B7C5"/>
            </a:solidFill>
            <a:prstDash val="solid"/>
            <a:tailEnd type="triangle" w="sm" len="sm"/>
          </a:ln>
        </p:spPr>
      </p:cxnSp>
      <p:sp>
        <p:nvSpPr>
          <p:cNvPr id="24" name="text-157">
            <a:extLst xmlns:a="http://schemas.openxmlformats.org/drawingml/2006/main">
              <a:ext uri="{FF2B5EF4-FFF2-40B4-BE49-F238E27FC236}">
                <a16:creationId xmlns:a16="http://schemas.microsoft.com/office/drawing/2014/main" id="{9E5018DA-8119-49BD-90B0-B47D267B4440}"/>
              </a:ext>
            </a:extLst>
          </p:cNvPr>
          <p:cNvSpPr>
            <a:spLocks xmlns:a="http://schemas.openxmlformats.org/drawingml/2006/main" noGrp="1"/>
          </p:cNvSpPr>
          <p:nvPr/>
        </p:nvSpPr>
        <p:spPr>
          <a:xfrm xmlns:a="http://schemas.openxmlformats.org/drawingml/2006/main">
            <a:off x="704850" y="4448175"/>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00" b="1" i="0">
                <a:solidFill>
                  <a:srgbClr val="2CA56F"/>
                </a:solidFill>
                <a:latin typeface="Aptos"/>
                <a:ea typeface="Aptos"/>
                <a:cs typeface="Aptos"/>
              </a:defRPr>
            </a:pPr>
            <a:r>
              <a:rPr sz="1500" b="1" i="0">
                <a:solidFill>
                  <a:srgbClr val="2CA56F"/>
                </a:solidFill>
                <a:latin typeface="Aptos"/>
                <a:ea typeface="Aptos"/>
                <a:cs typeface="Aptos"/>
              </a:rPr>
              <a:t>ALTITUDE HOLD</a:t>
            </a:r>
          </a:p>
        </p:txBody>
      </p:sp>
      <p:sp>
        <p:nvSpPr>
          <p:cNvPr id="25" name="box-158">
            <a:extLst xmlns:a="http://schemas.openxmlformats.org/drawingml/2006/main">
              <a:ext uri="{FF2B5EF4-FFF2-40B4-BE49-F238E27FC236}">
                <a16:creationId xmlns:a16="http://schemas.microsoft.com/office/drawing/2014/main" id="{AAD89EA0-3555-46DE-A179-8C166C272052}"/>
              </a:ext>
            </a:extLst>
          </p:cNvPr>
          <p:cNvSpPr>
            <a:spLocks xmlns:a="http://schemas.openxmlformats.org/drawingml/2006/main" noGrp="1"/>
          </p:cNvSpPr>
          <p:nvPr/>
        </p:nvSpPr>
        <p:spPr>
          <a:xfrm xmlns:a="http://schemas.openxmlformats.org/drawingml/2006/main">
            <a:off x="2143125" y="4333875"/>
            <a:ext cx="1809750" cy="590550"/>
          </a:xfrm>
          <a:prstGeom xmlns:a="http://schemas.openxmlformats.org/drawingml/2006/main" prst="roundRect">
            <a:avLst>
              <a:gd name="adj" fmla="val 9677"/>
            </a:avLst>
          </a:prstGeom>
          <a:solidFill xmlns:a="http://schemas.openxmlformats.org/drawingml/2006/main">
            <a:srgbClr val="FFFFFF"/>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h command</a:t>
            </a:r>
          </a:p>
        </p:txBody>
      </p:sp>
      <p:sp>
        <p:nvSpPr>
          <p:cNvPr id="26" name="box-159">
            <a:extLst xmlns:a="http://schemas.openxmlformats.org/drawingml/2006/main">
              <a:ext uri="{FF2B5EF4-FFF2-40B4-BE49-F238E27FC236}">
                <a16:creationId xmlns:a16="http://schemas.microsoft.com/office/drawing/2014/main" id="{B4A722F2-DBFE-45C6-AC4F-EF30C147DC39}"/>
              </a:ext>
            </a:extLst>
          </p:cNvPr>
          <p:cNvSpPr>
            <a:spLocks xmlns:a="http://schemas.openxmlformats.org/drawingml/2006/main" noGrp="1"/>
          </p:cNvSpPr>
          <p:nvPr/>
        </p:nvSpPr>
        <p:spPr>
          <a:xfrm xmlns:a="http://schemas.openxmlformats.org/drawingml/2006/main">
            <a:off x="4619625" y="4333875"/>
            <a:ext cx="1809750" cy="590550"/>
          </a:xfrm>
          <a:prstGeom xmlns:a="http://schemas.openxmlformats.org/drawingml/2006/main" prst="roundRect">
            <a:avLst>
              <a:gd name="adj" fmla="val 9677"/>
            </a:avLst>
          </a:prstGeom>
          <a:solidFill xmlns:a="http://schemas.openxmlformats.org/drawingml/2006/main">
            <a:srgbClr val="FFFFFF"/>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Outer altitude loop</a:t>
            </a:r>
          </a:p>
        </p:txBody>
      </p:sp>
      <p:sp>
        <p:nvSpPr>
          <p:cNvPr id="27" name="box-160">
            <a:extLst xmlns:a="http://schemas.openxmlformats.org/drawingml/2006/main">
              <a:ext uri="{FF2B5EF4-FFF2-40B4-BE49-F238E27FC236}">
                <a16:creationId xmlns:a16="http://schemas.microsoft.com/office/drawing/2014/main" id="{7CF422D9-9F08-42C0-99A7-5D89FD930F59}"/>
              </a:ext>
            </a:extLst>
          </p:cNvPr>
          <p:cNvSpPr>
            <a:spLocks xmlns:a="http://schemas.openxmlformats.org/drawingml/2006/main" noGrp="1"/>
          </p:cNvSpPr>
          <p:nvPr/>
        </p:nvSpPr>
        <p:spPr>
          <a:xfrm xmlns:a="http://schemas.openxmlformats.org/drawingml/2006/main">
            <a:off x="7096125" y="4333875"/>
            <a:ext cx="1809750" cy="590550"/>
          </a:xfrm>
          <a:prstGeom xmlns:a="http://schemas.openxmlformats.org/drawingml/2006/main" prst="roundRect">
            <a:avLst>
              <a:gd name="adj" fmla="val 9677"/>
            </a:avLst>
          </a:prstGeom>
          <a:solidFill xmlns:a="http://schemas.openxmlformats.org/drawingml/2006/main">
            <a:srgbClr val="FFFFFF"/>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Pitch command</a:t>
            </a:r>
          </a:p>
        </p:txBody>
      </p:sp>
      <p:sp>
        <p:nvSpPr>
          <p:cNvPr id="28" name="box-161">
            <a:extLst xmlns:a="http://schemas.openxmlformats.org/drawingml/2006/main">
              <a:ext uri="{FF2B5EF4-FFF2-40B4-BE49-F238E27FC236}">
                <a16:creationId xmlns:a16="http://schemas.microsoft.com/office/drawing/2014/main" id="{930D01D6-4276-4AD0-8178-3ECF36EB9D98}"/>
              </a:ext>
            </a:extLst>
          </p:cNvPr>
          <p:cNvSpPr>
            <a:spLocks xmlns:a="http://schemas.openxmlformats.org/drawingml/2006/main" noGrp="1"/>
          </p:cNvSpPr>
          <p:nvPr/>
        </p:nvSpPr>
        <p:spPr>
          <a:xfrm xmlns:a="http://schemas.openxmlformats.org/drawingml/2006/main">
            <a:off x="9572625" y="4333875"/>
            <a:ext cx="1809750" cy="590550"/>
          </a:xfrm>
          <a:prstGeom xmlns:a="http://schemas.openxmlformats.org/drawingml/2006/main" prst="roundRect">
            <a:avLst>
              <a:gd name="adj" fmla="val 9677"/>
            </a:avLst>
          </a:prstGeom>
          <a:solidFill xmlns:a="http://schemas.openxmlformats.org/drawingml/2006/main">
            <a:srgbClr val="FFFFFF"/>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275" b="1">
                <a:solidFill>
                  <a:srgbClr val="0B1F33"/>
                </a:solidFill>
                <a:latin typeface="Aptos"/>
                <a:ea typeface="Aptos"/>
                <a:cs typeface="Aptos"/>
              </a:defRPr>
            </a:pPr>
            <a:r>
              <a:rPr sz="1275" b="1">
                <a:solidFill>
                  <a:srgbClr val="0B1F33"/>
                </a:solidFill>
                <a:latin typeface="Aptos"/>
                <a:ea typeface="Aptos"/>
                <a:cs typeface="Aptos"/>
              </a:rPr>
              <a:t>altitude + vertical speed</a:t>
            </a:r>
          </a:p>
        </p:txBody>
      </p:sp>
      <p:cxnSp>
        <p:nvCxnSpPr>
          <p:cNvPr id="62" name=""/>
          <p:cNvCxnSpPr>
            <a:stCxn xmlns:a="http://schemas.openxmlformats.org/drawingml/2006/main" id="25" idx="3"/>
            <a:endCxn xmlns:a="http://schemas.openxmlformats.org/drawingml/2006/main" id="26" idx="1"/>
          </p:cNvCxnSpPr>
          <p:nvPr/>
        </p:nvCxnSpPr>
        <p:spPr>
          <a:xfrm xmlns:a="http://schemas.openxmlformats.org/drawingml/2006/main">
            <a:off x="3952875" y="4629150"/>
            <a:ext cx="666750" cy="0"/>
          </a:xfrm>
          <a:prstGeom xmlns:a="http://schemas.openxmlformats.org/drawingml/2006/main" prst="straightConnector1">
            <a:avLst/>
          </a:prstGeom>
          <a:ln xmlns:a="http://schemas.openxmlformats.org/drawingml/2006/main" w="28575">
            <a:solidFill>
              <a:srgbClr val="2CA56F"/>
            </a:solidFill>
            <a:prstDash val="solid"/>
            <a:tailEnd type="triangle" w="sm" len="sm"/>
          </a:ln>
        </p:spPr>
      </p:cxnSp>
      <p:cxnSp>
        <p:nvCxnSpPr>
          <p:cNvPr id="63" name=""/>
          <p:cNvCxnSpPr>
            <a:stCxn xmlns:a="http://schemas.openxmlformats.org/drawingml/2006/main" id="26" idx="3"/>
            <a:endCxn xmlns:a="http://schemas.openxmlformats.org/drawingml/2006/main" id="27" idx="1"/>
          </p:cNvCxnSpPr>
          <p:nvPr/>
        </p:nvCxnSpPr>
        <p:spPr>
          <a:xfrm xmlns:a="http://schemas.openxmlformats.org/drawingml/2006/main">
            <a:off x="6429375" y="4629150"/>
            <a:ext cx="666750" cy="0"/>
          </a:xfrm>
          <a:prstGeom xmlns:a="http://schemas.openxmlformats.org/drawingml/2006/main" prst="straightConnector1">
            <a:avLst/>
          </a:prstGeom>
          <a:ln xmlns:a="http://schemas.openxmlformats.org/drawingml/2006/main" w="28575">
            <a:solidFill>
              <a:srgbClr val="2CA56F"/>
            </a:solidFill>
            <a:prstDash val="solid"/>
            <a:tailEnd type="triangle" w="sm" len="sm"/>
          </a:ln>
        </p:spPr>
      </p:cxnSp>
      <p:cxnSp>
        <p:nvCxnSpPr>
          <p:cNvPr id="64" name=""/>
          <p:cNvCxnSpPr>
            <a:stCxn xmlns:a="http://schemas.openxmlformats.org/drawingml/2006/main" id="27" idx="3"/>
            <a:endCxn xmlns:a="http://schemas.openxmlformats.org/drawingml/2006/main" id="28" idx="1"/>
          </p:cNvCxnSpPr>
          <p:nvPr/>
        </p:nvCxnSpPr>
        <p:spPr>
          <a:xfrm xmlns:a="http://schemas.openxmlformats.org/drawingml/2006/main">
            <a:off x="8905875" y="4629150"/>
            <a:ext cx="666750" cy="0"/>
          </a:xfrm>
          <a:prstGeom xmlns:a="http://schemas.openxmlformats.org/drawingml/2006/main" prst="straightConnector1">
            <a:avLst/>
          </a:prstGeom>
          <a:ln xmlns:a="http://schemas.openxmlformats.org/drawingml/2006/main" w="28575">
            <a:solidFill>
              <a:srgbClr val="2CA56F"/>
            </a:solidFill>
            <a:prstDash val="solid"/>
            <a:tailEnd type="triangle" w="sm" len="sm"/>
          </a:ln>
        </p:spPr>
      </p:cxnSp>
      <p:cxnSp>
        <p:nvCxnSpPr>
          <p:cNvPr id="65" name=""/>
          <p:cNvCxnSpPr>
            <a:stCxn xmlns:a="http://schemas.openxmlformats.org/drawingml/2006/main" id="28" idx="2"/>
            <a:endCxn xmlns:a="http://schemas.openxmlformats.org/drawingml/2006/main" id="26" idx="2"/>
          </p:cNvCxnSpPr>
          <p:nvPr/>
        </p:nvCxnSpPr>
        <p:spPr>
          <a:xfrm xmlns:a="http://schemas.openxmlformats.org/drawingml/2006/main" flipH="1">
            <a:off x="5524500" y="4924425"/>
            <a:ext cx="4953000" cy="228600"/>
          </a:xfrm>
          <a:prstGeom xmlns:a="http://schemas.openxmlformats.org/drawingml/2006/main" prst="bentConnector5">
            <a:avLst/>
          </a:prstGeom>
          <a:ln xmlns:a="http://schemas.openxmlformats.org/drawingml/2006/main" w="19050">
            <a:solidFill>
              <a:srgbClr val="2CA56F"/>
            </a:solidFill>
            <a:prstDash val="solid"/>
            <a:tailEnd type="triangle" w="sm" len="sm"/>
          </a:ln>
        </p:spPr>
      </p:cxnSp>
      <p:sp>
        <p:nvSpPr>
          <p:cNvPr id="33" name="box-162">
            <a:extLst xmlns:a="http://schemas.openxmlformats.org/drawingml/2006/main">
              <a:ext uri="{FF2B5EF4-FFF2-40B4-BE49-F238E27FC236}">
                <a16:creationId xmlns:a16="http://schemas.microsoft.com/office/drawing/2014/main" id="{EA350439-72B8-4F82-88EA-D85A9D173A46}"/>
              </a:ext>
            </a:extLst>
          </p:cNvPr>
          <p:cNvSpPr>
            <a:spLocks xmlns:a="http://schemas.openxmlformats.org/drawingml/2006/main" noGrp="1"/>
          </p:cNvSpPr>
          <p:nvPr/>
        </p:nvSpPr>
        <p:spPr>
          <a:xfrm xmlns:a="http://schemas.openxmlformats.org/drawingml/2006/main">
            <a:off x="1333500" y="5619750"/>
            <a:ext cx="9525000" cy="533400"/>
          </a:xfrm>
          <a:prstGeom xmlns:a="http://schemas.openxmlformats.org/drawingml/2006/main" prst="roundRect">
            <a:avLst>
              <a:gd name="adj" fmla="val 14286"/>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Common review questions: units • sign convention • sample rate • limits • valid modes • fallback behavior</a:t>
            </a:r>
          </a:p>
        </p:txBody>
      </p:sp>
    </p:spTree>
    <p:extLst>
      <p:ext uri="{BB962C8B-B14F-4D97-AF65-F5344CB8AC3E}">
        <p14:creationId xmlns:p14="http://schemas.microsoft.com/office/powerpoint/2010/main" val="354341949"/>
      </p:ext>
    </p:extLst>
  </p:cSld>
</p:sld>
</file>

<file path=ppt/slides/slide1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162">
            <a:extLst xmlns:a="http://schemas.openxmlformats.org/drawingml/2006/main">
              <a:ext uri="{FF2B5EF4-FFF2-40B4-BE49-F238E27FC236}">
                <a16:creationId xmlns:a16="http://schemas.microsoft.com/office/drawing/2014/main" id="{4D8B0D0F-2FB4-49B2-8AFE-64D9A0B796FC}"/>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02 • CONTROLS ENGINEERING IN SIMULINK</a:t>
            </a:r>
          </a:p>
        </p:txBody>
      </p:sp>
      <p:sp>
        <p:nvSpPr>
          <p:cNvPr id="2" name="title-162">
            <a:extLst xmlns:a="http://schemas.openxmlformats.org/drawingml/2006/main">
              <a:ext uri="{FF2B5EF4-FFF2-40B4-BE49-F238E27FC236}">
                <a16:creationId xmlns:a16="http://schemas.microsoft.com/office/drawing/2014/main" id="{4109C46C-6FCD-49F5-B200-9338E2864EDA}"/>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Modes select the law; schedules adapt it</a:t>
            </a:r>
          </a:p>
        </p:txBody>
      </p:sp>
      <p:sp>
        <p:nvSpPr>
          <p:cNvPr id="3" name="line-163">
            <a:extLst xmlns:a="http://schemas.openxmlformats.org/drawingml/2006/main">
              <a:ext uri="{FF2B5EF4-FFF2-40B4-BE49-F238E27FC236}">
                <a16:creationId xmlns:a16="http://schemas.microsoft.com/office/drawing/2014/main" id="{CCCB790A-BF2E-4AB2-B27A-2F6038A4245D}"/>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64">
            <a:extLst xmlns:a="http://schemas.openxmlformats.org/drawingml/2006/main">
              <a:ext uri="{FF2B5EF4-FFF2-40B4-BE49-F238E27FC236}">
                <a16:creationId xmlns:a16="http://schemas.microsoft.com/office/drawing/2014/main" id="{157DA5B0-5B52-44DC-B3E1-FB6BC3DF56A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65">
            <a:extLst xmlns:a="http://schemas.openxmlformats.org/drawingml/2006/main">
              <a:ext uri="{FF2B5EF4-FFF2-40B4-BE49-F238E27FC236}">
                <a16:creationId xmlns:a16="http://schemas.microsoft.com/office/drawing/2014/main" id="{74DAD04D-06CA-4AE6-B823-18C1516BDA2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11</a:t>
            </a:r>
          </a:p>
        </p:txBody>
      </p:sp>
      <p:sp>
        <p:nvSpPr>
          <p:cNvPr id="6" name="text-166">
            <a:extLst xmlns:a="http://schemas.openxmlformats.org/drawingml/2006/main">
              <a:ext uri="{FF2B5EF4-FFF2-40B4-BE49-F238E27FC236}">
                <a16:creationId xmlns:a16="http://schemas.microsoft.com/office/drawing/2014/main" id="{DB8247EE-09B7-40EE-8EBA-D4475D8AC3A1}"/>
              </a:ext>
            </a:extLst>
          </p:cNvPr>
          <p:cNvSpPr>
            <a:spLocks xmlns:a="http://schemas.openxmlformats.org/drawingml/2006/main" noGrp="1"/>
          </p:cNvSpPr>
          <p:nvPr/>
        </p:nvSpPr>
        <p:spPr>
          <a:xfrm xmlns:a="http://schemas.openxmlformats.org/drawingml/2006/main">
            <a:off x="762000" y="15240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350" b="1" i="0">
                <a:solidFill>
                  <a:srgbClr val="5D7487"/>
                </a:solidFill>
                <a:latin typeface="Aptos"/>
                <a:ea typeface="Aptos"/>
                <a:cs typeface="Aptos"/>
              </a:defRPr>
            </a:pPr>
            <a:r>
              <a:rPr sz="1350" b="1" i="0">
                <a:solidFill>
                  <a:srgbClr val="5D7487"/>
                </a:solidFill>
                <a:latin typeface="Aptos"/>
                <a:ea typeface="Aptos"/>
                <a:cs typeface="Aptos"/>
              </a:rPr>
              <a:t>AUTOPILOT MODE LOGIC</a:t>
            </a:r>
          </a:p>
        </p:txBody>
      </p:sp>
      <p:sp>
        <p:nvSpPr>
          <p:cNvPr id="7" name="box-167">
            <a:extLst xmlns:a="http://schemas.openxmlformats.org/drawingml/2006/main">
              <a:ext uri="{FF2B5EF4-FFF2-40B4-BE49-F238E27FC236}">
                <a16:creationId xmlns:a16="http://schemas.microsoft.com/office/drawing/2014/main" id="{66299275-D530-424D-A583-C58C98CECACC}"/>
              </a:ext>
            </a:extLst>
          </p:cNvPr>
          <p:cNvSpPr>
            <a:spLocks xmlns:a="http://schemas.openxmlformats.org/drawingml/2006/main" noGrp="1"/>
          </p:cNvSpPr>
          <p:nvPr/>
        </p:nvSpPr>
        <p:spPr>
          <a:xfrm xmlns:a="http://schemas.openxmlformats.org/drawingml/2006/main">
            <a:off x="1066800" y="2266950"/>
            <a:ext cx="1238250" cy="609600"/>
          </a:xfrm>
          <a:prstGeom xmlns:a="http://schemas.openxmlformats.org/drawingml/2006/main" prst="roundRect">
            <a:avLst>
              <a:gd name="adj" fmla="val 15625"/>
            </a:avLst>
          </a:prstGeom>
          <a:solidFill xmlns:a="http://schemas.openxmlformats.org/drawingml/2006/main">
            <a:srgbClr val="E7F0F5"/>
          </a:solidFill>
          <a:ln xmlns:a="http://schemas.openxmlformats.org/drawingml/2006/main" w="9525">
            <a:solidFill>
              <a:srgbClr val="5D7487"/>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OFF</a:t>
            </a:r>
          </a:p>
        </p:txBody>
      </p:sp>
      <p:sp>
        <p:nvSpPr>
          <p:cNvPr id="8" name="box-168">
            <a:extLst xmlns:a="http://schemas.openxmlformats.org/drawingml/2006/main">
              <a:ext uri="{FF2B5EF4-FFF2-40B4-BE49-F238E27FC236}">
                <a16:creationId xmlns:a16="http://schemas.microsoft.com/office/drawing/2014/main" id="{1C01E686-30DE-4D6F-B1A6-19106D513AAD}"/>
              </a:ext>
            </a:extLst>
          </p:cNvPr>
          <p:cNvSpPr>
            <a:spLocks xmlns:a="http://schemas.openxmlformats.org/drawingml/2006/main" noGrp="1"/>
          </p:cNvSpPr>
          <p:nvPr/>
        </p:nvSpPr>
        <p:spPr>
          <a:xfrm xmlns:a="http://schemas.openxmlformats.org/drawingml/2006/main">
            <a:off x="3333750" y="2266950"/>
            <a:ext cx="1428750" cy="609600"/>
          </a:xfrm>
          <a:prstGeom xmlns:a="http://schemas.openxmlformats.org/drawingml/2006/main" prst="roundRect">
            <a:avLst>
              <a:gd name="adj" fmla="val 15625"/>
            </a:avLst>
          </a:prstGeom>
          <a:solidFill xmlns:a="http://schemas.openxmlformats.org/drawingml/2006/main">
            <a:srgbClr val="E2ECF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ARMED</a:t>
            </a:r>
          </a:p>
        </p:txBody>
      </p:sp>
      <p:sp>
        <p:nvSpPr>
          <p:cNvPr id="9" name="box-169">
            <a:extLst xmlns:a="http://schemas.openxmlformats.org/drawingml/2006/main">
              <a:ext uri="{FF2B5EF4-FFF2-40B4-BE49-F238E27FC236}">
                <a16:creationId xmlns:a16="http://schemas.microsoft.com/office/drawing/2014/main" id="{3A710978-20F5-432A-847D-605EA6DFA8CA}"/>
              </a:ext>
            </a:extLst>
          </p:cNvPr>
          <p:cNvSpPr>
            <a:spLocks xmlns:a="http://schemas.openxmlformats.org/drawingml/2006/main" noGrp="1"/>
          </p:cNvSpPr>
          <p:nvPr/>
        </p:nvSpPr>
        <p:spPr>
          <a:xfrm xmlns:a="http://schemas.openxmlformats.org/drawingml/2006/main">
            <a:off x="3333750" y="3714750"/>
            <a:ext cx="1428750" cy="609600"/>
          </a:xfrm>
          <a:prstGeom xmlns:a="http://schemas.openxmlformats.org/drawingml/2006/main" prst="roundRect">
            <a:avLst>
              <a:gd name="adj" fmla="val 15625"/>
            </a:avLst>
          </a:prstGeom>
          <a:solidFill xmlns:a="http://schemas.openxmlformats.org/drawingml/2006/main">
            <a:srgbClr val="E2F4EA"/>
          </a:solidFill>
          <a:ln xmlns:a="http://schemas.openxmlformats.org/drawingml/2006/main" w="9525">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ENGAGED</a:t>
            </a:r>
          </a:p>
        </p:txBody>
      </p:sp>
      <p:sp>
        <p:nvSpPr>
          <p:cNvPr id="10" name="box-170">
            <a:extLst xmlns:a="http://schemas.openxmlformats.org/drawingml/2006/main">
              <a:ext uri="{FF2B5EF4-FFF2-40B4-BE49-F238E27FC236}">
                <a16:creationId xmlns:a16="http://schemas.microsoft.com/office/drawing/2014/main" id="{8BD3A239-8F61-4652-A294-74EA639C1255}"/>
              </a:ext>
            </a:extLst>
          </p:cNvPr>
          <p:cNvSpPr>
            <a:spLocks xmlns:a="http://schemas.openxmlformats.org/drawingml/2006/main" noGrp="1"/>
          </p:cNvSpPr>
          <p:nvPr/>
        </p:nvSpPr>
        <p:spPr>
          <a:xfrm xmlns:a="http://schemas.openxmlformats.org/drawingml/2006/main">
            <a:off x="1066800" y="3714750"/>
            <a:ext cx="1524000" cy="609600"/>
          </a:xfrm>
          <a:prstGeom xmlns:a="http://schemas.openxmlformats.org/drawingml/2006/main" prst="roundRect">
            <a:avLst>
              <a:gd name="adj" fmla="val 15625"/>
            </a:avLst>
          </a:prstGeom>
          <a:solidFill xmlns:a="http://schemas.openxmlformats.org/drawingml/2006/main">
            <a:srgbClr val="FBE6E8"/>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DEGRADED</a:t>
            </a:r>
          </a:p>
        </p:txBody>
      </p:sp>
      <p:cxnSp>
        <p:nvCxnSpPr>
          <p:cNvPr id="40" name=""/>
          <p:cNvCxnSpPr>
            <a:stCxn xmlns:a="http://schemas.openxmlformats.org/drawingml/2006/main" id="7" idx="3"/>
            <a:endCxn xmlns:a="http://schemas.openxmlformats.org/drawingml/2006/main" id="8" idx="1"/>
          </p:cNvCxnSpPr>
          <p:nvPr/>
        </p:nvCxnSpPr>
        <p:spPr>
          <a:xfrm xmlns:a="http://schemas.openxmlformats.org/drawingml/2006/main">
            <a:off x="2305050" y="2571750"/>
            <a:ext cx="1028700" cy="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41" name=""/>
          <p:cNvCxnSpPr>
            <a:stCxn xmlns:a="http://schemas.openxmlformats.org/drawingml/2006/main" id="8" idx="2"/>
            <a:endCxn xmlns:a="http://schemas.openxmlformats.org/drawingml/2006/main" id="9" idx="0"/>
          </p:cNvCxnSpPr>
          <p:nvPr/>
        </p:nvCxnSpPr>
        <p:spPr>
          <a:xfrm xmlns:a="http://schemas.openxmlformats.org/drawingml/2006/main">
            <a:off x="4048125" y="2876550"/>
            <a:ext cx="0" cy="838200"/>
          </a:xfrm>
          <a:prstGeom xmlns:a="http://schemas.openxmlformats.org/drawingml/2006/main" prst="straightConnector1">
            <a:avLst/>
          </a:prstGeom>
          <a:ln xmlns:a="http://schemas.openxmlformats.org/drawingml/2006/main" w="28575">
            <a:solidFill>
              <a:srgbClr val="2CA56F"/>
            </a:solidFill>
            <a:prstDash val="solid"/>
            <a:tailEnd type="triangle" w="sm" len="sm"/>
          </a:ln>
        </p:spPr>
      </p:cxnSp>
      <p:cxnSp>
        <p:nvCxnSpPr>
          <p:cNvPr id="42" name=""/>
          <p:cNvCxnSpPr>
            <a:stCxn xmlns:a="http://schemas.openxmlformats.org/drawingml/2006/main" id="9" idx="1"/>
            <a:endCxn xmlns:a="http://schemas.openxmlformats.org/drawingml/2006/main" id="10" idx="3"/>
          </p:cNvCxnSpPr>
          <p:nvPr/>
        </p:nvCxnSpPr>
        <p:spPr>
          <a:xfrm xmlns:a="http://schemas.openxmlformats.org/drawingml/2006/main" flipH="1">
            <a:off x="2590800" y="4019550"/>
            <a:ext cx="742950" cy="0"/>
          </a:xfrm>
          <a:prstGeom xmlns:a="http://schemas.openxmlformats.org/drawingml/2006/main" prst="straightConnector1">
            <a:avLst/>
          </a:prstGeom>
          <a:ln xmlns:a="http://schemas.openxmlformats.org/drawingml/2006/main" w="28575">
            <a:solidFill>
              <a:srgbClr val="D75A64"/>
            </a:solidFill>
            <a:prstDash val="solid"/>
            <a:tailEnd type="triangle" w="sm" len="sm"/>
          </a:ln>
        </p:spPr>
      </p:cxnSp>
      <p:cxnSp>
        <p:nvCxnSpPr>
          <p:cNvPr id="43" name=""/>
          <p:cNvCxnSpPr>
            <a:stCxn xmlns:a="http://schemas.openxmlformats.org/drawingml/2006/main" id="10" idx="0"/>
            <a:endCxn xmlns:a="http://schemas.openxmlformats.org/drawingml/2006/main" id="7" idx="2"/>
          </p:cNvCxnSpPr>
          <p:nvPr/>
        </p:nvCxnSpPr>
        <p:spPr>
          <a:xfrm xmlns:a="http://schemas.openxmlformats.org/drawingml/2006/main" flipH="1" flipV="1">
            <a:off x="1685925" y="2876550"/>
            <a:ext cx="142875" cy="838200"/>
          </a:xfrm>
          <a:prstGeom xmlns:a="http://schemas.openxmlformats.org/drawingml/2006/main" prst="bentConnector4">
            <a:avLst>
              <a:gd name="adj1" fmla="val 0"/>
              <a:gd name="adj2" fmla="val 50000"/>
            </a:avLst>
          </a:prstGeom>
          <a:ln xmlns:a="http://schemas.openxmlformats.org/drawingml/2006/main" w="19050">
            <a:solidFill>
              <a:srgbClr val="5D7487"/>
            </a:solidFill>
            <a:prstDash val="solid"/>
            <a:tailEnd type="triangle" w="sm" len="sm"/>
          </a:ln>
        </p:spPr>
      </p:cxnSp>
      <p:sp>
        <p:nvSpPr>
          <p:cNvPr id="15" name="text-171">
            <a:extLst xmlns:a="http://schemas.openxmlformats.org/drawingml/2006/main">
              <a:ext uri="{FF2B5EF4-FFF2-40B4-BE49-F238E27FC236}">
                <a16:creationId xmlns:a16="http://schemas.microsoft.com/office/drawing/2014/main" id="{BEA81DCE-8B75-4F41-80E7-0F20A886733F}"/>
              </a:ext>
            </a:extLst>
          </p:cNvPr>
          <p:cNvSpPr>
            <a:spLocks xmlns:a="http://schemas.openxmlformats.org/drawingml/2006/main" noGrp="1"/>
          </p:cNvSpPr>
          <p:nvPr/>
        </p:nvSpPr>
        <p:spPr>
          <a:xfrm xmlns:a="http://schemas.openxmlformats.org/drawingml/2006/main">
            <a:off x="2209800" y="19431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125" b="0" i="0">
                <a:solidFill>
                  <a:srgbClr val="5D7487"/>
                </a:solidFill>
                <a:latin typeface="Aptos"/>
                <a:ea typeface="Aptos"/>
                <a:cs typeface="Aptos"/>
              </a:defRPr>
            </a:pPr>
            <a:r>
              <a:rPr sz="1125" b="0" i="0">
                <a:solidFill>
                  <a:srgbClr val="5D7487"/>
                </a:solidFill>
                <a:latin typeface="Aptos"/>
                <a:ea typeface="Aptos"/>
                <a:cs typeface="Aptos"/>
              </a:rPr>
              <a:t>valid sensors + pilot engage</a:t>
            </a:r>
          </a:p>
        </p:txBody>
      </p:sp>
      <p:sp>
        <p:nvSpPr>
          <p:cNvPr id="16" name="text-172">
            <a:extLst xmlns:a="http://schemas.openxmlformats.org/drawingml/2006/main">
              <a:ext uri="{FF2B5EF4-FFF2-40B4-BE49-F238E27FC236}">
                <a16:creationId xmlns:a16="http://schemas.microsoft.com/office/drawing/2014/main" id="{B0D57DF8-98FC-4055-809B-12AAFADEE523}"/>
              </a:ext>
            </a:extLst>
          </p:cNvPr>
          <p:cNvSpPr>
            <a:spLocks xmlns:a="http://schemas.openxmlformats.org/drawingml/2006/main" noGrp="1"/>
          </p:cNvSpPr>
          <p:nvPr/>
        </p:nvSpPr>
        <p:spPr>
          <a:xfrm xmlns:a="http://schemas.openxmlformats.org/drawingml/2006/main">
            <a:off x="2019300" y="44767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125" b="0" i="0">
                <a:solidFill>
                  <a:srgbClr val="D75A64"/>
                </a:solidFill>
                <a:latin typeface="Aptos"/>
                <a:ea typeface="Aptos"/>
                <a:cs typeface="Aptos"/>
              </a:defRPr>
            </a:pPr>
            <a:r>
              <a:rPr sz="1125" b="0" i="0">
                <a:solidFill>
                  <a:srgbClr val="D75A64"/>
                </a:solidFill>
                <a:latin typeface="Aptos"/>
                <a:ea typeface="Aptos"/>
                <a:cs typeface="Aptos"/>
              </a:rPr>
              <a:t>fault / invalid data</a:t>
            </a:r>
          </a:p>
        </p:txBody>
      </p:sp>
      <p:sp>
        <p:nvSpPr>
          <p:cNvPr id="17" name="line-173">
            <a:extLst xmlns:a="http://schemas.openxmlformats.org/drawingml/2006/main">
              <a:ext uri="{FF2B5EF4-FFF2-40B4-BE49-F238E27FC236}">
                <a16:creationId xmlns:a16="http://schemas.microsoft.com/office/drawing/2014/main" id="{51E322B2-2792-4B58-B2F5-66EA1640F04A}"/>
              </a:ext>
            </a:extLst>
          </p:cNvPr>
          <p:cNvSpPr>
            <a:spLocks xmlns:a="http://schemas.openxmlformats.org/drawingml/2006/main" noGrp="1"/>
          </p:cNvSpPr>
          <p:nvPr/>
        </p:nvSpPr>
        <p:spPr>
          <a:xfrm xmlns:a="http://schemas.openxmlformats.org/drawingml/2006/main">
            <a:off x="6000750" y="1619250"/>
            <a:ext cx="0" cy="371475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18" name="text-174">
            <a:extLst xmlns:a="http://schemas.openxmlformats.org/drawingml/2006/main">
              <a:ext uri="{FF2B5EF4-FFF2-40B4-BE49-F238E27FC236}">
                <a16:creationId xmlns:a16="http://schemas.microsoft.com/office/drawing/2014/main" id="{E576E9F1-C53D-4EF2-ACB1-E9938D58FC6D}"/>
              </a:ext>
            </a:extLst>
          </p:cNvPr>
          <p:cNvSpPr>
            <a:spLocks xmlns:a="http://schemas.openxmlformats.org/drawingml/2006/main" noGrp="1"/>
          </p:cNvSpPr>
          <p:nvPr/>
        </p:nvSpPr>
        <p:spPr>
          <a:xfrm xmlns:a="http://schemas.openxmlformats.org/drawingml/2006/main">
            <a:off x="6667500" y="15240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350" b="1" i="0">
                <a:solidFill>
                  <a:srgbClr val="5D7487"/>
                </a:solidFill>
                <a:latin typeface="Aptos"/>
                <a:ea typeface="Aptos"/>
                <a:cs typeface="Aptos"/>
              </a:defRPr>
            </a:pPr>
            <a:r>
              <a:rPr sz="1350" b="1" i="0">
                <a:solidFill>
                  <a:srgbClr val="5D7487"/>
                </a:solidFill>
                <a:latin typeface="Aptos"/>
                <a:ea typeface="Aptos"/>
                <a:cs typeface="Aptos"/>
              </a:rPr>
              <a:t>GAIN SCHEDULE</a:t>
            </a:r>
          </a:p>
        </p:txBody>
      </p:sp>
      <p:sp>
        <p:nvSpPr>
          <p:cNvPr id="19" name="line-175">
            <a:extLst xmlns:a="http://schemas.openxmlformats.org/drawingml/2006/main">
              <a:ext uri="{FF2B5EF4-FFF2-40B4-BE49-F238E27FC236}">
                <a16:creationId xmlns:a16="http://schemas.microsoft.com/office/drawing/2014/main" id="{3C558AF4-7A52-41D0-BF18-A3EA7BB9F110}"/>
              </a:ext>
            </a:extLst>
          </p:cNvPr>
          <p:cNvSpPr>
            <a:spLocks xmlns:a="http://schemas.openxmlformats.org/drawingml/2006/main" noGrp="1"/>
          </p:cNvSpPr>
          <p:nvPr/>
        </p:nvSpPr>
        <p:spPr>
          <a:xfrm xmlns:a="http://schemas.openxmlformats.org/drawingml/2006/main">
            <a:off x="7143750" y="4667250"/>
            <a:ext cx="3429000" cy="0"/>
          </a:xfrm>
          <a:prstGeom xmlns:a="http://schemas.openxmlformats.org/drawingml/2006/main" prst="line">
            <a:avLst/>
          </a:prstGeom>
          <a:noFill xmlns:a="http://schemas.openxmlformats.org/drawingml/2006/main"/>
          <a:ln xmlns:a="http://schemas.openxmlformats.org/drawingml/2006/main" w="19050">
            <a:solidFill>
              <a:srgbClr val="0B1F33"/>
            </a:solidFill>
            <a:prstDash val="solid"/>
          </a:ln>
        </p:spPr>
      </p:sp>
      <p:sp>
        <p:nvSpPr>
          <p:cNvPr id="20" name="line-176">
            <a:extLst xmlns:a="http://schemas.openxmlformats.org/drawingml/2006/main">
              <a:ext uri="{FF2B5EF4-FFF2-40B4-BE49-F238E27FC236}">
                <a16:creationId xmlns:a16="http://schemas.microsoft.com/office/drawing/2014/main" id="{C6386247-70A0-4D09-AFF6-81E8CBB361C1}"/>
              </a:ext>
            </a:extLst>
          </p:cNvPr>
          <p:cNvSpPr>
            <a:spLocks xmlns:a="http://schemas.openxmlformats.org/drawingml/2006/main" noGrp="1"/>
          </p:cNvSpPr>
          <p:nvPr/>
        </p:nvSpPr>
        <p:spPr>
          <a:xfrm xmlns:a="http://schemas.openxmlformats.org/drawingml/2006/main">
            <a:off x="7143750" y="2381250"/>
            <a:ext cx="0" cy="2286000"/>
          </a:xfrm>
          <a:prstGeom xmlns:a="http://schemas.openxmlformats.org/drawingml/2006/main" prst="line">
            <a:avLst/>
          </a:prstGeom>
          <a:noFill xmlns:a="http://schemas.openxmlformats.org/drawingml/2006/main"/>
          <a:ln xmlns:a="http://schemas.openxmlformats.org/drawingml/2006/main" w="19050">
            <a:solidFill>
              <a:srgbClr val="0B1F33"/>
            </a:solidFill>
            <a:prstDash val="solid"/>
          </a:ln>
        </p:spPr>
      </p:sp>
      <p:sp>
        <p:nvSpPr>
          <p:cNvPr id="21" name="line-177">
            <a:extLst xmlns:a="http://schemas.openxmlformats.org/drawingml/2006/main">
              <a:ext uri="{FF2B5EF4-FFF2-40B4-BE49-F238E27FC236}">
                <a16:creationId xmlns:a16="http://schemas.microsoft.com/office/drawing/2014/main" id="{5403B279-9D40-46B0-B6D1-915CC06C784D}"/>
              </a:ext>
            </a:extLst>
          </p:cNvPr>
          <p:cNvSpPr>
            <a:spLocks xmlns:a="http://schemas.openxmlformats.org/drawingml/2006/main" noGrp="1"/>
          </p:cNvSpPr>
          <p:nvPr/>
        </p:nvSpPr>
        <p:spPr>
          <a:xfrm xmlns:a="http://schemas.openxmlformats.org/drawingml/2006/main">
            <a:off x="7143750" y="2857500"/>
            <a:ext cx="952500" cy="0"/>
          </a:xfrm>
          <a:prstGeom xmlns:a="http://schemas.openxmlformats.org/drawingml/2006/main" prst="line">
            <a:avLst/>
          </a:prstGeom>
          <a:noFill xmlns:a="http://schemas.openxmlformats.org/drawingml/2006/main"/>
          <a:ln xmlns:a="http://schemas.openxmlformats.org/drawingml/2006/main" w="38100">
            <a:solidFill>
              <a:srgbClr val="2D6CDF"/>
            </a:solidFill>
            <a:prstDash val="solid"/>
          </a:ln>
        </p:spPr>
      </p:sp>
      <p:sp>
        <p:nvSpPr>
          <p:cNvPr id="22" name="line-178">
            <a:extLst xmlns:a="http://schemas.openxmlformats.org/drawingml/2006/main">
              <a:ext uri="{FF2B5EF4-FFF2-40B4-BE49-F238E27FC236}">
                <a16:creationId xmlns:a16="http://schemas.microsoft.com/office/drawing/2014/main" id="{FCBF7E72-AF28-4575-802F-82A826927ADF}"/>
              </a:ext>
            </a:extLst>
          </p:cNvPr>
          <p:cNvSpPr>
            <a:spLocks xmlns:a="http://schemas.openxmlformats.org/drawingml/2006/main" noGrp="1"/>
          </p:cNvSpPr>
          <p:nvPr/>
        </p:nvSpPr>
        <p:spPr>
          <a:xfrm xmlns:a="http://schemas.openxmlformats.org/drawingml/2006/main">
            <a:off x="8096250" y="2857500"/>
            <a:ext cx="0" cy="714375"/>
          </a:xfrm>
          <a:prstGeom xmlns:a="http://schemas.openxmlformats.org/drawingml/2006/main" prst="line">
            <a:avLst/>
          </a:prstGeom>
          <a:noFill xmlns:a="http://schemas.openxmlformats.org/drawingml/2006/main"/>
          <a:ln xmlns:a="http://schemas.openxmlformats.org/drawingml/2006/main" w="38100">
            <a:solidFill>
              <a:srgbClr val="2D6CDF"/>
            </a:solidFill>
            <a:prstDash val="solid"/>
          </a:ln>
        </p:spPr>
      </p:sp>
      <p:sp>
        <p:nvSpPr>
          <p:cNvPr id="23" name="line-179">
            <a:extLst xmlns:a="http://schemas.openxmlformats.org/drawingml/2006/main">
              <a:ext uri="{FF2B5EF4-FFF2-40B4-BE49-F238E27FC236}">
                <a16:creationId xmlns:a16="http://schemas.microsoft.com/office/drawing/2014/main" id="{D04D1994-10AB-4E28-AC30-62827A2B5CC7}"/>
              </a:ext>
            </a:extLst>
          </p:cNvPr>
          <p:cNvSpPr>
            <a:spLocks xmlns:a="http://schemas.openxmlformats.org/drawingml/2006/main" noGrp="1"/>
          </p:cNvSpPr>
          <p:nvPr/>
        </p:nvSpPr>
        <p:spPr>
          <a:xfrm xmlns:a="http://schemas.openxmlformats.org/drawingml/2006/main">
            <a:off x="8096250" y="3571875"/>
            <a:ext cx="1047750" cy="0"/>
          </a:xfrm>
          <a:prstGeom xmlns:a="http://schemas.openxmlformats.org/drawingml/2006/main" prst="line">
            <a:avLst/>
          </a:prstGeom>
          <a:noFill xmlns:a="http://schemas.openxmlformats.org/drawingml/2006/main"/>
          <a:ln xmlns:a="http://schemas.openxmlformats.org/drawingml/2006/main" w="38100">
            <a:solidFill>
              <a:srgbClr val="2D6CDF"/>
            </a:solidFill>
            <a:prstDash val="solid"/>
          </a:ln>
        </p:spPr>
      </p:sp>
      <p:sp>
        <p:nvSpPr>
          <p:cNvPr id="24" name="line-180">
            <a:extLst xmlns:a="http://schemas.openxmlformats.org/drawingml/2006/main">
              <a:ext uri="{FF2B5EF4-FFF2-40B4-BE49-F238E27FC236}">
                <a16:creationId xmlns:a16="http://schemas.microsoft.com/office/drawing/2014/main" id="{3DCAEA0E-9B18-448D-A6A0-5C1586F3312A}"/>
              </a:ext>
            </a:extLst>
          </p:cNvPr>
          <p:cNvSpPr>
            <a:spLocks xmlns:a="http://schemas.openxmlformats.org/drawingml/2006/main" noGrp="1"/>
          </p:cNvSpPr>
          <p:nvPr/>
        </p:nvSpPr>
        <p:spPr>
          <a:xfrm xmlns:a="http://schemas.openxmlformats.org/drawingml/2006/main">
            <a:off x="9144000" y="3571875"/>
            <a:ext cx="0" cy="619125"/>
          </a:xfrm>
          <a:prstGeom xmlns:a="http://schemas.openxmlformats.org/drawingml/2006/main" prst="line">
            <a:avLst/>
          </a:prstGeom>
          <a:noFill xmlns:a="http://schemas.openxmlformats.org/drawingml/2006/main"/>
          <a:ln xmlns:a="http://schemas.openxmlformats.org/drawingml/2006/main" w="38100">
            <a:solidFill>
              <a:srgbClr val="2D6CDF"/>
            </a:solidFill>
            <a:prstDash val="solid"/>
          </a:ln>
        </p:spPr>
      </p:sp>
      <p:sp>
        <p:nvSpPr>
          <p:cNvPr id="25" name="line-181">
            <a:extLst xmlns:a="http://schemas.openxmlformats.org/drawingml/2006/main">
              <a:ext uri="{FF2B5EF4-FFF2-40B4-BE49-F238E27FC236}">
                <a16:creationId xmlns:a16="http://schemas.microsoft.com/office/drawing/2014/main" id="{1C73D4DB-9D81-4530-BC30-880687835566}"/>
              </a:ext>
            </a:extLst>
          </p:cNvPr>
          <p:cNvSpPr>
            <a:spLocks xmlns:a="http://schemas.openxmlformats.org/drawingml/2006/main" noGrp="1"/>
          </p:cNvSpPr>
          <p:nvPr/>
        </p:nvSpPr>
        <p:spPr>
          <a:xfrm xmlns:a="http://schemas.openxmlformats.org/drawingml/2006/main">
            <a:off x="9144000" y="4191000"/>
            <a:ext cx="1428750" cy="0"/>
          </a:xfrm>
          <a:prstGeom xmlns:a="http://schemas.openxmlformats.org/drawingml/2006/main" prst="line">
            <a:avLst/>
          </a:prstGeom>
          <a:noFill xmlns:a="http://schemas.openxmlformats.org/drawingml/2006/main"/>
          <a:ln xmlns:a="http://schemas.openxmlformats.org/drawingml/2006/main" w="38100">
            <a:solidFill>
              <a:srgbClr val="2D6CDF"/>
            </a:solidFill>
            <a:prstDash val="solid"/>
          </a:ln>
        </p:spPr>
      </p:sp>
      <p:sp>
        <p:nvSpPr>
          <p:cNvPr id="26" name="text-182">
            <a:extLst xmlns:a="http://schemas.openxmlformats.org/drawingml/2006/main">
              <a:ext uri="{FF2B5EF4-FFF2-40B4-BE49-F238E27FC236}">
                <a16:creationId xmlns:a16="http://schemas.microsoft.com/office/drawing/2014/main" id="{7260295F-E76D-4FE2-A2D1-8085F400B91F}"/>
              </a:ext>
            </a:extLst>
          </p:cNvPr>
          <p:cNvSpPr>
            <a:spLocks xmlns:a="http://schemas.openxmlformats.org/drawingml/2006/main" noGrp="1"/>
          </p:cNvSpPr>
          <p:nvPr/>
        </p:nvSpPr>
        <p:spPr>
          <a:xfrm xmlns:a="http://schemas.openxmlformats.org/drawingml/2006/main">
            <a:off x="7715250" y="47625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275" b="0" i="0">
                <a:solidFill>
                  <a:srgbClr val="5D7487"/>
                </a:solidFill>
                <a:latin typeface="Aptos"/>
                <a:ea typeface="Aptos"/>
                <a:cs typeface="Aptos"/>
              </a:defRPr>
            </a:pPr>
            <a:r>
              <a:rPr sz="1275" b="0" i="0">
                <a:solidFill>
                  <a:srgbClr val="5D7487"/>
                </a:solidFill>
                <a:latin typeface="Aptos"/>
                <a:ea typeface="Aptos"/>
                <a:cs typeface="Aptos"/>
              </a:rPr>
              <a:t>Mach / altitude / configuration</a:t>
            </a:r>
          </a:p>
        </p:txBody>
      </p:sp>
      <p:sp>
        <p:nvSpPr>
          <p:cNvPr id="27" name="text-183">
            <a:extLst xmlns:a="http://schemas.openxmlformats.org/drawingml/2006/main">
              <a:ext uri="{FF2B5EF4-FFF2-40B4-BE49-F238E27FC236}">
                <a16:creationId xmlns:a16="http://schemas.microsoft.com/office/drawing/2014/main" id="{0F8F4D21-28B8-46BB-9097-1706B9079028}"/>
              </a:ext>
            </a:extLst>
          </p:cNvPr>
          <p:cNvSpPr>
            <a:spLocks xmlns:a="http://schemas.openxmlformats.org/drawingml/2006/main" noGrp="1"/>
          </p:cNvSpPr>
          <p:nvPr/>
        </p:nvSpPr>
        <p:spPr>
          <a:xfrm xmlns:a="http://schemas.openxmlformats.org/drawingml/2006/main">
            <a:off x="6534150" y="26670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0" i="0">
                <a:solidFill>
                  <a:srgbClr val="5D7487"/>
                </a:solidFill>
                <a:latin typeface="Aptos"/>
                <a:ea typeface="Aptos"/>
                <a:cs typeface="Aptos"/>
              </a:defRPr>
            </a:pPr>
            <a:r>
              <a:rPr sz="1275" b="0" i="0">
                <a:solidFill>
                  <a:srgbClr val="5D7487"/>
                </a:solidFill>
                <a:latin typeface="Aptos"/>
                <a:ea typeface="Aptos"/>
                <a:cs typeface="Aptos"/>
              </a:rPr>
              <a:t>gain</a:t>
            </a:r>
          </a:p>
        </p:txBody>
      </p:sp>
      <p:sp>
        <p:nvSpPr>
          <p:cNvPr id="28" name="box-184">
            <a:extLst xmlns:a="http://schemas.openxmlformats.org/drawingml/2006/main">
              <a:ext uri="{FF2B5EF4-FFF2-40B4-BE49-F238E27FC236}">
                <a16:creationId xmlns:a16="http://schemas.microsoft.com/office/drawing/2014/main" id="{07992B06-6FE1-4ECE-8332-EDE6BBC0B4DE}"/>
              </a:ext>
            </a:extLst>
          </p:cNvPr>
          <p:cNvSpPr>
            <a:spLocks xmlns:a="http://schemas.openxmlformats.org/drawingml/2006/main" noGrp="1"/>
          </p:cNvSpPr>
          <p:nvPr/>
        </p:nvSpPr>
        <p:spPr>
          <a:xfrm xmlns:a="http://schemas.openxmlformats.org/drawingml/2006/main">
            <a:off x="762000" y="5334000"/>
            <a:ext cx="4572000" cy="495300"/>
          </a:xfrm>
          <a:prstGeom xmlns:a="http://schemas.openxmlformats.org/drawingml/2006/main" prst="roundRect">
            <a:avLst>
              <a:gd name="adj" fmla="val 19231"/>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Stateflow or explicit logic</a:t>
            </a:r>
          </a:p>
        </p:txBody>
      </p:sp>
      <p:sp>
        <p:nvSpPr>
          <p:cNvPr id="29" name="box-185">
            <a:extLst xmlns:a="http://schemas.openxmlformats.org/drawingml/2006/main">
              <a:ext uri="{FF2B5EF4-FFF2-40B4-BE49-F238E27FC236}">
                <a16:creationId xmlns:a16="http://schemas.microsoft.com/office/drawing/2014/main" id="{E5554D29-43BA-4EDC-8750-F9AC9BAF636E}"/>
              </a:ext>
            </a:extLst>
          </p:cNvPr>
          <p:cNvSpPr>
            <a:spLocks xmlns:a="http://schemas.openxmlformats.org/drawingml/2006/main" noGrp="1"/>
          </p:cNvSpPr>
          <p:nvPr/>
        </p:nvSpPr>
        <p:spPr>
          <a:xfrm xmlns:a="http://schemas.openxmlformats.org/drawingml/2006/main">
            <a:off x="6667500" y="5334000"/>
            <a:ext cx="4095750" cy="495300"/>
          </a:xfrm>
          <a:prstGeom xmlns:a="http://schemas.openxmlformats.org/drawingml/2006/main" prst="roundRect">
            <a:avLst>
              <a:gd name="adj" fmla="val 19231"/>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Lookup tables + interpolation</a:t>
            </a:r>
          </a:p>
        </p:txBody>
      </p:sp>
    </p:spTree>
    <p:extLst>
      <p:ext uri="{BB962C8B-B14F-4D97-AF65-F5344CB8AC3E}">
        <p14:creationId xmlns:p14="http://schemas.microsoft.com/office/powerpoint/2010/main" val="812255478"/>
      </p:ext>
    </p:extLst>
  </p:cSld>
</p:sld>
</file>

<file path=ppt/slides/slide12.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2" name="section-185">
            <a:extLst xmlns:a="http://schemas.openxmlformats.org/drawingml/2006/main">
              <a:ext uri="{FF2B5EF4-FFF2-40B4-BE49-F238E27FC236}">
                <a16:creationId xmlns:a16="http://schemas.microsoft.com/office/drawing/2014/main" id="{9ECBB10C-BDEE-42BA-BC58-1616AC817DE6}"/>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03 • DO-178C OVERVIEW</a:t>
            </a:r>
          </a:p>
        </p:txBody>
      </p:sp>
      <p:sp>
        <p:nvSpPr>
          <p:cNvPr id="2" name="title-185">
            <a:extLst xmlns:a="http://schemas.openxmlformats.org/drawingml/2006/main">
              <a:ext uri="{FF2B5EF4-FFF2-40B4-BE49-F238E27FC236}">
                <a16:creationId xmlns:a16="http://schemas.microsoft.com/office/drawing/2014/main" id="{95029AD8-33BB-466C-973C-ABB106C321CD}"/>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DO-178C demands evidence—not diagrams</a:t>
            </a:r>
          </a:p>
        </p:txBody>
      </p:sp>
      <p:sp>
        <p:nvSpPr>
          <p:cNvPr id="3" name="line-186">
            <a:extLst xmlns:a="http://schemas.openxmlformats.org/drawingml/2006/main">
              <a:ext uri="{FF2B5EF4-FFF2-40B4-BE49-F238E27FC236}">
                <a16:creationId xmlns:a16="http://schemas.microsoft.com/office/drawing/2014/main" id="{DEAC6CD3-D6B2-40FA-9B66-00776218FB55}"/>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87">
            <a:extLst xmlns:a="http://schemas.openxmlformats.org/drawingml/2006/main">
              <a:ext uri="{FF2B5EF4-FFF2-40B4-BE49-F238E27FC236}">
                <a16:creationId xmlns:a16="http://schemas.microsoft.com/office/drawing/2014/main" id="{1797CB8B-55BE-4F5A-8698-A12430D0582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188">
            <a:extLst xmlns:a="http://schemas.openxmlformats.org/drawingml/2006/main">
              <a:ext uri="{FF2B5EF4-FFF2-40B4-BE49-F238E27FC236}">
                <a16:creationId xmlns:a16="http://schemas.microsoft.com/office/drawing/2014/main" id="{548FAB36-A9AF-44C1-8C30-9F1DEDDBD29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12</a:t>
            </a:r>
          </a:p>
        </p:txBody>
      </p:sp>
      <p:sp>
        <p:nvSpPr>
          <p:cNvPr id="6" name="text-189">
            <a:extLst xmlns:a="http://schemas.openxmlformats.org/drawingml/2006/main">
              <a:ext uri="{FF2B5EF4-FFF2-40B4-BE49-F238E27FC236}">
                <a16:creationId xmlns:a16="http://schemas.microsoft.com/office/drawing/2014/main" id="{49061C23-3405-450D-9EF0-EAFB08C75833}"/>
              </a:ext>
            </a:extLst>
          </p:cNvPr>
          <p:cNvSpPr>
            <a:spLocks xmlns:a="http://schemas.openxmlformats.org/drawingml/2006/main" noGrp="1"/>
          </p:cNvSpPr>
          <p:nvPr/>
        </p:nvSpPr>
        <p:spPr>
          <a:xfrm xmlns:a="http://schemas.openxmlformats.org/drawingml/2006/main">
            <a:off x="857250" y="161925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3075" b="1" i="0">
                <a:solidFill>
                  <a:srgbClr val="70DCE5"/>
                </a:solidFill>
                <a:latin typeface="Aptos"/>
                <a:ea typeface="Aptos"/>
                <a:cs typeface="Aptos"/>
              </a:defRPr>
            </a:pPr>
            <a:r>
              <a:rPr sz="3075" b="1" i="0">
                <a:solidFill>
                  <a:srgbClr val="70DCE5"/>
                </a:solidFill>
                <a:latin typeface="Aptos"/>
                <a:ea typeface="Aptos"/>
                <a:cs typeface="Aptos"/>
              </a:rPr>
              <a:t>DO-178C</a:t>
            </a:r>
          </a:p>
        </p:txBody>
      </p:sp>
      <p:sp>
        <p:nvSpPr>
          <p:cNvPr id="7" name="text-190">
            <a:extLst xmlns:a="http://schemas.openxmlformats.org/drawingml/2006/main">
              <a:ext uri="{FF2B5EF4-FFF2-40B4-BE49-F238E27FC236}">
                <a16:creationId xmlns:a16="http://schemas.microsoft.com/office/drawing/2014/main" id="{57F1CB50-CA88-4E57-819C-D72B329EC011}"/>
              </a:ext>
            </a:extLst>
          </p:cNvPr>
          <p:cNvSpPr>
            <a:spLocks xmlns:a="http://schemas.openxmlformats.org/drawingml/2006/main" noGrp="1"/>
          </p:cNvSpPr>
          <p:nvPr/>
        </p:nvSpPr>
        <p:spPr>
          <a:xfrm xmlns:a="http://schemas.openxmlformats.org/drawingml/2006/main">
            <a:off x="819150" y="2286000"/>
            <a:ext cx="4762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Defines — </a:t>
            </a:r>
            <a:r>
              <a:rPr sz="1650" b="0" i="0">
                <a:solidFill>
                  <a:srgbClr val="FFFFFF"/>
                </a:solidFill>
                <a:latin typeface="Aptos"/>
                <a:ea typeface="Aptos"/>
                <a:cs typeface="Aptos"/>
              </a:rPr>
              <a:t>objectives, activities, and life-cycle data</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Scales — </a:t>
            </a:r>
            <a:r>
              <a:rPr sz="1650" b="0" i="0">
                <a:solidFill>
                  <a:srgbClr val="FFFFFF"/>
                </a:solidFill>
                <a:latin typeface="Aptos"/>
                <a:ea typeface="Aptos"/>
                <a:cs typeface="Aptos"/>
              </a:rPr>
              <a:t>rigor according to software level</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Covers — </a:t>
            </a:r>
            <a:r>
              <a:rPr sz="1650" b="0" i="0">
                <a:solidFill>
                  <a:srgbClr val="FFFFFF"/>
                </a:solidFill>
                <a:latin typeface="Aptos"/>
                <a:ea typeface="Aptos"/>
                <a:cs typeface="Aptos"/>
              </a:rPr>
              <a:t>planning, development, verification, CM, QA, liaison</a:t>
            </a:r>
          </a:p>
        </p:txBody>
      </p:sp>
      <p:sp>
        <p:nvSpPr>
          <p:cNvPr id="8" name="line-191">
            <a:extLst xmlns:a="http://schemas.openxmlformats.org/drawingml/2006/main">
              <a:ext uri="{FF2B5EF4-FFF2-40B4-BE49-F238E27FC236}">
                <a16:creationId xmlns:a16="http://schemas.microsoft.com/office/drawing/2014/main" id="{544FA59D-E7D5-4945-961A-9CE3EA8E4211}"/>
              </a:ext>
            </a:extLst>
          </p:cNvPr>
          <p:cNvSpPr>
            <a:spLocks xmlns:a="http://schemas.openxmlformats.org/drawingml/2006/main" noGrp="1"/>
          </p:cNvSpPr>
          <p:nvPr/>
        </p:nvSpPr>
        <p:spPr>
          <a:xfrm xmlns:a="http://schemas.openxmlformats.org/drawingml/2006/main">
            <a:off x="6000750" y="1600200"/>
            <a:ext cx="0" cy="3143250"/>
          </a:xfrm>
          <a:prstGeom xmlns:a="http://schemas.openxmlformats.org/drawingml/2006/main" prst="line">
            <a:avLst/>
          </a:prstGeom>
          <a:noFill xmlns:a="http://schemas.openxmlformats.org/drawingml/2006/main"/>
          <a:ln xmlns:a="http://schemas.openxmlformats.org/drawingml/2006/main" w="19050">
            <a:solidFill>
              <a:srgbClr val="143A55"/>
            </a:solidFill>
            <a:prstDash val="solid"/>
          </a:ln>
        </p:spPr>
      </p:sp>
      <p:sp>
        <p:nvSpPr>
          <p:cNvPr id="9" name="text-192">
            <a:extLst xmlns:a="http://schemas.openxmlformats.org/drawingml/2006/main">
              <a:ext uri="{FF2B5EF4-FFF2-40B4-BE49-F238E27FC236}">
                <a16:creationId xmlns:a16="http://schemas.microsoft.com/office/drawing/2014/main" id="{B58FE811-97AC-41C3-AAC8-7C13A877C8D9}"/>
              </a:ext>
            </a:extLst>
          </p:cNvPr>
          <p:cNvSpPr>
            <a:spLocks xmlns:a="http://schemas.openxmlformats.org/drawingml/2006/main" noGrp="1"/>
          </p:cNvSpPr>
          <p:nvPr/>
        </p:nvSpPr>
        <p:spPr>
          <a:xfrm xmlns:a="http://schemas.openxmlformats.org/drawingml/2006/main">
            <a:off x="6667500" y="161925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3075" b="1" i="0">
                <a:solidFill>
                  <a:srgbClr val="E9A23B"/>
                </a:solidFill>
                <a:latin typeface="Aptos"/>
                <a:ea typeface="Aptos"/>
                <a:cs typeface="Aptos"/>
              </a:defRPr>
            </a:pPr>
            <a:r>
              <a:rPr sz="3075" b="1" i="0">
                <a:solidFill>
                  <a:srgbClr val="E9A23B"/>
                </a:solidFill>
                <a:latin typeface="Aptos"/>
                <a:ea typeface="Aptos"/>
                <a:cs typeface="Aptos"/>
              </a:rPr>
              <a:t>DO-331</a:t>
            </a:r>
          </a:p>
        </p:txBody>
      </p:sp>
      <p:sp>
        <p:nvSpPr>
          <p:cNvPr id="10" name="text-193">
            <a:extLst xmlns:a="http://schemas.openxmlformats.org/drawingml/2006/main">
              <a:ext uri="{FF2B5EF4-FFF2-40B4-BE49-F238E27FC236}">
                <a16:creationId xmlns:a16="http://schemas.microsoft.com/office/drawing/2014/main" id="{4A1EBF62-8C57-4EC3-87D5-8E3816630AC0}"/>
              </a:ext>
            </a:extLst>
          </p:cNvPr>
          <p:cNvSpPr>
            <a:spLocks xmlns:a="http://schemas.openxmlformats.org/drawingml/2006/main" noGrp="1"/>
          </p:cNvSpPr>
          <p:nvPr/>
        </p:nvSpPr>
        <p:spPr>
          <a:xfrm xmlns:a="http://schemas.openxmlformats.org/drawingml/2006/main">
            <a:off x="6629400" y="2286000"/>
            <a:ext cx="4762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Supplements — </a:t>
            </a:r>
            <a:r>
              <a:rPr sz="1650" b="0" i="0">
                <a:solidFill>
                  <a:srgbClr val="FFFFFF"/>
                </a:solidFill>
                <a:latin typeface="Aptos"/>
                <a:ea typeface="Aptos"/>
                <a:cs typeface="Aptos"/>
              </a:rPr>
              <a:t>DO-178C for model-based development and verification</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Clarifies — </a:t>
            </a:r>
            <a:r>
              <a:rPr sz="1650" b="0" i="0">
                <a:solidFill>
                  <a:srgbClr val="FFFFFF"/>
                </a:solidFill>
                <a:latin typeface="Aptos"/>
                <a:ea typeface="Aptos"/>
                <a:cs typeface="Aptos"/>
              </a:rPr>
              <a:t>model roles, model standards, verification, and traceability</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Does not — </a:t>
            </a:r>
            <a:r>
              <a:rPr sz="1650" b="0" i="0">
                <a:solidFill>
                  <a:srgbClr val="FFFFFF"/>
                </a:solidFill>
                <a:latin typeface="Aptos"/>
                <a:ea typeface="Aptos"/>
                <a:cs typeface="Aptos"/>
              </a:rPr>
              <a:t>make models or generated code automatically compliant</a:t>
            </a:r>
          </a:p>
        </p:txBody>
      </p:sp>
      <p:sp>
        <p:nvSpPr>
          <p:cNvPr id="11" name="box-194">
            <a:extLst xmlns:a="http://schemas.openxmlformats.org/drawingml/2006/main">
              <a:ext uri="{FF2B5EF4-FFF2-40B4-BE49-F238E27FC236}">
                <a16:creationId xmlns:a16="http://schemas.microsoft.com/office/drawing/2014/main" id="{0E66498C-6F65-4A68-BCC6-ADF35C1A4BB2}"/>
              </a:ext>
            </a:extLst>
          </p:cNvPr>
          <p:cNvSpPr>
            <a:spLocks xmlns:a="http://schemas.openxmlformats.org/drawingml/2006/main" noGrp="1"/>
          </p:cNvSpPr>
          <p:nvPr/>
        </p:nvSpPr>
        <p:spPr>
          <a:xfrm xmlns:a="http://schemas.openxmlformats.org/drawingml/2006/main">
            <a:off x="1333500" y="5095875"/>
            <a:ext cx="9525000" cy="704850"/>
          </a:xfrm>
          <a:prstGeom xmlns:a="http://schemas.openxmlformats.org/drawingml/2006/main" prst="roundRect">
            <a:avLst>
              <a:gd name="adj" fmla="val 13514"/>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The project plans define whether a model is specification, design, source, or verification material—and which objectives apply.</a:t>
            </a:r>
          </a:p>
        </p:txBody>
      </p:sp>
    </p:spTree>
    <p:extLst>
      <p:ext uri="{BB962C8B-B14F-4D97-AF65-F5344CB8AC3E}">
        <p14:creationId xmlns:p14="http://schemas.microsoft.com/office/powerpoint/2010/main" val="1612514186"/>
      </p:ext>
    </p:extLst>
  </p:cSld>
</p:sld>
</file>

<file path=ppt/slides/slide1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194">
            <a:extLst xmlns:a="http://schemas.openxmlformats.org/drawingml/2006/main">
              <a:ext uri="{FF2B5EF4-FFF2-40B4-BE49-F238E27FC236}">
                <a16:creationId xmlns:a16="http://schemas.microsoft.com/office/drawing/2014/main" id="{707AA77F-20B3-4DF6-9C63-06B48EB8C041}"/>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03 • DO-178C OVERVIEW</a:t>
            </a:r>
          </a:p>
        </p:txBody>
      </p:sp>
      <p:sp>
        <p:nvSpPr>
          <p:cNvPr id="2" name="title-194">
            <a:extLst xmlns:a="http://schemas.openxmlformats.org/drawingml/2006/main">
              <a:ext uri="{FF2B5EF4-FFF2-40B4-BE49-F238E27FC236}">
                <a16:creationId xmlns:a16="http://schemas.microsoft.com/office/drawing/2014/main" id="{B9167BA1-9639-40B3-99DF-30AA5669869A}"/>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Software levels scale rigor with consequence</a:t>
            </a:r>
          </a:p>
        </p:txBody>
      </p:sp>
      <p:sp>
        <p:nvSpPr>
          <p:cNvPr id="3" name="line-195">
            <a:extLst xmlns:a="http://schemas.openxmlformats.org/drawingml/2006/main">
              <a:ext uri="{FF2B5EF4-FFF2-40B4-BE49-F238E27FC236}">
                <a16:creationId xmlns:a16="http://schemas.microsoft.com/office/drawing/2014/main" id="{1F485FAA-C85E-4663-9034-1E6592721453}"/>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96">
            <a:extLst xmlns:a="http://schemas.openxmlformats.org/drawingml/2006/main">
              <a:ext uri="{FF2B5EF4-FFF2-40B4-BE49-F238E27FC236}">
                <a16:creationId xmlns:a16="http://schemas.microsoft.com/office/drawing/2014/main" id="{D27EA93D-9435-47F2-93AF-75F33B47CCEF}"/>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97">
            <a:extLst xmlns:a="http://schemas.openxmlformats.org/drawingml/2006/main">
              <a:ext uri="{FF2B5EF4-FFF2-40B4-BE49-F238E27FC236}">
                <a16:creationId xmlns:a16="http://schemas.microsoft.com/office/drawing/2014/main" id="{5D800673-C228-4E1A-A9B0-3E50279F7C4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13</a:t>
            </a:r>
          </a:p>
        </p:txBody>
      </p:sp>
      <p:sp>
        <p:nvSpPr>
          <p:cNvPr id="6" name="text-198">
            <a:extLst xmlns:a="http://schemas.openxmlformats.org/drawingml/2006/main">
              <a:ext uri="{FF2B5EF4-FFF2-40B4-BE49-F238E27FC236}">
                <a16:creationId xmlns:a16="http://schemas.microsoft.com/office/drawing/2014/main" id="{2AA0EA98-0C84-4212-8FBD-0F497343FF41}"/>
              </a:ext>
            </a:extLst>
          </p:cNvPr>
          <p:cNvSpPr>
            <a:spLocks xmlns:a="http://schemas.openxmlformats.org/drawingml/2006/main" noGrp="1"/>
          </p:cNvSpPr>
          <p:nvPr/>
        </p:nvSpPr>
        <p:spPr>
          <a:xfrm xmlns:a="http://schemas.openxmlformats.org/drawingml/2006/main">
            <a:off x="819150" y="15240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LEVEL</a:t>
            </a:r>
          </a:p>
        </p:txBody>
      </p:sp>
      <p:sp>
        <p:nvSpPr>
          <p:cNvPr id="7" name="text-199">
            <a:extLst xmlns:a="http://schemas.openxmlformats.org/drawingml/2006/main">
              <a:ext uri="{FF2B5EF4-FFF2-40B4-BE49-F238E27FC236}">
                <a16:creationId xmlns:a16="http://schemas.microsoft.com/office/drawing/2014/main" id="{8FD080BD-1075-466A-9D8A-D6CB952DBD58}"/>
              </a:ext>
            </a:extLst>
          </p:cNvPr>
          <p:cNvSpPr>
            <a:spLocks xmlns:a="http://schemas.openxmlformats.org/drawingml/2006/main" noGrp="1"/>
          </p:cNvSpPr>
          <p:nvPr/>
        </p:nvSpPr>
        <p:spPr>
          <a:xfrm xmlns:a="http://schemas.openxmlformats.org/drawingml/2006/main">
            <a:off x="2381250" y="1524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ASSOCIATED FAILURE CONDITION</a:t>
            </a:r>
          </a:p>
        </p:txBody>
      </p:sp>
      <p:sp>
        <p:nvSpPr>
          <p:cNvPr id="8" name="text-200">
            <a:extLst xmlns:a="http://schemas.openxmlformats.org/drawingml/2006/main">
              <a:ext uri="{FF2B5EF4-FFF2-40B4-BE49-F238E27FC236}">
                <a16:creationId xmlns:a16="http://schemas.microsoft.com/office/drawing/2014/main" id="{8BD70A4B-74AF-4019-B370-68736ABB96D6}"/>
              </a:ext>
            </a:extLst>
          </p:cNvPr>
          <p:cNvSpPr>
            <a:spLocks xmlns:a="http://schemas.openxmlformats.org/drawingml/2006/main" noGrp="1"/>
          </p:cNvSpPr>
          <p:nvPr/>
        </p:nvSpPr>
        <p:spPr>
          <a:xfrm xmlns:a="http://schemas.openxmlformats.org/drawingml/2006/main">
            <a:off x="6858000" y="15240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ENGINEERING IMPLICATION</a:t>
            </a:r>
          </a:p>
        </p:txBody>
      </p:sp>
      <p:sp>
        <p:nvSpPr>
          <p:cNvPr id="9" name="box-201">
            <a:extLst xmlns:a="http://schemas.openxmlformats.org/drawingml/2006/main">
              <a:ext uri="{FF2B5EF4-FFF2-40B4-BE49-F238E27FC236}">
                <a16:creationId xmlns:a16="http://schemas.microsoft.com/office/drawing/2014/main" id="{0A5813E8-3D75-4A56-B02D-16047C3C3E40}"/>
              </a:ext>
            </a:extLst>
          </p:cNvPr>
          <p:cNvSpPr>
            <a:spLocks xmlns:a="http://schemas.openxmlformats.org/drawingml/2006/main" noGrp="1"/>
          </p:cNvSpPr>
          <p:nvPr/>
        </p:nvSpPr>
        <p:spPr>
          <a:xfrm xmlns:a="http://schemas.openxmlformats.org/drawingml/2006/main">
            <a:off x="819150" y="1847850"/>
            <a:ext cx="704850" cy="533400"/>
          </a:xfrm>
          <a:prstGeom xmlns:a="http://schemas.openxmlformats.org/drawingml/2006/main" prst="roundRect">
            <a:avLst>
              <a:gd name="adj" fmla="val 50000"/>
            </a:avLst>
          </a:prstGeom>
          <a:solidFill xmlns:a="http://schemas.openxmlformats.org/drawingml/2006/main">
            <a:srgbClr val="D75A64"/>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025" b="1">
                <a:solidFill>
                  <a:srgbClr val="FFFFFF"/>
                </a:solidFill>
                <a:latin typeface="Aptos"/>
                <a:ea typeface="Aptos"/>
                <a:cs typeface="Aptos"/>
              </a:defRPr>
            </a:pPr>
            <a:r>
              <a:rPr sz="2025" b="1">
                <a:solidFill>
                  <a:srgbClr val="FFFFFF"/>
                </a:solidFill>
                <a:latin typeface="Aptos"/>
                <a:ea typeface="Aptos"/>
                <a:cs typeface="Aptos"/>
              </a:rPr>
              <a:t>A</a:t>
            </a:r>
          </a:p>
        </p:txBody>
      </p:sp>
      <p:sp>
        <p:nvSpPr>
          <p:cNvPr id="10" name="text-202">
            <a:extLst xmlns:a="http://schemas.openxmlformats.org/drawingml/2006/main">
              <a:ext uri="{FF2B5EF4-FFF2-40B4-BE49-F238E27FC236}">
                <a16:creationId xmlns:a16="http://schemas.microsoft.com/office/drawing/2014/main" id="{79281B58-88EA-4DE1-9CB1-97C989ED7AA7}"/>
              </a:ext>
            </a:extLst>
          </p:cNvPr>
          <p:cNvSpPr>
            <a:spLocks xmlns:a="http://schemas.openxmlformats.org/drawingml/2006/main" noGrp="1"/>
          </p:cNvSpPr>
          <p:nvPr/>
        </p:nvSpPr>
        <p:spPr>
          <a:xfrm xmlns:a="http://schemas.openxmlformats.org/drawingml/2006/main">
            <a:off x="2381250" y="1847850"/>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800" b="1" i="0">
                <a:solidFill>
                  <a:srgbClr val="0B1F33"/>
                </a:solidFill>
                <a:latin typeface="Aptos"/>
                <a:ea typeface="Aptos"/>
                <a:cs typeface="Aptos"/>
              </a:defRPr>
            </a:pPr>
            <a:r>
              <a:rPr sz="1800" b="1" i="0">
                <a:solidFill>
                  <a:srgbClr val="0B1F33"/>
                </a:solidFill>
                <a:latin typeface="Aptos"/>
                <a:ea typeface="Aptos"/>
                <a:cs typeface="Aptos"/>
              </a:rPr>
              <a:t>Catastrophic</a:t>
            </a:r>
          </a:p>
        </p:txBody>
      </p:sp>
      <p:sp>
        <p:nvSpPr>
          <p:cNvPr id="11" name="text-203">
            <a:extLst xmlns:a="http://schemas.openxmlformats.org/drawingml/2006/main">
              <a:ext uri="{FF2B5EF4-FFF2-40B4-BE49-F238E27FC236}">
                <a16:creationId xmlns:a16="http://schemas.microsoft.com/office/drawing/2014/main" id="{FAFB43A7-083A-4EB4-A2EA-5E1F866C3787}"/>
              </a:ext>
            </a:extLst>
          </p:cNvPr>
          <p:cNvSpPr>
            <a:spLocks xmlns:a="http://schemas.openxmlformats.org/drawingml/2006/main" noGrp="1"/>
          </p:cNvSpPr>
          <p:nvPr/>
        </p:nvSpPr>
        <p:spPr>
          <a:xfrm xmlns:a="http://schemas.openxmlformats.org/drawingml/2006/main">
            <a:off x="6858000" y="184785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Highest rigor; most objectives and independence</a:t>
            </a:r>
          </a:p>
        </p:txBody>
      </p:sp>
      <p:sp>
        <p:nvSpPr>
          <p:cNvPr id="12" name="line-204">
            <a:extLst xmlns:a="http://schemas.openxmlformats.org/drawingml/2006/main">
              <a:ext uri="{FF2B5EF4-FFF2-40B4-BE49-F238E27FC236}">
                <a16:creationId xmlns:a16="http://schemas.microsoft.com/office/drawing/2014/main" id="{D9C37BC1-8BB8-40ED-915D-A94CFF714ED8}"/>
              </a:ext>
            </a:extLst>
          </p:cNvPr>
          <p:cNvSpPr>
            <a:spLocks xmlns:a="http://schemas.openxmlformats.org/drawingml/2006/main" noGrp="1"/>
          </p:cNvSpPr>
          <p:nvPr/>
        </p:nvSpPr>
        <p:spPr>
          <a:xfrm xmlns:a="http://schemas.openxmlformats.org/drawingml/2006/main">
            <a:off x="685800" y="2505075"/>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3" name="box-205">
            <a:extLst xmlns:a="http://schemas.openxmlformats.org/drawingml/2006/main">
              <a:ext uri="{FF2B5EF4-FFF2-40B4-BE49-F238E27FC236}">
                <a16:creationId xmlns:a16="http://schemas.microsoft.com/office/drawing/2014/main" id="{2DF4C2AF-55E7-4F11-B4F0-473BC1A918B8}"/>
              </a:ext>
            </a:extLst>
          </p:cNvPr>
          <p:cNvSpPr>
            <a:spLocks xmlns:a="http://schemas.openxmlformats.org/drawingml/2006/main" noGrp="1"/>
          </p:cNvSpPr>
          <p:nvPr/>
        </p:nvSpPr>
        <p:spPr>
          <a:xfrm xmlns:a="http://schemas.openxmlformats.org/drawingml/2006/main">
            <a:off x="819150" y="2628900"/>
            <a:ext cx="704850" cy="533400"/>
          </a:xfrm>
          <a:prstGeom xmlns:a="http://schemas.openxmlformats.org/drawingml/2006/main" prst="roundRect">
            <a:avLst>
              <a:gd name="adj" fmla="val 50000"/>
            </a:avLst>
          </a:prstGeom>
          <a:solidFill xmlns:a="http://schemas.openxmlformats.org/drawingml/2006/main">
            <a:srgbClr val="E77B55"/>
          </a:solidFill>
          <a:ln xmlns:a="http://schemas.openxmlformats.org/drawingml/2006/main" w="9525">
            <a:solidFill>
              <a:srgbClr val="E77B5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025" b="1">
                <a:solidFill>
                  <a:srgbClr val="FFFFFF"/>
                </a:solidFill>
                <a:latin typeface="Aptos"/>
                <a:ea typeface="Aptos"/>
                <a:cs typeface="Aptos"/>
              </a:defRPr>
            </a:pPr>
            <a:r>
              <a:rPr sz="2025" b="1">
                <a:solidFill>
                  <a:srgbClr val="FFFFFF"/>
                </a:solidFill>
                <a:latin typeface="Aptos"/>
                <a:ea typeface="Aptos"/>
                <a:cs typeface="Aptos"/>
              </a:rPr>
              <a:t>B</a:t>
            </a:r>
          </a:p>
        </p:txBody>
      </p:sp>
      <p:sp>
        <p:nvSpPr>
          <p:cNvPr id="14" name="text-206">
            <a:extLst xmlns:a="http://schemas.openxmlformats.org/drawingml/2006/main">
              <a:ext uri="{FF2B5EF4-FFF2-40B4-BE49-F238E27FC236}">
                <a16:creationId xmlns:a16="http://schemas.microsoft.com/office/drawing/2014/main" id="{BBBE9DE0-E4A7-49B0-B7BC-B5D80FE69977}"/>
              </a:ext>
            </a:extLst>
          </p:cNvPr>
          <p:cNvSpPr>
            <a:spLocks xmlns:a="http://schemas.openxmlformats.org/drawingml/2006/main" noGrp="1"/>
          </p:cNvSpPr>
          <p:nvPr/>
        </p:nvSpPr>
        <p:spPr>
          <a:xfrm xmlns:a="http://schemas.openxmlformats.org/drawingml/2006/main">
            <a:off x="2381250" y="2628900"/>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800" b="1" i="0">
                <a:solidFill>
                  <a:srgbClr val="0B1F33"/>
                </a:solidFill>
                <a:latin typeface="Aptos"/>
                <a:ea typeface="Aptos"/>
                <a:cs typeface="Aptos"/>
              </a:defRPr>
            </a:pPr>
            <a:r>
              <a:rPr sz="1800" b="1" i="0">
                <a:solidFill>
                  <a:srgbClr val="0B1F33"/>
                </a:solidFill>
                <a:latin typeface="Aptos"/>
                <a:ea typeface="Aptos"/>
                <a:cs typeface="Aptos"/>
              </a:rPr>
              <a:t>Hazardous / Severe-Major</a:t>
            </a:r>
          </a:p>
        </p:txBody>
      </p:sp>
      <p:sp>
        <p:nvSpPr>
          <p:cNvPr id="15" name="text-207">
            <a:extLst xmlns:a="http://schemas.openxmlformats.org/drawingml/2006/main">
              <a:ext uri="{FF2B5EF4-FFF2-40B4-BE49-F238E27FC236}">
                <a16:creationId xmlns:a16="http://schemas.microsoft.com/office/drawing/2014/main" id="{A24D4E1C-C46D-4F7E-849A-7E5EF2C5D417}"/>
              </a:ext>
            </a:extLst>
          </p:cNvPr>
          <p:cNvSpPr>
            <a:spLocks xmlns:a="http://schemas.openxmlformats.org/drawingml/2006/main" noGrp="1"/>
          </p:cNvSpPr>
          <p:nvPr/>
        </p:nvSpPr>
        <p:spPr>
          <a:xfrm xmlns:a="http://schemas.openxmlformats.org/drawingml/2006/main">
            <a:off x="6858000" y="262890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Very high rigor</a:t>
            </a:r>
          </a:p>
        </p:txBody>
      </p:sp>
      <p:sp>
        <p:nvSpPr>
          <p:cNvPr id="16" name="line-208">
            <a:extLst xmlns:a="http://schemas.openxmlformats.org/drawingml/2006/main">
              <a:ext uri="{FF2B5EF4-FFF2-40B4-BE49-F238E27FC236}">
                <a16:creationId xmlns:a16="http://schemas.microsoft.com/office/drawing/2014/main" id="{9B90CAE9-530B-4F1E-B34F-9E85C2293F4B}"/>
              </a:ext>
            </a:extLst>
          </p:cNvPr>
          <p:cNvSpPr>
            <a:spLocks xmlns:a="http://schemas.openxmlformats.org/drawingml/2006/main" noGrp="1"/>
          </p:cNvSpPr>
          <p:nvPr/>
        </p:nvSpPr>
        <p:spPr>
          <a:xfrm xmlns:a="http://schemas.openxmlformats.org/drawingml/2006/main">
            <a:off x="685800" y="3286125"/>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7" name="box-209">
            <a:extLst xmlns:a="http://schemas.openxmlformats.org/drawingml/2006/main">
              <a:ext uri="{FF2B5EF4-FFF2-40B4-BE49-F238E27FC236}">
                <a16:creationId xmlns:a16="http://schemas.microsoft.com/office/drawing/2014/main" id="{041D66BF-399D-4D87-84C9-D12661B7E4D6}"/>
              </a:ext>
            </a:extLst>
          </p:cNvPr>
          <p:cNvSpPr>
            <a:spLocks xmlns:a="http://schemas.openxmlformats.org/drawingml/2006/main" noGrp="1"/>
          </p:cNvSpPr>
          <p:nvPr/>
        </p:nvSpPr>
        <p:spPr>
          <a:xfrm xmlns:a="http://schemas.openxmlformats.org/drawingml/2006/main">
            <a:off x="819150" y="3409950"/>
            <a:ext cx="704850" cy="533400"/>
          </a:xfrm>
          <a:prstGeom xmlns:a="http://schemas.openxmlformats.org/drawingml/2006/main" prst="roundRect">
            <a:avLst>
              <a:gd name="adj" fmla="val 50000"/>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025" b="1">
                <a:solidFill>
                  <a:srgbClr val="FFFFFF"/>
                </a:solidFill>
                <a:latin typeface="Aptos"/>
                <a:ea typeface="Aptos"/>
                <a:cs typeface="Aptos"/>
              </a:defRPr>
            </a:pPr>
            <a:r>
              <a:rPr sz="2025" b="1">
                <a:solidFill>
                  <a:srgbClr val="FFFFFF"/>
                </a:solidFill>
                <a:latin typeface="Aptos"/>
                <a:ea typeface="Aptos"/>
                <a:cs typeface="Aptos"/>
              </a:rPr>
              <a:t>C</a:t>
            </a:r>
          </a:p>
        </p:txBody>
      </p:sp>
      <p:sp>
        <p:nvSpPr>
          <p:cNvPr id="18" name="text-210">
            <a:extLst xmlns:a="http://schemas.openxmlformats.org/drawingml/2006/main">
              <a:ext uri="{FF2B5EF4-FFF2-40B4-BE49-F238E27FC236}">
                <a16:creationId xmlns:a16="http://schemas.microsoft.com/office/drawing/2014/main" id="{9681BC13-7FC6-4EF6-91BE-DFE868F1F353}"/>
              </a:ext>
            </a:extLst>
          </p:cNvPr>
          <p:cNvSpPr>
            <a:spLocks xmlns:a="http://schemas.openxmlformats.org/drawingml/2006/main" noGrp="1"/>
          </p:cNvSpPr>
          <p:nvPr/>
        </p:nvSpPr>
        <p:spPr>
          <a:xfrm xmlns:a="http://schemas.openxmlformats.org/drawingml/2006/main">
            <a:off x="2381250" y="3409950"/>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800" b="1" i="0">
                <a:solidFill>
                  <a:srgbClr val="0B1F33"/>
                </a:solidFill>
                <a:latin typeface="Aptos"/>
                <a:ea typeface="Aptos"/>
                <a:cs typeface="Aptos"/>
              </a:defRPr>
            </a:pPr>
            <a:r>
              <a:rPr sz="1800" b="1" i="0">
                <a:solidFill>
                  <a:srgbClr val="0B1F33"/>
                </a:solidFill>
                <a:latin typeface="Aptos"/>
                <a:ea typeface="Aptos"/>
                <a:cs typeface="Aptos"/>
              </a:rPr>
              <a:t>Major</a:t>
            </a:r>
          </a:p>
        </p:txBody>
      </p:sp>
      <p:sp>
        <p:nvSpPr>
          <p:cNvPr id="19" name="text-211">
            <a:extLst xmlns:a="http://schemas.openxmlformats.org/drawingml/2006/main">
              <a:ext uri="{FF2B5EF4-FFF2-40B4-BE49-F238E27FC236}">
                <a16:creationId xmlns:a16="http://schemas.microsoft.com/office/drawing/2014/main" id="{63014AB2-8DE6-43E5-AE3F-A6B5A4BBF5E0}"/>
              </a:ext>
            </a:extLst>
          </p:cNvPr>
          <p:cNvSpPr>
            <a:spLocks xmlns:a="http://schemas.openxmlformats.org/drawingml/2006/main" noGrp="1"/>
          </p:cNvSpPr>
          <p:nvPr/>
        </p:nvSpPr>
        <p:spPr>
          <a:xfrm xmlns:a="http://schemas.openxmlformats.org/drawingml/2006/main">
            <a:off x="6858000" y="340995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Substantial requirements and verification rigor</a:t>
            </a:r>
          </a:p>
        </p:txBody>
      </p:sp>
      <p:sp>
        <p:nvSpPr>
          <p:cNvPr id="20" name="line-212">
            <a:extLst xmlns:a="http://schemas.openxmlformats.org/drawingml/2006/main">
              <a:ext uri="{FF2B5EF4-FFF2-40B4-BE49-F238E27FC236}">
                <a16:creationId xmlns:a16="http://schemas.microsoft.com/office/drawing/2014/main" id="{235BDA4A-016F-4D51-8911-9652F432B408}"/>
              </a:ext>
            </a:extLst>
          </p:cNvPr>
          <p:cNvSpPr>
            <a:spLocks xmlns:a="http://schemas.openxmlformats.org/drawingml/2006/main" noGrp="1"/>
          </p:cNvSpPr>
          <p:nvPr/>
        </p:nvSpPr>
        <p:spPr>
          <a:xfrm xmlns:a="http://schemas.openxmlformats.org/drawingml/2006/main">
            <a:off x="685800" y="4067175"/>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1" name="box-213">
            <a:extLst xmlns:a="http://schemas.openxmlformats.org/drawingml/2006/main">
              <a:ext uri="{FF2B5EF4-FFF2-40B4-BE49-F238E27FC236}">
                <a16:creationId xmlns:a16="http://schemas.microsoft.com/office/drawing/2014/main" id="{6A8CE61B-4113-40B4-9472-98858F298927}"/>
              </a:ext>
            </a:extLst>
          </p:cNvPr>
          <p:cNvSpPr>
            <a:spLocks xmlns:a="http://schemas.openxmlformats.org/drawingml/2006/main" noGrp="1"/>
          </p:cNvSpPr>
          <p:nvPr/>
        </p:nvSpPr>
        <p:spPr>
          <a:xfrm xmlns:a="http://schemas.openxmlformats.org/drawingml/2006/main">
            <a:off x="819150" y="4191000"/>
            <a:ext cx="704850" cy="533400"/>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025" b="1">
                <a:solidFill>
                  <a:srgbClr val="FFFFFF"/>
                </a:solidFill>
                <a:latin typeface="Aptos"/>
                <a:ea typeface="Aptos"/>
                <a:cs typeface="Aptos"/>
              </a:defRPr>
            </a:pPr>
            <a:r>
              <a:rPr sz="2025" b="1">
                <a:solidFill>
                  <a:srgbClr val="FFFFFF"/>
                </a:solidFill>
                <a:latin typeface="Aptos"/>
                <a:ea typeface="Aptos"/>
                <a:cs typeface="Aptos"/>
              </a:rPr>
              <a:t>D</a:t>
            </a:r>
          </a:p>
        </p:txBody>
      </p:sp>
      <p:sp>
        <p:nvSpPr>
          <p:cNvPr id="22" name="text-214">
            <a:extLst xmlns:a="http://schemas.openxmlformats.org/drawingml/2006/main">
              <a:ext uri="{FF2B5EF4-FFF2-40B4-BE49-F238E27FC236}">
                <a16:creationId xmlns:a16="http://schemas.microsoft.com/office/drawing/2014/main" id="{EFAA4053-2112-42F2-8596-CD25FA44EC58}"/>
              </a:ext>
            </a:extLst>
          </p:cNvPr>
          <p:cNvSpPr>
            <a:spLocks xmlns:a="http://schemas.openxmlformats.org/drawingml/2006/main" noGrp="1"/>
          </p:cNvSpPr>
          <p:nvPr/>
        </p:nvSpPr>
        <p:spPr>
          <a:xfrm xmlns:a="http://schemas.openxmlformats.org/drawingml/2006/main">
            <a:off x="2381250" y="4191000"/>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800" b="1" i="0">
                <a:solidFill>
                  <a:srgbClr val="0B1F33"/>
                </a:solidFill>
                <a:latin typeface="Aptos"/>
                <a:ea typeface="Aptos"/>
                <a:cs typeface="Aptos"/>
              </a:defRPr>
            </a:pPr>
            <a:r>
              <a:rPr sz="1800" b="1" i="0">
                <a:solidFill>
                  <a:srgbClr val="0B1F33"/>
                </a:solidFill>
                <a:latin typeface="Aptos"/>
                <a:ea typeface="Aptos"/>
                <a:cs typeface="Aptos"/>
              </a:rPr>
              <a:t>Minor</a:t>
            </a:r>
          </a:p>
        </p:txBody>
      </p:sp>
      <p:sp>
        <p:nvSpPr>
          <p:cNvPr id="23" name="text-215">
            <a:extLst xmlns:a="http://schemas.openxmlformats.org/drawingml/2006/main">
              <a:ext uri="{FF2B5EF4-FFF2-40B4-BE49-F238E27FC236}">
                <a16:creationId xmlns:a16="http://schemas.microsoft.com/office/drawing/2014/main" id="{B66F9692-3F9D-41D5-8E5A-BBB836F2C1F3}"/>
              </a:ext>
            </a:extLst>
          </p:cNvPr>
          <p:cNvSpPr>
            <a:spLocks xmlns:a="http://schemas.openxmlformats.org/drawingml/2006/main" noGrp="1"/>
          </p:cNvSpPr>
          <p:nvPr/>
        </p:nvSpPr>
        <p:spPr>
          <a:xfrm xmlns:a="http://schemas.openxmlformats.org/drawingml/2006/main">
            <a:off x="6858000" y="419100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Reduced objective set</a:t>
            </a:r>
          </a:p>
        </p:txBody>
      </p:sp>
      <p:sp>
        <p:nvSpPr>
          <p:cNvPr id="24" name="line-216">
            <a:extLst xmlns:a="http://schemas.openxmlformats.org/drawingml/2006/main">
              <a:ext uri="{FF2B5EF4-FFF2-40B4-BE49-F238E27FC236}">
                <a16:creationId xmlns:a16="http://schemas.microsoft.com/office/drawing/2014/main" id="{5FF42F7F-ED34-4BC4-9DB2-9A2179D4F708}"/>
              </a:ext>
            </a:extLst>
          </p:cNvPr>
          <p:cNvSpPr>
            <a:spLocks xmlns:a="http://schemas.openxmlformats.org/drawingml/2006/main" noGrp="1"/>
          </p:cNvSpPr>
          <p:nvPr/>
        </p:nvSpPr>
        <p:spPr>
          <a:xfrm xmlns:a="http://schemas.openxmlformats.org/drawingml/2006/main">
            <a:off x="685800" y="4848225"/>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5" name="box-217">
            <a:extLst xmlns:a="http://schemas.openxmlformats.org/drawingml/2006/main">
              <a:ext uri="{FF2B5EF4-FFF2-40B4-BE49-F238E27FC236}">
                <a16:creationId xmlns:a16="http://schemas.microsoft.com/office/drawing/2014/main" id="{747D2BD8-1180-48AE-BBC5-76BCD2A1DC11}"/>
              </a:ext>
            </a:extLst>
          </p:cNvPr>
          <p:cNvSpPr>
            <a:spLocks xmlns:a="http://schemas.openxmlformats.org/drawingml/2006/main" noGrp="1"/>
          </p:cNvSpPr>
          <p:nvPr/>
        </p:nvSpPr>
        <p:spPr>
          <a:xfrm xmlns:a="http://schemas.openxmlformats.org/drawingml/2006/main">
            <a:off x="819150" y="4972050"/>
            <a:ext cx="704850" cy="533400"/>
          </a:xfrm>
          <a:prstGeom xmlns:a="http://schemas.openxmlformats.org/drawingml/2006/main" prst="roundRect">
            <a:avLst>
              <a:gd name="adj" fmla="val 50000"/>
            </a:avLst>
          </a:prstGeom>
          <a:solidFill xmlns:a="http://schemas.openxmlformats.org/drawingml/2006/main">
            <a:srgbClr val="5D7487"/>
          </a:solidFill>
          <a:ln xmlns:a="http://schemas.openxmlformats.org/drawingml/2006/main" w="9525">
            <a:solidFill>
              <a:srgbClr val="5D7487"/>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025" b="1">
                <a:solidFill>
                  <a:srgbClr val="FFFFFF"/>
                </a:solidFill>
                <a:latin typeface="Aptos"/>
                <a:ea typeface="Aptos"/>
                <a:cs typeface="Aptos"/>
              </a:defRPr>
            </a:pPr>
            <a:r>
              <a:rPr sz="2025" b="1">
                <a:solidFill>
                  <a:srgbClr val="FFFFFF"/>
                </a:solidFill>
                <a:latin typeface="Aptos"/>
                <a:ea typeface="Aptos"/>
                <a:cs typeface="Aptos"/>
              </a:rPr>
              <a:t>E</a:t>
            </a:r>
          </a:p>
        </p:txBody>
      </p:sp>
      <p:sp>
        <p:nvSpPr>
          <p:cNvPr id="26" name="text-218">
            <a:extLst xmlns:a="http://schemas.openxmlformats.org/drawingml/2006/main">
              <a:ext uri="{FF2B5EF4-FFF2-40B4-BE49-F238E27FC236}">
                <a16:creationId xmlns:a16="http://schemas.microsoft.com/office/drawing/2014/main" id="{C508514B-81D5-4E14-9ECE-18E0251D5783}"/>
              </a:ext>
            </a:extLst>
          </p:cNvPr>
          <p:cNvSpPr>
            <a:spLocks xmlns:a="http://schemas.openxmlformats.org/drawingml/2006/main" noGrp="1"/>
          </p:cNvSpPr>
          <p:nvPr/>
        </p:nvSpPr>
        <p:spPr>
          <a:xfrm xmlns:a="http://schemas.openxmlformats.org/drawingml/2006/main">
            <a:off x="2381250" y="4972050"/>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800" b="1" i="0">
                <a:solidFill>
                  <a:srgbClr val="0B1F33"/>
                </a:solidFill>
                <a:latin typeface="Aptos"/>
                <a:ea typeface="Aptos"/>
                <a:cs typeface="Aptos"/>
              </a:defRPr>
            </a:pPr>
            <a:r>
              <a:rPr sz="1800" b="1" i="0">
                <a:solidFill>
                  <a:srgbClr val="0B1F33"/>
                </a:solidFill>
                <a:latin typeface="Aptos"/>
                <a:ea typeface="Aptos"/>
                <a:cs typeface="Aptos"/>
              </a:rPr>
              <a:t>No Effect</a:t>
            </a:r>
          </a:p>
        </p:txBody>
      </p:sp>
      <p:sp>
        <p:nvSpPr>
          <p:cNvPr id="27" name="text-219">
            <a:extLst xmlns:a="http://schemas.openxmlformats.org/drawingml/2006/main">
              <a:ext uri="{FF2B5EF4-FFF2-40B4-BE49-F238E27FC236}">
                <a16:creationId xmlns:a16="http://schemas.microsoft.com/office/drawing/2014/main" id="{F597FE5C-C97D-4F1E-8917-90F2EAA86E52}"/>
              </a:ext>
            </a:extLst>
          </p:cNvPr>
          <p:cNvSpPr>
            <a:spLocks xmlns:a="http://schemas.openxmlformats.org/drawingml/2006/main" noGrp="1"/>
          </p:cNvSpPr>
          <p:nvPr/>
        </p:nvSpPr>
        <p:spPr>
          <a:xfrm xmlns:a="http://schemas.openxmlformats.org/drawingml/2006/main">
            <a:off x="6858000" y="497205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No DO-178C objectives apply to the software</a:t>
            </a:r>
          </a:p>
        </p:txBody>
      </p:sp>
      <p:sp>
        <p:nvSpPr>
          <p:cNvPr id="28" name="line-220">
            <a:extLst xmlns:a="http://schemas.openxmlformats.org/drawingml/2006/main">
              <a:ext uri="{FF2B5EF4-FFF2-40B4-BE49-F238E27FC236}">
                <a16:creationId xmlns:a16="http://schemas.microsoft.com/office/drawing/2014/main" id="{6E1FE35D-FD8C-4D89-9F34-00BF2CE82BBC}"/>
              </a:ext>
            </a:extLst>
          </p:cNvPr>
          <p:cNvSpPr>
            <a:spLocks xmlns:a="http://schemas.openxmlformats.org/drawingml/2006/main" noGrp="1"/>
          </p:cNvSpPr>
          <p:nvPr/>
        </p:nvSpPr>
        <p:spPr>
          <a:xfrm xmlns:a="http://schemas.openxmlformats.org/drawingml/2006/main">
            <a:off x="685800" y="5629275"/>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9" name="text-221">
            <a:extLst xmlns:a="http://schemas.openxmlformats.org/drawingml/2006/main">
              <a:ext uri="{FF2B5EF4-FFF2-40B4-BE49-F238E27FC236}">
                <a16:creationId xmlns:a16="http://schemas.microsoft.com/office/drawing/2014/main" id="{62B27D99-174C-49B7-9B54-B4DD22B196B8}"/>
              </a:ext>
            </a:extLst>
          </p:cNvPr>
          <p:cNvSpPr>
            <a:spLocks xmlns:a="http://schemas.openxmlformats.org/drawingml/2006/main" noGrp="1"/>
          </p:cNvSpPr>
          <p:nvPr/>
        </p:nvSpPr>
        <p:spPr>
          <a:xfrm xmlns:a="http://schemas.openxmlformats.org/drawingml/2006/main">
            <a:off x="990600" y="5857875"/>
            <a:ext cx="10210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650" b="1" i="0">
                <a:solidFill>
                  <a:srgbClr val="20B7C5"/>
                </a:solidFill>
                <a:latin typeface="Aptos"/>
                <a:ea typeface="Aptos"/>
                <a:cs typeface="Aptos"/>
              </a:defRPr>
            </a:pPr>
            <a:r>
              <a:rPr sz="1650" b="1" i="0">
                <a:solidFill>
                  <a:srgbClr val="20B7C5"/>
                </a:solidFill>
                <a:latin typeface="Aptos"/>
                <a:ea typeface="Aptos"/>
                <a:cs typeface="Aptos"/>
              </a:rPr>
              <a:t>The system safety assessment assigns the software level; the controls team does not choose it for convenience.</a:t>
            </a:r>
          </a:p>
        </p:txBody>
      </p:sp>
    </p:spTree>
    <p:extLst>
      <p:ext uri="{BB962C8B-B14F-4D97-AF65-F5344CB8AC3E}">
        <p14:creationId xmlns:p14="http://schemas.microsoft.com/office/powerpoint/2010/main" val="1670726246"/>
      </p:ext>
    </p:extLst>
  </p:cSld>
</p:sld>
</file>

<file path=ppt/slides/slide1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1" name="section-221">
            <a:extLst xmlns:a="http://schemas.openxmlformats.org/drawingml/2006/main">
              <a:ext uri="{FF2B5EF4-FFF2-40B4-BE49-F238E27FC236}">
                <a16:creationId xmlns:a16="http://schemas.microsoft.com/office/drawing/2014/main" id="{161B4F6E-1D9F-43A3-A35D-FE7D39C6A75A}"/>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03 • DO-178C OVERVIEW</a:t>
            </a:r>
          </a:p>
        </p:txBody>
      </p:sp>
      <p:sp>
        <p:nvSpPr>
          <p:cNvPr id="2" name="title-221">
            <a:extLst xmlns:a="http://schemas.openxmlformats.org/drawingml/2006/main">
              <a:ext uri="{FF2B5EF4-FFF2-40B4-BE49-F238E27FC236}">
                <a16:creationId xmlns:a16="http://schemas.microsoft.com/office/drawing/2014/main" id="{FDE57E6C-742E-465C-BDD9-4B6AF2DAA6DC}"/>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Traceability turns artifacts into evidence</a:t>
            </a:r>
          </a:p>
        </p:txBody>
      </p:sp>
      <p:sp>
        <p:nvSpPr>
          <p:cNvPr id="3" name="line-222">
            <a:extLst xmlns:a="http://schemas.openxmlformats.org/drawingml/2006/main">
              <a:ext uri="{FF2B5EF4-FFF2-40B4-BE49-F238E27FC236}">
                <a16:creationId xmlns:a16="http://schemas.microsoft.com/office/drawing/2014/main" id="{B143FFE8-C825-4D1C-BCA7-C90445F792E7}"/>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23">
            <a:extLst xmlns:a="http://schemas.openxmlformats.org/drawingml/2006/main">
              <a:ext uri="{FF2B5EF4-FFF2-40B4-BE49-F238E27FC236}">
                <a16:creationId xmlns:a16="http://schemas.microsoft.com/office/drawing/2014/main" id="{09BFCE7C-EBD6-4EE5-9952-68FE8025E2B2}"/>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224">
            <a:extLst xmlns:a="http://schemas.openxmlformats.org/drawingml/2006/main">
              <a:ext uri="{FF2B5EF4-FFF2-40B4-BE49-F238E27FC236}">
                <a16:creationId xmlns:a16="http://schemas.microsoft.com/office/drawing/2014/main" id="{E189063A-2BC8-45A5-AD92-332DFD39F0B9}"/>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14</a:t>
            </a:r>
          </a:p>
        </p:txBody>
      </p:sp>
      <p:sp>
        <p:nvSpPr>
          <p:cNvPr id="6" name="box-225">
            <a:extLst xmlns:a="http://schemas.openxmlformats.org/drawingml/2006/main">
              <a:ext uri="{FF2B5EF4-FFF2-40B4-BE49-F238E27FC236}">
                <a16:creationId xmlns:a16="http://schemas.microsoft.com/office/drawing/2014/main" id="{D01F76BD-97E0-4C59-9E93-763C9649C118}"/>
              </a:ext>
            </a:extLst>
          </p:cNvPr>
          <p:cNvSpPr>
            <a:spLocks xmlns:a="http://schemas.openxmlformats.org/drawingml/2006/main" noGrp="1"/>
          </p:cNvSpPr>
          <p:nvPr/>
        </p:nvSpPr>
        <p:spPr>
          <a:xfrm xmlns:a="http://schemas.openxmlformats.org/drawingml/2006/main">
            <a:off x="781050" y="2095500"/>
            <a:ext cx="2000250" cy="742950"/>
          </a:xfrm>
          <a:prstGeom xmlns:a="http://schemas.openxmlformats.org/drawingml/2006/main" prst="roundRect">
            <a:avLst>
              <a:gd name="adj" fmla="val 12821"/>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Requirement</a:t>
            </a:r>
          </a:p>
        </p:txBody>
      </p:sp>
      <p:sp>
        <p:nvSpPr>
          <p:cNvPr id="7" name="box-226">
            <a:extLst xmlns:a="http://schemas.openxmlformats.org/drawingml/2006/main">
              <a:ext uri="{FF2B5EF4-FFF2-40B4-BE49-F238E27FC236}">
                <a16:creationId xmlns:a16="http://schemas.microsoft.com/office/drawing/2014/main" id="{9B8C7A20-5105-460C-BEB1-49DBCA30DFE1}"/>
              </a:ext>
            </a:extLst>
          </p:cNvPr>
          <p:cNvSpPr>
            <a:spLocks xmlns:a="http://schemas.openxmlformats.org/drawingml/2006/main" noGrp="1"/>
          </p:cNvSpPr>
          <p:nvPr/>
        </p:nvSpPr>
        <p:spPr>
          <a:xfrm xmlns:a="http://schemas.openxmlformats.org/drawingml/2006/main">
            <a:off x="3371850" y="2095500"/>
            <a:ext cx="2000250" cy="742950"/>
          </a:xfrm>
          <a:prstGeom xmlns:a="http://schemas.openxmlformats.org/drawingml/2006/main" prst="roundRect">
            <a:avLst>
              <a:gd name="adj" fmla="val 12821"/>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Model element</a:t>
            </a:r>
          </a:p>
        </p:txBody>
      </p:sp>
      <p:sp>
        <p:nvSpPr>
          <p:cNvPr id="8" name="box-227">
            <a:extLst xmlns:a="http://schemas.openxmlformats.org/drawingml/2006/main">
              <a:ext uri="{FF2B5EF4-FFF2-40B4-BE49-F238E27FC236}">
                <a16:creationId xmlns:a16="http://schemas.microsoft.com/office/drawing/2014/main" id="{BEB03EEC-E091-45E6-B05B-24CCE99BD531}"/>
              </a:ext>
            </a:extLst>
          </p:cNvPr>
          <p:cNvSpPr>
            <a:spLocks xmlns:a="http://schemas.openxmlformats.org/drawingml/2006/main" noGrp="1"/>
          </p:cNvSpPr>
          <p:nvPr/>
        </p:nvSpPr>
        <p:spPr>
          <a:xfrm xmlns:a="http://schemas.openxmlformats.org/drawingml/2006/main">
            <a:off x="5962650" y="2095500"/>
            <a:ext cx="2000250" cy="742950"/>
          </a:xfrm>
          <a:prstGeom xmlns:a="http://schemas.openxmlformats.org/drawingml/2006/main" prst="roundRect">
            <a:avLst>
              <a:gd name="adj" fmla="val 12821"/>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Test case</a:t>
            </a:r>
          </a:p>
        </p:txBody>
      </p:sp>
      <p:sp>
        <p:nvSpPr>
          <p:cNvPr id="9" name="box-228">
            <a:extLst xmlns:a="http://schemas.openxmlformats.org/drawingml/2006/main">
              <a:ext uri="{FF2B5EF4-FFF2-40B4-BE49-F238E27FC236}">
                <a16:creationId xmlns:a16="http://schemas.microsoft.com/office/drawing/2014/main" id="{AAA547DB-9FB2-43B1-BAFC-ECAC08C98C18}"/>
              </a:ext>
            </a:extLst>
          </p:cNvPr>
          <p:cNvSpPr>
            <a:spLocks xmlns:a="http://schemas.openxmlformats.org/drawingml/2006/main" noGrp="1"/>
          </p:cNvSpPr>
          <p:nvPr/>
        </p:nvSpPr>
        <p:spPr>
          <a:xfrm xmlns:a="http://schemas.openxmlformats.org/drawingml/2006/main">
            <a:off x="8553450" y="2095500"/>
            <a:ext cx="2667000" cy="742950"/>
          </a:xfrm>
          <a:prstGeom xmlns:a="http://schemas.openxmlformats.org/drawingml/2006/main" prst="roundRect">
            <a:avLst>
              <a:gd name="adj" fmla="val 12821"/>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Verification result</a:t>
            </a:r>
          </a:p>
        </p:txBody>
      </p:sp>
      <p:cxnSp>
        <p:nvCxnSpPr>
          <p:cNvPr id="30" name=""/>
          <p:cNvCxnSpPr>
            <a:stCxn xmlns:a="http://schemas.openxmlformats.org/drawingml/2006/main" id="6" idx="3"/>
            <a:endCxn xmlns:a="http://schemas.openxmlformats.org/drawingml/2006/main" id="7" idx="1"/>
          </p:cNvCxnSpPr>
          <p:nvPr/>
        </p:nvCxnSpPr>
        <p:spPr>
          <a:xfrm xmlns:a="http://schemas.openxmlformats.org/drawingml/2006/main">
            <a:off x="2781300" y="2466975"/>
            <a:ext cx="590550" cy="0"/>
          </a:xfrm>
          <a:prstGeom xmlns:a="http://schemas.openxmlformats.org/drawingml/2006/main" prst="straightConnector1">
            <a:avLst/>
          </a:prstGeom>
          <a:ln xmlns:a="http://schemas.openxmlformats.org/drawingml/2006/main" w="28575">
            <a:solidFill>
              <a:srgbClr val="2D6CDF"/>
            </a:solidFill>
            <a:prstDash val="solid"/>
            <a:headEnd type="triangle" w="sm" len="sm"/>
            <a:tailEnd type="triangle" w="sm" len="sm"/>
          </a:ln>
        </p:spPr>
      </p:cxnSp>
      <p:cxnSp>
        <p:nvCxnSpPr>
          <p:cNvPr id="31" name=""/>
          <p:cNvCxnSpPr>
            <a:stCxn xmlns:a="http://schemas.openxmlformats.org/drawingml/2006/main" id="7" idx="3"/>
            <a:endCxn xmlns:a="http://schemas.openxmlformats.org/drawingml/2006/main" id="8" idx="1"/>
          </p:cNvCxnSpPr>
          <p:nvPr/>
        </p:nvCxnSpPr>
        <p:spPr>
          <a:xfrm xmlns:a="http://schemas.openxmlformats.org/drawingml/2006/main">
            <a:off x="5372100" y="2466975"/>
            <a:ext cx="590550" cy="0"/>
          </a:xfrm>
          <a:prstGeom xmlns:a="http://schemas.openxmlformats.org/drawingml/2006/main" prst="straightConnector1">
            <a:avLst/>
          </a:prstGeom>
          <a:ln xmlns:a="http://schemas.openxmlformats.org/drawingml/2006/main" w="28575">
            <a:solidFill>
              <a:srgbClr val="20B7C5"/>
            </a:solidFill>
            <a:prstDash val="solid"/>
            <a:headEnd type="triangle" w="sm" len="sm"/>
            <a:tailEnd type="triangle" w="sm" len="sm"/>
          </a:ln>
        </p:spPr>
      </p:cxnSp>
      <p:cxnSp>
        <p:nvCxnSpPr>
          <p:cNvPr id="32" name=""/>
          <p:cNvCxnSpPr>
            <a:stCxn xmlns:a="http://schemas.openxmlformats.org/drawingml/2006/main" id="8" idx="3"/>
            <a:endCxn xmlns:a="http://schemas.openxmlformats.org/drawingml/2006/main" id="9" idx="1"/>
          </p:cNvCxnSpPr>
          <p:nvPr/>
        </p:nvCxnSpPr>
        <p:spPr>
          <a:xfrm xmlns:a="http://schemas.openxmlformats.org/drawingml/2006/main">
            <a:off x="7962900" y="2466975"/>
            <a:ext cx="590550" cy="0"/>
          </a:xfrm>
          <a:prstGeom xmlns:a="http://schemas.openxmlformats.org/drawingml/2006/main" prst="straightConnector1">
            <a:avLst/>
          </a:prstGeom>
          <a:ln xmlns:a="http://schemas.openxmlformats.org/drawingml/2006/main" w="28575">
            <a:solidFill>
              <a:srgbClr val="2CA56F"/>
            </a:solidFill>
            <a:prstDash val="solid"/>
            <a:headEnd type="triangle" w="sm" len="sm"/>
            <a:tailEnd type="triangle" w="sm" len="sm"/>
          </a:ln>
        </p:spPr>
      </p:cxnSp>
      <p:sp>
        <p:nvSpPr>
          <p:cNvPr id="13" name="text-229">
            <a:extLst xmlns:a="http://schemas.openxmlformats.org/drawingml/2006/main">
              <a:ext uri="{FF2B5EF4-FFF2-40B4-BE49-F238E27FC236}">
                <a16:creationId xmlns:a16="http://schemas.microsoft.com/office/drawing/2014/main" id="{D75AF412-4462-4C03-B105-F35B61A01F8B}"/>
              </a:ext>
            </a:extLst>
          </p:cNvPr>
          <p:cNvSpPr>
            <a:spLocks xmlns:a="http://schemas.openxmlformats.org/drawingml/2006/main" noGrp="1"/>
          </p:cNvSpPr>
          <p:nvPr/>
        </p:nvSpPr>
        <p:spPr>
          <a:xfrm xmlns:a="http://schemas.openxmlformats.org/drawingml/2006/main">
            <a:off x="1524000" y="3143250"/>
            <a:ext cx="914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575" b="1" i="0">
                <a:solidFill>
                  <a:srgbClr val="20B7C5"/>
                </a:solidFill>
                <a:latin typeface="Aptos"/>
                <a:ea typeface="Aptos"/>
                <a:cs typeface="Aptos"/>
              </a:defRPr>
            </a:pPr>
            <a:r>
              <a:rPr sz="1575" b="1" i="0">
                <a:solidFill>
                  <a:srgbClr val="20B7C5"/>
                </a:solidFill>
                <a:latin typeface="Aptos"/>
                <a:ea typeface="Aptos"/>
                <a:cs typeface="Aptos"/>
              </a:rPr>
              <a:t>BIDIRECTIONAL: every artifact has a reason to exist; every requirement has objective coverage</a:t>
            </a:r>
          </a:p>
        </p:txBody>
      </p:sp>
      <p:sp>
        <p:nvSpPr>
          <p:cNvPr id="14" name="text-230">
            <a:extLst xmlns:a="http://schemas.openxmlformats.org/drawingml/2006/main">
              <a:ext uri="{FF2B5EF4-FFF2-40B4-BE49-F238E27FC236}">
                <a16:creationId xmlns:a16="http://schemas.microsoft.com/office/drawing/2014/main" id="{B366386A-F82D-4B5F-A1C0-BBBD65A12AC1}"/>
              </a:ext>
            </a:extLst>
          </p:cNvPr>
          <p:cNvSpPr>
            <a:spLocks xmlns:a="http://schemas.openxmlformats.org/drawingml/2006/main" noGrp="1"/>
          </p:cNvSpPr>
          <p:nvPr/>
        </p:nvSpPr>
        <p:spPr>
          <a:xfrm xmlns:a="http://schemas.openxmlformats.org/drawingml/2006/main">
            <a:off x="819150" y="40005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5D7487"/>
                </a:solidFill>
                <a:latin typeface="Aptos"/>
                <a:ea typeface="Aptos"/>
                <a:cs typeface="Aptos"/>
              </a:defRPr>
            </a:pPr>
            <a:r>
              <a:rPr sz="1275" b="1" i="0">
                <a:solidFill>
                  <a:srgbClr val="5D7487"/>
                </a:solidFill>
                <a:latin typeface="Aptos"/>
                <a:ea typeface="Aptos"/>
                <a:cs typeface="Aptos"/>
              </a:rPr>
              <a:t>EVIDENCE PACKAGE</a:t>
            </a:r>
          </a:p>
        </p:txBody>
      </p:sp>
      <p:sp>
        <p:nvSpPr>
          <p:cNvPr id="15" name="box-231">
            <a:extLst xmlns:a="http://schemas.openxmlformats.org/drawingml/2006/main">
              <a:ext uri="{FF2B5EF4-FFF2-40B4-BE49-F238E27FC236}">
                <a16:creationId xmlns:a16="http://schemas.microsoft.com/office/drawing/2014/main" id="{28F19DBA-C55C-4970-9893-18A335A71FBE}"/>
              </a:ext>
            </a:extLst>
          </p:cNvPr>
          <p:cNvSpPr>
            <a:spLocks xmlns:a="http://schemas.openxmlformats.org/drawingml/2006/main" noGrp="1"/>
          </p:cNvSpPr>
          <p:nvPr/>
        </p:nvSpPr>
        <p:spPr>
          <a:xfrm xmlns:a="http://schemas.openxmlformats.org/drawingml/2006/main">
            <a:off x="80010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plans + standards</a:t>
            </a:r>
          </a:p>
        </p:txBody>
      </p:sp>
      <p:sp>
        <p:nvSpPr>
          <p:cNvPr id="16" name="box-232">
            <a:extLst xmlns:a="http://schemas.openxmlformats.org/drawingml/2006/main">
              <a:ext uri="{FF2B5EF4-FFF2-40B4-BE49-F238E27FC236}">
                <a16:creationId xmlns:a16="http://schemas.microsoft.com/office/drawing/2014/main" id="{A2CCDA69-A083-4794-8209-FDCA6B456845}"/>
              </a:ext>
            </a:extLst>
          </p:cNvPr>
          <p:cNvSpPr>
            <a:spLocks xmlns:a="http://schemas.openxmlformats.org/drawingml/2006/main" noGrp="1"/>
          </p:cNvSpPr>
          <p:nvPr/>
        </p:nvSpPr>
        <p:spPr>
          <a:xfrm xmlns:a="http://schemas.openxmlformats.org/drawingml/2006/main">
            <a:off x="295275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review records</a:t>
            </a:r>
          </a:p>
        </p:txBody>
      </p:sp>
      <p:sp>
        <p:nvSpPr>
          <p:cNvPr id="17" name="box-233">
            <a:extLst xmlns:a="http://schemas.openxmlformats.org/drawingml/2006/main">
              <a:ext uri="{FF2B5EF4-FFF2-40B4-BE49-F238E27FC236}">
                <a16:creationId xmlns:a16="http://schemas.microsoft.com/office/drawing/2014/main" id="{9D046AB9-CE5C-43EF-B6ED-C28DDC2449BA}"/>
              </a:ext>
            </a:extLst>
          </p:cNvPr>
          <p:cNvSpPr>
            <a:spLocks xmlns:a="http://schemas.openxmlformats.org/drawingml/2006/main" noGrp="1"/>
          </p:cNvSpPr>
          <p:nvPr/>
        </p:nvSpPr>
        <p:spPr>
          <a:xfrm xmlns:a="http://schemas.openxmlformats.org/drawingml/2006/main">
            <a:off x="5105400" y="4457700"/>
            <a:ext cx="1943100" cy="647700"/>
          </a:xfrm>
          <a:prstGeom xmlns:a="http://schemas.openxmlformats.org/drawingml/2006/main" prst="roundRect">
            <a:avLst>
              <a:gd name="adj" fmla="val 11765"/>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test procedures + results</a:t>
            </a:r>
          </a:p>
        </p:txBody>
      </p:sp>
      <p:sp>
        <p:nvSpPr>
          <p:cNvPr id="18" name="box-234">
            <a:extLst xmlns:a="http://schemas.openxmlformats.org/drawingml/2006/main">
              <a:ext uri="{FF2B5EF4-FFF2-40B4-BE49-F238E27FC236}">
                <a16:creationId xmlns:a16="http://schemas.microsoft.com/office/drawing/2014/main" id="{EBC7BD88-07E6-4BD5-A3B0-56D7A3D3E75E}"/>
              </a:ext>
            </a:extLst>
          </p:cNvPr>
          <p:cNvSpPr>
            <a:spLocks xmlns:a="http://schemas.openxmlformats.org/drawingml/2006/main" noGrp="1"/>
          </p:cNvSpPr>
          <p:nvPr/>
        </p:nvSpPr>
        <p:spPr>
          <a:xfrm xmlns:a="http://schemas.openxmlformats.org/drawingml/2006/main">
            <a:off x="725805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coverage + analyses</a:t>
            </a:r>
          </a:p>
        </p:txBody>
      </p:sp>
      <p:sp>
        <p:nvSpPr>
          <p:cNvPr id="19" name="box-235">
            <a:extLst xmlns:a="http://schemas.openxmlformats.org/drawingml/2006/main">
              <a:ext uri="{FF2B5EF4-FFF2-40B4-BE49-F238E27FC236}">
                <a16:creationId xmlns:a16="http://schemas.microsoft.com/office/drawing/2014/main" id="{BCF37884-EE3B-43C5-AAC0-0BBFD48E0B26}"/>
              </a:ext>
            </a:extLst>
          </p:cNvPr>
          <p:cNvSpPr>
            <a:spLocks xmlns:a="http://schemas.openxmlformats.org/drawingml/2006/main" noGrp="1"/>
          </p:cNvSpPr>
          <p:nvPr/>
        </p:nvSpPr>
        <p:spPr>
          <a:xfrm xmlns:a="http://schemas.openxmlformats.org/drawingml/2006/main">
            <a:off x="941070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configuration + problem reports</a:t>
            </a:r>
          </a:p>
        </p:txBody>
      </p:sp>
      <p:sp>
        <p:nvSpPr>
          <p:cNvPr id="20" name="box-236">
            <a:extLst xmlns:a="http://schemas.openxmlformats.org/drawingml/2006/main">
              <a:ext uri="{FF2B5EF4-FFF2-40B4-BE49-F238E27FC236}">
                <a16:creationId xmlns:a16="http://schemas.microsoft.com/office/drawing/2014/main" id="{0DB3573F-79CB-43B3-B6F8-8921A5DDD56C}"/>
              </a:ext>
            </a:extLst>
          </p:cNvPr>
          <p:cNvSpPr>
            <a:spLocks xmlns:a="http://schemas.openxmlformats.org/drawingml/2006/main" noGrp="1"/>
          </p:cNvSpPr>
          <p:nvPr/>
        </p:nvSpPr>
        <p:spPr>
          <a:xfrm xmlns:a="http://schemas.openxmlformats.org/drawingml/2006/main">
            <a:off x="2095500" y="5476875"/>
            <a:ext cx="8001000" cy="514350"/>
          </a:xfrm>
          <a:prstGeom xmlns:a="http://schemas.openxmlformats.org/drawingml/2006/main" prst="roundRect">
            <a:avLst>
              <a:gd name="adj" fmla="val 14815"/>
            </a:avLst>
          </a:prstGeom>
          <a:solidFill xmlns:a="http://schemas.openxmlformats.org/drawingml/2006/main">
            <a:srgbClr val="FBE6E8"/>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Pipeline and HIL passes are evidence inputs—not automatic approval.</a:t>
            </a:r>
          </a:p>
        </p:txBody>
      </p:sp>
    </p:spTree>
    <p:extLst>
      <p:ext uri="{BB962C8B-B14F-4D97-AF65-F5344CB8AC3E}">
        <p14:creationId xmlns:p14="http://schemas.microsoft.com/office/powerpoint/2010/main" val="1622149317"/>
      </p:ext>
    </p:extLst>
  </p:cSld>
</p:sld>
</file>

<file path=ppt/slides/slide15.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4" name="section-236">
            <a:extLst xmlns:a="http://schemas.openxmlformats.org/drawingml/2006/main">
              <a:ext uri="{FF2B5EF4-FFF2-40B4-BE49-F238E27FC236}">
                <a16:creationId xmlns:a16="http://schemas.microsoft.com/office/drawing/2014/main" id="{1A4E4B74-3096-417B-BACE-8CE88B27542E}"/>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04 • PROJECT DEVELOPMENT FLOW</a:t>
            </a:r>
          </a:p>
        </p:txBody>
      </p:sp>
      <p:sp>
        <p:nvSpPr>
          <p:cNvPr id="2" name="title-236">
            <a:extLst xmlns:a="http://schemas.openxmlformats.org/drawingml/2006/main">
              <a:ext uri="{FF2B5EF4-FFF2-40B4-BE49-F238E27FC236}">
                <a16:creationId xmlns:a16="http://schemas.microsoft.com/office/drawing/2014/main" id="{0451522F-09CA-4B68-9D8A-87C1CFDD211E}"/>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Part 1 — plan, specify, develop, and test</a:t>
            </a:r>
          </a:p>
        </p:txBody>
      </p:sp>
      <p:sp>
        <p:nvSpPr>
          <p:cNvPr id="3" name="line-237">
            <a:extLst xmlns:a="http://schemas.openxmlformats.org/drawingml/2006/main">
              <a:ext uri="{FF2B5EF4-FFF2-40B4-BE49-F238E27FC236}">
                <a16:creationId xmlns:a16="http://schemas.microsoft.com/office/drawing/2014/main" id="{BA74B352-2C1A-4AA6-9BDA-82266067D5D5}"/>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38">
            <a:extLst xmlns:a="http://schemas.openxmlformats.org/drawingml/2006/main">
              <a:ext uri="{FF2B5EF4-FFF2-40B4-BE49-F238E27FC236}">
                <a16:creationId xmlns:a16="http://schemas.microsoft.com/office/drawing/2014/main" id="{5D21AC84-C12A-4417-8C07-83E63BE376D4}"/>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239">
            <a:extLst xmlns:a="http://schemas.openxmlformats.org/drawingml/2006/main">
              <a:ext uri="{FF2B5EF4-FFF2-40B4-BE49-F238E27FC236}">
                <a16:creationId xmlns:a16="http://schemas.microsoft.com/office/drawing/2014/main" id="{4C0551BA-66F9-4339-A4B8-288B06AA5EC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15</a:t>
            </a:r>
          </a:p>
        </p:txBody>
      </p:sp>
      <p:sp>
        <p:nvSpPr>
          <p:cNvPr id="6" name="box-240">
            <a:extLst xmlns:a="http://schemas.openxmlformats.org/drawingml/2006/main">
              <a:ext uri="{FF2B5EF4-FFF2-40B4-BE49-F238E27FC236}">
                <a16:creationId xmlns:a16="http://schemas.microsoft.com/office/drawing/2014/main" id="{5D7DBB9C-53D1-4BCB-8054-E9816E944978}"/>
              </a:ext>
            </a:extLst>
          </p:cNvPr>
          <p:cNvSpPr>
            <a:spLocks xmlns:a="http://schemas.openxmlformats.org/drawingml/2006/main" noGrp="1"/>
          </p:cNvSpPr>
          <p:nvPr/>
        </p:nvSpPr>
        <p:spPr>
          <a:xfrm xmlns:a="http://schemas.openxmlformats.org/drawingml/2006/main">
            <a:off x="781050" y="1619250"/>
            <a:ext cx="3048000" cy="838200"/>
          </a:xfrm>
          <a:prstGeom xmlns:a="http://schemas.openxmlformats.org/drawingml/2006/main" prst="roundRect">
            <a:avLst>
              <a:gd name="adj" fmla="val 11364"/>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  DO-178C / DO-331</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objective set</a:t>
            </a:r>
          </a:p>
        </p:txBody>
      </p:sp>
      <p:sp>
        <p:nvSpPr>
          <p:cNvPr id="7" name="box-241">
            <a:extLst xmlns:a="http://schemas.openxmlformats.org/drawingml/2006/main">
              <a:ext uri="{FF2B5EF4-FFF2-40B4-BE49-F238E27FC236}">
                <a16:creationId xmlns:a16="http://schemas.microsoft.com/office/drawing/2014/main" id="{CB97EA25-5471-4803-8637-E5CF5B302265}"/>
              </a:ext>
            </a:extLst>
          </p:cNvPr>
          <p:cNvSpPr>
            <a:spLocks xmlns:a="http://schemas.openxmlformats.org/drawingml/2006/main" noGrp="1"/>
          </p:cNvSpPr>
          <p:nvPr/>
        </p:nvSpPr>
        <p:spPr>
          <a:xfrm xmlns:a="http://schemas.openxmlformats.org/drawingml/2006/main">
            <a:off x="4476750" y="1619250"/>
            <a:ext cx="3048000" cy="838200"/>
          </a:xfrm>
          <a:prstGeom xmlns:a="http://schemas.openxmlformats.org/drawingml/2006/main" prst="roundRect">
            <a:avLst>
              <a:gd name="adj" fmla="val 11364"/>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2  Certification plan</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 PSAC strategy</a:t>
            </a:r>
          </a:p>
        </p:txBody>
      </p:sp>
      <p:sp>
        <p:nvSpPr>
          <p:cNvPr id="8" name="box-242">
            <a:extLst xmlns:a="http://schemas.openxmlformats.org/drawingml/2006/main">
              <a:ext uri="{FF2B5EF4-FFF2-40B4-BE49-F238E27FC236}">
                <a16:creationId xmlns:a16="http://schemas.microsoft.com/office/drawing/2014/main" id="{971AF993-1B7E-491D-9C4A-38A0EBF3E16F}"/>
              </a:ext>
            </a:extLst>
          </p:cNvPr>
          <p:cNvSpPr>
            <a:spLocks xmlns:a="http://schemas.openxmlformats.org/drawingml/2006/main" noGrp="1"/>
          </p:cNvSpPr>
          <p:nvPr/>
        </p:nvSpPr>
        <p:spPr>
          <a:xfrm xmlns:a="http://schemas.openxmlformats.org/drawingml/2006/main">
            <a:off x="8172450" y="1619250"/>
            <a:ext cx="3048000" cy="838200"/>
          </a:xfrm>
          <a:prstGeom xmlns:a="http://schemas.openxmlformats.org/drawingml/2006/main" prst="roundRect">
            <a:avLst>
              <a:gd name="adj" fmla="val 11364"/>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3  System</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requirements</a:t>
            </a:r>
          </a:p>
        </p:txBody>
      </p:sp>
      <p:sp>
        <p:nvSpPr>
          <p:cNvPr id="9" name="box-243">
            <a:extLst xmlns:a="http://schemas.openxmlformats.org/drawingml/2006/main">
              <a:ext uri="{FF2B5EF4-FFF2-40B4-BE49-F238E27FC236}">
                <a16:creationId xmlns:a16="http://schemas.microsoft.com/office/drawing/2014/main" id="{EB00891C-2E1B-41E8-ADEE-3E24458DB40F}"/>
              </a:ext>
            </a:extLst>
          </p:cNvPr>
          <p:cNvSpPr>
            <a:spLocks xmlns:a="http://schemas.openxmlformats.org/drawingml/2006/main" noGrp="1"/>
          </p:cNvSpPr>
          <p:nvPr/>
        </p:nvSpPr>
        <p:spPr>
          <a:xfrm xmlns:a="http://schemas.openxmlformats.org/drawingml/2006/main">
            <a:off x="8172450" y="3143250"/>
            <a:ext cx="3048000" cy="838200"/>
          </a:xfrm>
          <a:prstGeom xmlns:a="http://schemas.openxmlformats.org/drawingml/2006/main" prst="roundRect">
            <a:avLst>
              <a:gd name="adj" fmla="val 11364"/>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4  Component / software</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requirements</a:t>
            </a:r>
          </a:p>
        </p:txBody>
      </p:sp>
      <p:sp>
        <p:nvSpPr>
          <p:cNvPr id="10" name="box-244">
            <a:extLst xmlns:a="http://schemas.openxmlformats.org/drawingml/2006/main">
              <a:ext uri="{FF2B5EF4-FFF2-40B4-BE49-F238E27FC236}">
                <a16:creationId xmlns:a16="http://schemas.microsoft.com/office/drawing/2014/main" id="{BB3E578C-A19F-4649-B3A1-9C402372E8C8}"/>
              </a:ext>
            </a:extLst>
          </p:cNvPr>
          <p:cNvSpPr>
            <a:spLocks xmlns:a="http://schemas.openxmlformats.org/drawingml/2006/main" noGrp="1"/>
          </p:cNvSpPr>
          <p:nvPr/>
        </p:nvSpPr>
        <p:spPr>
          <a:xfrm xmlns:a="http://schemas.openxmlformats.org/drawingml/2006/main">
            <a:off x="4476750" y="3143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5  Create Simulink</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component</a:t>
            </a:r>
          </a:p>
        </p:txBody>
      </p:sp>
      <p:sp>
        <p:nvSpPr>
          <p:cNvPr id="11" name="box-245">
            <a:extLst xmlns:a="http://schemas.openxmlformats.org/drawingml/2006/main">
              <a:ext uri="{FF2B5EF4-FFF2-40B4-BE49-F238E27FC236}">
                <a16:creationId xmlns:a16="http://schemas.microsoft.com/office/drawing/2014/main" id="{342CFD44-DD46-4F39-AF1E-AA44A8DBC7FD}"/>
              </a:ext>
            </a:extLst>
          </p:cNvPr>
          <p:cNvSpPr>
            <a:spLocks xmlns:a="http://schemas.openxmlformats.org/drawingml/2006/main" noGrp="1"/>
          </p:cNvSpPr>
          <p:nvPr/>
        </p:nvSpPr>
        <p:spPr>
          <a:xfrm xmlns:a="http://schemas.openxmlformats.org/drawingml/2006/main">
            <a:off x="781050" y="3143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6  Unit-test</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design</a:t>
            </a:r>
          </a:p>
        </p:txBody>
      </p:sp>
      <p:sp>
        <p:nvSpPr>
          <p:cNvPr id="12" name="box-246">
            <a:extLst xmlns:a="http://schemas.openxmlformats.org/drawingml/2006/main">
              <a:ext uri="{FF2B5EF4-FFF2-40B4-BE49-F238E27FC236}">
                <a16:creationId xmlns:a16="http://schemas.microsoft.com/office/drawing/2014/main" id="{290D015A-DCB0-46A8-849B-4C6393585F31}"/>
              </a:ext>
            </a:extLst>
          </p:cNvPr>
          <p:cNvSpPr>
            <a:spLocks xmlns:a="http://schemas.openxmlformats.org/drawingml/2006/main" noGrp="1"/>
          </p:cNvSpPr>
          <p:nvPr/>
        </p:nvSpPr>
        <p:spPr>
          <a:xfrm xmlns:a="http://schemas.openxmlformats.org/drawingml/2006/main">
            <a:off x="781050" y="4667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7  Create / edit</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.mldatx</a:t>
            </a:r>
          </a:p>
        </p:txBody>
      </p:sp>
      <p:sp>
        <p:nvSpPr>
          <p:cNvPr id="13" name="box-247">
            <a:extLst xmlns:a="http://schemas.openxmlformats.org/drawingml/2006/main">
              <a:ext uri="{FF2B5EF4-FFF2-40B4-BE49-F238E27FC236}">
                <a16:creationId xmlns:a16="http://schemas.microsoft.com/office/drawing/2014/main" id="{0ACE347E-FB34-4540-A405-5E47EE08240A}"/>
              </a:ext>
            </a:extLst>
          </p:cNvPr>
          <p:cNvSpPr>
            <a:spLocks xmlns:a="http://schemas.openxmlformats.org/drawingml/2006/main" noGrp="1"/>
          </p:cNvSpPr>
          <p:nvPr/>
        </p:nvSpPr>
        <p:spPr>
          <a:xfrm xmlns:a="http://schemas.openxmlformats.org/drawingml/2006/main">
            <a:off x="4476750" y="4667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8  Configure</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callbacks</a:t>
            </a:r>
          </a:p>
        </p:txBody>
      </p:sp>
      <p:sp>
        <p:nvSpPr>
          <p:cNvPr id="14" name="box-248">
            <a:extLst xmlns:a="http://schemas.openxmlformats.org/drawingml/2006/main">
              <a:ext uri="{FF2B5EF4-FFF2-40B4-BE49-F238E27FC236}">
                <a16:creationId xmlns:a16="http://schemas.microsoft.com/office/drawing/2014/main" id="{09B67B8E-A9C1-4E1E-95A8-21BC185C2FB5}"/>
              </a:ext>
            </a:extLst>
          </p:cNvPr>
          <p:cNvSpPr>
            <a:spLocks xmlns:a="http://schemas.openxmlformats.org/drawingml/2006/main" noGrp="1"/>
          </p:cNvSpPr>
          <p:nvPr/>
        </p:nvSpPr>
        <p:spPr>
          <a:xfrm xmlns:a="http://schemas.openxmlformats.org/drawingml/2006/main">
            <a:off x="8172450" y="4667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9  Verify component</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behavior</a:t>
            </a:r>
          </a:p>
        </p:txBody>
      </p:sp>
      <p:cxnSp>
        <p:nvCxnSpPr>
          <p:cNvPr id="38" name=""/>
          <p:cNvCxnSpPr>
            <a:stCxn xmlns:a="http://schemas.openxmlformats.org/drawingml/2006/main" id="6" idx="3"/>
            <a:endCxn xmlns:a="http://schemas.openxmlformats.org/drawingml/2006/main" id="7" idx="1"/>
          </p:cNvCxnSpPr>
          <p:nvPr/>
        </p:nvCxnSpPr>
        <p:spPr>
          <a:xfrm xmlns:a="http://schemas.openxmlformats.org/drawingml/2006/main">
            <a:off x="3829050" y="2038350"/>
            <a:ext cx="647700" cy="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39" name=""/>
          <p:cNvCxnSpPr>
            <a:stCxn xmlns:a="http://schemas.openxmlformats.org/drawingml/2006/main" id="7" idx="3"/>
            <a:endCxn xmlns:a="http://schemas.openxmlformats.org/drawingml/2006/main" id="8" idx="1"/>
          </p:cNvCxnSpPr>
          <p:nvPr/>
        </p:nvCxnSpPr>
        <p:spPr>
          <a:xfrm xmlns:a="http://schemas.openxmlformats.org/drawingml/2006/main">
            <a:off x="7524750" y="2038350"/>
            <a:ext cx="647700" cy="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40" name=""/>
          <p:cNvCxnSpPr>
            <a:stCxn xmlns:a="http://schemas.openxmlformats.org/drawingml/2006/main" id="8" idx="2"/>
            <a:endCxn xmlns:a="http://schemas.openxmlformats.org/drawingml/2006/main" id="9" idx="0"/>
          </p:cNvCxnSpPr>
          <p:nvPr/>
        </p:nvCxnSpPr>
        <p:spPr>
          <a:xfrm xmlns:a="http://schemas.openxmlformats.org/drawingml/2006/main">
            <a:off x="9696450" y="2457450"/>
            <a:ext cx="0" cy="68580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41" name=""/>
          <p:cNvCxnSpPr>
            <a:stCxn xmlns:a="http://schemas.openxmlformats.org/drawingml/2006/main" id="9" idx="1"/>
            <a:endCxn xmlns:a="http://schemas.openxmlformats.org/drawingml/2006/main" id="10" idx="3"/>
          </p:cNvCxnSpPr>
          <p:nvPr/>
        </p:nvCxnSpPr>
        <p:spPr>
          <a:xfrm xmlns:a="http://schemas.openxmlformats.org/drawingml/2006/main" flipH="1">
            <a:off x="7524750" y="3562350"/>
            <a:ext cx="6477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42" name=""/>
          <p:cNvCxnSpPr>
            <a:stCxn xmlns:a="http://schemas.openxmlformats.org/drawingml/2006/main" id="10" idx="1"/>
            <a:endCxn xmlns:a="http://schemas.openxmlformats.org/drawingml/2006/main" id="11" idx="3"/>
          </p:cNvCxnSpPr>
          <p:nvPr/>
        </p:nvCxnSpPr>
        <p:spPr>
          <a:xfrm xmlns:a="http://schemas.openxmlformats.org/drawingml/2006/main" flipH="1">
            <a:off x="3829050" y="3562350"/>
            <a:ext cx="6477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43" name=""/>
          <p:cNvCxnSpPr>
            <a:stCxn xmlns:a="http://schemas.openxmlformats.org/drawingml/2006/main" id="11" idx="2"/>
            <a:endCxn xmlns:a="http://schemas.openxmlformats.org/drawingml/2006/main" id="12" idx="0"/>
          </p:cNvCxnSpPr>
          <p:nvPr/>
        </p:nvCxnSpPr>
        <p:spPr>
          <a:xfrm xmlns:a="http://schemas.openxmlformats.org/drawingml/2006/main">
            <a:off x="2305050" y="3981450"/>
            <a:ext cx="0" cy="68580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44" name=""/>
          <p:cNvCxnSpPr>
            <a:stCxn xmlns:a="http://schemas.openxmlformats.org/drawingml/2006/main" id="12" idx="3"/>
            <a:endCxn xmlns:a="http://schemas.openxmlformats.org/drawingml/2006/main" id="13" idx="1"/>
          </p:cNvCxnSpPr>
          <p:nvPr/>
        </p:nvCxnSpPr>
        <p:spPr>
          <a:xfrm xmlns:a="http://schemas.openxmlformats.org/drawingml/2006/main">
            <a:off x="3829050" y="5086350"/>
            <a:ext cx="6477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45" name=""/>
          <p:cNvCxnSpPr>
            <a:stCxn xmlns:a="http://schemas.openxmlformats.org/drawingml/2006/main" id="13" idx="3"/>
            <a:endCxn xmlns:a="http://schemas.openxmlformats.org/drawingml/2006/main" id="14" idx="1"/>
          </p:cNvCxnSpPr>
          <p:nvPr/>
        </p:nvCxnSpPr>
        <p:spPr>
          <a:xfrm xmlns:a="http://schemas.openxmlformats.org/drawingml/2006/main">
            <a:off x="7524750" y="5086350"/>
            <a:ext cx="6477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sp>
        <p:nvSpPr>
          <p:cNvPr id="23" name="text-249">
            <a:extLst xmlns:a="http://schemas.openxmlformats.org/drawingml/2006/main">
              <a:ext uri="{FF2B5EF4-FFF2-40B4-BE49-F238E27FC236}">
                <a16:creationId xmlns:a16="http://schemas.microsoft.com/office/drawing/2014/main" id="{72B7354A-E7CD-49FB-A461-4890A2B6D7D2}"/>
              </a:ext>
            </a:extLst>
          </p:cNvPr>
          <p:cNvSpPr>
            <a:spLocks xmlns:a="http://schemas.openxmlformats.org/drawingml/2006/main" noGrp="1"/>
          </p:cNvSpPr>
          <p:nvPr/>
        </p:nvSpPr>
        <p:spPr>
          <a:xfrm xmlns:a="http://schemas.openxmlformats.org/drawingml/2006/main">
            <a:off x="2781300" y="5857875"/>
            <a:ext cx="662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275" b="0" i="1">
                <a:solidFill>
                  <a:srgbClr val="8FB5C9"/>
                </a:solidFill>
                <a:latin typeface="Aptos"/>
                <a:ea typeface="Aptos"/>
                <a:cs typeface="Aptos"/>
              </a:defRPr>
            </a:pPr>
            <a:r>
              <a:rPr sz="1275" b="0" i="1">
                <a:solidFill>
                  <a:srgbClr val="8FB5C9"/>
                </a:solidFill>
                <a:latin typeface="Aptos"/>
                <a:ea typeface="Aptos"/>
                <a:cs typeface="Aptos"/>
              </a:rPr>
              <a:t>Illustrative project implementation of a DO-178C / DO-331-aligned lifecycle</a:t>
            </a:r>
          </a:p>
        </p:txBody>
      </p:sp>
    </p:spTree>
    <p:extLst>
      <p:ext uri="{BB962C8B-B14F-4D97-AF65-F5344CB8AC3E}">
        <p14:creationId xmlns:p14="http://schemas.microsoft.com/office/powerpoint/2010/main" val="445827379"/>
      </p:ext>
    </p:extLst>
  </p:cSld>
</p:sld>
</file>

<file path=ppt/slides/slide16.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5" name="section-249">
            <a:extLst xmlns:a="http://schemas.openxmlformats.org/drawingml/2006/main">
              <a:ext uri="{FF2B5EF4-FFF2-40B4-BE49-F238E27FC236}">
                <a16:creationId xmlns:a16="http://schemas.microsoft.com/office/drawing/2014/main" id="{71C17090-E63E-426E-84AD-B73DCF10505E}"/>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04 • PROJECT DEVELOPMENT FLOW</a:t>
            </a:r>
          </a:p>
        </p:txBody>
      </p:sp>
      <p:sp>
        <p:nvSpPr>
          <p:cNvPr id="2" name="title-249">
            <a:extLst xmlns:a="http://schemas.openxmlformats.org/drawingml/2006/main">
              <a:ext uri="{FF2B5EF4-FFF2-40B4-BE49-F238E27FC236}">
                <a16:creationId xmlns:a16="http://schemas.microsoft.com/office/drawing/2014/main" id="{17EBC051-E2EA-4A14-96CB-664CE3F87215}"/>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Part 2 — integrate, automate, prove</a:t>
            </a:r>
          </a:p>
        </p:txBody>
      </p:sp>
      <p:sp>
        <p:nvSpPr>
          <p:cNvPr id="3" name="line-250">
            <a:extLst xmlns:a="http://schemas.openxmlformats.org/drawingml/2006/main">
              <a:ext uri="{FF2B5EF4-FFF2-40B4-BE49-F238E27FC236}">
                <a16:creationId xmlns:a16="http://schemas.microsoft.com/office/drawing/2014/main" id="{E599B5DD-E45C-45B2-88C5-3E98E5B547FF}"/>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51">
            <a:extLst xmlns:a="http://schemas.openxmlformats.org/drawingml/2006/main">
              <a:ext uri="{FF2B5EF4-FFF2-40B4-BE49-F238E27FC236}">
                <a16:creationId xmlns:a16="http://schemas.microsoft.com/office/drawing/2014/main" id="{3D6C6F02-A610-488D-815E-1DCFF6721D38}"/>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252">
            <a:extLst xmlns:a="http://schemas.openxmlformats.org/drawingml/2006/main">
              <a:ext uri="{FF2B5EF4-FFF2-40B4-BE49-F238E27FC236}">
                <a16:creationId xmlns:a16="http://schemas.microsoft.com/office/drawing/2014/main" id="{3D87B1D7-C888-4B86-B9AB-722EBC562E1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16</a:t>
            </a:r>
          </a:p>
        </p:txBody>
      </p:sp>
      <p:sp>
        <p:nvSpPr>
          <p:cNvPr id="6" name="box-253">
            <a:extLst xmlns:a="http://schemas.openxmlformats.org/drawingml/2006/main">
              <a:ext uri="{FF2B5EF4-FFF2-40B4-BE49-F238E27FC236}">
                <a16:creationId xmlns:a16="http://schemas.microsoft.com/office/drawing/2014/main" id="{8572D38F-6735-423A-805D-131A423A35B5}"/>
              </a:ext>
            </a:extLst>
          </p:cNvPr>
          <p:cNvSpPr>
            <a:spLocks xmlns:a="http://schemas.openxmlformats.org/drawingml/2006/main" noGrp="1"/>
          </p:cNvSpPr>
          <p:nvPr/>
        </p:nvSpPr>
        <p:spPr>
          <a:xfrm xmlns:a="http://schemas.openxmlformats.org/drawingml/2006/main">
            <a:off x="781050" y="1619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10  Integrate into</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architecture</a:t>
            </a:r>
          </a:p>
        </p:txBody>
      </p:sp>
      <p:sp>
        <p:nvSpPr>
          <p:cNvPr id="7" name="box-254">
            <a:extLst xmlns:a="http://schemas.openxmlformats.org/drawingml/2006/main">
              <a:ext uri="{FF2B5EF4-FFF2-40B4-BE49-F238E27FC236}">
                <a16:creationId xmlns:a16="http://schemas.microsoft.com/office/drawing/2014/main" id="{2CA3A3FD-1A09-4F06-AE95-AAD099CD245D}"/>
              </a:ext>
            </a:extLst>
          </p:cNvPr>
          <p:cNvSpPr>
            <a:spLocks xmlns:a="http://schemas.openxmlformats.org/drawingml/2006/main" noGrp="1"/>
          </p:cNvSpPr>
          <p:nvPr/>
        </p:nvSpPr>
        <p:spPr>
          <a:xfrm xmlns:a="http://schemas.openxmlformats.org/drawingml/2006/main">
            <a:off x="4476750" y="1619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11  Architecture</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compile / update</a:t>
            </a:r>
          </a:p>
        </p:txBody>
      </p:sp>
      <p:sp>
        <p:nvSpPr>
          <p:cNvPr id="8" name="box-255">
            <a:extLst xmlns:a="http://schemas.openxmlformats.org/drawingml/2006/main">
              <a:ext uri="{FF2B5EF4-FFF2-40B4-BE49-F238E27FC236}">
                <a16:creationId xmlns:a16="http://schemas.microsoft.com/office/drawing/2014/main" id="{C740BF29-9410-4365-BADB-065F2053FEEF}"/>
              </a:ext>
            </a:extLst>
          </p:cNvPr>
          <p:cNvSpPr>
            <a:spLocks xmlns:a="http://schemas.openxmlformats.org/drawingml/2006/main" noGrp="1"/>
          </p:cNvSpPr>
          <p:nvPr/>
        </p:nvSpPr>
        <p:spPr>
          <a:xfrm xmlns:a="http://schemas.openxmlformats.org/drawingml/2006/main">
            <a:off x="8172450" y="1619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12  Run Jenkins</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pipeline</a:t>
            </a:r>
          </a:p>
        </p:txBody>
      </p:sp>
      <p:sp>
        <p:nvSpPr>
          <p:cNvPr id="9" name="box-256">
            <a:extLst xmlns:a="http://schemas.openxmlformats.org/drawingml/2006/main">
              <a:ext uri="{FF2B5EF4-FFF2-40B4-BE49-F238E27FC236}">
                <a16:creationId xmlns:a16="http://schemas.microsoft.com/office/drawing/2014/main" id="{206DA204-F972-46E1-A445-CA87C1DBFD75}"/>
              </a:ext>
            </a:extLst>
          </p:cNvPr>
          <p:cNvSpPr>
            <a:spLocks xmlns:a="http://schemas.openxmlformats.org/drawingml/2006/main" noGrp="1"/>
          </p:cNvSpPr>
          <p:nvPr/>
        </p:nvSpPr>
        <p:spPr>
          <a:xfrm xmlns:a="http://schemas.openxmlformats.org/drawingml/2006/main">
            <a:off x="8172450" y="3143250"/>
            <a:ext cx="3048000" cy="838200"/>
          </a:xfrm>
          <a:prstGeom xmlns:a="http://schemas.openxmlformats.org/drawingml/2006/main" prst="roundRect">
            <a:avLst>
              <a:gd name="adj" fmla="val 11364"/>
            </a:avLst>
          </a:prstGeom>
          <a:solidFill xmlns:a="http://schemas.openxmlformats.org/drawingml/2006/main">
            <a:srgbClr val="3A2A1D"/>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13  Review first</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meaningful failure</a:t>
            </a:r>
          </a:p>
        </p:txBody>
      </p:sp>
      <p:sp>
        <p:nvSpPr>
          <p:cNvPr id="10" name="box-257">
            <a:extLst xmlns:a="http://schemas.openxmlformats.org/drawingml/2006/main">
              <a:ext uri="{FF2B5EF4-FFF2-40B4-BE49-F238E27FC236}">
                <a16:creationId xmlns:a16="http://schemas.microsoft.com/office/drawing/2014/main" id="{0BF43C61-2155-4AD3-A159-EADC2C55746F}"/>
              </a:ext>
            </a:extLst>
          </p:cNvPr>
          <p:cNvSpPr>
            <a:spLocks xmlns:a="http://schemas.openxmlformats.org/drawingml/2006/main" noGrp="1"/>
          </p:cNvSpPr>
          <p:nvPr/>
        </p:nvSpPr>
        <p:spPr>
          <a:xfrm xmlns:a="http://schemas.openxmlformats.org/drawingml/2006/main">
            <a:off x="4476750" y="3143250"/>
            <a:ext cx="3048000" cy="838200"/>
          </a:xfrm>
          <a:prstGeom xmlns:a="http://schemas.openxmlformats.org/drawingml/2006/main" prst="roundRect">
            <a:avLst>
              <a:gd name="adj" fmla="val 11364"/>
            </a:avLst>
          </a:prstGeom>
          <a:solidFill xmlns:a="http://schemas.openxmlformats.org/drawingml/2006/main">
            <a:srgbClr val="3A2A1D"/>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14  Fix root cause</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 add protection</a:t>
            </a:r>
          </a:p>
        </p:txBody>
      </p:sp>
      <p:sp>
        <p:nvSpPr>
          <p:cNvPr id="11" name="box-258">
            <a:extLst xmlns:a="http://schemas.openxmlformats.org/drawingml/2006/main">
              <a:ext uri="{FF2B5EF4-FFF2-40B4-BE49-F238E27FC236}">
                <a16:creationId xmlns:a16="http://schemas.microsoft.com/office/drawing/2014/main" id="{62DF479E-06B3-4763-A3A8-BD9BEFF1925E}"/>
              </a:ext>
            </a:extLst>
          </p:cNvPr>
          <p:cNvSpPr>
            <a:spLocks xmlns:a="http://schemas.openxmlformats.org/drawingml/2006/main" noGrp="1"/>
          </p:cNvSpPr>
          <p:nvPr/>
        </p:nvSpPr>
        <p:spPr>
          <a:xfrm xmlns:a="http://schemas.openxmlformats.org/drawingml/2006/main">
            <a:off x="781050" y="3143250"/>
            <a:ext cx="3048000" cy="838200"/>
          </a:xfrm>
          <a:prstGeom xmlns:a="http://schemas.openxmlformats.org/drawingml/2006/main" prst="roundRect">
            <a:avLst>
              <a:gd name="adj" fmla="val 11364"/>
            </a:avLst>
          </a:prstGeom>
          <a:solidFill xmlns:a="http://schemas.openxmlformats.org/drawingml/2006/main">
            <a:srgbClr val="3A2A1D"/>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15  Re-run affected</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then full pipeline</a:t>
            </a:r>
          </a:p>
        </p:txBody>
      </p:sp>
      <p:sp>
        <p:nvSpPr>
          <p:cNvPr id="12" name="box-259">
            <a:extLst xmlns:a="http://schemas.openxmlformats.org/drawingml/2006/main">
              <a:ext uri="{FF2B5EF4-FFF2-40B4-BE49-F238E27FC236}">
                <a16:creationId xmlns:a16="http://schemas.microsoft.com/office/drawing/2014/main" id="{4BB3E05B-751D-4615-BD14-221B5CEDE5B1}"/>
              </a:ext>
            </a:extLst>
          </p:cNvPr>
          <p:cNvSpPr>
            <a:spLocks xmlns:a="http://schemas.openxmlformats.org/drawingml/2006/main" noGrp="1"/>
          </p:cNvSpPr>
          <p:nvPr/>
        </p:nvSpPr>
        <p:spPr>
          <a:xfrm xmlns:a="http://schemas.openxmlformats.org/drawingml/2006/main">
            <a:off x="781050" y="4667250"/>
            <a:ext cx="3048000" cy="838200"/>
          </a:xfrm>
          <a:prstGeom xmlns:a="http://schemas.openxmlformats.org/drawingml/2006/main" prst="roundRect">
            <a:avLst>
              <a:gd name="adj" fmla="val 11364"/>
            </a:avLst>
          </a:prstGeom>
          <a:solidFill xmlns:a="http://schemas.openxmlformats.org/drawingml/2006/main">
            <a:srgbClr val="10372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16  Pass controlled</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pipeline</a:t>
            </a:r>
          </a:p>
        </p:txBody>
      </p:sp>
      <p:sp>
        <p:nvSpPr>
          <p:cNvPr id="13" name="box-260">
            <a:extLst xmlns:a="http://schemas.openxmlformats.org/drawingml/2006/main">
              <a:ext uri="{FF2B5EF4-FFF2-40B4-BE49-F238E27FC236}">
                <a16:creationId xmlns:a16="http://schemas.microsoft.com/office/drawing/2014/main" id="{7B760FB1-3110-4854-B336-AA315384CBBD}"/>
              </a:ext>
            </a:extLst>
          </p:cNvPr>
          <p:cNvSpPr>
            <a:spLocks xmlns:a="http://schemas.openxmlformats.org/drawingml/2006/main" noGrp="1"/>
          </p:cNvSpPr>
          <p:nvPr/>
        </p:nvSpPr>
        <p:spPr>
          <a:xfrm xmlns:a="http://schemas.openxmlformats.org/drawingml/2006/main">
            <a:off x="4476750" y="4667250"/>
            <a:ext cx="3048000" cy="838200"/>
          </a:xfrm>
          <a:prstGeom xmlns:a="http://schemas.openxmlformats.org/drawingml/2006/main" prst="roundRect">
            <a:avLst>
              <a:gd name="adj" fmla="val 11364"/>
            </a:avLst>
          </a:prstGeom>
          <a:solidFill xmlns:a="http://schemas.openxmlformats.org/drawingml/2006/main">
            <a:srgbClr val="10372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17  Execute HIL</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campaign</a:t>
            </a:r>
          </a:p>
        </p:txBody>
      </p:sp>
      <p:sp>
        <p:nvSpPr>
          <p:cNvPr id="14" name="box-261">
            <a:extLst xmlns:a="http://schemas.openxmlformats.org/drawingml/2006/main">
              <a:ext uri="{FF2B5EF4-FFF2-40B4-BE49-F238E27FC236}">
                <a16:creationId xmlns:a16="http://schemas.microsoft.com/office/drawing/2014/main" id="{9BA86F66-D7DB-4C6B-A5B3-3CF43BD07FFE}"/>
              </a:ext>
            </a:extLst>
          </p:cNvPr>
          <p:cNvSpPr>
            <a:spLocks xmlns:a="http://schemas.openxmlformats.org/drawingml/2006/main" noGrp="1"/>
          </p:cNvSpPr>
          <p:nvPr/>
        </p:nvSpPr>
        <p:spPr>
          <a:xfrm xmlns:a="http://schemas.openxmlformats.org/drawingml/2006/main">
            <a:off x="8172450" y="4667250"/>
            <a:ext cx="3048000" cy="838200"/>
          </a:xfrm>
          <a:prstGeom xmlns:a="http://schemas.openxmlformats.org/drawingml/2006/main" prst="roundRect">
            <a:avLst>
              <a:gd name="adj" fmla="val 11364"/>
            </a:avLst>
          </a:prstGeom>
          <a:solidFill xmlns:a="http://schemas.openxmlformats.org/drawingml/2006/main">
            <a:srgbClr val="10372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18  Final verification</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evidence</a:t>
            </a:r>
          </a:p>
        </p:txBody>
      </p:sp>
      <p:cxnSp>
        <p:nvCxnSpPr>
          <p:cNvPr id="39" name=""/>
          <p:cNvCxnSpPr>
            <a:stCxn xmlns:a="http://schemas.openxmlformats.org/drawingml/2006/main" id="6" idx="3"/>
            <a:endCxn xmlns:a="http://schemas.openxmlformats.org/drawingml/2006/main" id="7" idx="1"/>
          </p:cNvCxnSpPr>
          <p:nvPr/>
        </p:nvCxnSpPr>
        <p:spPr>
          <a:xfrm xmlns:a="http://schemas.openxmlformats.org/drawingml/2006/main">
            <a:off x="3829050" y="2038350"/>
            <a:ext cx="6477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40" name=""/>
          <p:cNvCxnSpPr>
            <a:stCxn xmlns:a="http://schemas.openxmlformats.org/drawingml/2006/main" id="7" idx="3"/>
            <a:endCxn xmlns:a="http://schemas.openxmlformats.org/drawingml/2006/main" id="8" idx="1"/>
          </p:cNvCxnSpPr>
          <p:nvPr/>
        </p:nvCxnSpPr>
        <p:spPr>
          <a:xfrm xmlns:a="http://schemas.openxmlformats.org/drawingml/2006/main">
            <a:off x="7524750" y="2038350"/>
            <a:ext cx="6477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41" name=""/>
          <p:cNvCxnSpPr>
            <a:stCxn xmlns:a="http://schemas.openxmlformats.org/drawingml/2006/main" id="8" idx="2"/>
            <a:endCxn xmlns:a="http://schemas.openxmlformats.org/drawingml/2006/main" id="9" idx="0"/>
          </p:cNvCxnSpPr>
          <p:nvPr/>
        </p:nvCxnSpPr>
        <p:spPr>
          <a:xfrm xmlns:a="http://schemas.openxmlformats.org/drawingml/2006/main">
            <a:off x="9696450" y="2457450"/>
            <a:ext cx="0" cy="68580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42" name=""/>
          <p:cNvCxnSpPr>
            <a:stCxn xmlns:a="http://schemas.openxmlformats.org/drawingml/2006/main" id="9" idx="1"/>
            <a:endCxn xmlns:a="http://schemas.openxmlformats.org/drawingml/2006/main" id="10" idx="3"/>
          </p:cNvCxnSpPr>
          <p:nvPr/>
        </p:nvCxnSpPr>
        <p:spPr>
          <a:xfrm xmlns:a="http://schemas.openxmlformats.org/drawingml/2006/main" flipH="1">
            <a:off x="7524750" y="3562350"/>
            <a:ext cx="647700" cy="0"/>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cxnSp>
        <p:nvCxnSpPr>
          <p:cNvPr id="43" name=""/>
          <p:cNvCxnSpPr>
            <a:stCxn xmlns:a="http://schemas.openxmlformats.org/drawingml/2006/main" id="10" idx="1"/>
            <a:endCxn xmlns:a="http://schemas.openxmlformats.org/drawingml/2006/main" id="11" idx="3"/>
          </p:cNvCxnSpPr>
          <p:nvPr/>
        </p:nvCxnSpPr>
        <p:spPr>
          <a:xfrm xmlns:a="http://schemas.openxmlformats.org/drawingml/2006/main" flipH="1">
            <a:off x="3829050" y="3562350"/>
            <a:ext cx="647700" cy="0"/>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cxnSp>
        <p:nvCxnSpPr>
          <p:cNvPr id="44" name=""/>
          <p:cNvCxnSpPr>
            <a:stCxn xmlns:a="http://schemas.openxmlformats.org/drawingml/2006/main" id="11" idx="2"/>
            <a:endCxn xmlns:a="http://schemas.openxmlformats.org/drawingml/2006/main" id="12" idx="0"/>
          </p:cNvCxnSpPr>
          <p:nvPr/>
        </p:nvCxnSpPr>
        <p:spPr>
          <a:xfrm xmlns:a="http://schemas.openxmlformats.org/drawingml/2006/main">
            <a:off x="2305050" y="3981450"/>
            <a:ext cx="0" cy="685800"/>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cxnSp>
        <p:nvCxnSpPr>
          <p:cNvPr id="45" name=""/>
          <p:cNvCxnSpPr>
            <a:stCxn xmlns:a="http://schemas.openxmlformats.org/drawingml/2006/main" id="12" idx="3"/>
            <a:endCxn xmlns:a="http://schemas.openxmlformats.org/drawingml/2006/main" id="13" idx="1"/>
          </p:cNvCxnSpPr>
          <p:nvPr/>
        </p:nvCxnSpPr>
        <p:spPr>
          <a:xfrm xmlns:a="http://schemas.openxmlformats.org/drawingml/2006/main">
            <a:off x="3829050" y="5086350"/>
            <a:ext cx="647700" cy="0"/>
          </a:xfrm>
          <a:prstGeom xmlns:a="http://schemas.openxmlformats.org/drawingml/2006/main" prst="straightConnector1">
            <a:avLst/>
          </a:prstGeom>
          <a:ln xmlns:a="http://schemas.openxmlformats.org/drawingml/2006/main" w="28575">
            <a:solidFill>
              <a:srgbClr val="2CA56F"/>
            </a:solidFill>
            <a:prstDash val="solid"/>
            <a:tailEnd type="triangle" w="sm" len="sm"/>
          </a:ln>
        </p:spPr>
      </p:cxnSp>
      <p:cxnSp>
        <p:nvCxnSpPr>
          <p:cNvPr id="46" name=""/>
          <p:cNvCxnSpPr>
            <a:stCxn xmlns:a="http://schemas.openxmlformats.org/drawingml/2006/main" id="13" idx="3"/>
            <a:endCxn xmlns:a="http://schemas.openxmlformats.org/drawingml/2006/main" id="14" idx="1"/>
          </p:cNvCxnSpPr>
          <p:nvPr/>
        </p:nvCxnSpPr>
        <p:spPr>
          <a:xfrm xmlns:a="http://schemas.openxmlformats.org/drawingml/2006/main">
            <a:off x="7524750" y="5086350"/>
            <a:ext cx="647700" cy="0"/>
          </a:xfrm>
          <a:prstGeom xmlns:a="http://schemas.openxmlformats.org/drawingml/2006/main" prst="straightConnector1">
            <a:avLst/>
          </a:prstGeom>
          <a:ln xmlns:a="http://schemas.openxmlformats.org/drawingml/2006/main" w="28575">
            <a:solidFill>
              <a:srgbClr val="2CA56F"/>
            </a:solidFill>
            <a:prstDash val="solid"/>
            <a:tailEnd type="triangle" w="sm" len="sm"/>
          </a:ln>
        </p:spPr>
      </p:cxnSp>
      <p:sp>
        <p:nvSpPr>
          <p:cNvPr id="23" name="text-262">
            <a:extLst xmlns:a="http://schemas.openxmlformats.org/drawingml/2006/main">
              <a:ext uri="{FF2B5EF4-FFF2-40B4-BE49-F238E27FC236}">
                <a16:creationId xmlns:a16="http://schemas.microsoft.com/office/drawing/2014/main" id="{AB1C062C-68DB-4F87-ABF8-8695E156572D}"/>
              </a:ext>
            </a:extLst>
          </p:cNvPr>
          <p:cNvSpPr>
            <a:spLocks xmlns:a="http://schemas.openxmlformats.org/drawingml/2006/main" noGrp="1"/>
          </p:cNvSpPr>
          <p:nvPr/>
        </p:nvSpPr>
        <p:spPr>
          <a:xfrm xmlns:a="http://schemas.openxmlformats.org/drawingml/2006/main">
            <a:off x="4552950" y="417195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200" b="1" i="0">
                <a:solidFill>
                  <a:srgbClr val="E9A23B"/>
                </a:solidFill>
                <a:latin typeface="Aptos"/>
                <a:ea typeface="Aptos"/>
                <a:cs typeface="Aptos"/>
              </a:defRPr>
            </a:pPr>
            <a:r>
              <a:rPr sz="1200" b="1" i="0">
                <a:solidFill>
                  <a:srgbClr val="E9A23B"/>
                </a:solidFill>
                <a:latin typeface="Aptos"/>
                <a:ea typeface="Aptos"/>
                <a:cs typeface="Aptos"/>
              </a:rPr>
              <a:t>FAILURE LOOP</a:t>
            </a:r>
          </a:p>
        </p:txBody>
      </p:sp>
      <p:sp>
        <p:nvSpPr>
          <p:cNvPr id="24" name="text-263">
            <a:extLst xmlns:a="http://schemas.openxmlformats.org/drawingml/2006/main">
              <a:ext uri="{FF2B5EF4-FFF2-40B4-BE49-F238E27FC236}">
                <a16:creationId xmlns:a16="http://schemas.microsoft.com/office/drawing/2014/main" id="{A7491BA7-5733-4722-A219-7E0F4FEC7047}"/>
              </a:ext>
            </a:extLst>
          </p:cNvPr>
          <p:cNvSpPr>
            <a:spLocks xmlns:a="http://schemas.openxmlformats.org/drawingml/2006/main" noGrp="1"/>
          </p:cNvSpPr>
          <p:nvPr/>
        </p:nvSpPr>
        <p:spPr>
          <a:xfrm xmlns:a="http://schemas.openxmlformats.org/drawingml/2006/main">
            <a:off x="2190750" y="5857875"/>
            <a:ext cx="781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350" b="0" i="1">
                <a:solidFill>
                  <a:srgbClr val="A6C0D0"/>
                </a:solidFill>
                <a:latin typeface="Aptos"/>
                <a:ea typeface="Aptos"/>
                <a:cs typeface="Aptos"/>
              </a:defRPr>
            </a:pPr>
            <a:r>
              <a:rPr sz="1350" b="0" i="1">
                <a:solidFill>
                  <a:srgbClr val="A6C0D0"/>
                </a:solidFill>
                <a:latin typeface="Aptos"/>
                <a:ea typeface="Aptos"/>
                <a:cs typeface="Aptos"/>
              </a:rPr>
              <a:t>A green pipeline is a gate to the next activity—not proof that every certification objective is complete.</a:t>
            </a:r>
          </a:p>
        </p:txBody>
      </p:sp>
    </p:spTree>
    <p:extLst>
      <p:ext uri="{BB962C8B-B14F-4D97-AF65-F5344CB8AC3E}">
        <p14:creationId xmlns:p14="http://schemas.microsoft.com/office/powerpoint/2010/main" val="791143686"/>
      </p:ext>
    </p:extLst>
  </p:cSld>
</p:sld>
</file>

<file path=ppt/slides/slide1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8" name="section-263">
            <a:extLst xmlns:a="http://schemas.openxmlformats.org/drawingml/2006/main">
              <a:ext uri="{FF2B5EF4-FFF2-40B4-BE49-F238E27FC236}">
                <a16:creationId xmlns:a16="http://schemas.microsoft.com/office/drawing/2014/main" id="{FFD29D7E-0FAD-4187-8A3C-C5C14883C0D9}"/>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05 • REQUIREMENTS DEVELOPMENT</a:t>
            </a:r>
          </a:p>
        </p:txBody>
      </p:sp>
      <p:sp>
        <p:nvSpPr>
          <p:cNvPr id="2" name="title-263">
            <a:extLst xmlns:a="http://schemas.openxmlformats.org/drawingml/2006/main">
              <a:ext uri="{FF2B5EF4-FFF2-40B4-BE49-F238E27FC236}">
                <a16:creationId xmlns:a16="http://schemas.microsoft.com/office/drawing/2014/main" id="{BFF549DF-A418-4174-9AAA-E2AB7C38D401}"/>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A testable requirement is precise and observable</a:t>
            </a:r>
          </a:p>
        </p:txBody>
      </p:sp>
      <p:sp>
        <p:nvSpPr>
          <p:cNvPr id="3" name="line-264">
            <a:extLst xmlns:a="http://schemas.openxmlformats.org/drawingml/2006/main">
              <a:ext uri="{FF2B5EF4-FFF2-40B4-BE49-F238E27FC236}">
                <a16:creationId xmlns:a16="http://schemas.microsoft.com/office/drawing/2014/main" id="{B9C67DB8-2967-44E2-87FE-1DA24A6498B0}"/>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65">
            <a:extLst xmlns:a="http://schemas.openxmlformats.org/drawingml/2006/main">
              <a:ext uri="{FF2B5EF4-FFF2-40B4-BE49-F238E27FC236}">
                <a16:creationId xmlns:a16="http://schemas.microsoft.com/office/drawing/2014/main" id="{9EA61751-618F-4665-BF56-7A74497AA49F}"/>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266">
            <a:extLst xmlns:a="http://schemas.openxmlformats.org/drawingml/2006/main">
              <a:ext uri="{FF2B5EF4-FFF2-40B4-BE49-F238E27FC236}">
                <a16:creationId xmlns:a16="http://schemas.microsoft.com/office/drawing/2014/main" id="{DC1AF9A8-B85A-41C4-86F6-03C75D04697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17</a:t>
            </a:r>
          </a:p>
        </p:txBody>
      </p:sp>
      <p:sp>
        <p:nvSpPr>
          <p:cNvPr id="6" name="box-267">
            <a:extLst xmlns:a="http://schemas.openxmlformats.org/drawingml/2006/main">
              <a:ext uri="{FF2B5EF4-FFF2-40B4-BE49-F238E27FC236}">
                <a16:creationId xmlns:a16="http://schemas.microsoft.com/office/drawing/2014/main" id="{12AB20C8-E0B1-4C71-86D0-D4103C9823CD}"/>
              </a:ext>
            </a:extLst>
          </p:cNvPr>
          <p:cNvSpPr>
            <a:spLocks xmlns:a="http://schemas.openxmlformats.org/drawingml/2006/main" noGrp="1"/>
          </p:cNvSpPr>
          <p:nvPr/>
        </p:nvSpPr>
        <p:spPr>
          <a:xfrm xmlns:a="http://schemas.openxmlformats.org/drawingml/2006/main">
            <a:off x="704850" y="1571625"/>
            <a:ext cx="1571625" cy="666750"/>
          </a:xfrm>
          <a:prstGeom xmlns:a="http://schemas.openxmlformats.org/drawingml/2006/main" prst="roundRect">
            <a:avLst>
              <a:gd name="adj" fmla="val 11429"/>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SYSTEM</a:t>
            </a:r>
          </a:p>
        </p:txBody>
      </p:sp>
      <p:sp>
        <p:nvSpPr>
          <p:cNvPr id="7" name="text-268">
            <a:extLst xmlns:a="http://schemas.openxmlformats.org/drawingml/2006/main">
              <a:ext uri="{FF2B5EF4-FFF2-40B4-BE49-F238E27FC236}">
                <a16:creationId xmlns:a16="http://schemas.microsoft.com/office/drawing/2014/main" id="{8B313C99-E8FE-4F21-83DE-BC2A94796705}"/>
              </a:ext>
            </a:extLst>
          </p:cNvPr>
          <p:cNvSpPr>
            <a:spLocks xmlns:a="http://schemas.openxmlformats.org/drawingml/2006/main" noGrp="1"/>
          </p:cNvSpPr>
          <p:nvPr/>
        </p:nvSpPr>
        <p:spPr>
          <a:xfrm xmlns:a="http://schemas.openxmlformats.org/drawingml/2006/main">
            <a:off x="2571750" y="157162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650" b="0" i="0">
                <a:solidFill>
                  <a:srgbClr val="17324A"/>
                </a:solidFill>
                <a:latin typeface="Aptos"/>
                <a:ea typeface="Aptos"/>
                <a:cs typeface="Aptos"/>
              </a:defRPr>
            </a:pPr>
            <a:r>
              <a:rPr sz="1650" b="0" i="0">
                <a:solidFill>
                  <a:srgbClr val="17324A"/>
                </a:solidFill>
                <a:latin typeface="Aptos"/>
                <a:ea typeface="Aptos"/>
                <a:cs typeface="Aptos"/>
              </a:rPr>
              <a:t>Aircraft shall maintain commanded pitch attitude within allocated performance limits.</a:t>
            </a:r>
          </a:p>
        </p:txBody>
      </p:sp>
      <p:sp>
        <p:nvSpPr>
          <p:cNvPr id="8" name="line-269">
            <a:extLst xmlns:a="http://schemas.openxmlformats.org/drawingml/2006/main">
              <a:ext uri="{FF2B5EF4-FFF2-40B4-BE49-F238E27FC236}">
                <a16:creationId xmlns:a16="http://schemas.microsoft.com/office/drawing/2014/main" id="{94665DA1-0695-4DBA-9F38-AD4529574C5E}"/>
              </a:ext>
            </a:extLst>
          </p:cNvPr>
          <p:cNvSpPr>
            <a:spLocks xmlns:a="http://schemas.openxmlformats.org/drawingml/2006/main" noGrp="1"/>
          </p:cNvSpPr>
          <p:nvPr/>
        </p:nvSpPr>
        <p:spPr>
          <a:xfrm xmlns:a="http://schemas.openxmlformats.org/drawingml/2006/main">
            <a:off x="1428750" y="229552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9" name="box-270">
            <a:extLst xmlns:a="http://schemas.openxmlformats.org/drawingml/2006/main">
              <a:ext uri="{FF2B5EF4-FFF2-40B4-BE49-F238E27FC236}">
                <a16:creationId xmlns:a16="http://schemas.microsoft.com/office/drawing/2014/main" id="{8B8E75B9-CCE8-45FD-8A1D-891D38EDDFDA}"/>
              </a:ext>
            </a:extLst>
          </p:cNvPr>
          <p:cNvSpPr>
            <a:spLocks xmlns:a="http://schemas.openxmlformats.org/drawingml/2006/main" noGrp="1"/>
          </p:cNvSpPr>
          <p:nvPr/>
        </p:nvSpPr>
        <p:spPr>
          <a:xfrm xmlns:a="http://schemas.openxmlformats.org/drawingml/2006/main">
            <a:off x="704850" y="2505075"/>
            <a:ext cx="1571625" cy="666750"/>
          </a:xfrm>
          <a:prstGeom xmlns:a="http://schemas.openxmlformats.org/drawingml/2006/main" prst="roundRect">
            <a:avLst>
              <a:gd name="adj" fmla="val 11429"/>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INTERFACE</a:t>
            </a:r>
          </a:p>
        </p:txBody>
      </p:sp>
      <p:sp>
        <p:nvSpPr>
          <p:cNvPr id="10" name="text-271">
            <a:extLst xmlns:a="http://schemas.openxmlformats.org/drawingml/2006/main">
              <a:ext uri="{FF2B5EF4-FFF2-40B4-BE49-F238E27FC236}">
                <a16:creationId xmlns:a16="http://schemas.microsoft.com/office/drawing/2014/main" id="{48599F06-4164-4511-8CAC-3D6720E8D677}"/>
              </a:ext>
            </a:extLst>
          </p:cNvPr>
          <p:cNvSpPr>
            <a:spLocks xmlns:a="http://schemas.openxmlformats.org/drawingml/2006/main" noGrp="1"/>
          </p:cNvSpPr>
          <p:nvPr/>
        </p:nvSpPr>
        <p:spPr>
          <a:xfrm xmlns:a="http://schemas.openxmlformats.org/drawingml/2006/main">
            <a:off x="2571750" y="250507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650" b="0" i="0">
                <a:solidFill>
                  <a:srgbClr val="17324A"/>
                </a:solidFill>
                <a:latin typeface="Aptos"/>
                <a:ea typeface="Aptos"/>
                <a:cs typeface="Aptos"/>
              </a:defRPr>
            </a:pPr>
            <a:r>
              <a:rPr sz="1650" b="0" i="0">
                <a:solidFill>
                  <a:srgbClr val="17324A"/>
                </a:solidFill>
                <a:latin typeface="Aptos"/>
                <a:ea typeface="Aptos"/>
                <a:cs typeface="Aptos"/>
              </a:rPr>
              <a:t>q_cmd_in uses deg/s, positive nose-up, valid range −40…+40, at 50 Hz.</a:t>
            </a:r>
          </a:p>
        </p:txBody>
      </p:sp>
      <p:sp>
        <p:nvSpPr>
          <p:cNvPr id="11" name="line-272">
            <a:extLst xmlns:a="http://schemas.openxmlformats.org/drawingml/2006/main">
              <a:ext uri="{FF2B5EF4-FFF2-40B4-BE49-F238E27FC236}">
                <a16:creationId xmlns:a16="http://schemas.microsoft.com/office/drawing/2014/main" id="{86C70A5F-4A7B-4613-AAEF-AABE41014A6D}"/>
              </a:ext>
            </a:extLst>
          </p:cNvPr>
          <p:cNvSpPr>
            <a:spLocks xmlns:a="http://schemas.openxmlformats.org/drawingml/2006/main" noGrp="1"/>
          </p:cNvSpPr>
          <p:nvPr/>
        </p:nvSpPr>
        <p:spPr>
          <a:xfrm xmlns:a="http://schemas.openxmlformats.org/drawingml/2006/main">
            <a:off x="1428750" y="322897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12" name="box-273">
            <a:extLst xmlns:a="http://schemas.openxmlformats.org/drawingml/2006/main">
              <a:ext uri="{FF2B5EF4-FFF2-40B4-BE49-F238E27FC236}">
                <a16:creationId xmlns:a16="http://schemas.microsoft.com/office/drawing/2014/main" id="{DF4A5EE0-A47B-4BE1-8152-89394397BC81}"/>
              </a:ext>
            </a:extLst>
          </p:cNvPr>
          <p:cNvSpPr>
            <a:spLocks xmlns:a="http://schemas.openxmlformats.org/drawingml/2006/main" noGrp="1"/>
          </p:cNvSpPr>
          <p:nvPr/>
        </p:nvSpPr>
        <p:spPr>
          <a:xfrm xmlns:a="http://schemas.openxmlformats.org/drawingml/2006/main">
            <a:off x="704850" y="3438525"/>
            <a:ext cx="1571625" cy="666750"/>
          </a:xfrm>
          <a:prstGeom xmlns:a="http://schemas.openxmlformats.org/drawingml/2006/main" prst="roundRect">
            <a:avLst>
              <a:gd name="adj" fmla="val 11429"/>
            </a:avLst>
          </a:prstGeom>
          <a:solidFill xmlns:a="http://schemas.openxmlformats.org/drawingml/2006/main">
            <a:srgbClr val="2CA56F"/>
          </a:solidFill>
          <a:ln xmlns:a="http://schemas.openxmlformats.org/drawingml/2006/main" w="9525">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COMPONENT</a:t>
            </a:r>
          </a:p>
        </p:txBody>
      </p:sp>
      <p:sp>
        <p:nvSpPr>
          <p:cNvPr id="13" name="text-274">
            <a:extLst xmlns:a="http://schemas.openxmlformats.org/drawingml/2006/main">
              <a:ext uri="{FF2B5EF4-FFF2-40B4-BE49-F238E27FC236}">
                <a16:creationId xmlns:a16="http://schemas.microsoft.com/office/drawing/2014/main" id="{01679015-E5F5-455C-9963-287D41EAFB6E}"/>
              </a:ext>
            </a:extLst>
          </p:cNvPr>
          <p:cNvSpPr>
            <a:spLocks xmlns:a="http://schemas.openxmlformats.org/drawingml/2006/main" noGrp="1"/>
          </p:cNvSpPr>
          <p:nvPr/>
        </p:nvSpPr>
        <p:spPr>
          <a:xfrm xmlns:a="http://schemas.openxmlformats.org/drawingml/2006/main">
            <a:off x="2571750" y="343852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650" b="0" i="0">
                <a:solidFill>
                  <a:srgbClr val="17324A"/>
                </a:solidFill>
                <a:latin typeface="Aptos"/>
                <a:ea typeface="Aptos"/>
                <a:cs typeface="Aptos"/>
              </a:defRPr>
            </a:pPr>
            <a:r>
              <a:rPr sz="1650" b="0" i="0">
                <a:solidFill>
                  <a:srgbClr val="17324A"/>
                </a:solidFill>
                <a:latin typeface="Aptos"/>
                <a:ea typeface="Aptos"/>
                <a:cs typeface="Aptos"/>
              </a:rPr>
              <a:t>In Normal mode, clamp commanded pitch rate to the inclusive range −12…+12 deg/s.</a:t>
            </a:r>
          </a:p>
        </p:txBody>
      </p:sp>
      <p:sp>
        <p:nvSpPr>
          <p:cNvPr id="14" name="line-275">
            <a:extLst xmlns:a="http://schemas.openxmlformats.org/drawingml/2006/main">
              <a:ext uri="{FF2B5EF4-FFF2-40B4-BE49-F238E27FC236}">
                <a16:creationId xmlns:a16="http://schemas.microsoft.com/office/drawing/2014/main" id="{3E6AF74C-0A49-49D9-B65F-67A46E6A0009}"/>
              </a:ext>
            </a:extLst>
          </p:cNvPr>
          <p:cNvSpPr>
            <a:spLocks xmlns:a="http://schemas.openxmlformats.org/drawingml/2006/main" noGrp="1"/>
          </p:cNvSpPr>
          <p:nvPr/>
        </p:nvSpPr>
        <p:spPr>
          <a:xfrm xmlns:a="http://schemas.openxmlformats.org/drawingml/2006/main">
            <a:off x="1428750" y="416242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15" name="box-276">
            <a:extLst xmlns:a="http://schemas.openxmlformats.org/drawingml/2006/main">
              <a:ext uri="{FF2B5EF4-FFF2-40B4-BE49-F238E27FC236}">
                <a16:creationId xmlns:a16="http://schemas.microsoft.com/office/drawing/2014/main" id="{F30941C2-BB8C-4BB9-836F-E1AA4DEFA1F4}"/>
              </a:ext>
            </a:extLst>
          </p:cNvPr>
          <p:cNvSpPr>
            <a:spLocks xmlns:a="http://schemas.openxmlformats.org/drawingml/2006/main" noGrp="1"/>
          </p:cNvSpPr>
          <p:nvPr/>
        </p:nvSpPr>
        <p:spPr>
          <a:xfrm xmlns:a="http://schemas.openxmlformats.org/drawingml/2006/main">
            <a:off x="704850" y="4371975"/>
            <a:ext cx="1571625" cy="666750"/>
          </a:xfrm>
          <a:prstGeom xmlns:a="http://schemas.openxmlformats.org/drawingml/2006/main" prst="roundRect">
            <a:avLst>
              <a:gd name="adj" fmla="val 11429"/>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DERIVED</a:t>
            </a:r>
          </a:p>
        </p:txBody>
      </p:sp>
      <p:sp>
        <p:nvSpPr>
          <p:cNvPr id="16" name="text-277">
            <a:extLst xmlns:a="http://schemas.openxmlformats.org/drawingml/2006/main">
              <a:ext uri="{FF2B5EF4-FFF2-40B4-BE49-F238E27FC236}">
                <a16:creationId xmlns:a16="http://schemas.microsoft.com/office/drawing/2014/main" id="{2271B656-C2BA-45CF-B8A9-52ABDE96111A}"/>
              </a:ext>
            </a:extLst>
          </p:cNvPr>
          <p:cNvSpPr>
            <a:spLocks xmlns:a="http://schemas.openxmlformats.org/drawingml/2006/main" noGrp="1"/>
          </p:cNvSpPr>
          <p:nvPr/>
        </p:nvSpPr>
        <p:spPr>
          <a:xfrm xmlns:a="http://schemas.openxmlformats.org/drawingml/2006/main">
            <a:off x="2571750" y="437197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650" b="0" i="0">
                <a:solidFill>
                  <a:srgbClr val="17324A"/>
                </a:solidFill>
                <a:latin typeface="Aptos"/>
                <a:ea typeface="Aptos"/>
                <a:cs typeface="Aptos"/>
              </a:defRPr>
            </a:pPr>
            <a:r>
              <a:rPr sz="1650" b="0" i="0">
                <a:solidFill>
                  <a:srgbClr val="17324A"/>
                </a:solidFill>
                <a:latin typeface="Aptos"/>
                <a:ea typeface="Aptos"/>
                <a:cs typeface="Aptos"/>
              </a:rPr>
              <a:t>A rate-validity status is needed to select the degraded limit; feed it back to system/safety review.</a:t>
            </a:r>
          </a:p>
        </p:txBody>
      </p:sp>
      <p:sp>
        <p:nvSpPr>
          <p:cNvPr id="17" name="box-278">
            <a:extLst xmlns:a="http://schemas.openxmlformats.org/drawingml/2006/main">
              <a:ext uri="{FF2B5EF4-FFF2-40B4-BE49-F238E27FC236}">
                <a16:creationId xmlns:a16="http://schemas.microsoft.com/office/drawing/2014/main" id="{E076DE64-E0CC-4190-BDC3-CB7108745A35}"/>
              </a:ext>
            </a:extLst>
          </p:cNvPr>
          <p:cNvSpPr>
            <a:spLocks xmlns:a="http://schemas.openxmlformats.org/drawingml/2006/main" noGrp="1"/>
          </p:cNvSpPr>
          <p:nvPr/>
        </p:nvSpPr>
        <p:spPr>
          <a:xfrm xmlns:a="http://schemas.openxmlformats.org/drawingml/2006/main">
            <a:off x="1047750" y="5524500"/>
            <a:ext cx="10096500" cy="552450"/>
          </a:xfrm>
          <a:prstGeom xmlns:a="http://schemas.openxmlformats.org/drawingml/2006/main" prst="roundRect">
            <a:avLst>
              <a:gd name="adj" fmla="val 13793"/>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ACCEPTANCE CRITERIA  |  observable output • tolerance • response time • applicable modes • invalid-input behavior</a:t>
            </a:r>
          </a:p>
        </p:txBody>
      </p:sp>
    </p:spTree>
    <p:extLst>
      <p:ext uri="{BB962C8B-B14F-4D97-AF65-F5344CB8AC3E}">
        <p14:creationId xmlns:p14="http://schemas.microsoft.com/office/powerpoint/2010/main" val="125380021"/>
      </p:ext>
    </p:extLst>
  </p:cSld>
</p:sld>
</file>

<file path=ppt/slides/slide18.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0" name="section-278">
            <a:extLst xmlns:a="http://schemas.openxmlformats.org/drawingml/2006/main">
              <a:ext uri="{FF2B5EF4-FFF2-40B4-BE49-F238E27FC236}">
                <a16:creationId xmlns:a16="http://schemas.microsoft.com/office/drawing/2014/main" id="{43CC3F35-A57C-4C31-9D59-FA0CB038AA2E}"/>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05 • REQUIREMENTS DEVELOPMENT</a:t>
            </a:r>
          </a:p>
        </p:txBody>
      </p:sp>
      <p:sp>
        <p:nvSpPr>
          <p:cNvPr id="2" name="title-278">
            <a:extLst xmlns:a="http://schemas.openxmlformats.org/drawingml/2006/main">
              <a:ext uri="{FF2B5EF4-FFF2-40B4-BE49-F238E27FC236}">
                <a16:creationId xmlns:a16="http://schemas.microsoft.com/office/drawing/2014/main" id="{9DC4587E-8993-46C6-830D-35CEC197335F}"/>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One limiter requirement, one chain of proof</a:t>
            </a:r>
          </a:p>
        </p:txBody>
      </p:sp>
      <p:sp>
        <p:nvSpPr>
          <p:cNvPr id="3" name="line-279">
            <a:extLst xmlns:a="http://schemas.openxmlformats.org/drawingml/2006/main">
              <a:ext uri="{FF2B5EF4-FFF2-40B4-BE49-F238E27FC236}">
                <a16:creationId xmlns:a16="http://schemas.microsoft.com/office/drawing/2014/main" id="{4352DE2F-C9C3-46D3-86DA-54267191A174}"/>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80">
            <a:extLst xmlns:a="http://schemas.openxmlformats.org/drawingml/2006/main">
              <a:ext uri="{FF2B5EF4-FFF2-40B4-BE49-F238E27FC236}">
                <a16:creationId xmlns:a16="http://schemas.microsoft.com/office/drawing/2014/main" id="{8F08309F-3BC8-4869-B373-D51F3B3B1589}"/>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281">
            <a:extLst xmlns:a="http://schemas.openxmlformats.org/drawingml/2006/main">
              <a:ext uri="{FF2B5EF4-FFF2-40B4-BE49-F238E27FC236}">
                <a16:creationId xmlns:a16="http://schemas.microsoft.com/office/drawing/2014/main" id="{30F12F5B-DC61-4DA4-9E1D-E85B65E70736}"/>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18</a:t>
            </a:r>
          </a:p>
        </p:txBody>
      </p:sp>
      <p:sp>
        <p:nvSpPr>
          <p:cNvPr id="6" name="box-282">
            <a:extLst xmlns:a="http://schemas.openxmlformats.org/drawingml/2006/main">
              <a:ext uri="{FF2B5EF4-FFF2-40B4-BE49-F238E27FC236}">
                <a16:creationId xmlns:a16="http://schemas.microsoft.com/office/drawing/2014/main" id="{C2F809B9-E87E-477C-BC11-FED1101FE365}"/>
              </a:ext>
            </a:extLst>
          </p:cNvPr>
          <p:cNvSpPr>
            <a:spLocks xmlns:a="http://schemas.openxmlformats.org/drawingml/2006/main" noGrp="1"/>
          </p:cNvSpPr>
          <p:nvPr/>
        </p:nvSpPr>
        <p:spPr>
          <a:xfrm xmlns:a="http://schemas.openxmlformats.org/drawingml/2006/main">
            <a:off x="685800" y="1381125"/>
            <a:ext cx="10820400" cy="381000"/>
          </a:xfrm>
          <a:prstGeom xmlns:a="http://schemas.openxmlformats.org/drawingml/2006/main" prst="roundRect">
            <a:avLst>
              <a:gd name="adj" fmla="val 12500"/>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200" b="1">
                <a:solidFill>
                  <a:srgbClr val="071521"/>
                </a:solidFill>
                <a:latin typeface="Aptos"/>
                <a:ea typeface="Aptos"/>
                <a:cs typeface="Aptos"/>
              </a:defRPr>
            </a:pPr>
            <a:r>
              <a:rPr sz="1200" b="1">
                <a:solidFill>
                  <a:srgbClr val="071521"/>
                </a:solidFill>
                <a:latin typeface="Aptos"/>
                <a:ea typeface="Aptos"/>
                <a:cs typeface="Aptos"/>
              </a:rPr>
              <a:t>TRAINING EXAMPLE — NOT AIRCRAFT PROGRAM DATA</a:t>
            </a:r>
          </a:p>
        </p:txBody>
      </p:sp>
      <p:sp>
        <p:nvSpPr>
          <p:cNvPr id="7" name="box-283">
            <a:extLst xmlns:a="http://schemas.openxmlformats.org/drawingml/2006/main">
              <a:ext uri="{FF2B5EF4-FFF2-40B4-BE49-F238E27FC236}">
                <a16:creationId xmlns:a16="http://schemas.microsoft.com/office/drawing/2014/main" id="{B96D7DCD-6851-4719-919E-8FF06BC1AB98}"/>
              </a:ext>
            </a:extLst>
          </p:cNvPr>
          <p:cNvSpPr>
            <a:spLocks xmlns:a="http://schemas.openxmlformats.org/drawingml/2006/main" noGrp="1"/>
          </p:cNvSpPr>
          <p:nvPr/>
        </p:nvSpPr>
        <p:spPr>
          <a:xfrm xmlns:a="http://schemas.openxmlformats.org/drawingml/2006/main">
            <a:off x="723900" y="2238375"/>
            <a:ext cx="2571750" cy="1238250"/>
          </a:xfrm>
          <a:prstGeom xmlns:a="http://schemas.openxmlformats.org/drawingml/2006/main" prst="roundRect">
            <a:avLst>
              <a:gd name="adj" fmla="val 7692"/>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PRL-001</a:t>
            </a:r>
          </a:p>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In Normal mode, clamp q_cmd</a:t>
            </a:r>
          </a:p>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to [−12, +12] deg/s inclusive.</a:t>
            </a:r>
          </a:p>
        </p:txBody>
      </p:sp>
      <p:sp>
        <p:nvSpPr>
          <p:cNvPr id="8" name="box-284">
            <a:extLst xmlns:a="http://schemas.openxmlformats.org/drawingml/2006/main">
              <a:ext uri="{FF2B5EF4-FFF2-40B4-BE49-F238E27FC236}">
                <a16:creationId xmlns:a16="http://schemas.microsoft.com/office/drawing/2014/main" id="{3A6D518C-BB8B-486A-A624-ADE08571A37E}"/>
              </a:ext>
            </a:extLst>
          </p:cNvPr>
          <p:cNvSpPr>
            <a:spLocks xmlns:a="http://schemas.openxmlformats.org/drawingml/2006/main" noGrp="1"/>
          </p:cNvSpPr>
          <p:nvPr/>
        </p:nvSpPr>
        <p:spPr>
          <a:xfrm xmlns:a="http://schemas.openxmlformats.org/drawingml/2006/main">
            <a:off x="3714750" y="2238375"/>
            <a:ext cx="2286000" cy="1238250"/>
          </a:xfrm>
          <a:prstGeom xmlns:a="http://schemas.openxmlformats.org/drawingml/2006/main" prst="roundRect">
            <a:avLst>
              <a:gd name="adj" fmla="val 7692"/>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Model element</a:t>
            </a:r>
          </a:p>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PitchRateLimiter /</a:t>
            </a:r>
          </a:p>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MagnitudeSaturation</a:t>
            </a:r>
          </a:p>
        </p:txBody>
      </p:sp>
      <p:sp>
        <p:nvSpPr>
          <p:cNvPr id="9" name="box-285">
            <a:extLst xmlns:a="http://schemas.openxmlformats.org/drawingml/2006/main">
              <a:ext uri="{FF2B5EF4-FFF2-40B4-BE49-F238E27FC236}">
                <a16:creationId xmlns:a16="http://schemas.microsoft.com/office/drawing/2014/main" id="{D478BA6B-3158-4085-8CF8-94C3291B9E30}"/>
              </a:ext>
            </a:extLst>
          </p:cNvPr>
          <p:cNvSpPr>
            <a:spLocks xmlns:a="http://schemas.openxmlformats.org/drawingml/2006/main" noGrp="1"/>
          </p:cNvSpPr>
          <p:nvPr/>
        </p:nvSpPr>
        <p:spPr>
          <a:xfrm xmlns:a="http://schemas.openxmlformats.org/drawingml/2006/main">
            <a:off x="6419850" y="2238375"/>
            <a:ext cx="2095500" cy="1238250"/>
          </a:xfrm>
          <a:prstGeom xmlns:a="http://schemas.openxmlformats.org/drawingml/2006/main" prst="roundRect">
            <a:avLst>
              <a:gd name="adj" fmla="val 7692"/>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Test cases</a:t>
            </a:r>
          </a:p>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−12.1  −12.0  0</a:t>
            </a:r>
          </a:p>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+12.0  +12.1</a:t>
            </a:r>
          </a:p>
        </p:txBody>
      </p:sp>
      <p:sp>
        <p:nvSpPr>
          <p:cNvPr id="10" name="box-286">
            <a:extLst xmlns:a="http://schemas.openxmlformats.org/drawingml/2006/main">
              <a:ext uri="{FF2B5EF4-FFF2-40B4-BE49-F238E27FC236}">
                <a16:creationId xmlns:a16="http://schemas.microsoft.com/office/drawing/2014/main" id="{AC589B7E-1FC0-47ED-B1B4-1052B41C48F3}"/>
              </a:ext>
            </a:extLst>
          </p:cNvPr>
          <p:cNvSpPr>
            <a:spLocks xmlns:a="http://schemas.openxmlformats.org/drawingml/2006/main" noGrp="1"/>
          </p:cNvSpPr>
          <p:nvPr/>
        </p:nvSpPr>
        <p:spPr>
          <a:xfrm xmlns:a="http://schemas.openxmlformats.org/drawingml/2006/main">
            <a:off x="8934450" y="2238375"/>
            <a:ext cx="2533650" cy="1238250"/>
          </a:xfrm>
          <a:prstGeom xmlns:a="http://schemas.openxmlformats.org/drawingml/2006/main" prst="roundRect">
            <a:avLst>
              <a:gd name="adj" fmla="val 7692"/>
            </a:avLst>
          </a:prstGeom>
          <a:solidFill xmlns:a="http://schemas.openxmlformats.org/drawingml/2006/main">
            <a:srgbClr val="10372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Result</a:t>
            </a:r>
          </a:p>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5 / 5 pass</a:t>
            </a:r>
          </a:p>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configuration ID captured</a:t>
            </a:r>
          </a:p>
        </p:txBody>
      </p:sp>
      <p:cxnSp>
        <p:nvCxnSpPr>
          <p:cNvPr id="30" name=""/>
          <p:cNvCxnSpPr>
            <a:stCxn xmlns:a="http://schemas.openxmlformats.org/drawingml/2006/main" id="7" idx="3"/>
            <a:endCxn xmlns:a="http://schemas.openxmlformats.org/drawingml/2006/main" id="8" idx="1"/>
          </p:cNvCxnSpPr>
          <p:nvPr/>
        </p:nvCxnSpPr>
        <p:spPr>
          <a:xfrm xmlns:a="http://schemas.openxmlformats.org/drawingml/2006/main">
            <a:off x="3295650" y="2857500"/>
            <a:ext cx="419100" cy="0"/>
          </a:xfrm>
          <a:prstGeom xmlns:a="http://schemas.openxmlformats.org/drawingml/2006/main" prst="straightConnector1">
            <a:avLst/>
          </a:prstGeom>
          <a:ln xmlns:a="http://schemas.openxmlformats.org/drawingml/2006/main" w="28575">
            <a:solidFill>
              <a:srgbClr val="2D6CDF"/>
            </a:solidFill>
            <a:prstDash val="solid"/>
            <a:headEnd type="triangle" w="sm" len="sm"/>
            <a:tailEnd type="triangle" w="sm" len="sm"/>
          </a:ln>
        </p:spPr>
      </p:cxnSp>
      <p:cxnSp>
        <p:nvCxnSpPr>
          <p:cNvPr id="31" name=""/>
          <p:cNvCxnSpPr>
            <a:stCxn xmlns:a="http://schemas.openxmlformats.org/drawingml/2006/main" id="8" idx="3"/>
            <a:endCxn xmlns:a="http://schemas.openxmlformats.org/drawingml/2006/main" id="9" idx="1"/>
          </p:cNvCxnSpPr>
          <p:nvPr/>
        </p:nvCxnSpPr>
        <p:spPr>
          <a:xfrm xmlns:a="http://schemas.openxmlformats.org/drawingml/2006/main">
            <a:off x="6000750" y="2857500"/>
            <a:ext cx="419100" cy="0"/>
          </a:xfrm>
          <a:prstGeom xmlns:a="http://schemas.openxmlformats.org/drawingml/2006/main" prst="straightConnector1">
            <a:avLst/>
          </a:prstGeom>
          <a:ln xmlns:a="http://schemas.openxmlformats.org/drawingml/2006/main" w="28575">
            <a:solidFill>
              <a:srgbClr val="20B7C5"/>
            </a:solidFill>
            <a:prstDash val="solid"/>
            <a:headEnd type="triangle" w="sm" len="sm"/>
            <a:tailEnd type="triangle" w="sm" len="sm"/>
          </a:ln>
        </p:spPr>
      </p:cxnSp>
      <p:cxnSp>
        <p:nvCxnSpPr>
          <p:cNvPr id="32" name=""/>
          <p:cNvCxnSpPr>
            <a:stCxn xmlns:a="http://schemas.openxmlformats.org/drawingml/2006/main" id="9" idx="3"/>
            <a:endCxn xmlns:a="http://schemas.openxmlformats.org/drawingml/2006/main" id="10" idx="1"/>
          </p:cNvCxnSpPr>
          <p:nvPr/>
        </p:nvCxnSpPr>
        <p:spPr>
          <a:xfrm xmlns:a="http://schemas.openxmlformats.org/drawingml/2006/main">
            <a:off x="8515350" y="2857500"/>
            <a:ext cx="419100" cy="0"/>
          </a:xfrm>
          <a:prstGeom xmlns:a="http://schemas.openxmlformats.org/drawingml/2006/main" prst="straightConnector1">
            <a:avLst/>
          </a:prstGeom>
          <a:ln xmlns:a="http://schemas.openxmlformats.org/drawingml/2006/main" w="28575">
            <a:solidFill>
              <a:srgbClr val="2CA56F"/>
            </a:solidFill>
            <a:prstDash val="solid"/>
            <a:headEnd type="triangle" w="sm" len="sm"/>
            <a:tailEnd type="triangle" w="sm" len="sm"/>
          </a:ln>
        </p:spPr>
      </p:cxnSp>
      <p:sp>
        <p:nvSpPr>
          <p:cNvPr id="14" name="text-287">
            <a:extLst xmlns:a="http://schemas.openxmlformats.org/drawingml/2006/main">
              <a:ext uri="{FF2B5EF4-FFF2-40B4-BE49-F238E27FC236}">
                <a16:creationId xmlns:a16="http://schemas.microsoft.com/office/drawing/2014/main" id="{E49CBDE5-5CCD-4EDD-ADA4-786750CD29F0}"/>
              </a:ext>
            </a:extLst>
          </p:cNvPr>
          <p:cNvSpPr>
            <a:spLocks xmlns:a="http://schemas.openxmlformats.org/drawingml/2006/main" noGrp="1"/>
          </p:cNvSpPr>
          <p:nvPr/>
        </p:nvSpPr>
        <p:spPr>
          <a:xfrm xmlns:a="http://schemas.openxmlformats.org/drawingml/2006/main">
            <a:off x="742950" y="41910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350" b="1" i="0">
                <a:solidFill>
                  <a:srgbClr val="70DCE5"/>
                </a:solidFill>
                <a:latin typeface="Aptos"/>
                <a:ea typeface="Aptos"/>
                <a:cs typeface="Aptos"/>
              </a:defRPr>
            </a:pPr>
            <a:r>
              <a:rPr sz="1350" b="1" i="0">
                <a:solidFill>
                  <a:srgbClr val="70DCE5"/>
                </a:solidFill>
                <a:latin typeface="Aptos"/>
                <a:ea typeface="Aptos"/>
                <a:cs typeface="Aptos"/>
              </a:rPr>
              <a:t>Correct range?</a:t>
            </a:r>
          </a:p>
        </p:txBody>
      </p:sp>
      <p:sp>
        <p:nvSpPr>
          <p:cNvPr id="15" name="text-288">
            <a:extLst xmlns:a="http://schemas.openxmlformats.org/drawingml/2006/main">
              <a:ext uri="{FF2B5EF4-FFF2-40B4-BE49-F238E27FC236}">
                <a16:creationId xmlns:a16="http://schemas.microsoft.com/office/drawing/2014/main" id="{7C3D1C08-38B4-49DB-A80D-ED0FF6594542}"/>
              </a:ext>
            </a:extLst>
          </p:cNvPr>
          <p:cNvSpPr>
            <a:spLocks xmlns:a="http://schemas.openxmlformats.org/drawingml/2006/main" noGrp="1"/>
          </p:cNvSpPr>
          <p:nvPr/>
        </p:nvSpPr>
        <p:spPr>
          <a:xfrm xmlns:a="http://schemas.openxmlformats.org/drawingml/2006/main">
            <a:off x="2952750" y="41910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350" b="1" i="0">
                <a:solidFill>
                  <a:srgbClr val="70DCE5"/>
                </a:solidFill>
                <a:latin typeface="Aptos"/>
                <a:ea typeface="Aptos"/>
                <a:cs typeface="Aptos"/>
              </a:defRPr>
            </a:pPr>
            <a:r>
              <a:rPr sz="1350" b="1" i="0">
                <a:solidFill>
                  <a:srgbClr val="70DCE5"/>
                </a:solidFill>
                <a:latin typeface="Aptos"/>
                <a:ea typeface="Aptos"/>
                <a:cs typeface="Aptos"/>
              </a:rPr>
              <a:t>Correct block?</a:t>
            </a:r>
          </a:p>
        </p:txBody>
      </p:sp>
      <p:sp>
        <p:nvSpPr>
          <p:cNvPr id="16" name="text-289">
            <a:extLst xmlns:a="http://schemas.openxmlformats.org/drawingml/2006/main">
              <a:ext uri="{FF2B5EF4-FFF2-40B4-BE49-F238E27FC236}">
                <a16:creationId xmlns:a16="http://schemas.microsoft.com/office/drawing/2014/main" id="{FC98F381-595D-4017-B629-8FC6FCDEE1E3}"/>
              </a:ext>
            </a:extLst>
          </p:cNvPr>
          <p:cNvSpPr>
            <a:spLocks xmlns:a="http://schemas.openxmlformats.org/drawingml/2006/main" noGrp="1"/>
          </p:cNvSpPr>
          <p:nvPr/>
        </p:nvSpPr>
        <p:spPr>
          <a:xfrm xmlns:a="http://schemas.openxmlformats.org/drawingml/2006/main">
            <a:off x="5162550" y="41910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350" b="1" i="0">
                <a:solidFill>
                  <a:srgbClr val="70DCE5"/>
                </a:solidFill>
                <a:latin typeface="Aptos"/>
                <a:ea typeface="Aptos"/>
                <a:cs typeface="Aptos"/>
              </a:defRPr>
            </a:pPr>
            <a:r>
              <a:rPr sz="1350" b="1" i="0">
                <a:solidFill>
                  <a:srgbClr val="70DCE5"/>
                </a:solidFill>
                <a:latin typeface="Aptos"/>
                <a:ea typeface="Aptos"/>
                <a:cs typeface="Aptos"/>
              </a:rPr>
              <a:t>Boundary complete?</a:t>
            </a:r>
          </a:p>
        </p:txBody>
      </p:sp>
      <p:sp>
        <p:nvSpPr>
          <p:cNvPr id="17" name="text-290">
            <a:extLst xmlns:a="http://schemas.openxmlformats.org/drawingml/2006/main">
              <a:ext uri="{FF2B5EF4-FFF2-40B4-BE49-F238E27FC236}">
                <a16:creationId xmlns:a16="http://schemas.microsoft.com/office/drawing/2014/main" id="{7C52288D-CBBC-4F99-B613-5C489A7E8885}"/>
              </a:ext>
            </a:extLst>
          </p:cNvPr>
          <p:cNvSpPr>
            <a:spLocks xmlns:a="http://schemas.openxmlformats.org/drawingml/2006/main" noGrp="1"/>
          </p:cNvSpPr>
          <p:nvPr/>
        </p:nvSpPr>
        <p:spPr>
          <a:xfrm xmlns:a="http://schemas.openxmlformats.org/drawingml/2006/main">
            <a:off x="7372350" y="41910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350" b="1" i="0">
                <a:solidFill>
                  <a:srgbClr val="70DCE5"/>
                </a:solidFill>
                <a:latin typeface="Aptos"/>
                <a:ea typeface="Aptos"/>
                <a:cs typeface="Aptos"/>
              </a:defRPr>
            </a:pPr>
            <a:r>
              <a:rPr sz="1350" b="1" i="0">
                <a:solidFill>
                  <a:srgbClr val="70DCE5"/>
                </a:solidFill>
                <a:latin typeface="Aptos"/>
                <a:ea typeface="Aptos"/>
                <a:cs typeface="Aptos"/>
              </a:rPr>
              <a:t>Correct build?</a:t>
            </a:r>
          </a:p>
        </p:txBody>
      </p:sp>
      <p:sp>
        <p:nvSpPr>
          <p:cNvPr id="18" name="text-291">
            <a:extLst xmlns:a="http://schemas.openxmlformats.org/drawingml/2006/main">
              <a:ext uri="{FF2B5EF4-FFF2-40B4-BE49-F238E27FC236}">
                <a16:creationId xmlns:a16="http://schemas.microsoft.com/office/drawing/2014/main" id="{C51D3D9D-A955-4FBD-8981-2973606A3711}"/>
              </a:ext>
            </a:extLst>
          </p:cNvPr>
          <p:cNvSpPr>
            <a:spLocks xmlns:a="http://schemas.openxmlformats.org/drawingml/2006/main" noGrp="1"/>
          </p:cNvSpPr>
          <p:nvPr/>
        </p:nvSpPr>
        <p:spPr>
          <a:xfrm xmlns:a="http://schemas.openxmlformats.org/drawingml/2006/main">
            <a:off x="9582150" y="41910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350" b="1" i="0">
                <a:solidFill>
                  <a:srgbClr val="2CA56F"/>
                </a:solidFill>
                <a:latin typeface="Aptos"/>
                <a:ea typeface="Aptos"/>
                <a:cs typeface="Aptos"/>
              </a:defRPr>
            </a:pPr>
            <a:r>
              <a:rPr sz="1350" b="1" i="0">
                <a:solidFill>
                  <a:srgbClr val="2CA56F"/>
                </a:solidFill>
                <a:latin typeface="Aptos"/>
                <a:ea typeface="Aptos"/>
                <a:cs typeface="Aptos"/>
              </a:rPr>
              <a:t>Reviewed + retained?</a:t>
            </a:r>
          </a:p>
        </p:txBody>
      </p:sp>
      <p:sp>
        <p:nvSpPr>
          <p:cNvPr id="19" name="text-292">
            <a:extLst xmlns:a="http://schemas.openxmlformats.org/drawingml/2006/main">
              <a:ext uri="{FF2B5EF4-FFF2-40B4-BE49-F238E27FC236}">
                <a16:creationId xmlns:a16="http://schemas.microsoft.com/office/drawing/2014/main" id="{81E14ABE-D6C2-4A77-84DC-0851BFEE7E48}"/>
              </a:ext>
            </a:extLst>
          </p:cNvPr>
          <p:cNvSpPr>
            <a:spLocks xmlns:a="http://schemas.openxmlformats.org/drawingml/2006/main" noGrp="1"/>
          </p:cNvSpPr>
          <p:nvPr/>
        </p:nvSpPr>
        <p:spPr>
          <a:xfrm xmlns:a="http://schemas.openxmlformats.org/drawingml/2006/main">
            <a:off x="1714500" y="5095875"/>
            <a:ext cx="876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2100" b="1" i="0">
                <a:solidFill>
                  <a:srgbClr val="FFFFFF"/>
                </a:solidFill>
                <a:latin typeface="Aptos"/>
                <a:ea typeface="Aptos"/>
                <a:cs typeface="Aptos"/>
              </a:defRPr>
            </a:pPr>
            <a:r>
              <a:rPr sz="2100" b="1" i="0">
                <a:solidFill>
                  <a:srgbClr val="FFFFFF"/>
                </a:solidFill>
                <a:latin typeface="Aptos"/>
                <a:ea typeface="Aptos"/>
                <a:cs typeface="Aptos"/>
              </a:rPr>
              <a:t>Trace links should answer the reviewer’s next question without detective work.</a:t>
            </a:r>
          </a:p>
        </p:txBody>
      </p:sp>
    </p:spTree>
    <p:extLst>
      <p:ext uri="{BB962C8B-B14F-4D97-AF65-F5344CB8AC3E}">
        <p14:creationId xmlns:p14="http://schemas.microsoft.com/office/powerpoint/2010/main" val="2043144866"/>
      </p:ext>
    </p:extLst>
  </p:cSld>
</p:sld>
</file>

<file path=ppt/slides/slide1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5" name="section-292">
            <a:extLst xmlns:a="http://schemas.openxmlformats.org/drawingml/2006/main">
              <a:ext uri="{FF2B5EF4-FFF2-40B4-BE49-F238E27FC236}">
                <a16:creationId xmlns:a16="http://schemas.microsoft.com/office/drawing/2014/main" id="{2928F19C-5723-4A32-A069-8FCBB7D7C44D}"/>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06 • SIMULINK DEVELOPMENT</a:t>
            </a:r>
          </a:p>
        </p:txBody>
      </p:sp>
      <p:sp>
        <p:nvSpPr>
          <p:cNvPr id="2" name="title-292">
            <a:extLst xmlns:a="http://schemas.openxmlformats.org/drawingml/2006/main">
              <a:ext uri="{FF2B5EF4-FFF2-40B4-BE49-F238E27FC236}">
                <a16:creationId xmlns:a16="http://schemas.microsoft.com/office/drawing/2014/main" id="{80BC9ED0-EB73-4A0D-AE71-F2F9B790EA87}"/>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Build the component in six reviewable steps</a:t>
            </a:r>
          </a:p>
        </p:txBody>
      </p:sp>
      <p:sp>
        <p:nvSpPr>
          <p:cNvPr id="3" name="line-293">
            <a:extLst xmlns:a="http://schemas.openxmlformats.org/drawingml/2006/main">
              <a:ext uri="{FF2B5EF4-FFF2-40B4-BE49-F238E27FC236}">
                <a16:creationId xmlns:a16="http://schemas.microsoft.com/office/drawing/2014/main" id="{23E18C08-9AAA-46AB-B63C-3FC6B60178E4}"/>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94">
            <a:extLst xmlns:a="http://schemas.openxmlformats.org/drawingml/2006/main">
              <a:ext uri="{FF2B5EF4-FFF2-40B4-BE49-F238E27FC236}">
                <a16:creationId xmlns:a16="http://schemas.microsoft.com/office/drawing/2014/main" id="{DD907EB5-1AA6-44E1-ADB7-5DB5623AFC4B}"/>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295">
            <a:extLst xmlns:a="http://schemas.openxmlformats.org/drawingml/2006/main">
              <a:ext uri="{FF2B5EF4-FFF2-40B4-BE49-F238E27FC236}">
                <a16:creationId xmlns:a16="http://schemas.microsoft.com/office/drawing/2014/main" id="{65E231B1-421F-4B3E-B0FF-5DDB8AD181D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19</a:t>
            </a:r>
          </a:p>
        </p:txBody>
      </p:sp>
      <p:sp>
        <p:nvSpPr>
          <p:cNvPr id="6" name="box-296">
            <a:extLst xmlns:a="http://schemas.openxmlformats.org/drawingml/2006/main">
              <a:ext uri="{FF2B5EF4-FFF2-40B4-BE49-F238E27FC236}">
                <a16:creationId xmlns:a16="http://schemas.microsoft.com/office/drawing/2014/main" id="{2602C03D-5D6D-41BC-995F-A24371E2037A}"/>
              </a:ext>
            </a:extLst>
          </p:cNvPr>
          <p:cNvSpPr>
            <a:spLocks xmlns:a="http://schemas.openxmlformats.org/drawingml/2006/main" noGrp="1"/>
          </p:cNvSpPr>
          <p:nvPr/>
        </p:nvSpPr>
        <p:spPr>
          <a:xfrm xmlns:a="http://schemas.openxmlformats.org/drawingml/2006/main">
            <a:off x="704850" y="1485900"/>
            <a:ext cx="314325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152400" tIns="38100" rIns="95250" bIns="38100" anchor="ctr">
            <a:noAutofit/>
          </a:bodyPr>
          <a:lstStyle xmlns:a="http://schemas.openxmlformats.org/drawingml/2006/main"/>
          <a:p xmlns:a="http://schemas.openxmlformats.org/drawingml/2006/main">
            <a:pPr algn="l">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1  Create subsystem</a:t>
            </a:r>
          </a:p>
        </p:txBody>
      </p:sp>
      <p:sp>
        <p:nvSpPr>
          <p:cNvPr id="7" name="box-297">
            <a:extLst xmlns:a="http://schemas.openxmlformats.org/drawingml/2006/main">
              <a:ext uri="{FF2B5EF4-FFF2-40B4-BE49-F238E27FC236}">
                <a16:creationId xmlns:a16="http://schemas.microsoft.com/office/drawing/2014/main" id="{3E5FB2F3-3118-4947-9F34-1AFB2C35A7F2}"/>
              </a:ext>
            </a:extLst>
          </p:cNvPr>
          <p:cNvSpPr>
            <a:spLocks xmlns:a="http://schemas.openxmlformats.org/drawingml/2006/main" noGrp="1"/>
          </p:cNvSpPr>
          <p:nvPr/>
        </p:nvSpPr>
        <p:spPr>
          <a:xfrm xmlns:a="http://schemas.openxmlformats.org/drawingml/2006/main">
            <a:off x="704850" y="2181225"/>
            <a:ext cx="314325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152400" tIns="38100" rIns="95250" bIns="38100" anchor="ctr">
            <a:noAutofit/>
          </a:bodyPr>
          <a:lstStyle xmlns:a="http://schemas.openxmlformats.org/drawingml/2006/main"/>
          <a:p xmlns:a="http://schemas.openxmlformats.org/drawingml/2006/main">
            <a:pPr algn="l">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2  Add typed inputs</a:t>
            </a:r>
          </a:p>
        </p:txBody>
      </p:sp>
      <p:sp>
        <p:nvSpPr>
          <p:cNvPr id="8" name="box-298">
            <a:extLst xmlns:a="http://schemas.openxmlformats.org/drawingml/2006/main">
              <a:ext uri="{FF2B5EF4-FFF2-40B4-BE49-F238E27FC236}">
                <a16:creationId xmlns:a16="http://schemas.microsoft.com/office/drawing/2014/main" id="{873C5D1E-ABF9-4A71-877D-C879AD53EBA4}"/>
              </a:ext>
            </a:extLst>
          </p:cNvPr>
          <p:cNvSpPr>
            <a:spLocks xmlns:a="http://schemas.openxmlformats.org/drawingml/2006/main" noGrp="1"/>
          </p:cNvSpPr>
          <p:nvPr/>
        </p:nvSpPr>
        <p:spPr>
          <a:xfrm xmlns:a="http://schemas.openxmlformats.org/drawingml/2006/main">
            <a:off x="704850" y="2876550"/>
            <a:ext cx="314325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152400" tIns="38100" rIns="95250" bIns="38100" anchor="ctr">
            <a:noAutofit/>
          </a:bodyPr>
          <a:lstStyle xmlns:a="http://schemas.openxmlformats.org/drawingml/2006/main"/>
          <a:p xmlns:a="http://schemas.openxmlformats.org/drawingml/2006/main">
            <a:pPr algn="l">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3  Add typed outputs</a:t>
            </a:r>
          </a:p>
        </p:txBody>
      </p:sp>
      <p:sp>
        <p:nvSpPr>
          <p:cNvPr id="9" name="box-299">
            <a:extLst xmlns:a="http://schemas.openxmlformats.org/drawingml/2006/main">
              <a:ext uri="{FF2B5EF4-FFF2-40B4-BE49-F238E27FC236}">
                <a16:creationId xmlns:a16="http://schemas.microsoft.com/office/drawing/2014/main" id="{258045E0-A592-4515-986D-A852E0E8AFDE}"/>
              </a:ext>
            </a:extLst>
          </p:cNvPr>
          <p:cNvSpPr>
            <a:spLocks xmlns:a="http://schemas.openxmlformats.org/drawingml/2006/main" noGrp="1"/>
          </p:cNvSpPr>
          <p:nvPr/>
        </p:nvSpPr>
        <p:spPr>
          <a:xfrm xmlns:a="http://schemas.openxmlformats.org/drawingml/2006/main">
            <a:off x="704850" y="3571875"/>
            <a:ext cx="3143250" cy="514350"/>
          </a:xfrm>
          <a:prstGeom xmlns:a="http://schemas.openxmlformats.org/drawingml/2006/main" prst="roundRect">
            <a:avLst>
              <a:gd name="adj" fmla="val 14815"/>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152400" tIns="38100" rIns="9525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4  Implement logic</a:t>
            </a:r>
          </a:p>
        </p:txBody>
      </p:sp>
      <p:sp>
        <p:nvSpPr>
          <p:cNvPr id="10" name="box-300">
            <a:extLst xmlns:a="http://schemas.openxmlformats.org/drawingml/2006/main">
              <a:ext uri="{FF2B5EF4-FFF2-40B4-BE49-F238E27FC236}">
                <a16:creationId xmlns:a16="http://schemas.microsoft.com/office/drawing/2014/main" id="{302524AE-3168-409E-BB2B-556E0926FA84}"/>
              </a:ext>
            </a:extLst>
          </p:cNvPr>
          <p:cNvSpPr>
            <a:spLocks xmlns:a="http://schemas.openxmlformats.org/drawingml/2006/main" noGrp="1"/>
          </p:cNvSpPr>
          <p:nvPr/>
        </p:nvSpPr>
        <p:spPr>
          <a:xfrm xmlns:a="http://schemas.openxmlformats.org/drawingml/2006/main">
            <a:off x="704850" y="4267200"/>
            <a:ext cx="314325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152400" tIns="38100" rIns="95250" bIns="38100" anchor="ctr">
            <a:noAutofit/>
          </a:bodyPr>
          <a:lstStyle xmlns:a="http://schemas.openxmlformats.org/drawingml/2006/main"/>
          <a:p xmlns:a="http://schemas.openxmlformats.org/drawingml/2006/main">
            <a:pPr algn="l">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5  Parameterize values</a:t>
            </a:r>
          </a:p>
        </p:txBody>
      </p:sp>
      <p:sp>
        <p:nvSpPr>
          <p:cNvPr id="11" name="box-301">
            <a:extLst xmlns:a="http://schemas.openxmlformats.org/drawingml/2006/main">
              <a:ext uri="{FF2B5EF4-FFF2-40B4-BE49-F238E27FC236}">
                <a16:creationId xmlns:a16="http://schemas.microsoft.com/office/drawing/2014/main" id="{67C5CA89-3F28-4356-9901-844031C0672F}"/>
              </a:ext>
            </a:extLst>
          </p:cNvPr>
          <p:cNvSpPr>
            <a:spLocks xmlns:a="http://schemas.openxmlformats.org/drawingml/2006/main" noGrp="1"/>
          </p:cNvSpPr>
          <p:nvPr/>
        </p:nvSpPr>
        <p:spPr>
          <a:xfrm xmlns:a="http://schemas.openxmlformats.org/drawingml/2006/main">
            <a:off x="704850" y="4962525"/>
            <a:ext cx="314325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152400" tIns="38100" rIns="95250" bIns="38100" anchor="ctr">
            <a:noAutofit/>
          </a:bodyPr>
          <a:lstStyle xmlns:a="http://schemas.openxmlformats.org/drawingml/2006/main"/>
          <a:p xmlns:a="http://schemas.openxmlformats.org/drawingml/2006/main">
            <a:pPr algn="l">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6  Link interfaces + requirements</a:t>
            </a:r>
          </a:p>
        </p:txBody>
      </p:sp>
      <p:sp>
        <p:nvSpPr>
          <p:cNvPr id="12" name="box-302">
            <a:extLst xmlns:a="http://schemas.openxmlformats.org/drawingml/2006/main">
              <a:ext uri="{FF2B5EF4-FFF2-40B4-BE49-F238E27FC236}">
                <a16:creationId xmlns:a16="http://schemas.microsoft.com/office/drawing/2014/main" id="{8A9FE980-C1FA-4E4A-8C6C-846DBEB0A934}"/>
              </a:ext>
            </a:extLst>
          </p:cNvPr>
          <p:cNvSpPr>
            <a:spLocks xmlns:a="http://schemas.openxmlformats.org/drawingml/2006/main" noGrp="1"/>
          </p:cNvSpPr>
          <p:nvPr/>
        </p:nvSpPr>
        <p:spPr>
          <a:xfrm xmlns:a="http://schemas.openxmlformats.org/drawingml/2006/main">
            <a:off x="4476750" y="1524000"/>
            <a:ext cx="7029450" cy="381000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19050">
            <a:solidFill>
              <a:srgbClr val="9EB7C8"/>
            </a:solidFill>
            <a:prstDash val="solid"/>
          </a:ln>
        </p:spPr>
      </p:sp>
      <p:sp>
        <p:nvSpPr>
          <p:cNvPr id="13" name="text-303">
            <a:extLst xmlns:a="http://schemas.openxmlformats.org/drawingml/2006/main">
              <a:ext uri="{FF2B5EF4-FFF2-40B4-BE49-F238E27FC236}">
                <a16:creationId xmlns:a16="http://schemas.microsoft.com/office/drawing/2014/main" id="{5DD113D0-7E5E-450C-A234-24C7134C9133}"/>
              </a:ext>
            </a:extLst>
          </p:cNvPr>
          <p:cNvSpPr>
            <a:spLocks xmlns:a="http://schemas.openxmlformats.org/drawingml/2006/main" noGrp="1"/>
          </p:cNvSpPr>
          <p:nvPr/>
        </p:nvSpPr>
        <p:spPr>
          <a:xfrm xmlns:a="http://schemas.openxmlformats.org/drawingml/2006/main">
            <a:off x="4686300" y="16954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350" b="1" i="0">
                <a:solidFill>
                  <a:srgbClr val="5D7487"/>
                </a:solidFill>
                <a:latin typeface="Aptos"/>
                <a:ea typeface="Aptos"/>
                <a:cs typeface="Aptos"/>
              </a:defRPr>
            </a:pPr>
            <a:r>
              <a:rPr sz="1350" b="1" i="0">
                <a:solidFill>
                  <a:srgbClr val="5D7487"/>
                </a:solidFill>
                <a:latin typeface="Aptos"/>
                <a:ea typeface="Aptos"/>
                <a:cs typeface="Aptos"/>
              </a:rPr>
              <a:t>PitchRateLimiter</a:t>
            </a:r>
          </a:p>
        </p:txBody>
      </p:sp>
      <p:sp>
        <p:nvSpPr>
          <p:cNvPr id="14" name="box-304">
            <a:extLst xmlns:a="http://schemas.openxmlformats.org/drawingml/2006/main">
              <a:ext uri="{FF2B5EF4-FFF2-40B4-BE49-F238E27FC236}">
                <a16:creationId xmlns:a16="http://schemas.microsoft.com/office/drawing/2014/main" id="{554A3A74-8476-4659-9A46-7E8D7A9B92C7}"/>
              </a:ext>
            </a:extLst>
          </p:cNvPr>
          <p:cNvSpPr>
            <a:spLocks xmlns:a="http://schemas.openxmlformats.org/drawingml/2006/main" noGrp="1"/>
          </p:cNvSpPr>
          <p:nvPr/>
        </p:nvSpPr>
        <p:spPr>
          <a:xfrm xmlns:a="http://schemas.openxmlformats.org/drawingml/2006/main">
            <a:off x="4857750" y="2971800"/>
            <a:ext cx="952500" cy="762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275" b="1">
                <a:solidFill>
                  <a:srgbClr val="0B1F33"/>
                </a:solidFill>
                <a:latin typeface="Aptos"/>
                <a:ea typeface="Aptos"/>
                <a:cs typeface="Aptos"/>
              </a:defRPr>
            </a:pPr>
            <a:r>
              <a:rPr sz="1275" b="1">
                <a:solidFill>
                  <a:srgbClr val="0B1F33"/>
                </a:solidFill>
                <a:latin typeface="Aptos"/>
                <a:ea typeface="Aptos"/>
                <a:cs typeface="Aptos"/>
              </a:rPr>
              <a:t>q_cmd_in</a:t>
            </a:r>
          </a:p>
          <a:p xmlns:a="http://schemas.openxmlformats.org/drawingml/2006/main">
            <a:pPr algn="ctr">
              <a:lnSpc>
                <a:spcPct val="100000"/>
              </a:lnSpc>
              <a:buNone/>
              <a:defRPr sz="1275" b="1">
                <a:solidFill>
                  <a:srgbClr val="0B1F33"/>
                </a:solidFill>
                <a:latin typeface="Aptos"/>
                <a:ea typeface="Aptos"/>
                <a:cs typeface="Aptos"/>
              </a:defRPr>
            </a:pPr>
            <a:r>
              <a:rPr sz="1275" b="1">
                <a:solidFill>
                  <a:srgbClr val="0B1F33"/>
                </a:solidFill>
                <a:latin typeface="Aptos"/>
                <a:ea typeface="Aptos"/>
                <a:cs typeface="Aptos"/>
              </a:rPr>
              <a:t>deg/s</a:t>
            </a:r>
          </a:p>
        </p:txBody>
      </p:sp>
      <p:sp>
        <p:nvSpPr>
          <p:cNvPr id="15" name="box-305">
            <a:extLst xmlns:a="http://schemas.openxmlformats.org/drawingml/2006/main">
              <a:ext uri="{FF2B5EF4-FFF2-40B4-BE49-F238E27FC236}">
                <a16:creationId xmlns:a16="http://schemas.microsoft.com/office/drawing/2014/main" id="{52310B53-F224-452A-B789-A1B407FF723D}"/>
              </a:ext>
            </a:extLst>
          </p:cNvPr>
          <p:cNvSpPr>
            <a:spLocks xmlns:a="http://schemas.openxmlformats.org/drawingml/2006/main" noGrp="1"/>
          </p:cNvSpPr>
          <p:nvPr/>
        </p:nvSpPr>
        <p:spPr>
          <a:xfrm xmlns:a="http://schemas.openxmlformats.org/drawingml/2006/main">
            <a:off x="4857750" y="4191000"/>
            <a:ext cx="952500" cy="6096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275" b="1">
                <a:solidFill>
                  <a:srgbClr val="0B1F33"/>
                </a:solidFill>
                <a:latin typeface="Aptos"/>
                <a:ea typeface="Aptos"/>
                <a:cs typeface="Aptos"/>
              </a:defRPr>
            </a:pPr>
            <a:r>
              <a:rPr sz="1275" b="1">
                <a:solidFill>
                  <a:srgbClr val="0B1F33"/>
                </a:solidFill>
                <a:latin typeface="Aptos"/>
                <a:ea typeface="Aptos"/>
                <a:cs typeface="Aptos"/>
              </a:rPr>
              <a:t>mode</a:t>
            </a:r>
          </a:p>
          <a:p xmlns:a="http://schemas.openxmlformats.org/drawingml/2006/main">
            <a:pPr algn="ctr">
              <a:lnSpc>
                <a:spcPct val="100000"/>
              </a:lnSpc>
              <a:buNone/>
              <a:defRPr sz="1275" b="1">
                <a:solidFill>
                  <a:srgbClr val="0B1F33"/>
                </a:solidFill>
                <a:latin typeface="Aptos"/>
                <a:ea typeface="Aptos"/>
                <a:cs typeface="Aptos"/>
              </a:defRPr>
            </a:pPr>
            <a:r>
              <a:rPr sz="1275" b="1">
                <a:solidFill>
                  <a:srgbClr val="0B1F33"/>
                </a:solidFill>
                <a:latin typeface="Aptos"/>
                <a:ea typeface="Aptos"/>
                <a:cs typeface="Aptos"/>
              </a:rPr>
              <a:t>valid</a:t>
            </a:r>
          </a:p>
        </p:txBody>
      </p:sp>
      <p:sp>
        <p:nvSpPr>
          <p:cNvPr id="16" name="box-306">
            <a:extLst xmlns:a="http://schemas.openxmlformats.org/drawingml/2006/main">
              <a:ext uri="{FF2B5EF4-FFF2-40B4-BE49-F238E27FC236}">
                <a16:creationId xmlns:a16="http://schemas.microsoft.com/office/drawing/2014/main" id="{354AE4F1-492C-44E3-BE1C-51BC19170BB3}"/>
              </a:ext>
            </a:extLst>
          </p:cNvPr>
          <p:cNvSpPr>
            <a:spLocks xmlns:a="http://schemas.openxmlformats.org/drawingml/2006/main" noGrp="1"/>
          </p:cNvSpPr>
          <p:nvPr/>
        </p:nvSpPr>
        <p:spPr>
          <a:xfrm xmlns:a="http://schemas.openxmlformats.org/drawingml/2006/main">
            <a:off x="6553200" y="3524250"/>
            <a:ext cx="1047750" cy="62865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9050">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Normal?</a:t>
            </a:r>
          </a:p>
        </p:txBody>
      </p:sp>
      <p:sp>
        <p:nvSpPr>
          <p:cNvPr id="17" name="box-307">
            <a:extLst xmlns:a="http://schemas.openxmlformats.org/drawingml/2006/main">
              <a:ext uri="{FF2B5EF4-FFF2-40B4-BE49-F238E27FC236}">
                <a16:creationId xmlns:a16="http://schemas.microsoft.com/office/drawing/2014/main" id="{E4D09F0E-FA77-43F9-9007-47653FE96518}"/>
              </a:ext>
            </a:extLst>
          </p:cNvPr>
          <p:cNvSpPr>
            <a:spLocks xmlns:a="http://schemas.openxmlformats.org/drawingml/2006/main" noGrp="1"/>
          </p:cNvSpPr>
          <p:nvPr/>
        </p:nvSpPr>
        <p:spPr>
          <a:xfrm xmlns:a="http://schemas.openxmlformats.org/drawingml/2006/main">
            <a:off x="8305800" y="2886075"/>
            <a:ext cx="1238250" cy="895350"/>
          </a:xfrm>
          <a:prstGeom xmlns:a="http://schemas.openxmlformats.org/drawingml/2006/main" prst="roundRect">
            <a:avLst>
              <a:gd name="adj" fmla="val 6383"/>
            </a:avLst>
          </a:prstGeom>
          <a:solidFill xmlns:a="http://schemas.openxmlformats.org/drawingml/2006/main">
            <a:srgbClr val="FFFFFF"/>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Magnitude</a:t>
            </a:r>
          </a:p>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limit ±12</a:t>
            </a:r>
          </a:p>
        </p:txBody>
      </p:sp>
      <p:sp>
        <p:nvSpPr>
          <p:cNvPr id="18" name="box-308">
            <a:extLst xmlns:a="http://schemas.openxmlformats.org/drawingml/2006/main">
              <a:ext uri="{FF2B5EF4-FFF2-40B4-BE49-F238E27FC236}">
                <a16:creationId xmlns:a16="http://schemas.microsoft.com/office/drawing/2014/main" id="{93CD703D-7197-417F-9F1D-77DE33A6201A}"/>
              </a:ext>
            </a:extLst>
          </p:cNvPr>
          <p:cNvSpPr>
            <a:spLocks xmlns:a="http://schemas.openxmlformats.org/drawingml/2006/main" noGrp="1"/>
          </p:cNvSpPr>
          <p:nvPr/>
        </p:nvSpPr>
        <p:spPr>
          <a:xfrm xmlns:a="http://schemas.openxmlformats.org/drawingml/2006/main">
            <a:off x="10191750" y="2971800"/>
            <a:ext cx="1066800" cy="762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275" b="1">
                <a:solidFill>
                  <a:srgbClr val="0B1F33"/>
                </a:solidFill>
                <a:latin typeface="Aptos"/>
                <a:ea typeface="Aptos"/>
                <a:cs typeface="Aptos"/>
              </a:defRPr>
            </a:pPr>
            <a:r>
              <a:rPr sz="1275" b="1">
                <a:solidFill>
                  <a:srgbClr val="0B1F33"/>
                </a:solidFill>
                <a:latin typeface="Aptos"/>
                <a:ea typeface="Aptos"/>
                <a:cs typeface="Aptos"/>
              </a:rPr>
              <a:t>q_cmd_out</a:t>
            </a:r>
          </a:p>
          <a:p xmlns:a="http://schemas.openxmlformats.org/drawingml/2006/main">
            <a:pPr algn="ctr">
              <a:lnSpc>
                <a:spcPct val="100000"/>
              </a:lnSpc>
              <a:buNone/>
              <a:defRPr sz="1275" b="1">
                <a:solidFill>
                  <a:srgbClr val="0B1F33"/>
                </a:solidFill>
                <a:latin typeface="Aptos"/>
                <a:ea typeface="Aptos"/>
                <a:cs typeface="Aptos"/>
              </a:defRPr>
            </a:pPr>
            <a:r>
              <a:rPr sz="1275" b="1">
                <a:solidFill>
                  <a:srgbClr val="0B1F33"/>
                </a:solidFill>
                <a:latin typeface="Aptos"/>
                <a:ea typeface="Aptos"/>
                <a:cs typeface="Aptos"/>
              </a:rPr>
              <a:t>deg/s</a:t>
            </a:r>
          </a:p>
        </p:txBody>
      </p:sp>
      <p:cxnSp>
        <p:nvCxnSpPr>
          <p:cNvPr id="43" name=""/>
          <p:cNvCxnSpPr>
            <a:stCxn xmlns:a="http://schemas.openxmlformats.org/drawingml/2006/main" id="14" idx="3"/>
            <a:endCxn xmlns:a="http://schemas.openxmlformats.org/drawingml/2006/main" id="16" idx="1"/>
          </p:cNvCxnSpPr>
          <p:nvPr/>
        </p:nvCxnSpPr>
        <p:spPr>
          <a:xfrm xmlns:a="http://schemas.openxmlformats.org/drawingml/2006/main">
            <a:off x="5810250" y="3352800"/>
            <a:ext cx="742950" cy="485775"/>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44" name=""/>
          <p:cNvCxnSpPr>
            <a:stCxn xmlns:a="http://schemas.openxmlformats.org/drawingml/2006/main" id="15" idx="3"/>
            <a:endCxn xmlns:a="http://schemas.openxmlformats.org/drawingml/2006/main" id="16" idx="1"/>
          </p:cNvCxnSpPr>
          <p:nvPr/>
        </p:nvCxnSpPr>
        <p:spPr>
          <a:xfrm xmlns:a="http://schemas.openxmlformats.org/drawingml/2006/main" flipV="1">
            <a:off x="5810250" y="3838575"/>
            <a:ext cx="742950" cy="657225"/>
          </a:xfrm>
          <a:prstGeom xmlns:a="http://schemas.openxmlformats.org/drawingml/2006/main" prst="bentConnector3">
            <a:avLst>
              <a:gd name="adj1" fmla="val 50000"/>
            </a:avLst>
          </a:prstGeom>
          <a:ln xmlns:a="http://schemas.openxmlformats.org/drawingml/2006/main" w="28575">
            <a:solidFill>
              <a:srgbClr val="2D6CDF"/>
            </a:solidFill>
            <a:prstDash val="solid"/>
            <a:tailEnd type="triangle" w="sm" len="sm"/>
          </a:ln>
        </p:spPr>
      </p:cxnSp>
      <p:cxnSp>
        <p:nvCxnSpPr>
          <p:cNvPr id="45" name=""/>
          <p:cNvCxnSpPr>
            <a:stCxn xmlns:a="http://schemas.openxmlformats.org/drawingml/2006/main" id="16" idx="3"/>
            <a:endCxn xmlns:a="http://schemas.openxmlformats.org/drawingml/2006/main" id="17" idx="1"/>
          </p:cNvCxnSpPr>
          <p:nvPr/>
        </p:nvCxnSpPr>
        <p:spPr>
          <a:xfrm xmlns:a="http://schemas.openxmlformats.org/drawingml/2006/main" flipV="1">
            <a:off x="7600950" y="3333750"/>
            <a:ext cx="704850" cy="504825"/>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46" name=""/>
          <p:cNvCxnSpPr>
            <a:stCxn xmlns:a="http://schemas.openxmlformats.org/drawingml/2006/main" id="17" idx="3"/>
            <a:endCxn xmlns:a="http://schemas.openxmlformats.org/drawingml/2006/main" id="18" idx="1"/>
          </p:cNvCxnSpPr>
          <p:nvPr/>
        </p:nvCxnSpPr>
        <p:spPr>
          <a:xfrm xmlns:a="http://schemas.openxmlformats.org/drawingml/2006/main">
            <a:off x="9544050" y="3333750"/>
            <a:ext cx="647700" cy="19050"/>
          </a:xfrm>
          <a:prstGeom xmlns:a="http://schemas.openxmlformats.org/drawingml/2006/main" prst="straightConnector1">
            <a:avLst/>
          </a:prstGeom>
          <a:ln xmlns:a="http://schemas.openxmlformats.org/drawingml/2006/main" w="28575">
            <a:solidFill>
              <a:srgbClr val="2CA56F"/>
            </a:solidFill>
            <a:prstDash val="solid"/>
            <a:tailEnd type="triangle" w="sm" len="sm"/>
          </a:ln>
        </p:spPr>
      </p:cxnSp>
      <p:sp>
        <p:nvSpPr>
          <p:cNvPr id="23" name="box-309">
            <a:extLst xmlns:a="http://schemas.openxmlformats.org/drawingml/2006/main">
              <a:ext uri="{FF2B5EF4-FFF2-40B4-BE49-F238E27FC236}">
                <a16:creationId xmlns:a16="http://schemas.microsoft.com/office/drawing/2014/main" id="{87F22D01-CBCA-43A8-9D32-CFE9A0B9F743}"/>
              </a:ext>
            </a:extLst>
          </p:cNvPr>
          <p:cNvSpPr>
            <a:spLocks xmlns:a="http://schemas.openxmlformats.org/drawingml/2006/main" noGrp="1"/>
          </p:cNvSpPr>
          <p:nvPr/>
        </p:nvSpPr>
        <p:spPr>
          <a:xfrm xmlns:a="http://schemas.openxmlformats.org/drawingml/2006/main">
            <a:off x="6858000" y="4476750"/>
            <a:ext cx="3714750" cy="514350"/>
          </a:xfrm>
          <a:prstGeom xmlns:a="http://schemas.openxmlformats.org/drawingml/2006/main" prst="roundRect">
            <a:avLst>
              <a:gd name="adj" fmla="val 12963"/>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q_limit_normal  =  12 deg/s  ←  FCS_Data.sldd</a:t>
            </a:r>
          </a:p>
        </p:txBody>
      </p:sp>
      <p:sp>
        <p:nvSpPr>
          <p:cNvPr id="24" name="text-310">
            <a:extLst xmlns:a="http://schemas.openxmlformats.org/drawingml/2006/main">
              <a:ext uri="{FF2B5EF4-FFF2-40B4-BE49-F238E27FC236}">
                <a16:creationId xmlns:a16="http://schemas.microsoft.com/office/drawing/2014/main" id="{628FF3AB-44FE-4A54-8805-B23C99D01D19}"/>
              </a:ext>
            </a:extLst>
          </p:cNvPr>
          <p:cNvSpPr>
            <a:spLocks xmlns:a="http://schemas.openxmlformats.org/drawingml/2006/main" noGrp="1"/>
          </p:cNvSpPr>
          <p:nvPr/>
        </p:nvSpPr>
        <p:spPr>
          <a:xfrm xmlns:a="http://schemas.openxmlformats.org/drawingml/2006/main">
            <a:off x="4476750" y="5619750"/>
            <a:ext cx="7029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725" b="1" i="0">
                <a:solidFill>
                  <a:srgbClr val="20B7C5"/>
                </a:solidFill>
                <a:latin typeface="Aptos"/>
                <a:ea typeface="Aptos"/>
                <a:cs typeface="Aptos"/>
              </a:defRPr>
            </a:pPr>
            <a:r>
              <a:rPr sz="1725" b="1" i="0">
                <a:solidFill>
                  <a:srgbClr val="20B7C5"/>
                </a:solidFill>
                <a:latin typeface="Aptos"/>
                <a:ea typeface="Aptos"/>
                <a:cs typeface="Aptos"/>
              </a:rPr>
              <a:t>Before adding more blocks, compile/update and test the smallest meaningful behavior.</a:t>
            </a:r>
          </a:p>
        </p:txBody>
      </p:sp>
    </p:spTree>
    <p:extLst>
      <p:ext uri="{BB962C8B-B14F-4D97-AF65-F5344CB8AC3E}">
        <p14:creationId xmlns:p14="http://schemas.microsoft.com/office/powerpoint/2010/main" val="112507120"/>
      </p:ext>
    </p:extLst>
  </p:cSld>
</p:sld>
</file>

<file path=ppt/slides/slide2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6" name="section-310">
            <a:extLst xmlns:a="http://schemas.openxmlformats.org/drawingml/2006/main">
              <a:ext uri="{FF2B5EF4-FFF2-40B4-BE49-F238E27FC236}">
                <a16:creationId xmlns:a16="http://schemas.microsoft.com/office/drawing/2014/main" id="{6B41A3AD-E5BA-4C1F-9AA7-DF9DD5BEC401}"/>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06 • SIMULINK DEVELOPMENT</a:t>
            </a:r>
          </a:p>
        </p:txBody>
      </p:sp>
      <p:sp>
        <p:nvSpPr>
          <p:cNvPr id="2" name="title-310">
            <a:extLst xmlns:a="http://schemas.openxmlformats.org/drawingml/2006/main">
              <a:ext uri="{FF2B5EF4-FFF2-40B4-BE49-F238E27FC236}">
                <a16:creationId xmlns:a16="http://schemas.microsoft.com/office/drawing/2014/main" id="{8CB8F5F0-F0A5-4605-B70C-BE3A618F8732}"/>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Explicit interfaces make integration predictable</a:t>
            </a:r>
          </a:p>
        </p:txBody>
      </p:sp>
      <p:sp>
        <p:nvSpPr>
          <p:cNvPr id="3" name="line-311">
            <a:extLst xmlns:a="http://schemas.openxmlformats.org/drawingml/2006/main">
              <a:ext uri="{FF2B5EF4-FFF2-40B4-BE49-F238E27FC236}">
                <a16:creationId xmlns:a16="http://schemas.microsoft.com/office/drawing/2014/main" id="{786527CA-9120-4ABE-B714-7B2DE7C28E55}"/>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12">
            <a:extLst xmlns:a="http://schemas.openxmlformats.org/drawingml/2006/main">
              <a:ext uri="{FF2B5EF4-FFF2-40B4-BE49-F238E27FC236}">
                <a16:creationId xmlns:a16="http://schemas.microsoft.com/office/drawing/2014/main" id="{990F2D20-3950-4DA0-8426-B004A52AC789}"/>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313">
            <a:extLst xmlns:a="http://schemas.openxmlformats.org/drawingml/2006/main">
              <a:ext uri="{FF2B5EF4-FFF2-40B4-BE49-F238E27FC236}">
                <a16:creationId xmlns:a16="http://schemas.microsoft.com/office/drawing/2014/main" id="{0D535931-27E5-4693-A353-740B01F881D7}"/>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20</a:t>
            </a:r>
          </a:p>
        </p:txBody>
      </p:sp>
      <p:sp>
        <p:nvSpPr>
          <p:cNvPr id="6" name="box-314">
            <a:extLst xmlns:a="http://schemas.openxmlformats.org/drawingml/2006/main">
              <a:ext uri="{FF2B5EF4-FFF2-40B4-BE49-F238E27FC236}">
                <a16:creationId xmlns:a16="http://schemas.microsoft.com/office/drawing/2014/main" id="{55294715-BD6E-4D4C-8D18-62888915DE48}"/>
              </a:ext>
            </a:extLst>
          </p:cNvPr>
          <p:cNvSpPr>
            <a:spLocks xmlns:a="http://schemas.openxmlformats.org/drawingml/2006/main" noGrp="1"/>
          </p:cNvSpPr>
          <p:nvPr/>
        </p:nvSpPr>
        <p:spPr>
          <a:xfrm xmlns:a="http://schemas.openxmlformats.org/drawingml/2006/main">
            <a:off x="3810000" y="1476375"/>
            <a:ext cx="4572000" cy="742950"/>
          </a:xfrm>
          <a:prstGeom xmlns:a="http://schemas.openxmlformats.org/drawingml/2006/main" prst="roundRect">
            <a:avLst>
              <a:gd name="adj" fmla="val 12821"/>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FCS_Data.sldd</a:t>
            </a:r>
          </a:p>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Bus objects • types • enums • parameters</a:t>
            </a:r>
          </a:p>
        </p:txBody>
      </p:sp>
      <p:sp>
        <p:nvSpPr>
          <p:cNvPr id="7" name="box-315">
            <a:extLst xmlns:a="http://schemas.openxmlformats.org/drawingml/2006/main">
              <a:ext uri="{FF2B5EF4-FFF2-40B4-BE49-F238E27FC236}">
                <a16:creationId xmlns:a16="http://schemas.microsoft.com/office/drawing/2014/main" id="{6B7DB178-EF2B-4F48-98DB-11D9BCBC375C}"/>
              </a:ext>
            </a:extLst>
          </p:cNvPr>
          <p:cNvSpPr>
            <a:spLocks xmlns:a="http://schemas.openxmlformats.org/drawingml/2006/main" noGrp="1"/>
          </p:cNvSpPr>
          <p:nvPr/>
        </p:nvSpPr>
        <p:spPr>
          <a:xfrm xmlns:a="http://schemas.openxmlformats.org/drawingml/2006/main">
            <a:off x="1476375" y="2952750"/>
            <a:ext cx="9239250" cy="552450"/>
          </a:xfrm>
          <a:prstGeom xmlns:a="http://schemas.openxmlformats.org/drawingml/2006/main" prst="roundRect">
            <a:avLst>
              <a:gd name="adj" fmla="val 13793"/>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FlightControlBus</a:t>
            </a:r>
          </a:p>
        </p:txBody>
      </p:sp>
      <p:sp>
        <p:nvSpPr>
          <p:cNvPr id="8" name="box-316">
            <a:extLst xmlns:a="http://schemas.openxmlformats.org/drawingml/2006/main">
              <a:ext uri="{FF2B5EF4-FFF2-40B4-BE49-F238E27FC236}">
                <a16:creationId xmlns:a16="http://schemas.microsoft.com/office/drawing/2014/main" id="{1A027716-27BF-4F3E-B3E7-785B4EC89D4A}"/>
              </a:ext>
            </a:extLst>
          </p:cNvPr>
          <p:cNvSpPr>
            <a:spLocks xmlns:a="http://schemas.openxmlformats.org/drawingml/2006/main" noGrp="1"/>
          </p:cNvSpPr>
          <p:nvPr/>
        </p:nvSpPr>
        <p:spPr>
          <a:xfrm xmlns:a="http://schemas.openxmlformats.org/drawingml/2006/main">
            <a:off x="1000125" y="4333875"/>
            <a:ext cx="2571750" cy="876300"/>
          </a:xfrm>
          <a:prstGeom xmlns:a="http://schemas.openxmlformats.org/drawingml/2006/main" prst="roundRect">
            <a:avLst>
              <a:gd name="adj" fmla="val 10870"/>
            </a:avLst>
          </a:prstGeom>
          <a:solidFill xmlns:a="http://schemas.openxmlformats.org/drawingml/2006/main">
            <a:srgbClr val="FFFF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Sensor Processing</a:t>
            </a:r>
          </a:p>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model reference</a:t>
            </a:r>
          </a:p>
        </p:txBody>
      </p:sp>
      <p:sp>
        <p:nvSpPr>
          <p:cNvPr id="9" name="box-317">
            <a:extLst xmlns:a="http://schemas.openxmlformats.org/drawingml/2006/main">
              <a:ext uri="{FF2B5EF4-FFF2-40B4-BE49-F238E27FC236}">
                <a16:creationId xmlns:a16="http://schemas.microsoft.com/office/drawing/2014/main" id="{AEE8E1D5-F0B0-464F-AB90-10FEC5B39554}"/>
              </a:ext>
            </a:extLst>
          </p:cNvPr>
          <p:cNvSpPr>
            <a:spLocks xmlns:a="http://schemas.openxmlformats.org/drawingml/2006/main" noGrp="1"/>
          </p:cNvSpPr>
          <p:nvPr/>
        </p:nvSpPr>
        <p:spPr>
          <a:xfrm xmlns:a="http://schemas.openxmlformats.org/drawingml/2006/main">
            <a:off x="4810125" y="4333875"/>
            <a:ext cx="2571750" cy="876300"/>
          </a:xfrm>
          <a:prstGeom xmlns:a="http://schemas.openxmlformats.org/drawingml/2006/main" prst="roundRect">
            <a:avLst>
              <a:gd name="adj" fmla="val 10870"/>
            </a:avLst>
          </a:prstGeom>
          <a:solidFill xmlns:a="http://schemas.openxmlformats.org/drawingml/2006/main">
            <a:srgbClr val="FFFFFF"/>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Control Laws</a:t>
            </a:r>
          </a:p>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model reference</a:t>
            </a:r>
          </a:p>
        </p:txBody>
      </p:sp>
      <p:sp>
        <p:nvSpPr>
          <p:cNvPr id="10" name="box-318">
            <a:extLst xmlns:a="http://schemas.openxmlformats.org/drawingml/2006/main">
              <a:ext uri="{FF2B5EF4-FFF2-40B4-BE49-F238E27FC236}">
                <a16:creationId xmlns:a16="http://schemas.microsoft.com/office/drawing/2014/main" id="{AFF63849-3851-4021-96FC-AC83908E20C8}"/>
              </a:ext>
            </a:extLst>
          </p:cNvPr>
          <p:cNvSpPr>
            <a:spLocks xmlns:a="http://schemas.openxmlformats.org/drawingml/2006/main" noGrp="1"/>
          </p:cNvSpPr>
          <p:nvPr/>
        </p:nvSpPr>
        <p:spPr>
          <a:xfrm xmlns:a="http://schemas.openxmlformats.org/drawingml/2006/main">
            <a:off x="8620125" y="4333875"/>
            <a:ext cx="2571750" cy="876300"/>
          </a:xfrm>
          <a:prstGeom xmlns:a="http://schemas.openxmlformats.org/drawingml/2006/main" prst="roundRect">
            <a:avLst>
              <a:gd name="adj" fmla="val 10870"/>
            </a:avLst>
          </a:prstGeom>
          <a:solidFill xmlns:a="http://schemas.openxmlformats.org/drawingml/2006/main">
            <a:srgbClr val="FFFFFF"/>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Actuator Commands</a:t>
            </a:r>
          </a:p>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model reference</a:t>
            </a:r>
          </a:p>
        </p:txBody>
      </p:sp>
      <p:cxnSp>
        <p:nvCxnSpPr>
          <p:cNvPr id="26" name=""/>
          <p:cNvCxnSpPr>
            <a:stCxn xmlns:a="http://schemas.openxmlformats.org/drawingml/2006/main" id="6" idx="2"/>
            <a:endCxn xmlns:a="http://schemas.openxmlformats.org/drawingml/2006/main" id="7" idx="0"/>
          </p:cNvCxnSpPr>
          <p:nvPr/>
        </p:nvCxnSpPr>
        <p:spPr>
          <a:xfrm xmlns:a="http://schemas.openxmlformats.org/drawingml/2006/main">
            <a:off x="6096000" y="2219325"/>
            <a:ext cx="0" cy="733425"/>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cxnSp>
        <p:nvCxnSpPr>
          <p:cNvPr id="27" name=""/>
          <p:cNvCxnSpPr>
            <a:stCxn xmlns:a="http://schemas.openxmlformats.org/drawingml/2006/main" id="8" idx="0"/>
            <a:endCxn xmlns:a="http://schemas.openxmlformats.org/drawingml/2006/main" id="7" idx="2"/>
          </p:cNvCxnSpPr>
          <p:nvPr/>
        </p:nvCxnSpPr>
        <p:spPr>
          <a:xfrm xmlns:a="http://schemas.openxmlformats.org/drawingml/2006/main" flipV="1">
            <a:off x="2286000" y="3505200"/>
            <a:ext cx="3810000" cy="828675"/>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28" name=""/>
          <p:cNvCxnSpPr>
            <a:stCxn xmlns:a="http://schemas.openxmlformats.org/drawingml/2006/main" id="9" idx="0"/>
            <a:endCxn xmlns:a="http://schemas.openxmlformats.org/drawingml/2006/main" id="7" idx="2"/>
          </p:cNvCxnSpPr>
          <p:nvPr/>
        </p:nvCxnSpPr>
        <p:spPr>
          <a:xfrm xmlns:a="http://schemas.openxmlformats.org/drawingml/2006/main" flipV="1">
            <a:off x="6096000" y="3505200"/>
            <a:ext cx="0" cy="828675"/>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29" name=""/>
          <p:cNvCxnSpPr>
            <a:stCxn xmlns:a="http://schemas.openxmlformats.org/drawingml/2006/main" id="10" idx="0"/>
            <a:endCxn xmlns:a="http://schemas.openxmlformats.org/drawingml/2006/main" id="7" idx="2"/>
          </p:cNvCxnSpPr>
          <p:nvPr/>
        </p:nvCxnSpPr>
        <p:spPr>
          <a:xfrm xmlns:a="http://schemas.openxmlformats.org/drawingml/2006/main" flipH="1" flipV="1">
            <a:off x="6096000" y="3505200"/>
            <a:ext cx="3810000" cy="828675"/>
          </a:xfrm>
          <a:prstGeom xmlns:a="http://schemas.openxmlformats.org/drawingml/2006/main" prst="straightConnector1">
            <a:avLst/>
          </a:prstGeom>
          <a:ln xmlns:a="http://schemas.openxmlformats.org/drawingml/2006/main" w="28575">
            <a:solidFill>
              <a:srgbClr val="2CA56F"/>
            </a:solidFill>
            <a:prstDash val="solid"/>
            <a:tailEnd type="triangle" w="sm" len="sm"/>
          </a:ln>
        </p:spPr>
      </p:cxnSp>
      <p:sp>
        <p:nvSpPr>
          <p:cNvPr id="15" name="text-319">
            <a:extLst xmlns:a="http://schemas.openxmlformats.org/drawingml/2006/main">
              <a:ext uri="{FF2B5EF4-FFF2-40B4-BE49-F238E27FC236}">
                <a16:creationId xmlns:a16="http://schemas.microsoft.com/office/drawing/2014/main" id="{0B3D9B17-B14D-4059-8932-5F4E2511B7B6}"/>
              </a:ext>
            </a:extLst>
          </p:cNvPr>
          <p:cNvSpPr>
            <a:spLocks xmlns:a="http://schemas.openxmlformats.org/drawingml/2006/main" noGrp="1"/>
          </p:cNvSpPr>
          <p:nvPr/>
        </p:nvSpPr>
        <p:spPr>
          <a:xfrm xmlns:a="http://schemas.openxmlformats.org/drawingml/2006/main">
            <a:off x="1333500" y="5638800"/>
            <a:ext cx="952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725" b="1" i="0">
                <a:solidFill>
                  <a:srgbClr val="20B7C5"/>
                </a:solidFill>
                <a:latin typeface="Aptos"/>
                <a:ea typeface="Aptos"/>
                <a:cs typeface="Aptos"/>
              </a:defRPr>
            </a:pPr>
            <a:r>
              <a:rPr sz="1725" b="1" i="0">
                <a:solidFill>
                  <a:srgbClr val="20B7C5"/>
                </a:solidFill>
                <a:latin typeface="Aptos"/>
                <a:ea typeface="Aptos"/>
                <a:cs typeface="Aptos"/>
              </a:rPr>
              <a:t>A model reference owns behavior.  A bus owns grouped data.  A dictionary owns shared definitions.</a:t>
            </a:r>
          </a:p>
        </p:txBody>
      </p:sp>
    </p:spTree>
    <p:extLst>
      <p:ext uri="{BB962C8B-B14F-4D97-AF65-F5344CB8AC3E}">
        <p14:creationId xmlns:p14="http://schemas.microsoft.com/office/powerpoint/2010/main" val="786167458"/>
      </p:ext>
    </p:extLst>
  </p:cSld>
</p:sld>
</file>

<file path=ppt/slides/slide2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319">
            <a:extLst xmlns:a="http://schemas.openxmlformats.org/drawingml/2006/main">
              <a:ext uri="{FF2B5EF4-FFF2-40B4-BE49-F238E27FC236}">
                <a16:creationId xmlns:a16="http://schemas.microsoft.com/office/drawing/2014/main" id="{5E7AE4DA-DA11-4EF2-A4EE-2AEBCD9996BE}"/>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06 • SIMULINK DEVELOPMENT</a:t>
            </a:r>
          </a:p>
        </p:txBody>
      </p:sp>
      <p:sp>
        <p:nvSpPr>
          <p:cNvPr id="2" name="title-319">
            <a:extLst xmlns:a="http://schemas.openxmlformats.org/drawingml/2006/main">
              <a:ext uri="{FF2B5EF4-FFF2-40B4-BE49-F238E27FC236}">
                <a16:creationId xmlns:a16="http://schemas.microsoft.com/office/drawing/2014/main" id="{B53B82A1-1296-4524-9015-01380CFBDF0B}"/>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Reviewable models make intent obvious</a:t>
            </a:r>
          </a:p>
        </p:txBody>
      </p:sp>
      <p:sp>
        <p:nvSpPr>
          <p:cNvPr id="3" name="line-320">
            <a:extLst xmlns:a="http://schemas.openxmlformats.org/drawingml/2006/main">
              <a:ext uri="{FF2B5EF4-FFF2-40B4-BE49-F238E27FC236}">
                <a16:creationId xmlns:a16="http://schemas.microsoft.com/office/drawing/2014/main" id="{44DD73CA-BEA8-4642-AF63-DBCE58FFC322}"/>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321">
            <a:extLst xmlns:a="http://schemas.openxmlformats.org/drawingml/2006/main">
              <a:ext uri="{FF2B5EF4-FFF2-40B4-BE49-F238E27FC236}">
                <a16:creationId xmlns:a16="http://schemas.microsoft.com/office/drawing/2014/main" id="{2267A4B4-B09C-406A-BD5D-70D70DA8373B}"/>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322">
            <a:extLst xmlns:a="http://schemas.openxmlformats.org/drawingml/2006/main">
              <a:ext uri="{FF2B5EF4-FFF2-40B4-BE49-F238E27FC236}">
                <a16:creationId xmlns:a16="http://schemas.microsoft.com/office/drawing/2014/main" id="{6595F1F7-86B2-4E1E-8C9A-7635825F6040}"/>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21</a:t>
            </a:r>
          </a:p>
        </p:txBody>
      </p:sp>
      <p:sp>
        <p:nvSpPr>
          <p:cNvPr id="6" name="text-323">
            <a:extLst xmlns:a="http://schemas.openxmlformats.org/drawingml/2006/main">
              <a:ext uri="{FF2B5EF4-FFF2-40B4-BE49-F238E27FC236}">
                <a16:creationId xmlns:a16="http://schemas.microsoft.com/office/drawing/2014/main" id="{274202ED-E664-4AB0-985C-B052CB9F07F9}"/>
              </a:ext>
            </a:extLst>
          </p:cNvPr>
          <p:cNvSpPr>
            <a:spLocks xmlns:a="http://schemas.openxmlformats.org/drawingml/2006/main" noGrp="1"/>
          </p:cNvSpPr>
          <p:nvPr/>
        </p:nvSpPr>
        <p:spPr>
          <a:xfrm xmlns:a="http://schemas.openxmlformats.org/drawingml/2006/main">
            <a:off x="742950" y="15049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01</a:t>
            </a:r>
          </a:p>
        </p:txBody>
      </p:sp>
      <p:sp>
        <p:nvSpPr>
          <p:cNvPr id="7" name="text-324">
            <a:extLst xmlns:a="http://schemas.openxmlformats.org/drawingml/2006/main">
              <a:ext uri="{FF2B5EF4-FFF2-40B4-BE49-F238E27FC236}">
                <a16:creationId xmlns:a16="http://schemas.microsoft.com/office/drawing/2014/main" id="{0E94AA98-B2B4-4F0F-82EC-531D8260587C}"/>
              </a:ext>
            </a:extLst>
          </p:cNvPr>
          <p:cNvSpPr>
            <a:spLocks xmlns:a="http://schemas.openxmlformats.org/drawingml/2006/main" noGrp="1"/>
          </p:cNvSpPr>
          <p:nvPr/>
        </p:nvSpPr>
        <p:spPr>
          <a:xfrm xmlns:a="http://schemas.openxmlformats.org/drawingml/2006/main">
            <a:off x="1524000" y="15049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NAME FOR MEANING</a:t>
            </a:r>
          </a:p>
        </p:txBody>
      </p:sp>
      <p:sp>
        <p:nvSpPr>
          <p:cNvPr id="8" name="text-325">
            <a:extLst xmlns:a="http://schemas.openxmlformats.org/drawingml/2006/main">
              <a:ext uri="{FF2B5EF4-FFF2-40B4-BE49-F238E27FC236}">
                <a16:creationId xmlns:a16="http://schemas.microsoft.com/office/drawing/2014/main" id="{F5486363-7984-41C1-9678-9A76FCCE8488}"/>
              </a:ext>
            </a:extLst>
          </p:cNvPr>
          <p:cNvSpPr>
            <a:spLocks xmlns:a="http://schemas.openxmlformats.org/drawingml/2006/main" noGrp="1"/>
          </p:cNvSpPr>
          <p:nvPr/>
        </p:nvSpPr>
        <p:spPr>
          <a:xfrm xmlns:a="http://schemas.openxmlformats.org/drawingml/2006/main">
            <a:off x="4572000" y="15049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PitchRateLimiter, q_cmd_in, air_data_valid—not Subsystem3 or u1</a:t>
            </a:r>
          </a:p>
        </p:txBody>
      </p:sp>
      <p:sp>
        <p:nvSpPr>
          <p:cNvPr id="9" name="line-326">
            <a:extLst xmlns:a="http://schemas.openxmlformats.org/drawingml/2006/main">
              <a:ext uri="{FF2B5EF4-FFF2-40B4-BE49-F238E27FC236}">
                <a16:creationId xmlns:a16="http://schemas.microsoft.com/office/drawing/2014/main" id="{28A77F49-AAE8-4B0A-814D-28DCB2A2DB31}"/>
              </a:ext>
            </a:extLst>
          </p:cNvPr>
          <p:cNvSpPr>
            <a:spLocks xmlns:a="http://schemas.openxmlformats.org/drawingml/2006/main" noGrp="1"/>
          </p:cNvSpPr>
          <p:nvPr/>
        </p:nvSpPr>
        <p:spPr>
          <a:xfrm xmlns:a="http://schemas.openxmlformats.org/drawingml/2006/main">
            <a:off x="1524000" y="20764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0" name="text-327">
            <a:extLst xmlns:a="http://schemas.openxmlformats.org/drawingml/2006/main">
              <a:ext uri="{FF2B5EF4-FFF2-40B4-BE49-F238E27FC236}">
                <a16:creationId xmlns:a16="http://schemas.microsoft.com/office/drawing/2014/main" id="{45E5BEC2-0B5E-4FFD-ABA4-263F5662B1D7}"/>
              </a:ext>
            </a:extLst>
          </p:cNvPr>
          <p:cNvSpPr>
            <a:spLocks xmlns:a="http://schemas.openxmlformats.org/drawingml/2006/main" noGrp="1"/>
          </p:cNvSpPr>
          <p:nvPr/>
        </p:nvSpPr>
        <p:spPr>
          <a:xfrm xmlns:a="http://schemas.openxmlformats.org/drawingml/2006/main">
            <a:off x="742950" y="23431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02</a:t>
            </a:r>
          </a:p>
        </p:txBody>
      </p:sp>
      <p:sp>
        <p:nvSpPr>
          <p:cNvPr id="11" name="text-328">
            <a:extLst xmlns:a="http://schemas.openxmlformats.org/drawingml/2006/main">
              <a:ext uri="{FF2B5EF4-FFF2-40B4-BE49-F238E27FC236}">
                <a16:creationId xmlns:a16="http://schemas.microsoft.com/office/drawing/2014/main" id="{F95C54DF-873A-4AE9-BFF3-A48C07277BFB}"/>
              </a:ext>
            </a:extLst>
          </p:cNvPr>
          <p:cNvSpPr>
            <a:spLocks xmlns:a="http://schemas.openxmlformats.org/drawingml/2006/main" noGrp="1"/>
          </p:cNvSpPr>
          <p:nvPr/>
        </p:nvSpPr>
        <p:spPr>
          <a:xfrm xmlns:a="http://schemas.openxmlformats.org/drawingml/2006/main">
            <a:off x="1524000" y="23431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LABEL THE CONTRACT</a:t>
            </a:r>
          </a:p>
        </p:txBody>
      </p:sp>
      <p:sp>
        <p:nvSpPr>
          <p:cNvPr id="12" name="text-329">
            <a:extLst xmlns:a="http://schemas.openxmlformats.org/drawingml/2006/main">
              <a:ext uri="{FF2B5EF4-FFF2-40B4-BE49-F238E27FC236}">
                <a16:creationId xmlns:a16="http://schemas.microsoft.com/office/drawing/2014/main" id="{18612215-8EA1-4490-91BB-2E11D2052898}"/>
              </a:ext>
            </a:extLst>
          </p:cNvPr>
          <p:cNvSpPr>
            <a:spLocks xmlns:a="http://schemas.openxmlformats.org/drawingml/2006/main" noGrp="1"/>
          </p:cNvSpPr>
          <p:nvPr/>
        </p:nvSpPr>
        <p:spPr>
          <a:xfrm xmlns:a="http://schemas.openxmlformats.org/drawingml/2006/main">
            <a:off x="4572000" y="23431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units, type, dimensions, sample time, range, validity, ownership</a:t>
            </a:r>
          </a:p>
        </p:txBody>
      </p:sp>
      <p:sp>
        <p:nvSpPr>
          <p:cNvPr id="13" name="line-330">
            <a:extLst xmlns:a="http://schemas.openxmlformats.org/drawingml/2006/main">
              <a:ext uri="{FF2B5EF4-FFF2-40B4-BE49-F238E27FC236}">
                <a16:creationId xmlns:a16="http://schemas.microsoft.com/office/drawing/2014/main" id="{BD30EC1E-1585-4587-9FF5-D649139CCF0F}"/>
              </a:ext>
            </a:extLst>
          </p:cNvPr>
          <p:cNvSpPr>
            <a:spLocks xmlns:a="http://schemas.openxmlformats.org/drawingml/2006/main" noGrp="1"/>
          </p:cNvSpPr>
          <p:nvPr/>
        </p:nvSpPr>
        <p:spPr>
          <a:xfrm xmlns:a="http://schemas.openxmlformats.org/drawingml/2006/main">
            <a:off x="1524000" y="29146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4" name="text-331">
            <a:extLst xmlns:a="http://schemas.openxmlformats.org/drawingml/2006/main">
              <a:ext uri="{FF2B5EF4-FFF2-40B4-BE49-F238E27FC236}">
                <a16:creationId xmlns:a16="http://schemas.microsoft.com/office/drawing/2014/main" id="{F7EE569B-0D13-4CEC-A668-514D6FBE277B}"/>
              </a:ext>
            </a:extLst>
          </p:cNvPr>
          <p:cNvSpPr>
            <a:spLocks xmlns:a="http://schemas.openxmlformats.org/drawingml/2006/main" noGrp="1"/>
          </p:cNvSpPr>
          <p:nvPr/>
        </p:nvSpPr>
        <p:spPr>
          <a:xfrm xmlns:a="http://schemas.openxmlformats.org/drawingml/2006/main">
            <a:off x="742950" y="31813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03</a:t>
            </a:r>
          </a:p>
        </p:txBody>
      </p:sp>
      <p:sp>
        <p:nvSpPr>
          <p:cNvPr id="15" name="text-332">
            <a:extLst xmlns:a="http://schemas.openxmlformats.org/drawingml/2006/main">
              <a:ext uri="{FF2B5EF4-FFF2-40B4-BE49-F238E27FC236}">
                <a16:creationId xmlns:a16="http://schemas.microsoft.com/office/drawing/2014/main" id="{9054FC18-4019-429B-9CA9-84DE3401D634}"/>
              </a:ext>
            </a:extLst>
          </p:cNvPr>
          <p:cNvSpPr>
            <a:spLocks xmlns:a="http://schemas.openxmlformats.org/drawingml/2006/main" noGrp="1"/>
          </p:cNvSpPr>
          <p:nvPr/>
        </p:nvSpPr>
        <p:spPr>
          <a:xfrm xmlns:a="http://schemas.openxmlformats.org/drawingml/2006/main">
            <a:off x="1524000" y="31813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FLOW LEFT TO RIGHT</a:t>
            </a:r>
          </a:p>
        </p:txBody>
      </p:sp>
      <p:sp>
        <p:nvSpPr>
          <p:cNvPr id="16" name="text-333">
            <a:extLst xmlns:a="http://schemas.openxmlformats.org/drawingml/2006/main">
              <a:ext uri="{FF2B5EF4-FFF2-40B4-BE49-F238E27FC236}">
                <a16:creationId xmlns:a16="http://schemas.microsoft.com/office/drawing/2014/main" id="{4269560D-85B2-4CBF-A3FB-9494F4C476F0}"/>
              </a:ext>
            </a:extLst>
          </p:cNvPr>
          <p:cNvSpPr>
            <a:spLocks xmlns:a="http://schemas.openxmlformats.org/drawingml/2006/main" noGrp="1"/>
          </p:cNvSpPr>
          <p:nvPr/>
        </p:nvSpPr>
        <p:spPr>
          <a:xfrm xmlns:a="http://schemas.openxmlformats.org/drawingml/2006/main">
            <a:off x="4572000" y="31813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commands and data enter consistently; outputs leave consistently</a:t>
            </a:r>
          </a:p>
        </p:txBody>
      </p:sp>
      <p:sp>
        <p:nvSpPr>
          <p:cNvPr id="17" name="line-334">
            <a:extLst xmlns:a="http://schemas.openxmlformats.org/drawingml/2006/main">
              <a:ext uri="{FF2B5EF4-FFF2-40B4-BE49-F238E27FC236}">
                <a16:creationId xmlns:a16="http://schemas.microsoft.com/office/drawing/2014/main" id="{5D646359-F787-44EC-A94C-6442FA39919E}"/>
              </a:ext>
            </a:extLst>
          </p:cNvPr>
          <p:cNvSpPr>
            <a:spLocks xmlns:a="http://schemas.openxmlformats.org/drawingml/2006/main" noGrp="1"/>
          </p:cNvSpPr>
          <p:nvPr/>
        </p:nvSpPr>
        <p:spPr>
          <a:xfrm xmlns:a="http://schemas.openxmlformats.org/drawingml/2006/main">
            <a:off x="1524000" y="37528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8" name="text-335">
            <a:extLst xmlns:a="http://schemas.openxmlformats.org/drawingml/2006/main">
              <a:ext uri="{FF2B5EF4-FFF2-40B4-BE49-F238E27FC236}">
                <a16:creationId xmlns:a16="http://schemas.microsoft.com/office/drawing/2014/main" id="{FDA07C6B-4AE3-4BCC-9B55-353955614B74}"/>
              </a:ext>
            </a:extLst>
          </p:cNvPr>
          <p:cNvSpPr>
            <a:spLocks xmlns:a="http://schemas.openxmlformats.org/drawingml/2006/main" noGrp="1"/>
          </p:cNvSpPr>
          <p:nvPr/>
        </p:nvSpPr>
        <p:spPr>
          <a:xfrm xmlns:a="http://schemas.openxmlformats.org/drawingml/2006/main">
            <a:off x="742950" y="40195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04</a:t>
            </a:r>
          </a:p>
        </p:txBody>
      </p:sp>
      <p:sp>
        <p:nvSpPr>
          <p:cNvPr id="19" name="text-336">
            <a:extLst xmlns:a="http://schemas.openxmlformats.org/drawingml/2006/main">
              <a:ext uri="{FF2B5EF4-FFF2-40B4-BE49-F238E27FC236}">
                <a16:creationId xmlns:a16="http://schemas.microsoft.com/office/drawing/2014/main" id="{AB7739A0-8F4C-4E54-BFD6-2C672EE2B14F}"/>
              </a:ext>
            </a:extLst>
          </p:cNvPr>
          <p:cNvSpPr>
            <a:spLocks xmlns:a="http://schemas.openxmlformats.org/drawingml/2006/main" noGrp="1"/>
          </p:cNvSpPr>
          <p:nvPr/>
        </p:nvSpPr>
        <p:spPr>
          <a:xfrm xmlns:a="http://schemas.openxmlformats.org/drawingml/2006/main">
            <a:off x="1524000" y="40195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ONE LEVEL, ONE STORY</a:t>
            </a:r>
          </a:p>
        </p:txBody>
      </p:sp>
      <p:sp>
        <p:nvSpPr>
          <p:cNvPr id="20" name="text-337">
            <a:extLst xmlns:a="http://schemas.openxmlformats.org/drawingml/2006/main">
              <a:ext uri="{FF2B5EF4-FFF2-40B4-BE49-F238E27FC236}">
                <a16:creationId xmlns:a16="http://schemas.microsoft.com/office/drawing/2014/main" id="{FB75E0AE-536C-437D-B22E-330F903E4E51}"/>
              </a:ext>
            </a:extLst>
          </p:cNvPr>
          <p:cNvSpPr>
            <a:spLocks xmlns:a="http://schemas.openxmlformats.org/drawingml/2006/main" noGrp="1"/>
          </p:cNvSpPr>
          <p:nvPr/>
        </p:nvSpPr>
        <p:spPr>
          <a:xfrm xmlns:a="http://schemas.openxmlformats.org/drawingml/2006/main">
            <a:off x="4572000" y="40195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use hierarchy when a reviewer cannot summarize the diagram quickly</a:t>
            </a:r>
          </a:p>
        </p:txBody>
      </p:sp>
      <p:sp>
        <p:nvSpPr>
          <p:cNvPr id="21" name="line-338">
            <a:extLst xmlns:a="http://schemas.openxmlformats.org/drawingml/2006/main">
              <a:ext uri="{FF2B5EF4-FFF2-40B4-BE49-F238E27FC236}">
                <a16:creationId xmlns:a16="http://schemas.microsoft.com/office/drawing/2014/main" id="{4776EE4B-1776-4C5C-9B7B-F15501A26A93}"/>
              </a:ext>
            </a:extLst>
          </p:cNvPr>
          <p:cNvSpPr>
            <a:spLocks xmlns:a="http://schemas.openxmlformats.org/drawingml/2006/main" noGrp="1"/>
          </p:cNvSpPr>
          <p:nvPr/>
        </p:nvSpPr>
        <p:spPr>
          <a:xfrm xmlns:a="http://schemas.openxmlformats.org/drawingml/2006/main">
            <a:off x="1524000" y="45910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2" name="text-339">
            <a:extLst xmlns:a="http://schemas.openxmlformats.org/drawingml/2006/main">
              <a:ext uri="{FF2B5EF4-FFF2-40B4-BE49-F238E27FC236}">
                <a16:creationId xmlns:a16="http://schemas.microsoft.com/office/drawing/2014/main" id="{8DF68E8C-5524-4E2F-BF17-AA58BCA85C11}"/>
              </a:ext>
            </a:extLst>
          </p:cNvPr>
          <p:cNvSpPr>
            <a:spLocks xmlns:a="http://schemas.openxmlformats.org/drawingml/2006/main" noGrp="1"/>
          </p:cNvSpPr>
          <p:nvPr/>
        </p:nvSpPr>
        <p:spPr>
          <a:xfrm xmlns:a="http://schemas.openxmlformats.org/drawingml/2006/main">
            <a:off x="742950" y="48577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05</a:t>
            </a:r>
          </a:p>
        </p:txBody>
      </p:sp>
      <p:sp>
        <p:nvSpPr>
          <p:cNvPr id="23" name="text-340">
            <a:extLst xmlns:a="http://schemas.openxmlformats.org/drawingml/2006/main">
              <a:ext uri="{FF2B5EF4-FFF2-40B4-BE49-F238E27FC236}">
                <a16:creationId xmlns:a16="http://schemas.microsoft.com/office/drawing/2014/main" id="{539FB3A7-1E16-47BA-86FE-1F28AC6EEFE9}"/>
              </a:ext>
            </a:extLst>
          </p:cNvPr>
          <p:cNvSpPr>
            <a:spLocks xmlns:a="http://schemas.openxmlformats.org/drawingml/2006/main" noGrp="1"/>
          </p:cNvSpPr>
          <p:nvPr/>
        </p:nvSpPr>
        <p:spPr>
          <a:xfrm xmlns:a="http://schemas.openxmlformats.org/drawingml/2006/main">
            <a:off x="1524000" y="48577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REUSE CONTROLLED CONTENT</a:t>
            </a:r>
          </a:p>
        </p:txBody>
      </p:sp>
      <p:sp>
        <p:nvSpPr>
          <p:cNvPr id="24" name="text-341">
            <a:extLst xmlns:a="http://schemas.openxmlformats.org/drawingml/2006/main">
              <a:ext uri="{FF2B5EF4-FFF2-40B4-BE49-F238E27FC236}">
                <a16:creationId xmlns:a16="http://schemas.microsoft.com/office/drawing/2014/main" id="{EBE7FAFD-9BF6-4B2E-B97C-BAF1798FD94C}"/>
              </a:ext>
            </a:extLst>
          </p:cNvPr>
          <p:cNvSpPr>
            <a:spLocks xmlns:a="http://schemas.openxmlformats.org/drawingml/2006/main" noGrp="1"/>
          </p:cNvSpPr>
          <p:nvPr/>
        </p:nvSpPr>
        <p:spPr>
          <a:xfrm xmlns:a="http://schemas.openxmlformats.org/drawingml/2006/main">
            <a:off x="4572000" y="48577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libraries and references—never copy/paste divergence</a:t>
            </a:r>
          </a:p>
        </p:txBody>
      </p:sp>
      <p:sp>
        <p:nvSpPr>
          <p:cNvPr id="25" name="line-342">
            <a:extLst xmlns:a="http://schemas.openxmlformats.org/drawingml/2006/main">
              <a:ext uri="{FF2B5EF4-FFF2-40B4-BE49-F238E27FC236}">
                <a16:creationId xmlns:a16="http://schemas.microsoft.com/office/drawing/2014/main" id="{B731D8B4-8226-4907-857A-6F667B19C6F0}"/>
              </a:ext>
            </a:extLst>
          </p:cNvPr>
          <p:cNvSpPr>
            <a:spLocks xmlns:a="http://schemas.openxmlformats.org/drawingml/2006/main" noGrp="1"/>
          </p:cNvSpPr>
          <p:nvPr/>
        </p:nvSpPr>
        <p:spPr>
          <a:xfrm xmlns:a="http://schemas.openxmlformats.org/drawingml/2006/main">
            <a:off x="1524000" y="54292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6" name="box-343">
            <a:extLst xmlns:a="http://schemas.openxmlformats.org/drawingml/2006/main">
              <a:ext uri="{FF2B5EF4-FFF2-40B4-BE49-F238E27FC236}">
                <a16:creationId xmlns:a16="http://schemas.microsoft.com/office/drawing/2014/main" id="{F9187C8D-F06C-4555-913A-2BB2D300EFCE}"/>
              </a:ext>
            </a:extLst>
          </p:cNvPr>
          <p:cNvSpPr>
            <a:spLocks xmlns:a="http://schemas.openxmlformats.org/drawingml/2006/main" noGrp="1"/>
          </p:cNvSpPr>
          <p:nvPr/>
        </p:nvSpPr>
        <p:spPr>
          <a:xfrm xmlns:a="http://schemas.openxmlformats.org/drawingml/2006/main">
            <a:off x="2381250" y="5667375"/>
            <a:ext cx="7429500" cy="495300"/>
          </a:xfrm>
          <a:prstGeom xmlns:a="http://schemas.openxmlformats.org/drawingml/2006/main" prst="roundRect">
            <a:avLst>
              <a:gd name="adj" fmla="val 15385"/>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71521"/>
                </a:solidFill>
                <a:latin typeface="Aptos"/>
                <a:ea typeface="Aptos"/>
                <a:cs typeface="Aptos"/>
              </a:defRPr>
            </a:pPr>
            <a:r>
              <a:rPr sz="1725" b="1">
                <a:solidFill>
                  <a:srgbClr val="071521"/>
                </a:solidFill>
                <a:latin typeface="Aptos"/>
                <a:ea typeface="Aptos"/>
                <a:cs typeface="Aptos"/>
              </a:rPr>
              <a:t>If the diagram needs a verbal apology, refactor the diagram.</a:t>
            </a:r>
          </a:p>
        </p:txBody>
      </p:sp>
    </p:spTree>
    <p:extLst>
      <p:ext uri="{BB962C8B-B14F-4D97-AF65-F5344CB8AC3E}">
        <p14:creationId xmlns:p14="http://schemas.microsoft.com/office/powerpoint/2010/main" val="1772874882"/>
      </p:ext>
    </p:extLst>
  </p:cSld>
</p:sld>
</file>

<file path=ppt/slides/slide2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343">
            <a:extLst xmlns:a="http://schemas.openxmlformats.org/drawingml/2006/main">
              <a:ext uri="{FF2B5EF4-FFF2-40B4-BE49-F238E27FC236}">
                <a16:creationId xmlns:a16="http://schemas.microsoft.com/office/drawing/2014/main" id="{709CEFA9-4EB3-495D-BF39-97DD8FD590DF}"/>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07 • UNIT TESTING</a:t>
            </a:r>
          </a:p>
        </p:txBody>
      </p:sp>
      <p:sp>
        <p:nvSpPr>
          <p:cNvPr id="2" name="title-343">
            <a:extLst xmlns:a="http://schemas.openxmlformats.org/drawingml/2006/main">
              <a:ext uri="{FF2B5EF4-FFF2-40B4-BE49-F238E27FC236}">
                <a16:creationId xmlns:a16="http://schemas.microsoft.com/office/drawing/2014/main" id="{7E963F83-5694-4484-AA13-205C1B2A2C47}"/>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A harness makes expectations executable</a:t>
            </a:r>
          </a:p>
        </p:txBody>
      </p:sp>
      <p:sp>
        <p:nvSpPr>
          <p:cNvPr id="3" name="line-344">
            <a:extLst xmlns:a="http://schemas.openxmlformats.org/drawingml/2006/main">
              <a:ext uri="{FF2B5EF4-FFF2-40B4-BE49-F238E27FC236}">
                <a16:creationId xmlns:a16="http://schemas.microsoft.com/office/drawing/2014/main" id="{D6EE374C-848E-4A69-AAF2-BFA39C72CD28}"/>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45">
            <a:extLst xmlns:a="http://schemas.openxmlformats.org/drawingml/2006/main">
              <a:ext uri="{FF2B5EF4-FFF2-40B4-BE49-F238E27FC236}">
                <a16:creationId xmlns:a16="http://schemas.microsoft.com/office/drawing/2014/main" id="{42DF1B99-B975-4230-93F7-303AE39B6C9C}"/>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346">
            <a:extLst xmlns:a="http://schemas.openxmlformats.org/drawingml/2006/main">
              <a:ext uri="{FF2B5EF4-FFF2-40B4-BE49-F238E27FC236}">
                <a16:creationId xmlns:a16="http://schemas.microsoft.com/office/drawing/2014/main" id="{E81D7452-0177-42B9-8363-C805E4A2C22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22</a:t>
            </a:r>
          </a:p>
        </p:txBody>
      </p:sp>
      <p:sp>
        <p:nvSpPr>
          <p:cNvPr id="6" name="box-347">
            <a:extLst xmlns:a="http://schemas.openxmlformats.org/drawingml/2006/main">
              <a:ext uri="{FF2B5EF4-FFF2-40B4-BE49-F238E27FC236}">
                <a16:creationId xmlns:a16="http://schemas.microsoft.com/office/drawing/2014/main" id="{8FDB5A0A-8D79-4355-9395-A88A56148C99}"/>
              </a:ext>
            </a:extLst>
          </p:cNvPr>
          <p:cNvSpPr>
            <a:spLocks xmlns:a="http://schemas.openxmlformats.org/drawingml/2006/main" noGrp="1"/>
          </p:cNvSpPr>
          <p:nvPr/>
        </p:nvSpPr>
        <p:spPr>
          <a:xfrm xmlns:a="http://schemas.openxmlformats.org/drawingml/2006/main">
            <a:off x="704850" y="2381250"/>
            <a:ext cx="1714500" cy="857250"/>
          </a:xfrm>
          <a:prstGeom xmlns:a="http://schemas.openxmlformats.org/drawingml/2006/main" prst="roundRect">
            <a:avLst>
              <a:gd name="adj" fmla="val 11111"/>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Component</a:t>
            </a:r>
          </a:p>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model</a:t>
            </a:r>
          </a:p>
        </p:txBody>
      </p:sp>
      <p:sp>
        <p:nvSpPr>
          <p:cNvPr id="7" name="box-348">
            <a:extLst xmlns:a="http://schemas.openxmlformats.org/drawingml/2006/main">
              <a:ext uri="{FF2B5EF4-FFF2-40B4-BE49-F238E27FC236}">
                <a16:creationId xmlns:a16="http://schemas.microsoft.com/office/drawing/2014/main" id="{EC059F5E-E1F1-44F5-B099-47F854106DDB}"/>
              </a:ext>
            </a:extLst>
          </p:cNvPr>
          <p:cNvSpPr>
            <a:spLocks xmlns:a="http://schemas.openxmlformats.org/drawingml/2006/main" noGrp="1"/>
          </p:cNvSpPr>
          <p:nvPr/>
        </p:nvSpPr>
        <p:spPr>
          <a:xfrm xmlns:a="http://schemas.openxmlformats.org/drawingml/2006/main">
            <a:off x="2952750" y="2247900"/>
            <a:ext cx="1714500" cy="1123950"/>
          </a:xfrm>
          <a:prstGeom xmlns:a="http://schemas.openxmlformats.org/drawingml/2006/main" prst="roundRect">
            <a:avLst>
              <a:gd name="adj" fmla="val 8475"/>
            </a:avLst>
          </a:prstGeom>
          <a:solidFill xmlns:a="http://schemas.openxmlformats.org/drawingml/2006/main">
            <a:srgbClr val="0B2438"/>
          </a:solidFill>
          <a:ln xmlns:a="http://schemas.openxmlformats.org/drawingml/2006/main" w="19050">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800" b="1">
                <a:solidFill>
                  <a:srgbClr val="FFFFFF"/>
                </a:solidFill>
                <a:latin typeface="Aptos"/>
                <a:ea typeface="Aptos"/>
                <a:cs typeface="Aptos"/>
              </a:defRPr>
            </a:pPr>
            <a:r>
              <a:rPr sz="1800" b="1">
                <a:solidFill>
                  <a:srgbClr val="FFFFFF"/>
                </a:solidFill>
                <a:latin typeface="Aptos"/>
                <a:ea typeface="Aptos"/>
                <a:cs typeface="Aptos"/>
              </a:rPr>
              <a:t>Test</a:t>
            </a:r>
          </a:p>
          <a:p xmlns:a="http://schemas.openxmlformats.org/drawingml/2006/main">
            <a:pPr algn="ctr">
              <a:lnSpc>
                <a:spcPct val="100000"/>
              </a:lnSpc>
              <a:buNone/>
              <a:defRPr sz="1800" b="1">
                <a:solidFill>
                  <a:srgbClr val="FFFFFF"/>
                </a:solidFill>
                <a:latin typeface="Aptos"/>
                <a:ea typeface="Aptos"/>
                <a:cs typeface="Aptos"/>
              </a:defRPr>
            </a:pPr>
            <a:r>
              <a:rPr sz="1800" b="1">
                <a:solidFill>
                  <a:srgbClr val="FFFFFF"/>
                </a:solidFill>
                <a:latin typeface="Aptos"/>
                <a:ea typeface="Aptos"/>
                <a:cs typeface="Aptos"/>
              </a:rPr>
              <a:t>harness</a:t>
            </a:r>
          </a:p>
        </p:txBody>
      </p:sp>
      <p:sp>
        <p:nvSpPr>
          <p:cNvPr id="8" name="box-349">
            <a:extLst xmlns:a="http://schemas.openxmlformats.org/drawingml/2006/main">
              <a:ext uri="{FF2B5EF4-FFF2-40B4-BE49-F238E27FC236}">
                <a16:creationId xmlns:a16="http://schemas.microsoft.com/office/drawing/2014/main" id="{1C5C925F-63A5-43F1-904D-1D61CB6D8702}"/>
              </a:ext>
            </a:extLst>
          </p:cNvPr>
          <p:cNvSpPr>
            <a:spLocks xmlns:a="http://schemas.openxmlformats.org/drawingml/2006/main" noGrp="1"/>
          </p:cNvSpPr>
          <p:nvPr/>
        </p:nvSpPr>
        <p:spPr>
          <a:xfrm xmlns:a="http://schemas.openxmlformats.org/drawingml/2006/main">
            <a:off x="5200650" y="2381250"/>
            <a:ext cx="1809750" cy="857250"/>
          </a:xfrm>
          <a:prstGeom xmlns:a="http://schemas.openxmlformats.org/drawingml/2006/main" prst="roundRect">
            <a:avLst>
              <a:gd name="adj" fmla="val 11111"/>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Stimulus +</a:t>
            </a:r>
          </a:p>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Test Sequence</a:t>
            </a:r>
          </a:p>
        </p:txBody>
      </p:sp>
      <p:sp>
        <p:nvSpPr>
          <p:cNvPr id="9" name="box-350">
            <a:extLst xmlns:a="http://schemas.openxmlformats.org/drawingml/2006/main">
              <a:ext uri="{FF2B5EF4-FFF2-40B4-BE49-F238E27FC236}">
                <a16:creationId xmlns:a16="http://schemas.microsoft.com/office/drawing/2014/main" id="{78E1D2BB-F958-47C8-98EC-69B9583BB895}"/>
              </a:ext>
            </a:extLst>
          </p:cNvPr>
          <p:cNvSpPr>
            <a:spLocks xmlns:a="http://schemas.openxmlformats.org/drawingml/2006/main" noGrp="1"/>
          </p:cNvSpPr>
          <p:nvPr/>
        </p:nvSpPr>
        <p:spPr>
          <a:xfrm xmlns:a="http://schemas.openxmlformats.org/drawingml/2006/main">
            <a:off x="7543800" y="2381250"/>
            <a:ext cx="1809750" cy="857250"/>
          </a:xfrm>
          <a:prstGeom xmlns:a="http://schemas.openxmlformats.org/drawingml/2006/main" prst="roundRect">
            <a:avLst>
              <a:gd name="adj" fmla="val 11111"/>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Expected output</a:t>
            </a:r>
          </a:p>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 tolerance</a:t>
            </a:r>
          </a:p>
        </p:txBody>
      </p:sp>
      <p:sp>
        <p:nvSpPr>
          <p:cNvPr id="10" name="box-351">
            <a:extLst xmlns:a="http://schemas.openxmlformats.org/drawingml/2006/main">
              <a:ext uri="{FF2B5EF4-FFF2-40B4-BE49-F238E27FC236}">
                <a16:creationId xmlns:a16="http://schemas.microsoft.com/office/drawing/2014/main" id="{EDA66769-F207-4F8E-8C28-9A8859558DAD}"/>
              </a:ext>
            </a:extLst>
          </p:cNvPr>
          <p:cNvSpPr>
            <a:spLocks xmlns:a="http://schemas.openxmlformats.org/drawingml/2006/main" noGrp="1"/>
          </p:cNvSpPr>
          <p:nvPr/>
        </p:nvSpPr>
        <p:spPr>
          <a:xfrm xmlns:a="http://schemas.openxmlformats.org/drawingml/2006/main">
            <a:off x="9886950" y="2381250"/>
            <a:ext cx="1619250" cy="857250"/>
          </a:xfrm>
          <a:prstGeom xmlns:a="http://schemas.openxmlformats.org/drawingml/2006/main" prst="roundRect">
            <a:avLst>
              <a:gd name="adj" fmla="val 11111"/>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PASS / FAIL</a:t>
            </a:r>
          </a:p>
        </p:txBody>
      </p:sp>
      <p:cxnSp>
        <p:nvCxnSpPr>
          <p:cNvPr id="29" name=""/>
          <p:cNvCxnSpPr>
            <a:stCxn xmlns:a="http://schemas.openxmlformats.org/drawingml/2006/main" id="6" idx="3"/>
            <a:endCxn xmlns:a="http://schemas.openxmlformats.org/drawingml/2006/main" id="7" idx="1"/>
          </p:cNvCxnSpPr>
          <p:nvPr/>
        </p:nvCxnSpPr>
        <p:spPr>
          <a:xfrm xmlns:a="http://schemas.openxmlformats.org/drawingml/2006/main">
            <a:off x="2419350" y="2809875"/>
            <a:ext cx="533400" cy="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30" name=""/>
          <p:cNvCxnSpPr>
            <a:stCxn xmlns:a="http://schemas.openxmlformats.org/drawingml/2006/main" id="7" idx="3"/>
            <a:endCxn xmlns:a="http://schemas.openxmlformats.org/drawingml/2006/main" id="8" idx="1"/>
          </p:cNvCxnSpPr>
          <p:nvPr/>
        </p:nvCxnSpPr>
        <p:spPr>
          <a:xfrm xmlns:a="http://schemas.openxmlformats.org/drawingml/2006/main">
            <a:off x="4667250" y="2809875"/>
            <a:ext cx="533400" cy="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31" name=""/>
          <p:cNvCxnSpPr>
            <a:stCxn xmlns:a="http://schemas.openxmlformats.org/drawingml/2006/main" id="8" idx="3"/>
            <a:endCxn xmlns:a="http://schemas.openxmlformats.org/drawingml/2006/main" id="9" idx="1"/>
          </p:cNvCxnSpPr>
          <p:nvPr/>
        </p:nvCxnSpPr>
        <p:spPr>
          <a:xfrm xmlns:a="http://schemas.openxmlformats.org/drawingml/2006/main">
            <a:off x="7010400" y="2809875"/>
            <a:ext cx="533400" cy="0"/>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cxnSp>
        <p:nvCxnSpPr>
          <p:cNvPr id="32" name=""/>
          <p:cNvCxnSpPr>
            <a:stCxn xmlns:a="http://schemas.openxmlformats.org/drawingml/2006/main" id="9" idx="3"/>
            <a:endCxn xmlns:a="http://schemas.openxmlformats.org/drawingml/2006/main" id="10" idx="1"/>
          </p:cNvCxnSpPr>
          <p:nvPr/>
        </p:nvCxnSpPr>
        <p:spPr>
          <a:xfrm xmlns:a="http://schemas.openxmlformats.org/drawingml/2006/main">
            <a:off x="9353550" y="2809875"/>
            <a:ext cx="533400" cy="0"/>
          </a:xfrm>
          <a:prstGeom xmlns:a="http://schemas.openxmlformats.org/drawingml/2006/main" prst="straightConnector1">
            <a:avLst/>
          </a:prstGeom>
          <a:ln xmlns:a="http://schemas.openxmlformats.org/drawingml/2006/main" w="28575">
            <a:solidFill>
              <a:srgbClr val="2CA56F"/>
            </a:solidFill>
            <a:prstDash val="solid"/>
            <a:tailEnd type="triangle" w="sm" len="sm"/>
          </a:ln>
        </p:spPr>
      </p:cxnSp>
      <p:sp>
        <p:nvSpPr>
          <p:cNvPr id="15" name="text-352">
            <a:extLst xmlns:a="http://schemas.openxmlformats.org/drawingml/2006/main">
              <a:ext uri="{FF2B5EF4-FFF2-40B4-BE49-F238E27FC236}">
                <a16:creationId xmlns:a16="http://schemas.microsoft.com/office/drawing/2014/main" id="{92B6A9A9-116F-4819-9ADC-DB31450A6D57}"/>
              </a:ext>
            </a:extLst>
          </p:cNvPr>
          <p:cNvSpPr>
            <a:spLocks xmlns:a="http://schemas.openxmlformats.org/drawingml/2006/main" noGrp="1"/>
          </p:cNvSpPr>
          <p:nvPr/>
        </p:nvSpPr>
        <p:spPr>
          <a:xfrm xmlns:a="http://schemas.openxmlformats.org/drawingml/2006/main">
            <a:off x="895350" y="40957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5D7487"/>
                </a:solidFill>
                <a:latin typeface="Aptos"/>
                <a:ea typeface="Aptos"/>
                <a:cs typeface="Aptos"/>
              </a:defRPr>
            </a:pPr>
            <a:r>
              <a:rPr sz="1275" b="1" i="0">
                <a:solidFill>
                  <a:srgbClr val="5D7487"/>
                </a:solidFill>
                <a:latin typeface="Aptos"/>
                <a:ea typeface="Aptos"/>
                <a:cs typeface="Aptos"/>
              </a:rPr>
              <a:t>HARNESS RESPONSIBILITIES</a:t>
            </a:r>
          </a:p>
        </p:txBody>
      </p:sp>
      <p:sp>
        <p:nvSpPr>
          <p:cNvPr id="16" name="text-353">
            <a:extLst xmlns:a="http://schemas.openxmlformats.org/drawingml/2006/main">
              <a:ext uri="{FF2B5EF4-FFF2-40B4-BE49-F238E27FC236}">
                <a16:creationId xmlns:a16="http://schemas.microsoft.com/office/drawing/2014/main" id="{59D07E3A-30E4-4E9B-851C-6C88760A3B85}"/>
              </a:ext>
            </a:extLst>
          </p:cNvPr>
          <p:cNvSpPr>
            <a:spLocks xmlns:a="http://schemas.openxmlformats.org/drawingml/2006/main" noGrp="1"/>
          </p:cNvSpPr>
          <p:nvPr/>
        </p:nvSpPr>
        <p:spPr>
          <a:xfrm xmlns:a="http://schemas.openxmlformats.org/drawingml/2006/main">
            <a:off x="857250" y="4476750"/>
            <a:ext cx="4762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0"/>
              </a:spcAft>
              <a:buNone/>
              <a:defRPr sz="1500" b="0" i="0">
                <a:solidFill>
                  <a:srgbClr val="17324A"/>
                </a:solidFill>
                <a:latin typeface="Aptos"/>
                <a:ea typeface="Aptos"/>
                <a:cs typeface="Aptos"/>
              </a:defRPr>
            </a:pPr>
            <a:r>
              <a:rPr sz="1500" b="0" i="0">
                <a:solidFill>
                  <a:srgbClr val="17324A"/>
                </a:solidFill>
                <a:latin typeface="Aptos"/>
                <a:ea typeface="Aptos"/>
                <a:cs typeface="Aptos"/>
              </a:rPr>
              <a:t>controlled inputs and initial state</a:t>
            </a:r>
          </a:p>
          <a:p xmlns:a="http://schemas.openxmlformats.org/drawingml/2006/main">
            <a:pPr marL="24" indent="-13" algn="l">
              <a:lnSpc>
                <a:spcPct val="108000"/>
              </a:lnSpc>
              <a:spcAft>
                <a:spcPts val="10"/>
              </a:spcAft>
              <a:buNone/>
              <a:defRPr sz="1500" b="0" i="0">
                <a:solidFill>
                  <a:srgbClr val="17324A"/>
                </a:solidFill>
                <a:latin typeface="Aptos"/>
                <a:ea typeface="Aptos"/>
                <a:cs typeface="Aptos"/>
              </a:defRPr>
            </a:pPr>
            <a:r>
              <a:rPr sz="1500" b="0" i="0">
                <a:solidFill>
                  <a:srgbClr val="17324A"/>
                </a:solidFill>
                <a:latin typeface="Aptos"/>
                <a:ea typeface="Aptos"/>
                <a:cs typeface="Aptos"/>
              </a:rPr>
              <a:t>test-specific sources, sinks, and assessments</a:t>
            </a:r>
          </a:p>
          <a:p xmlns:a="http://schemas.openxmlformats.org/drawingml/2006/main">
            <a:pPr marL="24" indent="-13" algn="l">
              <a:lnSpc>
                <a:spcPct val="108000"/>
              </a:lnSpc>
              <a:spcAft>
                <a:spcPts val="10"/>
              </a:spcAft>
              <a:buNone/>
              <a:defRPr sz="1500" b="0" i="0">
                <a:solidFill>
                  <a:srgbClr val="17324A"/>
                </a:solidFill>
                <a:latin typeface="Aptos"/>
                <a:ea typeface="Aptos"/>
                <a:cs typeface="Aptos"/>
              </a:defRPr>
            </a:pPr>
            <a:r>
              <a:rPr sz="1500" b="0" i="0">
                <a:solidFill>
                  <a:srgbClr val="17324A"/>
                </a:solidFill>
                <a:latin typeface="Aptos"/>
                <a:ea typeface="Aptos"/>
                <a:cs typeface="Aptos"/>
              </a:rPr>
              <a:t>no production behavior hidden in the harness</a:t>
            </a:r>
          </a:p>
        </p:txBody>
      </p:sp>
      <p:sp>
        <p:nvSpPr>
          <p:cNvPr id="17" name="text-354">
            <a:extLst xmlns:a="http://schemas.openxmlformats.org/drawingml/2006/main">
              <a:ext uri="{FF2B5EF4-FFF2-40B4-BE49-F238E27FC236}">
                <a16:creationId xmlns:a16="http://schemas.microsoft.com/office/drawing/2014/main" id="{E56B5CB8-9A1A-4F2F-9185-17F34EE67BE8}"/>
              </a:ext>
            </a:extLst>
          </p:cNvPr>
          <p:cNvSpPr>
            <a:spLocks xmlns:a="http://schemas.openxmlformats.org/drawingml/2006/main" noGrp="1"/>
          </p:cNvSpPr>
          <p:nvPr/>
        </p:nvSpPr>
        <p:spPr>
          <a:xfrm xmlns:a="http://schemas.openxmlformats.org/drawingml/2006/main">
            <a:off x="6667500" y="4095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5D7487"/>
                </a:solidFill>
                <a:latin typeface="Aptos"/>
                <a:ea typeface="Aptos"/>
                <a:cs typeface="Aptos"/>
              </a:defRPr>
            </a:pPr>
            <a:r>
              <a:rPr sz="1275" b="1" i="0">
                <a:solidFill>
                  <a:srgbClr val="5D7487"/>
                </a:solidFill>
                <a:latin typeface="Aptos"/>
                <a:ea typeface="Aptos"/>
                <a:cs typeface="Aptos"/>
              </a:rPr>
              <a:t>WHY UNIT TEST?</a:t>
            </a:r>
          </a:p>
        </p:txBody>
      </p:sp>
      <p:sp>
        <p:nvSpPr>
          <p:cNvPr id="18" name="text-355">
            <a:extLst xmlns:a="http://schemas.openxmlformats.org/drawingml/2006/main">
              <a:ext uri="{FF2B5EF4-FFF2-40B4-BE49-F238E27FC236}">
                <a16:creationId xmlns:a16="http://schemas.microsoft.com/office/drawing/2014/main" id="{C2B68508-BCE7-4256-94AF-3662C2AA39A0}"/>
              </a:ext>
            </a:extLst>
          </p:cNvPr>
          <p:cNvSpPr>
            <a:spLocks xmlns:a="http://schemas.openxmlformats.org/drawingml/2006/main" noGrp="1"/>
          </p:cNvSpPr>
          <p:nvPr/>
        </p:nvSpPr>
        <p:spPr>
          <a:xfrm xmlns:a="http://schemas.openxmlformats.org/drawingml/2006/main">
            <a:off x="6629400" y="4476750"/>
            <a:ext cx="4762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0"/>
              </a:spcAft>
              <a:buNone/>
              <a:defRPr sz="1500" b="0" i="0">
                <a:solidFill>
                  <a:srgbClr val="17324A"/>
                </a:solidFill>
                <a:latin typeface="Aptos"/>
                <a:ea typeface="Aptos"/>
                <a:cs typeface="Aptos"/>
              </a:defRPr>
            </a:pPr>
            <a:r>
              <a:rPr sz="1500" b="0" i="0">
                <a:solidFill>
                  <a:srgbClr val="17324A"/>
                </a:solidFill>
                <a:latin typeface="Aptos"/>
                <a:ea typeface="Aptos"/>
                <a:cs typeface="Aptos"/>
              </a:rPr>
              <a:t>find errors before architecture noise</a:t>
            </a:r>
          </a:p>
          <a:p xmlns:a="http://schemas.openxmlformats.org/drawingml/2006/main">
            <a:pPr marL="24" indent="-13" algn="l">
              <a:lnSpc>
                <a:spcPct val="108000"/>
              </a:lnSpc>
              <a:spcAft>
                <a:spcPts val="10"/>
              </a:spcAft>
              <a:buNone/>
              <a:defRPr sz="1500" b="0" i="0">
                <a:solidFill>
                  <a:srgbClr val="17324A"/>
                </a:solidFill>
                <a:latin typeface="Aptos"/>
                <a:ea typeface="Aptos"/>
                <a:cs typeface="Aptos"/>
              </a:defRPr>
            </a:pPr>
            <a:r>
              <a:rPr sz="1500" b="0" i="0">
                <a:solidFill>
                  <a:srgbClr val="17324A"/>
                </a:solidFill>
                <a:latin typeface="Aptos"/>
                <a:ea typeface="Aptos"/>
                <a:cs typeface="Aptos"/>
              </a:rPr>
              <a:t>prove component requirements at boundaries</a:t>
            </a:r>
          </a:p>
          <a:p xmlns:a="http://schemas.openxmlformats.org/drawingml/2006/main">
            <a:pPr marL="24" indent="-13" algn="l">
              <a:lnSpc>
                <a:spcPct val="108000"/>
              </a:lnSpc>
              <a:spcAft>
                <a:spcPts val="10"/>
              </a:spcAft>
              <a:buNone/>
              <a:defRPr sz="1500" b="0" i="0">
                <a:solidFill>
                  <a:srgbClr val="17324A"/>
                </a:solidFill>
                <a:latin typeface="Aptos"/>
                <a:ea typeface="Aptos"/>
                <a:cs typeface="Aptos"/>
              </a:defRPr>
            </a:pPr>
            <a:r>
              <a:rPr sz="1500" b="0" i="0">
                <a:solidFill>
                  <a:srgbClr val="17324A"/>
                </a:solidFill>
                <a:latin typeface="Aptos"/>
                <a:ea typeface="Aptos"/>
                <a:cs typeface="Aptos"/>
              </a:rPr>
              <a:t>create repeatable regression evidence</a:t>
            </a:r>
          </a:p>
        </p:txBody>
      </p:sp>
    </p:spTree>
    <p:extLst>
      <p:ext uri="{BB962C8B-B14F-4D97-AF65-F5344CB8AC3E}">
        <p14:creationId xmlns:p14="http://schemas.microsoft.com/office/powerpoint/2010/main" val="1234053405"/>
      </p:ext>
    </p:extLst>
  </p:cSld>
</p:sld>
</file>

<file path=ppt/slides/slide2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355">
            <a:extLst xmlns:a="http://schemas.openxmlformats.org/drawingml/2006/main">
              <a:ext uri="{FF2B5EF4-FFF2-40B4-BE49-F238E27FC236}">
                <a16:creationId xmlns:a16="http://schemas.microsoft.com/office/drawing/2014/main" id="{DB8C1F3E-7FF8-432F-A4F0-99480ED39CD7}"/>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07 • UNIT TESTING</a:t>
            </a:r>
          </a:p>
        </p:txBody>
      </p:sp>
      <p:sp>
        <p:nvSpPr>
          <p:cNvPr id="2" name="title-355">
            <a:extLst xmlns:a="http://schemas.openxmlformats.org/drawingml/2006/main">
              <a:ext uri="{FF2B5EF4-FFF2-40B4-BE49-F238E27FC236}">
                <a16:creationId xmlns:a16="http://schemas.microsoft.com/office/drawing/2014/main" id="{974343D5-E23C-4F68-A772-6AD975F804CB}"/>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Strong tests target boundaries and failures</a:t>
            </a:r>
          </a:p>
        </p:txBody>
      </p:sp>
      <p:sp>
        <p:nvSpPr>
          <p:cNvPr id="3" name="line-356">
            <a:extLst xmlns:a="http://schemas.openxmlformats.org/drawingml/2006/main">
              <a:ext uri="{FF2B5EF4-FFF2-40B4-BE49-F238E27FC236}">
                <a16:creationId xmlns:a16="http://schemas.microsoft.com/office/drawing/2014/main" id="{6AB2B0E1-B75D-400B-B852-C133150A86D6}"/>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57">
            <a:extLst xmlns:a="http://schemas.openxmlformats.org/drawingml/2006/main">
              <a:ext uri="{FF2B5EF4-FFF2-40B4-BE49-F238E27FC236}">
                <a16:creationId xmlns:a16="http://schemas.microsoft.com/office/drawing/2014/main" id="{72CA5A8E-704A-448D-B2F2-E2F5A146D05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358">
            <a:extLst xmlns:a="http://schemas.openxmlformats.org/drawingml/2006/main">
              <a:ext uri="{FF2B5EF4-FFF2-40B4-BE49-F238E27FC236}">
                <a16:creationId xmlns:a16="http://schemas.microsoft.com/office/drawing/2014/main" id="{83C1283D-B5EA-4795-8AAB-22B72A0A0DF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23</a:t>
            </a:r>
          </a:p>
        </p:txBody>
      </p:sp>
      <p:sp>
        <p:nvSpPr>
          <p:cNvPr id="6" name="text-359">
            <a:extLst xmlns:a="http://schemas.openxmlformats.org/drawingml/2006/main">
              <a:ext uri="{FF2B5EF4-FFF2-40B4-BE49-F238E27FC236}">
                <a16:creationId xmlns:a16="http://schemas.microsoft.com/office/drawing/2014/main" id="{F5C97437-57C1-447F-A551-06101A8D2713}"/>
              </a:ext>
            </a:extLst>
          </p:cNvPr>
          <p:cNvSpPr>
            <a:spLocks xmlns:a="http://schemas.openxmlformats.org/drawingml/2006/main" noGrp="1"/>
          </p:cNvSpPr>
          <p:nvPr/>
        </p:nvSpPr>
        <p:spPr>
          <a:xfrm xmlns:a="http://schemas.openxmlformats.org/drawingml/2006/main">
            <a:off x="742950" y="148590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TEST CLASS</a:t>
            </a:r>
          </a:p>
        </p:txBody>
      </p:sp>
      <p:sp>
        <p:nvSpPr>
          <p:cNvPr id="7" name="text-360">
            <a:extLst xmlns:a="http://schemas.openxmlformats.org/drawingml/2006/main">
              <a:ext uri="{FF2B5EF4-FFF2-40B4-BE49-F238E27FC236}">
                <a16:creationId xmlns:a16="http://schemas.microsoft.com/office/drawing/2014/main" id="{F03822A9-7F78-4C4A-86F8-2FE972663EB9}"/>
              </a:ext>
            </a:extLst>
          </p:cNvPr>
          <p:cNvSpPr>
            <a:spLocks xmlns:a="http://schemas.openxmlformats.org/drawingml/2006/main" noGrp="1"/>
          </p:cNvSpPr>
          <p:nvPr/>
        </p:nvSpPr>
        <p:spPr>
          <a:xfrm xmlns:a="http://schemas.openxmlformats.org/drawingml/2006/main">
            <a:off x="3238500" y="14859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PITCH-RATE-LIMITER EXAMPLE</a:t>
            </a:r>
          </a:p>
        </p:txBody>
      </p:sp>
      <p:sp>
        <p:nvSpPr>
          <p:cNvPr id="8" name="text-361">
            <a:extLst xmlns:a="http://schemas.openxmlformats.org/drawingml/2006/main">
              <a:ext uri="{FF2B5EF4-FFF2-40B4-BE49-F238E27FC236}">
                <a16:creationId xmlns:a16="http://schemas.microsoft.com/office/drawing/2014/main" id="{A21A986A-CE2F-4BC0-86DA-B22605B5C06F}"/>
              </a:ext>
            </a:extLst>
          </p:cNvPr>
          <p:cNvSpPr>
            <a:spLocks xmlns:a="http://schemas.openxmlformats.org/drawingml/2006/main" noGrp="1"/>
          </p:cNvSpPr>
          <p:nvPr/>
        </p:nvSpPr>
        <p:spPr>
          <a:xfrm xmlns:a="http://schemas.openxmlformats.org/drawingml/2006/main">
            <a:off x="8572500" y="14859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WHAT IT PROVES</a:t>
            </a:r>
          </a:p>
        </p:txBody>
      </p:sp>
      <p:sp>
        <p:nvSpPr>
          <p:cNvPr id="9" name="box-362">
            <a:extLst xmlns:a="http://schemas.openxmlformats.org/drawingml/2006/main">
              <a:ext uri="{FF2B5EF4-FFF2-40B4-BE49-F238E27FC236}">
                <a16:creationId xmlns:a16="http://schemas.microsoft.com/office/drawing/2014/main" id="{32FEF9A1-25E1-42F6-A659-3A9226E08991}"/>
              </a:ext>
            </a:extLst>
          </p:cNvPr>
          <p:cNvSpPr>
            <a:spLocks xmlns:a="http://schemas.openxmlformats.org/drawingml/2006/main" noGrp="1"/>
          </p:cNvSpPr>
          <p:nvPr/>
        </p:nvSpPr>
        <p:spPr>
          <a:xfrm xmlns:a="http://schemas.openxmlformats.org/drawingml/2006/main">
            <a:off x="742950" y="1885950"/>
            <a:ext cx="1809750" cy="533400"/>
          </a:xfrm>
          <a:prstGeom xmlns:a="http://schemas.openxmlformats.org/drawingml/2006/main" prst="roundRect">
            <a:avLst>
              <a:gd name="adj" fmla="val 12500"/>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Nominal</a:t>
            </a:r>
          </a:p>
        </p:txBody>
      </p:sp>
      <p:sp>
        <p:nvSpPr>
          <p:cNvPr id="10" name="text-363">
            <a:extLst xmlns:a="http://schemas.openxmlformats.org/drawingml/2006/main">
              <a:ext uri="{FF2B5EF4-FFF2-40B4-BE49-F238E27FC236}">
                <a16:creationId xmlns:a16="http://schemas.microsoft.com/office/drawing/2014/main" id="{05803DF9-E0D2-433B-8BBB-6D7AEF4EF235}"/>
              </a:ext>
            </a:extLst>
          </p:cNvPr>
          <p:cNvSpPr>
            <a:spLocks xmlns:a="http://schemas.openxmlformats.org/drawingml/2006/main" noGrp="1"/>
          </p:cNvSpPr>
          <p:nvPr/>
        </p:nvSpPr>
        <p:spPr>
          <a:xfrm xmlns:a="http://schemas.openxmlformats.org/drawingml/2006/main">
            <a:off x="3238500" y="1885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q_cmd = +5.0 → +5.0 deg/s</a:t>
            </a:r>
          </a:p>
        </p:txBody>
      </p:sp>
      <p:sp>
        <p:nvSpPr>
          <p:cNvPr id="11" name="text-364">
            <a:extLst xmlns:a="http://schemas.openxmlformats.org/drawingml/2006/main">
              <a:ext uri="{FF2B5EF4-FFF2-40B4-BE49-F238E27FC236}">
                <a16:creationId xmlns:a16="http://schemas.microsoft.com/office/drawing/2014/main" id="{7E05D41F-7B19-405E-B94A-FFB20BFE4F80}"/>
              </a:ext>
            </a:extLst>
          </p:cNvPr>
          <p:cNvSpPr>
            <a:spLocks xmlns:a="http://schemas.openxmlformats.org/drawingml/2006/main" noGrp="1"/>
          </p:cNvSpPr>
          <p:nvPr/>
        </p:nvSpPr>
        <p:spPr>
          <a:xfrm xmlns:a="http://schemas.openxmlformats.org/drawingml/2006/main">
            <a:off x="8572500" y="1885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no unnecessary modification</a:t>
            </a:r>
          </a:p>
        </p:txBody>
      </p:sp>
      <p:sp>
        <p:nvSpPr>
          <p:cNvPr id="12" name="line-365">
            <a:extLst xmlns:a="http://schemas.openxmlformats.org/drawingml/2006/main">
              <a:ext uri="{FF2B5EF4-FFF2-40B4-BE49-F238E27FC236}">
                <a16:creationId xmlns:a16="http://schemas.microsoft.com/office/drawing/2014/main" id="{F9BAF144-06CD-461E-8918-904E75CF9F21}"/>
              </a:ext>
            </a:extLst>
          </p:cNvPr>
          <p:cNvSpPr>
            <a:spLocks xmlns:a="http://schemas.openxmlformats.org/drawingml/2006/main" noGrp="1"/>
          </p:cNvSpPr>
          <p:nvPr/>
        </p:nvSpPr>
        <p:spPr>
          <a:xfrm xmlns:a="http://schemas.openxmlformats.org/drawingml/2006/main">
            <a:off x="685800" y="2514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3" name="box-366">
            <a:extLst xmlns:a="http://schemas.openxmlformats.org/drawingml/2006/main">
              <a:ext uri="{FF2B5EF4-FFF2-40B4-BE49-F238E27FC236}">
                <a16:creationId xmlns:a16="http://schemas.microsoft.com/office/drawing/2014/main" id="{26065905-5C87-400A-A25C-D42F573BF575}"/>
              </a:ext>
            </a:extLst>
          </p:cNvPr>
          <p:cNvSpPr>
            <a:spLocks xmlns:a="http://schemas.openxmlformats.org/drawingml/2006/main" noGrp="1"/>
          </p:cNvSpPr>
          <p:nvPr/>
        </p:nvSpPr>
        <p:spPr>
          <a:xfrm xmlns:a="http://schemas.openxmlformats.org/drawingml/2006/main">
            <a:off x="742950" y="2647950"/>
            <a:ext cx="1809750" cy="533400"/>
          </a:xfrm>
          <a:prstGeom xmlns:a="http://schemas.openxmlformats.org/drawingml/2006/main" prst="roundRect">
            <a:avLst>
              <a:gd name="adj" fmla="val 12500"/>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Boundary</a:t>
            </a:r>
          </a:p>
        </p:txBody>
      </p:sp>
      <p:sp>
        <p:nvSpPr>
          <p:cNvPr id="14" name="text-367">
            <a:extLst xmlns:a="http://schemas.openxmlformats.org/drawingml/2006/main">
              <a:ext uri="{FF2B5EF4-FFF2-40B4-BE49-F238E27FC236}">
                <a16:creationId xmlns:a16="http://schemas.microsoft.com/office/drawing/2014/main" id="{1773B375-37A0-49EB-BB0B-DBD52B61D849}"/>
              </a:ext>
            </a:extLst>
          </p:cNvPr>
          <p:cNvSpPr>
            <a:spLocks xmlns:a="http://schemas.openxmlformats.org/drawingml/2006/main" noGrp="1"/>
          </p:cNvSpPr>
          <p:nvPr/>
        </p:nvSpPr>
        <p:spPr>
          <a:xfrm xmlns:a="http://schemas.openxmlformats.org/drawingml/2006/main">
            <a:off x="3238500" y="2647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−12.0 and +12.0 → unchanged</a:t>
            </a:r>
          </a:p>
        </p:txBody>
      </p:sp>
      <p:sp>
        <p:nvSpPr>
          <p:cNvPr id="15" name="text-368">
            <a:extLst xmlns:a="http://schemas.openxmlformats.org/drawingml/2006/main">
              <a:ext uri="{FF2B5EF4-FFF2-40B4-BE49-F238E27FC236}">
                <a16:creationId xmlns:a16="http://schemas.microsoft.com/office/drawing/2014/main" id="{3E114649-18FE-4B05-9F7A-8D1B3FCDE5F3}"/>
              </a:ext>
            </a:extLst>
          </p:cNvPr>
          <p:cNvSpPr>
            <a:spLocks xmlns:a="http://schemas.openxmlformats.org/drawingml/2006/main" noGrp="1"/>
          </p:cNvSpPr>
          <p:nvPr/>
        </p:nvSpPr>
        <p:spPr>
          <a:xfrm xmlns:a="http://schemas.openxmlformats.org/drawingml/2006/main">
            <a:off x="8572500" y="2647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inclusive limits</a:t>
            </a:r>
          </a:p>
        </p:txBody>
      </p:sp>
      <p:sp>
        <p:nvSpPr>
          <p:cNvPr id="16" name="line-369">
            <a:extLst xmlns:a="http://schemas.openxmlformats.org/drawingml/2006/main">
              <a:ext uri="{FF2B5EF4-FFF2-40B4-BE49-F238E27FC236}">
                <a16:creationId xmlns:a16="http://schemas.microsoft.com/office/drawing/2014/main" id="{61B573A7-07B1-4B3C-8412-C8EF11D88B7E}"/>
              </a:ext>
            </a:extLst>
          </p:cNvPr>
          <p:cNvSpPr>
            <a:spLocks xmlns:a="http://schemas.openxmlformats.org/drawingml/2006/main" noGrp="1"/>
          </p:cNvSpPr>
          <p:nvPr/>
        </p:nvSpPr>
        <p:spPr>
          <a:xfrm xmlns:a="http://schemas.openxmlformats.org/drawingml/2006/main">
            <a:off x="685800" y="3276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7" name="box-370">
            <a:extLst xmlns:a="http://schemas.openxmlformats.org/drawingml/2006/main">
              <a:ext uri="{FF2B5EF4-FFF2-40B4-BE49-F238E27FC236}">
                <a16:creationId xmlns:a16="http://schemas.microsoft.com/office/drawing/2014/main" id="{6782CBEC-E726-4D2D-931D-2CAC15E3EBDB}"/>
              </a:ext>
            </a:extLst>
          </p:cNvPr>
          <p:cNvSpPr>
            <a:spLocks xmlns:a="http://schemas.openxmlformats.org/drawingml/2006/main" noGrp="1"/>
          </p:cNvSpPr>
          <p:nvPr/>
        </p:nvSpPr>
        <p:spPr>
          <a:xfrm xmlns:a="http://schemas.openxmlformats.org/drawingml/2006/main">
            <a:off x="742950" y="3409950"/>
            <a:ext cx="1809750" cy="533400"/>
          </a:xfrm>
          <a:prstGeom xmlns:a="http://schemas.openxmlformats.org/drawingml/2006/main" prst="roundRect">
            <a:avLst>
              <a:gd name="adj" fmla="val 12500"/>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Just outside</a:t>
            </a:r>
          </a:p>
        </p:txBody>
      </p:sp>
      <p:sp>
        <p:nvSpPr>
          <p:cNvPr id="18" name="text-371">
            <a:extLst xmlns:a="http://schemas.openxmlformats.org/drawingml/2006/main">
              <a:ext uri="{FF2B5EF4-FFF2-40B4-BE49-F238E27FC236}">
                <a16:creationId xmlns:a16="http://schemas.microsoft.com/office/drawing/2014/main" id="{4EE8A224-85E6-4B27-B67C-51A385EBF459}"/>
              </a:ext>
            </a:extLst>
          </p:cNvPr>
          <p:cNvSpPr>
            <a:spLocks xmlns:a="http://schemas.openxmlformats.org/drawingml/2006/main" noGrp="1"/>
          </p:cNvSpPr>
          <p:nvPr/>
        </p:nvSpPr>
        <p:spPr>
          <a:xfrm xmlns:a="http://schemas.openxmlformats.org/drawingml/2006/main">
            <a:off x="3238500" y="3409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−12.1 → −12.0; +12.1 → +12.0</a:t>
            </a:r>
          </a:p>
        </p:txBody>
      </p:sp>
      <p:sp>
        <p:nvSpPr>
          <p:cNvPr id="19" name="text-372">
            <a:extLst xmlns:a="http://schemas.openxmlformats.org/drawingml/2006/main">
              <a:ext uri="{FF2B5EF4-FFF2-40B4-BE49-F238E27FC236}">
                <a16:creationId xmlns:a16="http://schemas.microsoft.com/office/drawing/2014/main" id="{87EC0183-EA91-40B1-8269-476A500EEB87}"/>
              </a:ext>
            </a:extLst>
          </p:cNvPr>
          <p:cNvSpPr>
            <a:spLocks xmlns:a="http://schemas.openxmlformats.org/drawingml/2006/main" noGrp="1"/>
          </p:cNvSpPr>
          <p:nvPr/>
        </p:nvSpPr>
        <p:spPr>
          <a:xfrm xmlns:a="http://schemas.openxmlformats.org/drawingml/2006/main">
            <a:off x="8572500" y="3409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correct clamping</a:t>
            </a:r>
          </a:p>
        </p:txBody>
      </p:sp>
      <p:sp>
        <p:nvSpPr>
          <p:cNvPr id="20" name="line-373">
            <a:extLst xmlns:a="http://schemas.openxmlformats.org/drawingml/2006/main">
              <a:ext uri="{FF2B5EF4-FFF2-40B4-BE49-F238E27FC236}">
                <a16:creationId xmlns:a16="http://schemas.microsoft.com/office/drawing/2014/main" id="{C7F237EE-443F-4605-AED9-74823232B23A}"/>
              </a:ext>
            </a:extLst>
          </p:cNvPr>
          <p:cNvSpPr>
            <a:spLocks xmlns:a="http://schemas.openxmlformats.org/drawingml/2006/main" noGrp="1"/>
          </p:cNvSpPr>
          <p:nvPr/>
        </p:nvSpPr>
        <p:spPr>
          <a:xfrm xmlns:a="http://schemas.openxmlformats.org/drawingml/2006/main">
            <a:off x="685800" y="4038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1" name="box-374">
            <a:extLst xmlns:a="http://schemas.openxmlformats.org/drawingml/2006/main">
              <a:ext uri="{FF2B5EF4-FFF2-40B4-BE49-F238E27FC236}">
                <a16:creationId xmlns:a16="http://schemas.microsoft.com/office/drawing/2014/main" id="{7F0353DD-18E6-4F86-B554-0ADF2ADAD0EC}"/>
              </a:ext>
            </a:extLst>
          </p:cNvPr>
          <p:cNvSpPr>
            <a:spLocks xmlns:a="http://schemas.openxmlformats.org/drawingml/2006/main" noGrp="1"/>
          </p:cNvSpPr>
          <p:nvPr/>
        </p:nvSpPr>
        <p:spPr>
          <a:xfrm xmlns:a="http://schemas.openxmlformats.org/drawingml/2006/main">
            <a:off x="742950" y="4171950"/>
            <a:ext cx="1809750" cy="533400"/>
          </a:xfrm>
          <a:prstGeom xmlns:a="http://schemas.openxmlformats.org/drawingml/2006/main" prst="roundRect">
            <a:avLst>
              <a:gd name="adj" fmla="val 12500"/>
            </a:avLst>
          </a:prstGeom>
          <a:solidFill xmlns:a="http://schemas.openxmlformats.org/drawingml/2006/main">
            <a:srgbClr val="D75A64"/>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Mode / invalid</a:t>
            </a:r>
          </a:p>
        </p:txBody>
      </p:sp>
      <p:sp>
        <p:nvSpPr>
          <p:cNvPr id="22" name="text-375">
            <a:extLst xmlns:a="http://schemas.openxmlformats.org/drawingml/2006/main">
              <a:ext uri="{FF2B5EF4-FFF2-40B4-BE49-F238E27FC236}">
                <a16:creationId xmlns:a16="http://schemas.microsoft.com/office/drawing/2014/main" id="{194C0AF4-8A70-4CCC-ABFB-928E6AFD80EE}"/>
              </a:ext>
            </a:extLst>
          </p:cNvPr>
          <p:cNvSpPr>
            <a:spLocks xmlns:a="http://schemas.openxmlformats.org/drawingml/2006/main" noGrp="1"/>
          </p:cNvSpPr>
          <p:nvPr/>
        </p:nvSpPr>
        <p:spPr>
          <a:xfrm xmlns:a="http://schemas.openxmlformats.org/drawingml/2006/main">
            <a:off x="3238500" y="4171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Normal false or input invalid → specified fallback</a:t>
            </a:r>
          </a:p>
        </p:txBody>
      </p:sp>
      <p:sp>
        <p:nvSpPr>
          <p:cNvPr id="23" name="text-376">
            <a:extLst xmlns:a="http://schemas.openxmlformats.org/drawingml/2006/main">
              <a:ext uri="{FF2B5EF4-FFF2-40B4-BE49-F238E27FC236}">
                <a16:creationId xmlns:a16="http://schemas.microsoft.com/office/drawing/2014/main" id="{7904C25D-65A9-47EE-ADF8-637D0E75B0AB}"/>
              </a:ext>
            </a:extLst>
          </p:cNvPr>
          <p:cNvSpPr>
            <a:spLocks xmlns:a="http://schemas.openxmlformats.org/drawingml/2006/main" noGrp="1"/>
          </p:cNvSpPr>
          <p:nvPr/>
        </p:nvSpPr>
        <p:spPr>
          <a:xfrm xmlns:a="http://schemas.openxmlformats.org/drawingml/2006/main">
            <a:off x="8572500" y="4171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guard and degraded behavior</a:t>
            </a:r>
          </a:p>
        </p:txBody>
      </p:sp>
      <p:sp>
        <p:nvSpPr>
          <p:cNvPr id="24" name="line-377">
            <a:extLst xmlns:a="http://schemas.openxmlformats.org/drawingml/2006/main">
              <a:ext uri="{FF2B5EF4-FFF2-40B4-BE49-F238E27FC236}">
                <a16:creationId xmlns:a16="http://schemas.microsoft.com/office/drawing/2014/main" id="{30247D1C-45CC-40EF-8010-EA3AD51CECDA}"/>
              </a:ext>
            </a:extLst>
          </p:cNvPr>
          <p:cNvSpPr>
            <a:spLocks xmlns:a="http://schemas.openxmlformats.org/drawingml/2006/main" noGrp="1"/>
          </p:cNvSpPr>
          <p:nvPr/>
        </p:nvSpPr>
        <p:spPr>
          <a:xfrm xmlns:a="http://schemas.openxmlformats.org/drawingml/2006/main">
            <a:off x="685800" y="4800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5" name="box-378">
            <a:extLst xmlns:a="http://schemas.openxmlformats.org/drawingml/2006/main">
              <a:ext uri="{FF2B5EF4-FFF2-40B4-BE49-F238E27FC236}">
                <a16:creationId xmlns:a16="http://schemas.microsoft.com/office/drawing/2014/main" id="{CE099581-F51A-45BF-B951-23CA5940A1CF}"/>
              </a:ext>
            </a:extLst>
          </p:cNvPr>
          <p:cNvSpPr>
            <a:spLocks xmlns:a="http://schemas.openxmlformats.org/drawingml/2006/main" noGrp="1"/>
          </p:cNvSpPr>
          <p:nvPr/>
        </p:nvSpPr>
        <p:spPr>
          <a:xfrm xmlns:a="http://schemas.openxmlformats.org/drawingml/2006/main">
            <a:off x="742950" y="4933950"/>
            <a:ext cx="1809750" cy="533400"/>
          </a:xfrm>
          <a:prstGeom xmlns:a="http://schemas.openxmlformats.org/drawingml/2006/main" prst="roundRect">
            <a:avLst>
              <a:gd name="adj" fmla="val 12500"/>
            </a:avLst>
          </a:prstGeom>
          <a:solidFill xmlns:a="http://schemas.openxmlformats.org/drawingml/2006/main">
            <a:srgbClr val="2CA56F"/>
          </a:solidFill>
          <a:ln xmlns:a="http://schemas.openxmlformats.org/drawingml/2006/main" w="9525">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Timing</a:t>
            </a:r>
          </a:p>
        </p:txBody>
      </p:sp>
      <p:sp>
        <p:nvSpPr>
          <p:cNvPr id="26" name="text-379">
            <a:extLst xmlns:a="http://schemas.openxmlformats.org/drawingml/2006/main">
              <a:ext uri="{FF2B5EF4-FFF2-40B4-BE49-F238E27FC236}">
                <a16:creationId xmlns:a16="http://schemas.microsoft.com/office/drawing/2014/main" id="{D3D34DDF-F0B0-4375-9013-AB497AEB4135}"/>
              </a:ext>
            </a:extLst>
          </p:cNvPr>
          <p:cNvSpPr>
            <a:spLocks xmlns:a="http://schemas.openxmlformats.org/drawingml/2006/main" noGrp="1"/>
          </p:cNvSpPr>
          <p:nvPr/>
        </p:nvSpPr>
        <p:spPr>
          <a:xfrm xmlns:a="http://schemas.openxmlformats.org/drawingml/2006/main">
            <a:off x="3238500" y="4933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step and transient inputs at 50 Hz</a:t>
            </a:r>
          </a:p>
        </p:txBody>
      </p:sp>
      <p:sp>
        <p:nvSpPr>
          <p:cNvPr id="27" name="text-380">
            <a:extLst xmlns:a="http://schemas.openxmlformats.org/drawingml/2006/main">
              <a:ext uri="{FF2B5EF4-FFF2-40B4-BE49-F238E27FC236}">
                <a16:creationId xmlns:a16="http://schemas.microsoft.com/office/drawing/2014/main" id="{4DDAEE01-8584-4E0E-B003-556B2107E94B}"/>
              </a:ext>
            </a:extLst>
          </p:cNvPr>
          <p:cNvSpPr>
            <a:spLocks xmlns:a="http://schemas.openxmlformats.org/drawingml/2006/main" noGrp="1"/>
          </p:cNvSpPr>
          <p:nvPr/>
        </p:nvSpPr>
        <p:spPr>
          <a:xfrm xmlns:a="http://schemas.openxmlformats.org/drawingml/2006/main">
            <a:off x="8572500" y="4933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same-frame response / no overrun</a:t>
            </a:r>
          </a:p>
        </p:txBody>
      </p:sp>
      <p:sp>
        <p:nvSpPr>
          <p:cNvPr id="28" name="line-381">
            <a:extLst xmlns:a="http://schemas.openxmlformats.org/drawingml/2006/main">
              <a:ext uri="{FF2B5EF4-FFF2-40B4-BE49-F238E27FC236}">
                <a16:creationId xmlns:a16="http://schemas.microsoft.com/office/drawing/2014/main" id="{F5083E1B-CAE1-4E8B-B645-E4445DAA0F57}"/>
              </a:ext>
            </a:extLst>
          </p:cNvPr>
          <p:cNvSpPr>
            <a:spLocks xmlns:a="http://schemas.openxmlformats.org/drawingml/2006/main" noGrp="1"/>
          </p:cNvSpPr>
          <p:nvPr/>
        </p:nvSpPr>
        <p:spPr>
          <a:xfrm xmlns:a="http://schemas.openxmlformats.org/drawingml/2006/main">
            <a:off x="685800" y="5562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9" name="text-382">
            <a:extLst xmlns:a="http://schemas.openxmlformats.org/drawingml/2006/main">
              <a:ext uri="{FF2B5EF4-FFF2-40B4-BE49-F238E27FC236}">
                <a16:creationId xmlns:a16="http://schemas.microsoft.com/office/drawing/2014/main" id="{D33AFB95-F512-4924-B361-67C804081D3E}"/>
              </a:ext>
            </a:extLst>
          </p:cNvPr>
          <p:cNvSpPr>
            <a:spLocks xmlns:a="http://schemas.openxmlformats.org/drawingml/2006/main" noGrp="1"/>
          </p:cNvSpPr>
          <p:nvPr/>
        </p:nvSpPr>
        <p:spPr>
          <a:xfrm xmlns:a="http://schemas.openxmlformats.org/drawingml/2006/main">
            <a:off x="1028700" y="5829300"/>
            <a:ext cx="1013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650" b="1" i="0">
                <a:solidFill>
                  <a:srgbClr val="20B7C5"/>
                </a:solidFill>
                <a:latin typeface="Aptos"/>
                <a:ea typeface="Aptos"/>
                <a:cs typeface="Aptos"/>
              </a:defRPr>
            </a:pPr>
            <a:r>
              <a:rPr sz="1650" b="1" i="0">
                <a:solidFill>
                  <a:srgbClr val="20B7C5"/>
                </a:solidFill>
                <a:latin typeface="Aptos"/>
                <a:ea typeface="Aptos"/>
                <a:cs typeface="Aptos"/>
              </a:rPr>
              <a:t>Add combinations when requirements interact: mode × validity × boundary × schedule breakpoint.</a:t>
            </a:r>
          </a:p>
        </p:txBody>
      </p:sp>
    </p:spTree>
    <p:extLst>
      <p:ext uri="{BB962C8B-B14F-4D97-AF65-F5344CB8AC3E}">
        <p14:creationId xmlns:p14="http://schemas.microsoft.com/office/powerpoint/2010/main" val="415732081"/>
      </p:ext>
    </p:extLst>
  </p:cSld>
</p:sld>
</file>

<file path=ppt/slides/slide24.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6" name="section-382">
            <a:extLst xmlns:a="http://schemas.openxmlformats.org/drawingml/2006/main">
              <a:ext uri="{FF2B5EF4-FFF2-40B4-BE49-F238E27FC236}">
                <a16:creationId xmlns:a16="http://schemas.microsoft.com/office/drawing/2014/main" id="{F5CFB3FD-395D-4683-A0A2-E7AA3BDF80F8}"/>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08 • MLDATX TEST FILES</a:t>
            </a:r>
          </a:p>
        </p:txBody>
      </p:sp>
      <p:sp>
        <p:nvSpPr>
          <p:cNvPr id="2" name="title-382">
            <a:extLst xmlns:a="http://schemas.openxmlformats.org/drawingml/2006/main">
              <a:ext uri="{FF2B5EF4-FFF2-40B4-BE49-F238E27FC236}">
                <a16:creationId xmlns:a16="http://schemas.microsoft.com/office/drawing/2014/main" id="{CCEECEC1-20A0-4FD4-91E9-400EB3AA3589}"/>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.mldatx organizes test intent and evidence</a:t>
            </a:r>
          </a:p>
        </p:txBody>
      </p:sp>
      <p:sp>
        <p:nvSpPr>
          <p:cNvPr id="3" name="line-383">
            <a:extLst xmlns:a="http://schemas.openxmlformats.org/drawingml/2006/main">
              <a:ext uri="{FF2B5EF4-FFF2-40B4-BE49-F238E27FC236}">
                <a16:creationId xmlns:a16="http://schemas.microsoft.com/office/drawing/2014/main" id="{49D78A63-8DF4-498E-B062-3624D15A287D}"/>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384">
            <a:extLst xmlns:a="http://schemas.openxmlformats.org/drawingml/2006/main">
              <a:ext uri="{FF2B5EF4-FFF2-40B4-BE49-F238E27FC236}">
                <a16:creationId xmlns:a16="http://schemas.microsoft.com/office/drawing/2014/main" id="{731DCEC0-6610-4E3D-B137-3BFE13CFEC61}"/>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385">
            <a:extLst xmlns:a="http://schemas.openxmlformats.org/drawingml/2006/main">
              <a:ext uri="{FF2B5EF4-FFF2-40B4-BE49-F238E27FC236}">
                <a16:creationId xmlns:a16="http://schemas.microsoft.com/office/drawing/2014/main" id="{F0DBCDF6-67ED-4B1D-85BD-D6B3DFC5945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24</a:t>
            </a:r>
          </a:p>
        </p:txBody>
      </p:sp>
      <p:sp>
        <p:nvSpPr>
          <p:cNvPr id="6" name="text-386">
            <a:extLst xmlns:a="http://schemas.openxmlformats.org/drawingml/2006/main">
              <a:ext uri="{FF2B5EF4-FFF2-40B4-BE49-F238E27FC236}">
                <a16:creationId xmlns:a16="http://schemas.microsoft.com/office/drawing/2014/main" id="{0F0B21B2-882D-4C41-972C-CD4DEC3D4D39}"/>
              </a:ext>
            </a:extLst>
          </p:cNvPr>
          <p:cNvSpPr>
            <a:spLocks xmlns:a="http://schemas.openxmlformats.org/drawingml/2006/main" noGrp="1"/>
          </p:cNvSpPr>
          <p:nvPr/>
        </p:nvSpPr>
        <p:spPr>
          <a:xfrm xmlns:a="http://schemas.openxmlformats.org/drawingml/2006/main">
            <a:off x="762000" y="15240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275" b="1" i="0">
                <a:solidFill>
                  <a:srgbClr val="70DCE5"/>
                </a:solidFill>
                <a:latin typeface="Aptos"/>
                <a:ea typeface="Aptos"/>
                <a:cs typeface="Aptos"/>
              </a:defRPr>
            </a:pPr>
            <a:r>
              <a:rPr sz="1275" b="1" i="0">
                <a:solidFill>
                  <a:srgbClr val="70DCE5"/>
                </a:solidFill>
                <a:latin typeface="Aptos"/>
                <a:ea typeface="Aptos"/>
                <a:cs typeface="Aptos"/>
              </a:rPr>
              <a:t>TEST DEFINITION HIERARCHY</a:t>
            </a:r>
          </a:p>
        </p:txBody>
      </p:sp>
      <p:sp>
        <p:nvSpPr>
          <p:cNvPr id="7" name="box-387">
            <a:extLst xmlns:a="http://schemas.openxmlformats.org/drawingml/2006/main">
              <a:ext uri="{FF2B5EF4-FFF2-40B4-BE49-F238E27FC236}">
                <a16:creationId xmlns:a16="http://schemas.microsoft.com/office/drawing/2014/main" id="{7F7D7CF9-A9A7-481C-ACB8-FD77348E90FF}"/>
              </a:ext>
            </a:extLst>
          </p:cNvPr>
          <p:cNvSpPr>
            <a:spLocks xmlns:a="http://schemas.openxmlformats.org/drawingml/2006/main" noGrp="1"/>
          </p:cNvSpPr>
          <p:nvPr/>
        </p:nvSpPr>
        <p:spPr>
          <a:xfrm xmlns:a="http://schemas.openxmlformats.org/drawingml/2006/main">
            <a:off x="857250" y="2095500"/>
            <a:ext cx="4572000" cy="590550"/>
          </a:xfrm>
          <a:prstGeom xmlns:a="http://schemas.openxmlformats.org/drawingml/2006/main" prst="roundRect">
            <a:avLst>
              <a:gd name="adj" fmla="val 16129"/>
            </a:avLst>
          </a:prstGeom>
          <a:solidFill xmlns:a="http://schemas.openxmlformats.org/drawingml/2006/main">
            <a:srgbClr val="0B2438"/>
          </a:solidFill>
          <a:ln xmlns:a="http://schemas.openxmlformats.org/drawingml/2006/main" w="9525">
            <a:solidFill>
              <a:srgbClr val="2D6CDF"/>
            </a:solidFill>
            <a:prstDash val="solid"/>
          </a:ln>
        </p:spPr>
        <p:txBody>
          <a:bodyPr xmlns:a="http://schemas.openxmlformats.org/drawingml/2006/main" lIns="171450" tIns="47625" rIns="95250" bIns="47625" anchor="ctr">
            <a:noAutofit/>
          </a:bodyPr>
          <a:lstStyle xmlns:a="http://schemas.openxmlformats.org/drawingml/2006/main"/>
          <a:p xmlns:a="http://schemas.openxmlformats.org/drawingml/2006/main">
            <a:pPr algn="l">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Test File  PitchRateLimiter.mldatx</a:t>
            </a:r>
          </a:p>
        </p:txBody>
      </p:sp>
      <p:sp>
        <p:nvSpPr>
          <p:cNvPr id="8" name="box-388">
            <a:extLst xmlns:a="http://schemas.openxmlformats.org/drawingml/2006/main">
              <a:ext uri="{FF2B5EF4-FFF2-40B4-BE49-F238E27FC236}">
                <a16:creationId xmlns:a16="http://schemas.microsoft.com/office/drawing/2014/main" id="{7D02D570-DDF4-4650-AB0E-2A182BF0578E}"/>
              </a:ext>
            </a:extLst>
          </p:cNvPr>
          <p:cNvSpPr>
            <a:spLocks xmlns:a="http://schemas.openxmlformats.org/drawingml/2006/main" noGrp="1"/>
          </p:cNvSpPr>
          <p:nvPr/>
        </p:nvSpPr>
        <p:spPr>
          <a:xfrm xmlns:a="http://schemas.openxmlformats.org/drawingml/2006/main">
            <a:off x="1238250" y="2990850"/>
            <a:ext cx="3810000" cy="552450"/>
          </a:xfrm>
          <a:prstGeom xmlns:a="http://schemas.openxmlformats.org/drawingml/2006/main" prst="roundRect">
            <a:avLst>
              <a:gd name="adj" fmla="val 17241"/>
            </a:avLst>
          </a:prstGeom>
          <a:solidFill xmlns:a="http://schemas.openxmlformats.org/drawingml/2006/main">
            <a:srgbClr val="0B2438"/>
          </a:solidFill>
          <a:ln xmlns:a="http://schemas.openxmlformats.org/drawingml/2006/main" w="9525">
            <a:solidFill>
              <a:srgbClr val="20B7C5"/>
            </a:solidFill>
            <a:prstDash val="solid"/>
          </a:ln>
        </p:spPr>
        <p:txBody>
          <a:bodyPr xmlns:a="http://schemas.openxmlformats.org/drawingml/2006/main" lIns="171450" tIns="47625" rIns="95250" bIns="47625" anchor="ctr">
            <a:noAutofit/>
          </a:bodyPr>
          <a:lstStyle xmlns:a="http://schemas.openxmlformats.org/drawingml/2006/main"/>
          <a:p xmlns:a="http://schemas.openxmlformats.org/drawingml/2006/main">
            <a:pPr algn="l">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Test Suite  PRL_Requirements</a:t>
            </a:r>
          </a:p>
        </p:txBody>
      </p:sp>
      <p:sp>
        <p:nvSpPr>
          <p:cNvPr id="9" name="box-389">
            <a:extLst xmlns:a="http://schemas.openxmlformats.org/drawingml/2006/main">
              <a:ext uri="{FF2B5EF4-FFF2-40B4-BE49-F238E27FC236}">
                <a16:creationId xmlns:a16="http://schemas.microsoft.com/office/drawing/2014/main" id="{43023A23-A5C7-416F-A51A-D837B4B2E67D}"/>
              </a:ext>
            </a:extLst>
          </p:cNvPr>
          <p:cNvSpPr>
            <a:spLocks xmlns:a="http://schemas.openxmlformats.org/drawingml/2006/main" noGrp="1"/>
          </p:cNvSpPr>
          <p:nvPr/>
        </p:nvSpPr>
        <p:spPr>
          <a:xfrm xmlns:a="http://schemas.openxmlformats.org/drawingml/2006/main">
            <a:off x="1619250" y="3848100"/>
            <a:ext cx="3048000" cy="552450"/>
          </a:xfrm>
          <a:prstGeom xmlns:a="http://schemas.openxmlformats.org/drawingml/2006/main" prst="roundRect">
            <a:avLst>
              <a:gd name="adj" fmla="val 17241"/>
            </a:avLst>
          </a:prstGeom>
          <a:solidFill xmlns:a="http://schemas.openxmlformats.org/drawingml/2006/main">
            <a:srgbClr val="0B2438"/>
          </a:solidFill>
          <a:ln xmlns:a="http://schemas.openxmlformats.org/drawingml/2006/main" w="9525">
            <a:solidFill>
              <a:srgbClr val="E9A23B"/>
            </a:solidFill>
            <a:prstDash val="solid"/>
          </a:ln>
        </p:spPr>
        <p:txBody>
          <a:bodyPr xmlns:a="http://schemas.openxmlformats.org/drawingml/2006/main" lIns="171450" tIns="47625" rIns="95250" bIns="47625"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Test Case  PRL_001_Boundaries</a:t>
            </a:r>
          </a:p>
        </p:txBody>
      </p:sp>
      <p:sp>
        <p:nvSpPr>
          <p:cNvPr id="10" name="box-390">
            <a:extLst xmlns:a="http://schemas.openxmlformats.org/drawingml/2006/main">
              <a:ext uri="{FF2B5EF4-FFF2-40B4-BE49-F238E27FC236}">
                <a16:creationId xmlns:a16="http://schemas.microsoft.com/office/drawing/2014/main" id="{2DABEEA5-3460-47D9-B22A-AFBE4B5B93BE}"/>
              </a:ext>
            </a:extLst>
          </p:cNvPr>
          <p:cNvSpPr>
            <a:spLocks xmlns:a="http://schemas.openxmlformats.org/drawingml/2006/main" noGrp="1"/>
          </p:cNvSpPr>
          <p:nvPr/>
        </p:nvSpPr>
        <p:spPr>
          <a:xfrm xmlns:a="http://schemas.openxmlformats.org/drawingml/2006/main">
            <a:off x="2000250" y="4705350"/>
            <a:ext cx="2286000" cy="552450"/>
          </a:xfrm>
          <a:prstGeom xmlns:a="http://schemas.openxmlformats.org/drawingml/2006/main" prst="roundRect">
            <a:avLst>
              <a:gd name="adj" fmla="val 17241"/>
            </a:avLst>
          </a:prstGeom>
          <a:solidFill xmlns:a="http://schemas.openxmlformats.org/drawingml/2006/main">
            <a:srgbClr val="0B2438"/>
          </a:solidFill>
          <a:ln xmlns:a="http://schemas.openxmlformats.org/drawingml/2006/main" w="9525">
            <a:solidFill>
              <a:srgbClr val="2CA56F"/>
            </a:solidFill>
            <a:prstDash val="solid"/>
          </a:ln>
        </p:spPr>
        <p:txBody>
          <a:bodyPr xmlns:a="http://schemas.openxmlformats.org/drawingml/2006/main" lIns="133350" tIns="47625" rIns="76200" bIns="4762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Iterations  [−12.1 … +12.1]</a:t>
            </a:r>
          </a:p>
        </p:txBody>
      </p:sp>
      <p:cxnSp>
        <p:nvCxnSpPr>
          <p:cNvPr id="36" name=""/>
          <p:cNvCxnSpPr>
            <a:stCxn xmlns:a="http://schemas.openxmlformats.org/drawingml/2006/main" id="7" idx="2"/>
            <a:endCxn xmlns:a="http://schemas.openxmlformats.org/drawingml/2006/main" id="8" idx="0"/>
          </p:cNvCxnSpPr>
          <p:nvPr/>
        </p:nvCxnSpPr>
        <p:spPr>
          <a:xfrm xmlns:a="http://schemas.openxmlformats.org/drawingml/2006/main">
            <a:off x="3143250" y="2686050"/>
            <a:ext cx="0" cy="304800"/>
          </a:xfrm>
          <a:prstGeom xmlns:a="http://schemas.openxmlformats.org/drawingml/2006/main" prst="straightConnector1">
            <a:avLst/>
          </a:prstGeom>
          <a:ln xmlns:a="http://schemas.openxmlformats.org/drawingml/2006/main" w="19050">
            <a:solidFill>
              <a:srgbClr val="2D6CDF"/>
            </a:solidFill>
            <a:prstDash val="solid"/>
            <a:tailEnd type="triangle" w="sm" len="sm"/>
          </a:ln>
        </p:spPr>
      </p:cxnSp>
      <p:cxnSp>
        <p:nvCxnSpPr>
          <p:cNvPr id="37" name=""/>
          <p:cNvCxnSpPr>
            <a:stCxn xmlns:a="http://schemas.openxmlformats.org/drawingml/2006/main" id="8" idx="2"/>
            <a:endCxn xmlns:a="http://schemas.openxmlformats.org/drawingml/2006/main" id="9" idx="0"/>
          </p:cNvCxnSpPr>
          <p:nvPr/>
        </p:nvCxnSpPr>
        <p:spPr>
          <a:xfrm xmlns:a="http://schemas.openxmlformats.org/drawingml/2006/main">
            <a:off x="3143250" y="3543300"/>
            <a:ext cx="0" cy="304800"/>
          </a:xfrm>
          <a:prstGeom xmlns:a="http://schemas.openxmlformats.org/drawingml/2006/main" prst="straightConnector1">
            <a:avLst/>
          </a:prstGeom>
          <a:ln xmlns:a="http://schemas.openxmlformats.org/drawingml/2006/main" w="19050">
            <a:solidFill>
              <a:srgbClr val="20B7C5"/>
            </a:solidFill>
            <a:prstDash val="solid"/>
            <a:tailEnd type="triangle" w="sm" len="sm"/>
          </a:ln>
        </p:spPr>
      </p:cxnSp>
      <p:cxnSp>
        <p:nvCxnSpPr>
          <p:cNvPr id="38" name=""/>
          <p:cNvCxnSpPr>
            <a:stCxn xmlns:a="http://schemas.openxmlformats.org/drawingml/2006/main" id="9" idx="2"/>
            <a:endCxn xmlns:a="http://schemas.openxmlformats.org/drawingml/2006/main" id="10" idx="0"/>
          </p:cNvCxnSpPr>
          <p:nvPr/>
        </p:nvCxnSpPr>
        <p:spPr>
          <a:xfrm xmlns:a="http://schemas.openxmlformats.org/drawingml/2006/main">
            <a:off x="3143250" y="4400550"/>
            <a:ext cx="0" cy="304800"/>
          </a:xfrm>
          <a:prstGeom xmlns:a="http://schemas.openxmlformats.org/drawingml/2006/main" prst="straightConnector1">
            <a:avLst/>
          </a:prstGeom>
          <a:ln xmlns:a="http://schemas.openxmlformats.org/drawingml/2006/main" w="19050">
            <a:solidFill>
              <a:srgbClr val="E9A23B"/>
            </a:solidFill>
            <a:prstDash val="solid"/>
            <a:tailEnd type="triangle" w="sm" len="sm"/>
          </a:ln>
        </p:spPr>
      </p:cxnSp>
      <p:sp>
        <p:nvSpPr>
          <p:cNvPr id="14" name="line-391">
            <a:extLst xmlns:a="http://schemas.openxmlformats.org/drawingml/2006/main">
              <a:ext uri="{FF2B5EF4-FFF2-40B4-BE49-F238E27FC236}">
                <a16:creationId xmlns:a16="http://schemas.microsoft.com/office/drawing/2014/main" id="{805787D1-061B-448A-BE79-310E98BC0D42}"/>
              </a:ext>
            </a:extLst>
          </p:cNvPr>
          <p:cNvSpPr>
            <a:spLocks xmlns:a="http://schemas.openxmlformats.org/drawingml/2006/main" noGrp="1"/>
          </p:cNvSpPr>
          <p:nvPr/>
        </p:nvSpPr>
        <p:spPr>
          <a:xfrm xmlns:a="http://schemas.openxmlformats.org/drawingml/2006/main">
            <a:off x="6048375" y="1562100"/>
            <a:ext cx="0" cy="4095750"/>
          </a:xfrm>
          <a:prstGeom xmlns:a="http://schemas.openxmlformats.org/drawingml/2006/main" prst="line">
            <a:avLst/>
          </a:prstGeom>
          <a:noFill xmlns:a="http://schemas.openxmlformats.org/drawingml/2006/main"/>
          <a:ln xmlns:a="http://schemas.openxmlformats.org/drawingml/2006/main" w="19050">
            <a:solidFill>
              <a:srgbClr val="143A55"/>
            </a:solidFill>
            <a:prstDash val="solid"/>
          </a:ln>
        </p:spPr>
      </p:sp>
      <p:sp>
        <p:nvSpPr>
          <p:cNvPr id="15" name="text-392">
            <a:extLst xmlns:a="http://schemas.openxmlformats.org/drawingml/2006/main">
              <a:ext uri="{FF2B5EF4-FFF2-40B4-BE49-F238E27FC236}">
                <a16:creationId xmlns:a16="http://schemas.microsoft.com/office/drawing/2014/main" id="{062F3FF4-1E83-4506-B79D-5B4CE7274931}"/>
              </a:ext>
            </a:extLst>
          </p:cNvPr>
          <p:cNvSpPr>
            <a:spLocks xmlns:a="http://schemas.openxmlformats.org/drawingml/2006/main" noGrp="1"/>
          </p:cNvSpPr>
          <p:nvPr/>
        </p:nvSpPr>
        <p:spPr>
          <a:xfrm xmlns:a="http://schemas.openxmlformats.org/drawingml/2006/main">
            <a:off x="6667500" y="152400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275" b="1" i="0">
                <a:solidFill>
                  <a:srgbClr val="70DCE5"/>
                </a:solidFill>
                <a:latin typeface="Aptos"/>
                <a:ea typeface="Aptos"/>
                <a:cs typeface="Aptos"/>
              </a:defRPr>
            </a:pPr>
            <a:r>
              <a:rPr sz="1275" b="1" i="0">
                <a:solidFill>
                  <a:srgbClr val="70DCE5"/>
                </a:solidFill>
                <a:latin typeface="Aptos"/>
                <a:ea typeface="Aptos"/>
                <a:cs typeface="Aptos"/>
              </a:rPr>
              <a:t>TRACEABLE EXECUTION</a:t>
            </a:r>
          </a:p>
        </p:txBody>
      </p:sp>
      <p:sp>
        <p:nvSpPr>
          <p:cNvPr id="16" name="box-393">
            <a:extLst xmlns:a="http://schemas.openxmlformats.org/drawingml/2006/main">
              <a:ext uri="{FF2B5EF4-FFF2-40B4-BE49-F238E27FC236}">
                <a16:creationId xmlns:a16="http://schemas.microsoft.com/office/drawing/2014/main" id="{950D5434-1AE1-4FFC-BA96-37093A816C29}"/>
              </a:ext>
            </a:extLst>
          </p:cNvPr>
          <p:cNvSpPr>
            <a:spLocks xmlns:a="http://schemas.openxmlformats.org/drawingml/2006/main" noGrp="1"/>
          </p:cNvSpPr>
          <p:nvPr/>
        </p:nvSpPr>
        <p:spPr>
          <a:xfrm xmlns:a="http://schemas.openxmlformats.org/drawingml/2006/main">
            <a:off x="7000875" y="2095500"/>
            <a:ext cx="3429000" cy="495300"/>
          </a:xfrm>
          <a:prstGeom xmlns:a="http://schemas.openxmlformats.org/drawingml/2006/main" prst="roundRect">
            <a:avLst>
              <a:gd name="adj" fmla="val 13462"/>
            </a:avLst>
          </a:prstGeom>
          <a:solidFill xmlns:a="http://schemas.openxmlformats.org/drawingml/2006/main">
            <a:srgbClr val="0B2438"/>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Requirement</a:t>
            </a:r>
          </a:p>
        </p:txBody>
      </p:sp>
      <p:sp>
        <p:nvSpPr>
          <p:cNvPr id="17" name="box-394">
            <a:extLst xmlns:a="http://schemas.openxmlformats.org/drawingml/2006/main">
              <a:ext uri="{FF2B5EF4-FFF2-40B4-BE49-F238E27FC236}">
                <a16:creationId xmlns:a16="http://schemas.microsoft.com/office/drawing/2014/main" id="{ED842BCE-C62F-4A06-8C04-44C71905BD52}"/>
              </a:ext>
            </a:extLst>
          </p:cNvPr>
          <p:cNvSpPr>
            <a:spLocks xmlns:a="http://schemas.openxmlformats.org/drawingml/2006/main" noGrp="1"/>
          </p:cNvSpPr>
          <p:nvPr/>
        </p:nvSpPr>
        <p:spPr>
          <a:xfrm xmlns:a="http://schemas.openxmlformats.org/drawingml/2006/main">
            <a:off x="7000875" y="2838450"/>
            <a:ext cx="3429000" cy="495300"/>
          </a:xfrm>
          <a:prstGeom xmlns:a="http://schemas.openxmlformats.org/drawingml/2006/main" prst="roundRect">
            <a:avLst>
              <a:gd name="adj" fmla="val 13462"/>
            </a:avLst>
          </a:prstGeom>
          <a:solidFill xmlns:a="http://schemas.openxmlformats.org/drawingml/2006/main">
            <a:srgbClr val="0B2438"/>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Test case</a:t>
            </a:r>
          </a:p>
        </p:txBody>
      </p:sp>
      <p:sp>
        <p:nvSpPr>
          <p:cNvPr id="18" name="box-395">
            <a:extLst xmlns:a="http://schemas.openxmlformats.org/drawingml/2006/main">
              <a:ext uri="{FF2B5EF4-FFF2-40B4-BE49-F238E27FC236}">
                <a16:creationId xmlns:a16="http://schemas.microsoft.com/office/drawing/2014/main" id="{9B115D8C-EFEB-4617-8880-43C466A9D722}"/>
              </a:ext>
            </a:extLst>
          </p:cNvPr>
          <p:cNvSpPr>
            <a:spLocks xmlns:a="http://schemas.openxmlformats.org/drawingml/2006/main" noGrp="1"/>
          </p:cNvSpPr>
          <p:nvPr/>
        </p:nvSpPr>
        <p:spPr>
          <a:xfrm xmlns:a="http://schemas.openxmlformats.org/drawingml/2006/main">
            <a:off x="7000875" y="3581400"/>
            <a:ext cx="3429000" cy="495300"/>
          </a:xfrm>
          <a:prstGeom xmlns:a="http://schemas.openxmlformats.org/drawingml/2006/main" prst="roundRect">
            <a:avLst>
              <a:gd name="adj" fmla="val 13462"/>
            </a:avLst>
          </a:prstGeom>
          <a:solidFill xmlns:a="http://schemas.openxmlformats.org/drawingml/2006/main">
            <a:srgbClr val="0B2438"/>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.mldatx</a:t>
            </a:r>
          </a:p>
        </p:txBody>
      </p:sp>
      <p:sp>
        <p:nvSpPr>
          <p:cNvPr id="19" name="box-396">
            <a:extLst xmlns:a="http://schemas.openxmlformats.org/drawingml/2006/main">
              <a:ext uri="{FF2B5EF4-FFF2-40B4-BE49-F238E27FC236}">
                <a16:creationId xmlns:a16="http://schemas.microsoft.com/office/drawing/2014/main" id="{16BD1483-EC55-4F57-B8E0-CDC3E7EE0FF4}"/>
              </a:ext>
            </a:extLst>
          </p:cNvPr>
          <p:cNvSpPr>
            <a:spLocks xmlns:a="http://schemas.openxmlformats.org/drawingml/2006/main" noGrp="1"/>
          </p:cNvSpPr>
          <p:nvPr/>
        </p:nvSpPr>
        <p:spPr>
          <a:xfrm xmlns:a="http://schemas.openxmlformats.org/drawingml/2006/main">
            <a:off x="7000875" y="4324350"/>
            <a:ext cx="3429000" cy="495300"/>
          </a:xfrm>
          <a:prstGeom xmlns:a="http://schemas.openxmlformats.org/drawingml/2006/main" prst="roundRect">
            <a:avLst>
              <a:gd name="adj" fmla="val 13462"/>
            </a:avLst>
          </a:prstGeom>
          <a:solidFill xmlns:a="http://schemas.openxmlformats.org/drawingml/2006/main">
            <a:srgbClr val="0B2438"/>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Execution</a:t>
            </a:r>
          </a:p>
        </p:txBody>
      </p:sp>
      <p:sp>
        <p:nvSpPr>
          <p:cNvPr id="20" name="box-397">
            <a:extLst xmlns:a="http://schemas.openxmlformats.org/drawingml/2006/main">
              <a:ext uri="{FF2B5EF4-FFF2-40B4-BE49-F238E27FC236}">
                <a16:creationId xmlns:a16="http://schemas.microsoft.com/office/drawing/2014/main" id="{B1D3C2CC-E7DC-4ECB-977B-DDC64E4B7693}"/>
              </a:ext>
            </a:extLst>
          </p:cNvPr>
          <p:cNvSpPr>
            <a:spLocks xmlns:a="http://schemas.openxmlformats.org/drawingml/2006/main" noGrp="1"/>
          </p:cNvSpPr>
          <p:nvPr/>
        </p:nvSpPr>
        <p:spPr>
          <a:xfrm xmlns:a="http://schemas.openxmlformats.org/drawingml/2006/main">
            <a:off x="7000875" y="5067300"/>
            <a:ext cx="3429000" cy="495300"/>
          </a:xfrm>
          <a:prstGeom xmlns:a="http://schemas.openxmlformats.org/drawingml/2006/main" prst="roundRect">
            <a:avLst>
              <a:gd name="adj" fmla="val 13462"/>
            </a:avLst>
          </a:prstGeom>
          <a:solidFill xmlns:a="http://schemas.openxmlformats.org/drawingml/2006/main">
            <a:srgbClr val="10372A"/>
          </a:solidFill>
          <a:ln xmlns:a="http://schemas.openxmlformats.org/drawingml/2006/main" w="9525">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Report</a:t>
            </a:r>
          </a:p>
        </p:txBody>
      </p:sp>
      <p:cxnSp>
        <p:nvCxnSpPr>
          <p:cNvPr id="46" name=""/>
          <p:cNvCxnSpPr>
            <a:stCxn xmlns:a="http://schemas.openxmlformats.org/drawingml/2006/main" id="16" idx="2"/>
            <a:endCxn xmlns:a="http://schemas.openxmlformats.org/drawingml/2006/main" id="17" idx="0"/>
          </p:cNvCxnSpPr>
          <p:nvPr/>
        </p:nvCxnSpPr>
        <p:spPr>
          <a:xfrm xmlns:a="http://schemas.openxmlformats.org/drawingml/2006/main">
            <a:off x="8715375" y="2590800"/>
            <a:ext cx="0" cy="247650"/>
          </a:xfrm>
          <a:prstGeom xmlns:a="http://schemas.openxmlformats.org/drawingml/2006/main" prst="straightConnector1">
            <a:avLst/>
          </a:prstGeom>
          <a:ln xmlns:a="http://schemas.openxmlformats.org/drawingml/2006/main" w="19050">
            <a:solidFill>
              <a:srgbClr val="20B7C5"/>
            </a:solidFill>
            <a:prstDash val="solid"/>
            <a:tailEnd type="triangle" w="sm" len="sm"/>
          </a:ln>
        </p:spPr>
      </p:cxnSp>
      <p:cxnSp>
        <p:nvCxnSpPr>
          <p:cNvPr id="47" name=""/>
          <p:cNvCxnSpPr>
            <a:stCxn xmlns:a="http://schemas.openxmlformats.org/drawingml/2006/main" id="17" idx="2"/>
            <a:endCxn xmlns:a="http://schemas.openxmlformats.org/drawingml/2006/main" id="18" idx="0"/>
          </p:cNvCxnSpPr>
          <p:nvPr/>
        </p:nvCxnSpPr>
        <p:spPr>
          <a:xfrm xmlns:a="http://schemas.openxmlformats.org/drawingml/2006/main">
            <a:off x="8715375" y="3333750"/>
            <a:ext cx="0" cy="247650"/>
          </a:xfrm>
          <a:prstGeom xmlns:a="http://schemas.openxmlformats.org/drawingml/2006/main" prst="straightConnector1">
            <a:avLst/>
          </a:prstGeom>
          <a:ln xmlns:a="http://schemas.openxmlformats.org/drawingml/2006/main" w="19050">
            <a:solidFill>
              <a:srgbClr val="E9A23B"/>
            </a:solidFill>
            <a:prstDash val="solid"/>
            <a:tailEnd type="triangle" w="sm" len="sm"/>
          </a:ln>
        </p:spPr>
      </p:cxnSp>
      <p:cxnSp>
        <p:nvCxnSpPr>
          <p:cNvPr id="48" name=""/>
          <p:cNvCxnSpPr>
            <a:stCxn xmlns:a="http://schemas.openxmlformats.org/drawingml/2006/main" id="18" idx="2"/>
            <a:endCxn xmlns:a="http://schemas.openxmlformats.org/drawingml/2006/main" id="19" idx="0"/>
          </p:cNvCxnSpPr>
          <p:nvPr/>
        </p:nvCxnSpPr>
        <p:spPr>
          <a:xfrm xmlns:a="http://schemas.openxmlformats.org/drawingml/2006/main">
            <a:off x="8715375" y="4076700"/>
            <a:ext cx="0" cy="247650"/>
          </a:xfrm>
          <a:prstGeom xmlns:a="http://schemas.openxmlformats.org/drawingml/2006/main" prst="straightConnector1">
            <a:avLst/>
          </a:prstGeom>
          <a:ln xmlns:a="http://schemas.openxmlformats.org/drawingml/2006/main" w="19050">
            <a:solidFill>
              <a:srgbClr val="20B7C5"/>
            </a:solidFill>
            <a:prstDash val="solid"/>
            <a:tailEnd type="triangle" w="sm" len="sm"/>
          </a:ln>
        </p:spPr>
      </p:cxnSp>
      <p:cxnSp>
        <p:nvCxnSpPr>
          <p:cNvPr id="49" name=""/>
          <p:cNvCxnSpPr>
            <a:stCxn xmlns:a="http://schemas.openxmlformats.org/drawingml/2006/main" id="19" idx="2"/>
            <a:endCxn xmlns:a="http://schemas.openxmlformats.org/drawingml/2006/main" id="20" idx="0"/>
          </p:cNvCxnSpPr>
          <p:nvPr/>
        </p:nvCxnSpPr>
        <p:spPr>
          <a:xfrm xmlns:a="http://schemas.openxmlformats.org/drawingml/2006/main">
            <a:off x="8715375" y="4819650"/>
            <a:ext cx="0" cy="247650"/>
          </a:xfrm>
          <a:prstGeom xmlns:a="http://schemas.openxmlformats.org/drawingml/2006/main" prst="straightConnector1">
            <a:avLst/>
          </a:prstGeom>
          <a:ln xmlns:a="http://schemas.openxmlformats.org/drawingml/2006/main" w="19050">
            <a:solidFill>
              <a:srgbClr val="2CA56F"/>
            </a:solidFill>
            <a:prstDash val="solid"/>
            <a:tailEnd type="triangle" w="sm" len="sm"/>
          </a:ln>
        </p:spPr>
      </p:cxnSp>
      <p:sp>
        <p:nvSpPr>
          <p:cNvPr id="25" name="text-398">
            <a:extLst xmlns:a="http://schemas.openxmlformats.org/drawingml/2006/main">
              <a:ext uri="{FF2B5EF4-FFF2-40B4-BE49-F238E27FC236}">
                <a16:creationId xmlns:a16="http://schemas.microsoft.com/office/drawing/2014/main" id="{5C500CCC-385E-4CE0-A11B-D2DE9B34F03A}"/>
              </a:ext>
            </a:extLst>
          </p:cNvPr>
          <p:cNvSpPr>
            <a:spLocks xmlns:a="http://schemas.openxmlformats.org/drawingml/2006/main" noGrp="1"/>
          </p:cNvSpPr>
          <p:nvPr/>
        </p:nvSpPr>
        <p:spPr>
          <a:xfrm xmlns:a="http://schemas.openxmlformats.org/drawingml/2006/main">
            <a:off x="1333500" y="581025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500" b="1" i="0">
                <a:solidFill>
                  <a:srgbClr val="E9A23B"/>
                </a:solidFill>
                <a:latin typeface="Aptos"/>
                <a:ea typeface="Aptos"/>
                <a:cs typeface="Aptos"/>
              </a:defRPr>
            </a:pPr>
            <a:r>
              <a:rPr sz="1500" b="1" i="0">
                <a:solidFill>
                  <a:srgbClr val="E9A23B"/>
                </a:solidFill>
                <a:latin typeface="Aptos"/>
                <a:ea typeface="Aptos"/>
                <a:cs typeface="Aptos"/>
              </a:rPr>
              <a:t>Binary artifact: edit through Test Manager or supported APIs—not as text.</a:t>
            </a:r>
          </a:p>
        </p:txBody>
      </p:sp>
    </p:spTree>
    <p:extLst>
      <p:ext uri="{BB962C8B-B14F-4D97-AF65-F5344CB8AC3E}">
        <p14:creationId xmlns:p14="http://schemas.microsoft.com/office/powerpoint/2010/main" val="1092961568"/>
      </p:ext>
    </p:extLst>
  </p:cSld>
</p:sld>
</file>

<file path=ppt/slides/slide2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2" name="section-398">
            <a:extLst xmlns:a="http://schemas.openxmlformats.org/drawingml/2006/main">
              <a:ext uri="{FF2B5EF4-FFF2-40B4-BE49-F238E27FC236}">
                <a16:creationId xmlns:a16="http://schemas.microsoft.com/office/drawing/2014/main" id="{47B47782-605B-4C62-B69F-4EB1C82FEA14}"/>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09 • CALLBACK SCRIPTS</a:t>
            </a:r>
          </a:p>
        </p:txBody>
      </p:sp>
      <p:sp>
        <p:nvSpPr>
          <p:cNvPr id="2" name="title-398">
            <a:extLst xmlns:a="http://schemas.openxmlformats.org/drawingml/2006/main">
              <a:ext uri="{FF2B5EF4-FFF2-40B4-BE49-F238E27FC236}">
                <a16:creationId xmlns:a16="http://schemas.microsoft.com/office/drawing/2014/main" id="{7ADB05D0-38D6-4E43-B29C-C6BCE219B311}"/>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Callbacks make tests deterministic</a:t>
            </a:r>
          </a:p>
        </p:txBody>
      </p:sp>
      <p:sp>
        <p:nvSpPr>
          <p:cNvPr id="3" name="line-399">
            <a:extLst xmlns:a="http://schemas.openxmlformats.org/drawingml/2006/main">
              <a:ext uri="{FF2B5EF4-FFF2-40B4-BE49-F238E27FC236}">
                <a16:creationId xmlns:a16="http://schemas.microsoft.com/office/drawing/2014/main" id="{8B720D7C-4440-4D8A-913B-8DB5FF355DDA}"/>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00">
            <a:extLst xmlns:a="http://schemas.openxmlformats.org/drawingml/2006/main">
              <a:ext uri="{FF2B5EF4-FFF2-40B4-BE49-F238E27FC236}">
                <a16:creationId xmlns:a16="http://schemas.microsoft.com/office/drawing/2014/main" id="{70402650-5984-4D38-95D9-9FC244B1814D}"/>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01">
            <a:extLst xmlns:a="http://schemas.openxmlformats.org/drawingml/2006/main">
              <a:ext uri="{FF2B5EF4-FFF2-40B4-BE49-F238E27FC236}">
                <a16:creationId xmlns:a16="http://schemas.microsoft.com/office/drawing/2014/main" id="{53160D6A-7D4B-4D9C-B478-0C6C7D0BA14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25</a:t>
            </a:r>
          </a:p>
        </p:txBody>
      </p:sp>
      <p:sp>
        <p:nvSpPr>
          <p:cNvPr id="6" name="box-402">
            <a:extLst xmlns:a="http://schemas.openxmlformats.org/drawingml/2006/main">
              <a:ext uri="{FF2B5EF4-FFF2-40B4-BE49-F238E27FC236}">
                <a16:creationId xmlns:a16="http://schemas.microsoft.com/office/drawing/2014/main" id="{A243966A-7851-4501-AF81-8C2024D7E903}"/>
              </a:ext>
            </a:extLst>
          </p:cNvPr>
          <p:cNvSpPr>
            <a:spLocks xmlns:a="http://schemas.openxmlformats.org/drawingml/2006/main" noGrp="1"/>
          </p:cNvSpPr>
          <p:nvPr/>
        </p:nvSpPr>
        <p:spPr>
          <a:xfrm xmlns:a="http://schemas.openxmlformats.org/drawingml/2006/main">
            <a:off x="704850" y="1657350"/>
            <a:ext cx="1524000" cy="552450"/>
          </a:xfrm>
          <a:prstGeom xmlns:a="http://schemas.openxmlformats.org/drawingml/2006/main" prst="roundRect">
            <a:avLst>
              <a:gd name="adj" fmla="val 12069"/>
            </a:avLst>
          </a:prstGeom>
          <a:solidFill xmlns:a="http://schemas.openxmlformats.org/drawingml/2006/main">
            <a:srgbClr val="FFFF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275" b="1">
                <a:solidFill>
                  <a:srgbClr val="0B1F33"/>
                </a:solidFill>
                <a:latin typeface="Aptos"/>
                <a:ea typeface="Aptos"/>
                <a:cs typeface="Aptos"/>
              </a:defRPr>
            </a:pPr>
            <a:r>
              <a:rPr sz="1275" b="1">
                <a:solidFill>
                  <a:srgbClr val="0B1F33"/>
                </a:solidFill>
                <a:latin typeface="Aptos"/>
                <a:ea typeface="Aptos"/>
                <a:cs typeface="Aptos"/>
              </a:rPr>
              <a:t>File Setup</a:t>
            </a:r>
          </a:p>
        </p:txBody>
      </p:sp>
      <p:sp>
        <p:nvSpPr>
          <p:cNvPr id="7" name="box-403">
            <a:extLst xmlns:a="http://schemas.openxmlformats.org/drawingml/2006/main">
              <a:ext uri="{FF2B5EF4-FFF2-40B4-BE49-F238E27FC236}">
                <a16:creationId xmlns:a16="http://schemas.microsoft.com/office/drawing/2014/main" id="{6F85E5F2-8609-4EC1-B97C-9217B2402C6F}"/>
              </a:ext>
            </a:extLst>
          </p:cNvPr>
          <p:cNvSpPr>
            <a:spLocks xmlns:a="http://schemas.openxmlformats.org/drawingml/2006/main" noGrp="1"/>
          </p:cNvSpPr>
          <p:nvPr/>
        </p:nvSpPr>
        <p:spPr>
          <a:xfrm xmlns:a="http://schemas.openxmlformats.org/drawingml/2006/main">
            <a:off x="2495550" y="1657350"/>
            <a:ext cx="1524000" cy="552450"/>
          </a:xfrm>
          <a:prstGeom xmlns:a="http://schemas.openxmlformats.org/drawingml/2006/main" prst="roundRect">
            <a:avLst>
              <a:gd name="adj" fmla="val 12069"/>
            </a:avLst>
          </a:prstGeom>
          <a:solidFill xmlns:a="http://schemas.openxmlformats.org/drawingml/2006/main">
            <a:srgbClr val="FFFFFF"/>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275" b="1">
                <a:solidFill>
                  <a:srgbClr val="0B1F33"/>
                </a:solidFill>
                <a:latin typeface="Aptos"/>
                <a:ea typeface="Aptos"/>
                <a:cs typeface="Aptos"/>
              </a:defRPr>
            </a:pPr>
            <a:r>
              <a:rPr sz="1275" b="1">
                <a:solidFill>
                  <a:srgbClr val="0B1F33"/>
                </a:solidFill>
                <a:latin typeface="Aptos"/>
                <a:ea typeface="Aptos"/>
                <a:cs typeface="Aptos"/>
              </a:rPr>
              <a:t>Case Pre-load</a:t>
            </a:r>
          </a:p>
        </p:txBody>
      </p:sp>
      <p:sp>
        <p:nvSpPr>
          <p:cNvPr id="8" name="box-404">
            <a:extLst xmlns:a="http://schemas.openxmlformats.org/drawingml/2006/main">
              <a:ext uri="{FF2B5EF4-FFF2-40B4-BE49-F238E27FC236}">
                <a16:creationId xmlns:a16="http://schemas.microsoft.com/office/drawing/2014/main" id="{6F61735F-F5CE-409C-8AAF-0095D121BAFD}"/>
              </a:ext>
            </a:extLst>
          </p:cNvPr>
          <p:cNvSpPr>
            <a:spLocks xmlns:a="http://schemas.openxmlformats.org/drawingml/2006/main" noGrp="1"/>
          </p:cNvSpPr>
          <p:nvPr/>
        </p:nvSpPr>
        <p:spPr>
          <a:xfrm xmlns:a="http://schemas.openxmlformats.org/drawingml/2006/main">
            <a:off x="4286250" y="1657350"/>
            <a:ext cx="1524000" cy="552450"/>
          </a:xfrm>
          <a:prstGeom xmlns:a="http://schemas.openxmlformats.org/drawingml/2006/main" prst="roundRect">
            <a:avLst>
              <a:gd name="adj" fmla="val 12069"/>
            </a:avLst>
          </a:prstGeom>
          <a:solidFill xmlns:a="http://schemas.openxmlformats.org/drawingml/2006/main">
            <a:srgbClr val="E7F0F5"/>
          </a:solidFill>
          <a:ln xmlns:a="http://schemas.openxmlformats.org/drawingml/2006/main" w="19050">
            <a:solidFill>
              <a:srgbClr val="5D7487"/>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275" b="1">
                <a:solidFill>
                  <a:srgbClr val="0B1F33"/>
                </a:solidFill>
                <a:latin typeface="Aptos"/>
                <a:ea typeface="Aptos"/>
                <a:cs typeface="Aptos"/>
              </a:defRPr>
            </a:pPr>
            <a:r>
              <a:rPr sz="1275" b="1">
                <a:solidFill>
                  <a:srgbClr val="0B1F33"/>
                </a:solidFill>
                <a:latin typeface="Aptos"/>
                <a:ea typeface="Aptos"/>
                <a:cs typeface="Aptos"/>
              </a:rPr>
              <a:t>Model Load</a:t>
            </a:r>
          </a:p>
        </p:txBody>
      </p:sp>
      <p:sp>
        <p:nvSpPr>
          <p:cNvPr id="9" name="box-405">
            <a:extLst xmlns:a="http://schemas.openxmlformats.org/drawingml/2006/main">
              <a:ext uri="{FF2B5EF4-FFF2-40B4-BE49-F238E27FC236}">
                <a16:creationId xmlns:a16="http://schemas.microsoft.com/office/drawing/2014/main" id="{F36D14F1-7630-492D-8F6E-65A6CA11E8ED}"/>
              </a:ext>
            </a:extLst>
          </p:cNvPr>
          <p:cNvSpPr>
            <a:spLocks xmlns:a="http://schemas.openxmlformats.org/drawingml/2006/main" noGrp="1"/>
          </p:cNvSpPr>
          <p:nvPr/>
        </p:nvSpPr>
        <p:spPr>
          <a:xfrm xmlns:a="http://schemas.openxmlformats.org/drawingml/2006/main">
            <a:off x="6076950" y="1657350"/>
            <a:ext cx="1524000" cy="552450"/>
          </a:xfrm>
          <a:prstGeom xmlns:a="http://schemas.openxmlformats.org/drawingml/2006/main" prst="roundRect">
            <a:avLst>
              <a:gd name="adj" fmla="val 12069"/>
            </a:avLst>
          </a:prstGeom>
          <a:solidFill xmlns:a="http://schemas.openxmlformats.org/drawingml/2006/main">
            <a:srgbClr val="FFFFFF"/>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275" b="1">
                <a:solidFill>
                  <a:srgbClr val="0B1F33"/>
                </a:solidFill>
                <a:latin typeface="Aptos"/>
                <a:ea typeface="Aptos"/>
                <a:cs typeface="Aptos"/>
              </a:defRPr>
            </a:pPr>
            <a:r>
              <a:rPr sz="1275" b="1">
                <a:solidFill>
                  <a:srgbClr val="0B1F33"/>
                </a:solidFill>
                <a:latin typeface="Aptos"/>
                <a:ea typeface="Aptos"/>
                <a:cs typeface="Aptos"/>
              </a:rPr>
              <a:t>Case Post-load</a:t>
            </a:r>
          </a:p>
        </p:txBody>
      </p:sp>
      <p:sp>
        <p:nvSpPr>
          <p:cNvPr id="10" name="box-406">
            <a:extLst xmlns:a="http://schemas.openxmlformats.org/drawingml/2006/main">
              <a:ext uri="{FF2B5EF4-FFF2-40B4-BE49-F238E27FC236}">
                <a16:creationId xmlns:a16="http://schemas.microsoft.com/office/drawing/2014/main" id="{8748E188-3549-4B49-8CE7-654E175F6073}"/>
              </a:ext>
            </a:extLst>
          </p:cNvPr>
          <p:cNvSpPr>
            <a:spLocks xmlns:a="http://schemas.openxmlformats.org/drawingml/2006/main" noGrp="1"/>
          </p:cNvSpPr>
          <p:nvPr/>
        </p:nvSpPr>
        <p:spPr>
          <a:xfrm xmlns:a="http://schemas.openxmlformats.org/drawingml/2006/main">
            <a:off x="7867650" y="1657350"/>
            <a:ext cx="1524000" cy="552450"/>
          </a:xfrm>
          <a:prstGeom xmlns:a="http://schemas.openxmlformats.org/drawingml/2006/main" prst="roundRect">
            <a:avLst>
              <a:gd name="adj" fmla="val 12069"/>
            </a:avLst>
          </a:prstGeom>
          <a:solidFill xmlns:a="http://schemas.openxmlformats.org/drawingml/2006/main">
            <a:srgbClr val="FFFFFF"/>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275" b="1">
                <a:solidFill>
                  <a:srgbClr val="0B1F33"/>
                </a:solidFill>
                <a:latin typeface="Aptos"/>
                <a:ea typeface="Aptos"/>
                <a:cs typeface="Aptos"/>
              </a:defRPr>
            </a:pPr>
            <a:r>
              <a:rPr sz="1275" b="1">
                <a:solidFill>
                  <a:srgbClr val="0B1F33"/>
                </a:solidFill>
                <a:latin typeface="Aptos"/>
                <a:ea typeface="Aptos"/>
                <a:cs typeface="Aptos"/>
              </a:rPr>
              <a:t>Simulate + Assess</a:t>
            </a:r>
          </a:p>
        </p:txBody>
      </p:sp>
      <p:sp>
        <p:nvSpPr>
          <p:cNvPr id="11" name="box-407">
            <a:extLst xmlns:a="http://schemas.openxmlformats.org/drawingml/2006/main">
              <a:ext uri="{FF2B5EF4-FFF2-40B4-BE49-F238E27FC236}">
                <a16:creationId xmlns:a16="http://schemas.microsoft.com/office/drawing/2014/main" id="{6A39211A-D050-4905-B8B7-83A4BBBE9961}"/>
              </a:ext>
            </a:extLst>
          </p:cNvPr>
          <p:cNvSpPr>
            <a:spLocks xmlns:a="http://schemas.openxmlformats.org/drawingml/2006/main" noGrp="1"/>
          </p:cNvSpPr>
          <p:nvPr/>
        </p:nvSpPr>
        <p:spPr>
          <a:xfrm xmlns:a="http://schemas.openxmlformats.org/drawingml/2006/main">
            <a:off x="9658350" y="1657350"/>
            <a:ext cx="1524000" cy="552450"/>
          </a:xfrm>
          <a:prstGeom xmlns:a="http://schemas.openxmlformats.org/drawingml/2006/main" prst="roundRect">
            <a:avLst>
              <a:gd name="adj" fmla="val 12069"/>
            </a:avLst>
          </a:prstGeom>
          <a:solidFill xmlns:a="http://schemas.openxmlformats.org/drawingml/2006/main">
            <a:srgbClr val="FFFFFF"/>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275" b="1">
                <a:solidFill>
                  <a:srgbClr val="0B1F33"/>
                </a:solidFill>
                <a:latin typeface="Aptos"/>
                <a:ea typeface="Aptos"/>
                <a:cs typeface="Aptos"/>
              </a:defRPr>
            </a:pPr>
            <a:r>
              <a:rPr sz="1275" b="1">
                <a:solidFill>
                  <a:srgbClr val="0B1F33"/>
                </a:solidFill>
                <a:latin typeface="Aptos"/>
                <a:ea typeface="Aptos"/>
                <a:cs typeface="Aptos"/>
              </a:rPr>
              <a:t>Cleanup</a:t>
            </a:r>
          </a:p>
        </p:txBody>
      </p:sp>
      <p:cxnSp>
        <p:nvCxnSpPr>
          <p:cNvPr id="33" name=""/>
          <p:cNvCxnSpPr>
            <a:stCxn xmlns:a="http://schemas.openxmlformats.org/drawingml/2006/main" id="6" idx="3"/>
            <a:endCxn xmlns:a="http://schemas.openxmlformats.org/drawingml/2006/main" id="7" idx="1"/>
          </p:cNvCxnSpPr>
          <p:nvPr/>
        </p:nvCxnSpPr>
        <p:spPr>
          <a:xfrm xmlns:a="http://schemas.openxmlformats.org/drawingml/2006/main">
            <a:off x="2228850" y="1933575"/>
            <a:ext cx="266700" cy="0"/>
          </a:xfrm>
          <a:prstGeom xmlns:a="http://schemas.openxmlformats.org/drawingml/2006/main" prst="straightConnector1">
            <a:avLst/>
          </a:prstGeom>
          <a:ln xmlns:a="http://schemas.openxmlformats.org/drawingml/2006/main" w="19050">
            <a:solidFill>
              <a:srgbClr val="20B7C5"/>
            </a:solidFill>
            <a:prstDash val="solid"/>
            <a:tailEnd type="triangle" w="sm" len="sm"/>
          </a:ln>
        </p:spPr>
      </p:cxnSp>
      <p:cxnSp>
        <p:nvCxnSpPr>
          <p:cNvPr id="34" name=""/>
          <p:cNvCxnSpPr>
            <a:stCxn xmlns:a="http://schemas.openxmlformats.org/drawingml/2006/main" id="7" idx="3"/>
            <a:endCxn xmlns:a="http://schemas.openxmlformats.org/drawingml/2006/main" id="8" idx="1"/>
          </p:cNvCxnSpPr>
          <p:nvPr/>
        </p:nvCxnSpPr>
        <p:spPr>
          <a:xfrm xmlns:a="http://schemas.openxmlformats.org/drawingml/2006/main">
            <a:off x="4019550" y="1933575"/>
            <a:ext cx="266700" cy="0"/>
          </a:xfrm>
          <a:prstGeom xmlns:a="http://schemas.openxmlformats.org/drawingml/2006/main" prst="straightConnector1">
            <a:avLst/>
          </a:prstGeom>
          <a:ln xmlns:a="http://schemas.openxmlformats.org/drawingml/2006/main" w="19050">
            <a:solidFill>
              <a:srgbClr val="5D7487"/>
            </a:solidFill>
            <a:prstDash val="solid"/>
            <a:tailEnd type="triangle" w="sm" len="sm"/>
          </a:ln>
        </p:spPr>
      </p:cxnSp>
      <p:cxnSp>
        <p:nvCxnSpPr>
          <p:cNvPr id="35" name=""/>
          <p:cNvCxnSpPr>
            <a:stCxn xmlns:a="http://schemas.openxmlformats.org/drawingml/2006/main" id="8" idx="3"/>
            <a:endCxn xmlns:a="http://schemas.openxmlformats.org/drawingml/2006/main" id="9" idx="1"/>
          </p:cNvCxnSpPr>
          <p:nvPr/>
        </p:nvCxnSpPr>
        <p:spPr>
          <a:xfrm xmlns:a="http://schemas.openxmlformats.org/drawingml/2006/main">
            <a:off x="5810250" y="1933575"/>
            <a:ext cx="266700" cy="0"/>
          </a:xfrm>
          <a:prstGeom xmlns:a="http://schemas.openxmlformats.org/drawingml/2006/main" prst="straightConnector1">
            <a:avLst/>
          </a:prstGeom>
          <a:ln xmlns:a="http://schemas.openxmlformats.org/drawingml/2006/main" w="19050">
            <a:solidFill>
              <a:srgbClr val="20B7C5"/>
            </a:solidFill>
            <a:prstDash val="solid"/>
            <a:tailEnd type="triangle" w="sm" len="sm"/>
          </a:ln>
        </p:spPr>
      </p:cxnSp>
      <p:cxnSp>
        <p:nvCxnSpPr>
          <p:cNvPr id="36" name=""/>
          <p:cNvCxnSpPr>
            <a:stCxn xmlns:a="http://schemas.openxmlformats.org/drawingml/2006/main" id="9" idx="3"/>
            <a:endCxn xmlns:a="http://schemas.openxmlformats.org/drawingml/2006/main" id="10" idx="1"/>
          </p:cNvCxnSpPr>
          <p:nvPr/>
        </p:nvCxnSpPr>
        <p:spPr>
          <a:xfrm xmlns:a="http://schemas.openxmlformats.org/drawingml/2006/main">
            <a:off x="7600950" y="1933575"/>
            <a:ext cx="266700" cy="0"/>
          </a:xfrm>
          <a:prstGeom xmlns:a="http://schemas.openxmlformats.org/drawingml/2006/main" prst="straightConnector1">
            <a:avLst/>
          </a:prstGeom>
          <a:ln xmlns:a="http://schemas.openxmlformats.org/drawingml/2006/main" w="19050">
            <a:solidFill>
              <a:srgbClr val="E9A23B"/>
            </a:solidFill>
            <a:prstDash val="solid"/>
            <a:tailEnd type="triangle" w="sm" len="sm"/>
          </a:ln>
        </p:spPr>
      </p:cxnSp>
      <p:cxnSp>
        <p:nvCxnSpPr>
          <p:cNvPr id="37" name=""/>
          <p:cNvCxnSpPr>
            <a:stCxn xmlns:a="http://schemas.openxmlformats.org/drawingml/2006/main" id="10" idx="3"/>
            <a:endCxn xmlns:a="http://schemas.openxmlformats.org/drawingml/2006/main" id="11" idx="1"/>
          </p:cNvCxnSpPr>
          <p:nvPr/>
        </p:nvCxnSpPr>
        <p:spPr>
          <a:xfrm xmlns:a="http://schemas.openxmlformats.org/drawingml/2006/main">
            <a:off x="9391650" y="1933575"/>
            <a:ext cx="266700" cy="0"/>
          </a:xfrm>
          <a:prstGeom xmlns:a="http://schemas.openxmlformats.org/drawingml/2006/main" prst="straightConnector1">
            <a:avLst/>
          </a:prstGeom>
          <a:ln xmlns:a="http://schemas.openxmlformats.org/drawingml/2006/main" w="19050">
            <a:solidFill>
              <a:srgbClr val="2CA56F"/>
            </a:solidFill>
            <a:prstDash val="solid"/>
            <a:tailEnd type="triangle" w="sm" len="sm"/>
          </a:ln>
        </p:spPr>
      </p:cxnSp>
      <p:sp>
        <p:nvSpPr>
          <p:cNvPr id="17" name="box-408">
            <a:extLst xmlns:a="http://schemas.openxmlformats.org/drawingml/2006/main">
              <a:ext uri="{FF2B5EF4-FFF2-40B4-BE49-F238E27FC236}">
                <a16:creationId xmlns:a16="http://schemas.microsoft.com/office/drawing/2014/main" id="{B359996D-E8F6-4951-A24B-25024EB30B96}"/>
              </a:ext>
            </a:extLst>
          </p:cNvPr>
          <p:cNvSpPr>
            <a:spLocks xmlns:a="http://schemas.openxmlformats.org/drawingml/2006/main" noGrp="1"/>
          </p:cNvSpPr>
          <p:nvPr/>
        </p:nvSpPr>
        <p:spPr>
          <a:xfrm xmlns:a="http://schemas.openxmlformats.org/drawingml/2006/main">
            <a:off x="704850" y="2876550"/>
            <a:ext cx="6286500" cy="2457450"/>
          </a:xfrm>
          <a:prstGeom xmlns:a="http://schemas.openxmlformats.org/drawingml/2006/main" prst="roundRect">
            <a:avLst>
              <a:gd name="adj" fmla="val 3876"/>
            </a:avLst>
          </a:prstGeom>
          <a:solidFill xmlns:a="http://schemas.openxmlformats.org/drawingml/2006/main">
            <a:srgbClr val="0B2438"/>
          </a:solidFill>
          <a:ln xmlns:a="http://schemas.openxmlformats.org/drawingml/2006/main" w="0">
            <a:solidFill>
              <a:srgbClr val="0B2438"/>
            </a:solidFill>
            <a:prstDash val="solid"/>
          </a:ln>
        </p:spPr>
      </p:sp>
      <p:sp>
        <p:nvSpPr>
          <p:cNvPr id="18" name="text-409">
            <a:extLst xmlns:a="http://schemas.openxmlformats.org/drawingml/2006/main">
              <a:ext uri="{FF2B5EF4-FFF2-40B4-BE49-F238E27FC236}">
                <a16:creationId xmlns:a16="http://schemas.microsoft.com/office/drawing/2014/main" id="{65C1D82F-63FC-4B89-AA9B-2DDA27EF6347}"/>
              </a:ext>
            </a:extLst>
          </p:cNvPr>
          <p:cNvSpPr>
            <a:spLocks xmlns:a="http://schemas.openxmlformats.org/drawingml/2006/main" noGrp="1"/>
          </p:cNvSpPr>
          <p:nvPr/>
        </p:nvSpPr>
        <p:spPr>
          <a:xfrm xmlns:a="http://schemas.openxmlformats.org/drawingml/2006/main">
            <a:off x="914400" y="3086100"/>
            <a:ext cx="5905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15000"/>
              </a:lnSpc>
              <a:buNone/>
              <a:defRPr sz="1350" b="0" i="0">
                <a:solidFill>
                  <a:srgbClr val="D9EEF4"/>
                </a:solidFill>
                <a:latin typeface="Consolas"/>
                <a:ea typeface="Consolas"/>
                <a:cs typeface="Consolas"/>
              </a:defRPr>
            </a:pPr>
            <a:r>
              <a:rPr sz="1350" b="0" i="0">
                <a:solidFill>
                  <a:srgbClr val="D9EEF4"/>
                </a:solidFill>
                <a:latin typeface="Consolas"/>
                <a:ea typeface="Consolas"/>
                <a:cs typeface="Consolas"/>
              </a:rPr>
              <a:t>% test-file Setup callback</a:t>
            </a:r>
          </a:p>
          <a:p xmlns:a="http://schemas.openxmlformats.org/drawingml/2006/main">
            <a:pPr algn="l">
              <a:lnSpc>
                <a:spcPct val="115000"/>
              </a:lnSpc>
              <a:buNone/>
              <a:defRPr sz="1350" b="0" i="0">
                <a:solidFill>
                  <a:srgbClr val="D9EEF4"/>
                </a:solidFill>
                <a:latin typeface="Consolas"/>
                <a:ea typeface="Consolas"/>
                <a:cs typeface="Consolas"/>
              </a:defRPr>
            </a:pPr>
            <a:r>
              <a:rPr sz="1350" b="0" i="0">
                <a:solidFill>
                  <a:srgbClr val="D9EEF4"/>
                </a:solidFill>
                <a:latin typeface="Consolas"/>
                <a:ea typeface="Consolas"/>
                <a:cs typeface="Consolas"/>
              </a:rPr>
              <a:t>proj = openProject("FlightControls.prj");</a:t>
            </a:r>
          </a:p>
          <a:p xmlns:a="http://schemas.openxmlformats.org/drawingml/2006/main">
            <a:pPr algn="l">
              <a:lnSpc>
                <a:spcPct val="115000"/>
              </a:lnSpc>
              <a:buNone/>
              <a:defRPr sz="1350" b="0" i="0">
                <a:solidFill>
                  <a:srgbClr val="D9EEF4"/>
                </a:solidFill>
                <a:latin typeface="Consolas"/>
                <a:ea typeface="Consolas"/>
                <a:cs typeface="Consolas"/>
              </a:defRPr>
            </a:pPr>
            <a:r>
              <a:rPr sz="1350" b="0" i="0">
                <a:solidFill>
                  <a:srgbClr val="D9EEF4"/>
                </a:solidFill>
                <a:latin typeface="Consolas"/>
                <a:ea typeface="Consolas"/>
                <a:cs typeface="Consolas"/>
              </a:rPr>
              <a:t>dict = Simulink.data.dictionary.open("FCS_Data.sldd");</a:t>
            </a:r>
          </a:p>
          <a:p xmlns:a="http://schemas.openxmlformats.org/drawingml/2006/main">
            <a:r>
              <a:t/>
            </a:r>
          </a:p>
          <a:p xmlns:a="http://schemas.openxmlformats.org/drawingml/2006/main">
            <a:pPr algn="l">
              <a:lnSpc>
                <a:spcPct val="115000"/>
              </a:lnSpc>
              <a:buNone/>
              <a:defRPr sz="1350" b="0" i="0">
                <a:solidFill>
                  <a:srgbClr val="D9EEF4"/>
                </a:solidFill>
                <a:latin typeface="Consolas"/>
                <a:ea typeface="Consolas"/>
                <a:cs typeface="Consolas"/>
              </a:defRPr>
            </a:pPr>
            <a:r>
              <a:rPr sz="1350" b="0" i="0">
                <a:solidFill>
                  <a:srgbClr val="D9EEF4"/>
                </a:solidFill>
                <a:latin typeface="Consolas"/>
                <a:ea typeface="Consolas"/>
                <a:cs typeface="Consolas"/>
              </a:rPr>
              <a:t>% test-case Pre-load callback</a:t>
            </a:r>
          </a:p>
          <a:p xmlns:a="http://schemas.openxmlformats.org/drawingml/2006/main">
            <a:pPr algn="l">
              <a:lnSpc>
                <a:spcPct val="115000"/>
              </a:lnSpc>
              <a:buNone/>
              <a:defRPr sz="1350" b="0" i="0">
                <a:solidFill>
                  <a:srgbClr val="D9EEF4"/>
                </a:solidFill>
                <a:latin typeface="Consolas"/>
                <a:ea typeface="Consolas"/>
                <a:cs typeface="Consolas"/>
              </a:defRPr>
            </a:pPr>
            <a:r>
              <a:rPr sz="1350" b="0" i="0">
                <a:solidFill>
                  <a:srgbClr val="D9EEF4"/>
                </a:solidFill>
                <a:latin typeface="Consolas"/>
                <a:ea typeface="Consolas"/>
                <a:cs typeface="Consolas"/>
              </a:rPr>
              <a:t>q_cmd = timeseries([0 12.1 0], [0 .10 .20]);</a:t>
            </a:r>
          </a:p>
          <a:p xmlns:a="http://schemas.openxmlformats.org/drawingml/2006/main">
            <a:r>
              <a:t/>
            </a:r>
          </a:p>
          <a:p xmlns:a="http://schemas.openxmlformats.org/drawingml/2006/main">
            <a:pPr algn="l">
              <a:lnSpc>
                <a:spcPct val="115000"/>
              </a:lnSpc>
              <a:buNone/>
              <a:defRPr sz="1350" b="0" i="0">
                <a:solidFill>
                  <a:srgbClr val="D9EEF4"/>
                </a:solidFill>
                <a:latin typeface="Consolas"/>
                <a:ea typeface="Consolas"/>
                <a:cs typeface="Consolas"/>
              </a:defRPr>
            </a:pPr>
            <a:r>
              <a:rPr sz="1350" b="0" i="0">
                <a:solidFill>
                  <a:srgbClr val="D9EEF4"/>
                </a:solidFill>
                <a:latin typeface="Consolas"/>
                <a:ea typeface="Consolas"/>
                <a:cs typeface="Consolas"/>
              </a:rPr>
              <a:t>% Cleanup callback</a:t>
            </a:r>
          </a:p>
          <a:p xmlns:a="http://schemas.openxmlformats.org/drawingml/2006/main">
            <a:pPr algn="l">
              <a:lnSpc>
                <a:spcPct val="115000"/>
              </a:lnSpc>
              <a:buNone/>
              <a:defRPr sz="1350" b="0" i="0">
                <a:solidFill>
                  <a:srgbClr val="D9EEF4"/>
                </a:solidFill>
                <a:latin typeface="Consolas"/>
                <a:ea typeface="Consolas"/>
                <a:cs typeface="Consolas"/>
              </a:defRPr>
            </a:pPr>
            <a:r>
              <a:rPr sz="1350" b="0" i="0">
                <a:solidFill>
                  <a:srgbClr val="D9EEF4"/>
                </a:solidFill>
                <a:latin typeface="Consolas"/>
                <a:ea typeface="Consolas"/>
                <a:cs typeface="Consolas"/>
              </a:rPr>
              <a:t>close_system("PitchRateLimiter", 0);</a:t>
            </a:r>
          </a:p>
        </p:txBody>
      </p:sp>
      <p:sp>
        <p:nvSpPr>
          <p:cNvPr id="19" name="text-410">
            <a:extLst xmlns:a="http://schemas.openxmlformats.org/drawingml/2006/main">
              <a:ext uri="{FF2B5EF4-FFF2-40B4-BE49-F238E27FC236}">
                <a16:creationId xmlns:a16="http://schemas.microsoft.com/office/drawing/2014/main" id="{F885D729-FC13-4DA4-AE4C-19E0E7BA1D66}"/>
              </a:ext>
            </a:extLst>
          </p:cNvPr>
          <p:cNvSpPr>
            <a:spLocks xmlns:a="http://schemas.openxmlformats.org/drawingml/2006/main" noGrp="1"/>
          </p:cNvSpPr>
          <p:nvPr/>
        </p:nvSpPr>
        <p:spPr>
          <a:xfrm xmlns:a="http://schemas.openxmlformats.org/drawingml/2006/main">
            <a:off x="7524750" y="28956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350" b="1" i="0">
                <a:solidFill>
                  <a:srgbClr val="5D7487"/>
                </a:solidFill>
                <a:latin typeface="Aptos"/>
                <a:ea typeface="Aptos"/>
                <a:cs typeface="Aptos"/>
              </a:defRPr>
            </a:pPr>
            <a:r>
              <a:rPr sz="1350" b="1" i="0">
                <a:solidFill>
                  <a:srgbClr val="5D7487"/>
                </a:solidFill>
                <a:latin typeface="Aptos"/>
                <a:ea typeface="Aptos"/>
                <a:cs typeface="Aptos"/>
              </a:rPr>
              <a:t>CALLBACK RULES</a:t>
            </a:r>
          </a:p>
        </p:txBody>
      </p:sp>
      <p:sp>
        <p:nvSpPr>
          <p:cNvPr id="20" name="text-411">
            <a:extLst xmlns:a="http://schemas.openxmlformats.org/drawingml/2006/main">
              <a:ext uri="{FF2B5EF4-FFF2-40B4-BE49-F238E27FC236}">
                <a16:creationId xmlns:a16="http://schemas.microsoft.com/office/drawing/2014/main" id="{E6FD464B-E15A-4C8C-A3FF-0566EF7DD40A}"/>
              </a:ext>
            </a:extLst>
          </p:cNvPr>
          <p:cNvSpPr>
            <a:spLocks xmlns:a="http://schemas.openxmlformats.org/drawingml/2006/main" noGrp="1"/>
          </p:cNvSpPr>
          <p:nvPr/>
        </p:nvSpPr>
        <p:spPr>
          <a:xfrm xmlns:a="http://schemas.openxmlformats.org/drawingml/2006/main">
            <a:off x="7448550" y="3333750"/>
            <a:ext cx="40005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0"/>
              </a:spcAft>
              <a:buNone/>
              <a:defRPr sz="1500" b="0" i="0">
                <a:solidFill>
                  <a:srgbClr val="17324A"/>
                </a:solidFill>
                <a:latin typeface="Aptos"/>
                <a:ea typeface="Aptos"/>
                <a:cs typeface="Aptos"/>
              </a:defRPr>
            </a:pPr>
            <a:r>
              <a:rPr sz="1500" b="0" i="0">
                <a:solidFill>
                  <a:srgbClr val="17324A"/>
                </a:solidFill>
                <a:latin typeface="Aptos"/>
                <a:ea typeface="Aptos"/>
                <a:cs typeface="Aptos"/>
              </a:rPr>
              <a:t>load controlled parameters and project state</a:t>
            </a:r>
          </a:p>
          <a:p xmlns:a="http://schemas.openxmlformats.org/drawingml/2006/main">
            <a:pPr marL="24" indent="-13" algn="l">
              <a:lnSpc>
                <a:spcPct val="108000"/>
              </a:lnSpc>
              <a:spcAft>
                <a:spcPts val="10"/>
              </a:spcAft>
              <a:buNone/>
              <a:defRPr sz="1500" b="0" i="0">
                <a:solidFill>
                  <a:srgbClr val="17324A"/>
                </a:solidFill>
                <a:latin typeface="Aptos"/>
                <a:ea typeface="Aptos"/>
                <a:cs typeface="Aptos"/>
              </a:defRPr>
            </a:pPr>
            <a:r>
              <a:rPr sz="1500" b="0" i="0">
                <a:solidFill>
                  <a:srgbClr val="17324A"/>
                </a:solidFill>
                <a:latin typeface="Aptos"/>
                <a:ea typeface="Aptos"/>
                <a:cs typeface="Aptos"/>
              </a:rPr>
              <a:t>initialize signals and deterministic conditions</a:t>
            </a:r>
          </a:p>
          <a:p xmlns:a="http://schemas.openxmlformats.org/drawingml/2006/main">
            <a:pPr marL="24" indent="-13" algn="l">
              <a:lnSpc>
                <a:spcPct val="108000"/>
              </a:lnSpc>
              <a:spcAft>
                <a:spcPts val="10"/>
              </a:spcAft>
              <a:buNone/>
              <a:defRPr sz="1500" b="0" i="0">
                <a:solidFill>
                  <a:srgbClr val="17324A"/>
                </a:solidFill>
                <a:latin typeface="Aptos"/>
                <a:ea typeface="Aptos"/>
                <a:cs typeface="Aptos"/>
              </a:defRPr>
            </a:pPr>
            <a:r>
              <a:rPr sz="1500" b="0" i="0">
                <a:solidFill>
                  <a:srgbClr val="17324A"/>
                </a:solidFill>
                <a:latin typeface="Aptos"/>
                <a:ea typeface="Aptos"/>
                <a:cs typeface="Aptos"/>
              </a:rPr>
              <a:t>keep pass/fail intent in assessments or baselines</a:t>
            </a:r>
          </a:p>
          <a:p xmlns:a="http://schemas.openxmlformats.org/drawingml/2006/main">
            <a:pPr marL="24" indent="-13" algn="l">
              <a:lnSpc>
                <a:spcPct val="108000"/>
              </a:lnSpc>
              <a:spcAft>
                <a:spcPts val="10"/>
              </a:spcAft>
              <a:buNone/>
              <a:defRPr sz="1500" b="0" i="0">
                <a:solidFill>
                  <a:srgbClr val="17324A"/>
                </a:solidFill>
                <a:latin typeface="Aptos"/>
                <a:ea typeface="Aptos"/>
                <a:cs typeface="Aptos"/>
              </a:defRPr>
            </a:pPr>
            <a:r>
              <a:rPr sz="1500" b="0" i="0">
                <a:solidFill>
                  <a:srgbClr val="17324A"/>
                </a:solidFill>
                <a:latin typeface="Aptos"/>
                <a:ea typeface="Aptos"/>
                <a:cs typeface="Aptos"/>
              </a:rPr>
              <a:t>clean up without masking failures</a:t>
            </a:r>
          </a:p>
          <a:p xmlns:a="http://schemas.openxmlformats.org/drawingml/2006/main">
            <a:pPr marL="24" indent="-13" algn="l">
              <a:lnSpc>
                <a:spcPct val="108000"/>
              </a:lnSpc>
              <a:spcAft>
                <a:spcPts val="10"/>
              </a:spcAft>
              <a:buNone/>
              <a:defRPr sz="1500" b="0" i="0">
                <a:solidFill>
                  <a:srgbClr val="17324A"/>
                </a:solidFill>
                <a:latin typeface="Aptos"/>
                <a:ea typeface="Aptos"/>
                <a:cs typeface="Aptos"/>
              </a:defRPr>
            </a:pPr>
            <a:r>
              <a:rPr sz="1500" b="0" i="0">
                <a:solidFill>
                  <a:srgbClr val="17324A"/>
                </a:solidFill>
                <a:latin typeface="Aptos"/>
                <a:ea typeface="Aptos"/>
                <a:cs typeface="Aptos"/>
              </a:rPr>
              <a:t>prefer reviewed external .m functions for complex setup</a:t>
            </a:r>
          </a:p>
        </p:txBody>
      </p:sp>
      <p:sp>
        <p:nvSpPr>
          <p:cNvPr id="21" name="text-412">
            <a:extLst xmlns:a="http://schemas.openxmlformats.org/drawingml/2006/main">
              <a:ext uri="{FF2B5EF4-FFF2-40B4-BE49-F238E27FC236}">
                <a16:creationId xmlns:a16="http://schemas.microsoft.com/office/drawing/2014/main" id="{F653DB93-F733-496D-80D2-ECD1479BF1C4}"/>
              </a:ext>
            </a:extLst>
          </p:cNvPr>
          <p:cNvSpPr>
            <a:spLocks xmlns:a="http://schemas.openxmlformats.org/drawingml/2006/main" noGrp="1"/>
          </p:cNvSpPr>
          <p:nvPr/>
        </p:nvSpPr>
        <p:spPr>
          <a:xfrm xmlns:a="http://schemas.openxmlformats.org/drawingml/2006/main">
            <a:off x="952500" y="581025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425" b="1" i="0">
                <a:solidFill>
                  <a:srgbClr val="20B7C5"/>
                </a:solidFill>
                <a:latin typeface="Aptos"/>
                <a:ea typeface="Aptos"/>
                <a:cs typeface="Aptos"/>
              </a:defRPr>
            </a:pPr>
            <a:r>
              <a:rPr sz="1425" b="1" i="0">
                <a:solidFill>
                  <a:srgbClr val="20B7C5"/>
                </a:solidFill>
                <a:latin typeface="Aptos"/>
                <a:ea typeface="Aptos"/>
                <a:cs typeface="Aptos"/>
              </a:rPr>
              <a:t>Callbacks are lifecycle-triggered MATLAB code; a separate callback file is a project convention, not a requirement.</a:t>
            </a:r>
          </a:p>
        </p:txBody>
      </p:sp>
    </p:spTree>
    <p:extLst>
      <p:ext uri="{BB962C8B-B14F-4D97-AF65-F5344CB8AC3E}">
        <p14:creationId xmlns:p14="http://schemas.microsoft.com/office/powerpoint/2010/main" val="1450052894"/>
      </p:ext>
    </p:extLst>
  </p:cSld>
</p:sld>
</file>

<file path=ppt/slides/slide2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10 • ARCHITECTURE INTEGRATION</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Integration succeeds when interfaces agree</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26</a:t>
            </a:r>
          </a:p>
        </p:txBody>
      </p:sp>
      <p:sp>
        <p:nvSpPr>
          <p:cNvPr id="6" name="text-416">
            <a:extLst xmlns:a="http://schemas.openxmlformats.org/drawingml/2006/main">
              <a:ext uri="{FF2B5EF4-FFF2-40B4-BE49-F238E27FC236}">
                <a16:creationId xmlns:a16="http://schemas.microsoft.com/office/drawing/2014/main" id="{6728A50E-AD13-455F-9F04-FBD4C48EB30D}"/>
              </a:ext>
            </a:extLst>
          </p:cNvPr>
          <p:cNvSpPr>
            <a:spLocks xmlns:a="http://schemas.openxmlformats.org/drawingml/2006/main" noGrp="1"/>
          </p:cNvSpPr>
          <p:nvPr/>
        </p:nvSpPr>
        <p:spPr>
          <a:xfrm xmlns:a="http://schemas.openxmlformats.org/drawingml/2006/main">
            <a:off x="762000" y="148590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275" b="1" i="0">
                <a:solidFill>
                  <a:srgbClr val="5D7487"/>
                </a:solidFill>
                <a:latin typeface="Aptos"/>
                <a:ea typeface="Aptos"/>
                <a:cs typeface="Aptos"/>
              </a:defRPr>
            </a:pPr>
            <a:r>
              <a:rPr sz="1275" b="1" i="0">
                <a:solidFill>
                  <a:srgbClr val="5D7487"/>
                </a:solidFill>
                <a:latin typeface="Aptos"/>
                <a:ea typeface="Aptos"/>
                <a:cs typeface="Aptos"/>
              </a:rPr>
              <a:t>REFERENCED ARCHITECTURE</a:t>
            </a:r>
          </a:p>
        </p:txBody>
      </p:sp>
      <p:sp>
        <p:nvSpPr>
          <p:cNvPr id="7" name="box-417">
            <a:extLst xmlns:a="http://schemas.openxmlformats.org/drawingml/2006/main">
              <a:ext uri="{FF2B5EF4-FFF2-40B4-BE49-F238E27FC236}">
                <a16:creationId xmlns:a16="http://schemas.microsoft.com/office/drawing/2014/main" id="{D43E3800-34A9-4D39-9001-E36D1009FF99}"/>
              </a:ext>
            </a:extLst>
          </p:cNvPr>
          <p:cNvSpPr>
            <a:spLocks xmlns:a="http://schemas.openxmlformats.org/drawingml/2006/main" noGrp="1"/>
          </p:cNvSpPr>
          <p:nvPr/>
        </p:nvSpPr>
        <p:spPr>
          <a:xfrm xmlns:a="http://schemas.openxmlformats.org/drawingml/2006/main">
            <a:off x="762000" y="2667000"/>
            <a:ext cx="1428750" cy="781050"/>
          </a:xfrm>
          <a:prstGeom xmlns:a="http://schemas.openxmlformats.org/drawingml/2006/main" prst="roundRect">
            <a:avLst>
              <a:gd name="adj" fmla="val 12195"/>
            </a:avLst>
          </a:prstGeom>
          <a:solidFill xmlns:a="http://schemas.openxmlformats.org/drawingml/2006/main">
            <a:srgbClr val="FFFF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Sensor</a:t>
            </a:r>
          </a:p>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Processing</a:t>
            </a:r>
          </a:p>
        </p:txBody>
      </p:sp>
      <p:sp>
        <p:nvSpPr>
          <p:cNvPr id="8" name="box-418">
            <a:extLst xmlns:a="http://schemas.openxmlformats.org/drawingml/2006/main">
              <a:ext uri="{FF2B5EF4-FFF2-40B4-BE49-F238E27FC236}">
                <a16:creationId xmlns:a16="http://schemas.microsoft.com/office/drawing/2014/main" id="{003FDDA1-1A88-43AB-B2A5-370B9A961AC8}"/>
              </a:ext>
            </a:extLst>
          </p:cNvPr>
          <p:cNvSpPr>
            <a:spLocks xmlns:a="http://schemas.openxmlformats.org/drawingml/2006/main" noGrp="1"/>
          </p:cNvSpPr>
          <p:nvPr/>
        </p:nvSpPr>
        <p:spPr>
          <a:xfrm xmlns:a="http://schemas.openxmlformats.org/drawingml/2006/main">
            <a:off x="2571750" y="2667000"/>
            <a:ext cx="1619250" cy="781050"/>
          </a:xfrm>
          <a:prstGeom xmlns:a="http://schemas.openxmlformats.org/drawingml/2006/main" prst="roundRect">
            <a:avLst>
              <a:gd name="adj" fmla="val 12195"/>
            </a:avLst>
          </a:prstGeom>
          <a:solidFill xmlns:a="http://schemas.openxmlformats.org/drawingml/2006/main">
            <a:srgbClr val="DFF6F8"/>
          </a:solidFill>
          <a:ln xmlns:a="http://schemas.openxmlformats.org/drawingml/2006/main" w="2857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Pitch Rate</a:t>
            </a:r>
          </a:p>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Limiter</a:t>
            </a:r>
          </a:p>
        </p:txBody>
      </p:sp>
      <p:sp>
        <p:nvSpPr>
          <p:cNvPr id="9" name="box-419">
            <a:extLst xmlns:a="http://schemas.openxmlformats.org/drawingml/2006/main">
              <a:ext uri="{FF2B5EF4-FFF2-40B4-BE49-F238E27FC236}">
                <a16:creationId xmlns:a16="http://schemas.microsoft.com/office/drawing/2014/main" id="{C4416A0D-A676-4425-98A7-CC56F787A3FE}"/>
              </a:ext>
            </a:extLst>
          </p:cNvPr>
          <p:cNvSpPr>
            <a:spLocks xmlns:a="http://schemas.openxmlformats.org/drawingml/2006/main" noGrp="1"/>
          </p:cNvSpPr>
          <p:nvPr/>
        </p:nvSpPr>
        <p:spPr>
          <a:xfrm xmlns:a="http://schemas.openxmlformats.org/drawingml/2006/main">
            <a:off x="4572000" y="2667000"/>
            <a:ext cx="1428750" cy="781050"/>
          </a:xfrm>
          <a:prstGeom xmlns:a="http://schemas.openxmlformats.org/drawingml/2006/main" prst="roundRect">
            <a:avLst>
              <a:gd name="adj" fmla="val 12195"/>
            </a:avLst>
          </a:prstGeom>
          <a:solidFill xmlns:a="http://schemas.openxmlformats.org/drawingml/2006/main">
            <a:srgbClr val="FFFF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Pitch</a:t>
            </a:r>
          </a:p>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Controller</a:t>
            </a:r>
          </a:p>
        </p:txBody>
      </p:sp>
      <p:sp>
        <p:nvSpPr>
          <p:cNvPr id="10" name="box-420">
            <a:extLst xmlns:a="http://schemas.openxmlformats.org/drawingml/2006/main">
              <a:ext uri="{FF2B5EF4-FFF2-40B4-BE49-F238E27FC236}">
                <a16:creationId xmlns:a16="http://schemas.microsoft.com/office/drawing/2014/main" id="{4DCFC0B7-18C1-40FB-BF3D-B3D5B90D5F35}"/>
              </a:ext>
            </a:extLst>
          </p:cNvPr>
          <p:cNvSpPr>
            <a:spLocks xmlns:a="http://schemas.openxmlformats.org/drawingml/2006/main" noGrp="1"/>
          </p:cNvSpPr>
          <p:nvPr/>
        </p:nvSpPr>
        <p:spPr>
          <a:xfrm xmlns:a="http://schemas.openxmlformats.org/drawingml/2006/main">
            <a:off x="6381750" y="2667000"/>
            <a:ext cx="1428750" cy="781050"/>
          </a:xfrm>
          <a:prstGeom xmlns:a="http://schemas.openxmlformats.org/drawingml/2006/main" prst="roundRect">
            <a:avLst>
              <a:gd name="adj" fmla="val 12195"/>
            </a:avLst>
          </a:prstGeom>
          <a:solidFill xmlns:a="http://schemas.openxmlformats.org/drawingml/2006/main">
            <a:srgbClr val="FFFFFF"/>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Actuator</a:t>
            </a:r>
          </a:p>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Command</a:t>
            </a:r>
          </a:p>
        </p:txBody>
      </p:sp>
      <p:cxnSp>
        <p:nvCxnSpPr>
          <p:cNvPr id="29" name=""/>
          <p:cNvCxnSpPr>
            <a:stCxn xmlns:a="http://schemas.openxmlformats.org/drawingml/2006/main" id="7" idx="3"/>
            <a:endCxn xmlns:a="http://schemas.openxmlformats.org/drawingml/2006/main" id="8" idx="1"/>
          </p:cNvCxnSpPr>
          <p:nvPr/>
        </p:nvCxnSpPr>
        <p:spPr>
          <a:xfrm xmlns:a="http://schemas.openxmlformats.org/drawingml/2006/main">
            <a:off x="2190750" y="3057525"/>
            <a:ext cx="381000" cy="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30" name=""/>
          <p:cNvCxnSpPr>
            <a:stCxn xmlns:a="http://schemas.openxmlformats.org/drawingml/2006/main" id="8" idx="3"/>
            <a:endCxn xmlns:a="http://schemas.openxmlformats.org/drawingml/2006/main" id="9" idx="1"/>
          </p:cNvCxnSpPr>
          <p:nvPr/>
        </p:nvCxnSpPr>
        <p:spPr>
          <a:xfrm xmlns:a="http://schemas.openxmlformats.org/drawingml/2006/main">
            <a:off x="4191000" y="3057525"/>
            <a:ext cx="3810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31" name=""/>
          <p:cNvCxnSpPr>
            <a:stCxn xmlns:a="http://schemas.openxmlformats.org/drawingml/2006/main" id="9" idx="3"/>
            <a:endCxn xmlns:a="http://schemas.openxmlformats.org/drawingml/2006/main" id="10" idx="1"/>
          </p:cNvCxnSpPr>
          <p:nvPr/>
        </p:nvCxnSpPr>
        <p:spPr>
          <a:xfrm xmlns:a="http://schemas.openxmlformats.org/drawingml/2006/main">
            <a:off x="6000750" y="3057525"/>
            <a:ext cx="381000" cy="0"/>
          </a:xfrm>
          <a:prstGeom xmlns:a="http://schemas.openxmlformats.org/drawingml/2006/main" prst="straightConnector1">
            <a:avLst/>
          </a:prstGeom>
          <a:ln xmlns:a="http://schemas.openxmlformats.org/drawingml/2006/main" w="28575">
            <a:solidFill>
              <a:srgbClr val="2CA56F"/>
            </a:solidFill>
            <a:prstDash val="solid"/>
            <a:tailEnd type="triangle" w="sm" len="sm"/>
          </a:ln>
        </p:spPr>
      </p:cxnSp>
      <p:sp>
        <p:nvSpPr>
          <p:cNvPr id="14" name="box-421">
            <a:extLst xmlns:a="http://schemas.openxmlformats.org/drawingml/2006/main">
              <a:ext uri="{FF2B5EF4-FFF2-40B4-BE49-F238E27FC236}">
                <a16:creationId xmlns:a16="http://schemas.microsoft.com/office/drawing/2014/main" id="{6566C380-9C88-4E33-AC9F-D267031887FE}"/>
              </a:ext>
            </a:extLst>
          </p:cNvPr>
          <p:cNvSpPr>
            <a:spLocks xmlns:a="http://schemas.openxmlformats.org/drawingml/2006/main" noGrp="1"/>
          </p:cNvSpPr>
          <p:nvPr/>
        </p:nvSpPr>
        <p:spPr>
          <a:xfrm xmlns:a="http://schemas.openxmlformats.org/drawingml/2006/main">
            <a:off x="1143000" y="4095750"/>
            <a:ext cx="6762750" cy="571500"/>
          </a:xfrm>
          <a:prstGeom xmlns:a="http://schemas.openxmlformats.org/drawingml/2006/main" prst="roundRect">
            <a:avLst>
              <a:gd name="adj" fmla="val 13333"/>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FlightControlBus  |  types • dimensions • units • sample times • validity</a:t>
            </a:r>
          </a:p>
        </p:txBody>
      </p:sp>
      <p:sp>
        <p:nvSpPr>
          <p:cNvPr id="15" name="line-422">
            <a:extLst xmlns:a="http://schemas.openxmlformats.org/drawingml/2006/main">
              <a:ext uri="{FF2B5EF4-FFF2-40B4-BE49-F238E27FC236}">
                <a16:creationId xmlns:a16="http://schemas.microsoft.com/office/drawing/2014/main" id="{57A96EC0-7ED4-4581-A75D-189792CB51D5}"/>
              </a:ext>
            </a:extLst>
          </p:cNvPr>
          <p:cNvSpPr>
            <a:spLocks xmlns:a="http://schemas.openxmlformats.org/drawingml/2006/main" noGrp="1"/>
          </p:cNvSpPr>
          <p:nvPr/>
        </p:nvSpPr>
        <p:spPr>
          <a:xfrm xmlns:a="http://schemas.openxmlformats.org/drawingml/2006/main">
            <a:off x="8191500" y="1524000"/>
            <a:ext cx="0" cy="400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16" name="text-423">
            <a:extLst xmlns:a="http://schemas.openxmlformats.org/drawingml/2006/main">
              <a:ext uri="{FF2B5EF4-FFF2-40B4-BE49-F238E27FC236}">
                <a16:creationId xmlns:a16="http://schemas.microsoft.com/office/drawing/2014/main" id="{0D32321A-4C9F-48E3-A458-13BC6CCD2DA0}"/>
              </a:ext>
            </a:extLst>
          </p:cNvPr>
          <p:cNvSpPr>
            <a:spLocks xmlns:a="http://schemas.openxmlformats.org/drawingml/2006/main" noGrp="1"/>
          </p:cNvSpPr>
          <p:nvPr/>
        </p:nvSpPr>
        <p:spPr>
          <a:xfrm xmlns:a="http://schemas.openxmlformats.org/drawingml/2006/main">
            <a:off x="8524875" y="14859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275" b="1" i="0">
                <a:solidFill>
                  <a:srgbClr val="5D7487"/>
                </a:solidFill>
                <a:latin typeface="Aptos"/>
                <a:ea typeface="Aptos"/>
                <a:cs typeface="Aptos"/>
              </a:defRPr>
            </a:pPr>
            <a:r>
              <a:rPr sz="1275" b="1" i="0">
                <a:solidFill>
                  <a:srgbClr val="5D7487"/>
                </a:solidFill>
                <a:latin typeface="Aptos"/>
                <a:ea typeface="Aptos"/>
                <a:cs typeface="Aptos"/>
              </a:rPr>
              <a:t>COMPILE / UPDATE GATES</a:t>
            </a:r>
          </a:p>
        </p:txBody>
      </p:sp>
      <p:sp>
        <p:nvSpPr>
          <p:cNvPr id="17" name="text-424">
            <a:extLst xmlns:a="http://schemas.openxmlformats.org/drawingml/2006/main">
              <a:ext uri="{FF2B5EF4-FFF2-40B4-BE49-F238E27FC236}">
                <a16:creationId xmlns:a16="http://schemas.microsoft.com/office/drawing/2014/main" id="{9568CE6E-3A6E-4D7D-A790-1D66F386106C}"/>
              </a:ext>
            </a:extLst>
          </p:cNvPr>
          <p:cNvSpPr>
            <a:spLocks xmlns:a="http://schemas.openxmlformats.org/drawingml/2006/main" noGrp="1"/>
          </p:cNvSpPr>
          <p:nvPr/>
        </p:nvSpPr>
        <p:spPr>
          <a:xfrm xmlns:a="http://schemas.openxmlformats.org/drawingml/2006/main">
            <a:off x="8572500" y="2000250"/>
            <a:ext cx="2762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1"/>
              </a:spcAft>
              <a:buNone/>
              <a:defRPr sz="1425" b="0" i="0">
                <a:solidFill>
                  <a:srgbClr val="17324A"/>
                </a:solidFill>
                <a:latin typeface="Aptos"/>
                <a:ea typeface="Aptos"/>
                <a:cs typeface="Aptos"/>
              </a:defRPr>
            </a:pPr>
            <a:r>
              <a:rPr sz="1425" b="0" i="0">
                <a:solidFill>
                  <a:srgbClr val="17324A"/>
                </a:solidFill>
                <a:latin typeface="Aptos"/>
                <a:ea typeface="Aptos"/>
                <a:cs typeface="Aptos"/>
              </a:rPr>
              <a:t>resolve model references</a:t>
            </a:r>
          </a:p>
          <a:p xmlns:a="http://schemas.openxmlformats.org/drawingml/2006/main">
            <a:pPr marL="24" indent="-13" algn="l">
              <a:lnSpc>
                <a:spcPct val="108000"/>
              </a:lnSpc>
              <a:spcAft>
                <a:spcPts val="11"/>
              </a:spcAft>
              <a:buNone/>
              <a:defRPr sz="1425" b="0" i="0">
                <a:solidFill>
                  <a:srgbClr val="17324A"/>
                </a:solidFill>
                <a:latin typeface="Aptos"/>
                <a:ea typeface="Aptos"/>
                <a:cs typeface="Aptos"/>
              </a:defRPr>
            </a:pPr>
            <a:r>
              <a:rPr sz="1425" b="0" i="0">
                <a:solidFill>
                  <a:srgbClr val="17324A"/>
                </a:solidFill>
                <a:latin typeface="Aptos"/>
                <a:ea typeface="Aptos"/>
                <a:cs typeface="Aptos"/>
              </a:rPr>
              <a:t>match bus definitions</a:t>
            </a:r>
          </a:p>
          <a:p xmlns:a="http://schemas.openxmlformats.org/drawingml/2006/main">
            <a:pPr marL="24" indent="-13" algn="l">
              <a:lnSpc>
                <a:spcPct val="108000"/>
              </a:lnSpc>
              <a:spcAft>
                <a:spcPts val="11"/>
              </a:spcAft>
              <a:buNone/>
              <a:defRPr sz="1425" b="0" i="0">
                <a:solidFill>
                  <a:srgbClr val="17324A"/>
                </a:solidFill>
                <a:latin typeface="Aptos"/>
                <a:ea typeface="Aptos"/>
                <a:cs typeface="Aptos"/>
              </a:defRPr>
            </a:pPr>
            <a:r>
              <a:rPr sz="1425" b="0" i="0">
                <a:solidFill>
                  <a:srgbClr val="17324A"/>
                </a:solidFill>
                <a:latin typeface="Aptos"/>
                <a:ea typeface="Aptos"/>
                <a:cs typeface="Aptos"/>
              </a:rPr>
              <a:t>propagate dimensions + types</a:t>
            </a:r>
          </a:p>
          <a:p xmlns:a="http://schemas.openxmlformats.org/drawingml/2006/main">
            <a:pPr marL="24" indent="-13" algn="l">
              <a:lnSpc>
                <a:spcPct val="108000"/>
              </a:lnSpc>
              <a:spcAft>
                <a:spcPts val="11"/>
              </a:spcAft>
              <a:buNone/>
              <a:defRPr sz="1425" b="0" i="0">
                <a:solidFill>
                  <a:srgbClr val="17324A"/>
                </a:solidFill>
                <a:latin typeface="Aptos"/>
                <a:ea typeface="Aptos"/>
                <a:cs typeface="Aptos"/>
              </a:defRPr>
            </a:pPr>
            <a:r>
              <a:rPr sz="1425" b="0" i="0">
                <a:solidFill>
                  <a:srgbClr val="17324A"/>
                </a:solidFill>
                <a:latin typeface="Aptos"/>
                <a:ea typeface="Aptos"/>
                <a:cs typeface="Aptos"/>
              </a:rPr>
              <a:t>check sample-time compatibility</a:t>
            </a:r>
          </a:p>
          <a:p xmlns:a="http://schemas.openxmlformats.org/drawingml/2006/main">
            <a:pPr marL="24" indent="-13" algn="l">
              <a:lnSpc>
                <a:spcPct val="108000"/>
              </a:lnSpc>
              <a:spcAft>
                <a:spcPts val="11"/>
              </a:spcAft>
              <a:buNone/>
              <a:defRPr sz="1425" b="0" i="0">
                <a:solidFill>
                  <a:srgbClr val="17324A"/>
                </a:solidFill>
                <a:latin typeface="Aptos"/>
                <a:ea typeface="Aptos"/>
                <a:cs typeface="Aptos"/>
              </a:defRPr>
            </a:pPr>
            <a:r>
              <a:rPr sz="1425" b="0" i="0">
                <a:solidFill>
                  <a:srgbClr val="17324A"/>
                </a:solidFill>
                <a:latin typeface="Aptos"/>
                <a:ea typeface="Aptos"/>
                <a:cs typeface="Aptos"/>
              </a:rPr>
              <a:t>resolve variants + parameters</a:t>
            </a:r>
          </a:p>
          <a:p xmlns:a="http://schemas.openxmlformats.org/drawingml/2006/main">
            <a:pPr marL="24" indent="-13" algn="l">
              <a:lnSpc>
                <a:spcPct val="108000"/>
              </a:lnSpc>
              <a:spcAft>
                <a:spcPts val="11"/>
              </a:spcAft>
              <a:buNone/>
              <a:defRPr sz="1425" b="0" i="0">
                <a:solidFill>
                  <a:srgbClr val="17324A"/>
                </a:solidFill>
                <a:latin typeface="Aptos"/>
                <a:ea typeface="Aptos"/>
                <a:cs typeface="Aptos"/>
              </a:defRPr>
            </a:pPr>
            <a:r>
              <a:rPr sz="1425" b="0" i="0">
                <a:solidFill>
                  <a:srgbClr val="17324A"/>
                </a:solidFill>
                <a:latin typeface="Aptos"/>
                <a:ea typeface="Aptos"/>
                <a:cs typeface="Aptos"/>
              </a:rPr>
              <a:t>run model standards checks</a:t>
            </a:r>
          </a:p>
        </p:txBody>
      </p:sp>
      <p:sp>
        <p:nvSpPr>
          <p:cNvPr id="18" name="box-425">
            <a:extLst xmlns:a="http://schemas.openxmlformats.org/drawingml/2006/main">
              <a:ext uri="{FF2B5EF4-FFF2-40B4-BE49-F238E27FC236}">
                <a16:creationId xmlns:a16="http://schemas.microsoft.com/office/drawing/2014/main" id="{971E1E92-31F7-43AB-9751-575EE9594C6B}"/>
              </a:ext>
            </a:extLst>
          </p:cNvPr>
          <p:cNvSpPr>
            <a:spLocks xmlns:a="http://schemas.openxmlformats.org/drawingml/2006/main" noGrp="1"/>
          </p:cNvSpPr>
          <p:nvPr/>
        </p:nvSpPr>
        <p:spPr>
          <a:xfrm xmlns:a="http://schemas.openxmlformats.org/drawingml/2006/main">
            <a:off x="8477250" y="4953000"/>
            <a:ext cx="2952750" cy="781050"/>
          </a:xfrm>
          <a:prstGeom xmlns:a="http://schemas.openxmlformats.org/drawingml/2006/main" prst="roundRect">
            <a:avLst>
              <a:gd name="adj" fmla="val 9756"/>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0B1F33"/>
                </a:solidFill>
                <a:latin typeface="Aptos"/>
                <a:ea typeface="Aptos"/>
                <a:cs typeface="Aptos"/>
              </a:defRPr>
            </a:pPr>
            <a:r>
              <a:rPr sz="1500" b="1">
                <a:solidFill>
                  <a:srgbClr val="0B1F33"/>
                </a:solidFill>
                <a:latin typeface="Aptos"/>
                <a:ea typeface="Aptos"/>
                <a:cs typeface="Aptos"/>
              </a:rPr>
              <a:t>COMPILE = semantic consistency</a:t>
            </a:r>
          </a:p>
          <a:p xmlns:a="http://schemas.openxmlformats.org/drawingml/2006/main">
            <a:pPr algn="ctr">
              <a:lnSpc>
                <a:spcPct val="100000"/>
              </a:lnSpc>
              <a:buNone/>
              <a:defRPr sz="1500" b="1">
                <a:solidFill>
                  <a:srgbClr val="0B1F33"/>
                </a:solidFill>
                <a:latin typeface="Aptos"/>
                <a:ea typeface="Aptos"/>
                <a:cs typeface="Aptos"/>
              </a:defRPr>
            </a:pPr>
            <a:r>
              <a:rPr sz="1500" b="1">
                <a:solidFill>
                  <a:srgbClr val="0B1F33"/>
                </a:solidFill>
                <a:latin typeface="Aptos"/>
                <a:ea typeface="Aptos"/>
                <a:cs typeface="Aptos"/>
              </a:rPr>
              <a:t>NOT requirements compliance</a:t>
            </a:r>
          </a:p>
        </p:txBody>
      </p:sp>
    </p:spTree>
    <p:extLst>
      <p:ext uri="{BB962C8B-B14F-4D97-AF65-F5344CB8AC3E}">
        <p14:creationId xmlns:p14="http://schemas.microsoft.com/office/powerpoint/2010/main" val="1586749842"/>
      </p:ext>
    </p:extLst>
  </p:cSld>
</p:sld>
</file>

<file path=ppt/slides/slide27.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425">
            <a:extLst xmlns:a="http://schemas.openxmlformats.org/drawingml/2006/main">
              <a:ext uri="{FF2B5EF4-FFF2-40B4-BE49-F238E27FC236}">
                <a16:creationId xmlns:a16="http://schemas.microsoft.com/office/drawing/2014/main" id="{84B853C9-7494-4593-A0EA-D6704866BD70}"/>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11 • CONTINUOUS INTEGRATION</a:t>
            </a:r>
          </a:p>
        </p:txBody>
      </p:sp>
      <p:sp>
        <p:nvSpPr>
          <p:cNvPr id="2" name="title-425">
            <a:extLst xmlns:a="http://schemas.openxmlformats.org/drawingml/2006/main">
              <a:ext uri="{FF2B5EF4-FFF2-40B4-BE49-F238E27FC236}">
                <a16:creationId xmlns:a16="http://schemas.microsoft.com/office/drawing/2014/main" id="{8E382DA7-3333-42CA-B821-65C161CF9C6E}"/>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Jenkins makes verification repeatable</a:t>
            </a:r>
          </a:p>
        </p:txBody>
      </p:sp>
      <p:sp>
        <p:nvSpPr>
          <p:cNvPr id="3" name="line-426">
            <a:extLst xmlns:a="http://schemas.openxmlformats.org/drawingml/2006/main">
              <a:ext uri="{FF2B5EF4-FFF2-40B4-BE49-F238E27FC236}">
                <a16:creationId xmlns:a16="http://schemas.microsoft.com/office/drawing/2014/main" id="{69605B9E-CD00-4DE0-A1C1-89DBDB4D9962}"/>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27">
            <a:extLst xmlns:a="http://schemas.openxmlformats.org/drawingml/2006/main">
              <a:ext uri="{FF2B5EF4-FFF2-40B4-BE49-F238E27FC236}">
                <a16:creationId xmlns:a16="http://schemas.microsoft.com/office/drawing/2014/main" id="{C06A717A-D6FD-4A14-8CDB-1C15B66FF552}"/>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428">
            <a:extLst xmlns:a="http://schemas.openxmlformats.org/drawingml/2006/main">
              <a:ext uri="{FF2B5EF4-FFF2-40B4-BE49-F238E27FC236}">
                <a16:creationId xmlns:a16="http://schemas.microsoft.com/office/drawing/2014/main" id="{C2E53156-CD14-4DE1-806B-8EED8DBA4D5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27</a:t>
            </a:r>
          </a:p>
        </p:txBody>
      </p:sp>
      <p:sp>
        <p:nvSpPr>
          <p:cNvPr id="6" name="box-429">
            <a:extLst xmlns:a="http://schemas.openxmlformats.org/drawingml/2006/main">
              <a:ext uri="{FF2B5EF4-FFF2-40B4-BE49-F238E27FC236}">
                <a16:creationId xmlns:a16="http://schemas.microsoft.com/office/drawing/2014/main" id="{6B80003F-FA96-4E5F-9A30-BFD7C9F3FD1A}"/>
              </a:ext>
            </a:extLst>
          </p:cNvPr>
          <p:cNvSpPr>
            <a:spLocks xmlns:a="http://schemas.openxmlformats.org/drawingml/2006/main" noGrp="1"/>
          </p:cNvSpPr>
          <p:nvPr/>
        </p:nvSpPr>
        <p:spPr>
          <a:xfrm xmlns:a="http://schemas.openxmlformats.org/drawingml/2006/main">
            <a:off x="5524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Commit</a:t>
            </a:r>
          </a:p>
        </p:txBody>
      </p:sp>
      <p:sp>
        <p:nvSpPr>
          <p:cNvPr id="7" name="box-430">
            <a:extLst xmlns:a="http://schemas.openxmlformats.org/drawingml/2006/main">
              <a:ext uri="{FF2B5EF4-FFF2-40B4-BE49-F238E27FC236}">
                <a16:creationId xmlns:a16="http://schemas.microsoft.com/office/drawing/2014/main" id="{F014702A-D1EE-4086-B75D-805F0D4672AC}"/>
              </a:ext>
            </a:extLst>
          </p:cNvPr>
          <p:cNvSpPr>
            <a:spLocks xmlns:a="http://schemas.openxmlformats.org/drawingml/2006/main" noGrp="1"/>
          </p:cNvSpPr>
          <p:nvPr/>
        </p:nvSpPr>
        <p:spPr>
          <a:xfrm xmlns:a="http://schemas.openxmlformats.org/drawingml/2006/main">
            <a:off x="24955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Jenkinsfile</a:t>
            </a:r>
          </a:p>
        </p:txBody>
      </p:sp>
      <p:sp>
        <p:nvSpPr>
          <p:cNvPr id="8" name="box-431">
            <a:extLst xmlns:a="http://schemas.openxmlformats.org/drawingml/2006/main">
              <a:ext uri="{FF2B5EF4-FFF2-40B4-BE49-F238E27FC236}">
                <a16:creationId xmlns:a16="http://schemas.microsoft.com/office/drawing/2014/main" id="{4E6103F6-0C97-4137-B1F5-D7D062CD4C97}"/>
              </a:ext>
            </a:extLst>
          </p:cNvPr>
          <p:cNvSpPr>
            <a:spLocks xmlns:a="http://schemas.openxmlformats.org/drawingml/2006/main" noGrp="1"/>
          </p:cNvSpPr>
          <p:nvPr/>
        </p:nvSpPr>
        <p:spPr>
          <a:xfrm xmlns:a="http://schemas.openxmlformats.org/drawingml/2006/main">
            <a:off x="44386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Build / Update</a:t>
            </a:r>
          </a:p>
        </p:txBody>
      </p:sp>
      <p:sp>
        <p:nvSpPr>
          <p:cNvPr id="9" name="box-432">
            <a:extLst xmlns:a="http://schemas.openxmlformats.org/drawingml/2006/main">
              <a:ext uri="{FF2B5EF4-FFF2-40B4-BE49-F238E27FC236}">
                <a16:creationId xmlns:a16="http://schemas.microsoft.com/office/drawing/2014/main" id="{88FEB925-6E90-4BD8-8C1C-5F833B4C5778}"/>
              </a:ext>
            </a:extLst>
          </p:cNvPr>
          <p:cNvSpPr>
            <a:spLocks xmlns:a="http://schemas.openxmlformats.org/drawingml/2006/main" noGrp="1"/>
          </p:cNvSpPr>
          <p:nvPr/>
        </p:nvSpPr>
        <p:spPr>
          <a:xfrm xmlns:a="http://schemas.openxmlformats.org/drawingml/2006/main">
            <a:off x="63817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Model Checks</a:t>
            </a:r>
          </a:p>
        </p:txBody>
      </p:sp>
      <p:sp>
        <p:nvSpPr>
          <p:cNvPr id="10" name="box-433">
            <a:extLst xmlns:a="http://schemas.openxmlformats.org/drawingml/2006/main">
              <a:ext uri="{FF2B5EF4-FFF2-40B4-BE49-F238E27FC236}">
                <a16:creationId xmlns:a16="http://schemas.microsoft.com/office/drawing/2014/main" id="{2CB4FC25-4B36-4C69-AF87-48521F37CEF5}"/>
              </a:ext>
            </a:extLst>
          </p:cNvPr>
          <p:cNvSpPr>
            <a:spLocks xmlns:a="http://schemas.openxmlformats.org/drawingml/2006/main" noGrp="1"/>
          </p:cNvSpPr>
          <p:nvPr/>
        </p:nvSpPr>
        <p:spPr>
          <a:xfrm xmlns:a="http://schemas.openxmlformats.org/drawingml/2006/main">
            <a:off x="83248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Tests</a:t>
            </a:r>
          </a:p>
        </p:txBody>
      </p:sp>
      <p:sp>
        <p:nvSpPr>
          <p:cNvPr id="11" name="box-434">
            <a:extLst xmlns:a="http://schemas.openxmlformats.org/drawingml/2006/main">
              <a:ext uri="{FF2B5EF4-FFF2-40B4-BE49-F238E27FC236}">
                <a16:creationId xmlns:a16="http://schemas.microsoft.com/office/drawing/2014/main" id="{F9CEC0EC-847A-42DF-9B24-ADC29EEBF891}"/>
              </a:ext>
            </a:extLst>
          </p:cNvPr>
          <p:cNvSpPr>
            <a:spLocks xmlns:a="http://schemas.openxmlformats.org/drawingml/2006/main" noGrp="1"/>
          </p:cNvSpPr>
          <p:nvPr/>
        </p:nvSpPr>
        <p:spPr>
          <a:xfrm xmlns:a="http://schemas.openxmlformats.org/drawingml/2006/main">
            <a:off x="10267950" y="1809750"/>
            <a:ext cx="1600200" cy="628650"/>
          </a:xfrm>
          <a:prstGeom xmlns:a="http://schemas.openxmlformats.org/drawingml/2006/main" prst="roundRect">
            <a:avLst>
              <a:gd name="adj" fmla="val 12121"/>
            </a:avLst>
          </a:prstGeom>
          <a:solidFill xmlns:a="http://schemas.openxmlformats.org/drawingml/2006/main">
            <a:srgbClr val="10372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Reports + Artifacts</a:t>
            </a:r>
          </a:p>
        </p:txBody>
      </p:sp>
      <p:cxnSp>
        <p:nvCxnSpPr>
          <p:cNvPr id="38" name=""/>
          <p:cNvCxnSpPr>
            <a:stCxn xmlns:a="http://schemas.openxmlformats.org/drawingml/2006/main" id="6" idx="3"/>
            <a:endCxn xmlns:a="http://schemas.openxmlformats.org/drawingml/2006/main" id="7" idx="1"/>
          </p:cNvCxnSpPr>
          <p:nvPr/>
        </p:nvCxnSpPr>
        <p:spPr>
          <a:xfrm xmlns:a="http://schemas.openxmlformats.org/drawingml/2006/main">
            <a:off x="2152650" y="2124075"/>
            <a:ext cx="3429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39" name=""/>
          <p:cNvCxnSpPr>
            <a:stCxn xmlns:a="http://schemas.openxmlformats.org/drawingml/2006/main" id="7" idx="3"/>
            <a:endCxn xmlns:a="http://schemas.openxmlformats.org/drawingml/2006/main" id="8" idx="1"/>
          </p:cNvCxnSpPr>
          <p:nvPr/>
        </p:nvCxnSpPr>
        <p:spPr>
          <a:xfrm xmlns:a="http://schemas.openxmlformats.org/drawingml/2006/main">
            <a:off x="4095750" y="2124075"/>
            <a:ext cx="342900" cy="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40" name=""/>
          <p:cNvCxnSpPr>
            <a:stCxn xmlns:a="http://schemas.openxmlformats.org/drawingml/2006/main" id="8" idx="3"/>
            <a:endCxn xmlns:a="http://schemas.openxmlformats.org/drawingml/2006/main" id="9" idx="1"/>
          </p:cNvCxnSpPr>
          <p:nvPr/>
        </p:nvCxnSpPr>
        <p:spPr>
          <a:xfrm xmlns:a="http://schemas.openxmlformats.org/drawingml/2006/main">
            <a:off x="6038850" y="2124075"/>
            <a:ext cx="342900" cy="0"/>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cxnSp>
        <p:nvCxnSpPr>
          <p:cNvPr id="41" name=""/>
          <p:cNvCxnSpPr>
            <a:stCxn xmlns:a="http://schemas.openxmlformats.org/drawingml/2006/main" id="9" idx="3"/>
            <a:endCxn xmlns:a="http://schemas.openxmlformats.org/drawingml/2006/main" id="10" idx="1"/>
          </p:cNvCxnSpPr>
          <p:nvPr/>
        </p:nvCxnSpPr>
        <p:spPr>
          <a:xfrm xmlns:a="http://schemas.openxmlformats.org/drawingml/2006/main">
            <a:off x="7981950" y="2124075"/>
            <a:ext cx="3429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42" name=""/>
          <p:cNvCxnSpPr>
            <a:stCxn xmlns:a="http://schemas.openxmlformats.org/drawingml/2006/main" id="10" idx="3"/>
            <a:endCxn xmlns:a="http://schemas.openxmlformats.org/drawingml/2006/main" id="11" idx="1"/>
          </p:cNvCxnSpPr>
          <p:nvPr/>
        </p:nvCxnSpPr>
        <p:spPr>
          <a:xfrm xmlns:a="http://schemas.openxmlformats.org/drawingml/2006/main">
            <a:off x="9925050" y="2124075"/>
            <a:ext cx="342900" cy="0"/>
          </a:xfrm>
          <a:prstGeom xmlns:a="http://schemas.openxmlformats.org/drawingml/2006/main" prst="straightConnector1">
            <a:avLst/>
          </a:prstGeom>
          <a:ln xmlns:a="http://schemas.openxmlformats.org/drawingml/2006/main" w="28575">
            <a:solidFill>
              <a:srgbClr val="2CA56F"/>
            </a:solidFill>
            <a:prstDash val="solid"/>
            <a:tailEnd type="triangle" w="sm" len="sm"/>
          </a:ln>
        </p:spPr>
      </p:cxnSp>
      <p:sp>
        <p:nvSpPr>
          <p:cNvPr id="17" name="text-435">
            <a:extLst xmlns:a="http://schemas.openxmlformats.org/drawingml/2006/main">
              <a:ext uri="{FF2B5EF4-FFF2-40B4-BE49-F238E27FC236}">
                <a16:creationId xmlns:a16="http://schemas.microsoft.com/office/drawing/2014/main" id="{9A50BA15-ECE2-4C7D-BC6C-C85A1DCC01FA}"/>
              </a:ext>
            </a:extLst>
          </p:cNvPr>
          <p:cNvSpPr>
            <a:spLocks xmlns:a="http://schemas.openxmlformats.org/drawingml/2006/main" noGrp="1"/>
          </p:cNvSpPr>
          <p:nvPr/>
        </p:nvSpPr>
        <p:spPr>
          <a:xfrm xmlns:a="http://schemas.openxmlformats.org/drawingml/2006/main">
            <a:off x="819150" y="32385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2D6CDF"/>
                </a:solidFill>
                <a:latin typeface="Aptos"/>
                <a:ea typeface="Aptos"/>
                <a:cs typeface="Aptos"/>
              </a:defRPr>
            </a:pPr>
            <a:r>
              <a:rPr sz="1425" b="1" i="0">
                <a:solidFill>
                  <a:srgbClr val="2D6CDF"/>
                </a:solidFill>
                <a:latin typeface="Aptos"/>
                <a:ea typeface="Aptos"/>
                <a:cs typeface="Aptos"/>
              </a:rPr>
              <a:t>GROOVY / JENKINSFILE</a:t>
            </a:r>
          </a:p>
        </p:txBody>
      </p:sp>
      <p:sp>
        <p:nvSpPr>
          <p:cNvPr id="18" name="text-436">
            <a:extLst xmlns:a="http://schemas.openxmlformats.org/drawingml/2006/main">
              <a:ext uri="{FF2B5EF4-FFF2-40B4-BE49-F238E27FC236}">
                <a16:creationId xmlns:a16="http://schemas.microsoft.com/office/drawing/2014/main" id="{CCCC1C0B-1A3E-4826-B956-545014BE5760}"/>
              </a:ext>
            </a:extLst>
          </p:cNvPr>
          <p:cNvSpPr>
            <a:spLocks xmlns:a="http://schemas.openxmlformats.org/drawingml/2006/main" noGrp="1"/>
          </p:cNvSpPr>
          <p:nvPr/>
        </p:nvSpPr>
        <p:spPr>
          <a:xfrm xmlns:a="http://schemas.openxmlformats.org/drawingml/2006/main">
            <a:off x="3714750" y="32385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orchestrates stages, agents, parameters, parallel branches, retention</a:t>
            </a:r>
          </a:p>
        </p:txBody>
      </p:sp>
      <p:sp>
        <p:nvSpPr>
          <p:cNvPr id="19" name="line-437">
            <a:extLst xmlns:a="http://schemas.openxmlformats.org/drawingml/2006/main">
              <a:ext uri="{FF2B5EF4-FFF2-40B4-BE49-F238E27FC236}">
                <a16:creationId xmlns:a16="http://schemas.microsoft.com/office/drawing/2014/main" id="{A848100F-1B90-432E-AFFF-EE2F0B4E3732}"/>
              </a:ext>
            </a:extLst>
          </p:cNvPr>
          <p:cNvSpPr>
            <a:spLocks xmlns:a="http://schemas.openxmlformats.org/drawingml/2006/main" noGrp="1"/>
          </p:cNvSpPr>
          <p:nvPr/>
        </p:nvSpPr>
        <p:spPr>
          <a:xfrm xmlns:a="http://schemas.openxmlformats.org/drawingml/2006/main">
            <a:off x="819150" y="38100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0" name="text-438">
            <a:extLst xmlns:a="http://schemas.openxmlformats.org/drawingml/2006/main">
              <a:ext uri="{FF2B5EF4-FFF2-40B4-BE49-F238E27FC236}">
                <a16:creationId xmlns:a16="http://schemas.microsoft.com/office/drawing/2014/main" id="{9E349B35-A410-4ED4-935A-B09EE8683BBF}"/>
              </a:ext>
            </a:extLst>
          </p:cNvPr>
          <p:cNvSpPr>
            <a:spLocks xmlns:a="http://schemas.openxmlformats.org/drawingml/2006/main" noGrp="1"/>
          </p:cNvSpPr>
          <p:nvPr/>
        </p:nvSpPr>
        <p:spPr>
          <a:xfrm xmlns:a="http://schemas.openxmlformats.org/drawingml/2006/main">
            <a:off x="819150" y="40767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20B7C5"/>
                </a:solidFill>
                <a:latin typeface="Aptos"/>
                <a:ea typeface="Aptos"/>
                <a:cs typeface="Aptos"/>
              </a:defRPr>
            </a:pPr>
            <a:r>
              <a:rPr sz="1425" b="1" i="0">
                <a:solidFill>
                  <a:srgbClr val="20B7C5"/>
                </a:solidFill>
                <a:latin typeface="Aptos"/>
                <a:ea typeface="Aptos"/>
                <a:cs typeface="Aptos"/>
              </a:rPr>
              <a:t>MATLAB + SIMULINK</a:t>
            </a:r>
          </a:p>
        </p:txBody>
      </p:sp>
      <p:sp>
        <p:nvSpPr>
          <p:cNvPr id="21" name="text-439">
            <a:extLst xmlns:a="http://schemas.openxmlformats.org/drawingml/2006/main">
              <a:ext uri="{FF2B5EF4-FFF2-40B4-BE49-F238E27FC236}">
                <a16:creationId xmlns:a16="http://schemas.microsoft.com/office/drawing/2014/main" id="{9C3415C8-3BC3-4120-B405-BC30778EB2DA}"/>
              </a:ext>
            </a:extLst>
          </p:cNvPr>
          <p:cNvSpPr>
            <a:spLocks xmlns:a="http://schemas.openxmlformats.org/drawingml/2006/main" noGrp="1"/>
          </p:cNvSpPr>
          <p:nvPr/>
        </p:nvSpPr>
        <p:spPr>
          <a:xfrm xmlns:a="http://schemas.openxmlformats.org/drawingml/2006/main">
            <a:off x="3714750" y="40767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opens project, compiles models, runs checks and .mldatx suites, emits CI results</a:t>
            </a:r>
          </a:p>
        </p:txBody>
      </p:sp>
      <p:sp>
        <p:nvSpPr>
          <p:cNvPr id="22" name="line-440">
            <a:extLst xmlns:a="http://schemas.openxmlformats.org/drawingml/2006/main">
              <a:ext uri="{FF2B5EF4-FFF2-40B4-BE49-F238E27FC236}">
                <a16:creationId xmlns:a16="http://schemas.microsoft.com/office/drawing/2014/main" id="{3F8ADD45-A15E-49E5-9F2F-3171DF1E5ED7}"/>
              </a:ext>
            </a:extLst>
          </p:cNvPr>
          <p:cNvSpPr>
            <a:spLocks xmlns:a="http://schemas.openxmlformats.org/drawingml/2006/main" noGrp="1"/>
          </p:cNvSpPr>
          <p:nvPr/>
        </p:nvSpPr>
        <p:spPr>
          <a:xfrm xmlns:a="http://schemas.openxmlformats.org/drawingml/2006/main">
            <a:off x="819150" y="46482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3" name="text-441">
            <a:extLst xmlns:a="http://schemas.openxmlformats.org/drawingml/2006/main">
              <a:ext uri="{FF2B5EF4-FFF2-40B4-BE49-F238E27FC236}">
                <a16:creationId xmlns:a16="http://schemas.microsoft.com/office/drawing/2014/main" id="{6164949F-1370-43CD-9889-5A2294C15DAD}"/>
              </a:ext>
            </a:extLst>
          </p:cNvPr>
          <p:cNvSpPr>
            <a:spLocks xmlns:a="http://schemas.openxmlformats.org/drawingml/2006/main" noGrp="1"/>
          </p:cNvSpPr>
          <p:nvPr/>
        </p:nvSpPr>
        <p:spPr>
          <a:xfrm xmlns:a="http://schemas.openxmlformats.org/drawingml/2006/main">
            <a:off x="819150" y="49149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E9A23B"/>
                </a:solidFill>
                <a:latin typeface="Aptos"/>
                <a:ea typeface="Aptos"/>
                <a:cs typeface="Aptos"/>
              </a:defRPr>
            </a:pPr>
            <a:r>
              <a:rPr sz="1425" b="1" i="0">
                <a:solidFill>
                  <a:srgbClr val="E9A23B"/>
                </a:solidFill>
                <a:latin typeface="Aptos"/>
                <a:ea typeface="Aptos"/>
                <a:cs typeface="Aptos"/>
              </a:rPr>
              <a:t>ROBOT FRAMEWORK</a:t>
            </a:r>
          </a:p>
        </p:txBody>
      </p:sp>
      <p:sp>
        <p:nvSpPr>
          <p:cNvPr id="24" name="text-442">
            <a:extLst xmlns:a="http://schemas.openxmlformats.org/drawingml/2006/main">
              <a:ext uri="{FF2B5EF4-FFF2-40B4-BE49-F238E27FC236}">
                <a16:creationId xmlns:a16="http://schemas.microsoft.com/office/drawing/2014/main" id="{DD751F3A-FCDB-4440-BD10-4F46B3E51056}"/>
              </a:ext>
            </a:extLst>
          </p:cNvPr>
          <p:cNvSpPr>
            <a:spLocks xmlns:a="http://schemas.openxmlformats.org/drawingml/2006/main" noGrp="1"/>
          </p:cNvSpPr>
          <p:nvPr/>
        </p:nvSpPr>
        <p:spPr>
          <a:xfrm xmlns:a="http://schemas.openxmlformats.org/drawingml/2006/main">
            <a:off x="3714750" y="49149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optional keyword-driven orchestration for benches, external interfaces, and system tests</a:t>
            </a:r>
          </a:p>
        </p:txBody>
      </p:sp>
      <p:sp>
        <p:nvSpPr>
          <p:cNvPr id="25" name="line-443">
            <a:extLst xmlns:a="http://schemas.openxmlformats.org/drawingml/2006/main">
              <a:ext uri="{FF2B5EF4-FFF2-40B4-BE49-F238E27FC236}">
                <a16:creationId xmlns:a16="http://schemas.microsoft.com/office/drawing/2014/main" id="{B4A15AA6-12C4-4A14-B1F0-18936CF9CAC2}"/>
              </a:ext>
            </a:extLst>
          </p:cNvPr>
          <p:cNvSpPr>
            <a:spLocks xmlns:a="http://schemas.openxmlformats.org/drawingml/2006/main" noGrp="1"/>
          </p:cNvSpPr>
          <p:nvPr/>
        </p:nvSpPr>
        <p:spPr>
          <a:xfrm xmlns:a="http://schemas.openxmlformats.org/drawingml/2006/main">
            <a:off x="819150" y="54864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6" name="text-444">
            <a:extLst xmlns:a="http://schemas.openxmlformats.org/drawingml/2006/main">
              <a:ext uri="{FF2B5EF4-FFF2-40B4-BE49-F238E27FC236}">
                <a16:creationId xmlns:a16="http://schemas.microsoft.com/office/drawing/2014/main" id="{8C7B9B7F-4C1D-4B10-8192-A711B2378B78}"/>
              </a:ext>
            </a:extLst>
          </p:cNvPr>
          <p:cNvSpPr>
            <a:spLocks xmlns:a="http://schemas.openxmlformats.org/drawingml/2006/main" noGrp="1"/>
          </p:cNvSpPr>
          <p:nvPr/>
        </p:nvSpPr>
        <p:spPr>
          <a:xfrm xmlns:a="http://schemas.openxmlformats.org/drawingml/2006/main">
            <a:off x="1295400" y="5953125"/>
            <a:ext cx="9601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425" b="1" i="0">
                <a:solidFill>
                  <a:srgbClr val="70DCE5"/>
                </a:solidFill>
                <a:latin typeface="Aptos"/>
                <a:ea typeface="Aptos"/>
                <a:cs typeface="Aptos"/>
              </a:defRPr>
            </a:pPr>
            <a:r>
              <a:rPr sz="1425" b="1" i="0">
                <a:solidFill>
                  <a:srgbClr val="70DCE5"/>
                </a:solidFill>
                <a:latin typeface="Aptos"/>
                <a:ea typeface="Aptos"/>
                <a:cs typeface="Aptos"/>
              </a:rPr>
              <a:t>Use continuous integration and verification automation—not automatic deployment to airborne software.</a:t>
            </a:r>
          </a:p>
        </p:txBody>
      </p:sp>
    </p:spTree>
    <p:extLst>
      <p:ext uri="{BB962C8B-B14F-4D97-AF65-F5344CB8AC3E}">
        <p14:creationId xmlns:p14="http://schemas.microsoft.com/office/powerpoint/2010/main" val="92477978"/>
      </p:ext>
    </p:extLst>
  </p:cSld>
</p:sld>
</file>

<file path=ppt/slides/slide2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6" name="section-444">
            <a:extLst xmlns:a="http://schemas.openxmlformats.org/drawingml/2006/main">
              <a:ext uri="{FF2B5EF4-FFF2-40B4-BE49-F238E27FC236}">
                <a16:creationId xmlns:a16="http://schemas.microsoft.com/office/drawing/2014/main" id="{B7967667-1559-492F-8957-875528EDB045}"/>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12 • FAILURE INVESTIGATION</a:t>
            </a:r>
          </a:p>
        </p:txBody>
      </p:sp>
      <p:sp>
        <p:nvSpPr>
          <p:cNvPr id="2" name="title-444">
            <a:extLst xmlns:a="http://schemas.openxmlformats.org/drawingml/2006/main">
              <a:ext uri="{FF2B5EF4-FFF2-40B4-BE49-F238E27FC236}">
                <a16:creationId xmlns:a16="http://schemas.microsoft.com/office/drawing/2014/main" id="{50F491A5-17FC-4A6D-B7FD-66EC28F19FF7}"/>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Classify the first meaningful failure</a:t>
            </a:r>
          </a:p>
        </p:txBody>
      </p:sp>
      <p:sp>
        <p:nvSpPr>
          <p:cNvPr id="3" name="line-445">
            <a:extLst xmlns:a="http://schemas.openxmlformats.org/drawingml/2006/main">
              <a:ext uri="{FF2B5EF4-FFF2-40B4-BE49-F238E27FC236}">
                <a16:creationId xmlns:a16="http://schemas.microsoft.com/office/drawing/2014/main" id="{5CEBA712-C0DC-450D-8E1F-B3E5575A85AD}"/>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46">
            <a:extLst xmlns:a="http://schemas.openxmlformats.org/drawingml/2006/main">
              <a:ext uri="{FF2B5EF4-FFF2-40B4-BE49-F238E27FC236}">
                <a16:creationId xmlns:a16="http://schemas.microsoft.com/office/drawing/2014/main" id="{392024D4-26D9-480A-ACBB-8F23D2B00D9F}"/>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47">
            <a:extLst xmlns:a="http://schemas.openxmlformats.org/drawingml/2006/main">
              <a:ext uri="{FF2B5EF4-FFF2-40B4-BE49-F238E27FC236}">
                <a16:creationId xmlns:a16="http://schemas.microsoft.com/office/drawing/2014/main" id="{8CC7157F-69BF-48ED-A1A5-8D11578F337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28</a:t>
            </a:r>
          </a:p>
        </p:txBody>
      </p:sp>
      <p:sp>
        <p:nvSpPr>
          <p:cNvPr id="6" name="box-448">
            <a:extLst xmlns:a="http://schemas.openxmlformats.org/drawingml/2006/main">
              <a:ext uri="{FF2B5EF4-FFF2-40B4-BE49-F238E27FC236}">
                <a16:creationId xmlns:a16="http://schemas.microsoft.com/office/drawing/2014/main" id="{EDDC7DD9-C0BA-49E7-8A66-5716E10E9211}"/>
              </a:ext>
            </a:extLst>
          </p:cNvPr>
          <p:cNvSpPr>
            <a:spLocks xmlns:a="http://schemas.openxmlformats.org/drawingml/2006/main" noGrp="1"/>
          </p:cNvSpPr>
          <p:nvPr/>
        </p:nvSpPr>
        <p:spPr>
          <a:xfrm xmlns:a="http://schemas.openxmlformats.org/drawingml/2006/main">
            <a:off x="4476750" y="1428750"/>
            <a:ext cx="3238500" cy="590550"/>
          </a:xfrm>
          <a:prstGeom xmlns:a="http://schemas.openxmlformats.org/drawingml/2006/main" prst="roundRect">
            <a:avLst>
              <a:gd name="adj" fmla="val 12903"/>
            </a:avLst>
          </a:prstGeom>
          <a:solidFill xmlns:a="http://schemas.openxmlformats.org/drawingml/2006/main">
            <a:srgbClr val="FBE6E8"/>
          </a:solidFill>
          <a:ln xmlns:a="http://schemas.openxmlformats.org/drawingml/2006/main" w="19050">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PIPELINE FAILURE</a:t>
            </a:r>
          </a:p>
        </p:txBody>
      </p:sp>
      <p:sp>
        <p:nvSpPr>
          <p:cNvPr id="7" name="box-449">
            <a:extLst xmlns:a="http://schemas.openxmlformats.org/drawingml/2006/main">
              <a:ext uri="{FF2B5EF4-FFF2-40B4-BE49-F238E27FC236}">
                <a16:creationId xmlns:a16="http://schemas.microsoft.com/office/drawing/2014/main" id="{FFE5CB04-2C4E-4A9A-9BDB-07C43C7EC104}"/>
              </a:ext>
            </a:extLst>
          </p:cNvPr>
          <p:cNvSpPr>
            <a:spLocks xmlns:a="http://schemas.openxmlformats.org/drawingml/2006/main" noGrp="1"/>
          </p:cNvSpPr>
          <p:nvPr/>
        </p:nvSpPr>
        <p:spPr>
          <a:xfrm xmlns:a="http://schemas.openxmlformats.org/drawingml/2006/main">
            <a:off x="4476750" y="2457450"/>
            <a:ext cx="3238500" cy="7620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Can you reproduce it</a:t>
            </a:r>
          </a:p>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with the controlled command?</a:t>
            </a:r>
          </a:p>
        </p:txBody>
      </p:sp>
      <p:sp>
        <p:nvSpPr>
          <p:cNvPr id="8" name="box-450">
            <a:extLst xmlns:a="http://schemas.openxmlformats.org/drawingml/2006/main">
              <a:ext uri="{FF2B5EF4-FFF2-40B4-BE49-F238E27FC236}">
                <a16:creationId xmlns:a16="http://schemas.microsoft.com/office/drawing/2014/main" id="{58A6C376-536E-467F-98DF-AEDA4FF4C1C7}"/>
              </a:ext>
            </a:extLst>
          </p:cNvPr>
          <p:cNvSpPr>
            <a:spLocks xmlns:a="http://schemas.openxmlformats.org/drawingml/2006/main" noGrp="1"/>
          </p:cNvSpPr>
          <p:nvPr/>
        </p:nvSpPr>
        <p:spPr>
          <a:xfrm xmlns:a="http://schemas.openxmlformats.org/drawingml/2006/main">
            <a:off x="838200" y="3810000"/>
            <a:ext cx="3143250" cy="1047750"/>
          </a:xfrm>
          <a:prstGeom xmlns:a="http://schemas.openxmlformats.org/drawingml/2006/main" prst="roundRect">
            <a:avLst>
              <a:gd name="adj" fmla="val 9091"/>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NO</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Compare agent, licenses, paths,</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project startup, data, versions</a:t>
            </a:r>
          </a:p>
        </p:txBody>
      </p:sp>
      <p:sp>
        <p:nvSpPr>
          <p:cNvPr id="9" name="box-451">
            <a:extLst xmlns:a="http://schemas.openxmlformats.org/drawingml/2006/main">
              <a:ext uri="{FF2B5EF4-FFF2-40B4-BE49-F238E27FC236}">
                <a16:creationId xmlns:a16="http://schemas.microsoft.com/office/drawing/2014/main" id="{C305EFF5-B41C-49E9-AD2A-F57CFD79BA7E}"/>
              </a:ext>
            </a:extLst>
          </p:cNvPr>
          <p:cNvSpPr>
            <a:spLocks xmlns:a="http://schemas.openxmlformats.org/drawingml/2006/main" noGrp="1"/>
          </p:cNvSpPr>
          <p:nvPr/>
        </p:nvSpPr>
        <p:spPr>
          <a:xfrm xmlns:a="http://schemas.openxmlformats.org/drawingml/2006/main">
            <a:off x="4524375" y="3810000"/>
            <a:ext cx="3143250" cy="1047750"/>
          </a:xfrm>
          <a:prstGeom xmlns:a="http://schemas.openxmlformats.org/drawingml/2006/main" prst="roundRect">
            <a:avLst>
              <a:gd name="adj" fmla="val 9091"/>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YES — compile/static</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Interface • type • dimension • rate</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reference • parameter • variant</a:t>
            </a:r>
          </a:p>
        </p:txBody>
      </p:sp>
      <p:sp>
        <p:nvSpPr>
          <p:cNvPr id="10" name="box-452">
            <a:extLst xmlns:a="http://schemas.openxmlformats.org/drawingml/2006/main">
              <a:ext uri="{FF2B5EF4-FFF2-40B4-BE49-F238E27FC236}">
                <a16:creationId xmlns:a16="http://schemas.microsoft.com/office/drawing/2014/main" id="{DFEE7E19-1989-4CD4-90E2-5B3AA461E206}"/>
              </a:ext>
            </a:extLst>
          </p:cNvPr>
          <p:cNvSpPr>
            <a:spLocks xmlns:a="http://schemas.openxmlformats.org/drawingml/2006/main" noGrp="1"/>
          </p:cNvSpPr>
          <p:nvPr/>
        </p:nvSpPr>
        <p:spPr>
          <a:xfrm xmlns:a="http://schemas.openxmlformats.org/drawingml/2006/main">
            <a:off x="8210550" y="3810000"/>
            <a:ext cx="3143250" cy="1047750"/>
          </a:xfrm>
          <a:prstGeom xmlns:a="http://schemas.openxmlformats.org/drawingml/2006/main" prst="roundRect">
            <a:avLst>
              <a:gd name="adj" fmla="val 9091"/>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YES — functional</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Stimulus • expected result • tolerance</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mode • initial state • timing</a:t>
            </a:r>
          </a:p>
        </p:txBody>
      </p:sp>
      <p:cxnSp>
        <p:nvCxnSpPr>
          <p:cNvPr id="26" name=""/>
          <p:cNvCxnSpPr>
            <a:stCxn xmlns:a="http://schemas.openxmlformats.org/drawingml/2006/main" id="6" idx="2"/>
            <a:endCxn xmlns:a="http://schemas.openxmlformats.org/drawingml/2006/main" id="7" idx="0"/>
          </p:cNvCxnSpPr>
          <p:nvPr/>
        </p:nvCxnSpPr>
        <p:spPr>
          <a:xfrm xmlns:a="http://schemas.openxmlformats.org/drawingml/2006/main">
            <a:off x="6096000" y="2019300"/>
            <a:ext cx="0" cy="438150"/>
          </a:xfrm>
          <a:prstGeom xmlns:a="http://schemas.openxmlformats.org/drawingml/2006/main" prst="straightConnector1">
            <a:avLst/>
          </a:prstGeom>
          <a:ln xmlns:a="http://schemas.openxmlformats.org/drawingml/2006/main" w="28575">
            <a:solidFill>
              <a:srgbClr val="D75A64"/>
            </a:solidFill>
            <a:prstDash val="solid"/>
            <a:tailEnd type="triangle" w="sm" len="sm"/>
          </a:ln>
        </p:spPr>
      </p:cxnSp>
      <p:cxnSp>
        <p:nvCxnSpPr>
          <p:cNvPr id="27" name=""/>
          <p:cNvCxnSpPr>
            <a:stCxn xmlns:a="http://schemas.openxmlformats.org/drawingml/2006/main" id="7" idx="1"/>
            <a:endCxn xmlns:a="http://schemas.openxmlformats.org/drawingml/2006/main" id="8" idx="0"/>
          </p:cNvCxnSpPr>
          <p:nvPr/>
        </p:nvCxnSpPr>
        <p:spPr>
          <a:xfrm xmlns:a="http://schemas.openxmlformats.org/drawingml/2006/main" flipH="1">
            <a:off x="2409825" y="2838450"/>
            <a:ext cx="2066925" cy="971550"/>
          </a:xfrm>
          <a:prstGeom xmlns:a="http://schemas.openxmlformats.org/drawingml/2006/main" prst="bentConnector2">
            <a:avLst/>
          </a:prstGeom>
          <a:ln xmlns:a="http://schemas.openxmlformats.org/drawingml/2006/main" w="28575">
            <a:solidFill>
              <a:srgbClr val="E9A23B"/>
            </a:solidFill>
            <a:prstDash val="solid"/>
            <a:tailEnd type="triangle" w="sm" len="sm"/>
          </a:ln>
        </p:spPr>
      </p:cxnSp>
      <p:cxnSp>
        <p:nvCxnSpPr>
          <p:cNvPr id="28" name=""/>
          <p:cNvCxnSpPr>
            <a:stCxn xmlns:a="http://schemas.openxmlformats.org/drawingml/2006/main" id="7" idx="2"/>
            <a:endCxn xmlns:a="http://schemas.openxmlformats.org/drawingml/2006/main" id="9" idx="0"/>
          </p:cNvCxnSpPr>
          <p:nvPr/>
        </p:nvCxnSpPr>
        <p:spPr>
          <a:xfrm xmlns:a="http://schemas.openxmlformats.org/drawingml/2006/main">
            <a:off x="6096000" y="3219450"/>
            <a:ext cx="0" cy="59055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29" name=""/>
          <p:cNvCxnSpPr>
            <a:stCxn xmlns:a="http://schemas.openxmlformats.org/drawingml/2006/main" id="7" idx="3"/>
            <a:endCxn xmlns:a="http://schemas.openxmlformats.org/drawingml/2006/main" id="10" idx="0"/>
          </p:cNvCxnSpPr>
          <p:nvPr/>
        </p:nvCxnSpPr>
        <p:spPr>
          <a:xfrm xmlns:a="http://schemas.openxmlformats.org/drawingml/2006/main">
            <a:off x="7715250" y="2838450"/>
            <a:ext cx="2066925" cy="971550"/>
          </a:xfrm>
          <a:prstGeom xmlns:a="http://schemas.openxmlformats.org/drawingml/2006/main" prst="bentConnector2">
            <a:avLst/>
          </a:prstGeom>
          <a:ln xmlns:a="http://schemas.openxmlformats.org/drawingml/2006/main" w="28575">
            <a:solidFill>
              <a:srgbClr val="20B7C5"/>
            </a:solidFill>
            <a:prstDash val="solid"/>
            <a:tailEnd type="triangle" w="sm" len="sm"/>
          </a:ln>
        </p:spPr>
      </p:cxnSp>
      <p:sp>
        <p:nvSpPr>
          <p:cNvPr id="15" name="box-453">
            <a:extLst xmlns:a="http://schemas.openxmlformats.org/drawingml/2006/main">
              <a:ext uri="{FF2B5EF4-FFF2-40B4-BE49-F238E27FC236}">
                <a16:creationId xmlns:a16="http://schemas.microsoft.com/office/drawing/2014/main" id="{D919C782-A4DD-4E83-8D27-191320E8CDB9}"/>
              </a:ext>
            </a:extLst>
          </p:cNvPr>
          <p:cNvSpPr>
            <a:spLocks xmlns:a="http://schemas.openxmlformats.org/drawingml/2006/main" noGrp="1"/>
          </p:cNvSpPr>
          <p:nvPr/>
        </p:nvSpPr>
        <p:spPr>
          <a:xfrm xmlns:a="http://schemas.openxmlformats.org/drawingml/2006/main">
            <a:off x="1524000" y="5429250"/>
            <a:ext cx="9144000" cy="571500"/>
          </a:xfrm>
          <a:prstGeom xmlns:a="http://schemas.openxmlformats.org/drawingml/2006/main" prst="roundRect">
            <a:avLst>
              <a:gd name="adj" fmla="val 13333"/>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Fix root cause → add regression protection → re-run affected scope → run controlled full pipeline</a:t>
            </a:r>
          </a:p>
        </p:txBody>
      </p:sp>
    </p:spTree>
    <p:extLst>
      <p:ext uri="{BB962C8B-B14F-4D97-AF65-F5344CB8AC3E}">
        <p14:creationId xmlns:p14="http://schemas.microsoft.com/office/powerpoint/2010/main" val="64423345"/>
      </p:ext>
    </p:extLst>
  </p:cSld>
</p:sld>
</file>

<file path=ppt/slides/slide29.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453">
            <a:extLst xmlns:a="http://schemas.openxmlformats.org/drawingml/2006/main">
              <a:ext uri="{FF2B5EF4-FFF2-40B4-BE49-F238E27FC236}">
                <a16:creationId xmlns:a16="http://schemas.microsoft.com/office/drawing/2014/main" id="{167C50D1-0B97-4DF0-9224-14D2CD658FF2}"/>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13 • HARDWARE-IN-THE-LOOP</a:t>
            </a:r>
          </a:p>
        </p:txBody>
      </p:sp>
      <p:sp>
        <p:nvSpPr>
          <p:cNvPr id="2" name="title-453">
            <a:extLst xmlns:a="http://schemas.openxmlformats.org/drawingml/2006/main">
              <a:ext uri="{FF2B5EF4-FFF2-40B4-BE49-F238E27FC236}">
                <a16:creationId xmlns:a16="http://schemas.microsoft.com/office/drawing/2014/main" id="{BC539958-0826-4EF4-A598-04CADF6C866B}"/>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HIL tests real hardware in a virtual aircraft</a:t>
            </a:r>
          </a:p>
        </p:txBody>
      </p:sp>
      <p:sp>
        <p:nvSpPr>
          <p:cNvPr id="3" name="line-454">
            <a:extLst xmlns:a="http://schemas.openxmlformats.org/drawingml/2006/main">
              <a:ext uri="{FF2B5EF4-FFF2-40B4-BE49-F238E27FC236}">
                <a16:creationId xmlns:a16="http://schemas.microsoft.com/office/drawing/2014/main" id="{3E6809E5-87B8-4C51-A443-3CBF82104013}"/>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55">
            <a:extLst xmlns:a="http://schemas.openxmlformats.org/drawingml/2006/main">
              <a:ext uri="{FF2B5EF4-FFF2-40B4-BE49-F238E27FC236}">
                <a16:creationId xmlns:a16="http://schemas.microsoft.com/office/drawing/2014/main" id="{51B59FC2-2C1C-440E-B77C-78DCDECE2368}"/>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456">
            <a:extLst xmlns:a="http://schemas.openxmlformats.org/drawingml/2006/main">
              <a:ext uri="{FF2B5EF4-FFF2-40B4-BE49-F238E27FC236}">
                <a16:creationId xmlns:a16="http://schemas.microsoft.com/office/drawing/2014/main" id="{B657F59D-CCCA-4658-B4D7-4556339BE377}"/>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29</a:t>
            </a:r>
          </a:p>
        </p:txBody>
      </p:sp>
      <p:sp>
        <p:nvSpPr>
          <p:cNvPr id="6" name="box-457">
            <a:extLst xmlns:a="http://schemas.openxmlformats.org/drawingml/2006/main">
              <a:ext uri="{FF2B5EF4-FFF2-40B4-BE49-F238E27FC236}">
                <a16:creationId xmlns:a16="http://schemas.microsoft.com/office/drawing/2014/main" id="{8BD9C519-B638-493F-9C65-E5512B07C925}"/>
              </a:ext>
            </a:extLst>
          </p:cNvPr>
          <p:cNvSpPr>
            <a:spLocks xmlns:a="http://schemas.openxmlformats.org/drawingml/2006/main" noGrp="1"/>
          </p:cNvSpPr>
          <p:nvPr/>
        </p:nvSpPr>
        <p:spPr>
          <a:xfrm xmlns:a="http://schemas.openxmlformats.org/drawingml/2006/main">
            <a:off x="704850" y="2190750"/>
            <a:ext cx="2286000" cy="952500"/>
          </a:xfrm>
          <a:prstGeom xmlns:a="http://schemas.openxmlformats.org/drawingml/2006/main" prst="roundRect">
            <a:avLst>
              <a:gd name="adj" fmla="val 10000"/>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Test Host</a:t>
            </a:r>
          </a:p>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scenarios • automation • logs</a:t>
            </a:r>
          </a:p>
        </p:txBody>
      </p:sp>
      <p:sp>
        <p:nvSpPr>
          <p:cNvPr id="7" name="box-458">
            <a:extLst xmlns:a="http://schemas.openxmlformats.org/drawingml/2006/main">
              <a:ext uri="{FF2B5EF4-FFF2-40B4-BE49-F238E27FC236}">
                <a16:creationId xmlns:a16="http://schemas.microsoft.com/office/drawing/2014/main" id="{CA78C6CA-A876-44DA-869B-3AB82DE3AB70}"/>
              </a:ext>
            </a:extLst>
          </p:cNvPr>
          <p:cNvSpPr>
            <a:spLocks xmlns:a="http://schemas.openxmlformats.org/drawingml/2006/main" noGrp="1"/>
          </p:cNvSpPr>
          <p:nvPr/>
        </p:nvSpPr>
        <p:spPr>
          <a:xfrm xmlns:a="http://schemas.openxmlformats.org/drawingml/2006/main">
            <a:off x="3714750" y="2000250"/>
            <a:ext cx="2857500" cy="1333500"/>
          </a:xfrm>
          <a:prstGeom xmlns:a="http://schemas.openxmlformats.org/drawingml/2006/main" prst="roundRect">
            <a:avLst>
              <a:gd name="adj" fmla="val 7143"/>
            </a:avLst>
          </a:prstGeom>
          <a:solidFill xmlns:a="http://schemas.openxmlformats.org/drawingml/2006/main">
            <a:srgbClr val="10372A"/>
          </a:solidFill>
          <a:ln xmlns:a="http://schemas.openxmlformats.org/drawingml/2006/main" w="28575">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FFFFFF"/>
                </a:solidFill>
                <a:latin typeface="Aptos"/>
                <a:ea typeface="Aptos"/>
                <a:cs typeface="Aptos"/>
              </a:defRPr>
            </a:pPr>
            <a:r>
              <a:rPr sz="1725" b="1">
                <a:solidFill>
                  <a:srgbClr val="FFFFFF"/>
                </a:solidFill>
                <a:latin typeface="Aptos"/>
                <a:ea typeface="Aptos"/>
                <a:cs typeface="Aptos"/>
              </a:rPr>
              <a:t>Flight-Control Computer</a:t>
            </a:r>
          </a:p>
          <a:p xmlns:a="http://schemas.openxmlformats.org/drawingml/2006/main">
            <a:pPr algn="ctr">
              <a:lnSpc>
                <a:spcPct val="100000"/>
              </a:lnSpc>
              <a:buNone/>
              <a:defRPr sz="1725" b="1">
                <a:solidFill>
                  <a:srgbClr val="FFFFFF"/>
                </a:solidFill>
                <a:latin typeface="Aptos"/>
                <a:ea typeface="Aptos"/>
                <a:cs typeface="Aptos"/>
              </a:defRPr>
            </a:pPr>
            <a:r>
              <a:rPr sz="1725" b="1">
                <a:solidFill>
                  <a:srgbClr val="FFFFFF"/>
                </a:solidFill>
                <a:latin typeface="Aptos"/>
                <a:ea typeface="Aptos"/>
                <a:cs typeface="Aptos"/>
              </a:rPr>
              <a:t>production software + processor</a:t>
            </a:r>
          </a:p>
        </p:txBody>
      </p:sp>
      <p:sp>
        <p:nvSpPr>
          <p:cNvPr id="8" name="box-459">
            <a:extLst xmlns:a="http://schemas.openxmlformats.org/drawingml/2006/main">
              <a:ext uri="{FF2B5EF4-FFF2-40B4-BE49-F238E27FC236}">
                <a16:creationId xmlns:a16="http://schemas.microsoft.com/office/drawing/2014/main" id="{8640E0FC-7902-477B-BA1A-593D51BAFA71}"/>
              </a:ext>
            </a:extLst>
          </p:cNvPr>
          <p:cNvSpPr>
            <a:spLocks xmlns:a="http://schemas.openxmlformats.org/drawingml/2006/main" noGrp="1"/>
          </p:cNvSpPr>
          <p:nvPr/>
        </p:nvSpPr>
        <p:spPr>
          <a:xfrm xmlns:a="http://schemas.openxmlformats.org/drawingml/2006/main">
            <a:off x="7239000" y="2190750"/>
            <a:ext cx="2286000" cy="952500"/>
          </a:xfrm>
          <a:prstGeom xmlns:a="http://schemas.openxmlformats.org/drawingml/2006/main" prst="roundRect">
            <a:avLst>
              <a:gd name="adj" fmla="val 10000"/>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Physical I/O + Loads</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A/D • D/A • discrete • bus</a:t>
            </a:r>
          </a:p>
        </p:txBody>
      </p:sp>
      <p:sp>
        <p:nvSpPr>
          <p:cNvPr id="9" name="box-460">
            <a:extLst xmlns:a="http://schemas.openxmlformats.org/drawingml/2006/main">
              <a:ext uri="{FF2B5EF4-FFF2-40B4-BE49-F238E27FC236}">
                <a16:creationId xmlns:a16="http://schemas.microsoft.com/office/drawing/2014/main" id="{FDB2F2DF-0628-49D7-B82F-EAE2CB2B04EE}"/>
              </a:ext>
            </a:extLst>
          </p:cNvPr>
          <p:cNvSpPr>
            <a:spLocks xmlns:a="http://schemas.openxmlformats.org/drawingml/2006/main" noGrp="1"/>
          </p:cNvSpPr>
          <p:nvPr/>
        </p:nvSpPr>
        <p:spPr>
          <a:xfrm xmlns:a="http://schemas.openxmlformats.org/drawingml/2006/main">
            <a:off x="8191500" y="4095750"/>
            <a:ext cx="3238500" cy="1238250"/>
          </a:xfrm>
          <a:prstGeom xmlns:a="http://schemas.openxmlformats.org/drawingml/2006/main" prst="roundRect">
            <a:avLst>
              <a:gd name="adj" fmla="val 7692"/>
            </a:avLst>
          </a:prstGeom>
          <a:solidFill xmlns:a="http://schemas.openxmlformats.org/drawingml/2006/main">
            <a:srgbClr val="0B2438"/>
          </a:solidFill>
          <a:ln xmlns:a="http://schemas.openxmlformats.org/drawingml/2006/main" w="2857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Real-Time Plant Simulation</a:t>
            </a:r>
          </a:p>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aircraft • actuators • sensors • environment</a:t>
            </a:r>
          </a:p>
        </p:txBody>
      </p:sp>
      <p:cxnSp>
        <p:nvCxnSpPr>
          <p:cNvPr id="26" name=""/>
          <p:cNvCxnSpPr>
            <a:stCxn xmlns:a="http://schemas.openxmlformats.org/drawingml/2006/main" id="6" idx="3"/>
            <a:endCxn xmlns:a="http://schemas.openxmlformats.org/drawingml/2006/main" id="7" idx="1"/>
          </p:cNvCxnSpPr>
          <p:nvPr/>
        </p:nvCxnSpPr>
        <p:spPr>
          <a:xfrm xmlns:a="http://schemas.openxmlformats.org/drawingml/2006/main">
            <a:off x="2990850" y="2667000"/>
            <a:ext cx="723900" cy="0"/>
          </a:xfrm>
          <a:prstGeom xmlns:a="http://schemas.openxmlformats.org/drawingml/2006/main" prst="straightConnector1">
            <a:avLst/>
          </a:prstGeom>
          <a:ln xmlns:a="http://schemas.openxmlformats.org/drawingml/2006/main" w="28575">
            <a:solidFill>
              <a:srgbClr val="20B7C5"/>
            </a:solidFill>
            <a:prstDash val="solid"/>
            <a:headEnd type="triangle" w="sm" len="sm"/>
            <a:tailEnd type="triangle" w="sm" len="sm"/>
          </a:ln>
        </p:spPr>
      </p:cxnSp>
      <p:cxnSp>
        <p:nvCxnSpPr>
          <p:cNvPr id="27" name=""/>
          <p:cNvCxnSpPr>
            <a:stCxn xmlns:a="http://schemas.openxmlformats.org/drawingml/2006/main" id="7" idx="3"/>
            <a:endCxn xmlns:a="http://schemas.openxmlformats.org/drawingml/2006/main" id="8" idx="1"/>
          </p:cNvCxnSpPr>
          <p:nvPr/>
        </p:nvCxnSpPr>
        <p:spPr>
          <a:xfrm xmlns:a="http://schemas.openxmlformats.org/drawingml/2006/main">
            <a:off x="6572250" y="2667000"/>
            <a:ext cx="666750" cy="0"/>
          </a:xfrm>
          <a:prstGeom xmlns:a="http://schemas.openxmlformats.org/drawingml/2006/main" prst="straightConnector1">
            <a:avLst/>
          </a:prstGeom>
          <a:ln xmlns:a="http://schemas.openxmlformats.org/drawingml/2006/main" w="38100">
            <a:solidFill>
              <a:srgbClr val="E9A23B"/>
            </a:solidFill>
            <a:prstDash val="solid"/>
            <a:headEnd type="triangle" w="sm" len="sm"/>
            <a:tailEnd type="triangle" w="sm" len="sm"/>
          </a:ln>
        </p:spPr>
      </p:cxnSp>
      <p:cxnSp>
        <p:nvCxnSpPr>
          <p:cNvPr id="28" name=""/>
          <p:cNvCxnSpPr>
            <a:stCxn xmlns:a="http://schemas.openxmlformats.org/drawingml/2006/main" id="8" idx="2"/>
            <a:endCxn xmlns:a="http://schemas.openxmlformats.org/drawingml/2006/main" id="9" idx="0"/>
          </p:cNvCxnSpPr>
          <p:nvPr/>
        </p:nvCxnSpPr>
        <p:spPr>
          <a:xfrm xmlns:a="http://schemas.openxmlformats.org/drawingml/2006/main">
            <a:off x="8382000" y="3143250"/>
            <a:ext cx="1428750" cy="952500"/>
          </a:xfrm>
          <a:prstGeom xmlns:a="http://schemas.openxmlformats.org/drawingml/2006/main" prst="bentConnector4">
            <a:avLst>
              <a:gd name="adj1" fmla="val 0"/>
              <a:gd name="adj2" fmla="val 50000"/>
            </a:avLst>
          </a:prstGeom>
          <a:ln xmlns:a="http://schemas.openxmlformats.org/drawingml/2006/main" w="38100">
            <a:solidFill>
              <a:srgbClr val="2D6CDF"/>
            </a:solidFill>
            <a:prstDash val="solid"/>
            <a:headEnd type="triangle" w="sm" len="sm"/>
            <a:tailEnd type="triangle" w="sm" len="sm"/>
          </a:ln>
        </p:spPr>
      </p:cxnSp>
      <p:sp>
        <p:nvSpPr>
          <p:cNvPr id="13" name="box-461">
            <a:extLst xmlns:a="http://schemas.openxmlformats.org/drawingml/2006/main">
              <a:ext uri="{FF2B5EF4-FFF2-40B4-BE49-F238E27FC236}">
                <a16:creationId xmlns:a16="http://schemas.microsoft.com/office/drawing/2014/main" id="{71EF8D96-5582-4102-BE6A-3599C810B10B}"/>
              </a:ext>
            </a:extLst>
          </p:cNvPr>
          <p:cNvSpPr>
            <a:spLocks xmlns:a="http://schemas.openxmlformats.org/drawingml/2006/main" noGrp="1"/>
          </p:cNvSpPr>
          <p:nvPr/>
        </p:nvSpPr>
        <p:spPr>
          <a:xfrm xmlns:a="http://schemas.openxmlformats.org/drawingml/2006/main">
            <a:off x="914400" y="4286250"/>
            <a:ext cx="4476750" cy="876300"/>
          </a:xfrm>
          <a:prstGeom xmlns:a="http://schemas.openxmlformats.org/drawingml/2006/main" prst="roundRect">
            <a:avLst>
              <a:gd name="adj" fmla="val 10870"/>
            </a:avLst>
          </a:prstGeom>
          <a:solidFill xmlns:a="http://schemas.openxmlformats.org/drawingml/2006/main">
            <a:srgbClr val="3A2028"/>
          </a:solidFill>
          <a:ln xmlns:a="http://schemas.openxmlformats.org/drawingml/2006/main" w="19050">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FAULT INJECTION</a:t>
            </a:r>
          </a:p>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stale sensor • bus dropout • actuator jam • power cycle</a:t>
            </a:r>
          </a:p>
        </p:txBody>
      </p:sp>
      <p:cxnSp>
        <p:nvCxnSpPr>
          <p:cNvPr id="30" name=""/>
          <p:cNvCxnSpPr>
            <a:stCxn xmlns:a="http://schemas.openxmlformats.org/drawingml/2006/main" id="13" idx="3"/>
            <a:endCxn xmlns:a="http://schemas.openxmlformats.org/drawingml/2006/main" id="9" idx="1"/>
          </p:cNvCxnSpPr>
          <p:nvPr/>
        </p:nvCxnSpPr>
        <p:spPr>
          <a:xfrm xmlns:a="http://schemas.openxmlformats.org/drawingml/2006/main" flipV="1">
            <a:off x="5391150" y="4714875"/>
            <a:ext cx="2800350" cy="9525"/>
          </a:xfrm>
          <a:prstGeom xmlns:a="http://schemas.openxmlformats.org/drawingml/2006/main" prst="straightConnector1">
            <a:avLst/>
          </a:prstGeom>
          <a:ln xmlns:a="http://schemas.openxmlformats.org/drawingml/2006/main" w="28575">
            <a:solidFill>
              <a:srgbClr val="D75A64"/>
            </a:solidFill>
            <a:prstDash val="solid"/>
            <a:tailEnd type="triangle" w="sm" len="sm"/>
          </a:ln>
        </p:spPr>
      </p:cxnSp>
      <p:sp>
        <p:nvSpPr>
          <p:cNvPr id="15" name="text-462">
            <a:extLst xmlns:a="http://schemas.openxmlformats.org/drawingml/2006/main">
              <a:ext uri="{FF2B5EF4-FFF2-40B4-BE49-F238E27FC236}">
                <a16:creationId xmlns:a16="http://schemas.microsoft.com/office/drawing/2014/main" id="{FD6E7C1C-EFAC-4267-8776-D207FCD51AEA}"/>
              </a:ext>
            </a:extLst>
          </p:cNvPr>
          <p:cNvSpPr>
            <a:spLocks xmlns:a="http://schemas.openxmlformats.org/drawingml/2006/main" noGrp="1"/>
          </p:cNvSpPr>
          <p:nvPr/>
        </p:nvSpPr>
        <p:spPr>
          <a:xfrm xmlns:a="http://schemas.openxmlformats.org/drawingml/2006/main">
            <a:off x="4057650" y="3600450"/>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125" b="1" i="0">
                <a:solidFill>
                  <a:srgbClr val="2CA56F"/>
                </a:solidFill>
                <a:latin typeface="Aptos"/>
                <a:ea typeface="Aptos"/>
                <a:cs typeface="Aptos"/>
              </a:defRPr>
            </a:pPr>
            <a:r>
              <a:rPr sz="1125" b="1" i="0">
                <a:solidFill>
                  <a:srgbClr val="2CA56F"/>
                </a:solidFill>
                <a:latin typeface="Aptos"/>
                <a:ea typeface="Aptos"/>
                <a:cs typeface="Aptos"/>
              </a:rPr>
              <a:t>REAL HARDWARE</a:t>
            </a:r>
          </a:p>
        </p:txBody>
      </p:sp>
      <p:sp>
        <p:nvSpPr>
          <p:cNvPr id="16" name="text-463">
            <a:extLst xmlns:a="http://schemas.openxmlformats.org/drawingml/2006/main">
              <a:ext uri="{FF2B5EF4-FFF2-40B4-BE49-F238E27FC236}">
                <a16:creationId xmlns:a16="http://schemas.microsoft.com/office/drawing/2014/main" id="{D4ED9B45-4322-4092-8DB3-ED62D639120D}"/>
              </a:ext>
            </a:extLst>
          </p:cNvPr>
          <p:cNvSpPr>
            <a:spLocks xmlns:a="http://schemas.openxmlformats.org/drawingml/2006/main" noGrp="1"/>
          </p:cNvSpPr>
          <p:nvPr/>
        </p:nvSpPr>
        <p:spPr>
          <a:xfrm xmlns:a="http://schemas.openxmlformats.org/drawingml/2006/main">
            <a:off x="8763000" y="56007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125" b="1" i="0">
                <a:solidFill>
                  <a:srgbClr val="2D6CDF"/>
                </a:solidFill>
                <a:latin typeface="Aptos"/>
                <a:ea typeface="Aptos"/>
                <a:cs typeface="Aptos"/>
              </a:defRPr>
            </a:pPr>
            <a:r>
              <a:rPr sz="1125" b="1" i="0">
                <a:solidFill>
                  <a:srgbClr val="2D6CDF"/>
                </a:solidFill>
                <a:latin typeface="Aptos"/>
                <a:ea typeface="Aptos"/>
                <a:cs typeface="Aptos"/>
              </a:rPr>
              <a:t>REAL-TIME TARGET</a:t>
            </a:r>
          </a:p>
        </p:txBody>
      </p:sp>
    </p:spTree>
    <p:extLst>
      <p:ext uri="{BB962C8B-B14F-4D97-AF65-F5344CB8AC3E}">
        <p14:creationId xmlns:p14="http://schemas.microsoft.com/office/powerpoint/2010/main" val="198638874"/>
      </p:ext>
    </p:extLst>
  </p:cSld>
</p:sld>
</file>

<file path=ppt/slides/slide3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463">
            <a:extLst xmlns:a="http://schemas.openxmlformats.org/drawingml/2006/main">
              <a:ext uri="{FF2B5EF4-FFF2-40B4-BE49-F238E27FC236}">
                <a16:creationId xmlns:a16="http://schemas.microsoft.com/office/drawing/2014/main" id="{5F722B4A-15D0-4BC0-8B00-39427679F741}"/>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13 • HARDWARE-IN-THE-LOOP</a:t>
            </a:r>
          </a:p>
        </p:txBody>
      </p:sp>
      <p:sp>
        <p:nvSpPr>
          <p:cNvPr id="2" name="title-463">
            <a:extLst xmlns:a="http://schemas.openxmlformats.org/drawingml/2006/main">
              <a:ext uri="{FF2B5EF4-FFF2-40B4-BE49-F238E27FC236}">
                <a16:creationId xmlns:a16="http://schemas.microsoft.com/office/drawing/2014/main" id="{2117EA39-A93D-49FB-A2DD-08F17C8258B5}"/>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HIL pass criteria must be quantitative</a:t>
            </a:r>
          </a:p>
        </p:txBody>
      </p:sp>
      <p:sp>
        <p:nvSpPr>
          <p:cNvPr id="3" name="line-464">
            <a:extLst xmlns:a="http://schemas.openxmlformats.org/drawingml/2006/main">
              <a:ext uri="{FF2B5EF4-FFF2-40B4-BE49-F238E27FC236}">
                <a16:creationId xmlns:a16="http://schemas.microsoft.com/office/drawing/2014/main" id="{DB12B06D-3F8A-40D7-A5C9-3E7DD8D5F5CF}"/>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65">
            <a:extLst xmlns:a="http://schemas.openxmlformats.org/drawingml/2006/main">
              <a:ext uri="{FF2B5EF4-FFF2-40B4-BE49-F238E27FC236}">
                <a16:creationId xmlns:a16="http://schemas.microsoft.com/office/drawing/2014/main" id="{C71FF6B9-5DFE-4109-8A3E-B4201F0FF899}"/>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66">
            <a:extLst xmlns:a="http://schemas.openxmlformats.org/drawingml/2006/main">
              <a:ext uri="{FF2B5EF4-FFF2-40B4-BE49-F238E27FC236}">
                <a16:creationId xmlns:a16="http://schemas.microsoft.com/office/drawing/2014/main" id="{9F5B685D-4E7A-4FC1-A775-31D465F6A5E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30</a:t>
            </a:r>
          </a:p>
        </p:txBody>
      </p:sp>
      <p:sp>
        <p:nvSpPr>
          <p:cNvPr id="6" name="text-467">
            <a:extLst xmlns:a="http://schemas.openxmlformats.org/drawingml/2006/main">
              <a:ext uri="{FF2B5EF4-FFF2-40B4-BE49-F238E27FC236}">
                <a16:creationId xmlns:a16="http://schemas.microsoft.com/office/drawing/2014/main" id="{BC53B95F-86CB-4AFD-B71B-615DE91CDA0E}"/>
              </a:ext>
            </a:extLst>
          </p:cNvPr>
          <p:cNvSpPr>
            <a:spLocks xmlns:a="http://schemas.openxmlformats.org/drawingml/2006/main" noGrp="1"/>
          </p:cNvSpPr>
          <p:nvPr/>
        </p:nvSpPr>
        <p:spPr>
          <a:xfrm xmlns:a="http://schemas.openxmlformats.org/drawingml/2006/main">
            <a:off x="723900" y="15049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OBJECTIVE</a:t>
            </a:r>
          </a:p>
        </p:txBody>
      </p:sp>
      <p:sp>
        <p:nvSpPr>
          <p:cNvPr id="7" name="text-468">
            <a:extLst xmlns:a="http://schemas.openxmlformats.org/drawingml/2006/main">
              <a:ext uri="{FF2B5EF4-FFF2-40B4-BE49-F238E27FC236}">
                <a16:creationId xmlns:a16="http://schemas.microsoft.com/office/drawing/2014/main" id="{EB2DAFA4-916A-4908-B2E3-7F100846F7AB}"/>
              </a:ext>
            </a:extLst>
          </p:cNvPr>
          <p:cNvSpPr>
            <a:spLocks xmlns:a="http://schemas.openxmlformats.org/drawingml/2006/main" noGrp="1"/>
          </p:cNvSpPr>
          <p:nvPr/>
        </p:nvSpPr>
        <p:spPr>
          <a:xfrm xmlns:a="http://schemas.openxmlformats.org/drawingml/2006/main">
            <a:off x="3219450" y="150495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EXAMPLE TEST</a:t>
            </a:r>
          </a:p>
        </p:txBody>
      </p:sp>
      <p:sp>
        <p:nvSpPr>
          <p:cNvPr id="8" name="text-469">
            <a:extLst xmlns:a="http://schemas.openxmlformats.org/drawingml/2006/main">
              <a:ext uri="{FF2B5EF4-FFF2-40B4-BE49-F238E27FC236}">
                <a16:creationId xmlns:a16="http://schemas.microsoft.com/office/drawing/2014/main" id="{AA779E72-BDCA-4E7F-B014-37586140A133}"/>
              </a:ext>
            </a:extLst>
          </p:cNvPr>
          <p:cNvSpPr>
            <a:spLocks xmlns:a="http://schemas.openxmlformats.org/drawingml/2006/main" noGrp="1"/>
          </p:cNvSpPr>
          <p:nvPr/>
        </p:nvSpPr>
        <p:spPr>
          <a:xfrm xmlns:a="http://schemas.openxmlformats.org/drawingml/2006/main">
            <a:off x="8286750" y="150495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PASS CRITERIA</a:t>
            </a:r>
          </a:p>
        </p:txBody>
      </p:sp>
      <p:sp>
        <p:nvSpPr>
          <p:cNvPr id="9" name="box-470">
            <a:extLst xmlns:a="http://schemas.openxmlformats.org/drawingml/2006/main">
              <a:ext uri="{FF2B5EF4-FFF2-40B4-BE49-F238E27FC236}">
                <a16:creationId xmlns:a16="http://schemas.microsoft.com/office/drawing/2014/main" id="{8F2C98BD-E643-4273-B940-0D797173168D}"/>
              </a:ext>
            </a:extLst>
          </p:cNvPr>
          <p:cNvSpPr>
            <a:spLocks xmlns:a="http://schemas.openxmlformats.org/drawingml/2006/main" noGrp="1"/>
          </p:cNvSpPr>
          <p:nvPr/>
        </p:nvSpPr>
        <p:spPr>
          <a:xfrm xmlns:a="http://schemas.openxmlformats.org/drawingml/2006/main">
            <a:off x="723900" y="1866900"/>
            <a:ext cx="2000250" cy="533400"/>
          </a:xfrm>
          <a:prstGeom xmlns:a="http://schemas.openxmlformats.org/drawingml/2006/main" prst="roundRect">
            <a:avLst>
              <a:gd name="adj" fmla="val 12500"/>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Functional</a:t>
            </a:r>
          </a:p>
        </p:txBody>
      </p:sp>
      <p:sp>
        <p:nvSpPr>
          <p:cNvPr id="10" name="text-471">
            <a:extLst xmlns:a="http://schemas.openxmlformats.org/drawingml/2006/main">
              <a:ext uri="{FF2B5EF4-FFF2-40B4-BE49-F238E27FC236}">
                <a16:creationId xmlns:a16="http://schemas.microsoft.com/office/drawing/2014/main" id="{CB2E1526-0F3F-473B-B577-7B622BE5865F}"/>
              </a:ext>
            </a:extLst>
          </p:cNvPr>
          <p:cNvSpPr>
            <a:spLocks xmlns:a="http://schemas.openxmlformats.org/drawingml/2006/main" noGrp="1"/>
          </p:cNvSpPr>
          <p:nvPr/>
        </p:nvSpPr>
        <p:spPr>
          <a:xfrm xmlns:a="http://schemas.openxmlformats.org/drawingml/2006/main">
            <a:off x="3219450" y="186690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0B1F33"/>
                </a:solidFill>
                <a:latin typeface="Aptos"/>
                <a:ea typeface="Aptos"/>
                <a:cs typeface="Aptos"/>
              </a:defRPr>
            </a:pPr>
            <a:r>
              <a:rPr sz="1500" b="0" i="0">
                <a:solidFill>
                  <a:srgbClr val="0B1F33"/>
                </a:solidFill>
                <a:latin typeface="Aptos"/>
                <a:ea typeface="Aptos"/>
                <a:cs typeface="Aptos"/>
              </a:rPr>
              <a:t>Sweep q_cmd through ±12 deg/s</a:t>
            </a:r>
          </a:p>
        </p:txBody>
      </p:sp>
      <p:sp>
        <p:nvSpPr>
          <p:cNvPr id="11" name="text-472">
            <a:extLst xmlns:a="http://schemas.openxmlformats.org/drawingml/2006/main">
              <a:ext uri="{FF2B5EF4-FFF2-40B4-BE49-F238E27FC236}">
                <a16:creationId xmlns:a16="http://schemas.microsoft.com/office/drawing/2014/main" id="{C65DCF3A-74F3-4848-8954-472D4E017852}"/>
              </a:ext>
            </a:extLst>
          </p:cNvPr>
          <p:cNvSpPr>
            <a:spLocks xmlns:a="http://schemas.openxmlformats.org/drawingml/2006/main" noGrp="1"/>
          </p:cNvSpPr>
          <p:nvPr/>
        </p:nvSpPr>
        <p:spPr>
          <a:xfrm xmlns:a="http://schemas.openxmlformats.org/drawingml/2006/main">
            <a:off x="8286750" y="18669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output clamps within specified tolerance</a:t>
            </a:r>
          </a:p>
        </p:txBody>
      </p:sp>
      <p:sp>
        <p:nvSpPr>
          <p:cNvPr id="12" name="line-473">
            <a:extLst xmlns:a="http://schemas.openxmlformats.org/drawingml/2006/main">
              <a:ext uri="{FF2B5EF4-FFF2-40B4-BE49-F238E27FC236}">
                <a16:creationId xmlns:a16="http://schemas.microsoft.com/office/drawing/2014/main" id="{B2F94644-333C-4A64-91D4-8FE7863229CD}"/>
              </a:ext>
            </a:extLst>
          </p:cNvPr>
          <p:cNvSpPr>
            <a:spLocks xmlns:a="http://schemas.openxmlformats.org/drawingml/2006/main" noGrp="1"/>
          </p:cNvSpPr>
          <p:nvPr/>
        </p:nvSpPr>
        <p:spPr>
          <a:xfrm xmlns:a="http://schemas.openxmlformats.org/drawingml/2006/main">
            <a:off x="685800" y="249555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3" name="box-474">
            <a:extLst xmlns:a="http://schemas.openxmlformats.org/drawingml/2006/main">
              <a:ext uri="{FF2B5EF4-FFF2-40B4-BE49-F238E27FC236}">
                <a16:creationId xmlns:a16="http://schemas.microsoft.com/office/drawing/2014/main" id="{64110308-9F07-4F47-98D6-17259561455D}"/>
              </a:ext>
            </a:extLst>
          </p:cNvPr>
          <p:cNvSpPr>
            <a:spLocks xmlns:a="http://schemas.openxmlformats.org/drawingml/2006/main" noGrp="1"/>
          </p:cNvSpPr>
          <p:nvPr/>
        </p:nvSpPr>
        <p:spPr>
          <a:xfrm xmlns:a="http://schemas.openxmlformats.org/drawingml/2006/main">
            <a:off x="723900" y="2619375"/>
            <a:ext cx="2000250" cy="533400"/>
          </a:xfrm>
          <a:prstGeom xmlns:a="http://schemas.openxmlformats.org/drawingml/2006/main" prst="roundRect">
            <a:avLst>
              <a:gd name="adj" fmla="val 12500"/>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Timing</a:t>
            </a:r>
          </a:p>
        </p:txBody>
      </p:sp>
      <p:sp>
        <p:nvSpPr>
          <p:cNvPr id="14" name="text-475">
            <a:extLst xmlns:a="http://schemas.openxmlformats.org/drawingml/2006/main">
              <a:ext uri="{FF2B5EF4-FFF2-40B4-BE49-F238E27FC236}">
                <a16:creationId xmlns:a16="http://schemas.microsoft.com/office/drawing/2014/main" id="{E9CE37B0-3BF6-405D-9EE8-D0E240577C5F}"/>
              </a:ext>
            </a:extLst>
          </p:cNvPr>
          <p:cNvSpPr>
            <a:spLocks xmlns:a="http://schemas.openxmlformats.org/drawingml/2006/main" noGrp="1"/>
          </p:cNvSpPr>
          <p:nvPr/>
        </p:nvSpPr>
        <p:spPr>
          <a:xfrm xmlns:a="http://schemas.openxmlformats.org/drawingml/2006/main">
            <a:off x="3219450" y="2619375"/>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0B1F33"/>
                </a:solidFill>
                <a:latin typeface="Aptos"/>
                <a:ea typeface="Aptos"/>
                <a:cs typeface="Aptos"/>
              </a:defRPr>
            </a:pPr>
            <a:r>
              <a:rPr sz="1500" b="0" i="0">
                <a:solidFill>
                  <a:srgbClr val="0B1F33"/>
                </a:solidFill>
                <a:latin typeface="Aptos"/>
                <a:ea typeface="Aptos"/>
                <a:cs typeface="Aptos"/>
              </a:rPr>
              <a:t>50 Hz frame under worst-case load</a:t>
            </a:r>
          </a:p>
        </p:txBody>
      </p:sp>
      <p:sp>
        <p:nvSpPr>
          <p:cNvPr id="15" name="text-476">
            <a:extLst xmlns:a="http://schemas.openxmlformats.org/drawingml/2006/main">
              <a:ext uri="{FF2B5EF4-FFF2-40B4-BE49-F238E27FC236}">
                <a16:creationId xmlns:a16="http://schemas.microsoft.com/office/drawing/2014/main" id="{B8EE19D5-1700-4551-87FB-AFECE8328530}"/>
              </a:ext>
            </a:extLst>
          </p:cNvPr>
          <p:cNvSpPr>
            <a:spLocks xmlns:a="http://schemas.openxmlformats.org/drawingml/2006/main" noGrp="1"/>
          </p:cNvSpPr>
          <p:nvPr/>
        </p:nvSpPr>
        <p:spPr>
          <a:xfrm xmlns:a="http://schemas.openxmlformats.org/drawingml/2006/main">
            <a:off x="8286750" y="261937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no overrun; latency and jitter within allocation</a:t>
            </a:r>
          </a:p>
        </p:txBody>
      </p:sp>
      <p:sp>
        <p:nvSpPr>
          <p:cNvPr id="16" name="line-477">
            <a:extLst xmlns:a="http://schemas.openxmlformats.org/drawingml/2006/main">
              <a:ext uri="{FF2B5EF4-FFF2-40B4-BE49-F238E27FC236}">
                <a16:creationId xmlns:a16="http://schemas.microsoft.com/office/drawing/2014/main" id="{97F20A89-46B2-49DF-BEED-9F8DF34F2F49}"/>
              </a:ext>
            </a:extLst>
          </p:cNvPr>
          <p:cNvSpPr>
            <a:spLocks xmlns:a="http://schemas.openxmlformats.org/drawingml/2006/main" noGrp="1"/>
          </p:cNvSpPr>
          <p:nvPr/>
        </p:nvSpPr>
        <p:spPr>
          <a:xfrm xmlns:a="http://schemas.openxmlformats.org/drawingml/2006/main">
            <a:off x="685800" y="3248025"/>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7" name="box-478">
            <a:extLst xmlns:a="http://schemas.openxmlformats.org/drawingml/2006/main">
              <a:ext uri="{FF2B5EF4-FFF2-40B4-BE49-F238E27FC236}">
                <a16:creationId xmlns:a16="http://schemas.microsoft.com/office/drawing/2014/main" id="{E264380A-C7BF-4DFA-8187-3BB4F061698E}"/>
              </a:ext>
            </a:extLst>
          </p:cNvPr>
          <p:cNvSpPr>
            <a:spLocks xmlns:a="http://schemas.openxmlformats.org/drawingml/2006/main" noGrp="1"/>
          </p:cNvSpPr>
          <p:nvPr/>
        </p:nvSpPr>
        <p:spPr>
          <a:xfrm xmlns:a="http://schemas.openxmlformats.org/drawingml/2006/main">
            <a:off x="723900" y="3371850"/>
            <a:ext cx="2000250" cy="533400"/>
          </a:xfrm>
          <a:prstGeom xmlns:a="http://schemas.openxmlformats.org/drawingml/2006/main" prst="roundRect">
            <a:avLst>
              <a:gd name="adj" fmla="val 12500"/>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Interfaces</a:t>
            </a:r>
          </a:p>
        </p:txBody>
      </p:sp>
      <p:sp>
        <p:nvSpPr>
          <p:cNvPr id="18" name="text-479">
            <a:extLst xmlns:a="http://schemas.openxmlformats.org/drawingml/2006/main">
              <a:ext uri="{FF2B5EF4-FFF2-40B4-BE49-F238E27FC236}">
                <a16:creationId xmlns:a16="http://schemas.microsoft.com/office/drawing/2014/main" id="{ABEDB4E9-A7EA-4A03-A4B6-C288AB267BB7}"/>
              </a:ext>
            </a:extLst>
          </p:cNvPr>
          <p:cNvSpPr>
            <a:spLocks xmlns:a="http://schemas.openxmlformats.org/drawingml/2006/main" noGrp="1"/>
          </p:cNvSpPr>
          <p:nvPr/>
        </p:nvSpPr>
        <p:spPr>
          <a:xfrm xmlns:a="http://schemas.openxmlformats.org/drawingml/2006/main">
            <a:off x="3219450" y="337185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0B1F33"/>
                </a:solidFill>
                <a:latin typeface="Aptos"/>
                <a:ea typeface="Aptos"/>
                <a:cs typeface="Aptos"/>
              </a:defRPr>
            </a:pPr>
            <a:r>
              <a:rPr sz="1500" b="0" i="0">
                <a:solidFill>
                  <a:srgbClr val="0B1F33"/>
                </a:solidFill>
                <a:latin typeface="Aptos"/>
                <a:ea typeface="Aptos"/>
                <a:cs typeface="Aptos"/>
              </a:rPr>
              <a:t>exercise scaling, validity, and bus updates</a:t>
            </a:r>
          </a:p>
        </p:txBody>
      </p:sp>
      <p:sp>
        <p:nvSpPr>
          <p:cNvPr id="19" name="text-480">
            <a:extLst xmlns:a="http://schemas.openxmlformats.org/drawingml/2006/main">
              <a:ext uri="{FF2B5EF4-FFF2-40B4-BE49-F238E27FC236}">
                <a16:creationId xmlns:a16="http://schemas.microsoft.com/office/drawing/2014/main" id="{B45D2D83-3D27-47DE-8247-18C60FC452E0}"/>
              </a:ext>
            </a:extLst>
          </p:cNvPr>
          <p:cNvSpPr>
            <a:spLocks xmlns:a="http://schemas.openxmlformats.org/drawingml/2006/main" noGrp="1"/>
          </p:cNvSpPr>
          <p:nvPr/>
        </p:nvSpPr>
        <p:spPr>
          <a:xfrm xmlns:a="http://schemas.openxmlformats.org/drawingml/2006/main">
            <a:off x="8286750" y="337185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units, range, freshness, and status correct</a:t>
            </a:r>
          </a:p>
        </p:txBody>
      </p:sp>
      <p:sp>
        <p:nvSpPr>
          <p:cNvPr id="20" name="line-481">
            <a:extLst xmlns:a="http://schemas.openxmlformats.org/drawingml/2006/main">
              <a:ext uri="{FF2B5EF4-FFF2-40B4-BE49-F238E27FC236}">
                <a16:creationId xmlns:a16="http://schemas.microsoft.com/office/drawing/2014/main" id="{2C671D9C-634C-4F2F-A09D-7567BDFE2496}"/>
              </a:ext>
            </a:extLst>
          </p:cNvPr>
          <p:cNvSpPr>
            <a:spLocks xmlns:a="http://schemas.openxmlformats.org/drawingml/2006/main" noGrp="1"/>
          </p:cNvSpPr>
          <p:nvPr/>
        </p:nvSpPr>
        <p:spPr>
          <a:xfrm xmlns:a="http://schemas.openxmlformats.org/drawingml/2006/main">
            <a:off x="685800" y="40005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1" name="box-482">
            <a:extLst xmlns:a="http://schemas.openxmlformats.org/drawingml/2006/main">
              <a:ext uri="{FF2B5EF4-FFF2-40B4-BE49-F238E27FC236}">
                <a16:creationId xmlns:a16="http://schemas.microsoft.com/office/drawing/2014/main" id="{BE812D2F-F72B-413B-979A-7EFC78CC5357}"/>
              </a:ext>
            </a:extLst>
          </p:cNvPr>
          <p:cNvSpPr>
            <a:spLocks xmlns:a="http://schemas.openxmlformats.org/drawingml/2006/main" noGrp="1"/>
          </p:cNvSpPr>
          <p:nvPr/>
        </p:nvSpPr>
        <p:spPr>
          <a:xfrm xmlns:a="http://schemas.openxmlformats.org/drawingml/2006/main">
            <a:off x="723900" y="4124325"/>
            <a:ext cx="2000250" cy="533400"/>
          </a:xfrm>
          <a:prstGeom xmlns:a="http://schemas.openxmlformats.org/drawingml/2006/main" prst="roundRect">
            <a:avLst>
              <a:gd name="adj" fmla="val 12500"/>
            </a:avLst>
          </a:prstGeom>
          <a:solidFill xmlns:a="http://schemas.openxmlformats.org/drawingml/2006/main">
            <a:srgbClr val="D75A64"/>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Fault response</a:t>
            </a:r>
          </a:p>
        </p:txBody>
      </p:sp>
      <p:sp>
        <p:nvSpPr>
          <p:cNvPr id="22" name="text-483">
            <a:extLst xmlns:a="http://schemas.openxmlformats.org/drawingml/2006/main">
              <a:ext uri="{FF2B5EF4-FFF2-40B4-BE49-F238E27FC236}">
                <a16:creationId xmlns:a16="http://schemas.microsoft.com/office/drawing/2014/main" id="{40692C5C-18FE-47B3-8517-F267EF1A8E1E}"/>
              </a:ext>
            </a:extLst>
          </p:cNvPr>
          <p:cNvSpPr>
            <a:spLocks xmlns:a="http://schemas.openxmlformats.org/drawingml/2006/main" noGrp="1"/>
          </p:cNvSpPr>
          <p:nvPr/>
        </p:nvSpPr>
        <p:spPr>
          <a:xfrm xmlns:a="http://schemas.openxmlformats.org/drawingml/2006/main">
            <a:off x="3219450" y="4124325"/>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0B1F33"/>
                </a:solidFill>
                <a:latin typeface="Aptos"/>
                <a:ea typeface="Aptos"/>
                <a:cs typeface="Aptos"/>
              </a:defRPr>
            </a:pPr>
            <a:r>
              <a:rPr sz="1500" b="0" i="0">
                <a:solidFill>
                  <a:srgbClr val="0B1F33"/>
                </a:solidFill>
                <a:latin typeface="Aptos"/>
                <a:ea typeface="Aptos"/>
                <a:cs typeface="Aptos"/>
              </a:rPr>
              <a:t>stale air data / bus dropout / reset</a:t>
            </a:r>
          </a:p>
        </p:txBody>
      </p:sp>
      <p:sp>
        <p:nvSpPr>
          <p:cNvPr id="23" name="text-484">
            <a:extLst xmlns:a="http://schemas.openxmlformats.org/drawingml/2006/main">
              <a:ext uri="{FF2B5EF4-FFF2-40B4-BE49-F238E27FC236}">
                <a16:creationId xmlns:a16="http://schemas.microsoft.com/office/drawing/2014/main" id="{9524EFB1-9719-40BF-8354-F5C2D1B23685}"/>
              </a:ext>
            </a:extLst>
          </p:cNvPr>
          <p:cNvSpPr>
            <a:spLocks xmlns:a="http://schemas.openxmlformats.org/drawingml/2006/main" noGrp="1"/>
          </p:cNvSpPr>
          <p:nvPr/>
        </p:nvSpPr>
        <p:spPr>
          <a:xfrm xmlns:a="http://schemas.openxmlformats.org/drawingml/2006/main">
            <a:off x="8286750" y="412432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specified degraded state within required time</a:t>
            </a:r>
          </a:p>
        </p:txBody>
      </p:sp>
      <p:sp>
        <p:nvSpPr>
          <p:cNvPr id="24" name="line-485">
            <a:extLst xmlns:a="http://schemas.openxmlformats.org/drawingml/2006/main">
              <a:ext uri="{FF2B5EF4-FFF2-40B4-BE49-F238E27FC236}">
                <a16:creationId xmlns:a16="http://schemas.microsoft.com/office/drawing/2014/main" id="{7745F776-E2C8-47F1-BD7C-C493FD2E4B1D}"/>
              </a:ext>
            </a:extLst>
          </p:cNvPr>
          <p:cNvSpPr>
            <a:spLocks xmlns:a="http://schemas.openxmlformats.org/drawingml/2006/main" noGrp="1"/>
          </p:cNvSpPr>
          <p:nvPr/>
        </p:nvSpPr>
        <p:spPr>
          <a:xfrm xmlns:a="http://schemas.openxmlformats.org/drawingml/2006/main">
            <a:off x="685800" y="4752975"/>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5" name="box-486">
            <a:extLst xmlns:a="http://schemas.openxmlformats.org/drawingml/2006/main">
              <a:ext uri="{FF2B5EF4-FFF2-40B4-BE49-F238E27FC236}">
                <a16:creationId xmlns:a16="http://schemas.microsoft.com/office/drawing/2014/main" id="{E78A072B-4A7D-42B1-B32C-B36464E51C30}"/>
              </a:ext>
            </a:extLst>
          </p:cNvPr>
          <p:cNvSpPr>
            <a:spLocks xmlns:a="http://schemas.openxmlformats.org/drawingml/2006/main" noGrp="1"/>
          </p:cNvSpPr>
          <p:nvPr/>
        </p:nvSpPr>
        <p:spPr>
          <a:xfrm xmlns:a="http://schemas.openxmlformats.org/drawingml/2006/main">
            <a:off x="723900" y="4876800"/>
            <a:ext cx="2000250" cy="533400"/>
          </a:xfrm>
          <a:prstGeom xmlns:a="http://schemas.openxmlformats.org/drawingml/2006/main" prst="roundRect">
            <a:avLst>
              <a:gd name="adj" fmla="val 12500"/>
            </a:avLst>
          </a:prstGeom>
          <a:solidFill xmlns:a="http://schemas.openxmlformats.org/drawingml/2006/main">
            <a:srgbClr val="2CA56F"/>
          </a:solidFill>
          <a:ln xmlns:a="http://schemas.openxmlformats.org/drawingml/2006/main" w="9525">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Evidence</a:t>
            </a:r>
          </a:p>
        </p:txBody>
      </p:sp>
      <p:sp>
        <p:nvSpPr>
          <p:cNvPr id="26" name="text-487">
            <a:extLst xmlns:a="http://schemas.openxmlformats.org/drawingml/2006/main">
              <a:ext uri="{FF2B5EF4-FFF2-40B4-BE49-F238E27FC236}">
                <a16:creationId xmlns:a16="http://schemas.microsoft.com/office/drawing/2014/main" id="{17972074-D854-47AE-8708-C814EFC8E736}"/>
              </a:ext>
            </a:extLst>
          </p:cNvPr>
          <p:cNvSpPr>
            <a:spLocks xmlns:a="http://schemas.openxmlformats.org/drawingml/2006/main" noGrp="1"/>
          </p:cNvSpPr>
          <p:nvPr/>
        </p:nvSpPr>
        <p:spPr>
          <a:xfrm xmlns:a="http://schemas.openxmlformats.org/drawingml/2006/main">
            <a:off x="3219450" y="487680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0B1F33"/>
                </a:solidFill>
                <a:latin typeface="Aptos"/>
                <a:ea typeface="Aptos"/>
                <a:cs typeface="Aptos"/>
              </a:defRPr>
            </a:pPr>
            <a:r>
              <a:rPr sz="1500" b="0" i="0">
                <a:solidFill>
                  <a:srgbClr val="0B1F33"/>
                </a:solidFill>
                <a:latin typeface="Aptos"/>
                <a:ea typeface="Aptos"/>
                <a:cs typeface="Aptos"/>
              </a:rPr>
              <a:t>repeat on released configuration</a:t>
            </a:r>
          </a:p>
        </p:txBody>
      </p:sp>
      <p:sp>
        <p:nvSpPr>
          <p:cNvPr id="27" name="text-488">
            <a:extLst xmlns:a="http://schemas.openxmlformats.org/drawingml/2006/main">
              <a:ext uri="{FF2B5EF4-FFF2-40B4-BE49-F238E27FC236}">
                <a16:creationId xmlns:a16="http://schemas.microsoft.com/office/drawing/2014/main" id="{858AA293-E557-4EAF-9FA1-697B7AAA2CF1}"/>
              </a:ext>
            </a:extLst>
          </p:cNvPr>
          <p:cNvSpPr>
            <a:spLocks xmlns:a="http://schemas.openxmlformats.org/drawingml/2006/main" noGrp="1"/>
          </p:cNvSpPr>
          <p:nvPr/>
        </p:nvSpPr>
        <p:spPr>
          <a:xfrm xmlns:a="http://schemas.openxmlformats.org/drawingml/2006/main">
            <a:off x="8286750" y="48768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IDs, logs, procedures, results, and links retained</a:t>
            </a:r>
          </a:p>
        </p:txBody>
      </p:sp>
      <p:sp>
        <p:nvSpPr>
          <p:cNvPr id="28" name="line-489">
            <a:extLst xmlns:a="http://schemas.openxmlformats.org/drawingml/2006/main">
              <a:ext uri="{FF2B5EF4-FFF2-40B4-BE49-F238E27FC236}">
                <a16:creationId xmlns:a16="http://schemas.microsoft.com/office/drawing/2014/main" id="{F3FB9C40-6AE8-4717-A86E-A1689122E485}"/>
              </a:ext>
            </a:extLst>
          </p:cNvPr>
          <p:cNvSpPr>
            <a:spLocks xmlns:a="http://schemas.openxmlformats.org/drawingml/2006/main" noGrp="1"/>
          </p:cNvSpPr>
          <p:nvPr/>
        </p:nvSpPr>
        <p:spPr>
          <a:xfrm xmlns:a="http://schemas.openxmlformats.org/drawingml/2006/main">
            <a:off x="685800" y="550545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9" name="box-490">
            <a:extLst xmlns:a="http://schemas.openxmlformats.org/drawingml/2006/main">
              <a:ext uri="{FF2B5EF4-FFF2-40B4-BE49-F238E27FC236}">
                <a16:creationId xmlns:a16="http://schemas.microsoft.com/office/drawing/2014/main" id="{D8530848-4E3B-4AA5-B6B0-2A9032732551}"/>
              </a:ext>
            </a:extLst>
          </p:cNvPr>
          <p:cNvSpPr>
            <a:spLocks xmlns:a="http://schemas.openxmlformats.org/drawingml/2006/main" noGrp="1"/>
          </p:cNvSpPr>
          <p:nvPr/>
        </p:nvSpPr>
        <p:spPr>
          <a:xfrm xmlns:a="http://schemas.openxmlformats.org/drawingml/2006/main">
            <a:off x="1333500" y="5753100"/>
            <a:ext cx="9525000" cy="476250"/>
          </a:xfrm>
          <a:prstGeom xmlns:a="http://schemas.openxmlformats.org/drawingml/2006/main" prst="roundRect">
            <a:avLst>
              <a:gd name="adj" fmla="val 16000"/>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A beautiful trace is not a pass criterion. State the tolerance, time, configuration, and required evidence.</a:t>
            </a:r>
          </a:p>
        </p:txBody>
      </p:sp>
    </p:spTree>
    <p:extLst>
      <p:ext uri="{BB962C8B-B14F-4D97-AF65-F5344CB8AC3E}">
        <p14:creationId xmlns:p14="http://schemas.microsoft.com/office/powerpoint/2010/main" val="140704512"/>
      </p:ext>
    </p:extLst>
  </p:cSld>
</p:sld>
</file>

<file path=ppt/slides/slide3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3" name="section-490">
            <a:extLst xmlns:a="http://schemas.openxmlformats.org/drawingml/2006/main">
              <a:ext uri="{FF2B5EF4-FFF2-40B4-BE49-F238E27FC236}">
                <a16:creationId xmlns:a16="http://schemas.microsoft.com/office/drawing/2014/main" id="{1517FAAE-DDA5-486D-A3C7-FB586788CA6E}"/>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14 • COMPLETE END-TO-END EXAMPLE</a:t>
            </a:r>
          </a:p>
        </p:txBody>
      </p:sp>
      <p:sp>
        <p:nvSpPr>
          <p:cNvPr id="2" name="title-490">
            <a:extLst xmlns:a="http://schemas.openxmlformats.org/drawingml/2006/main">
              <a:ext uri="{FF2B5EF4-FFF2-40B4-BE49-F238E27FC236}">
                <a16:creationId xmlns:a16="http://schemas.microsoft.com/office/drawing/2014/main" id="{4B9B1F30-DE5E-4DCB-A220-1CA7AF0D7E34}"/>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One limiter, one unbroken evidence chain</a:t>
            </a:r>
          </a:p>
        </p:txBody>
      </p:sp>
      <p:sp>
        <p:nvSpPr>
          <p:cNvPr id="3" name="line-491">
            <a:extLst xmlns:a="http://schemas.openxmlformats.org/drawingml/2006/main">
              <a:ext uri="{FF2B5EF4-FFF2-40B4-BE49-F238E27FC236}">
                <a16:creationId xmlns:a16="http://schemas.microsoft.com/office/drawing/2014/main" id="{4499C323-8AAD-4703-8814-D4AED6239951}"/>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92">
            <a:extLst xmlns:a="http://schemas.openxmlformats.org/drawingml/2006/main">
              <a:ext uri="{FF2B5EF4-FFF2-40B4-BE49-F238E27FC236}">
                <a16:creationId xmlns:a16="http://schemas.microsoft.com/office/drawing/2014/main" id="{F3B165B8-FCB8-4777-A161-96DF4EF4F2C3}"/>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493">
            <a:extLst xmlns:a="http://schemas.openxmlformats.org/drawingml/2006/main">
              <a:ext uri="{FF2B5EF4-FFF2-40B4-BE49-F238E27FC236}">
                <a16:creationId xmlns:a16="http://schemas.microsoft.com/office/drawing/2014/main" id="{FC3641C8-8D37-4421-8615-0D5A2A9CC82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31</a:t>
            </a:r>
          </a:p>
        </p:txBody>
      </p:sp>
      <p:sp>
        <p:nvSpPr>
          <p:cNvPr id="6" name="box-494">
            <a:extLst xmlns:a="http://schemas.openxmlformats.org/drawingml/2006/main">
              <a:ext uri="{FF2B5EF4-FFF2-40B4-BE49-F238E27FC236}">
                <a16:creationId xmlns:a16="http://schemas.microsoft.com/office/drawing/2014/main" id="{52345772-C66A-44B1-A262-3BE43B57E0C0}"/>
              </a:ext>
            </a:extLst>
          </p:cNvPr>
          <p:cNvSpPr>
            <a:spLocks xmlns:a="http://schemas.openxmlformats.org/drawingml/2006/main" noGrp="1"/>
          </p:cNvSpPr>
          <p:nvPr/>
        </p:nvSpPr>
        <p:spPr>
          <a:xfrm xmlns:a="http://schemas.openxmlformats.org/drawingml/2006/main">
            <a:off x="704850" y="1790700"/>
            <a:ext cx="2190750" cy="990600"/>
          </a:xfrm>
          <a:prstGeom xmlns:a="http://schemas.openxmlformats.org/drawingml/2006/main" prst="roundRect">
            <a:avLst>
              <a:gd name="adj" fmla="val 9615"/>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  Requirement</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PRL-001</a:t>
            </a:r>
          </a:p>
        </p:txBody>
      </p:sp>
      <p:sp>
        <p:nvSpPr>
          <p:cNvPr id="7" name="box-495">
            <a:extLst xmlns:a="http://schemas.openxmlformats.org/drawingml/2006/main">
              <a:ext uri="{FF2B5EF4-FFF2-40B4-BE49-F238E27FC236}">
                <a16:creationId xmlns:a16="http://schemas.microsoft.com/office/drawing/2014/main" id="{329EE709-DB55-48CD-B7E9-A98D962767FA}"/>
              </a:ext>
            </a:extLst>
          </p:cNvPr>
          <p:cNvSpPr>
            <a:spLocks xmlns:a="http://schemas.openxmlformats.org/drawingml/2006/main" noGrp="1"/>
          </p:cNvSpPr>
          <p:nvPr/>
        </p:nvSpPr>
        <p:spPr>
          <a:xfrm xmlns:a="http://schemas.openxmlformats.org/drawingml/2006/main">
            <a:off x="3333750" y="1790700"/>
            <a:ext cx="2190750" cy="990600"/>
          </a:xfrm>
          <a:prstGeom xmlns:a="http://schemas.openxmlformats.org/drawingml/2006/main" prst="roundRect">
            <a:avLst>
              <a:gd name="adj" fmla="val 9615"/>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2  Simulink design</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Magnitude limit</a:t>
            </a:r>
          </a:p>
        </p:txBody>
      </p:sp>
      <p:sp>
        <p:nvSpPr>
          <p:cNvPr id="8" name="box-496">
            <a:extLst xmlns:a="http://schemas.openxmlformats.org/drawingml/2006/main">
              <a:ext uri="{FF2B5EF4-FFF2-40B4-BE49-F238E27FC236}">
                <a16:creationId xmlns:a16="http://schemas.microsoft.com/office/drawing/2014/main" id="{FA2AA8CB-042B-4BC7-80F2-CB38D8576025}"/>
              </a:ext>
            </a:extLst>
          </p:cNvPr>
          <p:cNvSpPr>
            <a:spLocks xmlns:a="http://schemas.openxmlformats.org/drawingml/2006/main" noGrp="1"/>
          </p:cNvSpPr>
          <p:nvPr/>
        </p:nvSpPr>
        <p:spPr>
          <a:xfrm xmlns:a="http://schemas.openxmlformats.org/drawingml/2006/main">
            <a:off x="5962650" y="1790700"/>
            <a:ext cx="2190750" cy="990600"/>
          </a:xfrm>
          <a:prstGeom xmlns:a="http://schemas.openxmlformats.org/drawingml/2006/main" prst="roundRect">
            <a:avLst>
              <a:gd name="adj" fmla="val 9615"/>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3  Unit tests</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boundaries + modes</a:t>
            </a:r>
          </a:p>
        </p:txBody>
      </p:sp>
      <p:sp>
        <p:nvSpPr>
          <p:cNvPr id="9" name="box-497">
            <a:extLst xmlns:a="http://schemas.openxmlformats.org/drawingml/2006/main">
              <a:ext uri="{FF2B5EF4-FFF2-40B4-BE49-F238E27FC236}">
                <a16:creationId xmlns:a16="http://schemas.microsoft.com/office/drawing/2014/main" id="{72259429-9368-47CB-A4CF-62DB45779454}"/>
              </a:ext>
            </a:extLst>
          </p:cNvPr>
          <p:cNvSpPr>
            <a:spLocks xmlns:a="http://schemas.openxmlformats.org/drawingml/2006/main" noGrp="1"/>
          </p:cNvSpPr>
          <p:nvPr/>
        </p:nvSpPr>
        <p:spPr>
          <a:xfrm xmlns:a="http://schemas.openxmlformats.org/drawingml/2006/main">
            <a:off x="8591550" y="1790700"/>
            <a:ext cx="2190750" cy="990600"/>
          </a:xfrm>
          <a:prstGeom xmlns:a="http://schemas.openxmlformats.org/drawingml/2006/main" prst="roundRect">
            <a:avLst>
              <a:gd name="adj" fmla="val 9615"/>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4  .mldatx</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suite + links</a:t>
            </a:r>
          </a:p>
        </p:txBody>
      </p:sp>
      <p:sp>
        <p:nvSpPr>
          <p:cNvPr id="10" name="box-498">
            <a:extLst xmlns:a="http://schemas.openxmlformats.org/drawingml/2006/main">
              <a:ext uri="{FF2B5EF4-FFF2-40B4-BE49-F238E27FC236}">
                <a16:creationId xmlns:a16="http://schemas.microsoft.com/office/drawing/2014/main" id="{A98E4679-CE55-4827-AA0B-B82BF940504A}"/>
              </a:ext>
            </a:extLst>
          </p:cNvPr>
          <p:cNvSpPr>
            <a:spLocks xmlns:a="http://schemas.openxmlformats.org/drawingml/2006/main" noGrp="1"/>
          </p:cNvSpPr>
          <p:nvPr/>
        </p:nvSpPr>
        <p:spPr>
          <a:xfrm xmlns:a="http://schemas.openxmlformats.org/drawingml/2006/main">
            <a:off x="8591550" y="4095750"/>
            <a:ext cx="2190750" cy="990600"/>
          </a:xfrm>
          <a:prstGeom xmlns:a="http://schemas.openxmlformats.org/drawingml/2006/main" prst="roundRect">
            <a:avLst>
              <a:gd name="adj" fmla="val 9615"/>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5  Callbacks</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deterministic setup</a:t>
            </a:r>
          </a:p>
        </p:txBody>
      </p:sp>
      <p:sp>
        <p:nvSpPr>
          <p:cNvPr id="11" name="box-499">
            <a:extLst xmlns:a="http://schemas.openxmlformats.org/drawingml/2006/main">
              <a:ext uri="{FF2B5EF4-FFF2-40B4-BE49-F238E27FC236}">
                <a16:creationId xmlns:a16="http://schemas.microsoft.com/office/drawing/2014/main" id="{AB66C798-A004-413A-9714-ADACD8A353C5}"/>
              </a:ext>
            </a:extLst>
          </p:cNvPr>
          <p:cNvSpPr>
            <a:spLocks xmlns:a="http://schemas.openxmlformats.org/drawingml/2006/main" noGrp="1"/>
          </p:cNvSpPr>
          <p:nvPr/>
        </p:nvSpPr>
        <p:spPr>
          <a:xfrm xmlns:a="http://schemas.openxmlformats.org/drawingml/2006/main">
            <a:off x="5962650" y="4095750"/>
            <a:ext cx="2190750" cy="990600"/>
          </a:xfrm>
          <a:prstGeom xmlns:a="http://schemas.openxmlformats.org/drawingml/2006/main" prst="roundRect">
            <a:avLst>
              <a:gd name="adj" fmla="val 9615"/>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6  Architecture + CI</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compile + pipeline</a:t>
            </a:r>
          </a:p>
        </p:txBody>
      </p:sp>
      <p:sp>
        <p:nvSpPr>
          <p:cNvPr id="12" name="box-500">
            <a:extLst xmlns:a="http://schemas.openxmlformats.org/drawingml/2006/main">
              <a:ext uri="{FF2B5EF4-FFF2-40B4-BE49-F238E27FC236}">
                <a16:creationId xmlns:a16="http://schemas.microsoft.com/office/drawing/2014/main" id="{BE2CAE30-3F29-4B92-AA09-292EE02A33DC}"/>
              </a:ext>
            </a:extLst>
          </p:cNvPr>
          <p:cNvSpPr>
            <a:spLocks xmlns:a="http://schemas.openxmlformats.org/drawingml/2006/main" noGrp="1"/>
          </p:cNvSpPr>
          <p:nvPr/>
        </p:nvSpPr>
        <p:spPr>
          <a:xfrm xmlns:a="http://schemas.openxmlformats.org/drawingml/2006/main">
            <a:off x="3333750" y="4095750"/>
            <a:ext cx="2190750" cy="990600"/>
          </a:xfrm>
          <a:prstGeom xmlns:a="http://schemas.openxmlformats.org/drawingml/2006/main" prst="roundRect">
            <a:avLst>
              <a:gd name="adj" fmla="val 9615"/>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7  HIL</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real-time + I/O</a:t>
            </a:r>
          </a:p>
        </p:txBody>
      </p:sp>
      <p:sp>
        <p:nvSpPr>
          <p:cNvPr id="13" name="box-501">
            <a:extLst xmlns:a="http://schemas.openxmlformats.org/drawingml/2006/main">
              <a:ext uri="{FF2B5EF4-FFF2-40B4-BE49-F238E27FC236}">
                <a16:creationId xmlns:a16="http://schemas.microsoft.com/office/drawing/2014/main" id="{6B62667A-F873-45DD-98C8-506CB3ACAE47}"/>
              </a:ext>
            </a:extLst>
          </p:cNvPr>
          <p:cNvSpPr>
            <a:spLocks xmlns:a="http://schemas.openxmlformats.org/drawingml/2006/main" noGrp="1"/>
          </p:cNvSpPr>
          <p:nvPr/>
        </p:nvSpPr>
        <p:spPr>
          <a:xfrm xmlns:a="http://schemas.openxmlformats.org/drawingml/2006/main">
            <a:off x="704850" y="4095750"/>
            <a:ext cx="2190750" cy="990600"/>
          </a:xfrm>
          <a:prstGeom xmlns:a="http://schemas.openxmlformats.org/drawingml/2006/main" prst="roundRect">
            <a:avLst>
              <a:gd name="adj" fmla="val 9615"/>
            </a:avLst>
          </a:prstGeom>
          <a:solidFill xmlns:a="http://schemas.openxmlformats.org/drawingml/2006/main">
            <a:srgbClr val="10372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8  Evidence</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reviewed PASS</a:t>
            </a:r>
          </a:p>
        </p:txBody>
      </p:sp>
      <p:cxnSp>
        <p:nvCxnSpPr>
          <p:cNvPr id="36" name=""/>
          <p:cNvCxnSpPr>
            <a:stCxn xmlns:a="http://schemas.openxmlformats.org/drawingml/2006/main" id="6" idx="3"/>
            <a:endCxn xmlns:a="http://schemas.openxmlformats.org/drawingml/2006/main" id="7" idx="1"/>
          </p:cNvCxnSpPr>
          <p:nvPr/>
        </p:nvCxnSpPr>
        <p:spPr>
          <a:xfrm xmlns:a="http://schemas.openxmlformats.org/drawingml/2006/main">
            <a:off x="2895600" y="2286000"/>
            <a:ext cx="43815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37" name=""/>
          <p:cNvCxnSpPr>
            <a:stCxn xmlns:a="http://schemas.openxmlformats.org/drawingml/2006/main" id="7" idx="3"/>
            <a:endCxn xmlns:a="http://schemas.openxmlformats.org/drawingml/2006/main" id="8" idx="1"/>
          </p:cNvCxnSpPr>
          <p:nvPr/>
        </p:nvCxnSpPr>
        <p:spPr>
          <a:xfrm xmlns:a="http://schemas.openxmlformats.org/drawingml/2006/main">
            <a:off x="5524500" y="2286000"/>
            <a:ext cx="438150" cy="0"/>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cxnSp>
        <p:nvCxnSpPr>
          <p:cNvPr id="38" name=""/>
          <p:cNvCxnSpPr>
            <a:stCxn xmlns:a="http://schemas.openxmlformats.org/drawingml/2006/main" id="8" idx="3"/>
            <a:endCxn xmlns:a="http://schemas.openxmlformats.org/drawingml/2006/main" id="9" idx="1"/>
          </p:cNvCxnSpPr>
          <p:nvPr/>
        </p:nvCxnSpPr>
        <p:spPr>
          <a:xfrm xmlns:a="http://schemas.openxmlformats.org/drawingml/2006/main">
            <a:off x="8153400" y="2286000"/>
            <a:ext cx="43815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39" name=""/>
          <p:cNvCxnSpPr>
            <a:stCxn xmlns:a="http://schemas.openxmlformats.org/drawingml/2006/main" id="9" idx="2"/>
            <a:endCxn xmlns:a="http://schemas.openxmlformats.org/drawingml/2006/main" id="10" idx="0"/>
          </p:cNvCxnSpPr>
          <p:nvPr/>
        </p:nvCxnSpPr>
        <p:spPr>
          <a:xfrm xmlns:a="http://schemas.openxmlformats.org/drawingml/2006/main">
            <a:off x="9686925" y="2781300"/>
            <a:ext cx="0" cy="131445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40" name=""/>
          <p:cNvCxnSpPr>
            <a:stCxn xmlns:a="http://schemas.openxmlformats.org/drawingml/2006/main" id="10" idx="1"/>
            <a:endCxn xmlns:a="http://schemas.openxmlformats.org/drawingml/2006/main" id="11" idx="3"/>
          </p:cNvCxnSpPr>
          <p:nvPr/>
        </p:nvCxnSpPr>
        <p:spPr>
          <a:xfrm xmlns:a="http://schemas.openxmlformats.org/drawingml/2006/main" flipH="1">
            <a:off x="8153400" y="4591050"/>
            <a:ext cx="438150" cy="0"/>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cxnSp>
        <p:nvCxnSpPr>
          <p:cNvPr id="41" name=""/>
          <p:cNvCxnSpPr>
            <a:stCxn xmlns:a="http://schemas.openxmlformats.org/drawingml/2006/main" id="11" idx="1"/>
            <a:endCxn xmlns:a="http://schemas.openxmlformats.org/drawingml/2006/main" id="12" idx="3"/>
          </p:cNvCxnSpPr>
          <p:nvPr/>
        </p:nvCxnSpPr>
        <p:spPr>
          <a:xfrm xmlns:a="http://schemas.openxmlformats.org/drawingml/2006/main" flipH="1">
            <a:off x="5524500" y="4591050"/>
            <a:ext cx="43815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42" name=""/>
          <p:cNvCxnSpPr>
            <a:stCxn xmlns:a="http://schemas.openxmlformats.org/drawingml/2006/main" id="12" idx="1"/>
            <a:endCxn xmlns:a="http://schemas.openxmlformats.org/drawingml/2006/main" id="13" idx="3"/>
          </p:cNvCxnSpPr>
          <p:nvPr/>
        </p:nvCxnSpPr>
        <p:spPr>
          <a:xfrm xmlns:a="http://schemas.openxmlformats.org/drawingml/2006/main" flipH="1">
            <a:off x="2895600" y="4591050"/>
            <a:ext cx="438150" cy="0"/>
          </a:xfrm>
          <a:prstGeom xmlns:a="http://schemas.openxmlformats.org/drawingml/2006/main" prst="straightConnector1">
            <a:avLst/>
          </a:prstGeom>
          <a:ln xmlns:a="http://schemas.openxmlformats.org/drawingml/2006/main" w="28575">
            <a:solidFill>
              <a:srgbClr val="2CA56F"/>
            </a:solidFill>
            <a:prstDash val="solid"/>
            <a:tailEnd type="triangle" w="sm" len="sm"/>
          </a:ln>
        </p:spPr>
      </p:cxnSp>
      <p:sp>
        <p:nvSpPr>
          <p:cNvPr id="21" name="box-502">
            <a:extLst xmlns:a="http://schemas.openxmlformats.org/drawingml/2006/main">
              <a:ext uri="{FF2B5EF4-FFF2-40B4-BE49-F238E27FC236}">
                <a16:creationId xmlns:a16="http://schemas.microsoft.com/office/drawing/2014/main" id="{DD30C953-DB45-471C-ADC9-2C1DB492DC30}"/>
              </a:ext>
            </a:extLst>
          </p:cNvPr>
          <p:cNvSpPr>
            <a:spLocks xmlns:a="http://schemas.openxmlformats.org/drawingml/2006/main" noGrp="1"/>
          </p:cNvSpPr>
          <p:nvPr/>
        </p:nvSpPr>
        <p:spPr>
          <a:xfrm xmlns:a="http://schemas.openxmlformats.org/drawingml/2006/main">
            <a:off x="4095750" y="3200400"/>
            <a:ext cx="4000500" cy="495300"/>
          </a:xfrm>
          <a:prstGeom xmlns:a="http://schemas.openxmlformats.org/drawingml/2006/main" prst="roundRect">
            <a:avLst>
              <a:gd name="adj" fmla="val 15385"/>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071521"/>
                </a:solidFill>
                <a:latin typeface="Aptos"/>
                <a:ea typeface="Aptos"/>
                <a:cs typeface="Aptos"/>
              </a:defRPr>
            </a:pPr>
            <a:r>
              <a:rPr sz="1575" b="1">
                <a:solidFill>
                  <a:srgbClr val="071521"/>
                </a:solidFill>
                <a:latin typeface="Aptos"/>
                <a:ea typeface="Aptos"/>
                <a:cs typeface="Aptos"/>
              </a:rPr>
              <a:t>EVIDENCE BUNDLE</a:t>
            </a:r>
          </a:p>
        </p:txBody>
      </p:sp>
      <p:sp>
        <p:nvSpPr>
          <p:cNvPr id="22" name="text-503">
            <a:extLst xmlns:a="http://schemas.openxmlformats.org/drawingml/2006/main">
              <a:ext uri="{FF2B5EF4-FFF2-40B4-BE49-F238E27FC236}">
                <a16:creationId xmlns:a16="http://schemas.microsoft.com/office/drawing/2014/main" id="{FF06A423-73C4-4760-81FE-D667EC717B75}"/>
              </a:ext>
            </a:extLst>
          </p:cNvPr>
          <p:cNvSpPr>
            <a:spLocks xmlns:a="http://schemas.openxmlformats.org/drawingml/2006/main" noGrp="1"/>
          </p:cNvSpPr>
          <p:nvPr/>
        </p:nvSpPr>
        <p:spPr>
          <a:xfrm xmlns:a="http://schemas.openxmlformats.org/drawingml/2006/main">
            <a:off x="1428750" y="5572125"/>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requirement links • model review • test definitions • results • CI logs • HIL report • configuration IDs • problem dispositions</a:t>
            </a:r>
          </a:p>
        </p:txBody>
      </p:sp>
    </p:spTree>
    <p:extLst>
      <p:ext uri="{BB962C8B-B14F-4D97-AF65-F5344CB8AC3E}">
        <p14:creationId xmlns:p14="http://schemas.microsoft.com/office/powerpoint/2010/main" val="807636582"/>
      </p:ext>
    </p:extLst>
  </p:cSld>
</p:sld>
</file>

<file path=ppt/slides/slide32.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503">
            <a:extLst xmlns:a="http://schemas.openxmlformats.org/drawingml/2006/main">
              <a:ext uri="{FF2B5EF4-FFF2-40B4-BE49-F238E27FC236}">
                <a16:creationId xmlns:a16="http://schemas.microsoft.com/office/drawing/2014/main" id="{B9339CC5-0322-4A6D-A398-EC17103D7BD4}"/>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15 • KEY TAKEAWAYS</a:t>
            </a:r>
          </a:p>
        </p:txBody>
      </p:sp>
      <p:sp>
        <p:nvSpPr>
          <p:cNvPr id="2" name="title-503">
            <a:extLst xmlns:a="http://schemas.openxmlformats.org/drawingml/2006/main">
              <a:ext uri="{FF2B5EF4-FFF2-40B4-BE49-F238E27FC236}">
                <a16:creationId xmlns:a16="http://schemas.microsoft.com/office/drawing/2014/main" id="{9704C947-B76A-4532-85E2-375167EE132E}"/>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Align behavior, interfaces, and evidence</a:t>
            </a:r>
          </a:p>
        </p:txBody>
      </p:sp>
      <p:sp>
        <p:nvSpPr>
          <p:cNvPr id="3" name="line-504">
            <a:extLst xmlns:a="http://schemas.openxmlformats.org/drawingml/2006/main">
              <a:ext uri="{FF2B5EF4-FFF2-40B4-BE49-F238E27FC236}">
                <a16:creationId xmlns:a16="http://schemas.microsoft.com/office/drawing/2014/main" id="{B537E2FC-7C16-47EA-9D18-66A638AC3B6B}"/>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505">
            <a:extLst xmlns:a="http://schemas.openxmlformats.org/drawingml/2006/main">
              <a:ext uri="{FF2B5EF4-FFF2-40B4-BE49-F238E27FC236}">
                <a16:creationId xmlns:a16="http://schemas.microsoft.com/office/drawing/2014/main" id="{5F8E862E-2A9D-4EAA-A06D-8B57A7FB4A7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506">
            <a:extLst xmlns:a="http://schemas.openxmlformats.org/drawingml/2006/main">
              <a:ext uri="{FF2B5EF4-FFF2-40B4-BE49-F238E27FC236}">
                <a16:creationId xmlns:a16="http://schemas.microsoft.com/office/drawing/2014/main" id="{3165F452-01A1-43F2-A507-7EF8382BC229}"/>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32</a:t>
            </a:r>
          </a:p>
        </p:txBody>
      </p:sp>
      <p:sp>
        <p:nvSpPr>
          <p:cNvPr id="6" name="text-507">
            <a:extLst xmlns:a="http://schemas.openxmlformats.org/drawingml/2006/main">
              <a:ext uri="{FF2B5EF4-FFF2-40B4-BE49-F238E27FC236}">
                <a16:creationId xmlns:a16="http://schemas.microsoft.com/office/drawing/2014/main" id="{0E700A0F-2F94-4602-96B5-4956814AF4A9}"/>
              </a:ext>
            </a:extLst>
          </p:cNvPr>
          <p:cNvSpPr>
            <a:spLocks xmlns:a="http://schemas.openxmlformats.org/drawingml/2006/main" noGrp="1"/>
          </p:cNvSpPr>
          <p:nvPr/>
        </p:nvSpPr>
        <p:spPr>
          <a:xfrm xmlns:a="http://schemas.openxmlformats.org/drawingml/2006/main">
            <a:off x="819150" y="1504950"/>
            <a:ext cx="466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70DCE5"/>
                </a:solidFill>
                <a:latin typeface="Aptos"/>
                <a:ea typeface="Aptos"/>
                <a:cs typeface="Aptos"/>
              </a:defRPr>
            </a:pPr>
            <a:r>
              <a:rPr sz="1275" b="1" i="0">
                <a:solidFill>
                  <a:srgbClr val="70DCE5"/>
                </a:solidFill>
                <a:latin typeface="Aptos"/>
                <a:ea typeface="Aptos"/>
                <a:cs typeface="Aptos"/>
              </a:rPr>
              <a:t>WHAT TO REMEMBER</a:t>
            </a:r>
          </a:p>
        </p:txBody>
      </p:sp>
      <p:sp>
        <p:nvSpPr>
          <p:cNvPr id="7" name="text-508">
            <a:extLst xmlns:a="http://schemas.openxmlformats.org/drawingml/2006/main">
              <a:ext uri="{FF2B5EF4-FFF2-40B4-BE49-F238E27FC236}">
                <a16:creationId xmlns:a16="http://schemas.microsoft.com/office/drawing/2014/main" id="{7CDF9D49-08B8-4DAF-9CB9-8F1822EEB39C}"/>
              </a:ext>
            </a:extLst>
          </p:cNvPr>
          <p:cNvSpPr>
            <a:spLocks xmlns:a="http://schemas.openxmlformats.org/drawingml/2006/main" noGrp="1"/>
          </p:cNvSpPr>
          <p:nvPr/>
        </p:nvSpPr>
        <p:spPr>
          <a:xfrm xmlns:a="http://schemas.openxmlformats.org/drawingml/2006/main">
            <a:off x="781050" y="1981200"/>
            <a:ext cx="5334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Simulink — </a:t>
            </a:r>
            <a:r>
              <a:rPr sz="1650" b="0" i="0">
                <a:solidFill>
                  <a:srgbClr val="FFFFFF"/>
                </a:solidFill>
                <a:latin typeface="Aptos"/>
                <a:ea typeface="Aptos"/>
                <a:cs typeface="Aptos"/>
              </a:rPr>
              <a:t>executable data flow, state, timing, and hierarchy</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DO-178C / DO-331 — </a:t>
            </a:r>
            <a:r>
              <a:rPr sz="1650" b="0" i="0">
                <a:solidFill>
                  <a:srgbClr val="FFFFFF"/>
                </a:solidFill>
                <a:latin typeface="Aptos"/>
                <a:ea typeface="Aptos"/>
                <a:cs typeface="Aptos"/>
              </a:rPr>
              <a:t>planned objectives, model role, verification, and evidence</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Testing — </a:t>
            </a:r>
            <a:r>
              <a:rPr sz="1650" b="0" i="0">
                <a:solidFill>
                  <a:srgbClr val="FFFFFF"/>
                </a:solidFill>
                <a:latin typeface="Aptos"/>
                <a:ea typeface="Aptos"/>
                <a:cs typeface="Aptos"/>
              </a:rPr>
              <a:t>requirements first; boundaries, modes, failures, and timing</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Automation — </a:t>
            </a:r>
            <a:r>
              <a:rPr sz="1650" b="0" i="0">
                <a:solidFill>
                  <a:srgbClr val="FFFFFF"/>
                </a:solidFill>
                <a:latin typeface="Aptos"/>
                <a:ea typeface="Aptos"/>
                <a:cs typeface="Aptos"/>
              </a:rPr>
              <a:t>repeatable checks and results under controlled configuration</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HIL — </a:t>
            </a:r>
            <a:r>
              <a:rPr sz="1650" b="0" i="0">
                <a:solidFill>
                  <a:srgbClr val="FFFFFF"/>
                </a:solidFill>
                <a:latin typeface="Aptos"/>
                <a:ea typeface="Aptos"/>
                <a:cs typeface="Aptos"/>
              </a:rPr>
              <a:t>real controller, physical I/O, real-time plant, quantitative criteria</a:t>
            </a:r>
          </a:p>
        </p:txBody>
      </p:sp>
      <p:sp>
        <p:nvSpPr>
          <p:cNvPr id="8" name="line-509">
            <a:extLst xmlns:a="http://schemas.openxmlformats.org/drawingml/2006/main">
              <a:ext uri="{FF2B5EF4-FFF2-40B4-BE49-F238E27FC236}">
                <a16:creationId xmlns:a16="http://schemas.microsoft.com/office/drawing/2014/main" id="{053DB801-A2B8-4C10-AD1C-B7D824EDB3E7}"/>
              </a:ext>
            </a:extLst>
          </p:cNvPr>
          <p:cNvSpPr>
            <a:spLocks xmlns:a="http://schemas.openxmlformats.org/drawingml/2006/main" noGrp="1"/>
          </p:cNvSpPr>
          <p:nvPr/>
        </p:nvSpPr>
        <p:spPr>
          <a:xfrm xmlns:a="http://schemas.openxmlformats.org/drawingml/2006/main">
            <a:off x="6286500" y="1504950"/>
            <a:ext cx="0" cy="3600450"/>
          </a:xfrm>
          <a:prstGeom xmlns:a="http://schemas.openxmlformats.org/drawingml/2006/main" prst="line">
            <a:avLst/>
          </a:prstGeom>
          <a:noFill xmlns:a="http://schemas.openxmlformats.org/drawingml/2006/main"/>
          <a:ln xmlns:a="http://schemas.openxmlformats.org/drawingml/2006/main" w="19050">
            <a:solidFill>
              <a:srgbClr val="143A55"/>
            </a:solidFill>
            <a:prstDash val="solid"/>
          </a:ln>
        </p:spPr>
      </p:sp>
      <p:sp>
        <p:nvSpPr>
          <p:cNvPr id="9" name="text-510">
            <a:extLst xmlns:a="http://schemas.openxmlformats.org/drawingml/2006/main">
              <a:ext uri="{FF2B5EF4-FFF2-40B4-BE49-F238E27FC236}">
                <a16:creationId xmlns:a16="http://schemas.microsoft.com/office/drawing/2014/main" id="{3EDDC643-C96B-4F44-BE46-191A5A6458BE}"/>
              </a:ext>
            </a:extLst>
          </p:cNvPr>
          <p:cNvSpPr>
            <a:spLocks xmlns:a="http://schemas.openxmlformats.org/drawingml/2006/main" noGrp="1"/>
          </p:cNvSpPr>
          <p:nvPr/>
        </p:nvSpPr>
        <p:spPr>
          <a:xfrm xmlns:a="http://schemas.openxmlformats.org/drawingml/2006/main">
            <a:off x="6858000" y="15049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E9A23B"/>
                </a:solidFill>
                <a:latin typeface="Aptos"/>
                <a:ea typeface="Aptos"/>
                <a:cs typeface="Aptos"/>
              </a:defRPr>
            </a:pPr>
            <a:r>
              <a:rPr sz="1275" b="1" i="0">
                <a:solidFill>
                  <a:srgbClr val="E9A23B"/>
                </a:solidFill>
                <a:latin typeface="Aptos"/>
                <a:ea typeface="Aptos"/>
                <a:cs typeface="Aptos"/>
              </a:rPr>
              <a:t>FIRST 30 DAYS</a:t>
            </a:r>
          </a:p>
        </p:txBody>
      </p:sp>
      <p:sp>
        <p:nvSpPr>
          <p:cNvPr id="10" name="box-511">
            <a:extLst xmlns:a="http://schemas.openxmlformats.org/drawingml/2006/main">
              <a:ext uri="{FF2B5EF4-FFF2-40B4-BE49-F238E27FC236}">
                <a16:creationId xmlns:a16="http://schemas.microsoft.com/office/drawing/2014/main" id="{5EF92CC0-FA7A-4292-8844-30171E3C92EA}"/>
              </a:ext>
            </a:extLst>
          </p:cNvPr>
          <p:cNvSpPr>
            <a:spLocks xmlns:a="http://schemas.openxmlformats.org/drawingml/2006/main" noGrp="1"/>
          </p:cNvSpPr>
          <p:nvPr/>
        </p:nvSpPr>
        <p:spPr>
          <a:xfrm xmlns:a="http://schemas.openxmlformats.org/drawingml/2006/main">
            <a:off x="6858000" y="198120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33350" tIns="28575" rIns="76200"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01  open the project correctly</a:t>
            </a:r>
          </a:p>
        </p:txBody>
      </p:sp>
      <p:sp>
        <p:nvSpPr>
          <p:cNvPr id="11" name="box-512">
            <a:extLst xmlns:a="http://schemas.openxmlformats.org/drawingml/2006/main">
              <a:ext uri="{FF2B5EF4-FFF2-40B4-BE49-F238E27FC236}">
                <a16:creationId xmlns:a16="http://schemas.microsoft.com/office/drawing/2014/main" id="{0552A155-2C11-438A-9BBE-B8BD5615C51F}"/>
              </a:ext>
            </a:extLst>
          </p:cNvPr>
          <p:cNvSpPr>
            <a:spLocks xmlns:a="http://schemas.openxmlformats.org/drawingml/2006/main" noGrp="1"/>
          </p:cNvSpPr>
          <p:nvPr/>
        </p:nvSpPr>
        <p:spPr>
          <a:xfrm xmlns:a="http://schemas.openxmlformats.org/drawingml/2006/main">
            <a:off x="6858000" y="253365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33350" tIns="28575" rIns="76200"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02  trace one requirement end-to-end</a:t>
            </a:r>
          </a:p>
        </p:txBody>
      </p:sp>
      <p:sp>
        <p:nvSpPr>
          <p:cNvPr id="12" name="box-513">
            <a:extLst xmlns:a="http://schemas.openxmlformats.org/drawingml/2006/main">
              <a:ext uri="{FF2B5EF4-FFF2-40B4-BE49-F238E27FC236}">
                <a16:creationId xmlns:a16="http://schemas.microsoft.com/office/drawing/2014/main" id="{59EB19FF-2FCB-4B3B-A2EE-1FCF1ABB3800}"/>
              </a:ext>
            </a:extLst>
          </p:cNvPr>
          <p:cNvSpPr>
            <a:spLocks xmlns:a="http://schemas.openxmlformats.org/drawingml/2006/main" noGrp="1"/>
          </p:cNvSpPr>
          <p:nvPr/>
        </p:nvSpPr>
        <p:spPr>
          <a:xfrm xmlns:a="http://schemas.openxmlformats.org/drawingml/2006/main">
            <a:off x="6858000" y="308610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33350" tIns="28575" rIns="76200"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03  modify one small component</a:t>
            </a:r>
          </a:p>
        </p:txBody>
      </p:sp>
      <p:sp>
        <p:nvSpPr>
          <p:cNvPr id="13" name="box-514">
            <a:extLst xmlns:a="http://schemas.openxmlformats.org/drawingml/2006/main">
              <a:ext uri="{FF2B5EF4-FFF2-40B4-BE49-F238E27FC236}">
                <a16:creationId xmlns:a16="http://schemas.microsoft.com/office/drawing/2014/main" id="{86DE6C69-5797-46A0-83DA-A03DD80F58F4}"/>
              </a:ext>
            </a:extLst>
          </p:cNvPr>
          <p:cNvSpPr>
            <a:spLocks xmlns:a="http://schemas.openxmlformats.org/drawingml/2006/main" noGrp="1"/>
          </p:cNvSpPr>
          <p:nvPr/>
        </p:nvSpPr>
        <p:spPr>
          <a:xfrm xmlns:a="http://schemas.openxmlformats.org/drawingml/2006/main">
            <a:off x="6858000" y="363855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33350" tIns="28575" rIns="76200"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04  add one boundary test</a:t>
            </a:r>
          </a:p>
        </p:txBody>
      </p:sp>
      <p:sp>
        <p:nvSpPr>
          <p:cNvPr id="14" name="box-515">
            <a:extLst xmlns:a="http://schemas.openxmlformats.org/drawingml/2006/main">
              <a:ext uri="{FF2B5EF4-FFF2-40B4-BE49-F238E27FC236}">
                <a16:creationId xmlns:a16="http://schemas.microsoft.com/office/drawing/2014/main" id="{E0F4BD95-2774-4FE4-8D94-374A28C3E8E5}"/>
              </a:ext>
            </a:extLst>
          </p:cNvPr>
          <p:cNvSpPr>
            <a:spLocks xmlns:a="http://schemas.openxmlformats.org/drawingml/2006/main" noGrp="1"/>
          </p:cNvSpPr>
          <p:nvPr/>
        </p:nvSpPr>
        <p:spPr>
          <a:xfrm xmlns:a="http://schemas.openxmlformats.org/drawingml/2006/main">
            <a:off x="6858000" y="419100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33350" tIns="28575" rIns="76200"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05  reproduce one CI failure locally</a:t>
            </a:r>
          </a:p>
        </p:txBody>
      </p:sp>
      <p:sp>
        <p:nvSpPr>
          <p:cNvPr id="15" name="box-516">
            <a:extLst xmlns:a="http://schemas.openxmlformats.org/drawingml/2006/main">
              <a:ext uri="{FF2B5EF4-FFF2-40B4-BE49-F238E27FC236}">
                <a16:creationId xmlns:a16="http://schemas.microsoft.com/office/drawing/2014/main" id="{0815572C-20E2-4D01-B52E-5E58F8BCEE66}"/>
              </a:ext>
            </a:extLst>
          </p:cNvPr>
          <p:cNvSpPr>
            <a:spLocks xmlns:a="http://schemas.openxmlformats.org/drawingml/2006/main" noGrp="1"/>
          </p:cNvSpPr>
          <p:nvPr/>
        </p:nvSpPr>
        <p:spPr>
          <a:xfrm xmlns:a="http://schemas.openxmlformats.org/drawingml/2006/main">
            <a:off x="6858000" y="4743450"/>
            <a:ext cx="4381500" cy="419100"/>
          </a:xfrm>
          <a:prstGeom xmlns:a="http://schemas.openxmlformats.org/drawingml/2006/main" prst="roundRect">
            <a:avLst>
              <a:gd name="adj" fmla="val 13636"/>
            </a:avLst>
          </a:prstGeom>
          <a:solidFill xmlns:a="http://schemas.openxmlformats.org/drawingml/2006/main">
            <a:srgbClr val="10372A"/>
          </a:solidFill>
          <a:ln xmlns:a="http://schemas.openxmlformats.org/drawingml/2006/main" w="9525">
            <a:solidFill>
              <a:srgbClr val="2CA56F"/>
            </a:solidFill>
            <a:prstDash val="solid"/>
          </a:ln>
        </p:spPr>
        <p:txBody>
          <a:bodyPr xmlns:a="http://schemas.openxmlformats.org/drawingml/2006/main" lIns="133350" tIns="28575" rIns="76200"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06  observe one HIL run + evidence review</a:t>
            </a:r>
          </a:p>
        </p:txBody>
      </p:sp>
      <p:sp>
        <p:nvSpPr>
          <p:cNvPr id="16" name="box-517">
            <a:extLst xmlns:a="http://schemas.openxmlformats.org/drawingml/2006/main">
              <a:ext uri="{FF2B5EF4-FFF2-40B4-BE49-F238E27FC236}">
                <a16:creationId xmlns:a16="http://schemas.microsoft.com/office/drawing/2014/main" id="{4C86E091-2C53-4EF0-83CC-1406EE6AA817}"/>
              </a:ext>
            </a:extLst>
          </p:cNvPr>
          <p:cNvSpPr>
            <a:spLocks xmlns:a="http://schemas.openxmlformats.org/drawingml/2006/main" noGrp="1"/>
          </p:cNvSpPr>
          <p:nvPr/>
        </p:nvSpPr>
        <p:spPr>
          <a:xfrm xmlns:a="http://schemas.openxmlformats.org/drawingml/2006/main">
            <a:off x="1238250" y="5619750"/>
            <a:ext cx="9715500" cy="552450"/>
          </a:xfrm>
          <a:prstGeom xmlns:a="http://schemas.openxmlformats.org/drawingml/2006/main" prst="roundRect">
            <a:avLst>
              <a:gd name="adj" fmla="val 13793"/>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71521"/>
                </a:solidFill>
                <a:latin typeface="Aptos"/>
                <a:ea typeface="Aptos"/>
                <a:cs typeface="Aptos"/>
              </a:defRPr>
            </a:pPr>
            <a:r>
              <a:rPr sz="1725" b="1">
                <a:solidFill>
                  <a:srgbClr val="071521"/>
                </a:solidFill>
                <a:latin typeface="Aptos"/>
                <a:ea typeface="Aptos"/>
                <a:cs typeface="Aptos"/>
              </a:rPr>
              <a:t>When the chain is unbroken, certification becomes a review of evidence—not a rescue project.</a:t>
            </a:r>
          </a:p>
        </p:txBody>
      </p:sp>
    </p:spTree>
    <p:extLst>
      <p:ext uri="{BB962C8B-B14F-4D97-AF65-F5344CB8AC3E}">
        <p14:creationId xmlns:p14="http://schemas.microsoft.com/office/powerpoint/2010/main" val="3928484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2026-08-26T16:52:24.0390000Z</dcterms:created>
  <dcterms:modified xsi:type="dcterms:W3CDTF">2026-08-26T16:52:24.0390000Z</dcterms:modified>
</coreProperties>
</file>