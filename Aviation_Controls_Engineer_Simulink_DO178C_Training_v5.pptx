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088843baaf8449e" /><Relationship Type="http://schemas.openxmlformats.org/officeDocument/2006/relationships/extended-properties" Target="/docProps/app.xml" Id="R6c60cdcf8b9948ae" /><Relationship Type="http://schemas.openxmlformats.org/officeDocument/2006/relationships/officeDocument" Target="/ppt/presentation.xml" Id="Re319184c9bfb4bee" /></Relationships>
</file>

<file path=ppt/presentation.xml><?xml version="1.0" encoding="utf-8"?>
<p:presentation xmlns:p="http://schemas.openxmlformats.org/presentationml/2006/main">
  <p:sldMasterIdLst>
    <p:sldMasterId xmlns:r="http://schemas.openxmlformats.org/officeDocument/2006/relationships" id="2147483648" r:id="Rb2426ba4e1be4a65"/>
  </p:sldMasterIdLst>
  <p:notesMasterIdLst>
    <p:notesMasterId xmlns:r="http://schemas.openxmlformats.org/officeDocument/2006/relationships" r:id="Re22166ef1a8a4c5c"/>
  </p:notesMasterIdLst>
  <p:sldIdLst>
    <p:sldId xmlns:r="http://schemas.openxmlformats.org/officeDocument/2006/relationships" id="256" r:id="R24b2b78cd2e74bfa"/>
    <p:sldId xmlns:r="http://schemas.openxmlformats.org/officeDocument/2006/relationships" id="257" r:id="Rc4dcca8fa9884233"/>
    <p:sldId xmlns:r="http://schemas.openxmlformats.org/officeDocument/2006/relationships" id="258" r:id="Rc580484a0c9249a5"/>
    <p:sldId xmlns:r="http://schemas.openxmlformats.org/officeDocument/2006/relationships" id="259" r:id="R5192deccc6ea429e"/>
    <p:sldId xmlns:r="http://schemas.openxmlformats.org/officeDocument/2006/relationships" id="260" r:id="Ra304be02e3d4421f"/>
    <p:sldId xmlns:r="http://schemas.openxmlformats.org/officeDocument/2006/relationships" id="261" r:id="R88435fe3e9934d77"/>
    <p:sldId xmlns:r="http://schemas.openxmlformats.org/officeDocument/2006/relationships" id="262" r:id="R0278854e6df240bd"/>
    <p:sldId xmlns:r="http://schemas.openxmlformats.org/officeDocument/2006/relationships" id="263" r:id="R45e4e8845c9b4efe"/>
    <p:sldId xmlns:r="http://schemas.openxmlformats.org/officeDocument/2006/relationships" id="264" r:id="Rdc2bf458c51b44af"/>
    <p:sldId xmlns:r="http://schemas.openxmlformats.org/officeDocument/2006/relationships" id="265" r:id="R70194e006daf434e"/>
    <p:sldId xmlns:r="http://schemas.openxmlformats.org/officeDocument/2006/relationships" id="266" r:id="R2b940859c214472b"/>
    <p:sldId xmlns:r="http://schemas.openxmlformats.org/officeDocument/2006/relationships" id="267" r:id="R4e56dcf01b8b44f2"/>
    <p:sldId xmlns:r="http://schemas.openxmlformats.org/officeDocument/2006/relationships" id="268" r:id="R330ab5c579a94502"/>
    <p:sldId xmlns:r="http://schemas.openxmlformats.org/officeDocument/2006/relationships" id="269" r:id="R797e5b7373b54f59"/>
    <p:sldId xmlns:r="http://schemas.openxmlformats.org/officeDocument/2006/relationships" id="270" r:id="Rf0dd4f124245441d"/>
    <p:sldId xmlns:r="http://schemas.openxmlformats.org/officeDocument/2006/relationships" id="271" r:id="Rb8ce3f17ffc74de0"/>
    <p:sldId xmlns:r="http://schemas.openxmlformats.org/officeDocument/2006/relationships" id="272" r:id="R36915f4368b74c97"/>
    <p:sldId xmlns:r="http://schemas.openxmlformats.org/officeDocument/2006/relationships" id="273" r:id="R57ea58d907f94d9e"/>
    <p:sldId xmlns:r="http://schemas.openxmlformats.org/officeDocument/2006/relationships" id="274" r:id="R7e46a726504d41fb"/>
    <p:sldId xmlns:r="http://schemas.openxmlformats.org/officeDocument/2006/relationships" id="275" r:id="R7587394b5c204be5"/>
    <p:sldId xmlns:r="http://schemas.openxmlformats.org/officeDocument/2006/relationships" id="276" r:id="Rdac636e1df6c4427"/>
    <p:sldId xmlns:r="http://schemas.openxmlformats.org/officeDocument/2006/relationships" id="277" r:id="Ref2aff4de5a84a4a"/>
    <p:sldId xmlns:r="http://schemas.openxmlformats.org/officeDocument/2006/relationships" id="278" r:id="R8abda566678c4693"/>
    <p:sldId xmlns:r="http://schemas.openxmlformats.org/officeDocument/2006/relationships" id="279" r:id="Ra74d5b231938407e"/>
    <p:sldId xmlns:r="http://schemas.openxmlformats.org/officeDocument/2006/relationships" id="280" r:id="R253743dc13734eec"/>
    <p:sldId xmlns:r="http://schemas.openxmlformats.org/officeDocument/2006/relationships" id="281" r:id="R849c4af03afa4adc"/>
    <p:sldId xmlns:r="http://schemas.openxmlformats.org/officeDocument/2006/relationships" id="282" r:id="Re4fe499abeb040b5"/>
    <p:sldId xmlns:r="http://schemas.openxmlformats.org/officeDocument/2006/relationships" id="283" r:id="R871e8bce8c8f407f"/>
    <p:sldId xmlns:r="http://schemas.openxmlformats.org/officeDocument/2006/relationships" id="284" r:id="Rcfd64f6035ef45c5"/>
    <p:sldId xmlns:r="http://schemas.openxmlformats.org/officeDocument/2006/relationships" id="285" r:id="R96dddc928d5847cf"/>
    <p:sldId xmlns:r="http://schemas.openxmlformats.org/officeDocument/2006/relationships" id="286" r:id="R87b0989ea36f4ad7"/>
    <p:sldId xmlns:r="http://schemas.openxmlformats.org/officeDocument/2006/relationships" id="287" r:id="Re42e6642e43b431b"/>
    <p:sldId xmlns:r="http://schemas.openxmlformats.org/officeDocument/2006/relationships" id="288" r:id="Re32a7057e289432b"/>
    <p:sldId xmlns:r="http://schemas.openxmlformats.org/officeDocument/2006/relationships" id="289" r:id="R2ee745428ea945f7"/>
    <p:sldId xmlns:r="http://schemas.openxmlformats.org/officeDocument/2006/relationships" id="290" r:id="R406b5604941a4baa"/>
    <p:sldId xmlns:r="http://schemas.openxmlformats.org/officeDocument/2006/relationships" id="291" r:id="R3d768bae08064cf2"/>
    <p:sldId xmlns:r="http://schemas.openxmlformats.org/officeDocument/2006/relationships" id="292" r:id="R88f50c00b52b45a7"/>
    <p:sldId xmlns:r="http://schemas.openxmlformats.org/officeDocument/2006/relationships" id="293" r:id="R2d71665418c84862"/>
    <p:sldId xmlns:r="http://schemas.openxmlformats.org/officeDocument/2006/relationships" id="294" r:id="Rdbac2b39d1424d40"/>
    <p:sldId xmlns:r="http://schemas.openxmlformats.org/officeDocument/2006/relationships" id="295" r:id="R8e7f9daa0c5c4c51"/>
    <p:sldId xmlns:r="http://schemas.openxmlformats.org/officeDocument/2006/relationships" id="296" r:id="Rac2d083d309d4b9c"/>
    <p:sldId xmlns:r="http://schemas.openxmlformats.org/officeDocument/2006/relationships" id="297" r:id="R678fdb7d67434d1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09525882e0b44c7c" /><Relationship Type="http://schemas.openxmlformats.org/officeDocument/2006/relationships/slideMaster" Target="/ppt/slideMasters/slideMaster1.xml" Id="Rb2426ba4e1be4a65" /><Relationship Type="http://schemas.openxmlformats.org/officeDocument/2006/relationships/notesMaster" Target="/ppt/notesMasters/notesMaster1.xml" Id="Re22166ef1a8a4c5c" /><Relationship Type="http://schemas.openxmlformats.org/officeDocument/2006/relationships/presProps" Target="/ppt/presProps.xml" Id="R905e34a753a84d48" /><Relationship Type="http://schemas.openxmlformats.org/officeDocument/2006/relationships/viewProps" Target="/ppt/viewProps.xml" Id="Re7ab6326e4264007" /><Relationship Type="http://schemas.openxmlformats.org/officeDocument/2006/relationships/tableStyles" Target="/ppt/tableStyles.xml" Id="Rc70dfbf9abf04c53" /><Relationship Type="http://schemas.openxmlformats.org/officeDocument/2006/relationships/slide" Target="/ppt/slides/slide1.xml" Id="R24b2b78cd2e74bfa" /><Relationship Type="http://schemas.openxmlformats.org/officeDocument/2006/relationships/slide" Target="/ppt/slides/slide2.xml" Id="Rc4dcca8fa9884233" /><Relationship Type="http://schemas.openxmlformats.org/officeDocument/2006/relationships/slide" Target="/ppt/slides/slide3.xml" Id="Rc580484a0c9249a5" /><Relationship Type="http://schemas.openxmlformats.org/officeDocument/2006/relationships/slide" Target="/ppt/slides/slide4.xml" Id="R5192deccc6ea429e" /><Relationship Type="http://schemas.openxmlformats.org/officeDocument/2006/relationships/slide" Target="/ppt/slides/slide5.xml" Id="Ra304be02e3d4421f" /><Relationship Type="http://schemas.openxmlformats.org/officeDocument/2006/relationships/slide" Target="/ppt/slides/slide6.xml" Id="R88435fe3e9934d77" /><Relationship Type="http://schemas.openxmlformats.org/officeDocument/2006/relationships/slide" Target="/ppt/slides/slide7.xml" Id="R0278854e6df240bd" /><Relationship Type="http://schemas.openxmlformats.org/officeDocument/2006/relationships/slide" Target="/ppt/slides/slide8.xml" Id="R45e4e8845c9b4efe" /><Relationship Type="http://schemas.openxmlformats.org/officeDocument/2006/relationships/slide" Target="/ppt/slides/slide9.xml" Id="Rdc2bf458c51b44af" /><Relationship Type="http://schemas.openxmlformats.org/officeDocument/2006/relationships/slide" Target="/ppt/slides/slide10.xml" Id="R70194e006daf434e" /><Relationship Type="http://schemas.openxmlformats.org/officeDocument/2006/relationships/slide" Target="/ppt/slides/slide11.xml" Id="R2b940859c214472b" /><Relationship Type="http://schemas.openxmlformats.org/officeDocument/2006/relationships/slide" Target="/ppt/slides/slide12.xml" Id="R4e56dcf01b8b44f2" /><Relationship Type="http://schemas.openxmlformats.org/officeDocument/2006/relationships/slide" Target="/ppt/slides/slide13.xml" Id="R330ab5c579a94502" /><Relationship Type="http://schemas.openxmlformats.org/officeDocument/2006/relationships/slide" Target="/ppt/slides/slide14.xml" Id="R797e5b7373b54f59" /><Relationship Type="http://schemas.openxmlformats.org/officeDocument/2006/relationships/slide" Target="/ppt/slides/slide15.xml" Id="Rf0dd4f124245441d" /><Relationship Type="http://schemas.openxmlformats.org/officeDocument/2006/relationships/slide" Target="/ppt/slides/slide16.xml" Id="Rb8ce3f17ffc74de0" /><Relationship Type="http://schemas.openxmlformats.org/officeDocument/2006/relationships/slide" Target="/ppt/slides/slide17.xml" Id="R36915f4368b74c97" /><Relationship Type="http://schemas.openxmlformats.org/officeDocument/2006/relationships/slide" Target="/ppt/slides/slide18.xml" Id="R57ea58d907f94d9e" /><Relationship Type="http://schemas.openxmlformats.org/officeDocument/2006/relationships/slide" Target="/ppt/slides/slide19.xml" Id="R7e46a726504d41fb" /><Relationship Type="http://schemas.openxmlformats.org/officeDocument/2006/relationships/slide" Target="/ppt/slides/slide20.xml" Id="R7587394b5c204be5" /><Relationship Type="http://schemas.openxmlformats.org/officeDocument/2006/relationships/slide" Target="/ppt/slides/slide21.xml" Id="Rdac636e1df6c4427" /><Relationship Type="http://schemas.openxmlformats.org/officeDocument/2006/relationships/slide" Target="/ppt/slides/slide22.xml" Id="Ref2aff4de5a84a4a" /><Relationship Type="http://schemas.openxmlformats.org/officeDocument/2006/relationships/slide" Target="/ppt/slides/slide23.xml" Id="R8abda566678c4693" /><Relationship Type="http://schemas.openxmlformats.org/officeDocument/2006/relationships/slide" Target="/ppt/slides/slide24.xml" Id="Ra74d5b231938407e" /><Relationship Type="http://schemas.openxmlformats.org/officeDocument/2006/relationships/slide" Target="/ppt/slides/slide25.xml" Id="R253743dc13734eec" /><Relationship Type="http://schemas.openxmlformats.org/officeDocument/2006/relationships/slide" Target="/ppt/slides/slide26.xml" Id="R849c4af03afa4adc" /><Relationship Type="http://schemas.openxmlformats.org/officeDocument/2006/relationships/slide" Target="/ppt/slides/slide27.xml" Id="Re4fe499abeb040b5" /><Relationship Type="http://schemas.openxmlformats.org/officeDocument/2006/relationships/slide" Target="/ppt/slides/slide28.xml" Id="R871e8bce8c8f407f" /><Relationship Type="http://schemas.openxmlformats.org/officeDocument/2006/relationships/slide" Target="/ppt/slides/slide29.xml" Id="Rcfd64f6035ef45c5" /><Relationship Type="http://schemas.openxmlformats.org/officeDocument/2006/relationships/slide" Target="/ppt/slides/slide30.xml" Id="R96dddc928d5847cf" /><Relationship Type="http://schemas.openxmlformats.org/officeDocument/2006/relationships/slide" Target="/ppt/slides/slide31.xml" Id="R87b0989ea36f4ad7" /><Relationship Type="http://schemas.openxmlformats.org/officeDocument/2006/relationships/slide" Target="/ppt/slides/slide32.xml" Id="Re42e6642e43b431b" /><Relationship Type="http://schemas.openxmlformats.org/officeDocument/2006/relationships/slide" Target="/ppt/slides/slide33.xml" Id="Re32a7057e289432b" /><Relationship Type="http://schemas.openxmlformats.org/officeDocument/2006/relationships/slide" Target="/ppt/slides/slide34.xml" Id="R2ee745428ea945f7" /><Relationship Type="http://schemas.openxmlformats.org/officeDocument/2006/relationships/slide" Target="/ppt/slides/slide35.xml" Id="R406b5604941a4baa" /><Relationship Type="http://schemas.openxmlformats.org/officeDocument/2006/relationships/slide" Target="/ppt/slides/slide36.xml" Id="R3d768bae08064cf2" /><Relationship Type="http://schemas.openxmlformats.org/officeDocument/2006/relationships/slide" Target="/ppt/slides/slide37.xml" Id="R88f50c00b52b45a7" /><Relationship Type="http://schemas.openxmlformats.org/officeDocument/2006/relationships/slide" Target="/ppt/slides/slide38.xml" Id="R2d71665418c84862" /><Relationship Type="http://schemas.openxmlformats.org/officeDocument/2006/relationships/slide" Target="/ppt/slides/slide39.xml" Id="Rdbac2b39d1424d40" /><Relationship Type="http://schemas.openxmlformats.org/officeDocument/2006/relationships/slide" Target="/ppt/slides/slide40.xml" Id="R8e7f9daa0c5c4c51" /><Relationship Type="http://schemas.openxmlformats.org/officeDocument/2006/relationships/slide" Target="/ppt/slides/slide41.xml" Id="Rac2d083d309d4b9c" /><Relationship Type="http://schemas.openxmlformats.org/officeDocument/2006/relationships/slide" Target="/ppt/slides/slide42.xml" Id="R678fdb7d67434d1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096fb8537054dd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3d70f788b7d4bbe" /><Relationship Type="http://schemas.openxmlformats.org/officeDocument/2006/relationships/notesMaster" Target="/ppt/notesMasters/notesMaster1.xml" Id="R3cc93be27e2e479d" /></Relationships>
</file>

<file path=ppt/notesSlides/_rels/notesSlide2.xml.rels>&#65279;<?xml version="1.0" encoding="utf-8"?><Relationships xmlns="http://schemas.openxmlformats.org/package/2006/relationships"><Relationship Type="http://schemas.openxmlformats.org/officeDocument/2006/relationships/slide" Target="/ppt/slides/slide2.xml" Id="Rc735f2761e844c01" /><Relationship Type="http://schemas.openxmlformats.org/officeDocument/2006/relationships/notesMaster" Target="/ppt/notesMasters/notesMaster1.xml" Id="Rb918e81bc08644fe" /></Relationships>
</file>

<file path=ppt/notesSlides/_rels/notesSlide3.xml.rels>&#65279;<?xml version="1.0" encoding="utf-8"?><Relationships xmlns="http://schemas.openxmlformats.org/package/2006/relationships"><Relationship Type="http://schemas.openxmlformats.org/officeDocument/2006/relationships/slide" Target="/ppt/slides/slide3.xml" Id="R99b317c7ac3341dc" /><Relationship Type="http://schemas.openxmlformats.org/officeDocument/2006/relationships/notesMaster" Target="/ppt/notesMasters/notesMaster1.xml" Id="Rcf71ebe5d9404681" /></Relationships>
</file>

<file path=ppt/notesSlides/_rels/notesSlide4.xml.rels>&#65279;<?xml version="1.0" encoding="utf-8"?><Relationships xmlns="http://schemas.openxmlformats.org/package/2006/relationships"><Relationship Type="http://schemas.openxmlformats.org/officeDocument/2006/relationships/slide" Target="/ppt/slides/slide4.xml" Id="R5308a2c1aa8940d9" /><Relationship Type="http://schemas.openxmlformats.org/officeDocument/2006/relationships/notesMaster" Target="/ppt/notesMasters/notesMaster1.xml" Id="Ra36838068b744cd9" /></Relationships>
</file>

<file path=ppt/notesSlides/_rels/notesSlide5.xml.rels>&#65279;<?xml version="1.0" encoding="utf-8"?><Relationships xmlns="http://schemas.openxmlformats.org/package/2006/relationships"><Relationship Type="http://schemas.openxmlformats.org/officeDocument/2006/relationships/slide" Target="/ppt/slides/slide5.xml" Id="R04a6a685139a4bb4" /><Relationship Type="http://schemas.openxmlformats.org/officeDocument/2006/relationships/notesMaster" Target="/ppt/notesMasters/notesMaster1.xml" Id="Rb0b0c09ea2134410" /></Relationships>
</file>

<file path=ppt/notesSlides/_rels/notesSlide6.xml.rels>&#65279;<?xml version="1.0" encoding="utf-8"?><Relationships xmlns="http://schemas.openxmlformats.org/package/2006/relationships"><Relationship Type="http://schemas.openxmlformats.org/officeDocument/2006/relationships/slide" Target="/ppt/slides/slide6.xml" Id="Rc10cdf71f188470e" /><Relationship Type="http://schemas.openxmlformats.org/officeDocument/2006/relationships/notesMaster" Target="/ppt/notesMasters/notesMaster1.xml" Id="Re0bfe23cc5114c6b" /></Relationships>
</file>

<file path=ppt/notesSlides/_rels/notesSlide7.xml.rels>&#65279;<?xml version="1.0" encoding="utf-8"?><Relationships xmlns="http://schemas.openxmlformats.org/package/2006/relationships"><Relationship Type="http://schemas.openxmlformats.org/officeDocument/2006/relationships/slide" Target="/ppt/slides/slide7.xml" Id="Rbfd6d40cab8d4419" /><Relationship Type="http://schemas.openxmlformats.org/officeDocument/2006/relationships/notesMaster" Target="/ppt/notesMasters/notesMaster1.xml" Id="R660289841d2e4bb4" /></Relationships>
</file>

<file path=ppt/notesSlides/_rels/notesSlide8.xml.rels>&#65279;<?xml version="1.0" encoding="utf-8"?><Relationships xmlns="http://schemas.openxmlformats.org/package/2006/relationships"><Relationship Type="http://schemas.openxmlformats.org/officeDocument/2006/relationships/slide" Target="/ppt/slides/slide8.xml" Id="Ra13a5413b6824578" /><Relationship Type="http://schemas.openxmlformats.org/officeDocument/2006/relationships/notesMaster" Target="/ppt/notesMasters/notesMaster1.xml" Id="R610e0e4b8bb340de" /></Relationships>
</file>

<file path=ppt/notesSlides/_rels/notesSlide9.xml.rels>&#65279;<?xml version="1.0" encoding="utf-8"?><Relationships xmlns="http://schemas.openxmlformats.org/package/2006/relationships"><Relationship Type="http://schemas.openxmlformats.org/officeDocument/2006/relationships/slide" Target="/ppt/slides/slide9.xml" Id="Re155b7cd44244d06" /><Relationship Type="http://schemas.openxmlformats.org/officeDocument/2006/relationships/notesMaster" Target="/ppt/notesMasters/notesMaster1.xml" Id="Rc9ebc9a679e4435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e2bb5d3a428440d" /><Relationship Type="http://schemas.openxmlformats.org/officeDocument/2006/relationships/notesMaster" Target="/ppt/notesMasters/notesMaster1.xml" Id="R0a54e7cae6eb481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78adacf1056476c" /><Relationship Type="http://schemas.openxmlformats.org/officeDocument/2006/relationships/notesMaster" Target="/ppt/notesMasters/notesMaster1.xml" Id="R5b64044821fd4fc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787536dc43549be" /><Relationship Type="http://schemas.openxmlformats.org/officeDocument/2006/relationships/notesMaster" Target="/ppt/notesMasters/notesMaster1.xml" Id="R85ad863cd71b413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230363df300468c" /><Relationship Type="http://schemas.openxmlformats.org/officeDocument/2006/relationships/notesMaster" Target="/ppt/notesMasters/notesMaster1.xml" Id="Rcdab6f01422c491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673b8c917cc4de7" /><Relationship Type="http://schemas.openxmlformats.org/officeDocument/2006/relationships/notesMaster" Target="/ppt/notesMasters/notesMaster1.xml" Id="R39552aa245a5406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14b4f56ac36439a" /><Relationship Type="http://schemas.openxmlformats.org/officeDocument/2006/relationships/notesMaster" Target="/ppt/notesMasters/notesMaster1.xml" Id="R95918d7401af4cb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29e0080186f428a" /><Relationship Type="http://schemas.openxmlformats.org/officeDocument/2006/relationships/notesMaster" Target="/ppt/notesMasters/notesMaster1.xml" Id="Rd0d9ed720d26459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9808aceea9341b9" /><Relationship Type="http://schemas.openxmlformats.org/officeDocument/2006/relationships/notesMaster" Target="/ppt/notesMasters/notesMaster1.xml" Id="Ra0ef2f9ee15b45b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5fe5424e8ce4aa6" /><Relationship Type="http://schemas.openxmlformats.org/officeDocument/2006/relationships/notesMaster" Target="/ppt/notesMasters/notesMaster1.xml" Id="R1d35c1e5339e408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f953c22ba154250" /><Relationship Type="http://schemas.openxmlformats.org/officeDocument/2006/relationships/notesMaster" Target="/ppt/notesMasters/notesMaster1.xml" Id="R741f6c1e9a7d422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b97cd0a7db547af" /><Relationship Type="http://schemas.openxmlformats.org/officeDocument/2006/relationships/notesMaster" Target="/ppt/notesMasters/notesMaster1.xml" Id="R4916941ba4224b7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091dc127b354e2a" /><Relationship Type="http://schemas.openxmlformats.org/officeDocument/2006/relationships/notesMaster" Target="/ppt/notesMasters/notesMaster1.xml" Id="Rf852a7e4bcca420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1bde4e8887940dd" /><Relationship Type="http://schemas.openxmlformats.org/officeDocument/2006/relationships/notesMaster" Target="/ppt/notesMasters/notesMaster1.xml" Id="R634c5668e33f4b4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9ade3ea2fbe4a4e" /><Relationship Type="http://schemas.openxmlformats.org/officeDocument/2006/relationships/notesMaster" Target="/ppt/notesMasters/notesMaster1.xml" Id="Rfbf5f0a56369498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f07c21af7354ecb" /><Relationship Type="http://schemas.openxmlformats.org/officeDocument/2006/relationships/notesMaster" Target="/ppt/notesMasters/notesMaster1.xml" Id="R83d40c783642470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a2e889b3c1f74870" /><Relationship Type="http://schemas.openxmlformats.org/officeDocument/2006/relationships/notesMaster" Target="/ppt/notesMasters/notesMaster1.xml" Id="R3e7823cbd2884038"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dc84e9f59694d54" /><Relationship Type="http://schemas.openxmlformats.org/officeDocument/2006/relationships/notesMaster" Target="/ppt/notesMasters/notesMaster1.xml" Id="R76128aeff5804d7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c5eb0ac14e2741c2" /><Relationship Type="http://schemas.openxmlformats.org/officeDocument/2006/relationships/notesMaster" Target="/ppt/notesMasters/notesMaster1.xml" Id="Ra629fd5c6b0d431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403adbda174b4b13" /><Relationship Type="http://schemas.openxmlformats.org/officeDocument/2006/relationships/notesMaster" Target="/ppt/notesMasters/notesMaster1.xml" Id="Rfef0808c102543d0"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f425ecee37f24151" /><Relationship Type="http://schemas.openxmlformats.org/officeDocument/2006/relationships/notesMaster" Target="/ppt/notesMasters/notesMaster1.xml" Id="R63fab4a162004947"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d19e0f209d7b423c" /><Relationship Type="http://schemas.openxmlformats.org/officeDocument/2006/relationships/notesMaster" Target="/ppt/notesMasters/notesMaster1.xml" Id="R7ecb8fa97f2441ea"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1d099435285d41a9" /><Relationship Type="http://schemas.openxmlformats.org/officeDocument/2006/relationships/notesMaster" Target="/ppt/notesMasters/notesMaster1.xml" Id="R12ec52439a304d9b"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166008e601994ff1" /><Relationship Type="http://schemas.openxmlformats.org/officeDocument/2006/relationships/notesMaster" Target="/ppt/notesMasters/notesMaster1.xml" Id="Rbe08503f3e0c4118"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5c9e3b93deb04c77" /><Relationship Type="http://schemas.openxmlformats.org/officeDocument/2006/relationships/notesMaster" Target="/ppt/notesMasters/notesMaster1.xml" Id="R576ad21c28584624"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6c9fa9281e154707" /><Relationship Type="http://schemas.openxmlformats.org/officeDocument/2006/relationships/notesMaster" Target="/ppt/notesMasters/notesMaster1.xml" Id="R8b96a7c9b3ce4efe"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458d3018023447f7" /><Relationship Type="http://schemas.openxmlformats.org/officeDocument/2006/relationships/notesMaster" Target="/ppt/notesMasters/notesMaster1.xml" Id="R3c1a11715ac344a9"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63079679d2304d7c" /><Relationship Type="http://schemas.openxmlformats.org/officeDocument/2006/relationships/notesMaster" Target="/ppt/notesMasters/notesMaster1.xml" Id="Rbb957e4c021b43a6"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228224d13e7e4cac" /><Relationship Type="http://schemas.openxmlformats.org/officeDocument/2006/relationships/notesMaster" Target="/ppt/notesMasters/notesMaster1.xml" Id="R08f434bd912f4b75"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0907463e24f640d4" /><Relationship Type="http://schemas.openxmlformats.org/officeDocument/2006/relationships/notesMaster" Target="/ppt/notesMasters/notesMaster1.xml" Id="Rbc3f654a88174bb0"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4d4c510e4f3d4d55" /><Relationship Type="http://schemas.openxmlformats.org/officeDocument/2006/relationships/notesMaster" Target="/ppt/notesMasters/notesMaster1.xml" Id="R86098edbcc0c4f82"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2cd19ebd56524537" /><Relationship Type="http://schemas.openxmlformats.org/officeDocument/2006/relationships/notesMaster" Target="/ppt/notesMasters/notesMaster1.xml" Id="R955f91fdaf5746b6"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8f270214cbd94f88" /><Relationship Type="http://schemas.openxmlformats.org/officeDocument/2006/relationships/notesMaster" Target="/ppt/notesMasters/notesMaster1.xml" Id="R744e08f9f08644b2"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ea548ddf59d84204" /><Relationship Type="http://schemas.openxmlformats.org/officeDocument/2006/relationships/notesMaster" Target="/ppt/notesMasters/notesMaster1.xml" Id="R4235c107d43f433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a:t>
            </a:r>
          </a:p>
          <a:p xmlns:a="http://schemas.openxmlformats.org/drawingml/2006/main">
            <a:r>
              <a:t/>
            </a:r>
            <a:endParaRPr/>
          </a:p>
          <a:p xmlns:a="http://schemas.openxmlformats.org/drawingml/2006/main">
            <a:r>
              <a:t>Frame this as first-time-user onboarding for aviation controls engineers: operate the saved Simulink models, understand their roles, inspect results, and trace one classroom requirement to retained evidence. The examples are executable and reviewable, but deliberately small and non-production.</a:t>
            </a:r>
          </a:p>
          <a:p xmlns:a="http://schemas.openxmlformats.org/drawingml/2006/main">
            <a:r>
              <a:t/>
            </a:r>
          </a:p>
          <a:p xmlns:a="http://schemas.openxmlformats.org/drawingml/2006/main">
            <a:r>
              <a:t>Caveats</a:t>
            </a:r>
            <a:endParaRPr/>
          </a:p>
          <a:p xmlns:a="http://schemas.openxmlformats.org/drawingml/2006/main">
            <a:r>
              <a:t>- Illustrative classroom requirements — not production aircraft data or an approved certification baseline.</a:t>
            </a:r>
          </a:p>
          <a:p xmlns:a="http://schemas.openxmlformats.org/drawingml/2006/main">
            <a:r>
              <a:t>- The package demonstrates desktop model work; it is not a completed certification package.</a:t>
            </a:r>
          </a:p>
          <a:p xmlns:a="http://schemas.openxmlformats.org/drawingml/2006/main">
            <a:r>
              <a:t/>
            </a:r>
            <a:endParaRPr/>
          </a:p>
          <a:p xmlns:a="http://schemas.openxmlformats.org/drawingml/2006/main">
            <a:r>
              <a:t>[Sources]</a:t>
            </a:r>
          </a:p>
          <a:p xmlns:a="http://schemas.openxmlformats.org/drawingml/2006/main">
            <a:r>
              <a:t>- README.md</a:t>
            </a:r>
          </a:p>
          <a:p xmlns:a="http://schemas.openxmlformats.org/drawingml/2006/main">
            <a:r>
              <a:t>- results/validation_summary.txt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Use this hub to establish the model roles before opening files. AircraftFeedbackControlLoop is the standalone closed-loop learning model; ReferencedFlightControlArchitecture is the integration parent; four models are referenced children; AutopilotModeLogic is a separate Stateflow example; and PitchRateLimiter_Harness is the independent component-test harness.</a:t>
            </a:r>
          </a:p>
          <a:p xmlns:a="http://schemas.openxmlformats.org/drawingml/2006/main">
            <a:r>
              <a:t/>
            </a:r>
          </a:p>
          <a:p xmlns:a="http://schemas.openxmlformats.org/drawingml/2006/main">
            <a:r>
              <a:t>Caveats</a:t>
            </a:r>
            <a:endParaRPr/>
          </a:p>
          <a:p xmlns:a="http://schemas.openxmlformats.org/drawingml/2006/main">
            <a:r>
              <a:t>- A top-level model is selected for the engineering task; there is no single model that serves every role.</a:t>
            </a:r>
          </a:p>
          <a:p xmlns:a="http://schemas.openxmlformats.org/drawingml/2006/main">
            <a:r>
              <a:t>- AutopilotModeLogic is not a child of the referenced integration architecture.</a:t>
            </a:r>
          </a:p>
          <a:p xmlns:a="http://schemas.openxmlformats.org/drawingml/2006/main">
            <a:r>
              <a:t/>
            </a:r>
            <a:endParaRPr/>
          </a:p>
          <a:p xmlns:a="http://schemas.openxmlformats.org/drawingml/2006/main">
            <a:r>
              <a:t>[Sources]</a:t>
            </a:r>
          </a:p>
          <a:p xmlns:a="http://schemas.openxmlformats.org/drawingml/2006/main">
            <a:r>
              <a:t>- README.md</a:t>
            </a:r>
          </a:p>
          <a:p xmlns:a="http://schemas.openxmlformats.org/drawingml/2006/main">
            <a:r>
              <a:t>- models/AircraftFeedbackControlLoop.slx</a:t>
            </a:r>
          </a:p>
          <a:p xmlns:a="http://schemas.openxmlformats.org/drawingml/2006/main">
            <a:r>
              <a:t>- models/ReferencedFlightControlArchitecture.slx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a:t>
            </a:r>
          </a:p>
          <a:p xmlns:a="http://schemas.openxmlformats.org/drawingml/2006/main">
            <a:r>
              <a:t/>
            </a:r>
            <a:endParaRPr/>
          </a:p>
          <a:p xmlns:a="http://schemas.openxmlformats.org/drawingml/2006/main">
            <a:r>
              <a:t>Preview the learning sequence: initialize and operate a model, navigate the editor, read hierarchy and overlays, inspect logged data, then follow requirement intent into implementation and evidence. Ask throughout: which model am I in, what is visible, and what objective result supports the claim?</a:t>
            </a:r>
          </a:p>
          <a:p xmlns:a="http://schemas.openxmlformats.org/drawingml/2006/main">
            <a:r>
              <a:t/>
            </a:r>
          </a:p>
          <a:p xmlns:a="http://schemas.openxmlformats.org/drawingml/2006/main">
            <a:r>
              <a:t>Caveats</a:t>
            </a:r>
            <a:endParaRPr/>
          </a:p>
          <a:p xmlns:a="http://schemas.openxmlformats.org/drawingml/2006/main">
            <a:r>
              <a:t>- The sequence is a learning path, not a substitute for approved project procedures.</a:t>
            </a:r>
          </a:p>
          <a:p xmlns:a="http://schemas.openxmlformats.org/drawingml/2006/main">
            <a:r>
              <a:t/>
            </a:r>
          </a:p>
          <a:p xmlns:a="http://schemas.openxmlformats.org/drawingml/2006/main">
            <a:r>
              <a:t>[Sources]</a:t>
            </a:r>
          </a:p>
          <a:p xmlns:a="http://schemas.openxmlformats.org/drawingml/2006/main">
            <a:r>
              <a:t>-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MATLAB and Simulink are complementary. MATLAB prepares controlled data, automates operations, evaluates results, and writes evidence; Simulink exposes executable time behavior, hierarchy, state, interfaces, and sample times. In this repository, MATLAB scripts drive and assess the saved Simulink models.</a:t>
            </a:r>
          </a:p>
          <a:p xmlns:a="http://schemas.openxmlformats.org/drawingml/2006/main">
            <a:r>
              <a:t/>
            </a:r>
          </a:p>
          <a:p xmlns:a="http://schemas.openxmlformats.org/drawingml/2006/main">
            <a:r>
              <a:t>Caveats</a:t>
            </a:r>
            <a:endParaRPr/>
          </a:p>
          <a:p xmlns:a="http://schemas.openxmlformats.org/drawingml/2006/main">
            <a:r>
              <a:t>- The distinction is about representation and workflow, not competing tools.</a:t>
            </a:r>
          </a:p>
          <a:p xmlns:a="http://schemas.openxmlformats.org/drawingml/2006/main">
            <a:r>
              <a:t>- A script that runs a model is not itself proof that every lifecycle objective is satisfied.</a:t>
            </a:r>
          </a:p>
          <a:p xmlns:a="http://schemas.openxmlformats.org/drawingml/2006/main">
            <a:r>
              <a:t/>
            </a:r>
            <a:endParaRPr/>
          </a:p>
          <a:p xmlns:a="http://schemas.openxmlformats.org/drawingml/2006/main">
            <a:r>
              <a:t>[Sources]</a:t>
            </a:r>
          </a:p>
          <a:p xmlns:a="http://schemas.openxmlformats.org/drawingml/2006/main">
            <a:r>
              <a:t>- scripts/run_training_simulations.m</a:t>
            </a:r>
          </a:p>
          <a:p xmlns:a="http://schemas.openxmlformats.org/drawingml/2006/main">
            <a:r>
              <a:t>- scripts/run_pitch_rate_limiter_tests.m</a:t>
            </a:r>
          </a:p>
          <a:p xmlns:a="http://schemas.openxmlformats.org/drawingml/2006/main">
            <a:r>
              <a:t>- https://www.mathworks.com/help/simulink/gs/model-based-design.html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Start MATLAB R2023b in the repository, add the scripts, models, and data folders to the path, run initialize_training_data(projectRoot), and open models/AircraftFeedbackControlLoop.slx for the first closed-loop exercise. Update the diagram, run, stop if needed, and inspect outputs under results; use the helper scripts for repeatable simulations and evidence refresh.</a:t>
            </a:r>
          </a:p>
          <a:p xmlns:a="http://schemas.openxmlformats.org/drawingml/2006/main">
            <a:r>
              <a:t/>
            </a:r>
          </a:p>
          <a:p xmlns:a="http://schemas.openxmlformats.org/drawingml/2006/main">
            <a:r>
              <a:t>Caveats</a:t>
            </a:r>
            <a:endParaRPr/>
          </a:p>
          <a:p xmlns:a="http://schemas.openxmlformats.org/drawingml/2006/main">
            <a:r>
              <a:t>- There is no MATLAB Project .prj file in this repository; say initialize the training package, not open a project file.</a:t>
            </a:r>
          </a:p>
          <a:p xmlns:a="http://schemas.openxmlformats.org/drawingml/2006/main">
            <a:r>
              <a:t>- Use refresh_onboarding_artifacts after layout-safe changes; regenerate_all recreates models and can overwrite manually cleaned layouts.</a:t>
            </a:r>
          </a:p>
          <a:p xmlns:a="http://schemas.openxmlformats.org/drawingml/2006/main">
            <a:r>
              <a:t/>
            </a:r>
            <a:endParaRPr/>
          </a:p>
          <a:p xmlns:a="http://schemas.openxmlformats.org/drawingml/2006/main">
            <a:r>
              <a:t>[Sources]</a:t>
            </a:r>
          </a:p>
          <a:p xmlns:a="http://schemas.openxmlformats.org/drawingml/2006/main">
            <a:r>
              <a:t>- README.md</a:t>
            </a:r>
          </a:p>
          <a:p xmlns:a="http://schemas.openxmlformats.org/drawingml/2006/main">
            <a:r>
              <a:t>- scripts/initialize_training_data.m</a:t>
            </a:r>
          </a:p>
          <a:p xmlns:a="http://schemas.openxmlformats.org/drawingml/2006/main">
            <a:r>
              <a:t>- scripts/refresh_onboarding_artifacts.m</a:t>
            </a:r>
          </a:p>
          <a:p xmlns:a="http://schemas.openxmlformats.org/drawingml/2006/main">
            <a:r>
              <a:t>- https://www.mathworks.com/help/simulink/slref/simulinkeditor.html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Orient learners to the Simulation, Debug, Modeling, Format, and Apps tabs. Open chooses the artifact; Update Diagram or Ctrl+D compiles and propagates model semantics; Run executes a simulation; Stop interrupts it; Build or Ctrl+B is a separate configured code-generation action; and test execution invokes the harness driver and assessments.</a:t>
            </a:r>
          </a:p>
          <a:p xmlns:a="http://schemas.openxmlformats.org/drawingml/2006/main">
            <a:r>
              <a:t/>
            </a:r>
          </a:p>
          <a:p xmlns:a="http://schemas.openxmlformats.org/drawingml/2006/main">
            <a:r>
              <a:t>Caveats</a:t>
            </a:r>
            <a:endParaRPr/>
          </a:p>
          <a:p xmlns:a="http://schemas.openxmlformats.org/drawingml/2006/main">
            <a:r>
              <a:t>- Update/compile is not simulation, and Run is not Build.</a:t>
            </a:r>
            <a:endParaRPr/>
          </a:p>
          <a:p xmlns:a="http://schemas.openxmlformats.org/drawingml/2006/main">
            <a:r>
              <a:t>- The package makes no production-code, generated-code verification, SIL, PIL, or HIL claim; Embedded Coder is unavailable.</a:t>
            </a:r>
            <a:endParaRPr/>
          </a:p>
          <a:p xmlns:a="http://schemas.openxmlformats.org/drawingml/2006/main">
            <a:r>
              <a:t/>
            </a:r>
            <a:endParaRPr/>
          </a:p>
          <a:p xmlns:a="http://schemas.openxmlformats.org/drawingml/2006/main">
            <a:r>
              <a:t>[Sources]</a:t>
            </a:r>
            <a:endParaRPr/>
          </a:p>
          <a:p xmlns:a="http://schemas.openxmlformats.org/drawingml/2006/main">
            <a:r>
              <a:t>- results/environment_inventory.txt</a:t>
            </a:r>
            <a:endParaRPr/>
          </a:p>
          <a:p xmlns:a="http://schemas.openxmlformats.org/drawingml/2006/main">
            <a:r>
              <a:t>- https://www.mathworks.com/help/simulink/slref/simulinkeditor.html</a:t>
            </a:r>
            <a:endParaRPr/>
          </a:p>
          <a:p xmlns:a="http://schemas.openxmlformats.org/drawingml/2006/main">
            <a:r>
              <a:t>- https://www.mathworks.com/help/simulink/ug/summary-of-mouse-and-keyboard-actions.html</a:t>
            </a:r>
          </a:p>
          <a:p xmlns:a="http://schemas.openxmlformats.org/drawingml/2006/main">
            <a:r>
              <a:t>- https://www.mathworks.com/help/rtw/ug/generating-code-using-simulink-coder.html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Use Debug &gt; Information Overlays to reveal port units, data types, signal dimensions, names, and logging or test-point badges; turn each display off again when it obscures structure. These overlays describe model semantics and instrumentation. Simulation Data Inspector markers and cursors instead annotate plotted samples after data has been logged.</a:t>
            </a:r>
          </a:p>
          <a:p xmlns:a="http://schemas.openxmlformats.org/drawingml/2006/main">
            <a:r>
              <a:t/>
            </a:r>
          </a:p>
          <a:p xmlns:a="http://schemas.openxmlformats.org/drawingml/2006/main">
            <a:r>
              <a:t>Caveats</a:t>
            </a:r>
            <a:endParaRPr/>
          </a:p>
          <a:p xmlns:a="http://schemas.openxmlformats.org/drawingml/2006/main">
            <a:r>
              <a:t>- A marker does not create or delete a logged data point.</a:t>
            </a:r>
          </a:p>
          <a:p xmlns:a="http://schemas.openxmlformats.org/drawingml/2006/main">
            <a:r>
              <a:t>- Some overlays require a successful model update before propagated attributes are available, and exact toolstrip grouping can vary by release or selection.</a:t>
            </a:r>
          </a:p>
          <a:p xmlns:a="http://schemas.openxmlformats.org/drawingml/2006/main">
            <a:r>
              <a:t/>
            </a:r>
            <a:endParaRPr/>
          </a:p>
          <a:p xmlns:a="http://schemas.openxmlformats.org/drawingml/2006/main">
            <a:r>
              <a:t>[Sources]</a:t>
            </a:r>
          </a:p>
          <a:p xmlns:a="http://schemas.openxmlformats.org/drawingml/2006/main">
            <a:r>
              <a:t>- https://www.mathworks.com/help/simulink/ug/displaying-units.html</a:t>
            </a:r>
          </a:p>
          <a:p xmlns:a="http://schemas.openxmlformats.org/drawingml/2006/main">
            <a:r>
              <a:t>- https://www.mathworks.com/help/simulink/ug/working-with-test-points.html</a:t>
            </a:r>
          </a:p>
          <a:p xmlns:a="http://schemas.openxmlformats.org/drawingml/2006/main">
            <a:r>
              <a:t>- https://www.mathworks.com/help/simulink/ug/view-the-signal-logging-configuration.html</a:t>
            </a:r>
          </a:p>
          <a:p xmlns:a="http://schemas.openxmlformats.org/drawingml/2006/main">
            <a:r>
              <a:t>- https://www.mathworks.com/help/simulink/gui/signallogging.html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Read the hierarchy by role. The standalone feedback loop contains four internal subsystems; the Stateflow model contains Autopilot Mode Logic; the referenced architecture owns four child models; PitchRateLimiter and PitchControllerRef each expose one meaningful internal subsystem; and the harness references the same limiter component used by integration.</a:t>
            </a:r>
          </a:p>
          <a:p xmlns:a="http://schemas.openxmlformats.org/drawingml/2006/main">
            <a:r>
              <a:t/>
            </a:r>
          </a:p>
          <a:p xmlns:a="http://schemas.openxmlformats.org/drawingml/2006/main">
            <a:r>
              <a:t>Caveats</a:t>
            </a:r>
            <a:endParaRPr/>
          </a:p>
          <a:p xmlns:a="http://schemas.openxmlformats.org/drawingml/2006/main">
            <a:r>
              <a:t>- Use the exact saved path AutopilotModeLogic/Autopilot Mode Logic; Stateflow describes the technology, not the block name.</a:t>
            </a:r>
            <a:endParaRPr/>
          </a:p>
          <a:p xmlns:a="http://schemas.openxmlformats.org/drawingml/2006/main">
            <a:r>
              <a:t>- Referenced child models, internal subsystems, and an independent harness are different hierarchy relationships.</a:t>
            </a:r>
            <a:endParaRPr/>
          </a:p>
          <a:p xmlns:a="http://schemas.openxmlformats.org/drawingml/2006/main">
            <a:r>
              <a:t/>
            </a:r>
            <a:endParaRPr/>
          </a:p>
          <a:p xmlns:a="http://schemas.openxmlformats.org/drawingml/2006/main">
            <a:r>
              <a:t>[Sources]</a:t>
            </a:r>
            <a:endParaRPr/>
          </a:p>
          <a:p xmlns:a="http://schemas.openxmlformats.org/drawingml/2006/main">
            <a:r>
              <a:t>- README.md</a:t>
            </a:r>
            <a:endParaRPr/>
          </a:p>
          <a:p xmlns:a="http://schemas.openxmlformats.org/drawingml/2006/main">
            <a:r>
              <a:t>- screenshots/VisualManifest.csv</a:t>
            </a:r>
            <a:endParaRPr/>
          </a:p>
          <a:p xmlns:a="http://schemas.openxmlformats.org/drawingml/2006/main">
            <a:r>
              <a:t>- https://www.mathworks.com/help/simulink/ug/overview-of-model-referencing-1.html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Trace AircraftFeedbackControlLoop from pitch command through controller, actuator, simplified longitudinal plant, and sensor lag back to the error calculation. The model logs command, response, error, actuator, and disturbance signals for the retained desktop run.</a:t>
            </a:r>
          </a:p>
          <a:p xmlns:a="http://schemas.openxmlformats.org/drawingml/2006/main">
            <a:r>
              <a:t/>
            </a:r>
          </a:p>
          <a:p xmlns:a="http://schemas.openxmlformats.org/drawingml/2006/main">
            <a:r>
              <a:t>Caveats</a:t>
            </a:r>
            <a:endParaRPr/>
          </a:p>
          <a:p xmlns:a="http://schemas.openxmlformats.org/drawingml/2006/main">
            <a:r>
              <a:t>- This is a simplified standalone training loop, not production aircraft dynamics.</a:t>
            </a:r>
            <a:endParaRPr/>
          </a:p>
          <a:p xmlns:a="http://schemas.openxmlformats.org/drawingml/2006/main">
            <a:r>
              <a:t>- Its simulation result is MIL evidence only.</a:t>
            </a:r>
            <a:endParaRPr/>
          </a:p>
          <a:p xmlns:a="http://schemas.openxmlformats.org/drawingml/2006/main">
            <a:r>
              <a:t/>
            </a:r>
            <a:endParaRPr/>
          </a:p>
          <a:p xmlns:a="http://schemas.openxmlformats.org/drawingml/2006/main">
            <a:r>
              <a:t>[Sources]</a:t>
            </a:r>
            <a:endParaRPr/>
          </a:p>
          <a:p xmlns:a="http://schemas.openxmlformats.org/drawingml/2006/main">
            <a:r>
              <a:t>- models/AircraftFeedbackControlLoop.slx</a:t>
            </a:r>
            <a:endParaRPr/>
          </a:p>
          <a:p xmlns:a="http://schemas.openxmlformats.org/drawingml/2006/main">
            <a:r>
              <a:t>- screenshots/AircraftFeedbackControlLoop_Editor.jpg</a:t>
            </a:r>
            <a:endParaRPr/>
          </a:p>
          <a:p xmlns:a="http://schemas.openxmlformats.org/drawingml/2006/main">
            <a:r>
              <a:t>- results/AircraftFeedback_CommandTracking.csv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Inside AircraftFeedbackControlLoop/Pitch Controller PI, identify proportional and integral paths and the discrete state. The separate subsystem boundary lets reviewers distinguish controller behavior from actuator saturation, plant dynamics, and sensing.</a:t>
            </a:r>
          </a:p>
          <a:p xmlns:a="http://schemas.openxmlformats.org/drawingml/2006/main">
            <a:r>
              <a:t/>
            </a:r>
          </a:p>
          <a:p xmlns:a="http://schemas.openxmlformats.org/drawingml/2006/main">
            <a:r>
              <a:t>Caveats</a:t>
            </a:r>
            <a:endParaRPr/>
          </a:p>
          <a:p xmlns:a="http://schemas.openxmlformats.org/drawingml/2006/main">
            <a:r>
              <a:t>- The gains and initial condition come from controlled training data and are not aircraft-program values.</a:t>
            </a:r>
            <a:endParaRPr/>
          </a:p>
          <a:p xmlns:a="http://schemas.openxmlformats.org/drawingml/2006/main">
            <a:r>
              <a:t/>
            </a:r>
            <a:endParaRPr/>
          </a:p>
          <a:p xmlns:a="http://schemas.openxmlformats.org/drawingml/2006/main">
            <a:r>
              <a:t>[Sources]</a:t>
            </a:r>
            <a:endParaRPr/>
          </a:p>
          <a:p xmlns:a="http://schemas.openxmlformats.org/drawingml/2006/main">
            <a:r>
              <a:t>- models/AircraftFeedbackControlLoop.slx</a:t>
            </a:r>
            <a:endParaRPr/>
          </a:p>
          <a:p xmlns:a="http://schemas.openxmlformats.org/drawingml/2006/main">
            <a:r>
              <a:t>- screenshots/AircraftFeedback_PitchController.png</a:t>
            </a:r>
            <a:endParaRPr/>
          </a:p>
          <a:p xmlns:a="http://schemas.openxmlformats.org/drawingml/2006/main">
            <a:r>
              <a:t>- data/FCS_Data.sldd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AircraftFeedbackControlLoop/Actuator Dynamics turns controller demand into a bounded, lagged actuator response. Point out where amplitude limiting and discrete dynamics enter, then connect those choices to explicit units, parameters, and initial state.</a:t>
            </a:r>
          </a:p>
          <a:p xmlns:a="http://schemas.openxmlformats.org/drawingml/2006/main">
            <a:r>
              <a:t/>
            </a:r>
          </a:p>
          <a:p xmlns:a="http://schemas.openxmlformats.org/drawingml/2006/main">
            <a:r>
              <a:t>Caveats</a:t>
            </a:r>
            <a:endParaRPr/>
          </a:p>
          <a:p xmlns:a="http://schemas.openxmlformats.org/drawingml/2006/main">
            <a:r>
              <a:t>- This actuator is an illustrative dynamic element, not a qualified actuator model or hardware measurement.</a:t>
            </a:r>
            <a:endParaRPr/>
          </a:p>
          <a:p xmlns:a="http://schemas.openxmlformats.org/drawingml/2006/main">
            <a:r>
              <a:t/>
            </a:r>
            <a:endParaRPr/>
          </a:p>
          <a:p xmlns:a="http://schemas.openxmlformats.org/drawingml/2006/main">
            <a:r>
              <a:t>[Sources]</a:t>
            </a:r>
            <a:endParaRPr/>
          </a:p>
          <a:p xmlns:a="http://schemas.openxmlformats.org/drawingml/2006/main">
            <a:r>
              <a:t>- models/AircraftFeedbackControlLoop.slx</a:t>
            </a:r>
            <a:endParaRPr/>
          </a:p>
          <a:p xmlns:a="http://schemas.openxmlformats.org/drawingml/2006/main">
            <a:r>
              <a:t>- screenshots/AircraftFeedback_ActuatorDynamics.png</a:t>
            </a:r>
            <a:endParaRPr/>
          </a:p>
          <a:p xmlns:a="http://schemas.openxmlformats.org/drawingml/2006/main">
            <a:r>
              <a:t>- data/FCS_Data.sldd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AircraftFeedbackControlLoop/Simplified Longitudinal Aircraft Dynamics converts actuator command and disturbance into pitch-rate and pitch-angle response. Use the view to discuss state, feedback, and disturbance entry without treating the coefficients as validated aerodynamics.</a:t>
            </a:r>
          </a:p>
          <a:p xmlns:a="http://schemas.openxmlformats.org/drawingml/2006/main">
            <a:r>
              <a:t/>
            </a:r>
          </a:p>
          <a:p xmlns:a="http://schemas.openxmlformats.org/drawingml/2006/main">
            <a:r>
              <a:t>Caveats</a:t>
            </a:r>
            <a:endParaRPr/>
          </a:p>
          <a:p xmlns:a="http://schemas.openxmlformats.org/drawingml/2006/main">
            <a:r>
              <a:t>- The plant is intentionally simplified and unsuitable for aircraft-performance claims.</a:t>
            </a:r>
            <a:endParaRPr/>
          </a:p>
          <a:p xmlns:a="http://schemas.openxmlformats.org/drawingml/2006/main">
            <a:r>
              <a:t/>
            </a:r>
            <a:endParaRPr/>
          </a:p>
          <a:p xmlns:a="http://schemas.openxmlformats.org/drawingml/2006/main">
            <a:r>
              <a:t>[Sources]</a:t>
            </a:r>
            <a:endParaRPr/>
          </a:p>
          <a:p xmlns:a="http://schemas.openxmlformats.org/drawingml/2006/main">
            <a:r>
              <a:t>- models/AircraftFeedbackControlLoop.slx</a:t>
            </a:r>
            <a:endParaRPr/>
          </a:p>
          <a:p xmlns:a="http://schemas.openxmlformats.org/drawingml/2006/main">
            <a:r>
              <a:t>- screenshots/AircraftFeedback_LongitudinalPlant.png</a:t>
            </a:r>
            <a:endParaRPr/>
          </a:p>
          <a:p xmlns:a="http://schemas.openxmlformats.org/drawingml/2006/main">
            <a:r>
              <a:t>- data/FCS_Data.sldd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AircraftFeedbackControlLoop/Sensor Processing Lag closes the loop with a discrete filtered measurement. Ask learners to identify the filter state, controlled coefficient, initial condition, output unit, and relationship between model rate and apparent response delay.</a:t>
            </a:r>
          </a:p>
          <a:p xmlns:a="http://schemas.openxmlformats.org/drawingml/2006/main">
            <a:r>
              <a:t/>
            </a:r>
          </a:p>
          <a:p xmlns:a="http://schemas.openxmlformats.org/drawingml/2006/main">
            <a:r>
              <a:t>Caveats</a:t>
            </a:r>
            <a:endParaRPr/>
          </a:p>
          <a:p xmlns:a="http://schemas.openxmlformats.org/drawingml/2006/main">
            <a:r>
              <a:t>- A desktop sensor-lag model is not sensor qualification or bench evidence.</a:t>
            </a:r>
            <a:endParaRPr/>
          </a:p>
          <a:p xmlns:a="http://schemas.openxmlformats.org/drawingml/2006/main">
            <a:r>
              <a:t/>
            </a:r>
            <a:endParaRPr/>
          </a:p>
          <a:p xmlns:a="http://schemas.openxmlformats.org/drawingml/2006/main">
            <a:r>
              <a:t>[Sources]</a:t>
            </a:r>
            <a:endParaRPr/>
          </a:p>
          <a:p xmlns:a="http://schemas.openxmlformats.org/drawingml/2006/main">
            <a:r>
              <a:t>- models/AircraftFeedbackControlLoop.slx</a:t>
            </a:r>
            <a:endParaRPr/>
          </a:p>
          <a:p xmlns:a="http://schemas.openxmlformats.org/drawingml/2006/main">
            <a:r>
              <a:t>- screenshots/AircraftFeedback_SensorProcessingLag.png</a:t>
            </a:r>
            <a:endParaRPr/>
          </a:p>
          <a:p xmlns:a="http://schemas.openxmlformats.org/drawingml/2006/main">
            <a:r>
              <a:t>- data/FCS_Data.sldd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At the AutopilotModeLogic root, identify external mode requests, validity and fault inputs, the Stateflow subsystem, and the documented mode output. The root view is the interface contract; the transition behavior is one level down.</a:t>
            </a:r>
          </a:p>
          <a:p xmlns:a="http://schemas.openxmlformats.org/drawingml/2006/main">
            <a:r>
              <a:t/>
            </a:r>
          </a:p>
          <a:p xmlns:a="http://schemas.openxmlformats.org/drawingml/2006/main">
            <a:r>
              <a:t>Caveats</a:t>
            </a:r>
            <a:endParaRPr/>
          </a:p>
          <a:p xmlns:a="http://schemas.openxmlformats.org/drawingml/2006/main">
            <a:r>
              <a:t>- The mode codes and transitions are illustrative classroom behavior, not an approved autopilot specification.</a:t>
            </a:r>
            <a:endParaRPr/>
          </a:p>
          <a:p xmlns:a="http://schemas.openxmlformats.org/drawingml/2006/main">
            <a:r>
              <a:t/>
            </a:r>
            <a:endParaRPr/>
          </a:p>
          <a:p xmlns:a="http://schemas.openxmlformats.org/drawingml/2006/main">
            <a:r>
              <a:t>[Sources]</a:t>
            </a:r>
            <a:endParaRPr/>
          </a:p>
          <a:p xmlns:a="http://schemas.openxmlformats.org/drawingml/2006/main">
            <a:r>
              <a:t>- models/AutopilotModeLogic.slx</a:t>
            </a:r>
            <a:endParaRPr/>
          </a:p>
          <a:p xmlns:a="http://schemas.openxmlformats.org/drawingml/2006/main">
            <a:r>
              <a:t>- screenshots/AutopilotModeLogic_Model.png</a:t>
            </a:r>
            <a:endParaRPr/>
          </a:p>
          <a:p xmlns:a="http://schemas.openxmlformats.org/drawingml/2006/main">
            <a:r>
              <a:t>- data/FCSMode.m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Open AutopilotModeLogic/Autopilot Mode Logic and read OFF, ARMED, ENGAGED, and DEGRADED as executable state logic. Follow guards and reset paths, then relate them to the retained mode-sequence result rather than relying only on visual inspection.</a:t>
            </a:r>
          </a:p>
          <a:p xmlns:a="http://schemas.openxmlformats.org/drawingml/2006/main">
            <a:r>
              <a:t/>
            </a:r>
          </a:p>
          <a:p xmlns:a="http://schemas.openxmlformats.org/drawingml/2006/main">
            <a:r>
              <a:t>Caveats</a:t>
            </a:r>
            <a:endParaRPr/>
          </a:p>
          <a:p xmlns:a="http://schemas.openxmlformats.org/drawingml/2006/main">
            <a:r>
              <a:t>- The exact current block and chart name is Autopilot Mode Logic; do not prefix the saved path with Stateflow.</a:t>
            </a:r>
            <a:endParaRPr/>
          </a:p>
          <a:p xmlns:a="http://schemas.openxmlformats.org/drawingml/2006/main">
            <a:r>
              <a:t>- A visited-state plot is evidence for this scenario, not exhaustive state or transition coverage.</a:t>
            </a:r>
            <a:endParaRPr/>
          </a:p>
          <a:p xmlns:a="http://schemas.openxmlformats.org/drawingml/2006/main">
            <a:r>
              <a:t/>
            </a:r>
            <a:endParaRPr/>
          </a:p>
          <a:p xmlns:a="http://schemas.openxmlformats.org/drawingml/2006/main">
            <a:r>
              <a:t>[Sources]</a:t>
            </a:r>
            <a:endParaRPr/>
          </a:p>
          <a:p xmlns:a="http://schemas.openxmlformats.org/drawingml/2006/main">
            <a:r>
              <a:t>- models/AutopilotModeLogic.slx</a:t>
            </a:r>
            <a:endParaRPr/>
          </a:p>
          <a:p xmlns:a="http://schemas.openxmlformats.org/drawingml/2006/main">
            <a:r>
              <a:t>- screenshots/AutopilotModeLogic_Stateflow_Editor.jpg</a:t>
            </a:r>
            <a:endParaRPr/>
          </a:p>
          <a:p xmlns:a="http://schemas.openxmlformats.org/drawingml/2006/main">
            <a:r>
              <a:t>- results/AutopilotModeSequence.csv</a:t>
            </a:r>
          </a:p>
          <a:p xmlns:a="http://schemas.openxmlformats.org/drawingml/2006/main">
            <a:r>
              <a:t>- https://www.mathworks.com/help/stateflow/state-transition-charts.html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ReferencedFlightControlArchitecture is the integration parent. It creates FlightControlBus, invokes Sensor Processing, Pitch Rate Limiter, Pitch Controller, and Actuator Command Model blocks, and exposes integrated outputs. Model-reference boundaries make ownership and interface compatibility reviewable.</a:t>
            </a:r>
          </a:p>
          <a:p xmlns:a="http://schemas.openxmlformats.org/drawingml/2006/main">
            <a:r>
              <a:t/>
            </a:r>
          </a:p>
          <a:p xmlns:a="http://schemas.openxmlformats.org/drawingml/2006/main">
            <a:r>
              <a:t>Caveats</a:t>
            </a:r>
            <a:endParaRPr/>
          </a:p>
          <a:p xmlns:a="http://schemas.openxmlformats.org/drawingml/2006/main">
            <a:r>
              <a:t>- The architecture update proves resolvable interfaces and configuration, not compliance with behavioral requirements.</a:t>
            </a:r>
            <a:endParaRPr/>
          </a:p>
          <a:p xmlns:a="http://schemas.openxmlformats.org/drawingml/2006/main">
            <a:r>
              <a:t>- On the verified student license, Accelerator Model blocks fall back to Normal mode.</a:t>
            </a:r>
            <a:endParaRPr/>
          </a:p>
          <a:p xmlns:a="http://schemas.openxmlformats.org/drawingml/2006/main">
            <a:r>
              <a:t/>
            </a:r>
            <a:endParaRPr/>
          </a:p>
          <a:p xmlns:a="http://schemas.openxmlformats.org/drawingml/2006/main">
            <a:r>
              <a:t>[Sources]</a:t>
            </a:r>
            <a:endParaRPr/>
          </a:p>
          <a:p xmlns:a="http://schemas.openxmlformats.org/drawingml/2006/main">
            <a:r>
              <a:t>- models/ReferencedFlightControlArchitecture.slx</a:t>
            </a:r>
            <a:endParaRPr/>
          </a:p>
          <a:p xmlns:a="http://schemas.openxmlformats.org/drawingml/2006/main">
            <a:r>
              <a:t>- screenshots/ReferencedFlightControlArchitecture_Editor.jpg</a:t>
            </a:r>
            <a:endParaRPr/>
          </a:p>
          <a:p xmlns:a="http://schemas.openxmlformats.org/drawingml/2006/main">
            <a:r>
              <a:t>- results/ReferencedArchitecture_Validation.csv</a:t>
            </a:r>
            <a:endParaRPr/>
          </a:p>
          <a:p xmlns:a="http://schemas.openxmlformats.org/drawingml/2006/main">
            <a:r>
              <a:t>- https://www.mathworks.com/help/simulink/ug/overview-of-model-referencing-1.html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SensorProcessingRef is the referenced sensor-processing child. Review its FlightControlBus input and output, validity handling, filtering, and explicit interface rather than reading it as an isolated top-level simulation.</a:t>
            </a:r>
          </a:p>
          <a:p xmlns:a="http://schemas.openxmlformats.org/drawingml/2006/main">
            <a:r>
              <a:t/>
            </a:r>
          </a:p>
          <a:p xmlns:a="http://schemas.openxmlformats.org/drawingml/2006/main">
            <a:r>
              <a:t>Caveats</a:t>
            </a:r>
            <a:endParaRPr/>
          </a:p>
          <a:p xmlns:a="http://schemas.openxmlformats.org/drawingml/2006/main">
            <a:r>
              <a:t>- Its primary role here is a referenced integration component, not the standalone closed-loop entry point.</a:t>
            </a:r>
            <a:endParaRPr/>
          </a:p>
          <a:p xmlns:a="http://schemas.openxmlformats.org/drawingml/2006/main">
            <a:r>
              <a:t/>
            </a:r>
            <a:endParaRPr/>
          </a:p>
          <a:p xmlns:a="http://schemas.openxmlformats.org/drawingml/2006/main">
            <a:r>
              <a:t>[Sources]</a:t>
            </a:r>
            <a:endParaRPr/>
          </a:p>
          <a:p xmlns:a="http://schemas.openxmlformats.org/drawingml/2006/main">
            <a:r>
              <a:t>- models/SensorProcessingRef.slx</a:t>
            </a:r>
            <a:endParaRPr/>
          </a:p>
          <a:p xmlns:a="http://schemas.openxmlformats.org/drawingml/2006/main">
            <a:r>
              <a:t>- screenshots/SensorProcessingRef_Model.png</a:t>
            </a:r>
            <a:endParaRPr/>
          </a:p>
          <a:p xmlns:a="http://schemas.openxmlformats.org/drawingml/2006/main">
            <a:r>
              <a:t>- results/FlightControlBus_Inventory.csv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PitchRateLimiter is both a reviewable component model and a referenced child. Its root exposes q_cmd_in, normal_mode, input_valid, q_cmd_out, and limiter_active at the controlled 50 Hz sample time, while implementation detail remains inside Pitch Rate Limiter Logic.</a:t>
            </a:r>
          </a:p>
          <a:p xmlns:a="http://schemas.openxmlformats.org/drawingml/2006/main">
            <a:r>
              <a:t/>
            </a:r>
          </a:p>
          <a:p xmlns:a="http://schemas.openxmlformats.org/drawingml/2006/main">
            <a:r>
              <a:t>Caveats</a:t>
            </a:r>
            <a:endParaRPr/>
          </a:p>
          <a:p xmlns:a="http://schemas.openxmlformats.org/drawingml/2006/main">
            <a:r>
              <a:t>- This is a magnitude limiter, not a slew-rate limiter.</a:t>
            </a:r>
            <a:endParaRPr/>
          </a:p>
          <a:p xmlns:a="http://schemas.openxmlformats.org/drawingml/2006/main">
            <a:r>
              <a:t>- The values and requirements are illustrative training data.</a:t>
            </a:r>
            <a:endParaRPr/>
          </a:p>
          <a:p xmlns:a="http://schemas.openxmlformats.org/drawingml/2006/main">
            <a:r>
              <a:t/>
            </a:r>
            <a:endParaRPr/>
          </a:p>
          <a:p xmlns:a="http://schemas.openxmlformats.org/drawingml/2006/main">
            <a:r>
              <a:t>[Sources]</a:t>
            </a:r>
            <a:endParaRPr/>
          </a:p>
          <a:p xmlns:a="http://schemas.openxmlformats.org/drawingml/2006/main">
            <a:r>
              <a:t>- models/PitchRateLimiter.slx</a:t>
            </a:r>
            <a:endParaRPr/>
          </a:p>
          <a:p xmlns:a="http://schemas.openxmlformats.org/drawingml/2006/main">
            <a:r>
              <a:t>- screenshots/PitchRateLimiter_Model.png</a:t>
            </a:r>
            <a:endParaRPr/>
          </a:p>
          <a:p xmlns:a="http://schemas.openxmlformats.org/drawingml/2006/main">
            <a:r>
              <a:t>- docs/PitchRateLimiter_Requirements_Traceability.csv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Inside PitchRateLimiter/Pitch Rate Limiter Logic, Magnitude Clamp applies the inclusive ±q_limit_normal bound; Normal AND Valid controls Select Valid Command; Training Fallback Command supplies zero; and the comparison and logic blocks form limiter_active. Use the exact block names because they anchor traceability.</a:t>
            </a:r>
          </a:p>
          <a:p xmlns:a="http://schemas.openxmlformats.org/drawingml/2006/main">
            <a:r>
              <a:t/>
            </a:r>
          </a:p>
          <a:p xmlns:a="http://schemas.openxmlformats.org/drawingml/2006/main">
            <a:r>
              <a:t>Caveats</a:t>
            </a:r>
            <a:endParaRPr/>
          </a:p>
          <a:p xmlns:a="http://schemas.openxmlformats.org/drawingml/2006/main">
            <a:r>
              <a:t>- Exactly ±12 deg/s is not clamped active; strictly outside the limits is active only during valid Normal operation.</a:t>
            </a:r>
            <a:endParaRPr/>
          </a:p>
          <a:p xmlns:a="http://schemas.openxmlformats.org/drawingml/2006/main">
            <a:r>
              <a:t>- Do not describe Magnitude Clamp as rate-of-change limiting.</a:t>
            </a:r>
            <a:endParaRPr/>
          </a:p>
          <a:p xmlns:a="http://schemas.openxmlformats.org/drawingml/2006/main">
            <a:r>
              <a:t/>
            </a:r>
            <a:endParaRPr/>
          </a:p>
          <a:p xmlns:a="http://schemas.openxmlformats.org/drawingml/2006/main">
            <a:r>
              <a:t>[Sources]</a:t>
            </a:r>
            <a:endParaRPr/>
          </a:p>
          <a:p xmlns:a="http://schemas.openxmlformats.org/drawingml/2006/main">
            <a:r>
              <a:t>- models/PitchRateLimiter.slx</a:t>
            </a:r>
            <a:endParaRPr/>
          </a:p>
          <a:p xmlns:a="http://schemas.openxmlformats.org/drawingml/2006/main">
            <a:r>
              <a:t>- screenshots/PitchRateLimiter_Implementation.png</a:t>
            </a:r>
            <a:endParaRPr/>
          </a:p>
          <a:p xmlns:a="http://schemas.openxmlformats.org/drawingml/2006/main">
            <a:r>
              <a:t>- docs/PitchRateLimiter_Requirements_Traceability.csv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PitchControllerRef is the referenced controller child used by the integration parent. Its root contract accepts limited command and feedback and produces actuator demand and tracking error, separating interface review from the internal PI implementation.</a:t>
            </a:r>
          </a:p>
          <a:p xmlns:a="http://schemas.openxmlformats.org/drawingml/2006/main">
            <a:r>
              <a:t/>
            </a:r>
          </a:p>
          <a:p xmlns:a="http://schemas.openxmlformats.org/drawingml/2006/main">
            <a:r>
              <a:t>Caveats</a:t>
            </a:r>
            <a:endParaRPr/>
          </a:p>
          <a:p xmlns:a="http://schemas.openxmlformats.org/drawingml/2006/main">
            <a:r>
              <a:t>- Do not confuse this referenced child with AircraftFeedbackControlLoop/Pitch Controller PI; they are distinct saved artifacts.</a:t>
            </a:r>
            <a:endParaRPr/>
          </a:p>
          <a:p xmlns:a="http://schemas.openxmlformats.org/drawingml/2006/main">
            <a:r>
              <a:t/>
            </a:r>
            <a:endParaRPr/>
          </a:p>
          <a:p xmlns:a="http://schemas.openxmlformats.org/drawingml/2006/main">
            <a:r>
              <a:t>[Sources]</a:t>
            </a:r>
            <a:endParaRPr/>
          </a:p>
          <a:p xmlns:a="http://schemas.openxmlformats.org/drawingml/2006/main">
            <a:r>
              <a:t>- models/PitchControllerRef.slx</a:t>
            </a:r>
            <a:endParaRPr/>
          </a:p>
          <a:p xmlns:a="http://schemas.openxmlformats.org/drawingml/2006/main">
            <a:r>
              <a:t>- screenshots/PitchControllerRef_Model.png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PitchControllerRef/Pitch Rate PI exposes the referenced controller's proportional and integral behavior. Review its error formation, gains, integrator state, and output contract, then return to the parent model to see how the component is connected.</a:t>
            </a:r>
          </a:p>
          <a:p xmlns:a="http://schemas.openxmlformats.org/drawingml/2006/main">
            <a:r>
              <a:t/>
            </a:r>
          </a:p>
          <a:p xmlns:a="http://schemas.openxmlformats.org/drawingml/2006/main">
            <a:r>
              <a:t>Caveats</a:t>
            </a:r>
            <a:endParaRPr/>
          </a:p>
          <a:p xmlns:a="http://schemas.openxmlformats.org/drawingml/2006/main">
            <a:r>
              <a:t>- The exact internal path is PitchControllerRef/Pitch Rate PI.</a:t>
            </a:r>
            <a:endParaRPr/>
          </a:p>
          <a:p xmlns:a="http://schemas.openxmlformats.org/drawingml/2006/main">
            <a:r>
              <a:t/>
            </a:r>
            <a:endParaRPr/>
          </a:p>
          <a:p xmlns:a="http://schemas.openxmlformats.org/drawingml/2006/main">
            <a:r>
              <a:t>[Sources]</a:t>
            </a:r>
            <a:endParaRPr/>
          </a:p>
          <a:p xmlns:a="http://schemas.openxmlformats.org/drawingml/2006/main">
            <a:r>
              <a:t>- models/PitchControllerRef.slx</a:t>
            </a:r>
            <a:endParaRPr/>
          </a:p>
          <a:p xmlns:a="http://schemas.openxmlformats.org/drawingml/2006/main">
            <a:r>
              <a:t>- screenshots/PitchControllerRef_PitchRatePI.png</a:t>
            </a:r>
            <a:endParaRPr/>
          </a:p>
          <a:p xmlns:a="http://schemas.openxmlformats.org/drawingml/2006/main">
            <a:r>
              <a:t>- data/FCS_Data.sldd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ActuatorCommandRef is the referenced actuator-command child. It receives actuator demand and returns the bounded command plus an active-status output, making command limiting and status propagation explicit at the integration boundary.</a:t>
            </a:r>
          </a:p>
          <a:p xmlns:a="http://schemas.openxmlformats.org/drawingml/2006/main">
            <a:r>
              <a:t/>
            </a:r>
          </a:p>
          <a:p xmlns:a="http://schemas.openxmlformats.org/drawingml/2006/main">
            <a:r>
              <a:t>Caveats</a:t>
            </a:r>
            <a:endParaRPr/>
          </a:p>
          <a:p xmlns:a="http://schemas.openxmlformats.org/drawingml/2006/main">
            <a:r>
              <a:t>- This component demonstrates interface and command-processing patterns; it is not actual actuator hardware or HIL evidence.</a:t>
            </a:r>
            <a:endParaRPr/>
          </a:p>
          <a:p xmlns:a="http://schemas.openxmlformats.org/drawingml/2006/main">
            <a:r>
              <a:t/>
            </a:r>
            <a:endParaRPr/>
          </a:p>
          <a:p xmlns:a="http://schemas.openxmlformats.org/drawingml/2006/main">
            <a:r>
              <a:t>[Sources]</a:t>
            </a:r>
            <a:endParaRPr/>
          </a:p>
          <a:p xmlns:a="http://schemas.openxmlformats.org/drawingml/2006/main">
            <a:r>
              <a:t>- models/ActuatorCommandRef.slx</a:t>
            </a:r>
            <a:endParaRPr/>
          </a:p>
          <a:p xmlns:a="http://schemas.openxmlformats.org/drawingml/2006/main">
            <a:r>
              <a:t>- screenshots/ActuatorCommandRef_Model.png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PitchRateLimiter_Harness is an independent executable Simulink model. From Workspace blocks provide the three deterministic inputs; the exact Model block PitchRateLimiter_Harness/Unit Under Test - PitchRateLimiter references the component; and To Workspace blocks retain q_cmd_out and limiter_active for external MATLAB assessments.</a:t>
            </a:r>
          </a:p>
          <a:p xmlns:a="http://schemas.openxmlformats.org/drawingml/2006/main">
            <a:r>
              <a:t/>
            </a:r>
          </a:p>
          <a:p xmlns:a="http://schemas.openxmlformats.org/drawingml/2006/main">
            <a:r>
              <a:t>Caveats</a:t>
            </a:r>
            <a:endParaRPr/>
          </a:p>
          <a:p xmlns:a="http://schemas.openxmlformats.org/drawingml/2006/main">
            <a:r>
              <a:t>- This is a standalone Simulink harness, not a Simulink Test harness or Test Manager suite.</a:t>
            </a:r>
            <a:endParaRPr/>
          </a:p>
          <a:p xmlns:a="http://schemas.openxmlformats.org/drawingml/2006/main">
            <a:r>
              <a:t>- Expected values, tolerances, and pass/fail logic live in run_pitch_rate_limiter_tests.m, not inside the harness.</a:t>
            </a:r>
            <a:endParaRPr/>
          </a:p>
          <a:p xmlns:a="http://schemas.openxmlformats.org/drawingml/2006/main">
            <a:r>
              <a:t/>
            </a:r>
            <a:endParaRPr/>
          </a:p>
          <a:p xmlns:a="http://schemas.openxmlformats.org/drawingml/2006/main">
            <a:r>
              <a:t>[Sources]</a:t>
            </a:r>
            <a:endParaRPr/>
          </a:p>
          <a:p xmlns:a="http://schemas.openxmlformats.org/drawingml/2006/main">
            <a:r>
              <a:t>- models/PitchRateLimiter_Harness.slx</a:t>
            </a:r>
            <a:endParaRPr/>
          </a:p>
          <a:p xmlns:a="http://schemas.openxmlformats.org/drawingml/2006/main">
            <a:r>
              <a:t>- screenshots/PitchRateLimiter_Harness.png</a:t>
            </a:r>
            <a:endParaRPr/>
          </a:p>
          <a:p xmlns:a="http://schemas.openxmlformats.org/drawingml/2006/main">
            <a:r>
              <a:t>- scripts/run_pitch_rate_limiter_tests.m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endParaRPr/>
          </a:p>
          <a:p xmlns:a="http://schemas.openxmlformats.org/drawingml/2006/main">
            <a:r>
              <a:t>The saved onboarding Data Inspector setup contains one run and five signals arranged in three vertical plots: command versus response, tracking error, and actuator versus disturbance. Use legends, units, zoom, cursors, and markers to inspect timing and transients, compare future executions, and retain reviewable evidence without modifying the model.</a:t>
            </a:r>
          </a:p>
          <a:p xmlns:a="http://schemas.openxmlformats.org/drawingml/2006/main">
            <a:r>
              <a:t/>
            </a:r>
          </a:p>
          <a:p xmlns:a="http://schemas.openxmlformats.org/drawingml/2006/main">
            <a:r>
              <a:t>Caveats</a:t>
            </a:r>
            <a:endParaRPr/>
          </a:p>
          <a:p xmlns:a="http://schemas.openxmlformats.org/drawingml/2006/main">
            <a:r>
              <a:t>- Desktop Simulink model execution (MIL); not SIL, PIL, or HIL.</a:t>
            </a:r>
            <a:endParaRPr/>
          </a:p>
          <a:p xmlns:a="http://schemas.openxmlformats.org/drawingml/2006/main">
            <a:r>
              <a:t>- Opening a saved SDI session can replace the current repository. The provided open helper refuses by default when runs exist; explicit replacement creates recoverable backups.</a:t>
            </a:r>
            <a:endParaRPr/>
          </a:p>
          <a:p xmlns:a="http://schemas.openxmlformats.org/drawingml/2006/main">
            <a:r>
              <a:t>- The two .mldatx files are SDI view/session artifacts, not Simulink Test files.</a:t>
            </a:r>
            <a:endParaRPr/>
          </a:p>
          <a:p xmlns:a="http://schemas.openxmlformats.org/drawingml/2006/main">
            <a:r>
              <a:t/>
            </a:r>
            <a:endParaRPr/>
          </a:p>
          <a:p xmlns:a="http://schemas.openxmlformats.org/drawingml/2006/main">
            <a:r>
              <a:t>[Sources]</a:t>
            </a:r>
            <a:endParaRPr/>
          </a:p>
          <a:p xmlns:a="http://schemas.openxmlformats.org/drawingml/2006/main">
            <a:r>
              <a:t>- screenshots/SimulationDataInspector_Onboarding.jpg</a:t>
            </a:r>
            <a:endParaRPr/>
          </a:p>
          <a:p xmlns:a="http://schemas.openxmlformats.org/drawingml/2006/main">
            <a:r>
              <a:t>- data/SimulationDataInspector/AircraftFeedbackControlLoop_Onboarding_View.mldatx</a:t>
            </a:r>
          </a:p>
          <a:p xmlns:a="http://schemas.openxmlformats.org/drawingml/2006/main">
            <a:r>
              <a:t>- results/SimulationDataInspector/AircraftFeedbackControlLoop_Onboarding_Session.mldatx</a:t>
            </a:r>
          </a:p>
          <a:p xmlns:a="http://schemas.openxmlformats.org/drawingml/2006/main">
            <a:r>
              <a:t>- scripts/open_data_inspector_reference.m</a:t>
            </a:r>
            <a:endParaRPr/>
          </a:p>
          <a:p xmlns:a="http://schemas.openxmlformats.org/drawingml/2006/main">
            <a:r>
              <a:t>- scripts/update_data_inspector.m</a:t>
            </a:r>
          </a:p>
          <a:p xmlns:a="http://schemas.openxmlformats.org/drawingml/2006/main">
            <a:r>
              <a:t>- scripts/save_data_inspector_reference.m</a:t>
            </a:r>
          </a:p>
          <a:p xmlns:a="http://schemas.openxmlformats.org/drawingml/2006/main">
            <a:r>
              <a:t>- https://www.mathworks.com/help/simulink/slref/simulationdatainspector.html</a:t>
            </a:r>
          </a:p>
          <a:p xmlns:a="http://schemas.openxmlformats.org/drawingml/2006/main">
            <a:r>
              <a:t>- https://www.mathworks.com/help/simulink/ug/compare-simulation-data.html</a:t>
            </a:r>
          </a:p>
          <a:p xmlns:a="http://schemas.openxmlformats.org/drawingml/2006/main">
            <a:r>
              <a:t>- https://www.mathworks.com/help/simulink/slref/simulink.sdi.setmarkerson.html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FAA AC 20-115D recognizes DO-178C as an accepted means of compliance with applicable airworthiness regulations and recognizes DO-331 as its model-based development and verification supplement. Project plans determine how a model is used and which objectives and lifecycle data apply.</a:t>
            </a:r>
          </a:p>
          <a:p xmlns:a="http://schemas.openxmlformats.org/drawingml/2006/main">
            <a:r>
              <a:t/>
            </a:r>
          </a:p>
          <a:p xmlns:a="http://schemas.openxmlformats.org/drawingml/2006/main">
            <a:r>
              <a:t>Caveats</a:t>
            </a:r>
            <a:endParaRPr/>
          </a:p>
          <a:p xmlns:a="http://schemas.openxmlformats.org/drawingml/2006/main">
            <a:r>
              <a:t>- DO-178C is not a standalone software certificate.</a:t>
            </a:r>
          </a:p>
          <a:p xmlns:a="http://schemas.openxmlformats.org/drawingml/2006/main">
            <a:r>
              <a:t>- DO-331 supplements DO-178C; a Simulink model is not automatically compliant.</a:t>
            </a:r>
          </a:p>
          <a:p xmlns:a="http://schemas.openxmlformats.org/drawingml/2006/main">
            <a:r>
              <a:t/>
            </a:r>
            <a:endParaRPr/>
          </a:p>
          <a:p xmlns:a="http://schemas.openxmlformats.org/drawingml/2006/main">
            <a:r>
              <a:t>[Sources]</a:t>
            </a:r>
          </a:p>
          <a:p xmlns:a="http://schemas.openxmlformats.org/drawingml/2006/main">
            <a:r>
              <a:t>- https://www.faa.gov/regulations_policies/advisory_circulars/index.cfm/go/document.information/documentID/1032046</a:t>
            </a:r>
          </a:p>
          <a:p xmlns:a="http://schemas.openxmlformats.org/drawingml/2006/main">
            <a:r>
              <a:t>- https://www.faa.gov/documentLibrary/media/Order/FAA_Order_8110.49A.pdf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Software level originates in the system safety process and drives the applicable objective and independence framework. Say DO-178C Software Level A when discussing software; reserve DAL terminology for the broader system allocation context. Independence is planned for designated verification objectives and must be demonstrated through roles and evidence.</a:t>
            </a:r>
          </a:p>
          <a:p xmlns:a="http://schemas.openxmlformats.org/drawingml/2006/main">
            <a:r>
              <a:t/>
            </a:r>
          </a:p>
          <a:p xmlns:a="http://schemas.openxmlformats.org/drawingml/2006/main">
            <a:r>
              <a:t>Caveats</a:t>
            </a:r>
            <a:endParaRPr/>
          </a:p>
          <a:p xmlns:a="http://schemas.openxmlformats.org/drawingml/2006/main">
            <a:r>
              <a:t>- An author should not be the sole independent verifier of their own work where independence is required.</a:t>
            </a:r>
          </a:p>
          <a:p xmlns:a="http://schemas.openxmlformats.org/drawingml/2006/main">
            <a:r>
              <a:t>- A summary slide cannot replace the approved plans, certification basis, or objective tables.</a:t>
            </a:r>
          </a:p>
          <a:p xmlns:a="http://schemas.openxmlformats.org/drawingml/2006/main">
            <a:r>
              <a:t/>
            </a:r>
            <a:endParaRPr/>
          </a:p>
          <a:p xmlns:a="http://schemas.openxmlformats.org/drawingml/2006/main">
            <a:r>
              <a:t>[Sources]</a:t>
            </a:r>
          </a:p>
          <a:p xmlns:a="http://schemas.openxmlformats.org/drawingml/2006/main">
            <a:r>
              <a:t>- https://www.faa.gov/regulations_policies/advisory_circulars/index.cfm/go/document.information/documentID/1032046</a:t>
            </a:r>
          </a:p>
          <a:p xmlns:a="http://schemas.openxmlformats.org/drawingml/2006/main">
            <a:r>
              <a:t>- https://www.faa.gov/documentLibrary/media/Order/FAA_Order_8110.49A.pdf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Traceability is bidirectional: requirement to implementing artifact and objective verification, then result and model element back to justified intent. This package demonstrates that chain through a traceability CSV, an executable script, retained CSV/MAT results, and a human-readable report.</a:t>
            </a:r>
          </a:p>
          <a:p xmlns:a="http://schemas.openxmlformats.org/drawingml/2006/main">
            <a:r>
              <a:t/>
            </a:r>
          </a:p>
          <a:p xmlns:a="http://schemas.openxmlformats.org/drawingml/2006/main">
            <a:r>
              <a:t>Caveats</a:t>
            </a:r>
            <a:endParaRPr/>
          </a:p>
          <a:p xmlns:a="http://schemas.openxmlformats.org/drawingml/2006/main">
            <a:r>
              <a:t>- The package has no live Simulink Requirements links because Simulink Requirements is unavailable.</a:t>
            </a:r>
          </a:p>
          <a:p xmlns:a="http://schemas.openxmlformats.org/drawingml/2006/main">
            <a:r>
              <a:t>- A passing pipeline or test result is evidence input, not certification approval.</a:t>
            </a:r>
          </a:p>
          <a:p xmlns:a="http://schemas.openxmlformats.org/drawingml/2006/main">
            <a:r>
              <a:t/>
            </a:r>
            <a:endParaRPr/>
          </a:p>
          <a:p xmlns:a="http://schemas.openxmlformats.org/drawingml/2006/main">
            <a:r>
              <a:t>[Sources]</a:t>
            </a:r>
          </a:p>
          <a:p xmlns:a="http://schemas.openxmlformats.org/drawingml/2006/main">
            <a:r>
              <a:t>- docs/PitchRateLimiter_Requirements_Traceability.csv</a:t>
            </a:r>
          </a:p>
          <a:p xmlns:a="http://schemas.openxmlformats.org/drawingml/2006/main">
            <a:r>
              <a:t>- results/environment_inventory.txt</a:t>
            </a:r>
          </a:p>
          <a:p xmlns:a="http://schemas.openxmlformats.org/drawingml/2006/main">
            <a:r>
              <a:t>- https://www.faa.gov/documentLibrary/media/Order/FAA_Order_8110.49A.pdf</a:t>
            </a:r>
          </a:p>
          <a:p xmlns:a="http://schemas.openxmlformats.org/drawingml/2006/main">
            <a:r>
              <a:t>- https://www.mathworks.com/help/slrequirements/ug/create-and-store-links.html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Use the V-model as a relationship map between definition, realization, and verification rather than as a mandate for one schedule. Agile and waterfall can both organize compliant work, but cadence never removes lifecycle data, traceability, reviews, configuration control, baselines, problem reporting, or required independence.</a:t>
            </a:r>
          </a:p>
          <a:p xmlns:a="http://schemas.openxmlformats.org/drawingml/2006/main">
            <a:r>
              <a:t/>
            </a:r>
          </a:p>
          <a:p xmlns:a="http://schemas.openxmlformats.org/drawingml/2006/main">
            <a:r>
              <a:t>Caveats</a:t>
            </a:r>
            <a:endParaRPr/>
          </a:p>
          <a:p xmlns:a="http://schemas.openxmlformats.org/drawingml/2006/main">
            <a:r>
              <a:t>- Process labels do not establish compliance; approved plans and objective evidence do.</a:t>
            </a:r>
          </a:p>
          <a:p xmlns:a="http://schemas.openxmlformats.org/drawingml/2006/main">
            <a:r>
              <a:t/>
            </a:r>
          </a:p>
          <a:p xmlns:a="http://schemas.openxmlformats.org/drawingml/2006/main">
            <a:r>
              <a:t>[Sources]</a:t>
            </a:r>
            <a:endParaRPr/>
          </a:p>
          <a:p xmlns:a="http://schemas.openxmlformats.org/drawingml/2006/main">
            <a:r>
              <a:t>- https://www.nasa.gov/reference/systems-engineering-handbook/</a:t>
            </a:r>
          </a:p>
          <a:p xmlns:a="http://schemas.openxmlformats.org/drawingml/2006/main">
            <a:r>
              <a:t>- https://www.faa.gov/documentLibrary/media/Order/FAA_Order_8110.49A.pdf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Walk from the classroom system intent through a software HLR and an implementation-oriented LLR or design statement. Connect the inclusive ±12 deg/s behavior, zero fallback, limiter status, and 50 Hz execution to PRL-001 through PRL-005 and the exact saved blocks.</a:t>
            </a:r>
          </a:p>
          <a:p xmlns:a="http://schemas.openxmlformats.org/drawingml/2006/main">
            <a:r>
              <a:t/>
            </a:r>
          </a:p>
          <a:p xmlns:a="http://schemas.openxmlformats.org/drawingml/2006/main">
            <a:r>
              <a:t>Caveats</a:t>
            </a:r>
            <a:endParaRPr/>
          </a:p>
          <a:p xmlns:a="http://schemas.openxmlformats.org/drawingml/2006/main">
            <a:r>
              <a:t>- Illustrative classroom requirements — not production aircraft data or an approved certification baseline.</a:t>
            </a:r>
          </a:p>
          <a:p xmlns:a="http://schemas.openxmlformats.org/drawingml/2006/main">
            <a:r>
              <a:t>- PSYS-001, SWHLR-001, and SWLLR-001 are presentation-level classroom mappings; the repository traceability CSV contains PRL-001 through PRL-005.</a:t>
            </a:r>
          </a:p>
          <a:p xmlns:a="http://schemas.openxmlformats.org/drawingml/2006/main">
            <a:r>
              <a:t/>
            </a:r>
            <a:endParaRPr/>
          </a:p>
          <a:p xmlns:a="http://schemas.openxmlformats.org/drawingml/2006/main">
            <a:r>
              <a:t>[Sources]</a:t>
            </a:r>
          </a:p>
          <a:p xmlns:a="http://schemas.openxmlformats.org/drawingml/2006/main">
            <a:r>
              <a:t>- docs/PitchRateLimiter_Requirements_Traceability.csv</a:t>
            </a:r>
          </a:p>
          <a:p xmlns:a="http://schemas.openxmlformats.org/drawingml/2006/main">
            <a:r>
              <a:t>- models/PitchRateLimiter.slx</a:t>
            </a:r>
          </a:p>
          <a:p xmlns:a="http://schemas.openxmlformats.org/drawingml/2006/main">
            <a:r>
              <a:t>- https://www.faa.gov/regulations_policies/advisory_circulars/index.cfm/go/document.information/documentID/1032046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endParaRPr/>
          </a:p>
          <a:p xmlns:a="http://schemas.openxmlformats.org/drawingml/2006/main">
            <a:r>
              <a:t>Read the chain in both directions: PSYS-001 to SWHLR-001 / PRL-001 to SWLLR-001 to PitchRateLimiter/Pitch Rate Limiter Logic/Magnitude Clamp to PitchRateLimiter_Harness/Unit Under Test - PitchRateLimiter to run_pitch_rate_limiter_tests.m, case Boundary above upper limit, to retained Iteration 8. The row records input 12.1 deg/s, expected 12, actual 12, zero numeric error, tolerance 1e-9, and PASS.</a:t>
            </a:r>
          </a:p>
          <a:p xmlns:a="http://schemas.openxmlformats.org/drawingml/2006/main">
            <a:r>
              <a:t/>
            </a:r>
          </a:p>
          <a:p xmlns:a="http://schemas.openxmlformats.org/drawingml/2006/main">
            <a:r>
              <a:t>Caveats</a:t>
            </a:r>
            <a:endParaRPr/>
          </a:p>
          <a:p xmlns:a="http://schemas.openxmlformats.org/drawingml/2006/main">
            <a:r>
              <a:t>- Desktop Simulink model execution (MIL); not SIL, PIL, or HIL.</a:t>
            </a:r>
            <a:endParaRPr/>
          </a:p>
          <a:p xmlns:a="http://schemas.openxmlformats.org/drawingml/2006/main">
            <a:r>
              <a:t>- The literal AssociatedRequirement value is: PRL-001 magnitude limiting; PRL-003 status; PRL-004 50 Hz execution.</a:t>
            </a:r>
            <a:endParaRPr/>
          </a:p>
          <a:p xmlns:a="http://schemas.openxmlformats.org/drawingml/2006/main">
            <a:r>
              <a:t>- The PSYS/SWHLR/SWLLR identifiers are illustrative mappings layered over the retained PRL association.</a:t>
            </a:r>
            <a:endParaRPr/>
          </a:p>
          <a:p xmlns:a="http://schemas.openxmlformats.org/drawingml/2006/main">
            <a:r>
              <a:t/>
            </a:r>
            <a:endParaRPr/>
          </a:p>
          <a:p xmlns:a="http://schemas.openxmlformats.org/drawingml/2006/main">
            <a:r>
              <a:t>[Sources]</a:t>
            </a:r>
            <a:endParaRPr/>
          </a:p>
          <a:p xmlns:a="http://schemas.openxmlformats.org/drawingml/2006/main">
            <a:r>
              <a:t>- docs/PitchRateLimiter_Requirements_Traceability.csv</a:t>
            </a:r>
            <a:endParaRPr/>
          </a:p>
          <a:p xmlns:a="http://schemas.openxmlformats.org/drawingml/2006/main">
            <a:r>
              <a:t>- scripts/run_pitch_rate_limiter_tests.m</a:t>
            </a:r>
          </a:p>
          <a:p xmlns:a="http://schemas.openxmlformats.org/drawingml/2006/main">
            <a:r>
              <a:t>- results/PitchRateLimiter_TestResults.csv</a:t>
            </a:r>
          </a:p>
          <a:p xmlns:a="http://schemas.openxmlformats.org/drawingml/2006/main">
            <a:r>
              <a:t>- results/PitchRateLimiter_TestResults.mat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Follow the companion-file flow: FCS_Data.sldd supplies controlled parameters and types; PitchRateLimiter_Harness references PitchRateLimiter; run_pitch_rate_limiter_tests drives and assesses it; the traceability CSV associates requirements; CSV and MAT retain machine-readable results; and HTML and PNG provide a reviewable report.</a:t>
            </a:r>
          </a:p>
          <a:p xmlns:a="http://schemas.openxmlformats.org/drawingml/2006/main">
            <a:r>
              <a:t/>
            </a:r>
          </a:p>
          <a:p xmlns:a="http://schemas.openxmlformats.org/drawingml/2006/main">
            <a:r>
              <a:t>Caveats</a:t>
            </a:r>
            <a:endParaRPr/>
          </a:p>
          <a:p xmlns:a="http://schemas.openxmlformats.org/drawingml/2006/main">
            <a:r>
              <a:t>- Do not claim a Simulink Test .mldatx test file exists.</a:t>
            </a:r>
          </a:p>
          <a:p xmlns:a="http://schemas.openxmlformats.org/drawingml/2006/main">
            <a:r>
              <a:t>- The two repository .mldatx files belong only to Simulation Data Inspector.</a:t>
            </a:r>
          </a:p>
          <a:p xmlns:a="http://schemas.openxmlformats.org/drawingml/2006/main">
            <a:r>
              <a:t/>
            </a:r>
            <a:endParaRPr/>
          </a:p>
          <a:p xmlns:a="http://schemas.openxmlformats.org/drawingml/2006/main">
            <a:r>
              <a:t>[Sources]</a:t>
            </a:r>
          </a:p>
          <a:p xmlns:a="http://schemas.openxmlformats.org/drawingml/2006/main">
            <a:r>
              <a:t>- data/FCS_Data.sldd</a:t>
            </a:r>
          </a:p>
          <a:p xmlns:a="http://schemas.openxmlformats.org/drawingml/2006/main">
            <a:r>
              <a:t>- models/PitchRateLimiter_Harness.slx</a:t>
            </a:r>
          </a:p>
          <a:p xmlns:a="http://schemas.openxmlformats.org/drawingml/2006/main">
            <a:r>
              <a:t>- models/PitchRateLimiter.slx</a:t>
            </a:r>
          </a:p>
          <a:p xmlns:a="http://schemas.openxmlformats.org/drawingml/2006/main">
            <a:r>
              <a:t>- scripts/run_pitch_rate_limiter_tests.m</a:t>
            </a:r>
            <a:endParaRPr/>
          </a:p>
          <a:p xmlns:a="http://schemas.openxmlformats.org/drawingml/2006/main">
            <a:r>
              <a:t>- docs/PitchRateLimiter_Requirements_Traceability.csv</a:t>
            </a:r>
          </a:p>
          <a:p xmlns:a="http://schemas.openxmlformats.org/drawingml/2006/main">
            <a:r>
              <a:t>- results/PitchRateLimiter_TestResults.csv</a:t>
            </a:r>
          </a:p>
          <a:p xmlns:a="http://schemas.openxmlformats.org/drawingml/2006/main">
            <a:r>
              <a:t>- results/PitchRateLimiter_TestResults.mat</a:t>
            </a:r>
          </a:p>
          <a:p xmlns:a="http://schemas.openxmlformats.org/drawingml/2006/main">
            <a:r>
              <a:t>- reports/PitchRateLimiter_TestReport.html</a:t>
            </a:r>
          </a:p>
          <a:p xmlns:a="http://schemas.openxmlformats.org/drawingml/2006/main">
            <a:r>
              <a:t>- reports/PitchRateLimiter_TestReport.png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The 19-case matrix covers initialization, nominal values, inclusive boundaries, just-outside and large magnitudes, invalid or non-Normal fallback, transitions, limiter_active, timestamps, and 50 Hz spacing. Each case records actual and expected outputs rather than relying on a visual waveform judgment.</a:t>
            </a:r>
          </a:p>
          <a:p xmlns:a="http://schemas.openxmlformats.org/drawingml/2006/main">
            <a:r>
              <a:t/>
            </a:r>
          </a:p>
          <a:p xmlns:a="http://schemas.openxmlformats.org/drawingml/2006/main">
            <a:r>
              <a:t>Caveats</a:t>
            </a:r>
            <a:endParaRPr/>
          </a:p>
          <a:p xmlns:a="http://schemas.openxmlformats.org/drawingml/2006/main">
            <a:r>
              <a:t>- The PRL-004 traceability CSV says timing within 1e-12 s, while the executable uses max(1e-12, Sample_time × 1e-9), which is 2e-11 s at 0.02 s. The retained observed step is exactly 0.02 s and passes, but do not claim the script used a 1e-12 timing tolerance without reconciling the sources.</a:t>
            </a:r>
          </a:p>
          <a:p xmlns:a="http://schemas.openxmlformats.org/drawingml/2006/main">
            <a:r>
              <a:t>- The numeric output tolerance is consistently 1e-9 deg/s.</a:t>
            </a:r>
          </a:p>
          <a:p xmlns:a="http://schemas.openxmlformats.org/drawingml/2006/main">
            <a:r>
              <a:t/>
            </a:r>
            <a:endParaRPr/>
          </a:p>
          <a:p xmlns:a="http://schemas.openxmlformats.org/drawingml/2006/main">
            <a:r>
              <a:t>[Sources]</a:t>
            </a:r>
          </a:p>
          <a:p xmlns:a="http://schemas.openxmlformats.org/drawingml/2006/main">
            <a:r>
              <a:t>- scripts/run_pitch_rate_limiter_tests.m</a:t>
            </a:r>
          </a:p>
          <a:p xmlns:a="http://schemas.openxmlformats.org/drawingml/2006/main">
            <a:r>
              <a:t>- results/PitchRateLimiter_TestResults.csv</a:t>
            </a:r>
          </a:p>
          <a:p xmlns:a="http://schemas.openxmlformats.org/drawingml/2006/main">
            <a:r>
              <a:t>- docs/PitchRateLimiter_Requirements_Traceability.csv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The retained CSV has 19 iterations and every Passed value is true; the MAT summary records Total 19, Passed 19, Failed 0; and the HTML report states PASS — 19 passed, 0 failed. The saved run used PitchRateLimiter_Harness at 50 Hz with a 0.02 s observed output step and 1e-9 deg/s numeric tolerance.</a:t>
            </a:r>
          </a:p>
          <a:p xmlns:a="http://schemas.openxmlformats.org/drawingml/2006/main">
            <a:r>
              <a:t/>
            </a:r>
          </a:p>
          <a:p xmlns:a="http://schemas.openxmlformats.org/drawingml/2006/main">
            <a:r>
              <a:t>Caveats</a:t>
            </a:r>
            <a:endParaRPr/>
          </a:p>
          <a:p xmlns:a="http://schemas.openxmlformats.org/drawingml/2006/main">
            <a:r>
              <a:t>- These are executable MATLAB assessments of a standalone Simulink harness, not Simulink Test or Test Manager results.</a:t>
            </a:r>
            <a:endParaRPr/>
          </a:p>
          <a:p xmlns:a="http://schemas.openxmlformats.org/drawingml/2006/main">
            <a:r>
              <a:t>- A pass supports the configured classroom expectations; it is not certification approval.</a:t>
            </a:r>
            <a:endParaRPr/>
          </a:p>
          <a:p xmlns:a="http://schemas.openxmlformats.org/drawingml/2006/main">
            <a:r>
              <a:t/>
            </a:r>
            <a:endParaRPr/>
          </a:p>
          <a:p xmlns:a="http://schemas.openxmlformats.org/drawingml/2006/main">
            <a:r>
              <a:t>[Sources]</a:t>
            </a:r>
            <a:endParaRPr/>
          </a:p>
          <a:p xmlns:a="http://schemas.openxmlformats.org/drawingml/2006/main">
            <a:r>
              <a:t>- results/PitchRateLimiter_TestResults.csv</a:t>
            </a:r>
            <a:endParaRPr/>
          </a:p>
          <a:p xmlns:a="http://schemas.openxmlformats.org/drawingml/2006/main">
            <a:r>
              <a:t>- results/PitchRateLimiter_TestResults.mat</a:t>
            </a:r>
            <a:endParaRPr/>
          </a:p>
          <a:p xmlns:a="http://schemas.openxmlformats.org/drawingml/2006/main">
            <a:r>
              <a:t>- reports/PitchRateLimiter_TestReport.html</a:t>
            </a:r>
          </a:p>
          <a:p xmlns:a="http://schemas.openxmlformats.org/drawingml/2006/main">
            <a:r>
              <a:t>- reports/PitchRateLimiter_TestReport.png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Keep lifecycle callbacks narrow and reviewable: setup establishes paths and controlled data, preload prepares deterministic inputs, post-load applies solver and logging configuration, and cleanup releases only owned resources. The test driver—not a callback—contains the case definitions, expected values, tolerances, and pass/fail assessments.</a:t>
            </a:r>
          </a:p>
          <a:p xmlns:a="http://schemas.openxmlformats.org/drawingml/2006/main">
            <a:r>
              <a:t/>
            </a:r>
          </a:p>
          <a:p xmlns:a="http://schemas.openxmlformats.org/drawingml/2006/main">
            <a:r>
              <a:t>Caveats</a:t>
            </a:r>
            <a:endParaRPr/>
          </a:p>
          <a:p xmlns:a="http://schemas.openxmlformats.org/drawingml/2006/main">
            <a:r>
              <a:t>- Callbacks must not manufacture a green result or silently discard a learner's dirty model.</a:t>
            </a:r>
            <a:endParaRPr/>
          </a:p>
          <a:p xmlns:a="http://schemas.openxmlformats.org/drawingml/2006/main">
            <a:r>
              <a:t>- The delivered workflow uses external MATLAB functions rather than hidden model callback code.</a:t>
            </a:r>
            <a:endParaRPr/>
          </a:p>
          <a:p xmlns:a="http://schemas.openxmlformats.org/drawingml/2006/main">
            <a:r>
              <a:t/>
            </a:r>
            <a:endParaRPr/>
          </a:p>
          <a:p xmlns:a="http://schemas.openxmlformats.org/drawingml/2006/main">
            <a:r>
              <a:t>[Sources]</a:t>
            </a:r>
            <a:endParaRPr/>
          </a:p>
          <a:p xmlns:a="http://schemas.openxmlformats.org/drawingml/2006/main">
            <a:r>
              <a:t>- scripts/callback_workflow_example.m</a:t>
            </a:r>
            <a:endParaRPr/>
          </a:p>
          <a:p xmlns:a="http://schemas.openxmlformats.org/drawingml/2006/main">
            <a:r>
              <a:t>- scripts/training_callback_setup.m</a:t>
            </a:r>
            <a:endParaRPr/>
          </a:p>
          <a:p xmlns:a="http://schemas.openxmlformats.org/drawingml/2006/main">
            <a:r>
              <a:t>- scripts/training_callback_preload.m</a:t>
            </a:r>
          </a:p>
          <a:p xmlns:a="http://schemas.openxmlformats.org/drawingml/2006/main">
            <a:r>
              <a:t>- scripts/training_callback_postload.m</a:t>
            </a:r>
          </a:p>
          <a:p xmlns:a="http://schemas.openxmlformats.org/drawingml/2006/main">
            <a:r>
              <a:t>- scripts/training_callback_cleanup.m</a:t>
            </a:r>
            <a:endParaRPr/>
          </a:p>
          <a:p xmlns:a="http://schemas.openxmlformats.org/drawingml/2006/main">
            <a:r>
              <a:t>- scripts/run_pitch_rate_limiter_tests.m</a:t>
            </a:r>
          </a:p>
          <a:p xmlns:a="http://schemas.openxmlformats.org/drawingml/2006/main">
            <a:r>
              <a:t>- https://www.mathworks.com/help/simulink/callback-functions.html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FCS_Data.sldd is the controlled source for Sample_time, limiter bounds, controller gains, filter coefficients, initial conditions, signal definitions, and FlightControlBus. The bus exposes q_rate, pitch_angle, mach, air_data_valid, and mode with documented types, dimensions, and units so referenced-model interfaces can update consistently.</a:t>
            </a:r>
          </a:p>
          <a:p xmlns:a="http://schemas.openxmlformats.org/drawingml/2006/main">
            <a:r>
              <a:t/>
            </a:r>
          </a:p>
          <a:p xmlns:a="http://schemas.openxmlformats.org/drawingml/2006/main">
            <a:r>
              <a:t>Caveats</a:t>
            </a:r>
            <a:endParaRPr/>
          </a:p>
          <a:p xmlns:a="http://schemas.openxmlformats.org/drawingml/2006/main">
            <a:r>
              <a:t>- A dictionary and bus establish controlled data and structure; they do not by themselves prove semantic correctness.</a:t>
            </a:r>
            <a:endParaRPr/>
          </a:p>
          <a:p xmlns:a="http://schemas.openxmlformats.org/drawingml/2006/main">
            <a:r>
              <a:t>- The values are illustrative and not production aircraft data.</a:t>
            </a:r>
            <a:endParaRPr/>
          </a:p>
          <a:p xmlns:a="http://schemas.openxmlformats.org/drawingml/2006/main">
            <a:r>
              <a:t/>
            </a:r>
            <a:endParaRPr/>
          </a:p>
          <a:p xmlns:a="http://schemas.openxmlformats.org/drawingml/2006/main">
            <a:r>
              <a:t>[Sources]</a:t>
            </a:r>
            <a:endParaRPr/>
          </a:p>
          <a:p xmlns:a="http://schemas.openxmlformats.org/drawingml/2006/main">
            <a:r>
              <a:t>- data/FCS_Data.sldd</a:t>
            </a:r>
            <a:endParaRPr/>
          </a:p>
          <a:p xmlns:a="http://schemas.openxmlformats.org/drawingml/2006/main">
            <a:r>
              <a:t>- results/FCS_DataDictionary_Inventory.csv</a:t>
            </a:r>
            <a:endParaRPr/>
          </a:p>
          <a:p xmlns:a="http://schemas.openxmlformats.org/drawingml/2006/main">
            <a:r>
              <a:t>- results/FlightControlBus_Inventory.csv</a:t>
            </a:r>
          </a:p>
          <a:p xmlns:a="http://schemas.openxmlformats.org/drawingml/2006/main">
            <a:r>
              <a:t>- https://www.mathworks.com/help/simulink/ug/what-is-a-data-dictionary.html</a:t>
            </a:r>
          </a:p>
          <a:p xmlns:a="http://schemas.openxmlformats.org/drawingml/2006/main">
            <a:r>
              <a:t>- https://www.mathworks.com/help/simulink/slref/simulink.bus.html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Reviewability comes from explicit intent at each level: meaningful names, compact interfaces, visible units and types, controlled sample times, separated responsibilities, and hierarchy that a reviewer can summarize before opening detail. Apply the checklist to one model and ask where each claim is defined and verified.</a:t>
            </a:r>
          </a:p>
          <a:p xmlns:a="http://schemas.openxmlformats.org/drawingml/2006/main">
            <a:r>
              <a:t/>
            </a:r>
          </a:p>
          <a:p xmlns:a="http://schemas.openxmlformats.org/drawingml/2006/main">
            <a:r>
              <a:t>Caveats</a:t>
            </a:r>
            <a:endParaRPr/>
          </a:p>
          <a:p xmlns:a="http://schemas.openxmlformats.org/drawingml/2006/main">
            <a:r>
              <a:t>- Good diagram appearance supports review but does not replace requirements, objective checks, configuration control, or independent verification.</a:t>
            </a:r>
          </a:p>
          <a:p xmlns:a="http://schemas.openxmlformats.org/drawingml/2006/main">
            <a:r>
              <a:t/>
            </a:r>
          </a:p>
          <a:p xmlns:a="http://schemas.openxmlformats.org/drawingml/2006/main">
            <a:r>
              <a:t>[Sources]</a:t>
            </a:r>
            <a:endParaRPr/>
          </a:p>
          <a:p xmlns:a="http://schemas.openxmlformats.org/drawingml/2006/main">
            <a:r>
              <a:t>- screenshots/VisualManifest.csv</a:t>
            </a:r>
          </a:p>
          <a:p xmlns:a="http://schemas.openxmlformats.org/drawingml/2006/main">
            <a:r>
              <a:t>- https://www.mathworks.com/help/simulink/ug/interface-design.html</a:t>
            </a:r>
          </a:p>
          <a:p xmlns:a="http://schemas.openxmlformats.org/drawingml/2006/main">
            <a:r>
              <a:t>- https://www.nasa.gov/reference/systems-engineering-handbook/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Treat CI as an orchestrator around controlled engineering commands: initialize, update models, run simulations and assessments, validate outputs, and retain reports. A green stage says the configured steps passed on that agent and baseline; reviewers still examine warnings, scope, traceability, failures, and configuration.</a:t>
            </a:r>
          </a:p>
          <a:p xmlns:a="http://schemas.openxmlformats.org/drawingml/2006/main">
            <a:r>
              <a:t/>
            </a:r>
          </a:p>
          <a:p xmlns:a="http://schemas.openxmlformats.org/drawingml/2006/main">
            <a:r>
              <a:t>Caveats</a:t>
            </a:r>
            <a:endParaRPr/>
          </a:p>
          <a:p xmlns:a="http://schemas.openxmlformats.org/drawingml/2006/main">
            <a:r>
              <a:t>- No Jenkins pipeline was executed for this package.</a:t>
            </a:r>
          </a:p>
          <a:p xmlns:a="http://schemas.openxmlformats.org/drawingml/2006/main">
            <a:r>
              <a:t>- A passing pipeline is evidence input, not certification approval.</a:t>
            </a:r>
          </a:p>
          <a:p xmlns:a="http://schemas.openxmlformats.org/drawingml/2006/main">
            <a:r>
              <a:t/>
            </a:r>
            <a:endParaRPr/>
          </a:p>
          <a:p xmlns:a="http://schemas.openxmlformats.org/drawingml/2006/main">
            <a:r>
              <a:t>[Sources]</a:t>
            </a:r>
          </a:p>
          <a:p xmlns:a="http://schemas.openxmlformats.org/drawingml/2006/main">
            <a:r>
              <a:t>- results/validation_summary.txt</a:t>
            </a:r>
          </a:p>
          <a:p xmlns:a="http://schemas.openxmlformats.org/drawingml/2006/main">
            <a:r>
              <a:t>- scripts/validate_training_project.m</a:t>
            </a:r>
          </a:p>
          <a:p xmlns:a="http://schemas.openxmlformats.org/drawingml/2006/main">
            <a:r>
              <a:t>- https://www.mathworks.com/help/sltest/ug/output-results-for-continuous-integration-systems.html</a:t>
            </a:r>
          </a:p>
          <a:p xmlns:a="http://schemas.openxmlformats.org/drawingml/2006/main">
            <a:r>
              <a:t>- https://www.faa.gov/documentLibrary/media/Order/FAA_Order_8110.49A.pdf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Investigate failures from the first reproducible difference: confirm release, license, paths, dictionary, model baseline, and command; then separate update/compile diagnostics from simulation or assessment failures. Correct the root cause, add focused regression protection, rerun the affected scope, and finally rerun the controlled full set.</a:t>
            </a:r>
          </a:p>
          <a:p xmlns:a="http://schemas.openxmlformats.org/drawingml/2006/main">
            <a:r>
              <a:t/>
            </a:r>
          </a:p>
          <a:p xmlns:a="http://schemas.openxmlformats.org/drawingml/2006/main">
            <a:r>
              <a:t>Caveats</a:t>
            </a:r>
            <a:endParaRPr/>
          </a:p>
          <a:p xmlns:a="http://schemas.openxmlformats.org/drawingml/2006/main">
            <a:r>
              <a:t>- Do not suppress warnings or loosen tolerances merely to create a green status.</a:t>
            </a:r>
          </a:p>
          <a:p xmlns:a="http://schemas.openxmlformats.org/drawingml/2006/main">
            <a:r>
              <a:t>- The validator accepts only the documented Model-block license fallback warning.</a:t>
            </a:r>
          </a:p>
          <a:p xmlns:a="http://schemas.openxmlformats.org/drawingml/2006/main">
            <a:r>
              <a:t/>
            </a:r>
            <a:endParaRPr/>
          </a:p>
          <a:p xmlns:a="http://schemas.openxmlformats.org/drawingml/2006/main">
            <a:r>
              <a:t>[Sources]</a:t>
            </a:r>
          </a:p>
          <a:p xmlns:a="http://schemas.openxmlformats.org/drawingml/2006/main">
            <a:r>
              <a:t>- scripts/validate_training_project.m</a:t>
            </a:r>
          </a:p>
          <a:p xmlns:a="http://schemas.openxmlformats.org/drawingml/2006/main">
            <a:r>
              <a:t>- results/validation_summary.txt</a:t>
            </a:r>
          </a:p>
          <a:p xmlns:a="http://schemas.openxmlformats.org/drawingml/2006/main">
            <a:r>
              <a:t>- results/environment_inventory.txt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endParaRPr/>
          </a:p>
          <a:p xmlns:a="http://schemas.openxmlformats.org/drawingml/2006/main">
            <a:r>
              <a:t>Keep execution environments distinct: MIL executes the model; SIL executes generated source code; PIL executes generated object code on a target processor; HIL uses actual controller or target hardware, physical I/O, and a real-time plant environment; bench and system-integration tests add their own controlled contexts. Name the actual environment in every retained result.</a:t>
            </a:r>
          </a:p>
          <a:p xmlns:a="http://schemas.openxmlformats.org/drawingml/2006/main">
            <a:r>
              <a:t/>
            </a:r>
          </a:p>
          <a:p xmlns:a="http://schemas.openxmlformats.org/drawingml/2006/main">
            <a:r>
              <a:t>Caveats</a:t>
            </a:r>
            <a:endParaRPr/>
          </a:p>
          <a:p xmlns:a="http://schemas.openxmlformats.org/drawingml/2006/main">
            <a:r>
              <a:t>- Desktop Simulink model execution (MIL); not SIL, PIL, or HIL.</a:t>
            </a:r>
          </a:p>
          <a:p xmlns:a="http://schemas.openxmlformats.org/drawingml/2006/main">
            <a:r>
              <a:t>- PIL is an execution environment and is not automatically synonymous with unit testing.</a:t>
            </a:r>
          </a:p>
          <a:p xmlns:a="http://schemas.openxmlformats.org/drawingml/2006/main">
            <a:r>
              <a:t>- Only call testing HIL when actual controller or target hardware, a real-time plant environment, and physical I/O are used. This package performed no HIL.</a:t>
            </a:r>
            <a:endParaRPr/>
          </a:p>
          <a:p xmlns:a="http://schemas.openxmlformats.org/drawingml/2006/main">
            <a:r>
              <a:t/>
            </a:r>
          </a:p>
          <a:p xmlns:a="http://schemas.openxmlformats.org/drawingml/2006/main">
            <a:r>
              <a:t>[Sources]</a:t>
            </a:r>
          </a:p>
          <a:p xmlns:a="http://schemas.openxmlformats.org/drawingml/2006/main">
            <a:r>
              <a:t>- results/environment_inventory.txt</a:t>
            </a:r>
          </a:p>
          <a:p xmlns:a="http://schemas.openxmlformats.org/drawingml/2006/main">
            <a:r>
              <a:t>- https://www.mathworks.com/help/sltest/sil-pil-and-hil-tests.html</a:t>
            </a:r>
          </a:p>
          <a:p xmlns:a="http://schemas.openxmlformats.org/drawingml/2006/main">
            <a:r>
              <a:t>- https://www.mathworks.com/discovery/hardware-in-the-loop-hil.html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State the verified snapshot precisely: all eight delivered models completed Simulink update/compile; all 19 retained limiter assessments passed; and all 24 files in the validator's required exported-artifact list are present. The validation ran in MATLAB R2023b Update 8 on desktop Windows.</a:t>
            </a:r>
          </a:p>
          <a:p xmlns:a="http://schemas.openxmlformats.org/drawingml/2006/main">
            <a:r>
              <a:t/>
            </a:r>
          </a:p>
          <a:p xmlns:a="http://schemas.openxmlformats.org/drawingml/2006/main">
            <a:r>
              <a:t>Caveats</a:t>
            </a:r>
            <a:endParaRPr/>
          </a:p>
          <a:p xmlns:a="http://schemas.openxmlformats.org/drawingml/2006/main">
            <a:r>
              <a:t>- 8/8 models updated means SimulationCommand='update' succeeded; it does not mean eight files were edited.</a:t>
            </a:r>
            <a:endParaRPr/>
          </a:p>
          <a:p xmlns:a="http://schemas.openxmlformats.org/drawingml/2006/main">
            <a:r>
              <a:t>- ReferencedFlightControlArchitecture and PitchRateLimiter_Harness passed with the accepted student-license fallback from Accelerator to Normal mode.</a:t>
            </a:r>
            <a:endParaRPr/>
          </a:p>
          <a:p xmlns:a="http://schemas.openxmlformats.org/drawingml/2006/main">
            <a:r>
              <a:t>- 24/24 means one HTML report, 21 visual exports, and two SDI artifacts passed existence checks; it is not a count of every repository artifact.</a:t>
            </a:r>
            <a:endParaRPr/>
          </a:p>
          <a:p xmlns:a="http://schemas.openxmlformats.org/drawingml/2006/main">
            <a:r>
              <a:t/>
            </a:r>
            <a:endParaRPr/>
          </a:p>
          <a:p xmlns:a="http://schemas.openxmlformats.org/drawingml/2006/main">
            <a:r>
              <a:t>[Sources]</a:t>
            </a:r>
            <a:endParaRPr/>
          </a:p>
          <a:p xmlns:a="http://schemas.openxmlformats.org/drawingml/2006/main">
            <a:r>
              <a:t>- results/validation_summary.txt</a:t>
            </a:r>
            <a:endParaRPr/>
          </a:p>
          <a:p xmlns:a="http://schemas.openxmlformats.org/drawingml/2006/main">
            <a:r>
              <a:t>- scripts/validate_training_project.m</a:t>
            </a:r>
          </a:p>
          <a:p xmlns:a="http://schemas.openxmlformats.org/drawingml/2006/main">
            <a:r>
              <a:t>- results/PitchRateLimiter_TestResults.csv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The package demonstrates saved models, controlled data, model update, desktop simulations, a standalone limiter harness, executable MATLAB assessments, CSV/script/result traceability, retained reports, and a recoverable SDI view and session. It teaches how evidence connects without overstating what was performed.</a:t>
            </a:r>
          </a:p>
          <a:p xmlns:a="http://schemas.openxmlformats.org/drawingml/2006/main">
            <a:r>
              <a:t/>
            </a:r>
          </a:p>
          <a:p xmlns:a="http://schemas.openxmlformats.org/drawingml/2006/main">
            <a:r>
              <a:t>Caveats</a:t>
            </a:r>
            <a:endParaRPr/>
          </a:p>
          <a:p xmlns:a="http://schemas.openxmlformats.org/drawingml/2006/main">
            <a:r>
              <a:t>- It does not claim production aircraft data, an approved certification baseline, live Simulink Requirements links, a Simulink Test test-suite .mldatx, Embedded Coder output, generated-code verification, SIL, PIL, HIL, Jenkins execution, or certification approval.</a:t>
            </a:r>
          </a:p>
          <a:p xmlns:a="http://schemas.openxmlformats.org/drawingml/2006/main">
            <a:r>
              <a:t>- The two retained .mldatx files are SDI artifacts only.</a:t>
            </a:r>
          </a:p>
          <a:p xmlns:a="http://schemas.openxmlformats.org/drawingml/2006/main">
            <a:r>
              <a:t/>
            </a:r>
            <a:endParaRPr/>
          </a:p>
          <a:p xmlns:a="http://schemas.openxmlformats.org/drawingml/2006/main">
            <a:r>
              <a:t>[Sources]</a:t>
            </a:r>
          </a:p>
          <a:p xmlns:a="http://schemas.openxmlformats.org/drawingml/2006/main">
            <a:r>
              <a:t>- README.md</a:t>
            </a:r>
          </a:p>
          <a:p xmlns:a="http://schemas.openxmlformats.org/drawingml/2006/main">
            <a:r>
              <a:t>- results/environment_inventory.txt</a:t>
            </a:r>
          </a:p>
          <a:p xmlns:a="http://schemas.openxmlformats.org/drawingml/2006/main">
            <a:r>
              <a:t>- results/validation_summary.txt</a:t>
            </a:r>
          </a:p>
          <a:p xmlns:a="http://schemas.openxmlformats.org/drawingml/2006/main">
            <a:r>
              <a:t>- https://www.faa.gov/regulations_policies/advisory_circulars/index.cfm/go/document.information/documentID/1032046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a:t>
            </a:r>
          </a:p>
          <a:p xmlns:a="http://schemas.openxmlformats.org/drawingml/2006/main">
            <a:r>
              <a:t/>
            </a:r>
            <a:endParaRPr/>
          </a:p>
          <a:p xmlns:a="http://schemas.openxmlformats.org/drawingml/2006/main">
            <a:r>
              <a:t>Close with the working habit the learner should carry forward: choose the correct model role, make interfaces and assumptions visible, update before execution, retain objective results, and trace each claim through a controlled baseline. The next practical exercise is to reproduce one run, inspect one transient, and walk one requirement chain in both directions.</a:t>
            </a:r>
          </a:p>
          <a:p xmlns:a="http://schemas.openxmlformats.org/drawingml/2006/main">
            <a:r>
              <a:t/>
            </a:r>
          </a:p>
          <a:p xmlns:a="http://schemas.openxmlformats.org/drawingml/2006/main">
            <a:r>
              <a:t>Caveats</a:t>
            </a:r>
            <a:endParaRPr/>
          </a:p>
          <a:p xmlns:a="http://schemas.openxmlformats.org/drawingml/2006/main">
            <a:r>
              <a:t>- End on reproducible engineering practice, not on a claim of certification or HIL completion.</a:t>
            </a:r>
          </a:p>
          <a:p xmlns:a="http://schemas.openxmlformats.org/drawingml/2006/main">
            <a:r>
              <a:t/>
            </a:r>
          </a:p>
          <a:p xmlns:a="http://schemas.openxmlformats.org/drawingml/2006/main">
            <a:r>
              <a:t>[Sources]</a:t>
            </a:r>
            <a:endParaRPr/>
          </a:p>
          <a:p xmlns:a="http://schemas.openxmlformats.org/drawingml/2006/main">
            <a:r>
              <a:t>- README.md</a:t>
            </a:r>
          </a:p>
          <a:p xmlns:a="http://schemas.openxmlformats.org/drawingml/2006/main">
            <a:r>
              <a:t>- https://www.faa.gov/documentLibrary/media/Order/FAA_Order_8110.49A.pdf</a:t>
            </a:r>
          </a:p>
          <a:p xmlns:a="http://schemas.openxmlformats.org/drawingml/2006/main">
            <a:r>
              <a:t>- https://www.nasa.gov/reference/systems-engineering-handbook/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0fde252e9f64c2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2c5e2f1a798403e" /><Relationship Type="http://schemas.openxmlformats.org/officeDocument/2006/relationships/slideLayout" Target="/ppt/slideLayouts/slideLayout1.xml" Id="Rd2cbb28eb92b48e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2cbb28eb92b48e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d5b078826c640f7" /><Relationship Type="http://schemas.openxmlformats.org/officeDocument/2006/relationships/notesSlide" Target="/ppt/notesSlides/notesSlide1.xml" Id="Rcd19994c86fc4be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fbc73be39d64b0b" /><Relationship Type="http://schemas.openxmlformats.org/officeDocument/2006/relationships/notesSlide" Target="/ppt/notesSlides/notesSlide2.xml" Id="Racce782b978b431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96b64e74c8f4642" /><Relationship Type="http://schemas.openxmlformats.org/officeDocument/2006/relationships/notesSlide" Target="/ppt/notesSlides/notesSlide3.xml" Id="R85251321f3c0493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344f7845d55446c" /><Relationship Type="http://schemas.openxmlformats.org/officeDocument/2006/relationships/notesSlide" Target="/ppt/notesSlides/notesSlide4.xml" Id="Rac618a68408b476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c03ed63fd7745de" /><Relationship Type="http://schemas.openxmlformats.org/officeDocument/2006/relationships/notesSlide" Target="/ppt/notesSlides/notesSlide5.xml" Id="R34d32d310c9640b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83b284749064ae6" /><Relationship Type="http://schemas.openxmlformats.org/officeDocument/2006/relationships/image" Target="/ppt/media/image.jpeg" Id="R9aebbe0b096c4000" /><Relationship Type="http://schemas.openxmlformats.org/officeDocument/2006/relationships/notesSlide" Target="/ppt/notesSlides/notesSlide6.xml" Id="R4c5fa6671b8e4cd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3eb2cf847a94ac5" /><Relationship Type="http://schemas.openxmlformats.org/officeDocument/2006/relationships/image" Target="/ppt/media/image.png" Id="R3608d1db55184f1b" /><Relationship Type="http://schemas.openxmlformats.org/officeDocument/2006/relationships/notesSlide" Target="/ppt/notesSlides/notesSlide7.xml" Id="R2328e665619f4dc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0858f3bbd0a4045" /><Relationship Type="http://schemas.openxmlformats.org/officeDocument/2006/relationships/notesSlide" Target="/ppt/notesSlides/notesSlide8.xml" Id="R0961e382801b4a2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18a6824e3c74621" /><Relationship Type="http://schemas.openxmlformats.org/officeDocument/2006/relationships/image" Target="/ppt/media/image2.jpeg" Id="Rb223f1d686d142cd" /><Relationship Type="http://schemas.openxmlformats.org/officeDocument/2006/relationships/notesSlide" Target="/ppt/notesSlides/notesSlide9.xml" Id="Rdaaf83dce88f4a4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30d445466ee41ba" /><Relationship Type="http://schemas.openxmlformats.org/officeDocument/2006/relationships/image" Target="/ppt/media/image2.png" Id="Rdbcb65ad465743a5" /><Relationship Type="http://schemas.openxmlformats.org/officeDocument/2006/relationships/notesSlide" Target="/ppt/notesSlides/notesSlide10.xml" Id="Rd72c2e7413744a3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f7fc4392a964cb0" /><Relationship Type="http://schemas.openxmlformats.org/officeDocument/2006/relationships/image" Target="/ppt/media/image3.png" Id="R36e5387a663649e5" /><Relationship Type="http://schemas.openxmlformats.org/officeDocument/2006/relationships/notesSlide" Target="/ppt/notesSlides/notesSlide11.xml" Id="R7351edf152d14d5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45b50fad44d4e7c" /><Relationship Type="http://schemas.openxmlformats.org/officeDocument/2006/relationships/image" Target="/ppt/media/image4.png" Id="R746f8d73e4a34d57" /><Relationship Type="http://schemas.openxmlformats.org/officeDocument/2006/relationships/notesSlide" Target="/ppt/notesSlides/notesSlide12.xml" Id="R277b4fe73afc493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f0d16a97dc044e6" /><Relationship Type="http://schemas.openxmlformats.org/officeDocument/2006/relationships/image" Target="/ppt/media/image5.png" Id="R752b4fa1f15d4b75" /><Relationship Type="http://schemas.openxmlformats.org/officeDocument/2006/relationships/notesSlide" Target="/ppt/notesSlides/notesSlide13.xml" Id="R20a6ed469edd440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af41939aa9a499c" /><Relationship Type="http://schemas.openxmlformats.org/officeDocument/2006/relationships/image" Target="/ppt/media/image6.png" Id="R2ba517cb219f4574" /><Relationship Type="http://schemas.openxmlformats.org/officeDocument/2006/relationships/notesSlide" Target="/ppt/notesSlides/notesSlide14.xml" Id="Rec5ab0d15d01442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51addda1f944285" /><Relationship Type="http://schemas.openxmlformats.org/officeDocument/2006/relationships/image" Target="/ppt/media/image3.jpeg" Id="Rb3b8ba289bd04302" /><Relationship Type="http://schemas.openxmlformats.org/officeDocument/2006/relationships/notesSlide" Target="/ppt/notesSlides/notesSlide15.xml" Id="Re023f02760a2468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154c96d9eed4b83" /><Relationship Type="http://schemas.openxmlformats.org/officeDocument/2006/relationships/image" Target="/ppt/media/image4.jpeg" Id="R954846fee395437b" /><Relationship Type="http://schemas.openxmlformats.org/officeDocument/2006/relationships/notesSlide" Target="/ppt/notesSlides/notesSlide16.xml" Id="R5a500c4ec8c6466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e9996673b064c17" /><Relationship Type="http://schemas.openxmlformats.org/officeDocument/2006/relationships/image" Target="/ppt/media/image7.png" Id="Rf880434cc01c43a1" /><Relationship Type="http://schemas.openxmlformats.org/officeDocument/2006/relationships/notesSlide" Target="/ppt/notesSlides/notesSlide17.xml" Id="R5d4afc1a259149e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97623e577cfc4634" /><Relationship Type="http://schemas.openxmlformats.org/officeDocument/2006/relationships/image" Target="/ppt/media/image8.png" Id="R47e4eba786094a8a" /><Relationship Type="http://schemas.openxmlformats.org/officeDocument/2006/relationships/notesSlide" Target="/ppt/notesSlides/notesSlide18.xml" Id="Ree25b57e5c3f45c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10fb999713943ee" /><Relationship Type="http://schemas.openxmlformats.org/officeDocument/2006/relationships/image" Target="/ppt/media/image9.png" Id="Ra393f49d91de44c9" /><Relationship Type="http://schemas.openxmlformats.org/officeDocument/2006/relationships/notesSlide" Target="/ppt/notesSlides/notesSlide19.xml" Id="Rc48f2acd3de24d9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5502760c73124405" /><Relationship Type="http://schemas.openxmlformats.org/officeDocument/2006/relationships/image" Target="/ppt/media/image10.png" Id="R45c55bbad1aa49dc" /><Relationship Type="http://schemas.openxmlformats.org/officeDocument/2006/relationships/notesSlide" Target="/ppt/notesSlides/notesSlide20.xml" Id="R6a19e4ea28ed410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272dc4c0dfe04061" /><Relationship Type="http://schemas.openxmlformats.org/officeDocument/2006/relationships/image" Target="/ppt/media/image11.png" Id="Rd4a6f387a3314a80" /><Relationship Type="http://schemas.openxmlformats.org/officeDocument/2006/relationships/notesSlide" Target="/ppt/notesSlides/notesSlide21.xml" Id="R58c645c2373e4f6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f7f37c2d9443437d" /><Relationship Type="http://schemas.openxmlformats.org/officeDocument/2006/relationships/image" Target="/ppt/media/image12.png" Id="Rd2d94cdf7829476b" /><Relationship Type="http://schemas.openxmlformats.org/officeDocument/2006/relationships/notesSlide" Target="/ppt/notesSlides/notesSlide22.xml" Id="Rbbb157f2c4eb4e7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d6492c8b4e65466d" /><Relationship Type="http://schemas.openxmlformats.org/officeDocument/2006/relationships/image" Target="/ppt/media/image13.png" Id="R8ce4463dd76847d9" /><Relationship Type="http://schemas.openxmlformats.org/officeDocument/2006/relationships/notesSlide" Target="/ppt/notesSlides/notesSlide23.xml" Id="Rb120c11880fc428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331ba40996214b97" /><Relationship Type="http://schemas.openxmlformats.org/officeDocument/2006/relationships/image" Target="/ppt/media/image5.jpeg" Id="Rc94c172c936a461b" /><Relationship Type="http://schemas.openxmlformats.org/officeDocument/2006/relationships/notesSlide" Target="/ppt/notesSlides/notesSlide24.xml" Id="Ra5b2c39010154e2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47beee7f4ce54933" /><Relationship Type="http://schemas.openxmlformats.org/officeDocument/2006/relationships/notesSlide" Target="/ppt/notesSlides/notesSlide25.xml" Id="Ra23fff20fe1d4bb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0cb8d9e5c6dd444e" /><Relationship Type="http://schemas.openxmlformats.org/officeDocument/2006/relationships/notesSlide" Target="/ppt/notesSlides/notesSlide26.xml" Id="Rfb3fb189fbff443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a0c0c793d79f42d3" /><Relationship Type="http://schemas.openxmlformats.org/officeDocument/2006/relationships/notesSlide" Target="/ppt/notesSlides/notesSlide27.xml" Id="R24aa651294694c0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e200c280a3b541b2" /><Relationship Type="http://schemas.openxmlformats.org/officeDocument/2006/relationships/notesSlide" Target="/ppt/notesSlides/notesSlide28.xml" Id="R679a7dc5c2154568"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ca5d8dcd308747d5" /><Relationship Type="http://schemas.openxmlformats.org/officeDocument/2006/relationships/notesSlide" Target="/ppt/notesSlides/notesSlide29.xml" Id="R6e8476955038451f"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518a0ed058534cbf" /><Relationship Type="http://schemas.openxmlformats.org/officeDocument/2006/relationships/notesSlide" Target="/ppt/notesSlides/notesSlide30.xml" Id="Rf7684e5e915045bc"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c2088da184ed4cd7" /><Relationship Type="http://schemas.openxmlformats.org/officeDocument/2006/relationships/notesSlide" Target="/ppt/notesSlides/notesSlide31.xml" Id="R784ce5f65ad74964"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42b65a9cffca40a0" /><Relationship Type="http://schemas.openxmlformats.org/officeDocument/2006/relationships/notesSlide" Target="/ppt/notesSlides/notesSlide32.xml" Id="R5ea1deca190d4ffe"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91fee325ca9d4c20" /><Relationship Type="http://schemas.openxmlformats.org/officeDocument/2006/relationships/image" Target="/ppt/media/image14.png" Id="R20392b2b9e9541d6" /><Relationship Type="http://schemas.openxmlformats.org/officeDocument/2006/relationships/notesSlide" Target="/ppt/notesSlides/notesSlide33.xml" Id="Rd002ec5d911a41fb"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d3dd14d6e80d4cdc" /><Relationship Type="http://schemas.openxmlformats.org/officeDocument/2006/relationships/notesSlide" Target="/ppt/notesSlides/notesSlide34.xml" Id="R2b30a63a8e0d4b45"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49a6a94835184c6f" /><Relationship Type="http://schemas.openxmlformats.org/officeDocument/2006/relationships/notesSlide" Target="/ppt/notesSlides/notesSlide35.xml" Id="R5d8855f29085424c"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90e2f91bc05b4465" /><Relationship Type="http://schemas.openxmlformats.org/officeDocument/2006/relationships/notesSlide" Target="/ppt/notesSlides/notesSlide36.xml" Id="Rec40d1f68c764123"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ce3ac541824b4653" /><Relationship Type="http://schemas.openxmlformats.org/officeDocument/2006/relationships/notesSlide" Target="/ppt/notesSlides/notesSlide37.xml" Id="Rc405b28923e1424c"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407a30984f864391" /><Relationship Type="http://schemas.openxmlformats.org/officeDocument/2006/relationships/notesSlide" Target="/ppt/notesSlides/notesSlide38.xml" Id="R1752ef5ddbfc4df4"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f4658c2bc13246ca" /><Relationship Type="http://schemas.openxmlformats.org/officeDocument/2006/relationships/notesSlide" Target="/ppt/notesSlides/notesSlide39.xml" Id="Rbccc427b09b447eb"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c25e7b9f2f9345cd" /><Relationship Type="http://schemas.openxmlformats.org/officeDocument/2006/relationships/notesSlide" Target="/ppt/notesSlides/notesSlide40.xml" Id="R9e4ee1b43ac042fa"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b78180cba98e404c" /><Relationship Type="http://schemas.openxmlformats.org/officeDocument/2006/relationships/notesSlide" Target="/ppt/notesSlides/notesSlide41.xml" Id="R4592ac1a9b0a4a69"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49455fda79d44826" /><Relationship Type="http://schemas.openxmlformats.org/officeDocument/2006/relationships/notesSlide" Target="/ppt/notesSlides/notesSlide42.xml" Id="R671097543acc45e0" /></Relationships>
</file>

<file path=ppt/slides/slide1.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4" name="text-1">
            <a:extLst xmlns:a="http://schemas.openxmlformats.org/drawingml/2006/main">
              <a:ext uri="{FF2B5EF4-FFF2-40B4-BE49-F238E27FC236}">
                <a16:creationId xmlns:a16="http://schemas.microsoft.com/office/drawing/2014/main" id="{C8E11374-631D-4D3D-B028-9B856910503F}"/>
              </a:ext>
            </a:extLst>
          </p:cNvPr>
          <p:cNvSpPr>
            <a:spLocks xmlns:a="http://schemas.openxmlformats.org/drawingml/2006/main" noGrp="1"/>
          </p:cNvSpPr>
          <p:nvPr/>
        </p:nvSpPr>
        <p:spPr>
          <a:xfrm xmlns:a="http://schemas.openxmlformats.org/drawingml/2006/main">
            <a:off x="685800" y="6667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75" b="1" i="0">
                <a:solidFill>
                  <a:srgbClr val="70DCE5"/>
                </a:solidFill>
                <a:latin typeface="Aptos"/>
                <a:ea typeface="Aptos"/>
                <a:cs typeface="Aptos"/>
              </a:defRPr>
            </a:pPr>
            <a:r>
              <a:rPr sz="1275" b="1" i="0">
                <a:solidFill>
                  <a:srgbClr val="70DCE5"/>
                </a:solidFill>
                <a:latin typeface="Aptos"/>
                <a:ea typeface="Aptos"/>
                <a:cs typeface="Aptos"/>
              </a:rPr>
              <a:t>NEW AVIATION CONTROLS ENGINEER ONBOARDING</a:t>
            </a:r>
          </a:p>
        </p:txBody>
      </p:sp>
      <p:sp>
        <p:nvSpPr>
          <p:cNvPr id="2" name="text-2">
            <a:extLst xmlns:a="http://schemas.openxmlformats.org/drawingml/2006/main">
              <a:ext uri="{FF2B5EF4-FFF2-40B4-BE49-F238E27FC236}">
                <a16:creationId xmlns:a16="http://schemas.microsoft.com/office/drawing/2014/main" id="{E4983FC6-2522-412A-B743-95DFDE0F2D22}"/>
              </a:ext>
            </a:extLst>
          </p:cNvPr>
          <p:cNvSpPr>
            <a:spLocks xmlns:a="http://schemas.openxmlformats.org/drawingml/2006/main" noGrp="1"/>
          </p:cNvSpPr>
          <p:nvPr/>
        </p:nvSpPr>
        <p:spPr>
          <a:xfrm xmlns:a="http://schemas.openxmlformats.org/drawingml/2006/main">
            <a:off x="685800" y="1200150"/>
            <a:ext cx="8001000" cy="1676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88000"/>
              </a:lnSpc>
              <a:buNone/>
              <a:defRPr sz="4950" b="1" i="0">
                <a:solidFill>
                  <a:srgbClr val="FFFFFF"/>
                </a:solidFill>
                <a:latin typeface="Aptos"/>
                <a:ea typeface="Aptos"/>
                <a:cs typeface="Aptos"/>
              </a:defRPr>
            </a:pPr>
            <a:r>
              <a:rPr sz="4950" b="1" i="0">
                <a:solidFill>
                  <a:srgbClr val="FFFFFF"/>
                </a:solidFill>
                <a:latin typeface="Aptos"/>
                <a:ea typeface="Aptos"/>
                <a:cs typeface="Aptos"/>
              </a:rPr>
              <a:t>Simulink in the Aerospace Controls Lifecycle</a:t>
            </a:r>
          </a:p>
        </p:txBody>
      </p:sp>
      <p:sp>
        <p:nvSpPr>
          <p:cNvPr id="3" name="text-3">
            <a:extLst xmlns:a="http://schemas.openxmlformats.org/drawingml/2006/main">
              <a:ext uri="{FF2B5EF4-FFF2-40B4-BE49-F238E27FC236}">
                <a16:creationId xmlns:a16="http://schemas.microsoft.com/office/drawing/2014/main" id="{F76AF1FC-DEAB-4387-BC0D-D899BA9F5E84}"/>
              </a:ext>
            </a:extLst>
          </p:cNvPr>
          <p:cNvSpPr>
            <a:spLocks xmlns:a="http://schemas.openxmlformats.org/drawingml/2006/main" noGrp="1"/>
          </p:cNvSpPr>
          <p:nvPr/>
        </p:nvSpPr>
        <p:spPr>
          <a:xfrm xmlns:a="http://schemas.openxmlformats.org/drawingml/2006/main">
            <a:off x="723900" y="3524250"/>
            <a:ext cx="8096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10000"/>
              </a:lnSpc>
              <a:buNone/>
              <a:defRPr sz="1800" b="0" i="0">
                <a:solidFill>
                  <a:srgbClr val="D8E8F1"/>
                </a:solidFill>
                <a:latin typeface="Aptos"/>
                <a:ea typeface="Aptos"/>
                <a:cs typeface="Aptos"/>
              </a:defRPr>
            </a:pPr>
            <a:r>
              <a:rPr sz="1800" b="0" i="0">
                <a:solidFill>
                  <a:srgbClr val="D8E8F1"/>
                </a:solidFill>
                <a:latin typeface="Aptos"/>
                <a:ea typeface="Aptos"/>
                <a:cs typeface="Aptos"/>
              </a:rPr>
              <a:t>First-session workflow • model hierarchy • desktop MIL evidence • assurance context</a:t>
            </a:r>
          </a:p>
        </p:txBody>
      </p:sp>
      <p:sp>
        <p:nvSpPr>
          <p:cNvPr id="4" name="box-4">
            <a:extLst xmlns:a="http://schemas.openxmlformats.org/drawingml/2006/main">
              <a:ext uri="{FF2B5EF4-FFF2-40B4-BE49-F238E27FC236}">
                <a16:creationId xmlns:a16="http://schemas.microsoft.com/office/drawing/2014/main" id="{1F87C1DC-8DA3-43EC-B54E-F253DBF33622}"/>
              </a:ext>
            </a:extLst>
          </p:cNvPr>
          <p:cNvSpPr>
            <a:spLocks xmlns:a="http://schemas.openxmlformats.org/drawingml/2006/main" noGrp="1"/>
          </p:cNvSpPr>
          <p:nvPr/>
        </p:nvSpPr>
        <p:spPr>
          <a:xfrm xmlns:a="http://schemas.openxmlformats.org/drawingml/2006/main">
            <a:off x="723900" y="4953000"/>
            <a:ext cx="1809750" cy="609600"/>
          </a:xfrm>
          <a:prstGeom xmlns:a="http://schemas.openxmlformats.org/drawingml/2006/main" prst="roundRect">
            <a:avLst>
              <a:gd name="adj" fmla="val 12500"/>
            </a:avLst>
          </a:prstGeom>
          <a:solidFill xmlns:a="http://schemas.openxmlformats.org/drawingml/2006/main">
            <a:srgbClr val="0B243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REQUIRE</a:t>
            </a:r>
          </a:p>
        </p:txBody>
      </p:sp>
      <p:sp>
        <p:nvSpPr>
          <p:cNvPr id="5" name="box-5">
            <a:extLst xmlns:a="http://schemas.openxmlformats.org/drawingml/2006/main">
              <a:ext uri="{FF2B5EF4-FFF2-40B4-BE49-F238E27FC236}">
                <a16:creationId xmlns:a16="http://schemas.microsoft.com/office/drawing/2014/main" id="{600EF8B5-0D0A-4CD2-A6F4-416AB6353FDE}"/>
              </a:ext>
            </a:extLst>
          </p:cNvPr>
          <p:cNvSpPr>
            <a:spLocks xmlns:a="http://schemas.openxmlformats.org/drawingml/2006/main" noGrp="1"/>
          </p:cNvSpPr>
          <p:nvPr/>
        </p:nvSpPr>
        <p:spPr>
          <a:xfrm xmlns:a="http://schemas.openxmlformats.org/drawingml/2006/main">
            <a:off x="3143250" y="4953000"/>
            <a:ext cx="1809750" cy="609600"/>
          </a:xfrm>
          <a:prstGeom xmlns:a="http://schemas.openxmlformats.org/drawingml/2006/main" prst="roundRect">
            <a:avLst>
              <a:gd name="adj" fmla="val 12500"/>
            </a:avLst>
          </a:prstGeom>
          <a:solidFill xmlns:a="http://schemas.openxmlformats.org/drawingml/2006/main">
            <a:srgbClr val="0B2438"/>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MODEL</a:t>
            </a:r>
          </a:p>
        </p:txBody>
      </p:sp>
      <p:sp>
        <p:nvSpPr>
          <p:cNvPr id="6" name="box-6">
            <a:extLst xmlns:a="http://schemas.openxmlformats.org/drawingml/2006/main">
              <a:ext uri="{FF2B5EF4-FFF2-40B4-BE49-F238E27FC236}">
                <a16:creationId xmlns:a16="http://schemas.microsoft.com/office/drawing/2014/main" id="{9F06AD17-EC65-4DFF-88F9-5359E4460EBA}"/>
              </a:ext>
            </a:extLst>
          </p:cNvPr>
          <p:cNvSpPr>
            <a:spLocks xmlns:a="http://schemas.openxmlformats.org/drawingml/2006/main" noGrp="1"/>
          </p:cNvSpPr>
          <p:nvPr/>
        </p:nvSpPr>
        <p:spPr>
          <a:xfrm xmlns:a="http://schemas.openxmlformats.org/drawingml/2006/main">
            <a:off x="5562600" y="4953000"/>
            <a:ext cx="1809750" cy="609600"/>
          </a:xfrm>
          <a:prstGeom xmlns:a="http://schemas.openxmlformats.org/drawingml/2006/main" prst="roundRect">
            <a:avLst>
              <a:gd name="adj" fmla="val 12500"/>
            </a:avLst>
          </a:prstGeom>
          <a:solidFill xmlns:a="http://schemas.openxmlformats.org/drawingml/2006/main">
            <a:srgbClr val="0B2438"/>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VERIFY</a:t>
            </a:r>
          </a:p>
        </p:txBody>
      </p:sp>
      <p:sp>
        <p:nvSpPr>
          <p:cNvPr id="7" name="box-7">
            <a:extLst xmlns:a="http://schemas.openxmlformats.org/drawingml/2006/main">
              <a:ext uri="{FF2B5EF4-FFF2-40B4-BE49-F238E27FC236}">
                <a16:creationId xmlns:a16="http://schemas.microsoft.com/office/drawing/2014/main" id="{C593C195-FB41-4899-8987-677A9884ED12}"/>
              </a:ext>
            </a:extLst>
          </p:cNvPr>
          <p:cNvSpPr>
            <a:spLocks xmlns:a="http://schemas.openxmlformats.org/drawingml/2006/main" noGrp="1"/>
          </p:cNvSpPr>
          <p:nvPr/>
        </p:nvSpPr>
        <p:spPr>
          <a:xfrm xmlns:a="http://schemas.openxmlformats.org/drawingml/2006/main">
            <a:off x="7981950" y="4953000"/>
            <a:ext cx="1809750" cy="609600"/>
          </a:xfrm>
          <a:prstGeom xmlns:a="http://schemas.openxmlformats.org/drawingml/2006/main" prst="roundRect">
            <a:avLst>
              <a:gd name="adj" fmla="val 12500"/>
            </a:avLst>
          </a:prstGeom>
          <a:solidFill xmlns:a="http://schemas.openxmlformats.org/drawingml/2006/main">
            <a:srgbClr val="0B2438"/>
          </a:solidFill>
          <a:ln xmlns:a="http://schemas.openxmlformats.org/drawingml/2006/main" w="19050">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EVIDENCE</a:t>
            </a:r>
          </a:p>
        </p:txBody>
      </p:sp>
      <p:cxnSp>
        <p:nvCxnSpPr>
          <p:cNvPr id="91" name="Straight Arrow Connector 20"/>
          <p:cNvCxnSpPr>
            <a:stCxn xmlns:a="http://schemas.openxmlformats.org/drawingml/2006/main" id="4" idx="3"/>
            <a:endCxn xmlns:a="http://schemas.openxmlformats.org/drawingml/2006/main" id="5" idx="1"/>
          </p:cNvCxnSpPr>
          <p:nvPr/>
        </p:nvCxnSpPr>
        <p:spPr>
          <a:xfrm xmlns:a="http://schemas.openxmlformats.org/drawingml/2006/main">
            <a:off x="2533650" y="5257800"/>
            <a:ext cx="609600" cy="0"/>
          </a:xfrm>
          <a:prstGeom xmlns:a="http://schemas.openxmlformats.org/drawingml/2006/main" prst="straightConnector1">
            <a:avLst/>
          </a:prstGeom>
          <a:ln xmlns:a="http://schemas.openxmlformats.org/drawingml/2006/main" w="28575">
            <a:solidFill>
              <a:srgbClr val="4D7892"/>
            </a:solidFill>
            <a:prstDash val="solid"/>
            <a:tailEnd type="triangle" w="sm" len="sm"/>
          </a:ln>
        </p:spPr>
      </p:cxnSp>
      <p:cxnSp>
        <p:nvCxnSpPr>
          <p:cNvPr id="92" name="Straight Arrow Connector 21"/>
          <p:cNvCxnSpPr>
            <a:stCxn xmlns:a="http://schemas.openxmlformats.org/drawingml/2006/main" id="5" idx="3"/>
            <a:endCxn xmlns:a="http://schemas.openxmlformats.org/drawingml/2006/main" id="6" idx="1"/>
          </p:cNvCxnSpPr>
          <p:nvPr/>
        </p:nvCxnSpPr>
        <p:spPr>
          <a:xfrm xmlns:a="http://schemas.openxmlformats.org/drawingml/2006/main">
            <a:off x="4953000" y="5257800"/>
            <a:ext cx="609600" cy="0"/>
          </a:xfrm>
          <a:prstGeom xmlns:a="http://schemas.openxmlformats.org/drawingml/2006/main" prst="straightConnector1">
            <a:avLst/>
          </a:prstGeom>
          <a:ln xmlns:a="http://schemas.openxmlformats.org/drawingml/2006/main" w="28575">
            <a:solidFill>
              <a:srgbClr val="4D7892"/>
            </a:solidFill>
            <a:prstDash val="solid"/>
            <a:tailEnd type="triangle" w="sm" len="sm"/>
          </a:ln>
        </p:spPr>
      </p:cxnSp>
      <p:cxnSp>
        <p:nvCxnSpPr>
          <p:cNvPr id="93" name="Straight Arrow Connector 22"/>
          <p:cNvCxnSpPr>
            <a:stCxn xmlns:a="http://schemas.openxmlformats.org/drawingml/2006/main" id="6" idx="3"/>
            <a:endCxn xmlns:a="http://schemas.openxmlformats.org/drawingml/2006/main" id="7" idx="1"/>
          </p:cNvCxnSpPr>
          <p:nvPr/>
        </p:nvCxnSpPr>
        <p:spPr>
          <a:xfrm xmlns:a="http://schemas.openxmlformats.org/drawingml/2006/main">
            <a:off x="7372350" y="5257800"/>
            <a:ext cx="609600" cy="0"/>
          </a:xfrm>
          <a:prstGeom xmlns:a="http://schemas.openxmlformats.org/drawingml/2006/main" prst="straightConnector1">
            <a:avLst/>
          </a:prstGeom>
          <a:ln xmlns:a="http://schemas.openxmlformats.org/drawingml/2006/main" w="28575">
            <a:solidFill>
              <a:srgbClr val="4D7892"/>
            </a:solidFill>
            <a:prstDash val="solid"/>
            <a:tailEnd type="triangle" w="sm" len="sm"/>
          </a:ln>
        </p:spPr>
      </p:cxnSp>
      <p:sp>
        <p:nvSpPr>
          <p:cNvPr id="11" name="text-8">
            <a:extLst xmlns:a="http://schemas.openxmlformats.org/drawingml/2006/main">
              <a:ext uri="{FF2B5EF4-FFF2-40B4-BE49-F238E27FC236}">
                <a16:creationId xmlns:a16="http://schemas.microsoft.com/office/drawing/2014/main" id="{1AF2C06B-1BA7-4AC2-8717-995E6F411D6B}"/>
              </a:ext>
            </a:extLst>
          </p:cNvPr>
          <p:cNvSpPr>
            <a:spLocks xmlns:a="http://schemas.openxmlformats.org/drawingml/2006/main" noGrp="1"/>
          </p:cNvSpPr>
          <p:nvPr/>
        </p:nvSpPr>
        <p:spPr>
          <a:xfrm xmlns:a="http://schemas.openxmlformats.org/drawingml/2006/main">
            <a:off x="723900" y="58102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7EA4BC"/>
                </a:solidFill>
                <a:latin typeface="Aptos"/>
                <a:ea typeface="Aptos"/>
                <a:cs typeface="Aptos"/>
              </a:defRPr>
            </a:pPr>
            <a:r>
              <a:rPr sz="1200" b="1" i="0">
                <a:solidFill>
                  <a:srgbClr val="7EA4BC"/>
                </a:solidFill>
                <a:latin typeface="Aptos"/>
                <a:ea typeface="Aptos"/>
                <a:cs typeface="Aptos"/>
              </a:rPr>
              <a:t>FLIGHT-CONTROL SOFTWARE IS AN UNBROKEN CHAIN</a:t>
            </a:r>
          </a:p>
        </p:txBody>
      </p:sp>
      <p:sp>
        <p:nvSpPr>
          <p:cNvPr id="12" name="text-9">
            <a:extLst xmlns:a="http://schemas.openxmlformats.org/drawingml/2006/main">
              <a:ext uri="{FF2B5EF4-FFF2-40B4-BE49-F238E27FC236}">
                <a16:creationId xmlns:a16="http://schemas.microsoft.com/office/drawing/2014/main" id="{45E35177-3C67-45EF-8016-85900502A313}"/>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13" name="text-10">
            <a:extLst xmlns:a="http://schemas.openxmlformats.org/drawingml/2006/main">
              <a:ext uri="{FF2B5EF4-FFF2-40B4-BE49-F238E27FC236}">
                <a16:creationId xmlns:a16="http://schemas.microsoft.com/office/drawing/2014/main" id="{1D2BB9AF-7F6B-4E24-A93F-47AEB05E91D2}"/>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01</a:t>
            </a:r>
          </a:p>
        </p:txBody>
      </p:sp>
    </p:spTree>
    <p:extLst>
      <p:ext uri="{BB962C8B-B14F-4D97-AF65-F5344CB8AC3E}">
        <p14:creationId xmlns:p14="http://schemas.microsoft.com/office/powerpoint/2010/main" val="230896597"/>
      </p:ext>
    </p:extLst>
  </p:cSld>
</p:sld>
</file>

<file path=ppt/slides/slide2.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7" name="section-10">
            <a:extLst xmlns:a="http://schemas.openxmlformats.org/drawingml/2006/main">
              <a:ext uri="{FF2B5EF4-FFF2-40B4-BE49-F238E27FC236}">
                <a16:creationId xmlns:a16="http://schemas.microsoft.com/office/drawing/2014/main" id="{5DF16D04-B00A-4E4C-A095-ED89E1AEAFB8}"/>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ORIENTATION</a:t>
            </a:r>
          </a:p>
        </p:txBody>
      </p:sp>
      <p:sp>
        <p:nvSpPr>
          <p:cNvPr id="2" name="title-10">
            <a:extLst xmlns:a="http://schemas.openxmlformats.org/drawingml/2006/main">
              <a:ext uri="{FF2B5EF4-FFF2-40B4-BE49-F238E27FC236}">
                <a16:creationId xmlns:a16="http://schemas.microsoft.com/office/drawing/2014/main" id="{B0269A63-E7BA-432F-9B37-2EE87D7A0950}"/>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The executable model is the engineering hub</a:t>
            </a:r>
          </a:p>
        </p:txBody>
      </p:sp>
      <p:sp>
        <p:nvSpPr>
          <p:cNvPr id="3" name="line-11">
            <a:extLst xmlns:a="http://schemas.openxmlformats.org/drawingml/2006/main">
              <a:ext uri="{FF2B5EF4-FFF2-40B4-BE49-F238E27FC236}">
                <a16:creationId xmlns:a16="http://schemas.microsoft.com/office/drawing/2014/main" id="{FA9754DA-A4FF-4EBB-9B82-FEC296828A62}"/>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2">
            <a:extLst xmlns:a="http://schemas.openxmlformats.org/drawingml/2006/main">
              <a:ext uri="{FF2B5EF4-FFF2-40B4-BE49-F238E27FC236}">
                <a16:creationId xmlns:a16="http://schemas.microsoft.com/office/drawing/2014/main" id="{ABB038EF-4798-4C15-ACE8-5A861A9CF34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3">
            <a:extLst xmlns:a="http://schemas.openxmlformats.org/drawingml/2006/main">
              <a:ext uri="{FF2B5EF4-FFF2-40B4-BE49-F238E27FC236}">
                <a16:creationId xmlns:a16="http://schemas.microsoft.com/office/drawing/2014/main" id="{1D45823F-3226-4E7D-B7F4-CFD0660FB1D5}"/>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02</a:t>
            </a:r>
          </a:p>
        </p:txBody>
      </p:sp>
      <p:sp>
        <p:nvSpPr>
          <p:cNvPr id="6" name="box-14">
            <a:extLst xmlns:a="http://schemas.openxmlformats.org/drawingml/2006/main">
              <a:ext uri="{FF2B5EF4-FFF2-40B4-BE49-F238E27FC236}">
                <a16:creationId xmlns:a16="http://schemas.microsoft.com/office/drawing/2014/main" id="{21A273C8-888A-48CE-A9A5-B4ED9A5C2C6A}"/>
              </a:ext>
            </a:extLst>
          </p:cNvPr>
          <p:cNvSpPr>
            <a:spLocks xmlns:a="http://schemas.openxmlformats.org/drawingml/2006/main" noGrp="1"/>
          </p:cNvSpPr>
          <p:nvPr/>
        </p:nvSpPr>
        <p:spPr>
          <a:xfrm xmlns:a="http://schemas.openxmlformats.org/drawingml/2006/main">
            <a:off x="4762500" y="2476500"/>
            <a:ext cx="2667000" cy="1238250"/>
          </a:xfrm>
          <a:prstGeom xmlns:a="http://schemas.openxmlformats.org/drawingml/2006/main" prst="roundRect">
            <a:avLst>
              <a:gd name="adj" fmla="val 50000"/>
            </a:avLst>
          </a:prstGeom>
          <a:solidFill xmlns:a="http://schemas.openxmlformats.org/drawingml/2006/main">
            <a:srgbClr val="0B2438"/>
          </a:solidFill>
          <a:ln xmlns:a="http://schemas.openxmlformats.org/drawingml/2006/main" w="2857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2325" b="1">
                <a:solidFill>
                  <a:srgbClr val="FFFFFF"/>
                </a:solidFill>
                <a:latin typeface="Aptos"/>
                <a:ea typeface="Aptos"/>
                <a:cs typeface="Aptos"/>
              </a:defRPr>
            </a:pPr>
            <a:r>
              <a:rPr sz="2325" b="1">
                <a:solidFill>
                  <a:srgbClr val="FFFFFF"/>
                </a:solidFill>
                <a:latin typeface="Aptos"/>
                <a:ea typeface="Aptos"/>
                <a:cs typeface="Aptos"/>
              </a:rPr>
              <a:t>EXECUTABLE</a:t>
            </a:r>
          </a:p>
          <a:p xmlns:a="http://schemas.openxmlformats.org/drawingml/2006/main">
            <a:pPr algn="ctr">
              <a:lnSpc>
                <a:spcPct val="100000"/>
              </a:lnSpc>
              <a:buNone/>
              <a:defRPr sz="2325" b="1">
                <a:solidFill>
                  <a:srgbClr val="FFFFFF"/>
                </a:solidFill>
                <a:latin typeface="Aptos"/>
                <a:ea typeface="Aptos"/>
                <a:cs typeface="Aptos"/>
              </a:defRPr>
            </a:pPr>
            <a:r>
              <a:rPr sz="2325" b="1">
                <a:solidFill>
                  <a:srgbClr val="FFFFFF"/>
                </a:solidFill>
                <a:latin typeface="Aptos"/>
                <a:ea typeface="Aptos"/>
                <a:cs typeface="Aptos"/>
              </a:rPr>
              <a:t>MODEL</a:t>
            </a:r>
          </a:p>
        </p:txBody>
      </p:sp>
      <p:sp>
        <p:nvSpPr>
          <p:cNvPr id="7" name="box-15">
            <a:extLst xmlns:a="http://schemas.openxmlformats.org/drawingml/2006/main">
              <a:ext uri="{FF2B5EF4-FFF2-40B4-BE49-F238E27FC236}">
                <a16:creationId xmlns:a16="http://schemas.microsoft.com/office/drawing/2014/main" id="{A0AA67E0-AC58-4ED7-ADFD-8450A9F2E2D5}"/>
              </a:ext>
            </a:extLst>
          </p:cNvPr>
          <p:cNvSpPr>
            <a:spLocks xmlns:a="http://schemas.openxmlformats.org/drawingml/2006/main" noGrp="1"/>
          </p:cNvSpPr>
          <p:nvPr/>
        </p:nvSpPr>
        <p:spPr>
          <a:xfrm xmlns:a="http://schemas.openxmlformats.org/drawingml/2006/main">
            <a:off x="857250" y="1905000"/>
            <a:ext cx="2095500" cy="685800"/>
          </a:xfrm>
          <a:prstGeom xmlns:a="http://schemas.openxmlformats.org/drawingml/2006/main" prst="roundRect">
            <a:avLst>
              <a:gd name="adj" fmla="val 13889"/>
            </a:avLst>
          </a:prstGeom>
          <a:solidFill xmlns:a="http://schemas.openxmlformats.org/drawingml/2006/main">
            <a:srgbClr val="E2ECFF"/>
          </a:solidFill>
          <a:ln xmlns:a="http://schemas.openxmlformats.org/drawingml/2006/main" w="9525">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0B1F33"/>
                </a:solidFill>
                <a:latin typeface="Aptos"/>
                <a:ea typeface="Aptos"/>
                <a:cs typeface="Aptos"/>
              </a:defRPr>
            </a:pPr>
            <a:r>
              <a:rPr sz="1650" b="1">
                <a:solidFill>
                  <a:srgbClr val="0B1F33"/>
                </a:solidFill>
                <a:latin typeface="Aptos"/>
                <a:ea typeface="Aptos"/>
                <a:cs typeface="Aptos"/>
              </a:rPr>
              <a:t>Requirements</a:t>
            </a:r>
          </a:p>
        </p:txBody>
      </p:sp>
      <p:sp>
        <p:nvSpPr>
          <p:cNvPr id="8" name="box-16">
            <a:extLst xmlns:a="http://schemas.openxmlformats.org/drawingml/2006/main">
              <a:ext uri="{FF2B5EF4-FFF2-40B4-BE49-F238E27FC236}">
                <a16:creationId xmlns:a16="http://schemas.microsoft.com/office/drawing/2014/main" id="{FB75FED5-0AED-449C-8836-90BE963E8251}"/>
              </a:ext>
            </a:extLst>
          </p:cNvPr>
          <p:cNvSpPr>
            <a:spLocks xmlns:a="http://schemas.openxmlformats.org/drawingml/2006/main" noGrp="1"/>
          </p:cNvSpPr>
          <p:nvPr/>
        </p:nvSpPr>
        <p:spPr>
          <a:xfrm xmlns:a="http://schemas.openxmlformats.org/drawingml/2006/main">
            <a:off x="857250" y="4000500"/>
            <a:ext cx="2095500" cy="685800"/>
          </a:xfrm>
          <a:prstGeom xmlns:a="http://schemas.openxmlformats.org/drawingml/2006/main" prst="roundRect">
            <a:avLst>
              <a:gd name="adj" fmla="val 13889"/>
            </a:avLst>
          </a:prstGeom>
          <a:solidFill xmlns:a="http://schemas.openxmlformats.org/drawingml/2006/main">
            <a:srgbClr val="DFF6F8"/>
          </a:solidFill>
          <a:ln xmlns:a="http://schemas.openxmlformats.org/drawingml/2006/main" w="952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0B1F33"/>
                </a:solidFill>
                <a:latin typeface="Aptos"/>
                <a:ea typeface="Aptos"/>
                <a:cs typeface="Aptos"/>
              </a:defRPr>
            </a:pPr>
            <a:r>
              <a:rPr sz="1650" b="1">
                <a:solidFill>
                  <a:srgbClr val="0B1F33"/>
                </a:solidFill>
                <a:latin typeface="Aptos"/>
                <a:ea typeface="Aptos"/>
                <a:cs typeface="Aptos"/>
              </a:rPr>
              <a:t>Control design</a:t>
            </a:r>
          </a:p>
        </p:txBody>
      </p:sp>
      <p:sp>
        <p:nvSpPr>
          <p:cNvPr id="9" name="box-17">
            <a:extLst xmlns:a="http://schemas.openxmlformats.org/drawingml/2006/main">
              <a:ext uri="{FF2B5EF4-FFF2-40B4-BE49-F238E27FC236}">
                <a16:creationId xmlns:a16="http://schemas.microsoft.com/office/drawing/2014/main" id="{419A118D-61E6-4047-9750-05FEB30D3348}"/>
              </a:ext>
            </a:extLst>
          </p:cNvPr>
          <p:cNvSpPr>
            <a:spLocks xmlns:a="http://schemas.openxmlformats.org/drawingml/2006/main" noGrp="1"/>
          </p:cNvSpPr>
          <p:nvPr/>
        </p:nvSpPr>
        <p:spPr>
          <a:xfrm xmlns:a="http://schemas.openxmlformats.org/drawingml/2006/main">
            <a:off x="9239250" y="1905000"/>
            <a:ext cx="2095500" cy="685800"/>
          </a:xfrm>
          <a:prstGeom xmlns:a="http://schemas.openxmlformats.org/drawingml/2006/main" prst="roundRect">
            <a:avLst>
              <a:gd name="adj" fmla="val 13889"/>
            </a:avLst>
          </a:prstGeom>
          <a:solidFill xmlns:a="http://schemas.openxmlformats.org/drawingml/2006/main">
            <a:srgbClr val="DFF6F8"/>
          </a:solidFill>
          <a:ln xmlns:a="http://schemas.openxmlformats.org/drawingml/2006/main" w="952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0B1F33"/>
                </a:solidFill>
                <a:latin typeface="Aptos"/>
                <a:ea typeface="Aptos"/>
                <a:cs typeface="Aptos"/>
              </a:defRPr>
            </a:pPr>
            <a:r>
              <a:rPr sz="1650" b="1">
                <a:solidFill>
                  <a:srgbClr val="0B1F33"/>
                </a:solidFill>
                <a:latin typeface="Aptos"/>
                <a:ea typeface="Aptos"/>
                <a:cs typeface="Aptos"/>
              </a:rPr>
              <a:t>Simulation</a:t>
            </a:r>
          </a:p>
        </p:txBody>
      </p:sp>
      <p:sp>
        <p:nvSpPr>
          <p:cNvPr id="10" name="box-18">
            <a:extLst xmlns:a="http://schemas.openxmlformats.org/drawingml/2006/main">
              <a:ext uri="{FF2B5EF4-FFF2-40B4-BE49-F238E27FC236}">
                <a16:creationId xmlns:a16="http://schemas.microsoft.com/office/drawing/2014/main" id="{6AF0C6FC-D9B4-4732-9690-440AFCA5B73E}"/>
              </a:ext>
            </a:extLst>
          </p:cNvPr>
          <p:cNvSpPr>
            <a:spLocks xmlns:a="http://schemas.openxmlformats.org/drawingml/2006/main" noGrp="1"/>
          </p:cNvSpPr>
          <p:nvPr/>
        </p:nvSpPr>
        <p:spPr>
          <a:xfrm xmlns:a="http://schemas.openxmlformats.org/drawingml/2006/main">
            <a:off x="9239250" y="4000500"/>
            <a:ext cx="2095500" cy="685800"/>
          </a:xfrm>
          <a:prstGeom xmlns:a="http://schemas.openxmlformats.org/drawingml/2006/main" prst="roundRect">
            <a:avLst>
              <a:gd name="adj" fmla="val 13889"/>
            </a:avLst>
          </a:prstGeom>
          <a:solidFill xmlns:a="http://schemas.openxmlformats.org/drawingml/2006/main">
            <a:srgbClr val="FFF0D7"/>
          </a:solidFill>
          <a:ln xmlns:a="http://schemas.openxmlformats.org/drawingml/2006/main" w="9525">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0B1F33"/>
                </a:solidFill>
                <a:latin typeface="Aptos"/>
                <a:ea typeface="Aptos"/>
                <a:cs typeface="Aptos"/>
              </a:defRPr>
            </a:pPr>
            <a:r>
              <a:rPr sz="1650" b="1">
                <a:solidFill>
                  <a:srgbClr val="0B1F33"/>
                </a:solidFill>
                <a:latin typeface="Aptos"/>
                <a:ea typeface="Aptos"/>
                <a:cs typeface="Aptos"/>
              </a:rPr>
              <a:t>Verification</a:t>
            </a:r>
          </a:p>
        </p:txBody>
      </p:sp>
      <p:cxnSp>
        <p:nvCxnSpPr>
          <p:cNvPr id="125" name="Straight Arrow Connector 26"/>
          <p:cNvCxnSpPr>
            <a:stCxn xmlns:a="http://schemas.openxmlformats.org/drawingml/2006/main" id="7" idx="3"/>
            <a:endCxn xmlns:a="http://schemas.openxmlformats.org/drawingml/2006/main" id="6" idx="1"/>
          </p:cNvCxnSpPr>
          <p:nvPr/>
        </p:nvCxnSpPr>
        <p:spPr>
          <a:xfrm xmlns:a="http://schemas.openxmlformats.org/drawingml/2006/main">
            <a:off x="2952750" y="2247900"/>
            <a:ext cx="1809750" cy="847725"/>
          </a:xfrm>
          <a:prstGeom xmlns:a="http://schemas.openxmlformats.org/drawingml/2006/main" prst="straightConnector1">
            <a:avLst/>
          </a:prstGeom>
          <a:ln xmlns:a="http://schemas.openxmlformats.org/drawingml/2006/main" w="28575">
            <a:solidFill>
              <a:srgbClr val="2D6CDF"/>
            </a:solidFill>
            <a:prstDash val="solid"/>
            <a:tailEnd type="triangle" w="sm" len="sm"/>
          </a:ln>
        </p:spPr>
      </p:cxnSp>
      <p:cxnSp>
        <p:nvCxnSpPr>
          <p:cNvPr id="126" name="Straight Arrow Connector 27"/>
          <p:cNvCxnSpPr>
            <a:stCxn xmlns:a="http://schemas.openxmlformats.org/drawingml/2006/main" id="8" idx="3"/>
            <a:endCxn xmlns:a="http://schemas.openxmlformats.org/drawingml/2006/main" id="6" idx="1"/>
          </p:cNvCxnSpPr>
          <p:nvPr/>
        </p:nvCxnSpPr>
        <p:spPr>
          <a:xfrm xmlns:a="http://schemas.openxmlformats.org/drawingml/2006/main" flipV="1">
            <a:off x="2952750" y="3095625"/>
            <a:ext cx="1809750" cy="1247775"/>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127" name="Straight Arrow Connector 28"/>
          <p:cNvCxnSpPr>
            <a:stCxn xmlns:a="http://schemas.openxmlformats.org/drawingml/2006/main" id="6" idx="3"/>
            <a:endCxn xmlns:a="http://schemas.openxmlformats.org/drawingml/2006/main" id="9" idx="1"/>
          </p:cNvCxnSpPr>
          <p:nvPr/>
        </p:nvCxnSpPr>
        <p:spPr>
          <a:xfrm xmlns:a="http://schemas.openxmlformats.org/drawingml/2006/main" flipV="1">
            <a:off x="7429500" y="2247900"/>
            <a:ext cx="1809750" cy="847725"/>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128" name="Straight Arrow Connector 29"/>
          <p:cNvCxnSpPr>
            <a:stCxn xmlns:a="http://schemas.openxmlformats.org/drawingml/2006/main" id="6" idx="3"/>
            <a:endCxn xmlns:a="http://schemas.openxmlformats.org/drawingml/2006/main" id="10" idx="1"/>
          </p:cNvCxnSpPr>
          <p:nvPr/>
        </p:nvCxnSpPr>
        <p:spPr>
          <a:xfrm xmlns:a="http://schemas.openxmlformats.org/drawingml/2006/main">
            <a:off x="7429500" y="3095625"/>
            <a:ext cx="1809750" cy="1247775"/>
          </a:xfrm>
          <a:prstGeom xmlns:a="http://schemas.openxmlformats.org/drawingml/2006/main" prst="straightConnector1">
            <a:avLst/>
          </a:prstGeom>
          <a:ln xmlns:a="http://schemas.openxmlformats.org/drawingml/2006/main" w="28575">
            <a:solidFill>
              <a:srgbClr val="E9A23B"/>
            </a:solidFill>
            <a:prstDash val="solid"/>
            <a:tailEnd type="triangle" w="sm" len="sm"/>
          </a:ln>
        </p:spPr>
      </p:cxnSp>
      <p:sp>
        <p:nvSpPr>
          <p:cNvPr id="15" name="text-19">
            <a:extLst xmlns:a="http://schemas.openxmlformats.org/drawingml/2006/main">
              <a:ext uri="{FF2B5EF4-FFF2-40B4-BE49-F238E27FC236}">
                <a16:creationId xmlns:a16="http://schemas.microsoft.com/office/drawing/2014/main" id="{AFFAF025-4E91-40CA-BD30-D5EF1529C583}"/>
              </a:ext>
            </a:extLst>
          </p:cNvPr>
          <p:cNvSpPr>
            <a:spLocks xmlns:a="http://schemas.openxmlformats.org/drawingml/2006/main" noGrp="1"/>
          </p:cNvSpPr>
          <p:nvPr/>
        </p:nvSpPr>
        <p:spPr>
          <a:xfrm xmlns:a="http://schemas.openxmlformats.org/drawingml/2006/main">
            <a:off x="2647950" y="5095875"/>
            <a:ext cx="6896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950" b="1" i="0">
                <a:solidFill>
                  <a:srgbClr val="0B1F33"/>
                </a:solidFill>
                <a:latin typeface="Aptos"/>
                <a:ea typeface="Aptos"/>
                <a:cs typeface="Aptos"/>
              </a:defRPr>
            </a:pPr>
            <a:r>
              <a:rPr sz="1950" b="1" i="0">
                <a:solidFill>
                  <a:srgbClr val="0B1F33"/>
                </a:solidFill>
                <a:latin typeface="Aptos"/>
                <a:ea typeface="Aptos"/>
                <a:cs typeface="Aptos"/>
              </a:rPr>
              <a:t>The same behavior can be discussed, simulated, reviewed, tested, integrated, and traced.</a:t>
            </a:r>
          </a:p>
        </p:txBody>
      </p:sp>
      <p:sp>
        <p:nvSpPr>
          <p:cNvPr id="16" name="text-20">
            <a:extLst xmlns:a="http://schemas.openxmlformats.org/drawingml/2006/main">
              <a:ext uri="{FF2B5EF4-FFF2-40B4-BE49-F238E27FC236}">
                <a16:creationId xmlns:a16="http://schemas.microsoft.com/office/drawing/2014/main" id="{52C2E410-3595-4ED2-9D42-08A2FD3360C0}"/>
              </a:ext>
            </a:extLst>
          </p:cNvPr>
          <p:cNvSpPr>
            <a:spLocks xmlns:a="http://schemas.openxmlformats.org/drawingml/2006/main" noGrp="1"/>
          </p:cNvSpPr>
          <p:nvPr/>
        </p:nvSpPr>
        <p:spPr>
          <a:xfrm xmlns:a="http://schemas.openxmlformats.org/drawingml/2006/main">
            <a:off x="4762500" y="3952875"/>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MODEL-BASED DESIGN</a:t>
            </a:r>
          </a:p>
        </p:txBody>
      </p:sp>
    </p:spTree>
    <p:extLst>
      <p:ext uri="{BB962C8B-B14F-4D97-AF65-F5344CB8AC3E}">
        <p14:creationId xmlns:p14="http://schemas.microsoft.com/office/powerpoint/2010/main" val="425577241"/>
      </p:ext>
    </p:extLst>
  </p:cSld>
</p:sld>
</file>

<file path=ppt/slides/slide3.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3" name="section-20">
            <a:extLst xmlns:a="http://schemas.openxmlformats.org/drawingml/2006/main">
              <a:ext uri="{FF2B5EF4-FFF2-40B4-BE49-F238E27FC236}">
                <a16:creationId xmlns:a16="http://schemas.microsoft.com/office/drawing/2014/main" id="{A11A59CD-4E44-4DDB-8FC6-8CC7EC48FE90}"/>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ORIENTATION</a:t>
            </a:r>
          </a:p>
        </p:txBody>
      </p:sp>
      <p:sp>
        <p:nvSpPr>
          <p:cNvPr id="2" name="title-20">
            <a:extLst xmlns:a="http://schemas.openxmlformats.org/drawingml/2006/main">
              <a:ext uri="{FF2B5EF4-FFF2-40B4-BE49-F238E27FC236}">
                <a16:creationId xmlns:a16="http://schemas.microsoft.com/office/drawing/2014/main" id="{50957822-C261-4495-95B3-78AED16F3851}"/>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FFFFFF"/>
                </a:solidFill>
                <a:latin typeface="Aptos"/>
                <a:ea typeface="Aptos"/>
                <a:cs typeface="Aptos"/>
              </a:defRPr>
            </a:pPr>
            <a:r>
              <a:rPr sz="3150" b="1" i="0">
                <a:solidFill>
                  <a:srgbClr val="FFFFFF"/>
                </a:solidFill>
                <a:latin typeface="Aptos"/>
                <a:ea typeface="Aptos"/>
                <a:cs typeface="Aptos"/>
              </a:rPr>
              <a:t>Your first session: orient, execute, inspect, trace</a:t>
            </a:r>
          </a:p>
        </p:txBody>
      </p:sp>
      <p:sp>
        <p:nvSpPr>
          <p:cNvPr id="3" name="line-21">
            <a:extLst xmlns:a="http://schemas.openxmlformats.org/drawingml/2006/main">
              <a:ext uri="{FF2B5EF4-FFF2-40B4-BE49-F238E27FC236}">
                <a16:creationId xmlns:a16="http://schemas.microsoft.com/office/drawing/2014/main" id="{D22B8537-33D7-4277-8DE3-FB485EB7158C}"/>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22">
            <a:extLst xmlns:a="http://schemas.openxmlformats.org/drawingml/2006/main">
              <a:ext uri="{FF2B5EF4-FFF2-40B4-BE49-F238E27FC236}">
                <a16:creationId xmlns:a16="http://schemas.microsoft.com/office/drawing/2014/main" id="{DC3553AF-F21C-4ABF-BA12-A4CF86480AF8}"/>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23">
            <a:extLst xmlns:a="http://schemas.openxmlformats.org/drawingml/2006/main">
              <a:ext uri="{FF2B5EF4-FFF2-40B4-BE49-F238E27FC236}">
                <a16:creationId xmlns:a16="http://schemas.microsoft.com/office/drawing/2014/main" id="{259BF12E-66FF-4C2A-A903-7CB6293A0613}"/>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03</a:t>
            </a:r>
          </a:p>
        </p:txBody>
      </p:sp>
      <p:sp>
        <p:nvSpPr>
          <p:cNvPr id="6" name="text-24">
            <a:extLst xmlns:a="http://schemas.openxmlformats.org/drawingml/2006/main">
              <a:ext uri="{FF2B5EF4-FFF2-40B4-BE49-F238E27FC236}">
                <a16:creationId xmlns:a16="http://schemas.microsoft.com/office/drawing/2014/main" id="{AA438571-D9D1-471E-AA88-C446F1322C99}"/>
              </a:ext>
            </a:extLst>
          </p:cNvPr>
          <p:cNvSpPr>
            <a:spLocks xmlns:a="http://schemas.openxmlformats.org/drawingml/2006/main" noGrp="1"/>
          </p:cNvSpPr>
          <p:nvPr/>
        </p:nvSpPr>
        <p:spPr>
          <a:xfrm xmlns:a="http://schemas.openxmlformats.org/drawingml/2006/main">
            <a:off x="800100" y="1676400"/>
            <a:ext cx="657225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57150" bIns="38100" anchor="t">
            <a:noAutofit/>
          </a:bodyPr>
          <a:lstStyle xmlns:a="http://schemas.openxmlformats.org/drawingml/2006/main"/>
          <a:p xmlns:a="http://schemas.openxmlformats.org/drawingml/2006/main">
            <a:pPr marL="24" indent="-13" algn="l">
              <a:lnSpc>
                <a:spcPct val="108000"/>
              </a:lnSpc>
              <a:spcAft>
                <a:spcPts val="18"/>
              </a:spcAft>
              <a:buNone/>
              <a:defRPr sz="1500" b="0" i="0">
                <a:solidFill>
                  <a:srgbClr val="D8E8F1"/>
                </a:solidFill>
                <a:latin typeface="Aptos"/>
                <a:ea typeface="Aptos"/>
                <a:cs typeface="Aptos"/>
              </a:defRPr>
            </a:pPr>
            <a:r>
              <a:rPr sz="1500" b="0" i="0">
                <a:solidFill>
                  <a:srgbClr val="D8E8F1"/>
                </a:solidFill>
                <a:latin typeface="Aptos"/>
                <a:ea typeface="Aptos"/>
                <a:cs typeface="Aptos"/>
              </a:rPr>
              <a:t>Operate a model — initialize paths; open, update, run, stop, and inspect results</a:t>
            </a:r>
          </a:p>
          <a:p xmlns:a="http://schemas.openxmlformats.org/drawingml/2006/main">
            <a:pPr marL="24" indent="-13" algn="l">
              <a:lnSpc>
                <a:spcPct val="108000"/>
              </a:lnSpc>
              <a:spcAft>
                <a:spcPts val="18"/>
              </a:spcAft>
              <a:buNone/>
              <a:defRPr sz="1500" b="0" i="0">
                <a:solidFill>
                  <a:srgbClr val="D8E8F1"/>
                </a:solidFill>
                <a:latin typeface="Aptos"/>
                <a:ea typeface="Aptos"/>
                <a:cs typeface="Aptos"/>
              </a:defRPr>
            </a:pPr>
            <a:r>
              <a:rPr sz="1500" b="0" i="0">
                <a:solidFill>
                  <a:srgbClr val="D8E8F1"/>
                </a:solidFill>
                <a:latin typeface="Aptos"/>
                <a:ea typeface="Aptos"/>
                <a:cs typeface="Aptos"/>
              </a:rPr>
              <a:t>Navigate the editor — Simulation, Debug, Modeling, and Apps</a:t>
            </a:r>
          </a:p>
          <a:p xmlns:a="http://schemas.openxmlformats.org/drawingml/2006/main">
            <a:pPr marL="24" indent="-13" algn="l">
              <a:lnSpc>
                <a:spcPct val="108000"/>
              </a:lnSpc>
              <a:spcAft>
                <a:spcPts val="18"/>
              </a:spcAft>
              <a:buNone/>
              <a:defRPr sz="1500" b="0" i="0">
                <a:solidFill>
                  <a:srgbClr val="D8E8F1"/>
                </a:solidFill>
                <a:latin typeface="Aptos"/>
                <a:ea typeface="Aptos"/>
                <a:cs typeface="Aptos"/>
              </a:defRPr>
            </a:pPr>
            <a:r>
              <a:rPr sz="1500" b="0" i="0">
                <a:solidFill>
                  <a:srgbClr val="D8E8F1"/>
                </a:solidFill>
                <a:latin typeface="Aptos"/>
                <a:ea typeface="Aptos"/>
                <a:cs typeface="Aptos"/>
              </a:rPr>
              <a:t>Read semantics — units, data types, dimensions, timing, and logging</a:t>
            </a:r>
          </a:p>
          <a:p xmlns:a="http://schemas.openxmlformats.org/drawingml/2006/main">
            <a:pPr marL="24" indent="-13" algn="l">
              <a:lnSpc>
                <a:spcPct val="108000"/>
              </a:lnSpc>
              <a:spcAft>
                <a:spcPts val="18"/>
              </a:spcAft>
              <a:buNone/>
              <a:defRPr sz="1500" b="0" i="0">
                <a:solidFill>
                  <a:srgbClr val="D8E8F1"/>
                </a:solidFill>
                <a:latin typeface="Aptos"/>
                <a:ea typeface="Aptos"/>
                <a:cs typeface="Aptos"/>
              </a:defRPr>
            </a:pPr>
            <a:r>
              <a:rPr sz="1500" b="0" i="0">
                <a:solidFill>
                  <a:srgbClr val="D8E8F1"/>
                </a:solidFill>
                <a:latin typeface="Aptos"/>
                <a:ea typeface="Aptos"/>
                <a:cs typeface="Aptos"/>
              </a:rPr>
              <a:t>Trace behavior — top level → component → harness → executed evidence</a:t>
            </a:r>
          </a:p>
        </p:txBody>
      </p:sp>
      <p:sp>
        <p:nvSpPr>
          <p:cNvPr id="7" name="box-25">
            <a:extLst xmlns:a="http://schemas.openxmlformats.org/drawingml/2006/main">
              <a:ext uri="{FF2B5EF4-FFF2-40B4-BE49-F238E27FC236}">
                <a16:creationId xmlns:a16="http://schemas.microsoft.com/office/drawing/2014/main" id="{F64BA3F6-72F9-49DA-9761-E25998217D04}"/>
              </a:ext>
            </a:extLst>
          </p:cNvPr>
          <p:cNvSpPr>
            <a:spLocks xmlns:a="http://schemas.openxmlformats.org/drawingml/2006/main" noGrp="1"/>
          </p:cNvSpPr>
          <p:nvPr/>
        </p:nvSpPr>
        <p:spPr>
          <a:xfrm xmlns:a="http://schemas.openxmlformats.org/drawingml/2006/main">
            <a:off x="8096250" y="1600200"/>
            <a:ext cx="3238500" cy="533400"/>
          </a:xfrm>
          <a:prstGeom xmlns:a="http://schemas.openxmlformats.org/drawingml/2006/main" prst="roundRect">
            <a:avLst>
              <a:gd name="adj" fmla="val 17857"/>
            </a:avLst>
          </a:prstGeom>
          <a:solidFill xmlns:a="http://schemas.openxmlformats.org/drawingml/2006/main">
            <a:srgbClr val="20B7C5"/>
          </a:solidFill>
          <a:ln xmlns:a="http://schemas.openxmlformats.org/drawingml/2006/main" w="9525">
            <a:solidFill>
              <a:srgbClr val="70DCE5"/>
            </a:solidFill>
            <a:prstDash val="solid"/>
          </a:ln>
        </p:spPr>
        <p:txBody>
          <a:bodyPr xmlns:a="http://schemas.openxmlformats.org/drawingml/2006/main" lIns="171450" tIns="38100" rIns="114300" bIns="38100" anchor="ctr">
            <a:noAutofit/>
          </a:bodyPr>
          <a:lstStyle xmlns:a="http://schemas.openxmlformats.org/drawingml/2006/main"/>
          <a:p xmlns:a="http://schemas.openxmlformats.org/drawingml/2006/main">
            <a:pPr algn="l">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1  START + RUN</a:t>
            </a:r>
          </a:p>
        </p:txBody>
      </p:sp>
      <p:sp>
        <p:nvSpPr>
          <p:cNvPr id="8" name="box-26">
            <a:extLst xmlns:a="http://schemas.openxmlformats.org/drawingml/2006/main">
              <a:ext uri="{FF2B5EF4-FFF2-40B4-BE49-F238E27FC236}">
                <a16:creationId xmlns:a16="http://schemas.microsoft.com/office/drawing/2014/main" id="{E192F255-6CFE-423E-8171-4D95D1ECAAAA}"/>
              </a:ext>
            </a:extLst>
          </p:cNvPr>
          <p:cNvSpPr>
            <a:spLocks xmlns:a="http://schemas.openxmlformats.org/drawingml/2006/main" noGrp="1"/>
          </p:cNvSpPr>
          <p:nvPr/>
        </p:nvSpPr>
        <p:spPr>
          <a:xfrm xmlns:a="http://schemas.openxmlformats.org/drawingml/2006/main">
            <a:off x="8096250" y="2343150"/>
            <a:ext cx="3238500" cy="533400"/>
          </a:xfrm>
          <a:prstGeom xmlns:a="http://schemas.openxmlformats.org/drawingml/2006/main" prst="roundRect">
            <a:avLst>
              <a:gd name="adj" fmla="val 17857"/>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lIns="171450" tIns="38100" rIns="114300" bIns="38100" anchor="ctr">
            <a:noAutofit/>
          </a:bodyPr>
          <a:lstStyle xmlns:a="http://schemas.openxmlformats.org/drawingml/2006/main"/>
          <a:p xmlns:a="http://schemas.openxmlformats.org/drawingml/2006/main">
            <a:pPr algn="l">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2  MODEL HIERARCHY</a:t>
            </a:r>
          </a:p>
        </p:txBody>
      </p:sp>
      <p:sp>
        <p:nvSpPr>
          <p:cNvPr id="9" name="box-27">
            <a:extLst xmlns:a="http://schemas.openxmlformats.org/drawingml/2006/main">
              <a:ext uri="{FF2B5EF4-FFF2-40B4-BE49-F238E27FC236}">
                <a16:creationId xmlns:a16="http://schemas.microsoft.com/office/drawing/2014/main" id="{D3B12475-01C3-44AC-8DBC-ADB2A28BEC16}"/>
              </a:ext>
            </a:extLst>
          </p:cNvPr>
          <p:cNvSpPr>
            <a:spLocks xmlns:a="http://schemas.openxmlformats.org/drawingml/2006/main" noGrp="1"/>
          </p:cNvSpPr>
          <p:nvPr/>
        </p:nvSpPr>
        <p:spPr>
          <a:xfrm xmlns:a="http://schemas.openxmlformats.org/drawingml/2006/main">
            <a:off x="8096250" y="3086100"/>
            <a:ext cx="3238500" cy="533400"/>
          </a:xfrm>
          <a:prstGeom xmlns:a="http://schemas.openxmlformats.org/drawingml/2006/main" prst="roundRect">
            <a:avLst>
              <a:gd name="adj" fmla="val 17857"/>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lIns="171450" tIns="38100" rIns="114300" bIns="38100" anchor="ctr">
            <a:noAutofit/>
          </a:bodyPr>
          <a:lstStyle xmlns:a="http://schemas.openxmlformats.org/drawingml/2006/main"/>
          <a:p xmlns:a="http://schemas.openxmlformats.org/drawingml/2006/main">
            <a:pPr algn="l">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3  OVERLAYS</a:t>
            </a:r>
          </a:p>
        </p:txBody>
      </p:sp>
      <p:sp>
        <p:nvSpPr>
          <p:cNvPr id="10" name="box-28">
            <a:extLst xmlns:a="http://schemas.openxmlformats.org/drawingml/2006/main">
              <a:ext uri="{FF2B5EF4-FFF2-40B4-BE49-F238E27FC236}">
                <a16:creationId xmlns:a16="http://schemas.microsoft.com/office/drawing/2014/main" id="{62C7045B-E32A-44F5-A79F-59AE4772F83C}"/>
              </a:ext>
            </a:extLst>
          </p:cNvPr>
          <p:cNvSpPr>
            <a:spLocks xmlns:a="http://schemas.openxmlformats.org/drawingml/2006/main" noGrp="1"/>
          </p:cNvSpPr>
          <p:nvPr/>
        </p:nvSpPr>
        <p:spPr>
          <a:xfrm xmlns:a="http://schemas.openxmlformats.org/drawingml/2006/main">
            <a:off x="8096250" y="3829050"/>
            <a:ext cx="3238500" cy="533400"/>
          </a:xfrm>
          <a:prstGeom xmlns:a="http://schemas.openxmlformats.org/drawingml/2006/main" prst="roundRect">
            <a:avLst>
              <a:gd name="adj" fmla="val 17857"/>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lIns="171450" tIns="38100" rIns="114300" bIns="38100" anchor="ctr">
            <a:noAutofit/>
          </a:bodyPr>
          <a:lstStyle xmlns:a="http://schemas.openxmlformats.org/drawingml/2006/main"/>
          <a:p xmlns:a="http://schemas.openxmlformats.org/drawingml/2006/main">
            <a:pPr algn="l">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4  DATA INSPECTOR</a:t>
            </a:r>
          </a:p>
        </p:txBody>
      </p:sp>
      <p:sp>
        <p:nvSpPr>
          <p:cNvPr id="11" name="box-29">
            <a:extLst xmlns:a="http://schemas.openxmlformats.org/drawingml/2006/main">
              <a:ext uri="{FF2B5EF4-FFF2-40B4-BE49-F238E27FC236}">
                <a16:creationId xmlns:a16="http://schemas.microsoft.com/office/drawing/2014/main" id="{661A1047-6DAF-4542-B5E7-6ED1A4BDE75A}"/>
              </a:ext>
            </a:extLst>
          </p:cNvPr>
          <p:cNvSpPr>
            <a:spLocks xmlns:a="http://schemas.openxmlformats.org/drawingml/2006/main" noGrp="1"/>
          </p:cNvSpPr>
          <p:nvPr/>
        </p:nvSpPr>
        <p:spPr>
          <a:xfrm xmlns:a="http://schemas.openxmlformats.org/drawingml/2006/main">
            <a:off x="8096250" y="4572000"/>
            <a:ext cx="3238500" cy="533400"/>
          </a:xfrm>
          <a:prstGeom xmlns:a="http://schemas.openxmlformats.org/drawingml/2006/main" prst="roundRect">
            <a:avLst>
              <a:gd name="adj" fmla="val 17857"/>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lIns="171450" tIns="38100" rIns="114300" bIns="38100" anchor="ctr">
            <a:noAutofit/>
          </a:bodyPr>
          <a:lstStyle xmlns:a="http://schemas.openxmlformats.org/drawingml/2006/main"/>
          <a:p xmlns:a="http://schemas.openxmlformats.org/drawingml/2006/main">
            <a:pPr algn="l">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5  TRACEABILITY</a:t>
            </a:r>
          </a:p>
        </p:txBody>
      </p:sp>
      <p:sp>
        <p:nvSpPr>
          <p:cNvPr id="12" name="text-30">
            <a:extLst xmlns:a="http://schemas.openxmlformats.org/drawingml/2006/main">
              <a:ext uri="{FF2B5EF4-FFF2-40B4-BE49-F238E27FC236}">
                <a16:creationId xmlns:a16="http://schemas.microsoft.com/office/drawing/2014/main" id="{5AC44D38-2825-475A-90E1-BDFA09584ECD}"/>
              </a:ext>
            </a:extLst>
          </p:cNvPr>
          <p:cNvSpPr>
            <a:spLocks xmlns:a="http://schemas.openxmlformats.org/drawingml/2006/main" noGrp="1"/>
          </p:cNvSpPr>
          <p:nvPr/>
        </p:nvSpPr>
        <p:spPr>
          <a:xfrm xmlns:a="http://schemas.openxmlformats.org/drawingml/2006/main">
            <a:off x="800100" y="5143500"/>
            <a:ext cx="10382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Keep asking: Which model am I in, what state is visible, and what evidence proves the requirement?</a:t>
            </a:r>
          </a:p>
        </p:txBody>
      </p:sp>
    </p:spTree>
    <p:extLst>
      <p:ext uri="{BB962C8B-B14F-4D97-AF65-F5344CB8AC3E}">
        <p14:creationId xmlns:p14="http://schemas.microsoft.com/office/powerpoint/2010/main" val="888420416"/>
      </p:ext>
    </p:extLst>
  </p:cSld>
</p:sld>
</file>

<file path=ppt/slides/slide4.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2" name="section-30">
            <a:extLst xmlns:a="http://schemas.openxmlformats.org/drawingml/2006/main">
              <a:ext uri="{FF2B5EF4-FFF2-40B4-BE49-F238E27FC236}">
                <a16:creationId xmlns:a16="http://schemas.microsoft.com/office/drawing/2014/main" id="{209F2F4C-DE79-4F56-974B-0F965786C992}"/>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01 • FIRST SESSION</a:t>
            </a:r>
          </a:p>
        </p:txBody>
      </p:sp>
      <p:sp>
        <p:nvSpPr>
          <p:cNvPr id="2" name="title-30">
            <a:extLst xmlns:a="http://schemas.openxmlformats.org/drawingml/2006/main">
              <a:ext uri="{FF2B5EF4-FFF2-40B4-BE49-F238E27FC236}">
                <a16:creationId xmlns:a16="http://schemas.microsoft.com/office/drawing/2014/main" id="{DFA293E7-5425-418E-A394-D6A968B0E073}"/>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MATLAB computes; Simulink exposes behavior</a:t>
            </a:r>
          </a:p>
        </p:txBody>
      </p:sp>
      <p:sp>
        <p:nvSpPr>
          <p:cNvPr id="3" name="line-31">
            <a:extLst xmlns:a="http://schemas.openxmlformats.org/drawingml/2006/main">
              <a:ext uri="{FF2B5EF4-FFF2-40B4-BE49-F238E27FC236}">
                <a16:creationId xmlns:a16="http://schemas.microsoft.com/office/drawing/2014/main" id="{B90AABD0-0F0F-4DCF-BC87-B15E5D7922B8}"/>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32">
            <a:extLst xmlns:a="http://schemas.openxmlformats.org/drawingml/2006/main">
              <a:ext uri="{FF2B5EF4-FFF2-40B4-BE49-F238E27FC236}">
                <a16:creationId xmlns:a16="http://schemas.microsoft.com/office/drawing/2014/main" id="{ACD4C613-28EE-444C-8C96-E3A87E250505}"/>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33">
            <a:extLst xmlns:a="http://schemas.openxmlformats.org/drawingml/2006/main">
              <a:ext uri="{FF2B5EF4-FFF2-40B4-BE49-F238E27FC236}">
                <a16:creationId xmlns:a16="http://schemas.microsoft.com/office/drawing/2014/main" id="{2B38A077-F518-4551-84BE-0BD0DE1C09E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04</a:t>
            </a:r>
          </a:p>
        </p:txBody>
      </p:sp>
      <p:sp>
        <p:nvSpPr>
          <p:cNvPr id="6" name="text-34">
            <a:extLst xmlns:a="http://schemas.openxmlformats.org/drawingml/2006/main">
              <a:ext uri="{FF2B5EF4-FFF2-40B4-BE49-F238E27FC236}">
                <a16:creationId xmlns:a16="http://schemas.microsoft.com/office/drawing/2014/main" id="{73C14DEC-BE99-4F7A-ADE8-8341565592B3}"/>
              </a:ext>
            </a:extLst>
          </p:cNvPr>
          <p:cNvSpPr>
            <a:spLocks xmlns:a="http://schemas.openxmlformats.org/drawingml/2006/main" noGrp="1"/>
          </p:cNvSpPr>
          <p:nvPr/>
        </p:nvSpPr>
        <p:spPr>
          <a:xfrm xmlns:a="http://schemas.openxmlformats.org/drawingml/2006/main">
            <a:off x="857250" y="1619250"/>
            <a:ext cx="342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2850" b="1" i="0">
                <a:solidFill>
                  <a:srgbClr val="2D6CDF"/>
                </a:solidFill>
                <a:latin typeface="Aptos"/>
                <a:ea typeface="Aptos"/>
                <a:cs typeface="Aptos"/>
              </a:defRPr>
            </a:pPr>
            <a:r>
              <a:rPr sz="2850" b="1" i="0">
                <a:solidFill>
                  <a:srgbClr val="2D6CDF"/>
                </a:solidFill>
                <a:latin typeface="Aptos"/>
                <a:ea typeface="Aptos"/>
                <a:cs typeface="Aptos"/>
              </a:rPr>
              <a:t>MATLAB</a:t>
            </a:r>
          </a:p>
        </p:txBody>
      </p:sp>
      <p:sp>
        <p:nvSpPr>
          <p:cNvPr id="7" name="text-35">
            <a:extLst xmlns:a="http://schemas.openxmlformats.org/drawingml/2006/main">
              <a:ext uri="{FF2B5EF4-FFF2-40B4-BE49-F238E27FC236}">
                <a16:creationId xmlns:a16="http://schemas.microsoft.com/office/drawing/2014/main" id="{2735EE3B-08C2-4B2C-BBE9-989A7F5F0ED8}"/>
              </a:ext>
            </a:extLst>
          </p:cNvPr>
          <p:cNvSpPr>
            <a:spLocks xmlns:a="http://schemas.openxmlformats.org/drawingml/2006/main" noGrp="1"/>
          </p:cNvSpPr>
          <p:nvPr/>
        </p:nvSpPr>
        <p:spPr>
          <a:xfrm xmlns:a="http://schemas.openxmlformats.org/drawingml/2006/main">
            <a:off x="6858000" y="1619250"/>
            <a:ext cx="3619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2850" b="1" i="0">
                <a:solidFill>
                  <a:srgbClr val="20B7C5"/>
                </a:solidFill>
                <a:latin typeface="Aptos"/>
                <a:ea typeface="Aptos"/>
                <a:cs typeface="Aptos"/>
              </a:defRPr>
            </a:pPr>
            <a:r>
              <a:rPr sz="2850" b="1" i="0">
                <a:solidFill>
                  <a:srgbClr val="20B7C5"/>
                </a:solidFill>
                <a:latin typeface="Aptos"/>
                <a:ea typeface="Aptos"/>
                <a:cs typeface="Aptos"/>
              </a:rPr>
              <a:t>SIMULINK</a:t>
            </a:r>
          </a:p>
        </p:txBody>
      </p:sp>
      <p:sp>
        <p:nvSpPr>
          <p:cNvPr id="8" name="line-36">
            <a:extLst xmlns:a="http://schemas.openxmlformats.org/drawingml/2006/main">
              <a:ext uri="{FF2B5EF4-FFF2-40B4-BE49-F238E27FC236}">
                <a16:creationId xmlns:a16="http://schemas.microsoft.com/office/drawing/2014/main" id="{28C46C5E-08EA-4D80-BF5D-2E24751DFF88}"/>
              </a:ext>
            </a:extLst>
          </p:cNvPr>
          <p:cNvSpPr>
            <a:spLocks xmlns:a="http://schemas.openxmlformats.org/drawingml/2006/main" noGrp="1"/>
          </p:cNvSpPr>
          <p:nvPr/>
        </p:nvSpPr>
        <p:spPr>
          <a:xfrm xmlns:a="http://schemas.openxmlformats.org/drawingml/2006/main">
            <a:off x="6096000" y="1600200"/>
            <a:ext cx="0" cy="323850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9" name="text-37">
            <a:extLst xmlns:a="http://schemas.openxmlformats.org/drawingml/2006/main">
              <a:ext uri="{FF2B5EF4-FFF2-40B4-BE49-F238E27FC236}">
                <a16:creationId xmlns:a16="http://schemas.microsoft.com/office/drawing/2014/main" id="{5D0AB1E5-A815-4B03-8030-21FA26481682}"/>
              </a:ext>
            </a:extLst>
          </p:cNvPr>
          <p:cNvSpPr>
            <a:spLocks xmlns:a="http://schemas.openxmlformats.org/drawingml/2006/main" noGrp="1"/>
          </p:cNvSpPr>
          <p:nvPr/>
        </p:nvSpPr>
        <p:spPr>
          <a:xfrm xmlns:a="http://schemas.openxmlformats.org/drawingml/2006/main">
            <a:off x="819150" y="2286000"/>
            <a:ext cx="44767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Best at — scripts, algorithms, matrices, optimization, data analysis</a:t>
            </a:r>
          </a:p>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Execution — statements and functions run in defined order</a:t>
            </a:r>
          </a:p>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View — variables, arrays, figures, tables, reports</a:t>
            </a:r>
          </a:p>
        </p:txBody>
      </p:sp>
      <p:sp>
        <p:nvSpPr>
          <p:cNvPr id="10" name="text-38">
            <a:extLst xmlns:a="http://schemas.openxmlformats.org/drawingml/2006/main">
              <a:ext uri="{FF2B5EF4-FFF2-40B4-BE49-F238E27FC236}">
                <a16:creationId xmlns:a16="http://schemas.microsoft.com/office/drawing/2014/main" id="{B2F47B8C-6E42-464D-AF53-026999F06CE5}"/>
              </a:ext>
            </a:extLst>
          </p:cNvPr>
          <p:cNvSpPr>
            <a:spLocks xmlns:a="http://schemas.openxmlformats.org/drawingml/2006/main" noGrp="1"/>
          </p:cNvSpPr>
          <p:nvPr/>
        </p:nvSpPr>
        <p:spPr>
          <a:xfrm xmlns:a="http://schemas.openxmlformats.org/drawingml/2006/main">
            <a:off x="6800850" y="2286000"/>
            <a:ext cx="45720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Best at — dynamic systems, feedback, hybrid logic, integration</a:t>
            </a:r>
          </a:p>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Execution — blocks exchange signals over simulated time</a:t>
            </a:r>
          </a:p>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View — data flow, hierarchy, state, sample time, interfaces</a:t>
            </a:r>
          </a:p>
        </p:txBody>
      </p:sp>
      <p:sp>
        <p:nvSpPr>
          <p:cNvPr id="11" name="box-39">
            <a:extLst xmlns:a="http://schemas.openxmlformats.org/drawingml/2006/main">
              <a:ext uri="{FF2B5EF4-FFF2-40B4-BE49-F238E27FC236}">
                <a16:creationId xmlns:a16="http://schemas.microsoft.com/office/drawing/2014/main" id="{93CE28BB-5447-4B4A-82BA-BBAEFE97F9AC}"/>
              </a:ext>
            </a:extLst>
          </p:cNvPr>
          <p:cNvSpPr>
            <a:spLocks xmlns:a="http://schemas.openxmlformats.org/drawingml/2006/main" noGrp="1"/>
          </p:cNvSpPr>
          <p:nvPr/>
        </p:nvSpPr>
        <p:spPr>
          <a:xfrm xmlns:a="http://schemas.openxmlformats.org/drawingml/2006/main">
            <a:off x="1524000" y="4953000"/>
            <a:ext cx="9144000" cy="666750"/>
          </a:xfrm>
          <a:prstGeom xmlns:a="http://schemas.openxmlformats.org/drawingml/2006/main" prst="roundRect">
            <a:avLst>
              <a:gd name="adj" fmla="val 14286"/>
            </a:avLst>
          </a:prstGeom>
          <a:solidFill xmlns:a="http://schemas.openxmlformats.org/drawingml/2006/main">
            <a:srgbClr val="0B2438"/>
          </a:solidFill>
          <a:ln xmlns:a="http://schemas.openxmlformats.org/drawingml/2006/main" w="9525">
            <a:solidFill>
              <a:srgbClr val="0B2438"/>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875" b="1">
                <a:solidFill>
                  <a:srgbClr val="FFFFFF"/>
                </a:solidFill>
                <a:latin typeface="Aptos"/>
                <a:ea typeface="Aptos"/>
                <a:cs typeface="Aptos"/>
              </a:defRPr>
            </a:pPr>
            <a:r>
              <a:rPr sz="1875" b="1">
                <a:solidFill>
                  <a:srgbClr val="FFFFFF"/>
                </a:solidFill>
                <a:latin typeface="Aptos"/>
                <a:ea typeface="Aptos"/>
                <a:cs typeface="Aptos"/>
              </a:rPr>
              <a:t>They are one environment: MATLAB configures, analyzes, automates, and reports on Simulink models.</a:t>
            </a:r>
          </a:p>
        </p:txBody>
      </p:sp>
    </p:spTree>
    <p:extLst>
      <p:ext uri="{BB962C8B-B14F-4D97-AF65-F5344CB8AC3E}">
        <p14:creationId xmlns:p14="http://schemas.microsoft.com/office/powerpoint/2010/main" val="1993218485"/>
      </p:ext>
    </p:extLst>
  </p:cSld>
</p:sld>
</file>

<file path=ppt/slides/slide5.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39">
            <a:extLst xmlns:a="http://schemas.openxmlformats.org/drawingml/2006/main">
              <a:ext uri="{FF2B5EF4-FFF2-40B4-BE49-F238E27FC236}">
                <a16:creationId xmlns:a16="http://schemas.microsoft.com/office/drawing/2014/main" id="{7B22C228-EDF9-4D40-89F0-D80EF6B6D81C}"/>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01 • FIRST SESSION</a:t>
            </a:r>
          </a:p>
        </p:txBody>
      </p:sp>
      <p:sp>
        <p:nvSpPr>
          <p:cNvPr id="2" name="title-39">
            <a:extLst xmlns:a="http://schemas.openxmlformats.org/drawingml/2006/main">
              <a:ext uri="{FF2B5EF4-FFF2-40B4-BE49-F238E27FC236}">
                <a16:creationId xmlns:a16="http://schemas.microsoft.com/office/drawing/2014/main" id="{4A8105EB-3279-4423-80B5-613E6E267C5B}"/>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Start in the repository, then distinguish every action</a:t>
            </a:r>
          </a:p>
        </p:txBody>
      </p:sp>
      <p:sp>
        <p:nvSpPr>
          <p:cNvPr id="3" name="line-40">
            <a:extLst xmlns:a="http://schemas.openxmlformats.org/drawingml/2006/main">
              <a:ext uri="{FF2B5EF4-FFF2-40B4-BE49-F238E27FC236}">
                <a16:creationId xmlns:a16="http://schemas.microsoft.com/office/drawing/2014/main" id="{D61265E4-C954-49D0-92C6-850F898A11B4}"/>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1">
            <a:extLst xmlns:a="http://schemas.openxmlformats.org/drawingml/2006/main">
              <a:ext uri="{FF2B5EF4-FFF2-40B4-BE49-F238E27FC236}">
                <a16:creationId xmlns:a16="http://schemas.microsoft.com/office/drawing/2014/main" id="{925F3177-FA1E-4CEB-B1BD-510B77D35C5F}"/>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2">
            <a:extLst xmlns:a="http://schemas.openxmlformats.org/drawingml/2006/main">
              <a:ext uri="{FF2B5EF4-FFF2-40B4-BE49-F238E27FC236}">
                <a16:creationId xmlns:a16="http://schemas.microsoft.com/office/drawing/2014/main" id="{D43AE519-D5F6-4779-8D80-9E460471A499}"/>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05</a:t>
            </a:r>
          </a:p>
        </p:txBody>
      </p:sp>
      <p:sp>
        <p:nvSpPr>
          <p:cNvPr id="31" name="s5-flow-0">
            <a:extLst xmlns:a="http://schemas.openxmlformats.org/drawingml/2006/main">
              <a:ext uri="{FF2B5EF4-FFF2-40B4-BE49-F238E27FC236}">
                <a16:creationId xmlns:a16="http://schemas.microsoft.com/office/drawing/2014/main" id="{1B93A0A4-890E-46AD-B0BC-D05F3A3FC368}"/>
              </a:ext>
            </a:extLst>
          </p:cNvPr>
          <p:cNvSpPr>
            <a:spLocks xmlns:a="http://schemas.openxmlformats.org/drawingml/2006/main" noGrp="1"/>
          </p:cNvSpPr>
          <p:nvPr/>
        </p:nvSpPr>
        <p:spPr>
          <a:xfrm xmlns:a="http://schemas.openxmlformats.org/drawingml/2006/main">
            <a:off x="2095500" y="2333625"/>
            <a:ext cx="114300" cy="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32" name="s5-flow-1">
            <a:extLst xmlns:a="http://schemas.openxmlformats.org/drawingml/2006/main">
              <a:ext uri="{FF2B5EF4-FFF2-40B4-BE49-F238E27FC236}">
                <a16:creationId xmlns:a16="http://schemas.microsoft.com/office/drawing/2014/main" id="{506FB24E-C05C-429D-9761-50DB917B6FB7}"/>
              </a:ext>
            </a:extLst>
          </p:cNvPr>
          <p:cNvSpPr>
            <a:spLocks xmlns:a="http://schemas.openxmlformats.org/drawingml/2006/main" noGrp="1"/>
          </p:cNvSpPr>
          <p:nvPr/>
        </p:nvSpPr>
        <p:spPr>
          <a:xfrm xmlns:a="http://schemas.openxmlformats.org/drawingml/2006/main">
            <a:off x="3619500" y="2333625"/>
            <a:ext cx="114300" cy="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33" name="s5-flow-2">
            <a:extLst xmlns:a="http://schemas.openxmlformats.org/drawingml/2006/main">
              <a:ext uri="{FF2B5EF4-FFF2-40B4-BE49-F238E27FC236}">
                <a16:creationId xmlns:a16="http://schemas.microsoft.com/office/drawing/2014/main" id="{8EB4ED8B-604C-44FC-858F-85DF392E4821}"/>
              </a:ext>
            </a:extLst>
          </p:cNvPr>
          <p:cNvSpPr>
            <a:spLocks xmlns:a="http://schemas.openxmlformats.org/drawingml/2006/main" noGrp="1"/>
          </p:cNvSpPr>
          <p:nvPr/>
        </p:nvSpPr>
        <p:spPr>
          <a:xfrm xmlns:a="http://schemas.openxmlformats.org/drawingml/2006/main">
            <a:off x="5143500" y="2333625"/>
            <a:ext cx="114300" cy="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34" name="s5-flow-3">
            <a:extLst xmlns:a="http://schemas.openxmlformats.org/drawingml/2006/main">
              <a:ext uri="{FF2B5EF4-FFF2-40B4-BE49-F238E27FC236}">
                <a16:creationId xmlns:a16="http://schemas.microsoft.com/office/drawing/2014/main" id="{4DFF09ED-ECD0-4926-A6C7-49AE8D52F6BD}"/>
              </a:ext>
            </a:extLst>
          </p:cNvPr>
          <p:cNvSpPr>
            <a:spLocks xmlns:a="http://schemas.openxmlformats.org/drawingml/2006/main" noGrp="1"/>
          </p:cNvSpPr>
          <p:nvPr/>
        </p:nvSpPr>
        <p:spPr>
          <a:xfrm xmlns:a="http://schemas.openxmlformats.org/drawingml/2006/main">
            <a:off x="6667500" y="2333625"/>
            <a:ext cx="114300" cy="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35" name="s5-flow-4">
            <a:extLst xmlns:a="http://schemas.openxmlformats.org/drawingml/2006/main">
              <a:ext uri="{FF2B5EF4-FFF2-40B4-BE49-F238E27FC236}">
                <a16:creationId xmlns:a16="http://schemas.microsoft.com/office/drawing/2014/main" id="{542F26A7-77D2-4825-B8E6-432341792514}"/>
              </a:ext>
            </a:extLst>
          </p:cNvPr>
          <p:cNvSpPr>
            <a:spLocks xmlns:a="http://schemas.openxmlformats.org/drawingml/2006/main" noGrp="1"/>
          </p:cNvSpPr>
          <p:nvPr/>
        </p:nvSpPr>
        <p:spPr>
          <a:xfrm xmlns:a="http://schemas.openxmlformats.org/drawingml/2006/main">
            <a:off x="8191500" y="2333625"/>
            <a:ext cx="114300" cy="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36" name="s5-flow-5">
            <a:extLst xmlns:a="http://schemas.openxmlformats.org/drawingml/2006/main">
              <a:ext uri="{FF2B5EF4-FFF2-40B4-BE49-F238E27FC236}">
                <a16:creationId xmlns:a16="http://schemas.microsoft.com/office/drawing/2014/main" id="{DF7EDB6B-E254-4C4B-A071-147582E4F5DA}"/>
              </a:ext>
            </a:extLst>
          </p:cNvPr>
          <p:cNvSpPr>
            <a:spLocks xmlns:a="http://schemas.openxmlformats.org/drawingml/2006/main" noGrp="1"/>
          </p:cNvSpPr>
          <p:nvPr/>
        </p:nvSpPr>
        <p:spPr>
          <a:xfrm xmlns:a="http://schemas.openxmlformats.org/drawingml/2006/main">
            <a:off x="9715500" y="2333625"/>
            <a:ext cx="114300" cy="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37" name="s5-card-0">
            <a:extLst xmlns:a="http://schemas.openxmlformats.org/drawingml/2006/main">
              <a:ext uri="{FF2B5EF4-FFF2-40B4-BE49-F238E27FC236}">
                <a16:creationId xmlns:a16="http://schemas.microsoft.com/office/drawing/2014/main" id="{747DDC72-D58E-41F0-A468-4DF01CF07F70}"/>
              </a:ext>
            </a:extLst>
          </p:cNvPr>
          <p:cNvSpPr>
            <a:spLocks xmlns:a="http://schemas.openxmlformats.org/drawingml/2006/main" noGrp="1"/>
          </p:cNvSpPr>
          <p:nvPr/>
        </p:nvSpPr>
        <p:spPr>
          <a:xfrm xmlns:a="http://schemas.openxmlformats.org/drawingml/2006/main">
            <a:off x="685800" y="1504950"/>
            <a:ext cx="1409700" cy="1676400"/>
          </a:xfrm>
          <a:prstGeom xmlns:a="http://schemas.openxmlformats.org/drawingml/2006/main" prst="roundRect">
            <a:avLst>
              <a:gd name="adj" fmla="val 8108"/>
            </a:avLst>
          </a:prstGeom>
          <a:solidFill xmlns:a="http://schemas.openxmlformats.org/drawingml/2006/main">
            <a:srgbClr val="FFFFFF"/>
          </a:solidFill>
          <a:ln xmlns:a="http://schemas.openxmlformats.org/drawingml/2006/main" w="15240">
            <a:solidFill>
              <a:srgbClr val="2D6CDF"/>
            </a:solidFill>
            <a:prstDash val="solid"/>
          </a:ln>
        </p:spPr>
      </p:sp>
      <p:sp>
        <p:nvSpPr>
          <p:cNvPr id="38" name="s5-num-0">
            <a:extLst xmlns:a="http://schemas.openxmlformats.org/drawingml/2006/main">
              <a:ext uri="{FF2B5EF4-FFF2-40B4-BE49-F238E27FC236}">
                <a16:creationId xmlns:a16="http://schemas.microsoft.com/office/drawing/2014/main" id="{E648F802-F0FB-45D6-B023-07833C67BB2B}"/>
              </a:ext>
            </a:extLst>
          </p:cNvPr>
          <p:cNvSpPr>
            <a:spLocks xmlns:a="http://schemas.openxmlformats.org/drawingml/2006/main" noGrp="1"/>
          </p:cNvSpPr>
          <p:nvPr/>
        </p:nvSpPr>
        <p:spPr>
          <a:xfrm xmlns:a="http://schemas.openxmlformats.org/drawingml/2006/main">
            <a:off x="800100" y="16002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975" b="1">
                <a:solidFill>
                  <a:srgbClr val="5D7487"/>
                </a:solidFill>
                <a:latin typeface="Aptos"/>
                <a:ea typeface="Aptos"/>
                <a:cs typeface="Aptos"/>
              </a:defRPr>
            </a:pPr>
            <a:r>
              <a:rPr sz="975" b="1">
                <a:solidFill>
                  <a:srgbClr val="5D7487"/>
                </a:solidFill>
                <a:latin typeface="Aptos"/>
                <a:ea typeface="Aptos"/>
                <a:cs typeface="Aptos"/>
              </a:rPr>
              <a:t>01</a:t>
            </a:r>
          </a:p>
        </p:txBody>
      </p:sp>
      <p:sp>
        <p:nvSpPr>
          <p:cNvPr id="39" name="s5-title-0">
            <a:extLst xmlns:a="http://schemas.openxmlformats.org/drawingml/2006/main">
              <a:ext uri="{FF2B5EF4-FFF2-40B4-BE49-F238E27FC236}">
                <a16:creationId xmlns:a16="http://schemas.microsoft.com/office/drawing/2014/main" id="{A21BDA39-B255-4274-BB76-6B732EBF56A8}"/>
              </a:ext>
            </a:extLst>
          </p:cNvPr>
          <p:cNvSpPr>
            <a:spLocks xmlns:a="http://schemas.openxmlformats.org/drawingml/2006/main" noGrp="1"/>
          </p:cNvSpPr>
          <p:nvPr/>
        </p:nvSpPr>
        <p:spPr>
          <a:xfrm xmlns:a="http://schemas.openxmlformats.org/drawingml/2006/main">
            <a:off x="800100" y="1857375"/>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275" b="1">
                <a:solidFill>
                  <a:srgbClr val="2D6CDF"/>
                </a:solidFill>
                <a:latin typeface="Aptos"/>
                <a:ea typeface="Aptos"/>
                <a:cs typeface="Aptos"/>
              </a:defRPr>
            </a:pPr>
            <a:r>
              <a:rPr sz="1275" b="1">
                <a:solidFill>
                  <a:srgbClr val="2D6CDF"/>
                </a:solidFill>
                <a:latin typeface="Aptos"/>
                <a:ea typeface="Aptos"/>
                <a:cs typeface="Aptos"/>
              </a:rPr>
              <a:t>INITIALIZE</a:t>
            </a:r>
          </a:p>
        </p:txBody>
      </p:sp>
      <p:sp>
        <p:nvSpPr>
          <p:cNvPr id="40" name="s5-ui-0">
            <a:extLst xmlns:a="http://schemas.openxmlformats.org/drawingml/2006/main">
              <a:ext uri="{FF2B5EF4-FFF2-40B4-BE49-F238E27FC236}">
                <a16:creationId xmlns:a16="http://schemas.microsoft.com/office/drawing/2014/main" id="{0A6ABF77-8B6A-4E53-BE71-A389EFF831D0}"/>
              </a:ext>
            </a:extLst>
          </p:cNvPr>
          <p:cNvSpPr>
            <a:spLocks xmlns:a="http://schemas.openxmlformats.org/drawingml/2006/main" noGrp="1"/>
          </p:cNvSpPr>
          <p:nvPr/>
        </p:nvSpPr>
        <p:spPr>
          <a:xfrm xmlns:a="http://schemas.openxmlformats.org/drawingml/2006/main">
            <a:off x="781050" y="2171700"/>
            <a:ext cx="1219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013" b="1">
                <a:solidFill>
                  <a:srgbClr val="17324A"/>
                </a:solidFill>
                <a:latin typeface="Aptos"/>
                <a:ea typeface="Aptos"/>
                <a:cs typeface="Aptos"/>
              </a:defRPr>
            </a:pPr>
            <a:r>
              <a:rPr sz="1013" b="1">
                <a:solidFill>
                  <a:srgbClr val="17324A"/>
                </a:solidFill>
                <a:latin typeface="Aptos"/>
                <a:ea typeface="Aptos"/>
                <a:cs typeface="Aptos"/>
              </a:rPr>
              <a:t>Command Window</a:t>
            </a:r>
          </a:p>
        </p:txBody>
      </p:sp>
      <p:sp>
        <p:nvSpPr>
          <p:cNvPr id="41" name="s5-purpose-0">
            <a:extLst xmlns:a="http://schemas.openxmlformats.org/drawingml/2006/main">
              <a:ext uri="{FF2B5EF4-FFF2-40B4-BE49-F238E27FC236}">
                <a16:creationId xmlns:a16="http://schemas.microsoft.com/office/drawing/2014/main" id="{64B6F29D-7A77-46FF-A25B-868FE91F4269}"/>
              </a:ext>
            </a:extLst>
          </p:cNvPr>
          <p:cNvSpPr>
            <a:spLocks xmlns:a="http://schemas.openxmlformats.org/drawingml/2006/main" noGrp="1"/>
          </p:cNvSpPr>
          <p:nvPr/>
        </p:nvSpPr>
        <p:spPr>
          <a:xfrm xmlns:a="http://schemas.openxmlformats.org/drawingml/2006/main">
            <a:off x="781050" y="2552700"/>
            <a:ext cx="1219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defRPr sz="960" b="0">
                <a:solidFill>
                  <a:srgbClr val="5D7487"/>
                </a:solidFill>
                <a:latin typeface="Aptos"/>
                <a:ea typeface="Aptos"/>
                <a:cs typeface="Aptos"/>
              </a:defRPr>
            </a:pPr>
            <a:r>
              <a:rPr sz="960" b="0">
                <a:solidFill>
                  <a:srgbClr val="5D7487"/>
                </a:solidFill>
                <a:latin typeface="Aptos"/>
                <a:ea typeface="Aptos"/>
                <a:cs typeface="Aptos"/>
              </a:rPr>
              <a:t>Prepare paths + FCS_Data.sldd</a:t>
            </a:r>
          </a:p>
        </p:txBody>
      </p:sp>
      <p:sp>
        <p:nvSpPr>
          <p:cNvPr id="42" name="s5-card-1">
            <a:extLst xmlns:a="http://schemas.openxmlformats.org/drawingml/2006/main">
              <a:ext uri="{FF2B5EF4-FFF2-40B4-BE49-F238E27FC236}">
                <a16:creationId xmlns:a16="http://schemas.microsoft.com/office/drawing/2014/main" id="{B20B84FE-1040-4F10-81FF-A117A9098CB7}"/>
              </a:ext>
            </a:extLst>
          </p:cNvPr>
          <p:cNvSpPr>
            <a:spLocks xmlns:a="http://schemas.openxmlformats.org/drawingml/2006/main" noGrp="1"/>
          </p:cNvSpPr>
          <p:nvPr/>
        </p:nvSpPr>
        <p:spPr>
          <a:xfrm xmlns:a="http://schemas.openxmlformats.org/drawingml/2006/main">
            <a:off x="2209800" y="1504950"/>
            <a:ext cx="1409700" cy="1676400"/>
          </a:xfrm>
          <a:prstGeom xmlns:a="http://schemas.openxmlformats.org/drawingml/2006/main" prst="roundRect">
            <a:avLst>
              <a:gd name="adj" fmla="val 8108"/>
            </a:avLst>
          </a:prstGeom>
          <a:solidFill xmlns:a="http://schemas.openxmlformats.org/drawingml/2006/main">
            <a:srgbClr val="FFFFFF"/>
          </a:solidFill>
          <a:ln xmlns:a="http://schemas.openxmlformats.org/drawingml/2006/main" w="15240">
            <a:solidFill>
              <a:srgbClr val="2D6CDF"/>
            </a:solidFill>
            <a:prstDash val="solid"/>
          </a:ln>
        </p:spPr>
      </p:sp>
      <p:sp>
        <p:nvSpPr>
          <p:cNvPr id="43" name="s5-num-1">
            <a:extLst xmlns:a="http://schemas.openxmlformats.org/drawingml/2006/main">
              <a:ext uri="{FF2B5EF4-FFF2-40B4-BE49-F238E27FC236}">
                <a16:creationId xmlns:a16="http://schemas.microsoft.com/office/drawing/2014/main" id="{578B0659-1074-46C4-ADDA-A31929B2E538}"/>
              </a:ext>
            </a:extLst>
          </p:cNvPr>
          <p:cNvSpPr>
            <a:spLocks xmlns:a="http://schemas.openxmlformats.org/drawingml/2006/main" noGrp="1"/>
          </p:cNvSpPr>
          <p:nvPr/>
        </p:nvSpPr>
        <p:spPr>
          <a:xfrm xmlns:a="http://schemas.openxmlformats.org/drawingml/2006/main">
            <a:off x="2324100" y="16002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975" b="1">
                <a:solidFill>
                  <a:srgbClr val="5D7487"/>
                </a:solidFill>
                <a:latin typeface="Aptos"/>
                <a:ea typeface="Aptos"/>
                <a:cs typeface="Aptos"/>
              </a:defRPr>
            </a:pPr>
            <a:r>
              <a:rPr sz="975" b="1">
                <a:solidFill>
                  <a:srgbClr val="5D7487"/>
                </a:solidFill>
                <a:latin typeface="Aptos"/>
                <a:ea typeface="Aptos"/>
                <a:cs typeface="Aptos"/>
              </a:rPr>
              <a:t>02</a:t>
            </a:r>
          </a:p>
        </p:txBody>
      </p:sp>
      <p:sp>
        <p:nvSpPr>
          <p:cNvPr id="44" name="s5-title-1">
            <a:extLst xmlns:a="http://schemas.openxmlformats.org/drawingml/2006/main">
              <a:ext uri="{FF2B5EF4-FFF2-40B4-BE49-F238E27FC236}">
                <a16:creationId xmlns:a16="http://schemas.microsoft.com/office/drawing/2014/main" id="{306C5A72-6572-493A-9198-F01CF888E2D3}"/>
              </a:ext>
            </a:extLst>
          </p:cNvPr>
          <p:cNvSpPr>
            <a:spLocks xmlns:a="http://schemas.openxmlformats.org/drawingml/2006/main" noGrp="1"/>
          </p:cNvSpPr>
          <p:nvPr/>
        </p:nvSpPr>
        <p:spPr>
          <a:xfrm xmlns:a="http://schemas.openxmlformats.org/drawingml/2006/main">
            <a:off x="2324100" y="1857375"/>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275" b="1">
                <a:solidFill>
                  <a:srgbClr val="2D6CDF"/>
                </a:solidFill>
                <a:latin typeface="Aptos"/>
                <a:ea typeface="Aptos"/>
                <a:cs typeface="Aptos"/>
              </a:defRPr>
            </a:pPr>
            <a:r>
              <a:rPr sz="1275" b="1">
                <a:solidFill>
                  <a:srgbClr val="2D6CDF"/>
                </a:solidFill>
                <a:latin typeface="Aptos"/>
                <a:ea typeface="Aptos"/>
                <a:cs typeface="Aptos"/>
              </a:rPr>
              <a:t>OPEN</a:t>
            </a:r>
          </a:p>
        </p:txBody>
      </p:sp>
      <p:sp>
        <p:nvSpPr>
          <p:cNvPr id="45" name="s5-ui-1">
            <a:extLst xmlns:a="http://schemas.openxmlformats.org/drawingml/2006/main">
              <a:ext uri="{FF2B5EF4-FFF2-40B4-BE49-F238E27FC236}">
                <a16:creationId xmlns:a16="http://schemas.microsoft.com/office/drawing/2014/main" id="{944DFB2D-30C4-47FE-A72E-3AC51EA6222B}"/>
              </a:ext>
            </a:extLst>
          </p:cNvPr>
          <p:cNvSpPr>
            <a:spLocks xmlns:a="http://schemas.openxmlformats.org/drawingml/2006/main" noGrp="1"/>
          </p:cNvSpPr>
          <p:nvPr/>
        </p:nvSpPr>
        <p:spPr>
          <a:xfrm xmlns:a="http://schemas.openxmlformats.org/drawingml/2006/main">
            <a:off x="2305050" y="2171700"/>
            <a:ext cx="1219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013" b="1">
                <a:solidFill>
                  <a:srgbClr val="17324A"/>
                </a:solidFill>
                <a:latin typeface="Aptos"/>
                <a:ea typeface="Aptos"/>
                <a:cs typeface="Aptos"/>
              </a:defRPr>
            </a:pPr>
            <a:r>
              <a:rPr sz="1013" b="1">
                <a:solidFill>
                  <a:srgbClr val="17324A"/>
                </a:solidFill>
                <a:latin typeface="Aptos"/>
                <a:ea typeface="Aptos"/>
                <a:cs typeface="Aptos"/>
              </a:rPr>
              <a:t>Ctrl+O / open_system</a:t>
            </a:r>
          </a:p>
        </p:txBody>
      </p:sp>
      <p:sp>
        <p:nvSpPr>
          <p:cNvPr id="46" name="s5-purpose-1">
            <a:extLst xmlns:a="http://schemas.openxmlformats.org/drawingml/2006/main">
              <a:ext uri="{FF2B5EF4-FFF2-40B4-BE49-F238E27FC236}">
                <a16:creationId xmlns:a16="http://schemas.microsoft.com/office/drawing/2014/main" id="{76CD7A9D-3321-4A40-BDFE-9A2674D8A86A}"/>
              </a:ext>
            </a:extLst>
          </p:cNvPr>
          <p:cNvSpPr>
            <a:spLocks xmlns:a="http://schemas.openxmlformats.org/drawingml/2006/main" noGrp="1"/>
          </p:cNvSpPr>
          <p:nvPr/>
        </p:nvSpPr>
        <p:spPr>
          <a:xfrm xmlns:a="http://schemas.openxmlformats.org/drawingml/2006/main">
            <a:off x="2305050" y="2552700"/>
            <a:ext cx="1219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defRPr sz="960" b="0">
                <a:solidFill>
                  <a:srgbClr val="5D7487"/>
                </a:solidFill>
                <a:latin typeface="Aptos"/>
                <a:ea typeface="Aptos"/>
                <a:cs typeface="Aptos"/>
              </a:defRPr>
            </a:pPr>
            <a:r>
              <a:rPr sz="960" b="0">
                <a:solidFill>
                  <a:srgbClr val="5D7487"/>
                </a:solidFill>
                <a:latin typeface="Aptos"/>
                <a:ea typeface="Aptos"/>
                <a:cs typeface="Aptos"/>
              </a:rPr>
              <a:t>Choose the correct top level</a:t>
            </a:r>
          </a:p>
        </p:txBody>
      </p:sp>
      <p:sp>
        <p:nvSpPr>
          <p:cNvPr id="47" name="s5-card-2">
            <a:extLst xmlns:a="http://schemas.openxmlformats.org/drawingml/2006/main">
              <a:ext uri="{FF2B5EF4-FFF2-40B4-BE49-F238E27FC236}">
                <a16:creationId xmlns:a16="http://schemas.microsoft.com/office/drawing/2014/main" id="{21F9AD9E-130D-48B9-81F3-9BCAA193D679}"/>
              </a:ext>
            </a:extLst>
          </p:cNvPr>
          <p:cNvSpPr>
            <a:spLocks xmlns:a="http://schemas.openxmlformats.org/drawingml/2006/main" noGrp="1"/>
          </p:cNvSpPr>
          <p:nvPr/>
        </p:nvSpPr>
        <p:spPr>
          <a:xfrm xmlns:a="http://schemas.openxmlformats.org/drawingml/2006/main">
            <a:off x="3733800" y="1504950"/>
            <a:ext cx="1409700" cy="1676400"/>
          </a:xfrm>
          <a:prstGeom xmlns:a="http://schemas.openxmlformats.org/drawingml/2006/main" prst="roundRect">
            <a:avLst>
              <a:gd name="adj" fmla="val 8108"/>
            </a:avLst>
          </a:prstGeom>
          <a:solidFill xmlns:a="http://schemas.openxmlformats.org/drawingml/2006/main">
            <a:srgbClr val="FFFFFF"/>
          </a:solidFill>
          <a:ln xmlns:a="http://schemas.openxmlformats.org/drawingml/2006/main" w="15240">
            <a:solidFill>
              <a:srgbClr val="2D6CDF"/>
            </a:solidFill>
            <a:prstDash val="solid"/>
          </a:ln>
        </p:spPr>
      </p:sp>
      <p:sp>
        <p:nvSpPr>
          <p:cNvPr id="48" name="s5-num-2">
            <a:extLst xmlns:a="http://schemas.openxmlformats.org/drawingml/2006/main">
              <a:ext uri="{FF2B5EF4-FFF2-40B4-BE49-F238E27FC236}">
                <a16:creationId xmlns:a16="http://schemas.microsoft.com/office/drawing/2014/main" id="{2E0DF6A7-BA36-4253-90C4-0DB3C4A9678E}"/>
              </a:ext>
            </a:extLst>
          </p:cNvPr>
          <p:cNvSpPr>
            <a:spLocks xmlns:a="http://schemas.openxmlformats.org/drawingml/2006/main" noGrp="1"/>
          </p:cNvSpPr>
          <p:nvPr/>
        </p:nvSpPr>
        <p:spPr>
          <a:xfrm xmlns:a="http://schemas.openxmlformats.org/drawingml/2006/main">
            <a:off x="3848100" y="16002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975" b="1">
                <a:solidFill>
                  <a:srgbClr val="5D7487"/>
                </a:solidFill>
                <a:latin typeface="Aptos"/>
                <a:ea typeface="Aptos"/>
                <a:cs typeface="Aptos"/>
              </a:defRPr>
            </a:pPr>
            <a:r>
              <a:rPr sz="975" b="1">
                <a:solidFill>
                  <a:srgbClr val="5D7487"/>
                </a:solidFill>
                <a:latin typeface="Aptos"/>
                <a:ea typeface="Aptos"/>
                <a:cs typeface="Aptos"/>
              </a:rPr>
              <a:t>03</a:t>
            </a:r>
          </a:p>
        </p:txBody>
      </p:sp>
      <p:sp>
        <p:nvSpPr>
          <p:cNvPr id="49" name="s5-title-2">
            <a:extLst xmlns:a="http://schemas.openxmlformats.org/drawingml/2006/main">
              <a:ext uri="{FF2B5EF4-FFF2-40B4-BE49-F238E27FC236}">
                <a16:creationId xmlns:a16="http://schemas.microsoft.com/office/drawing/2014/main" id="{B8C33334-6D6F-4E3B-83C4-5F46C5DE0B3F}"/>
              </a:ext>
            </a:extLst>
          </p:cNvPr>
          <p:cNvSpPr>
            <a:spLocks xmlns:a="http://schemas.openxmlformats.org/drawingml/2006/main" noGrp="1"/>
          </p:cNvSpPr>
          <p:nvPr/>
        </p:nvSpPr>
        <p:spPr>
          <a:xfrm xmlns:a="http://schemas.openxmlformats.org/drawingml/2006/main">
            <a:off x="3848100" y="1857375"/>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275" b="1">
                <a:solidFill>
                  <a:srgbClr val="2D6CDF"/>
                </a:solidFill>
                <a:latin typeface="Aptos"/>
                <a:ea typeface="Aptos"/>
                <a:cs typeface="Aptos"/>
              </a:defRPr>
            </a:pPr>
            <a:r>
              <a:rPr sz="1275" b="1">
                <a:solidFill>
                  <a:srgbClr val="2D6CDF"/>
                </a:solidFill>
                <a:latin typeface="Aptos"/>
                <a:ea typeface="Aptos"/>
                <a:cs typeface="Aptos"/>
              </a:rPr>
              <a:t>UPDATE</a:t>
            </a:r>
          </a:p>
        </p:txBody>
      </p:sp>
      <p:sp>
        <p:nvSpPr>
          <p:cNvPr id="50" name="s5-ui-2">
            <a:extLst xmlns:a="http://schemas.openxmlformats.org/drawingml/2006/main">
              <a:ext uri="{FF2B5EF4-FFF2-40B4-BE49-F238E27FC236}">
                <a16:creationId xmlns:a16="http://schemas.microsoft.com/office/drawing/2014/main" id="{C1F3B741-2AEF-4EAE-B6D2-190D3FDBFD06}"/>
              </a:ext>
            </a:extLst>
          </p:cNvPr>
          <p:cNvSpPr>
            <a:spLocks xmlns:a="http://schemas.openxmlformats.org/drawingml/2006/main" noGrp="1"/>
          </p:cNvSpPr>
          <p:nvPr/>
        </p:nvSpPr>
        <p:spPr>
          <a:xfrm xmlns:a="http://schemas.openxmlformats.org/drawingml/2006/main">
            <a:off x="3829050" y="2171700"/>
            <a:ext cx="1219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013" b="1">
                <a:solidFill>
                  <a:srgbClr val="17324A"/>
                </a:solidFill>
                <a:latin typeface="Aptos"/>
                <a:ea typeface="Aptos"/>
                <a:cs typeface="Aptos"/>
              </a:defRPr>
            </a:pPr>
            <a:r>
              <a:rPr sz="1013" b="1">
                <a:solidFill>
                  <a:srgbClr val="17324A"/>
                </a:solidFill>
                <a:latin typeface="Aptos"/>
                <a:ea typeface="Aptos"/>
                <a:cs typeface="Aptos"/>
              </a:rPr>
              <a:t>Modeling • Ctrl+D</a:t>
            </a:r>
          </a:p>
        </p:txBody>
      </p:sp>
      <p:sp>
        <p:nvSpPr>
          <p:cNvPr id="51" name="s5-purpose-2">
            <a:extLst xmlns:a="http://schemas.openxmlformats.org/drawingml/2006/main">
              <a:ext uri="{FF2B5EF4-FFF2-40B4-BE49-F238E27FC236}">
                <a16:creationId xmlns:a16="http://schemas.microsoft.com/office/drawing/2014/main" id="{ED560A45-8E90-474B-8274-C0E13DCCB4C2}"/>
              </a:ext>
            </a:extLst>
          </p:cNvPr>
          <p:cNvSpPr>
            <a:spLocks xmlns:a="http://schemas.openxmlformats.org/drawingml/2006/main" noGrp="1"/>
          </p:cNvSpPr>
          <p:nvPr/>
        </p:nvSpPr>
        <p:spPr>
          <a:xfrm xmlns:a="http://schemas.openxmlformats.org/drawingml/2006/main">
            <a:off x="3829050" y="2552700"/>
            <a:ext cx="1219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defRPr sz="960" b="0">
                <a:solidFill>
                  <a:srgbClr val="5D7487"/>
                </a:solidFill>
                <a:latin typeface="Aptos"/>
                <a:ea typeface="Aptos"/>
                <a:cs typeface="Aptos"/>
              </a:defRPr>
            </a:pPr>
            <a:r>
              <a:rPr sz="960" b="0">
                <a:solidFill>
                  <a:srgbClr val="5D7487"/>
                </a:solidFill>
                <a:latin typeface="Aptos"/>
                <a:ea typeface="Aptos"/>
                <a:cs typeface="Aptos"/>
              </a:rPr>
              <a:t>Compile and propagate semantics</a:t>
            </a:r>
          </a:p>
        </p:txBody>
      </p:sp>
      <p:sp>
        <p:nvSpPr>
          <p:cNvPr id="52" name="s5-card-3">
            <a:extLst xmlns:a="http://schemas.openxmlformats.org/drawingml/2006/main">
              <a:ext uri="{FF2B5EF4-FFF2-40B4-BE49-F238E27FC236}">
                <a16:creationId xmlns:a16="http://schemas.microsoft.com/office/drawing/2014/main" id="{F935BE4D-8811-4BA8-A982-64F881E32764}"/>
              </a:ext>
            </a:extLst>
          </p:cNvPr>
          <p:cNvSpPr>
            <a:spLocks xmlns:a="http://schemas.openxmlformats.org/drawingml/2006/main" noGrp="1"/>
          </p:cNvSpPr>
          <p:nvPr/>
        </p:nvSpPr>
        <p:spPr>
          <a:xfrm xmlns:a="http://schemas.openxmlformats.org/drawingml/2006/main">
            <a:off x="5257800" y="1504950"/>
            <a:ext cx="1409700" cy="1676400"/>
          </a:xfrm>
          <a:prstGeom xmlns:a="http://schemas.openxmlformats.org/drawingml/2006/main" prst="roundRect">
            <a:avLst>
              <a:gd name="adj" fmla="val 8108"/>
            </a:avLst>
          </a:prstGeom>
          <a:solidFill xmlns:a="http://schemas.openxmlformats.org/drawingml/2006/main">
            <a:srgbClr val="FFFFFF"/>
          </a:solidFill>
          <a:ln xmlns:a="http://schemas.openxmlformats.org/drawingml/2006/main" w="15240">
            <a:solidFill>
              <a:srgbClr val="20B7C5"/>
            </a:solidFill>
            <a:prstDash val="solid"/>
          </a:ln>
        </p:spPr>
      </p:sp>
      <p:sp>
        <p:nvSpPr>
          <p:cNvPr id="53" name="s5-num-3">
            <a:extLst xmlns:a="http://schemas.openxmlformats.org/drawingml/2006/main">
              <a:ext uri="{FF2B5EF4-FFF2-40B4-BE49-F238E27FC236}">
                <a16:creationId xmlns:a16="http://schemas.microsoft.com/office/drawing/2014/main" id="{57CFBFFB-3E5F-4325-8E9F-E108E7C8674F}"/>
              </a:ext>
            </a:extLst>
          </p:cNvPr>
          <p:cNvSpPr>
            <a:spLocks xmlns:a="http://schemas.openxmlformats.org/drawingml/2006/main" noGrp="1"/>
          </p:cNvSpPr>
          <p:nvPr/>
        </p:nvSpPr>
        <p:spPr>
          <a:xfrm xmlns:a="http://schemas.openxmlformats.org/drawingml/2006/main">
            <a:off x="5372100" y="16002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975" b="1">
                <a:solidFill>
                  <a:srgbClr val="5D7487"/>
                </a:solidFill>
                <a:latin typeface="Aptos"/>
                <a:ea typeface="Aptos"/>
                <a:cs typeface="Aptos"/>
              </a:defRPr>
            </a:pPr>
            <a:r>
              <a:rPr sz="975" b="1">
                <a:solidFill>
                  <a:srgbClr val="5D7487"/>
                </a:solidFill>
                <a:latin typeface="Aptos"/>
                <a:ea typeface="Aptos"/>
                <a:cs typeface="Aptos"/>
              </a:rPr>
              <a:t>04</a:t>
            </a:r>
          </a:p>
        </p:txBody>
      </p:sp>
      <p:sp>
        <p:nvSpPr>
          <p:cNvPr id="54" name="s5-title-3">
            <a:extLst xmlns:a="http://schemas.openxmlformats.org/drawingml/2006/main">
              <a:ext uri="{FF2B5EF4-FFF2-40B4-BE49-F238E27FC236}">
                <a16:creationId xmlns:a16="http://schemas.microsoft.com/office/drawing/2014/main" id="{7ABC74A6-236E-4E61-BB7D-017EB253ABCB}"/>
              </a:ext>
            </a:extLst>
          </p:cNvPr>
          <p:cNvSpPr>
            <a:spLocks xmlns:a="http://schemas.openxmlformats.org/drawingml/2006/main" noGrp="1"/>
          </p:cNvSpPr>
          <p:nvPr/>
        </p:nvSpPr>
        <p:spPr>
          <a:xfrm xmlns:a="http://schemas.openxmlformats.org/drawingml/2006/main">
            <a:off x="5372100" y="1857375"/>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275" b="1">
                <a:solidFill>
                  <a:srgbClr val="2D6CDF"/>
                </a:solidFill>
                <a:latin typeface="Aptos"/>
                <a:ea typeface="Aptos"/>
                <a:cs typeface="Aptos"/>
              </a:defRPr>
            </a:pPr>
            <a:r>
              <a:rPr sz="1275" b="1">
                <a:solidFill>
                  <a:srgbClr val="2D6CDF"/>
                </a:solidFill>
                <a:latin typeface="Aptos"/>
                <a:ea typeface="Aptos"/>
                <a:cs typeface="Aptos"/>
              </a:rPr>
              <a:t>RUN</a:t>
            </a:r>
          </a:p>
        </p:txBody>
      </p:sp>
      <p:sp>
        <p:nvSpPr>
          <p:cNvPr id="55" name="s5-ui-3">
            <a:extLst xmlns:a="http://schemas.openxmlformats.org/drawingml/2006/main">
              <a:ext uri="{FF2B5EF4-FFF2-40B4-BE49-F238E27FC236}">
                <a16:creationId xmlns:a16="http://schemas.microsoft.com/office/drawing/2014/main" id="{CA9CAD16-F1A6-4022-A7FA-5EC72A20DAAA}"/>
              </a:ext>
            </a:extLst>
          </p:cNvPr>
          <p:cNvSpPr>
            <a:spLocks xmlns:a="http://schemas.openxmlformats.org/drawingml/2006/main" noGrp="1"/>
          </p:cNvSpPr>
          <p:nvPr/>
        </p:nvSpPr>
        <p:spPr>
          <a:xfrm xmlns:a="http://schemas.openxmlformats.org/drawingml/2006/main">
            <a:off x="5353050" y="2171700"/>
            <a:ext cx="1219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013" b="1">
                <a:solidFill>
                  <a:srgbClr val="17324A"/>
                </a:solidFill>
                <a:latin typeface="Aptos"/>
                <a:ea typeface="Aptos"/>
                <a:cs typeface="Aptos"/>
              </a:defRPr>
            </a:pPr>
            <a:r>
              <a:rPr sz="1013" b="1">
                <a:solidFill>
                  <a:srgbClr val="17324A"/>
                </a:solidFill>
                <a:latin typeface="Aptos"/>
                <a:ea typeface="Aptos"/>
                <a:cs typeface="Aptos"/>
              </a:rPr>
              <a:t>Simulation • Ctrl+T</a:t>
            </a:r>
          </a:p>
        </p:txBody>
      </p:sp>
      <p:sp>
        <p:nvSpPr>
          <p:cNvPr id="56" name="s5-purpose-3">
            <a:extLst xmlns:a="http://schemas.openxmlformats.org/drawingml/2006/main">
              <a:ext uri="{FF2B5EF4-FFF2-40B4-BE49-F238E27FC236}">
                <a16:creationId xmlns:a16="http://schemas.microsoft.com/office/drawing/2014/main" id="{EC9A836A-289D-48F2-A5E7-1AD45D6BE4D6}"/>
              </a:ext>
            </a:extLst>
          </p:cNvPr>
          <p:cNvSpPr>
            <a:spLocks xmlns:a="http://schemas.openxmlformats.org/drawingml/2006/main" noGrp="1"/>
          </p:cNvSpPr>
          <p:nvPr/>
        </p:nvSpPr>
        <p:spPr>
          <a:xfrm xmlns:a="http://schemas.openxmlformats.org/drawingml/2006/main">
            <a:off x="5353050" y="2552700"/>
            <a:ext cx="1219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defRPr sz="960" b="0">
                <a:solidFill>
                  <a:srgbClr val="5D7487"/>
                </a:solidFill>
                <a:latin typeface="Aptos"/>
                <a:ea typeface="Aptos"/>
                <a:cs typeface="Aptos"/>
              </a:defRPr>
            </a:pPr>
            <a:r>
              <a:rPr sz="960" b="0">
                <a:solidFill>
                  <a:srgbClr val="5D7487"/>
                </a:solidFill>
                <a:latin typeface="Aptos"/>
                <a:ea typeface="Aptos"/>
                <a:cs typeface="Aptos"/>
              </a:rPr>
              <a:t>Execute desktop model behavior</a:t>
            </a:r>
          </a:p>
        </p:txBody>
      </p:sp>
      <p:sp>
        <p:nvSpPr>
          <p:cNvPr id="57" name="s5-card-4">
            <a:extLst xmlns:a="http://schemas.openxmlformats.org/drawingml/2006/main">
              <a:ext uri="{FF2B5EF4-FFF2-40B4-BE49-F238E27FC236}">
                <a16:creationId xmlns:a16="http://schemas.microsoft.com/office/drawing/2014/main" id="{BC437B08-31F0-4346-8C97-EFB3210DB4F4}"/>
              </a:ext>
            </a:extLst>
          </p:cNvPr>
          <p:cNvSpPr>
            <a:spLocks xmlns:a="http://schemas.openxmlformats.org/drawingml/2006/main" noGrp="1"/>
          </p:cNvSpPr>
          <p:nvPr/>
        </p:nvSpPr>
        <p:spPr>
          <a:xfrm xmlns:a="http://schemas.openxmlformats.org/drawingml/2006/main">
            <a:off x="6781800" y="1504950"/>
            <a:ext cx="1409700" cy="1676400"/>
          </a:xfrm>
          <a:prstGeom xmlns:a="http://schemas.openxmlformats.org/drawingml/2006/main" prst="roundRect">
            <a:avLst>
              <a:gd name="adj" fmla="val 8108"/>
            </a:avLst>
          </a:prstGeom>
          <a:solidFill xmlns:a="http://schemas.openxmlformats.org/drawingml/2006/main">
            <a:srgbClr val="FFFFFF"/>
          </a:solidFill>
          <a:ln xmlns:a="http://schemas.openxmlformats.org/drawingml/2006/main" w="15240">
            <a:solidFill>
              <a:srgbClr val="20B7C5"/>
            </a:solidFill>
            <a:prstDash val="solid"/>
          </a:ln>
        </p:spPr>
      </p:sp>
      <p:sp>
        <p:nvSpPr>
          <p:cNvPr id="58" name="s5-num-4">
            <a:extLst xmlns:a="http://schemas.openxmlformats.org/drawingml/2006/main">
              <a:ext uri="{FF2B5EF4-FFF2-40B4-BE49-F238E27FC236}">
                <a16:creationId xmlns:a16="http://schemas.microsoft.com/office/drawing/2014/main" id="{D1A3000A-0028-495B-B57C-D42B779E2DD7}"/>
              </a:ext>
            </a:extLst>
          </p:cNvPr>
          <p:cNvSpPr>
            <a:spLocks xmlns:a="http://schemas.openxmlformats.org/drawingml/2006/main" noGrp="1"/>
          </p:cNvSpPr>
          <p:nvPr/>
        </p:nvSpPr>
        <p:spPr>
          <a:xfrm xmlns:a="http://schemas.openxmlformats.org/drawingml/2006/main">
            <a:off x="6896100" y="16002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975" b="1">
                <a:solidFill>
                  <a:srgbClr val="5D7487"/>
                </a:solidFill>
                <a:latin typeface="Aptos"/>
                <a:ea typeface="Aptos"/>
                <a:cs typeface="Aptos"/>
              </a:defRPr>
            </a:pPr>
            <a:r>
              <a:rPr sz="975" b="1">
                <a:solidFill>
                  <a:srgbClr val="5D7487"/>
                </a:solidFill>
                <a:latin typeface="Aptos"/>
                <a:ea typeface="Aptos"/>
                <a:cs typeface="Aptos"/>
              </a:rPr>
              <a:t>05</a:t>
            </a:r>
          </a:p>
        </p:txBody>
      </p:sp>
      <p:sp>
        <p:nvSpPr>
          <p:cNvPr id="59" name="s5-title-4">
            <a:extLst xmlns:a="http://schemas.openxmlformats.org/drawingml/2006/main">
              <a:ext uri="{FF2B5EF4-FFF2-40B4-BE49-F238E27FC236}">
                <a16:creationId xmlns:a16="http://schemas.microsoft.com/office/drawing/2014/main" id="{A9778011-344B-4744-A309-8AB98585654D}"/>
              </a:ext>
            </a:extLst>
          </p:cNvPr>
          <p:cNvSpPr>
            <a:spLocks xmlns:a="http://schemas.openxmlformats.org/drawingml/2006/main" noGrp="1"/>
          </p:cNvSpPr>
          <p:nvPr/>
        </p:nvSpPr>
        <p:spPr>
          <a:xfrm xmlns:a="http://schemas.openxmlformats.org/drawingml/2006/main">
            <a:off x="6896100" y="1857375"/>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275" b="1">
                <a:solidFill>
                  <a:srgbClr val="2D6CDF"/>
                </a:solidFill>
                <a:latin typeface="Aptos"/>
                <a:ea typeface="Aptos"/>
                <a:cs typeface="Aptos"/>
              </a:defRPr>
            </a:pPr>
            <a:r>
              <a:rPr sz="1275" b="1">
                <a:solidFill>
                  <a:srgbClr val="2D6CDF"/>
                </a:solidFill>
                <a:latin typeface="Aptos"/>
                <a:ea typeface="Aptos"/>
                <a:cs typeface="Aptos"/>
              </a:rPr>
              <a:t>STOP</a:t>
            </a:r>
          </a:p>
        </p:txBody>
      </p:sp>
      <p:sp>
        <p:nvSpPr>
          <p:cNvPr id="60" name="s5-ui-4">
            <a:extLst xmlns:a="http://schemas.openxmlformats.org/drawingml/2006/main">
              <a:ext uri="{FF2B5EF4-FFF2-40B4-BE49-F238E27FC236}">
                <a16:creationId xmlns:a16="http://schemas.microsoft.com/office/drawing/2014/main" id="{9745327E-30F4-4BC4-A34A-D0EEA69571C6}"/>
              </a:ext>
            </a:extLst>
          </p:cNvPr>
          <p:cNvSpPr>
            <a:spLocks xmlns:a="http://schemas.openxmlformats.org/drawingml/2006/main" noGrp="1"/>
          </p:cNvSpPr>
          <p:nvPr/>
        </p:nvSpPr>
        <p:spPr>
          <a:xfrm xmlns:a="http://schemas.openxmlformats.org/drawingml/2006/main">
            <a:off x="6877050" y="2171700"/>
            <a:ext cx="1219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013" b="1">
                <a:solidFill>
                  <a:srgbClr val="17324A"/>
                </a:solidFill>
                <a:latin typeface="Aptos"/>
                <a:ea typeface="Aptos"/>
                <a:cs typeface="Aptos"/>
              </a:defRPr>
            </a:pPr>
            <a:r>
              <a:rPr sz="1013" b="1">
                <a:solidFill>
                  <a:srgbClr val="17324A"/>
                </a:solidFill>
                <a:latin typeface="Aptos"/>
                <a:ea typeface="Aptos"/>
                <a:cs typeface="Aptos"/>
              </a:rPr>
              <a:t>Simulation • Stop</a:t>
            </a:r>
          </a:p>
        </p:txBody>
      </p:sp>
      <p:sp>
        <p:nvSpPr>
          <p:cNvPr id="61" name="s5-purpose-4">
            <a:extLst xmlns:a="http://schemas.openxmlformats.org/drawingml/2006/main">
              <a:ext uri="{FF2B5EF4-FFF2-40B4-BE49-F238E27FC236}">
                <a16:creationId xmlns:a16="http://schemas.microsoft.com/office/drawing/2014/main" id="{07BEB8A7-B5B8-4AAF-877A-A278774D3C22}"/>
              </a:ext>
            </a:extLst>
          </p:cNvPr>
          <p:cNvSpPr>
            <a:spLocks xmlns:a="http://schemas.openxmlformats.org/drawingml/2006/main" noGrp="1"/>
          </p:cNvSpPr>
          <p:nvPr/>
        </p:nvSpPr>
        <p:spPr>
          <a:xfrm xmlns:a="http://schemas.openxmlformats.org/drawingml/2006/main">
            <a:off x="6877050" y="2552700"/>
            <a:ext cx="1219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defRPr sz="960" b="0">
                <a:solidFill>
                  <a:srgbClr val="5D7487"/>
                </a:solidFill>
                <a:latin typeface="Aptos"/>
                <a:ea typeface="Aptos"/>
                <a:cs typeface="Aptos"/>
              </a:defRPr>
            </a:pPr>
            <a:r>
              <a:rPr sz="960" b="0">
                <a:solidFill>
                  <a:srgbClr val="5D7487"/>
                </a:solidFill>
                <a:latin typeface="Aptos"/>
                <a:ea typeface="Aptos"/>
                <a:cs typeface="Aptos"/>
              </a:rPr>
              <a:t>Interrupt the current execution</a:t>
            </a:r>
          </a:p>
        </p:txBody>
      </p:sp>
      <p:sp>
        <p:nvSpPr>
          <p:cNvPr id="62" name="s5-card-5">
            <a:extLst xmlns:a="http://schemas.openxmlformats.org/drawingml/2006/main">
              <a:ext uri="{FF2B5EF4-FFF2-40B4-BE49-F238E27FC236}">
                <a16:creationId xmlns:a16="http://schemas.microsoft.com/office/drawing/2014/main" id="{08675107-7881-49BC-A791-8BD3329C8620}"/>
              </a:ext>
            </a:extLst>
          </p:cNvPr>
          <p:cNvSpPr>
            <a:spLocks xmlns:a="http://schemas.openxmlformats.org/drawingml/2006/main" noGrp="1"/>
          </p:cNvSpPr>
          <p:nvPr/>
        </p:nvSpPr>
        <p:spPr>
          <a:xfrm xmlns:a="http://schemas.openxmlformats.org/drawingml/2006/main">
            <a:off x="8305800" y="1504950"/>
            <a:ext cx="1409700" cy="1676400"/>
          </a:xfrm>
          <a:prstGeom xmlns:a="http://schemas.openxmlformats.org/drawingml/2006/main" prst="roundRect">
            <a:avLst>
              <a:gd name="adj" fmla="val 8108"/>
            </a:avLst>
          </a:prstGeom>
          <a:solidFill xmlns:a="http://schemas.openxmlformats.org/drawingml/2006/main">
            <a:srgbClr val="FFFFFF"/>
          </a:solidFill>
          <a:ln xmlns:a="http://schemas.openxmlformats.org/drawingml/2006/main" w="15240">
            <a:solidFill>
              <a:srgbClr val="20B7C5"/>
            </a:solidFill>
            <a:prstDash val="solid"/>
          </a:ln>
        </p:spPr>
      </p:sp>
      <p:sp>
        <p:nvSpPr>
          <p:cNvPr id="63" name="s5-num-5">
            <a:extLst xmlns:a="http://schemas.openxmlformats.org/drawingml/2006/main">
              <a:ext uri="{FF2B5EF4-FFF2-40B4-BE49-F238E27FC236}">
                <a16:creationId xmlns:a16="http://schemas.microsoft.com/office/drawing/2014/main" id="{1D17517C-D661-4317-9558-31A29BBA8F10}"/>
              </a:ext>
            </a:extLst>
          </p:cNvPr>
          <p:cNvSpPr>
            <a:spLocks xmlns:a="http://schemas.openxmlformats.org/drawingml/2006/main" noGrp="1"/>
          </p:cNvSpPr>
          <p:nvPr/>
        </p:nvSpPr>
        <p:spPr>
          <a:xfrm xmlns:a="http://schemas.openxmlformats.org/drawingml/2006/main">
            <a:off x="8420100" y="16002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975" b="1">
                <a:solidFill>
                  <a:srgbClr val="5D7487"/>
                </a:solidFill>
                <a:latin typeface="Aptos"/>
                <a:ea typeface="Aptos"/>
                <a:cs typeface="Aptos"/>
              </a:defRPr>
            </a:pPr>
            <a:r>
              <a:rPr sz="975" b="1">
                <a:solidFill>
                  <a:srgbClr val="5D7487"/>
                </a:solidFill>
                <a:latin typeface="Aptos"/>
                <a:ea typeface="Aptos"/>
                <a:cs typeface="Aptos"/>
              </a:rPr>
              <a:t>06</a:t>
            </a:r>
          </a:p>
        </p:txBody>
      </p:sp>
      <p:sp>
        <p:nvSpPr>
          <p:cNvPr id="64" name="s5-title-5">
            <a:extLst xmlns:a="http://schemas.openxmlformats.org/drawingml/2006/main">
              <a:ext uri="{FF2B5EF4-FFF2-40B4-BE49-F238E27FC236}">
                <a16:creationId xmlns:a16="http://schemas.microsoft.com/office/drawing/2014/main" id="{97F41F15-852B-483B-8FA5-E36F705751B3}"/>
              </a:ext>
            </a:extLst>
          </p:cNvPr>
          <p:cNvSpPr>
            <a:spLocks xmlns:a="http://schemas.openxmlformats.org/drawingml/2006/main" noGrp="1"/>
          </p:cNvSpPr>
          <p:nvPr/>
        </p:nvSpPr>
        <p:spPr>
          <a:xfrm xmlns:a="http://schemas.openxmlformats.org/drawingml/2006/main">
            <a:off x="8420100" y="1857375"/>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275" b="1">
                <a:solidFill>
                  <a:srgbClr val="2D6CDF"/>
                </a:solidFill>
                <a:latin typeface="Aptos"/>
                <a:ea typeface="Aptos"/>
                <a:cs typeface="Aptos"/>
              </a:defRPr>
            </a:pPr>
            <a:r>
              <a:rPr sz="1275" b="1">
                <a:solidFill>
                  <a:srgbClr val="2D6CDF"/>
                </a:solidFill>
                <a:latin typeface="Aptos"/>
                <a:ea typeface="Aptos"/>
                <a:cs typeface="Aptos"/>
              </a:rPr>
              <a:t>BUILD</a:t>
            </a:r>
          </a:p>
        </p:txBody>
      </p:sp>
      <p:sp>
        <p:nvSpPr>
          <p:cNvPr id="65" name="s5-ui-5">
            <a:extLst xmlns:a="http://schemas.openxmlformats.org/drawingml/2006/main">
              <a:ext uri="{FF2B5EF4-FFF2-40B4-BE49-F238E27FC236}">
                <a16:creationId xmlns:a16="http://schemas.microsoft.com/office/drawing/2014/main" id="{C6D7FC41-0F23-4C94-8018-B604C817EF8E}"/>
              </a:ext>
            </a:extLst>
          </p:cNvPr>
          <p:cNvSpPr>
            <a:spLocks xmlns:a="http://schemas.openxmlformats.org/drawingml/2006/main" noGrp="1"/>
          </p:cNvSpPr>
          <p:nvPr/>
        </p:nvSpPr>
        <p:spPr>
          <a:xfrm xmlns:a="http://schemas.openxmlformats.org/drawingml/2006/main">
            <a:off x="8401050" y="2171700"/>
            <a:ext cx="1219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013" b="1">
                <a:solidFill>
                  <a:srgbClr val="17324A"/>
                </a:solidFill>
                <a:latin typeface="Aptos"/>
                <a:ea typeface="Aptos"/>
                <a:cs typeface="Aptos"/>
              </a:defRPr>
            </a:pPr>
            <a:r>
              <a:rPr sz="1013" b="1">
                <a:solidFill>
                  <a:srgbClr val="17324A"/>
                </a:solidFill>
                <a:latin typeface="Aptos"/>
                <a:ea typeface="Aptos"/>
                <a:cs typeface="Aptos"/>
              </a:rPr>
              <a:t>Apps • Ctrl+B</a:t>
            </a:r>
          </a:p>
        </p:txBody>
      </p:sp>
      <p:sp>
        <p:nvSpPr>
          <p:cNvPr id="66" name="s5-purpose-5">
            <a:extLst xmlns:a="http://schemas.openxmlformats.org/drawingml/2006/main">
              <a:ext uri="{FF2B5EF4-FFF2-40B4-BE49-F238E27FC236}">
                <a16:creationId xmlns:a16="http://schemas.microsoft.com/office/drawing/2014/main" id="{9C87DC60-98E0-4B80-B707-370324DCF766}"/>
              </a:ext>
            </a:extLst>
          </p:cNvPr>
          <p:cNvSpPr>
            <a:spLocks xmlns:a="http://schemas.openxmlformats.org/drawingml/2006/main" noGrp="1"/>
          </p:cNvSpPr>
          <p:nvPr/>
        </p:nvSpPr>
        <p:spPr>
          <a:xfrm xmlns:a="http://schemas.openxmlformats.org/drawingml/2006/main">
            <a:off x="8401050" y="2552700"/>
            <a:ext cx="1219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defRPr sz="960" b="0">
                <a:solidFill>
                  <a:srgbClr val="5D7487"/>
                </a:solidFill>
                <a:latin typeface="Aptos"/>
                <a:ea typeface="Aptos"/>
                <a:cs typeface="Aptos"/>
              </a:defRPr>
            </a:pPr>
            <a:r>
              <a:rPr sz="960" b="0">
                <a:solidFill>
                  <a:srgbClr val="5D7487"/>
                </a:solidFill>
                <a:latin typeface="Aptos"/>
                <a:ea typeface="Aptos"/>
                <a:cs typeface="Aptos"/>
              </a:rPr>
              <a:t>Configured code generation only</a:t>
            </a:r>
          </a:p>
        </p:txBody>
      </p:sp>
      <p:sp>
        <p:nvSpPr>
          <p:cNvPr id="67" name="s5-card-6">
            <a:extLst xmlns:a="http://schemas.openxmlformats.org/drawingml/2006/main">
              <a:ext uri="{FF2B5EF4-FFF2-40B4-BE49-F238E27FC236}">
                <a16:creationId xmlns:a16="http://schemas.microsoft.com/office/drawing/2014/main" id="{025B9F82-E929-4C91-A500-9A32CF95DA42}"/>
              </a:ext>
            </a:extLst>
          </p:cNvPr>
          <p:cNvSpPr>
            <a:spLocks xmlns:a="http://schemas.openxmlformats.org/drawingml/2006/main" noGrp="1"/>
          </p:cNvSpPr>
          <p:nvPr/>
        </p:nvSpPr>
        <p:spPr>
          <a:xfrm xmlns:a="http://schemas.openxmlformats.org/drawingml/2006/main">
            <a:off x="9829800" y="1504950"/>
            <a:ext cx="1409700" cy="1676400"/>
          </a:xfrm>
          <a:prstGeom xmlns:a="http://schemas.openxmlformats.org/drawingml/2006/main" prst="roundRect">
            <a:avLst>
              <a:gd name="adj" fmla="val 8108"/>
            </a:avLst>
          </a:prstGeom>
          <a:solidFill xmlns:a="http://schemas.openxmlformats.org/drawingml/2006/main">
            <a:srgbClr val="E2F4EA"/>
          </a:solidFill>
          <a:ln xmlns:a="http://schemas.openxmlformats.org/drawingml/2006/main" w="15240">
            <a:solidFill>
              <a:srgbClr val="2CA56F"/>
            </a:solidFill>
            <a:prstDash val="solid"/>
          </a:ln>
        </p:spPr>
      </p:sp>
      <p:sp>
        <p:nvSpPr>
          <p:cNvPr id="68" name="s5-num-6">
            <a:extLst xmlns:a="http://schemas.openxmlformats.org/drawingml/2006/main">
              <a:ext uri="{FF2B5EF4-FFF2-40B4-BE49-F238E27FC236}">
                <a16:creationId xmlns:a16="http://schemas.microsoft.com/office/drawing/2014/main" id="{8C5E5289-FEE8-49EC-9B61-B28D28A50B0C}"/>
              </a:ext>
            </a:extLst>
          </p:cNvPr>
          <p:cNvSpPr>
            <a:spLocks xmlns:a="http://schemas.openxmlformats.org/drawingml/2006/main" noGrp="1"/>
          </p:cNvSpPr>
          <p:nvPr/>
        </p:nvSpPr>
        <p:spPr>
          <a:xfrm xmlns:a="http://schemas.openxmlformats.org/drawingml/2006/main">
            <a:off x="9944100" y="16002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975" b="1">
                <a:solidFill>
                  <a:srgbClr val="5D7487"/>
                </a:solidFill>
                <a:latin typeface="Aptos"/>
                <a:ea typeface="Aptos"/>
                <a:cs typeface="Aptos"/>
              </a:defRPr>
            </a:pPr>
            <a:r>
              <a:rPr sz="975" b="1">
                <a:solidFill>
                  <a:srgbClr val="5D7487"/>
                </a:solidFill>
                <a:latin typeface="Aptos"/>
                <a:ea typeface="Aptos"/>
                <a:cs typeface="Aptos"/>
              </a:rPr>
              <a:t>07</a:t>
            </a:r>
          </a:p>
        </p:txBody>
      </p:sp>
      <p:sp>
        <p:nvSpPr>
          <p:cNvPr id="69" name="s5-title-6">
            <a:extLst xmlns:a="http://schemas.openxmlformats.org/drawingml/2006/main">
              <a:ext uri="{FF2B5EF4-FFF2-40B4-BE49-F238E27FC236}">
                <a16:creationId xmlns:a16="http://schemas.microsoft.com/office/drawing/2014/main" id="{6E23A9FD-D9E1-41B4-B5B2-413CD7635D34}"/>
              </a:ext>
            </a:extLst>
          </p:cNvPr>
          <p:cNvSpPr>
            <a:spLocks xmlns:a="http://schemas.openxmlformats.org/drawingml/2006/main" noGrp="1"/>
          </p:cNvSpPr>
          <p:nvPr/>
        </p:nvSpPr>
        <p:spPr>
          <a:xfrm xmlns:a="http://schemas.openxmlformats.org/drawingml/2006/main">
            <a:off x="9944100" y="1857375"/>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275" b="1">
                <a:solidFill>
                  <a:srgbClr val="2CA56F"/>
                </a:solidFill>
                <a:latin typeface="Aptos"/>
                <a:ea typeface="Aptos"/>
                <a:cs typeface="Aptos"/>
              </a:defRPr>
            </a:pPr>
            <a:r>
              <a:rPr sz="1275" b="1">
                <a:solidFill>
                  <a:srgbClr val="2CA56F"/>
                </a:solidFill>
                <a:latin typeface="Aptos"/>
                <a:ea typeface="Aptos"/>
                <a:cs typeface="Aptos"/>
              </a:rPr>
              <a:t>TEST</a:t>
            </a:r>
          </a:p>
        </p:txBody>
      </p:sp>
      <p:sp>
        <p:nvSpPr>
          <p:cNvPr id="70" name="s5-ui-6">
            <a:extLst xmlns:a="http://schemas.openxmlformats.org/drawingml/2006/main">
              <a:ext uri="{FF2B5EF4-FFF2-40B4-BE49-F238E27FC236}">
                <a16:creationId xmlns:a16="http://schemas.microsoft.com/office/drawing/2014/main" id="{63616C58-4D85-4662-9896-C723D65F1DA3}"/>
              </a:ext>
            </a:extLst>
          </p:cNvPr>
          <p:cNvSpPr>
            <a:spLocks xmlns:a="http://schemas.openxmlformats.org/drawingml/2006/main" noGrp="1"/>
          </p:cNvSpPr>
          <p:nvPr/>
        </p:nvSpPr>
        <p:spPr>
          <a:xfrm xmlns:a="http://schemas.openxmlformats.org/drawingml/2006/main">
            <a:off x="9925050" y="2171700"/>
            <a:ext cx="1219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013" b="1">
                <a:solidFill>
                  <a:srgbClr val="17324A"/>
                </a:solidFill>
                <a:latin typeface="Aptos"/>
                <a:ea typeface="Aptos"/>
                <a:cs typeface="Aptos"/>
              </a:defRPr>
            </a:pPr>
            <a:r>
              <a:rPr sz="1013" b="1">
                <a:solidFill>
                  <a:srgbClr val="17324A"/>
                </a:solidFill>
                <a:latin typeface="Aptos"/>
                <a:ea typeface="Aptos"/>
                <a:cs typeface="Aptos"/>
              </a:rPr>
              <a:t>MATLAB driver</a:t>
            </a:r>
          </a:p>
        </p:txBody>
      </p:sp>
      <p:sp>
        <p:nvSpPr>
          <p:cNvPr id="71" name="s5-purpose-6">
            <a:extLst xmlns:a="http://schemas.openxmlformats.org/drawingml/2006/main">
              <a:ext uri="{FF2B5EF4-FFF2-40B4-BE49-F238E27FC236}">
                <a16:creationId xmlns:a16="http://schemas.microsoft.com/office/drawing/2014/main" id="{FC4F5BFF-EDCA-4A98-A5CF-86C9755317DC}"/>
              </a:ext>
            </a:extLst>
          </p:cNvPr>
          <p:cNvSpPr>
            <a:spLocks xmlns:a="http://schemas.openxmlformats.org/drawingml/2006/main" noGrp="1"/>
          </p:cNvSpPr>
          <p:nvPr/>
        </p:nvSpPr>
        <p:spPr>
          <a:xfrm xmlns:a="http://schemas.openxmlformats.org/drawingml/2006/main">
            <a:off x="9925050" y="2552700"/>
            <a:ext cx="1219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defRPr sz="960" b="0">
                <a:solidFill>
                  <a:srgbClr val="5D7487"/>
                </a:solidFill>
                <a:latin typeface="Aptos"/>
                <a:ea typeface="Aptos"/>
                <a:cs typeface="Aptos"/>
              </a:defRPr>
            </a:pPr>
            <a:r>
              <a:rPr sz="960" b="0">
                <a:solidFill>
                  <a:srgbClr val="5D7487"/>
                </a:solidFill>
                <a:latin typeface="Aptos"/>
                <a:ea typeface="Aptos"/>
                <a:cs typeface="Aptos"/>
              </a:rPr>
              <a:t>Run harness assessments</a:t>
            </a:r>
          </a:p>
        </p:txBody>
      </p:sp>
      <p:sp>
        <p:nvSpPr>
          <p:cNvPr id="72" name="s5-commands">
            <a:extLst xmlns:a="http://schemas.openxmlformats.org/drawingml/2006/main">
              <a:ext uri="{FF2B5EF4-FFF2-40B4-BE49-F238E27FC236}">
                <a16:creationId xmlns:a16="http://schemas.microsoft.com/office/drawing/2014/main" id="{85D19F2F-0963-45EE-8E44-EEDC267E142F}"/>
              </a:ext>
            </a:extLst>
          </p:cNvPr>
          <p:cNvSpPr>
            <a:spLocks xmlns:a="http://schemas.openxmlformats.org/drawingml/2006/main" noGrp="1"/>
          </p:cNvSpPr>
          <p:nvPr/>
        </p:nvSpPr>
        <p:spPr>
          <a:xfrm xmlns:a="http://schemas.openxmlformats.org/drawingml/2006/main">
            <a:off x="685800" y="3429000"/>
            <a:ext cx="7067550" cy="2438400"/>
          </a:xfrm>
          <a:prstGeom xmlns:a="http://schemas.openxmlformats.org/drawingml/2006/main" prst="roundRect">
            <a:avLst>
              <a:gd name="adj" fmla="val 4688"/>
            </a:avLst>
          </a:prstGeom>
          <a:solidFill xmlns:a="http://schemas.openxmlformats.org/drawingml/2006/main">
            <a:srgbClr val="0B2438"/>
          </a:solidFill>
          <a:ln xmlns:a="http://schemas.openxmlformats.org/drawingml/2006/main" w="14288">
            <a:solidFill>
              <a:srgbClr val="20B7C5"/>
            </a:solidFill>
            <a:prstDash val="solid"/>
          </a:ln>
        </p:spPr>
      </p:sp>
      <p:sp>
        <p:nvSpPr>
          <p:cNvPr id="73" name="s5-command-title">
            <a:extLst xmlns:a="http://schemas.openxmlformats.org/drawingml/2006/main">
              <a:ext uri="{FF2B5EF4-FFF2-40B4-BE49-F238E27FC236}">
                <a16:creationId xmlns:a16="http://schemas.microsoft.com/office/drawing/2014/main" id="{1E817C45-89F9-445A-9E3E-A5552CA0411D}"/>
              </a:ext>
            </a:extLst>
          </p:cNvPr>
          <p:cNvSpPr>
            <a:spLocks xmlns:a="http://schemas.openxmlformats.org/drawingml/2006/main" noGrp="1"/>
          </p:cNvSpPr>
          <p:nvPr/>
        </p:nvSpPr>
        <p:spPr>
          <a:xfrm xmlns:a="http://schemas.openxmlformats.org/drawingml/2006/main">
            <a:off x="876300" y="35814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125" b="1">
                <a:solidFill>
                  <a:srgbClr val="70DCE5"/>
                </a:solidFill>
                <a:latin typeface="Aptos"/>
                <a:ea typeface="Aptos"/>
                <a:cs typeface="Aptos"/>
              </a:defRPr>
            </a:pPr>
            <a:r>
              <a:rPr sz="1125" b="1">
                <a:solidFill>
                  <a:srgbClr val="70DCE5"/>
                </a:solidFill>
                <a:latin typeface="Aptos"/>
                <a:ea typeface="Aptos"/>
                <a:cs typeface="Aptos"/>
              </a:rPr>
              <a:t>FIRST CLOSED-LOOP SESSION — MATLAB EQUIVALENTS</a:t>
            </a:r>
          </a:p>
        </p:txBody>
      </p:sp>
      <p:sp>
        <p:nvSpPr>
          <p:cNvPr id="74" name="s5-command-body">
            <a:extLst xmlns:a="http://schemas.openxmlformats.org/drawingml/2006/main">
              <a:ext uri="{FF2B5EF4-FFF2-40B4-BE49-F238E27FC236}">
                <a16:creationId xmlns:a16="http://schemas.microsoft.com/office/drawing/2014/main" id="{7FD165C4-DAFF-4618-98CC-4992069BB6D9}"/>
              </a:ext>
            </a:extLst>
          </p:cNvPr>
          <p:cNvSpPr>
            <a:spLocks xmlns:a="http://schemas.openxmlformats.org/drawingml/2006/main" noGrp="1"/>
          </p:cNvSpPr>
          <p:nvPr/>
        </p:nvSpPr>
        <p:spPr>
          <a:xfrm xmlns:a="http://schemas.openxmlformats.org/drawingml/2006/main">
            <a:off x="876300" y="3876675"/>
            <a:ext cx="6667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1065" b="0">
                <a:solidFill>
                  <a:srgbClr val="E7F2F7"/>
                </a:solidFill>
                <a:latin typeface="Aptos"/>
                <a:ea typeface="Aptos"/>
                <a:cs typeface="Aptos"/>
              </a:defRPr>
            </a:pPr>
            <a:r>
              <a:rPr sz="1065" b="0">
                <a:solidFill>
                  <a:srgbClr val="E7F2F7"/>
                </a:solidFill>
                <a:latin typeface="Aptos"/>
                <a:ea typeface="Aptos"/>
                <a:cs typeface="Aptos"/>
              </a:rPr>
              <a:t>projectRoot = 'D:\GitHub\aviation-controls-simulink-training';</a:t>
            </a:r>
          </a:p>
          <a:p xmlns:a="http://schemas.openxmlformats.org/drawingml/2006/main">
            <a:pPr algn="l">
              <a:defRPr sz="1065" b="0">
                <a:solidFill>
                  <a:srgbClr val="E7F2F7"/>
                </a:solidFill>
                <a:latin typeface="Aptos"/>
                <a:ea typeface="Aptos"/>
                <a:cs typeface="Aptos"/>
              </a:defRPr>
            </a:pPr>
            <a:r>
              <a:rPr sz="1065" b="0">
                <a:solidFill>
                  <a:srgbClr val="E7F2F7"/>
                </a:solidFill>
                <a:latin typeface="Aptos"/>
                <a:ea typeface="Aptos"/>
                <a:cs typeface="Aptos"/>
              </a:rPr>
              <a:t>addpath(fullfile(projectRoot,'scripts'), fullfile(projectRoot,'models'), fullfile(projectRoot,'data'));</a:t>
            </a:r>
          </a:p>
          <a:p xmlns:a="http://schemas.openxmlformats.org/drawingml/2006/main">
            <a:pPr algn="l">
              <a:defRPr sz="1065" b="0">
                <a:solidFill>
                  <a:srgbClr val="E7F2F7"/>
                </a:solidFill>
                <a:latin typeface="Aptos"/>
                <a:ea typeface="Aptos"/>
                <a:cs typeface="Aptos"/>
              </a:defRPr>
            </a:pPr>
            <a:r>
              <a:rPr sz="1065" b="0">
                <a:solidFill>
                  <a:srgbClr val="E7F2F7"/>
                </a:solidFill>
                <a:latin typeface="Aptos"/>
                <a:ea typeface="Aptos"/>
                <a:cs typeface="Aptos"/>
              </a:rPr>
              <a:t>initialize_training_data(projectRoot);</a:t>
            </a:r>
          </a:p>
          <a:p xmlns:a="http://schemas.openxmlformats.org/drawingml/2006/main">
            <a:pPr algn="l">
              <a:defRPr sz="1065" b="0">
                <a:solidFill>
                  <a:srgbClr val="E7F2F7"/>
                </a:solidFill>
                <a:latin typeface="Aptos"/>
                <a:ea typeface="Aptos"/>
                <a:cs typeface="Aptos"/>
              </a:defRPr>
            </a:pPr>
            <a:r>
              <a:rPr sz="1065" b="0">
                <a:solidFill>
                  <a:srgbClr val="E7F2F7"/>
                </a:solidFill>
                <a:latin typeface="Aptos"/>
                <a:ea typeface="Aptos"/>
                <a:cs typeface="Aptos"/>
              </a:rPr>
              <a:t>open_system(fullfile(projectRoot,'models','AircraftFeedbackControlLoop.slx'));</a:t>
            </a:r>
          </a:p>
          <a:p xmlns:a="http://schemas.openxmlformats.org/drawingml/2006/main">
            <a:pPr algn="l">
              <a:defRPr sz="1065" b="0">
                <a:solidFill>
                  <a:srgbClr val="E7F2F7"/>
                </a:solidFill>
                <a:latin typeface="Aptos"/>
                <a:ea typeface="Aptos"/>
                <a:cs typeface="Aptos"/>
              </a:defRPr>
            </a:pPr>
            <a:r>
              <a:rPr sz="1065" b="0">
                <a:solidFill>
                  <a:srgbClr val="E7F2F7"/>
                </a:solidFill>
                <a:latin typeface="Aptos"/>
                <a:ea typeface="Aptos"/>
                <a:cs typeface="Aptos"/>
              </a:rPr>
              <a:t>set_param('AircraftFeedbackControlLoop','SimulationCommand','update');</a:t>
            </a:r>
          </a:p>
          <a:p xmlns:a="http://schemas.openxmlformats.org/drawingml/2006/main">
            <a:pPr algn="l">
              <a:defRPr sz="1065" b="0">
                <a:solidFill>
                  <a:srgbClr val="E7F2F7"/>
                </a:solidFill>
                <a:latin typeface="Aptos"/>
                <a:ea typeface="Aptos"/>
                <a:cs typeface="Aptos"/>
              </a:defRPr>
            </a:pPr>
            <a:r>
              <a:rPr sz="1065" b="0">
                <a:solidFill>
                  <a:srgbClr val="E7F2F7"/>
                </a:solidFill>
                <a:latin typeface="Aptos"/>
                <a:ea typeface="Aptos"/>
                <a:cs typeface="Aptos"/>
              </a:rPr>
              <a:t>sim('AircraftFeedbackControlLoop');</a:t>
            </a:r>
          </a:p>
          <a:p xmlns:a="http://schemas.openxmlformats.org/drawingml/2006/main">
            <a:pPr algn="l">
              <a:defRPr sz="1065" b="0">
                <a:solidFill>
                  <a:srgbClr val="E7F2F7"/>
                </a:solidFill>
                <a:latin typeface="Aptos"/>
                <a:ea typeface="Aptos"/>
                <a:cs typeface="Aptos"/>
              </a:defRPr>
            </a:pPr>
            <a:r>
              <a:rPr sz="1065" b="0">
                <a:solidFill>
                  <a:srgbClr val="E7F2F7"/>
                </a:solidFill>
                <a:latin typeface="Aptos"/>
                <a:ea typeface="Aptos"/>
                <a:cs typeface="Aptos"/>
              </a:rPr>
              <a:t>run_pitch_rate_limiter_tests(projectRoot);</a:t>
            </a:r>
          </a:p>
        </p:txBody>
      </p:sp>
      <p:sp>
        <p:nvSpPr>
          <p:cNvPr id="75" name="s5-success">
            <a:extLst xmlns:a="http://schemas.openxmlformats.org/drawingml/2006/main">
              <a:ext uri="{FF2B5EF4-FFF2-40B4-BE49-F238E27FC236}">
                <a16:creationId xmlns:a16="http://schemas.microsoft.com/office/drawing/2014/main" id="{92571B1A-1C5E-4B40-B9DD-DDF340EC24D6}"/>
              </a:ext>
            </a:extLst>
          </p:cNvPr>
          <p:cNvSpPr>
            <a:spLocks xmlns:a="http://schemas.openxmlformats.org/drawingml/2006/main" noGrp="1"/>
          </p:cNvSpPr>
          <p:nvPr/>
        </p:nvSpPr>
        <p:spPr>
          <a:xfrm xmlns:a="http://schemas.openxmlformats.org/drawingml/2006/main">
            <a:off x="7981950" y="3429000"/>
            <a:ext cx="3524250" cy="2438400"/>
          </a:xfrm>
          <a:prstGeom xmlns:a="http://schemas.openxmlformats.org/drawingml/2006/main" prst="roundRect">
            <a:avLst>
              <a:gd name="adj" fmla="val 4688"/>
            </a:avLst>
          </a:prstGeom>
          <a:solidFill xmlns:a="http://schemas.openxmlformats.org/drawingml/2006/main">
            <a:srgbClr val="DFF6F8"/>
          </a:solidFill>
          <a:ln xmlns:a="http://schemas.openxmlformats.org/drawingml/2006/main" w="14288">
            <a:solidFill>
              <a:srgbClr val="20B7C5"/>
            </a:solidFill>
            <a:prstDash val="solid"/>
          </a:ln>
        </p:spPr>
      </p:sp>
      <p:sp>
        <p:nvSpPr>
          <p:cNvPr id="76" name="s5-success-title">
            <a:extLst xmlns:a="http://schemas.openxmlformats.org/drawingml/2006/main">
              <a:ext uri="{FF2B5EF4-FFF2-40B4-BE49-F238E27FC236}">
                <a16:creationId xmlns:a16="http://schemas.microsoft.com/office/drawing/2014/main" id="{3F72605F-E776-43FE-86FB-AF0F0B413DBE}"/>
              </a:ext>
            </a:extLst>
          </p:cNvPr>
          <p:cNvSpPr>
            <a:spLocks xmlns:a="http://schemas.openxmlformats.org/drawingml/2006/main" noGrp="1"/>
          </p:cNvSpPr>
          <p:nvPr/>
        </p:nvSpPr>
        <p:spPr>
          <a:xfrm xmlns:a="http://schemas.openxmlformats.org/drawingml/2006/main">
            <a:off x="8172450" y="3581400"/>
            <a:ext cx="3143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125" b="1">
                <a:solidFill>
                  <a:srgbClr val="20B7C5"/>
                </a:solidFill>
                <a:latin typeface="Aptos"/>
                <a:ea typeface="Aptos"/>
                <a:cs typeface="Aptos"/>
              </a:defRPr>
            </a:pPr>
            <a:r>
              <a:rPr sz="1125" b="1">
                <a:solidFill>
                  <a:srgbClr val="20B7C5"/>
                </a:solidFill>
                <a:latin typeface="Aptos"/>
                <a:ea typeface="Aptos"/>
                <a:cs typeface="Aptos"/>
              </a:rPr>
              <a:t>SUCCESS LOOKS LIKE</a:t>
            </a:r>
          </a:p>
        </p:txBody>
      </p:sp>
      <p:sp>
        <p:nvSpPr>
          <p:cNvPr id="77" name="s5-success-body">
            <a:extLst xmlns:a="http://schemas.openxmlformats.org/drawingml/2006/main">
              <a:ext uri="{FF2B5EF4-FFF2-40B4-BE49-F238E27FC236}">
                <a16:creationId xmlns:a16="http://schemas.microsoft.com/office/drawing/2014/main" id="{CE77437A-C5F1-484E-B302-A4C9C7257F79}"/>
              </a:ext>
            </a:extLst>
          </p:cNvPr>
          <p:cNvSpPr>
            <a:spLocks xmlns:a="http://schemas.openxmlformats.org/drawingml/2006/main" noGrp="1"/>
          </p:cNvSpPr>
          <p:nvPr/>
        </p:nvSpPr>
        <p:spPr>
          <a:xfrm xmlns:a="http://schemas.openxmlformats.org/drawingml/2006/main">
            <a:off x="8172450" y="3886200"/>
            <a:ext cx="31432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1200" b="0">
                <a:solidFill>
                  <a:srgbClr val="17324A"/>
                </a:solidFill>
                <a:latin typeface="Aptos"/>
                <a:ea typeface="Aptos"/>
                <a:cs typeface="Aptos"/>
              </a:defRPr>
            </a:pPr>
            <a:r>
              <a:rPr sz="1200" b="0">
                <a:solidFill>
                  <a:srgbClr val="17324A"/>
                </a:solidFill>
                <a:latin typeface="Aptos"/>
                <a:ea typeface="Aptos"/>
                <a:cs typeface="Aptos"/>
              </a:rPr>
              <a:t>• Training data dictionary ready</a:t>
            </a:r>
          </a:p>
          <a:p xmlns:a="http://schemas.openxmlformats.org/drawingml/2006/main">
            <a:pPr algn="l">
              <a:defRPr sz="1200" b="0">
                <a:solidFill>
                  <a:srgbClr val="17324A"/>
                </a:solidFill>
                <a:latin typeface="Aptos"/>
                <a:ea typeface="Aptos"/>
                <a:cs typeface="Aptos"/>
              </a:defRPr>
            </a:pPr>
            <a:r>
              <a:rPr sz="1200" b="0">
                <a:solidFill>
                  <a:srgbClr val="17324A"/>
                </a:solidFill>
                <a:latin typeface="Aptos"/>
                <a:ea typeface="Aptos"/>
                <a:cs typeface="Aptos"/>
              </a:rPr>
              <a:t>• Update completes without an error</a:t>
            </a:r>
          </a:p>
          <a:p xmlns:a="http://schemas.openxmlformats.org/drawingml/2006/main">
            <a:pPr algn="l">
              <a:defRPr sz="1200" b="0">
                <a:solidFill>
                  <a:srgbClr val="17324A"/>
                </a:solidFill>
                <a:latin typeface="Aptos"/>
                <a:ea typeface="Aptos"/>
                <a:cs typeface="Aptos"/>
              </a:defRPr>
            </a:pPr>
            <a:r>
              <a:rPr sz="1200" b="0">
                <a:solidFill>
                  <a:srgbClr val="17324A"/>
                </a:solidFill>
                <a:latin typeface="Aptos"/>
                <a:ea typeface="Aptos"/>
                <a:cs typeface="Aptos"/>
              </a:rPr>
              <a:t>• Simulation outputs appear under results/</a:t>
            </a:r>
          </a:p>
          <a:p xmlns:a="http://schemas.openxmlformats.org/drawingml/2006/main">
            <a:pPr algn="l">
              <a:defRPr sz="1200" b="0">
                <a:solidFill>
                  <a:srgbClr val="17324A"/>
                </a:solidFill>
                <a:latin typeface="Aptos"/>
                <a:ea typeface="Aptos"/>
                <a:cs typeface="Aptos"/>
              </a:defRPr>
            </a:pPr>
            <a:r>
              <a:rPr sz="1200" b="0">
                <a:solidFill>
                  <a:srgbClr val="17324A"/>
                </a:solidFill>
                <a:latin typeface="Aptos"/>
                <a:ea typeface="Aptos"/>
                <a:cs typeface="Aptos"/>
              </a:rPr>
              <a:t>• Limiter driver writes CSV + MAT</a:t>
            </a:r>
          </a:p>
          <a:p xmlns:a="http://schemas.openxmlformats.org/drawingml/2006/main">
            <a:pPr algn="l">
              <a:defRPr sz="1200" b="0">
                <a:solidFill>
                  <a:srgbClr val="17324A"/>
                </a:solidFill>
                <a:latin typeface="Aptos"/>
                <a:ea typeface="Aptos"/>
                <a:cs typeface="Aptos"/>
              </a:defRPr>
            </a:pPr>
            <a:r>
              <a:rPr sz="1200" b="0">
                <a:solidFill>
                  <a:srgbClr val="17324A"/>
                </a:solidFill>
                <a:latin typeface="Aptos"/>
                <a:ea typeface="Aptos"/>
                <a:cs typeface="Aptos"/>
              </a:rPr>
              <a:t>• Human-readable HTML + PNG appear under reports/</a:t>
            </a:r>
          </a:p>
          <a:p xmlns:a="http://schemas.openxmlformats.org/drawingml/2006/main">
            <a:r>
              <a:t/>
            </a:r>
          </a:p>
          <a:p xmlns:a="http://schemas.openxmlformats.org/drawingml/2006/main">
            <a:pPr algn="l">
              <a:defRPr sz="1200" b="0">
                <a:solidFill>
                  <a:srgbClr val="17324A"/>
                </a:solidFill>
                <a:latin typeface="Aptos"/>
                <a:ea typeface="Aptos"/>
                <a:cs typeface="Aptos"/>
              </a:defRPr>
            </a:pPr>
            <a:r>
              <a:rPr sz="1200" b="0">
                <a:solidFill>
                  <a:srgbClr val="17324A"/>
                </a:solidFill>
                <a:latin typeface="Aptos"/>
                <a:ea typeface="Aptos"/>
                <a:cs typeface="Aptos"/>
              </a:rPr>
              <a:t>Build remains optional and scope-dependent; no production-code claim is made.</a:t>
            </a:r>
          </a:p>
        </p:txBody>
      </p:sp>
    </p:spTree>
    <p:extLst>
      <p:ext uri="{BB962C8B-B14F-4D97-AF65-F5344CB8AC3E}">
        <p14:creationId xmlns:p14="http://schemas.microsoft.com/office/powerpoint/2010/main" val="254232730"/>
      </p:ext>
    </p:extLst>
  </p:cSld>
</p:sld>
</file>

<file path=ppt/slides/slide6.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 name="title-66">
            <a:extLst xmlns:a="http://schemas.openxmlformats.org/drawingml/2006/main">
              <a:ext uri="{FF2B5EF4-FFF2-40B4-BE49-F238E27FC236}">
                <a16:creationId xmlns:a16="http://schemas.microsoft.com/office/drawing/2014/main" id="{C6D9F1C6-D120-4C20-88BA-CAD8C9811D88}"/>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The toolstrip tells you where each action lives</a:t>
            </a:r>
          </a:p>
        </p:txBody>
      </p:sp>
      <p:sp>
        <p:nvSpPr>
          <p:cNvPr id="3" name="line-67">
            <a:extLst xmlns:a="http://schemas.openxmlformats.org/drawingml/2006/main">
              <a:ext uri="{FF2B5EF4-FFF2-40B4-BE49-F238E27FC236}">
                <a16:creationId xmlns:a16="http://schemas.microsoft.com/office/drawing/2014/main" id="{C0E85360-30FB-48EE-B656-F1CD657615B6}"/>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5" name="text-69">
            <a:extLst xmlns:a="http://schemas.openxmlformats.org/drawingml/2006/main">
              <a:ext uri="{FF2B5EF4-FFF2-40B4-BE49-F238E27FC236}">
                <a16:creationId xmlns:a16="http://schemas.microsoft.com/office/drawing/2014/main" id="{245825BF-FEE4-41E6-8130-BBCA53682ABE}"/>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06</a:t>
            </a:r>
          </a:p>
        </p:txBody>
      </p:sp>
      <p:sp>
        <p:nvSpPr>
          <p:cNvPr id="30" name="section-66-v4">
            <a:extLst xmlns:a="http://schemas.openxmlformats.org/drawingml/2006/main">
              <a:ext uri="{FF2B5EF4-FFF2-40B4-BE49-F238E27FC236}">
                <a16:creationId xmlns:a16="http://schemas.microsoft.com/office/drawing/2014/main" id="{267E06D2-A4BF-4C44-B551-471001C12FE4}"/>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088" b="1">
                <a:solidFill>
                  <a:srgbClr val="20B7C5"/>
                </a:solidFill>
                <a:latin typeface="Aptos"/>
                <a:ea typeface="Aptos"/>
                <a:cs typeface="Aptos"/>
              </a:defRPr>
            </a:pPr>
            <a:r>
              <a:rPr sz="1088" b="1">
                <a:solidFill>
                  <a:srgbClr val="20B7C5"/>
                </a:solidFill>
                <a:latin typeface="Aptos"/>
                <a:ea typeface="Aptos"/>
                <a:cs typeface="Aptos"/>
              </a:rPr>
              <a:t>01 • FIRST SESSION</a:t>
            </a:r>
          </a:p>
        </p:txBody>
      </p:sp>
      <p:sp>
        <p:nvSpPr>
          <p:cNvPr id="31" name="text-68-v4">
            <a:extLst xmlns:a="http://schemas.openxmlformats.org/drawingml/2006/main">
              <a:ext uri="{FF2B5EF4-FFF2-40B4-BE49-F238E27FC236}">
                <a16:creationId xmlns:a16="http://schemas.microsoft.com/office/drawing/2014/main" id="{20E1B170-1B7E-4064-BC15-C7A20B8D9653}"/>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63" b="1">
                <a:solidFill>
                  <a:srgbClr val="7D91A0"/>
                </a:solidFill>
                <a:latin typeface="Aptos"/>
                <a:ea typeface="Aptos"/>
                <a:cs typeface="Aptos"/>
              </a:defRPr>
            </a:pPr>
            <a:r>
              <a:rPr sz="863" b="1">
                <a:solidFill>
                  <a:srgbClr val="7D91A0"/>
                </a:solidFill>
                <a:latin typeface="Aptos"/>
                <a:ea typeface="Aptos"/>
                <a:cs typeface="Aptos"/>
              </a:rPr>
              <a:t>AVIATION CONTROLS ENGINEERING ONBOARDING</a:t>
            </a:r>
          </a:p>
        </p:txBody>
      </p:sp>
      <p:sp>
        <p:nvSpPr>
          <p:cNvPr id="32" name="s6-image-frame">
            <a:extLst xmlns:a="http://schemas.openxmlformats.org/drawingml/2006/main">
              <a:ext uri="{FF2B5EF4-FFF2-40B4-BE49-F238E27FC236}">
                <a16:creationId xmlns:a16="http://schemas.microsoft.com/office/drawing/2014/main" id="{7E4D3621-D256-4834-B23D-BF619F1A5541}"/>
              </a:ext>
            </a:extLst>
          </p:cNvPr>
          <p:cNvSpPr>
            <a:spLocks xmlns:a="http://schemas.openxmlformats.org/drawingml/2006/main" noGrp="1"/>
          </p:cNvSpPr>
          <p:nvPr/>
        </p:nvSpPr>
        <p:spPr>
          <a:xfrm xmlns:a="http://schemas.openxmlformats.org/drawingml/2006/main">
            <a:off x="609600" y="1381125"/>
            <a:ext cx="7696200" cy="4514850"/>
          </a:xfrm>
          <a:prstGeom xmlns:a="http://schemas.openxmlformats.org/drawingml/2006/main" prst="roundRect">
            <a:avLst>
              <a:gd name="adj" fmla="val 2532"/>
            </a:avLst>
          </a:prstGeom>
          <a:solidFill xmlns:a="http://schemas.openxmlformats.org/drawingml/2006/main">
            <a:srgbClr val="FFFFFF"/>
          </a:solidFill>
          <a:ln xmlns:a="http://schemas.openxmlformats.org/drawingml/2006/main" w="12383">
            <a:solidFill>
              <a:srgbClr val="C9D8E3"/>
            </a:solidFill>
            <a:prstDash val="solid"/>
          </a:ln>
        </p:spPr>
      </p:sp>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9aebbe0b096c4000"/>
          <a:stretch xmlns:a="http://schemas.openxmlformats.org/drawingml/2006/main"/>
        </p:blipFill>
        <p:spPr>
          <a:xfrm xmlns:a="http://schemas.openxmlformats.org/drawingml/2006/main">
            <a:off x="685800" y="1611154"/>
            <a:ext cx="7543800" cy="4054793"/>
          </a:xfrm>
          <a:prstGeom xmlns:a="http://schemas.openxmlformats.org/drawingml/2006/main" prst="rect">
            <a:avLst/>
          </a:prstGeom>
        </p:spPr>
      </p:pic>
      <p:sp>
        <p:nvSpPr>
          <p:cNvPr id="34" name="s6-tab-0">
            <a:extLst xmlns:a="http://schemas.openxmlformats.org/drawingml/2006/main">
              <a:ext uri="{FF2B5EF4-FFF2-40B4-BE49-F238E27FC236}">
                <a16:creationId xmlns:a16="http://schemas.microsoft.com/office/drawing/2014/main" id="{688AAE4E-5CDE-4B71-A130-9953EC669FAE}"/>
              </a:ext>
            </a:extLst>
          </p:cNvPr>
          <p:cNvSpPr>
            <a:spLocks xmlns:a="http://schemas.openxmlformats.org/drawingml/2006/main" noGrp="1"/>
          </p:cNvSpPr>
          <p:nvPr/>
        </p:nvSpPr>
        <p:spPr>
          <a:xfrm xmlns:a="http://schemas.openxmlformats.org/drawingml/2006/main">
            <a:off x="8515350" y="1438275"/>
            <a:ext cx="2990850" cy="723900"/>
          </a:xfrm>
          <a:prstGeom xmlns:a="http://schemas.openxmlformats.org/drawingml/2006/main" prst="roundRect">
            <a:avLst>
              <a:gd name="adj" fmla="val 15789"/>
            </a:avLst>
          </a:prstGeom>
          <a:solidFill xmlns:a="http://schemas.openxmlformats.org/drawingml/2006/main">
            <a:srgbClr val="DFF6F8"/>
          </a:solidFill>
          <a:ln xmlns:a="http://schemas.openxmlformats.org/drawingml/2006/main" w="16193">
            <a:solidFill>
              <a:srgbClr val="20B7C5"/>
            </a:solidFill>
            <a:prstDash val="solid"/>
          </a:ln>
        </p:spPr>
      </p:sp>
      <p:sp>
        <p:nvSpPr>
          <p:cNvPr id="35" name="s6-tab-title-0">
            <a:extLst xmlns:a="http://schemas.openxmlformats.org/drawingml/2006/main">
              <a:ext uri="{FF2B5EF4-FFF2-40B4-BE49-F238E27FC236}">
                <a16:creationId xmlns:a16="http://schemas.microsoft.com/office/drawing/2014/main" id="{6A32506A-3C4E-40FD-932A-0A83D387D428}"/>
              </a:ext>
            </a:extLst>
          </p:cNvPr>
          <p:cNvSpPr>
            <a:spLocks xmlns:a="http://schemas.openxmlformats.org/drawingml/2006/main" noGrp="1"/>
          </p:cNvSpPr>
          <p:nvPr/>
        </p:nvSpPr>
        <p:spPr>
          <a:xfrm xmlns:a="http://schemas.openxmlformats.org/drawingml/2006/main">
            <a:off x="8667750" y="1514475"/>
            <a:ext cx="26860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238" b="1">
                <a:solidFill>
                  <a:srgbClr val="20B7C5"/>
                </a:solidFill>
                <a:latin typeface="Aptos"/>
                <a:ea typeface="Aptos"/>
                <a:cs typeface="Aptos"/>
              </a:defRPr>
            </a:pPr>
            <a:r>
              <a:rPr sz="1238" b="1">
                <a:solidFill>
                  <a:srgbClr val="20B7C5"/>
                </a:solidFill>
                <a:latin typeface="Aptos"/>
                <a:ea typeface="Aptos"/>
                <a:cs typeface="Aptos"/>
              </a:rPr>
              <a:t>SIMULATION</a:t>
            </a:r>
          </a:p>
        </p:txBody>
      </p:sp>
      <p:sp>
        <p:nvSpPr>
          <p:cNvPr id="36" name="s6-tab-body-0">
            <a:extLst xmlns:a="http://schemas.openxmlformats.org/drawingml/2006/main">
              <a:ext uri="{FF2B5EF4-FFF2-40B4-BE49-F238E27FC236}">
                <a16:creationId xmlns:a16="http://schemas.microsoft.com/office/drawing/2014/main" id="{5896908B-1108-48F7-9E3F-5C5E9599C079}"/>
              </a:ext>
            </a:extLst>
          </p:cNvPr>
          <p:cNvSpPr>
            <a:spLocks xmlns:a="http://schemas.openxmlformats.org/drawingml/2006/main" noGrp="1"/>
          </p:cNvSpPr>
          <p:nvPr/>
        </p:nvSpPr>
        <p:spPr>
          <a:xfrm xmlns:a="http://schemas.openxmlformats.org/drawingml/2006/main">
            <a:off x="8667750" y="1743075"/>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1065" b="1">
                <a:solidFill>
                  <a:srgbClr val="17324A"/>
                </a:solidFill>
                <a:latin typeface="Aptos"/>
                <a:ea typeface="Aptos"/>
                <a:cs typeface="Aptos"/>
              </a:defRPr>
            </a:pPr>
            <a:r>
              <a:rPr sz="1065" b="1">
                <a:solidFill>
                  <a:srgbClr val="17324A"/>
                </a:solidFill>
                <a:latin typeface="Aptos"/>
                <a:ea typeface="Aptos"/>
                <a:cs typeface="Aptos"/>
              </a:rPr>
              <a:t>Open • Run • Stop • Data Inspector</a:t>
            </a:r>
          </a:p>
        </p:txBody>
      </p:sp>
      <p:sp>
        <p:nvSpPr>
          <p:cNvPr id="37" name="s6-tab-1">
            <a:extLst xmlns:a="http://schemas.openxmlformats.org/drawingml/2006/main">
              <a:ext uri="{FF2B5EF4-FFF2-40B4-BE49-F238E27FC236}">
                <a16:creationId xmlns:a16="http://schemas.microsoft.com/office/drawing/2014/main" id="{9A84B7BA-4B05-44DA-8D43-CC68931AD1B3}"/>
              </a:ext>
            </a:extLst>
          </p:cNvPr>
          <p:cNvSpPr>
            <a:spLocks xmlns:a="http://schemas.openxmlformats.org/drawingml/2006/main" noGrp="1"/>
          </p:cNvSpPr>
          <p:nvPr/>
        </p:nvSpPr>
        <p:spPr>
          <a:xfrm xmlns:a="http://schemas.openxmlformats.org/drawingml/2006/main">
            <a:off x="8515350" y="2305050"/>
            <a:ext cx="2990850" cy="723900"/>
          </a:xfrm>
          <a:prstGeom xmlns:a="http://schemas.openxmlformats.org/drawingml/2006/main" prst="roundRect">
            <a:avLst>
              <a:gd name="adj" fmla="val 15789"/>
            </a:avLst>
          </a:prstGeom>
          <a:solidFill xmlns:a="http://schemas.openxmlformats.org/drawingml/2006/main">
            <a:srgbClr val="E2ECFF"/>
          </a:solidFill>
          <a:ln xmlns:a="http://schemas.openxmlformats.org/drawingml/2006/main" w="16193">
            <a:solidFill>
              <a:srgbClr val="2D6CDF"/>
            </a:solidFill>
            <a:prstDash val="solid"/>
          </a:ln>
        </p:spPr>
      </p:sp>
      <p:sp>
        <p:nvSpPr>
          <p:cNvPr id="38" name="s6-tab-title-1">
            <a:extLst xmlns:a="http://schemas.openxmlformats.org/drawingml/2006/main">
              <a:ext uri="{FF2B5EF4-FFF2-40B4-BE49-F238E27FC236}">
                <a16:creationId xmlns:a16="http://schemas.microsoft.com/office/drawing/2014/main" id="{2AA31357-A329-4BF9-B1F0-B6F6C3EBAAA2}"/>
              </a:ext>
            </a:extLst>
          </p:cNvPr>
          <p:cNvSpPr>
            <a:spLocks xmlns:a="http://schemas.openxmlformats.org/drawingml/2006/main" noGrp="1"/>
          </p:cNvSpPr>
          <p:nvPr/>
        </p:nvSpPr>
        <p:spPr>
          <a:xfrm xmlns:a="http://schemas.openxmlformats.org/drawingml/2006/main">
            <a:off x="8667750" y="2381250"/>
            <a:ext cx="26860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238" b="1">
                <a:solidFill>
                  <a:srgbClr val="2D6CDF"/>
                </a:solidFill>
                <a:latin typeface="Aptos"/>
                <a:ea typeface="Aptos"/>
                <a:cs typeface="Aptos"/>
              </a:defRPr>
            </a:pPr>
            <a:r>
              <a:rPr sz="1238" b="1">
                <a:solidFill>
                  <a:srgbClr val="2D6CDF"/>
                </a:solidFill>
                <a:latin typeface="Aptos"/>
                <a:ea typeface="Aptos"/>
                <a:cs typeface="Aptos"/>
              </a:rPr>
              <a:t>DEBUG</a:t>
            </a:r>
          </a:p>
        </p:txBody>
      </p:sp>
      <p:sp>
        <p:nvSpPr>
          <p:cNvPr id="39" name="s6-tab-body-1">
            <a:extLst xmlns:a="http://schemas.openxmlformats.org/drawingml/2006/main">
              <a:ext uri="{FF2B5EF4-FFF2-40B4-BE49-F238E27FC236}">
                <a16:creationId xmlns:a16="http://schemas.microsoft.com/office/drawing/2014/main" id="{390E1D10-1067-4731-ADB8-859EAC1A4F20}"/>
              </a:ext>
            </a:extLst>
          </p:cNvPr>
          <p:cNvSpPr>
            <a:spLocks xmlns:a="http://schemas.openxmlformats.org/drawingml/2006/main" noGrp="1"/>
          </p:cNvSpPr>
          <p:nvPr/>
        </p:nvSpPr>
        <p:spPr>
          <a:xfrm xmlns:a="http://schemas.openxmlformats.org/drawingml/2006/main">
            <a:off x="8667750" y="26098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1065" b="1">
                <a:solidFill>
                  <a:srgbClr val="17324A"/>
                </a:solidFill>
                <a:latin typeface="Aptos"/>
                <a:ea typeface="Aptos"/>
                <a:cs typeface="Aptos"/>
              </a:defRPr>
            </a:pPr>
            <a:r>
              <a:rPr sz="1065" b="1">
                <a:solidFill>
                  <a:srgbClr val="17324A"/>
                </a:solidFill>
                <a:latin typeface="Aptos"/>
                <a:ea typeface="Aptos"/>
                <a:cs typeface="Aptos"/>
              </a:rPr>
              <a:t>Diagnostics • Information Overlays</a:t>
            </a:r>
          </a:p>
        </p:txBody>
      </p:sp>
      <p:sp>
        <p:nvSpPr>
          <p:cNvPr id="40" name="s6-tab-2">
            <a:extLst xmlns:a="http://schemas.openxmlformats.org/drawingml/2006/main">
              <a:ext uri="{FF2B5EF4-FFF2-40B4-BE49-F238E27FC236}">
                <a16:creationId xmlns:a16="http://schemas.microsoft.com/office/drawing/2014/main" id="{17C9E070-963F-4933-A752-FBA77503CF7B}"/>
              </a:ext>
            </a:extLst>
          </p:cNvPr>
          <p:cNvSpPr>
            <a:spLocks xmlns:a="http://schemas.openxmlformats.org/drawingml/2006/main" noGrp="1"/>
          </p:cNvSpPr>
          <p:nvPr/>
        </p:nvSpPr>
        <p:spPr>
          <a:xfrm xmlns:a="http://schemas.openxmlformats.org/drawingml/2006/main">
            <a:off x="8515350" y="3171825"/>
            <a:ext cx="2990850" cy="723900"/>
          </a:xfrm>
          <a:prstGeom xmlns:a="http://schemas.openxmlformats.org/drawingml/2006/main" prst="roundRect">
            <a:avLst>
              <a:gd name="adj" fmla="val 15789"/>
            </a:avLst>
          </a:prstGeom>
          <a:solidFill xmlns:a="http://schemas.openxmlformats.org/drawingml/2006/main">
            <a:srgbClr val="E2F4EA"/>
          </a:solidFill>
          <a:ln xmlns:a="http://schemas.openxmlformats.org/drawingml/2006/main" w="16193">
            <a:solidFill>
              <a:srgbClr val="2CA56F"/>
            </a:solidFill>
            <a:prstDash val="solid"/>
          </a:ln>
        </p:spPr>
      </p:sp>
      <p:sp>
        <p:nvSpPr>
          <p:cNvPr id="41" name="s6-tab-title-2">
            <a:extLst xmlns:a="http://schemas.openxmlformats.org/drawingml/2006/main">
              <a:ext uri="{FF2B5EF4-FFF2-40B4-BE49-F238E27FC236}">
                <a16:creationId xmlns:a16="http://schemas.microsoft.com/office/drawing/2014/main" id="{A82CF547-819E-4549-B7AA-1F88DDC7A404}"/>
              </a:ext>
            </a:extLst>
          </p:cNvPr>
          <p:cNvSpPr>
            <a:spLocks xmlns:a="http://schemas.openxmlformats.org/drawingml/2006/main" noGrp="1"/>
          </p:cNvSpPr>
          <p:nvPr/>
        </p:nvSpPr>
        <p:spPr>
          <a:xfrm xmlns:a="http://schemas.openxmlformats.org/drawingml/2006/main">
            <a:off x="8667750" y="3248025"/>
            <a:ext cx="26860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238" b="1">
                <a:solidFill>
                  <a:srgbClr val="2CA56F"/>
                </a:solidFill>
                <a:latin typeface="Aptos"/>
                <a:ea typeface="Aptos"/>
                <a:cs typeface="Aptos"/>
              </a:defRPr>
            </a:pPr>
            <a:r>
              <a:rPr sz="1238" b="1">
                <a:solidFill>
                  <a:srgbClr val="2CA56F"/>
                </a:solidFill>
                <a:latin typeface="Aptos"/>
                <a:ea typeface="Aptos"/>
                <a:cs typeface="Aptos"/>
              </a:rPr>
              <a:t>MODELING</a:t>
            </a:r>
          </a:p>
        </p:txBody>
      </p:sp>
      <p:sp>
        <p:nvSpPr>
          <p:cNvPr id="42" name="s6-tab-body-2">
            <a:extLst xmlns:a="http://schemas.openxmlformats.org/drawingml/2006/main">
              <a:ext uri="{FF2B5EF4-FFF2-40B4-BE49-F238E27FC236}">
                <a16:creationId xmlns:a16="http://schemas.microsoft.com/office/drawing/2014/main" id="{3D6B0CBE-DE7E-436D-A0F8-4CA389F5EBC6}"/>
              </a:ext>
            </a:extLst>
          </p:cNvPr>
          <p:cNvSpPr>
            <a:spLocks xmlns:a="http://schemas.openxmlformats.org/drawingml/2006/main" noGrp="1"/>
          </p:cNvSpPr>
          <p:nvPr/>
        </p:nvSpPr>
        <p:spPr>
          <a:xfrm xmlns:a="http://schemas.openxmlformats.org/drawingml/2006/main">
            <a:off x="8667750" y="3476625"/>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1065" b="1">
                <a:solidFill>
                  <a:srgbClr val="17324A"/>
                </a:solidFill>
                <a:latin typeface="Aptos"/>
                <a:ea typeface="Aptos"/>
                <a:cs typeface="Aptos"/>
              </a:defRPr>
            </a:pPr>
            <a:r>
              <a:rPr sz="1065" b="1">
                <a:solidFill>
                  <a:srgbClr val="17324A"/>
                </a:solidFill>
                <a:latin typeface="Aptos"/>
                <a:ea typeface="Aptos"/>
                <a:cs typeface="Aptos"/>
              </a:rPr>
              <a:t>Update Model • configuration</a:t>
            </a:r>
          </a:p>
        </p:txBody>
      </p:sp>
      <p:sp>
        <p:nvSpPr>
          <p:cNvPr id="43" name="s6-tab-3">
            <a:extLst xmlns:a="http://schemas.openxmlformats.org/drawingml/2006/main">
              <a:ext uri="{FF2B5EF4-FFF2-40B4-BE49-F238E27FC236}">
                <a16:creationId xmlns:a16="http://schemas.microsoft.com/office/drawing/2014/main" id="{19EE6152-AE59-40A9-B3D3-4A282E8168CB}"/>
              </a:ext>
            </a:extLst>
          </p:cNvPr>
          <p:cNvSpPr>
            <a:spLocks xmlns:a="http://schemas.openxmlformats.org/drawingml/2006/main" noGrp="1"/>
          </p:cNvSpPr>
          <p:nvPr/>
        </p:nvSpPr>
        <p:spPr>
          <a:xfrm xmlns:a="http://schemas.openxmlformats.org/drawingml/2006/main">
            <a:off x="8515350" y="4038600"/>
            <a:ext cx="2990850" cy="723900"/>
          </a:xfrm>
          <a:prstGeom xmlns:a="http://schemas.openxmlformats.org/drawingml/2006/main" prst="roundRect">
            <a:avLst>
              <a:gd name="adj" fmla="val 15789"/>
            </a:avLst>
          </a:prstGeom>
          <a:solidFill xmlns:a="http://schemas.openxmlformats.org/drawingml/2006/main">
            <a:srgbClr val="FFF0D7"/>
          </a:solidFill>
          <a:ln xmlns:a="http://schemas.openxmlformats.org/drawingml/2006/main" w="16193">
            <a:solidFill>
              <a:srgbClr val="E9A23B"/>
            </a:solidFill>
            <a:prstDash val="solid"/>
          </a:ln>
        </p:spPr>
      </p:sp>
      <p:sp>
        <p:nvSpPr>
          <p:cNvPr id="44" name="s6-tab-title-3">
            <a:extLst xmlns:a="http://schemas.openxmlformats.org/drawingml/2006/main">
              <a:ext uri="{FF2B5EF4-FFF2-40B4-BE49-F238E27FC236}">
                <a16:creationId xmlns:a16="http://schemas.microsoft.com/office/drawing/2014/main" id="{04248D1C-3725-4452-A868-6E04EE18AB49}"/>
              </a:ext>
            </a:extLst>
          </p:cNvPr>
          <p:cNvSpPr>
            <a:spLocks xmlns:a="http://schemas.openxmlformats.org/drawingml/2006/main" noGrp="1"/>
          </p:cNvSpPr>
          <p:nvPr/>
        </p:nvSpPr>
        <p:spPr>
          <a:xfrm xmlns:a="http://schemas.openxmlformats.org/drawingml/2006/main">
            <a:off x="8667750" y="4114800"/>
            <a:ext cx="26860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238" b="1">
                <a:solidFill>
                  <a:srgbClr val="E9A23B"/>
                </a:solidFill>
                <a:latin typeface="Aptos"/>
                <a:ea typeface="Aptos"/>
                <a:cs typeface="Aptos"/>
              </a:defRPr>
            </a:pPr>
            <a:r>
              <a:rPr sz="1238" b="1">
                <a:solidFill>
                  <a:srgbClr val="E9A23B"/>
                </a:solidFill>
                <a:latin typeface="Aptos"/>
                <a:ea typeface="Aptos"/>
                <a:cs typeface="Aptos"/>
              </a:rPr>
              <a:t>FORMAT</a:t>
            </a:r>
          </a:p>
        </p:txBody>
      </p:sp>
      <p:sp>
        <p:nvSpPr>
          <p:cNvPr id="45" name="s6-tab-body-3">
            <a:extLst xmlns:a="http://schemas.openxmlformats.org/drawingml/2006/main">
              <a:ext uri="{FF2B5EF4-FFF2-40B4-BE49-F238E27FC236}">
                <a16:creationId xmlns:a16="http://schemas.microsoft.com/office/drawing/2014/main" id="{FCBBFD77-37F1-409E-948C-0E4A0AAF0ABC}"/>
              </a:ext>
            </a:extLst>
          </p:cNvPr>
          <p:cNvSpPr>
            <a:spLocks xmlns:a="http://schemas.openxmlformats.org/drawingml/2006/main" noGrp="1"/>
          </p:cNvSpPr>
          <p:nvPr/>
        </p:nvSpPr>
        <p:spPr>
          <a:xfrm xmlns:a="http://schemas.openxmlformats.org/drawingml/2006/main">
            <a:off x="8667750" y="434340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1065" b="1">
                <a:solidFill>
                  <a:srgbClr val="17324A"/>
                </a:solidFill>
                <a:latin typeface="Aptos"/>
                <a:ea typeface="Aptos"/>
                <a:cs typeface="Aptos"/>
              </a:defRPr>
            </a:pPr>
            <a:r>
              <a:rPr sz="1065" b="1">
                <a:solidFill>
                  <a:srgbClr val="17324A"/>
                </a:solidFill>
                <a:latin typeface="Aptos"/>
                <a:ea typeface="Aptos"/>
                <a:cs typeface="Aptos"/>
              </a:rPr>
              <a:t>Layout • labels • visual review</a:t>
            </a:r>
          </a:p>
        </p:txBody>
      </p:sp>
      <p:sp>
        <p:nvSpPr>
          <p:cNvPr id="46" name="s6-tab-4">
            <a:extLst xmlns:a="http://schemas.openxmlformats.org/drawingml/2006/main">
              <a:ext uri="{FF2B5EF4-FFF2-40B4-BE49-F238E27FC236}">
                <a16:creationId xmlns:a16="http://schemas.microsoft.com/office/drawing/2014/main" id="{0D47FB3B-8BC7-4332-9F7D-403550E6C085}"/>
              </a:ext>
            </a:extLst>
          </p:cNvPr>
          <p:cNvSpPr>
            <a:spLocks xmlns:a="http://schemas.openxmlformats.org/drawingml/2006/main" noGrp="1"/>
          </p:cNvSpPr>
          <p:nvPr/>
        </p:nvSpPr>
        <p:spPr>
          <a:xfrm xmlns:a="http://schemas.openxmlformats.org/drawingml/2006/main">
            <a:off x="8515350" y="4905375"/>
            <a:ext cx="2990850" cy="723900"/>
          </a:xfrm>
          <a:prstGeom xmlns:a="http://schemas.openxmlformats.org/drawingml/2006/main" prst="roundRect">
            <a:avLst>
              <a:gd name="adj" fmla="val 15789"/>
            </a:avLst>
          </a:prstGeom>
          <a:solidFill xmlns:a="http://schemas.openxmlformats.org/drawingml/2006/main">
            <a:srgbClr val="FBE7E9"/>
          </a:solidFill>
          <a:ln xmlns:a="http://schemas.openxmlformats.org/drawingml/2006/main" w="16193">
            <a:solidFill>
              <a:srgbClr val="D75A64"/>
            </a:solidFill>
            <a:prstDash val="solid"/>
          </a:ln>
        </p:spPr>
      </p:sp>
      <p:sp>
        <p:nvSpPr>
          <p:cNvPr id="47" name="s6-tab-title-4">
            <a:extLst xmlns:a="http://schemas.openxmlformats.org/drawingml/2006/main">
              <a:ext uri="{FF2B5EF4-FFF2-40B4-BE49-F238E27FC236}">
                <a16:creationId xmlns:a16="http://schemas.microsoft.com/office/drawing/2014/main" id="{3EB1C2A7-7082-4C42-8BBE-FEB592C7F908}"/>
              </a:ext>
            </a:extLst>
          </p:cNvPr>
          <p:cNvSpPr>
            <a:spLocks xmlns:a="http://schemas.openxmlformats.org/drawingml/2006/main" noGrp="1"/>
          </p:cNvSpPr>
          <p:nvPr/>
        </p:nvSpPr>
        <p:spPr>
          <a:xfrm xmlns:a="http://schemas.openxmlformats.org/drawingml/2006/main">
            <a:off x="8667750" y="4981575"/>
            <a:ext cx="26860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238" b="1">
                <a:solidFill>
                  <a:srgbClr val="D75A64"/>
                </a:solidFill>
                <a:latin typeface="Aptos"/>
                <a:ea typeface="Aptos"/>
                <a:cs typeface="Aptos"/>
              </a:defRPr>
            </a:pPr>
            <a:r>
              <a:rPr sz="1238" b="1">
                <a:solidFill>
                  <a:srgbClr val="D75A64"/>
                </a:solidFill>
                <a:latin typeface="Aptos"/>
                <a:ea typeface="Aptos"/>
                <a:cs typeface="Aptos"/>
              </a:rPr>
              <a:t>APPS</a:t>
            </a:r>
          </a:p>
        </p:txBody>
      </p:sp>
      <p:sp>
        <p:nvSpPr>
          <p:cNvPr id="48" name="s6-tab-body-4">
            <a:extLst xmlns:a="http://schemas.openxmlformats.org/drawingml/2006/main">
              <a:ext uri="{FF2B5EF4-FFF2-40B4-BE49-F238E27FC236}">
                <a16:creationId xmlns:a16="http://schemas.microsoft.com/office/drawing/2014/main" id="{3D40F04B-11F8-414B-9C02-3579BAE7EE9A}"/>
              </a:ext>
            </a:extLst>
          </p:cNvPr>
          <p:cNvSpPr>
            <a:spLocks xmlns:a="http://schemas.openxmlformats.org/drawingml/2006/main" noGrp="1"/>
          </p:cNvSpPr>
          <p:nvPr/>
        </p:nvSpPr>
        <p:spPr>
          <a:xfrm xmlns:a="http://schemas.openxmlformats.org/drawingml/2006/main">
            <a:off x="8667750" y="5210175"/>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1065" b="1">
                <a:solidFill>
                  <a:srgbClr val="17324A"/>
                </a:solidFill>
                <a:latin typeface="Aptos"/>
                <a:ea typeface="Aptos"/>
                <a:cs typeface="Aptos"/>
              </a:defRPr>
            </a:pPr>
            <a:r>
              <a:rPr sz="1065" b="1">
                <a:solidFill>
                  <a:srgbClr val="17324A"/>
                </a:solidFill>
                <a:latin typeface="Aptos"/>
                <a:ea typeface="Aptos"/>
                <a:cs typeface="Aptos"/>
              </a:rPr>
              <a:t>Testing tools • code generation</a:t>
            </a:r>
          </a:p>
        </p:txBody>
      </p:sp>
      <p:sp>
        <p:nvSpPr>
          <p:cNvPr id="49" name="s6-caption">
            <a:extLst xmlns:a="http://schemas.openxmlformats.org/drawingml/2006/main">
              <a:ext uri="{FF2B5EF4-FFF2-40B4-BE49-F238E27FC236}">
                <a16:creationId xmlns:a16="http://schemas.microsoft.com/office/drawing/2014/main" id="{D8D4447C-FFCD-4FA5-A011-563152BEB398}"/>
              </a:ext>
            </a:extLst>
          </p:cNvPr>
          <p:cNvSpPr>
            <a:spLocks xmlns:a="http://schemas.openxmlformats.org/drawingml/2006/main" noGrp="1"/>
          </p:cNvSpPr>
          <p:nvPr/>
        </p:nvSpPr>
        <p:spPr>
          <a:xfrm xmlns:a="http://schemas.openxmlformats.org/drawingml/2006/main">
            <a:off x="685800" y="5953125"/>
            <a:ext cx="10820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200" b="1">
                <a:solidFill>
                  <a:srgbClr val="17324A"/>
                </a:solidFill>
                <a:latin typeface="Aptos"/>
                <a:ea typeface="Aptos"/>
                <a:cs typeface="Aptos"/>
              </a:defRPr>
            </a:pPr>
            <a:r>
              <a:rPr sz="1200" b="1">
                <a:solidFill>
                  <a:srgbClr val="17324A"/>
                </a:solidFill>
                <a:latin typeface="Aptos"/>
                <a:ea typeface="Aptos"/>
                <a:cs typeface="Aptos"/>
              </a:rPr>
              <a:t>Select the tab, then the action. Open, update, run, stop, build, and test create different engineering states and evidence.</a:t>
            </a:r>
          </a:p>
        </p:txBody>
      </p:sp>
    </p:spTree>
    <p:extLst>
      <p:ext uri="{BB962C8B-B14F-4D97-AF65-F5344CB8AC3E}">
        <p14:creationId xmlns:p14="http://schemas.microsoft.com/office/powerpoint/2010/main" val="1080256114"/>
      </p:ext>
    </p:extLst>
  </p:cSld>
</p:sld>
</file>

<file path=ppt/slides/slide7.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88">
            <a:extLst xmlns:a="http://schemas.openxmlformats.org/drawingml/2006/main">
              <a:ext uri="{FF2B5EF4-FFF2-40B4-BE49-F238E27FC236}">
                <a16:creationId xmlns:a16="http://schemas.microsoft.com/office/drawing/2014/main" id="{225C722D-6857-44D1-9507-EC13A7ACF701}"/>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01 • FIRST SESSION</a:t>
            </a:r>
          </a:p>
        </p:txBody>
      </p:sp>
      <p:sp>
        <p:nvSpPr>
          <p:cNvPr id="2" name="title-88">
            <a:extLst xmlns:a="http://schemas.openxmlformats.org/drawingml/2006/main">
              <a:ext uri="{FF2B5EF4-FFF2-40B4-BE49-F238E27FC236}">
                <a16:creationId xmlns:a16="http://schemas.microsoft.com/office/drawing/2014/main" id="{405076BC-2578-49F7-88DE-7DE6CEC93901}"/>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Turn model displays on—and off—for focus</a:t>
            </a:r>
          </a:p>
        </p:txBody>
      </p:sp>
      <p:sp>
        <p:nvSpPr>
          <p:cNvPr id="3" name="line-89">
            <a:extLst xmlns:a="http://schemas.openxmlformats.org/drawingml/2006/main">
              <a:ext uri="{FF2B5EF4-FFF2-40B4-BE49-F238E27FC236}">
                <a16:creationId xmlns:a16="http://schemas.microsoft.com/office/drawing/2014/main" id="{AB242A66-666B-4914-A3E0-AA6EB1FD0404}"/>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90">
            <a:extLst xmlns:a="http://schemas.openxmlformats.org/drawingml/2006/main">
              <a:ext uri="{FF2B5EF4-FFF2-40B4-BE49-F238E27FC236}">
                <a16:creationId xmlns:a16="http://schemas.microsoft.com/office/drawing/2014/main" id="{2DB323C3-AC65-48C9-A505-A9286AAC8AC9}"/>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91">
            <a:extLst xmlns:a="http://schemas.openxmlformats.org/drawingml/2006/main">
              <a:ext uri="{FF2B5EF4-FFF2-40B4-BE49-F238E27FC236}">
                <a16:creationId xmlns:a16="http://schemas.microsoft.com/office/drawing/2014/main" id="{951E5C0B-B10B-48A6-91FE-0C8CCF969DCE}"/>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07</a:t>
            </a:r>
          </a:p>
        </p:txBody>
      </p:sp>
      <p:sp>
        <p:nvSpPr>
          <p:cNvPr id="20" name="s7-path">
            <a:extLst xmlns:a="http://schemas.openxmlformats.org/drawingml/2006/main">
              <a:ext uri="{FF2B5EF4-FFF2-40B4-BE49-F238E27FC236}">
                <a16:creationId xmlns:a16="http://schemas.microsoft.com/office/drawing/2014/main" id="{5A3DF6FA-01FD-49C4-BDA2-5F78BA5AF7C0}"/>
              </a:ext>
            </a:extLst>
          </p:cNvPr>
          <p:cNvSpPr>
            <a:spLocks xmlns:a="http://schemas.openxmlformats.org/drawingml/2006/main" noGrp="1"/>
          </p:cNvSpPr>
          <p:nvPr/>
        </p:nvSpPr>
        <p:spPr>
          <a:xfrm xmlns:a="http://schemas.openxmlformats.org/drawingml/2006/main">
            <a:off x="685800" y="1381125"/>
            <a:ext cx="3733800" cy="352425"/>
          </a:xfrm>
          <a:prstGeom xmlns:a="http://schemas.openxmlformats.org/drawingml/2006/main" prst="roundRect">
            <a:avLst>
              <a:gd name="adj" fmla="val 32432"/>
            </a:avLst>
          </a:prstGeom>
          <a:solidFill xmlns:a="http://schemas.openxmlformats.org/drawingml/2006/main">
            <a:srgbClr val="0B243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163" b="1">
                <a:solidFill>
                  <a:srgbClr val="FFFFFF"/>
                </a:solidFill>
                <a:latin typeface="Aptos"/>
                <a:ea typeface="Aptos"/>
                <a:cs typeface="Aptos"/>
              </a:defRPr>
            </a:pPr>
            <a:r>
              <a:rPr sz="1163" b="1">
                <a:solidFill>
                  <a:srgbClr val="FFFFFF"/>
                </a:solidFill>
                <a:latin typeface="Aptos"/>
                <a:ea typeface="Aptos"/>
                <a:cs typeface="Aptos"/>
              </a:rPr>
              <a:t>DEBUG → INFORMATION OVERLAYS</a:t>
            </a:r>
          </a:p>
        </p:txBody>
      </p:sp>
      <p:sp>
        <p:nvSpPr>
          <p:cNvPr id="21" name="s7-row-0">
            <a:extLst xmlns:a="http://schemas.openxmlformats.org/drawingml/2006/main">
              <a:ext uri="{FF2B5EF4-FFF2-40B4-BE49-F238E27FC236}">
                <a16:creationId xmlns:a16="http://schemas.microsoft.com/office/drawing/2014/main" id="{0533A615-4FE4-44F3-86D8-2BAF7BEAE495}"/>
              </a:ext>
            </a:extLst>
          </p:cNvPr>
          <p:cNvSpPr>
            <a:spLocks xmlns:a="http://schemas.openxmlformats.org/drawingml/2006/main" noGrp="1"/>
          </p:cNvSpPr>
          <p:nvPr/>
        </p:nvSpPr>
        <p:spPr>
          <a:xfrm xmlns:a="http://schemas.openxmlformats.org/drawingml/2006/main">
            <a:off x="685800" y="1838325"/>
            <a:ext cx="3733800" cy="457200"/>
          </a:xfrm>
          <a:prstGeom xmlns:a="http://schemas.openxmlformats.org/drawingml/2006/main" prst="roundRect">
            <a:avLst>
              <a:gd name="adj" fmla="val 25000"/>
            </a:avLst>
          </a:prstGeom>
          <a:solidFill xmlns:a="http://schemas.openxmlformats.org/drawingml/2006/main">
            <a:srgbClr val="DFF6F8"/>
          </a:solidFill>
          <a:ln xmlns:a="http://schemas.openxmlformats.org/drawingml/2006/main" w="11430">
            <a:solidFill>
              <a:srgbClr val="20B7C5"/>
            </a:solidFill>
            <a:prstDash val="solid"/>
          </a:ln>
        </p:spPr>
      </p:sp>
      <p:sp>
        <p:nvSpPr>
          <p:cNvPr id="22" name="s7-row-title-0">
            <a:extLst xmlns:a="http://schemas.openxmlformats.org/drawingml/2006/main">
              <a:ext uri="{FF2B5EF4-FFF2-40B4-BE49-F238E27FC236}">
                <a16:creationId xmlns:a16="http://schemas.microsoft.com/office/drawing/2014/main" id="{DAA8287C-3BD3-416C-A298-D50524A2883D}"/>
              </a:ext>
            </a:extLst>
          </p:cNvPr>
          <p:cNvSpPr>
            <a:spLocks xmlns:a="http://schemas.openxmlformats.org/drawingml/2006/main" noGrp="1"/>
          </p:cNvSpPr>
          <p:nvPr/>
        </p:nvSpPr>
        <p:spPr>
          <a:xfrm xmlns:a="http://schemas.openxmlformats.org/drawingml/2006/main">
            <a:off x="819150" y="18859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050" b="1">
                <a:solidFill>
                  <a:srgbClr val="20B7C5"/>
                </a:solidFill>
                <a:latin typeface="Aptos"/>
                <a:ea typeface="Aptos"/>
                <a:cs typeface="Aptos"/>
              </a:defRPr>
            </a:pPr>
            <a:r>
              <a:rPr sz="1050" b="1">
                <a:solidFill>
                  <a:srgbClr val="20B7C5"/>
                </a:solidFill>
                <a:latin typeface="Aptos"/>
                <a:ea typeface="Aptos"/>
                <a:cs typeface="Aptos"/>
              </a:rPr>
              <a:t>PORT UNITS</a:t>
            </a:r>
          </a:p>
        </p:txBody>
      </p:sp>
      <p:sp>
        <p:nvSpPr>
          <p:cNvPr id="23" name="s7-row-body-0">
            <a:extLst xmlns:a="http://schemas.openxmlformats.org/drawingml/2006/main">
              <a:ext uri="{FF2B5EF4-FFF2-40B4-BE49-F238E27FC236}">
                <a16:creationId xmlns:a16="http://schemas.microsoft.com/office/drawing/2014/main" id="{42894842-6210-4E86-BA80-97D4A94EE71A}"/>
              </a:ext>
            </a:extLst>
          </p:cNvPr>
          <p:cNvSpPr>
            <a:spLocks xmlns:a="http://schemas.openxmlformats.org/drawingml/2006/main" noGrp="1"/>
          </p:cNvSpPr>
          <p:nvPr/>
        </p:nvSpPr>
        <p:spPr>
          <a:xfrm xmlns:a="http://schemas.openxmlformats.org/drawingml/2006/main">
            <a:off x="2200275" y="1885950"/>
            <a:ext cx="20859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defRPr sz="990" b="1">
                <a:solidFill>
                  <a:srgbClr val="17324A"/>
                </a:solidFill>
                <a:latin typeface="Aptos"/>
                <a:ea typeface="Aptos"/>
                <a:cs typeface="Aptos"/>
              </a:defRPr>
            </a:pPr>
            <a:r>
              <a:rPr sz="990" b="1">
                <a:solidFill>
                  <a:srgbClr val="17324A"/>
                </a:solidFill>
                <a:latin typeface="Aptos"/>
                <a:ea typeface="Aptos"/>
                <a:cs typeface="Aptos"/>
              </a:rPr>
              <a:t>ShowPortUnits</a:t>
            </a:r>
          </a:p>
        </p:txBody>
      </p:sp>
      <p:sp>
        <p:nvSpPr>
          <p:cNvPr id="24" name="s7-row-1">
            <a:extLst xmlns:a="http://schemas.openxmlformats.org/drawingml/2006/main">
              <a:ext uri="{FF2B5EF4-FFF2-40B4-BE49-F238E27FC236}">
                <a16:creationId xmlns:a16="http://schemas.microsoft.com/office/drawing/2014/main" id="{833FA44C-C9E2-4816-9487-95F3429E13D3}"/>
              </a:ext>
            </a:extLst>
          </p:cNvPr>
          <p:cNvSpPr>
            <a:spLocks xmlns:a="http://schemas.openxmlformats.org/drawingml/2006/main" noGrp="1"/>
          </p:cNvSpPr>
          <p:nvPr/>
        </p:nvSpPr>
        <p:spPr>
          <a:xfrm xmlns:a="http://schemas.openxmlformats.org/drawingml/2006/main">
            <a:off x="685800" y="2390775"/>
            <a:ext cx="3733800" cy="457200"/>
          </a:xfrm>
          <a:prstGeom xmlns:a="http://schemas.openxmlformats.org/drawingml/2006/main" prst="roundRect">
            <a:avLst>
              <a:gd name="adj" fmla="val 25000"/>
            </a:avLst>
          </a:prstGeom>
          <a:solidFill xmlns:a="http://schemas.openxmlformats.org/drawingml/2006/main">
            <a:srgbClr val="E2ECFF"/>
          </a:solidFill>
          <a:ln xmlns:a="http://schemas.openxmlformats.org/drawingml/2006/main" w="11430">
            <a:solidFill>
              <a:srgbClr val="2D6CDF"/>
            </a:solidFill>
            <a:prstDash val="solid"/>
          </a:ln>
        </p:spPr>
      </p:sp>
      <p:sp>
        <p:nvSpPr>
          <p:cNvPr id="25" name="s7-row-title-1">
            <a:extLst xmlns:a="http://schemas.openxmlformats.org/drawingml/2006/main">
              <a:ext uri="{FF2B5EF4-FFF2-40B4-BE49-F238E27FC236}">
                <a16:creationId xmlns:a16="http://schemas.microsoft.com/office/drawing/2014/main" id="{D72B39CB-0D60-454A-A3E4-98658440FD90}"/>
              </a:ext>
            </a:extLst>
          </p:cNvPr>
          <p:cNvSpPr>
            <a:spLocks xmlns:a="http://schemas.openxmlformats.org/drawingml/2006/main" noGrp="1"/>
          </p:cNvSpPr>
          <p:nvPr/>
        </p:nvSpPr>
        <p:spPr>
          <a:xfrm xmlns:a="http://schemas.openxmlformats.org/drawingml/2006/main">
            <a:off x="819150" y="243840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050" b="1">
                <a:solidFill>
                  <a:srgbClr val="2D6CDF"/>
                </a:solidFill>
                <a:latin typeface="Aptos"/>
                <a:ea typeface="Aptos"/>
                <a:cs typeface="Aptos"/>
              </a:defRPr>
            </a:pPr>
            <a:r>
              <a:rPr sz="1050" b="1">
                <a:solidFill>
                  <a:srgbClr val="2D6CDF"/>
                </a:solidFill>
                <a:latin typeface="Aptos"/>
                <a:ea typeface="Aptos"/>
                <a:cs typeface="Aptos"/>
              </a:rPr>
              <a:t>DATA TYPES</a:t>
            </a:r>
          </a:p>
        </p:txBody>
      </p:sp>
      <p:sp>
        <p:nvSpPr>
          <p:cNvPr id="26" name="s7-row-body-1">
            <a:extLst xmlns:a="http://schemas.openxmlformats.org/drawingml/2006/main">
              <a:ext uri="{FF2B5EF4-FFF2-40B4-BE49-F238E27FC236}">
                <a16:creationId xmlns:a16="http://schemas.microsoft.com/office/drawing/2014/main" id="{28D4A8F9-633D-496F-987B-ACB10FD60EE4}"/>
              </a:ext>
            </a:extLst>
          </p:cNvPr>
          <p:cNvSpPr>
            <a:spLocks xmlns:a="http://schemas.openxmlformats.org/drawingml/2006/main" noGrp="1"/>
          </p:cNvSpPr>
          <p:nvPr/>
        </p:nvSpPr>
        <p:spPr>
          <a:xfrm xmlns:a="http://schemas.openxmlformats.org/drawingml/2006/main">
            <a:off x="2200275" y="2438400"/>
            <a:ext cx="20859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defRPr sz="990" b="1">
                <a:solidFill>
                  <a:srgbClr val="17324A"/>
                </a:solidFill>
                <a:latin typeface="Aptos"/>
                <a:ea typeface="Aptos"/>
                <a:cs typeface="Aptos"/>
              </a:defRPr>
            </a:pPr>
            <a:r>
              <a:rPr sz="990" b="1">
                <a:solidFill>
                  <a:srgbClr val="17324A"/>
                </a:solidFill>
                <a:latin typeface="Aptos"/>
                <a:ea typeface="Aptos"/>
                <a:cs typeface="Aptos"/>
              </a:rPr>
              <a:t>ShowPortDataTypes</a:t>
            </a:r>
          </a:p>
        </p:txBody>
      </p:sp>
      <p:sp>
        <p:nvSpPr>
          <p:cNvPr id="27" name="s7-row-2">
            <a:extLst xmlns:a="http://schemas.openxmlformats.org/drawingml/2006/main">
              <a:ext uri="{FF2B5EF4-FFF2-40B4-BE49-F238E27FC236}">
                <a16:creationId xmlns:a16="http://schemas.microsoft.com/office/drawing/2014/main" id="{3730825F-DA29-48C8-B69A-51E300F21EDB}"/>
              </a:ext>
            </a:extLst>
          </p:cNvPr>
          <p:cNvSpPr>
            <a:spLocks xmlns:a="http://schemas.openxmlformats.org/drawingml/2006/main" noGrp="1"/>
          </p:cNvSpPr>
          <p:nvPr/>
        </p:nvSpPr>
        <p:spPr>
          <a:xfrm xmlns:a="http://schemas.openxmlformats.org/drawingml/2006/main">
            <a:off x="685800" y="2943225"/>
            <a:ext cx="3733800" cy="457200"/>
          </a:xfrm>
          <a:prstGeom xmlns:a="http://schemas.openxmlformats.org/drawingml/2006/main" prst="roundRect">
            <a:avLst>
              <a:gd name="adj" fmla="val 25000"/>
            </a:avLst>
          </a:prstGeom>
          <a:solidFill xmlns:a="http://schemas.openxmlformats.org/drawingml/2006/main">
            <a:srgbClr val="DFF6F8"/>
          </a:solidFill>
          <a:ln xmlns:a="http://schemas.openxmlformats.org/drawingml/2006/main" w="11430">
            <a:solidFill>
              <a:srgbClr val="20B7C5"/>
            </a:solidFill>
            <a:prstDash val="solid"/>
          </a:ln>
        </p:spPr>
      </p:sp>
      <p:sp>
        <p:nvSpPr>
          <p:cNvPr id="28" name="s7-row-title-2">
            <a:extLst xmlns:a="http://schemas.openxmlformats.org/drawingml/2006/main">
              <a:ext uri="{FF2B5EF4-FFF2-40B4-BE49-F238E27FC236}">
                <a16:creationId xmlns:a16="http://schemas.microsoft.com/office/drawing/2014/main" id="{159CE800-95E1-477C-BBF6-9E026C12C35B}"/>
              </a:ext>
            </a:extLst>
          </p:cNvPr>
          <p:cNvSpPr>
            <a:spLocks xmlns:a="http://schemas.openxmlformats.org/drawingml/2006/main" noGrp="1"/>
          </p:cNvSpPr>
          <p:nvPr/>
        </p:nvSpPr>
        <p:spPr>
          <a:xfrm xmlns:a="http://schemas.openxmlformats.org/drawingml/2006/main">
            <a:off x="819150" y="29908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050" b="1">
                <a:solidFill>
                  <a:srgbClr val="20B7C5"/>
                </a:solidFill>
                <a:latin typeface="Aptos"/>
                <a:ea typeface="Aptos"/>
                <a:cs typeface="Aptos"/>
              </a:defRPr>
            </a:pPr>
            <a:r>
              <a:rPr sz="1050" b="1">
                <a:solidFill>
                  <a:srgbClr val="20B7C5"/>
                </a:solidFill>
                <a:latin typeface="Aptos"/>
                <a:ea typeface="Aptos"/>
                <a:cs typeface="Aptos"/>
              </a:rPr>
              <a:t>DIMENSIONS</a:t>
            </a:r>
          </a:p>
        </p:txBody>
      </p:sp>
      <p:sp>
        <p:nvSpPr>
          <p:cNvPr id="29" name="s7-row-body-2">
            <a:extLst xmlns:a="http://schemas.openxmlformats.org/drawingml/2006/main">
              <a:ext uri="{FF2B5EF4-FFF2-40B4-BE49-F238E27FC236}">
                <a16:creationId xmlns:a16="http://schemas.microsoft.com/office/drawing/2014/main" id="{340D1162-899C-4D42-9F20-C70E2A1A57EA}"/>
              </a:ext>
            </a:extLst>
          </p:cNvPr>
          <p:cNvSpPr>
            <a:spLocks xmlns:a="http://schemas.openxmlformats.org/drawingml/2006/main" noGrp="1"/>
          </p:cNvSpPr>
          <p:nvPr/>
        </p:nvSpPr>
        <p:spPr>
          <a:xfrm xmlns:a="http://schemas.openxmlformats.org/drawingml/2006/main">
            <a:off x="2200275" y="2990850"/>
            <a:ext cx="20859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defRPr sz="990" b="1">
                <a:solidFill>
                  <a:srgbClr val="17324A"/>
                </a:solidFill>
                <a:latin typeface="Aptos"/>
                <a:ea typeface="Aptos"/>
                <a:cs typeface="Aptos"/>
              </a:defRPr>
            </a:pPr>
            <a:r>
              <a:rPr sz="990" b="1">
                <a:solidFill>
                  <a:srgbClr val="17324A"/>
                </a:solidFill>
                <a:latin typeface="Aptos"/>
                <a:ea typeface="Aptos"/>
                <a:cs typeface="Aptos"/>
              </a:rPr>
              <a:t>ShowLineDimensions</a:t>
            </a:r>
          </a:p>
        </p:txBody>
      </p:sp>
      <p:sp>
        <p:nvSpPr>
          <p:cNvPr id="30" name="s7-row-3">
            <a:extLst xmlns:a="http://schemas.openxmlformats.org/drawingml/2006/main">
              <a:ext uri="{FF2B5EF4-FFF2-40B4-BE49-F238E27FC236}">
                <a16:creationId xmlns:a16="http://schemas.microsoft.com/office/drawing/2014/main" id="{CF43FBE7-8D34-4A07-8CAA-DEE9F34C69F4}"/>
              </a:ext>
            </a:extLst>
          </p:cNvPr>
          <p:cNvSpPr>
            <a:spLocks xmlns:a="http://schemas.openxmlformats.org/drawingml/2006/main" noGrp="1"/>
          </p:cNvSpPr>
          <p:nvPr/>
        </p:nvSpPr>
        <p:spPr>
          <a:xfrm xmlns:a="http://schemas.openxmlformats.org/drawingml/2006/main">
            <a:off x="685800" y="3495675"/>
            <a:ext cx="3733800" cy="457200"/>
          </a:xfrm>
          <a:prstGeom xmlns:a="http://schemas.openxmlformats.org/drawingml/2006/main" prst="roundRect">
            <a:avLst>
              <a:gd name="adj" fmla="val 25000"/>
            </a:avLst>
          </a:prstGeom>
          <a:solidFill xmlns:a="http://schemas.openxmlformats.org/drawingml/2006/main">
            <a:srgbClr val="E2ECFF"/>
          </a:solidFill>
          <a:ln xmlns:a="http://schemas.openxmlformats.org/drawingml/2006/main" w="11430">
            <a:solidFill>
              <a:srgbClr val="2D6CDF"/>
            </a:solidFill>
            <a:prstDash val="solid"/>
          </a:ln>
        </p:spPr>
      </p:sp>
      <p:sp>
        <p:nvSpPr>
          <p:cNvPr id="31" name="s7-row-title-3">
            <a:extLst xmlns:a="http://schemas.openxmlformats.org/drawingml/2006/main">
              <a:ext uri="{FF2B5EF4-FFF2-40B4-BE49-F238E27FC236}">
                <a16:creationId xmlns:a16="http://schemas.microsoft.com/office/drawing/2014/main" id="{43B9E4B9-4971-45B5-88B3-CA7815F85C68}"/>
              </a:ext>
            </a:extLst>
          </p:cNvPr>
          <p:cNvSpPr>
            <a:spLocks xmlns:a="http://schemas.openxmlformats.org/drawingml/2006/main" noGrp="1"/>
          </p:cNvSpPr>
          <p:nvPr/>
        </p:nvSpPr>
        <p:spPr>
          <a:xfrm xmlns:a="http://schemas.openxmlformats.org/drawingml/2006/main">
            <a:off x="819150" y="354330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050" b="1">
                <a:solidFill>
                  <a:srgbClr val="2D6CDF"/>
                </a:solidFill>
                <a:latin typeface="Aptos"/>
                <a:ea typeface="Aptos"/>
                <a:cs typeface="Aptos"/>
              </a:defRPr>
            </a:pPr>
            <a:r>
              <a:rPr sz="1050" b="1">
                <a:solidFill>
                  <a:srgbClr val="2D6CDF"/>
                </a:solidFill>
                <a:latin typeface="Aptos"/>
                <a:ea typeface="Aptos"/>
                <a:cs typeface="Aptos"/>
              </a:rPr>
              <a:t>SIGNAL NAMES</a:t>
            </a:r>
          </a:p>
        </p:txBody>
      </p:sp>
      <p:sp>
        <p:nvSpPr>
          <p:cNvPr id="32" name="s7-row-body-3">
            <a:extLst xmlns:a="http://schemas.openxmlformats.org/drawingml/2006/main">
              <a:ext uri="{FF2B5EF4-FFF2-40B4-BE49-F238E27FC236}">
                <a16:creationId xmlns:a16="http://schemas.microsoft.com/office/drawing/2014/main" id="{9517D7D4-D40E-4D8B-9A11-AF2AEBD90FD5}"/>
              </a:ext>
            </a:extLst>
          </p:cNvPr>
          <p:cNvSpPr>
            <a:spLocks xmlns:a="http://schemas.openxmlformats.org/drawingml/2006/main" noGrp="1"/>
          </p:cNvSpPr>
          <p:nvPr/>
        </p:nvSpPr>
        <p:spPr>
          <a:xfrm xmlns:a="http://schemas.openxmlformats.org/drawingml/2006/main">
            <a:off x="2200275" y="3543300"/>
            <a:ext cx="20859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defRPr sz="990" b="1">
                <a:solidFill>
                  <a:srgbClr val="17324A"/>
                </a:solidFill>
                <a:latin typeface="Aptos"/>
                <a:ea typeface="Aptos"/>
                <a:cs typeface="Aptos"/>
              </a:defRPr>
            </a:pPr>
            <a:r>
              <a:rPr sz="990" b="1">
                <a:solidFill>
                  <a:srgbClr val="17324A"/>
                </a:solidFill>
                <a:latin typeface="Aptos"/>
                <a:ea typeface="Aptos"/>
                <a:cs typeface="Aptos"/>
              </a:rPr>
              <a:t>line labels + propagated names</a:t>
            </a:r>
          </a:p>
        </p:txBody>
      </p:sp>
      <p:sp>
        <p:nvSpPr>
          <p:cNvPr id="33" name="s7-row-4">
            <a:extLst xmlns:a="http://schemas.openxmlformats.org/drawingml/2006/main">
              <a:ext uri="{FF2B5EF4-FFF2-40B4-BE49-F238E27FC236}">
                <a16:creationId xmlns:a16="http://schemas.microsoft.com/office/drawing/2014/main" id="{2EB9B579-656C-43DB-9D4F-33DB06B4A9D2}"/>
              </a:ext>
            </a:extLst>
          </p:cNvPr>
          <p:cNvSpPr>
            <a:spLocks xmlns:a="http://schemas.openxmlformats.org/drawingml/2006/main" noGrp="1"/>
          </p:cNvSpPr>
          <p:nvPr/>
        </p:nvSpPr>
        <p:spPr>
          <a:xfrm xmlns:a="http://schemas.openxmlformats.org/drawingml/2006/main">
            <a:off x="685800" y="4048125"/>
            <a:ext cx="3733800" cy="457200"/>
          </a:xfrm>
          <a:prstGeom xmlns:a="http://schemas.openxmlformats.org/drawingml/2006/main" prst="roundRect">
            <a:avLst>
              <a:gd name="adj" fmla="val 25000"/>
            </a:avLst>
          </a:prstGeom>
          <a:solidFill xmlns:a="http://schemas.openxmlformats.org/drawingml/2006/main">
            <a:srgbClr val="DFF6F8"/>
          </a:solidFill>
          <a:ln xmlns:a="http://schemas.openxmlformats.org/drawingml/2006/main" w="11430">
            <a:solidFill>
              <a:srgbClr val="20B7C5"/>
            </a:solidFill>
            <a:prstDash val="solid"/>
          </a:ln>
        </p:spPr>
      </p:sp>
      <p:sp>
        <p:nvSpPr>
          <p:cNvPr id="34" name="s7-row-title-4">
            <a:extLst xmlns:a="http://schemas.openxmlformats.org/drawingml/2006/main">
              <a:ext uri="{FF2B5EF4-FFF2-40B4-BE49-F238E27FC236}">
                <a16:creationId xmlns:a16="http://schemas.microsoft.com/office/drawing/2014/main" id="{BC49A493-B59B-4517-B262-072C2EEDCEDB}"/>
              </a:ext>
            </a:extLst>
          </p:cNvPr>
          <p:cNvSpPr>
            <a:spLocks xmlns:a="http://schemas.openxmlformats.org/drawingml/2006/main" noGrp="1"/>
          </p:cNvSpPr>
          <p:nvPr/>
        </p:nvSpPr>
        <p:spPr>
          <a:xfrm xmlns:a="http://schemas.openxmlformats.org/drawingml/2006/main">
            <a:off x="819150" y="40957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050" b="1">
                <a:solidFill>
                  <a:srgbClr val="20B7C5"/>
                </a:solidFill>
                <a:latin typeface="Aptos"/>
                <a:ea typeface="Aptos"/>
                <a:cs typeface="Aptos"/>
              </a:defRPr>
            </a:pPr>
            <a:r>
              <a:rPr sz="1050" b="1">
                <a:solidFill>
                  <a:srgbClr val="20B7C5"/>
                </a:solidFill>
                <a:latin typeface="Aptos"/>
                <a:ea typeface="Aptos"/>
                <a:cs typeface="Aptos"/>
              </a:rPr>
              <a:t>LOGGING BADGES</a:t>
            </a:r>
          </a:p>
        </p:txBody>
      </p:sp>
      <p:sp>
        <p:nvSpPr>
          <p:cNvPr id="35" name="s7-row-body-4">
            <a:extLst xmlns:a="http://schemas.openxmlformats.org/drawingml/2006/main">
              <a:ext uri="{FF2B5EF4-FFF2-40B4-BE49-F238E27FC236}">
                <a16:creationId xmlns:a16="http://schemas.microsoft.com/office/drawing/2014/main" id="{3AD8C93B-97A6-4382-A81B-9AE325A11DA3}"/>
              </a:ext>
            </a:extLst>
          </p:cNvPr>
          <p:cNvSpPr>
            <a:spLocks xmlns:a="http://schemas.openxmlformats.org/drawingml/2006/main" noGrp="1"/>
          </p:cNvSpPr>
          <p:nvPr/>
        </p:nvSpPr>
        <p:spPr>
          <a:xfrm xmlns:a="http://schemas.openxmlformats.org/drawingml/2006/main">
            <a:off x="2200275" y="4095750"/>
            <a:ext cx="20859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defRPr sz="990" b="1">
                <a:solidFill>
                  <a:srgbClr val="17324A"/>
                </a:solidFill>
                <a:latin typeface="Aptos"/>
                <a:ea typeface="Aptos"/>
                <a:cs typeface="Aptos"/>
              </a:defRPr>
            </a:pPr>
            <a:r>
              <a:rPr sz="990" b="1">
                <a:solidFill>
                  <a:srgbClr val="17324A"/>
                </a:solidFill>
                <a:latin typeface="Aptos"/>
                <a:ea typeface="Aptos"/>
                <a:cs typeface="Aptos"/>
              </a:rPr>
              <a:t>DataLogging + model SignalLogging</a:t>
            </a:r>
          </a:p>
        </p:txBody>
      </p:sp>
      <p:sp>
        <p:nvSpPr>
          <p:cNvPr id="36" name="s7-row-5">
            <a:extLst xmlns:a="http://schemas.openxmlformats.org/drawingml/2006/main">
              <a:ext uri="{FF2B5EF4-FFF2-40B4-BE49-F238E27FC236}">
                <a16:creationId xmlns:a16="http://schemas.microsoft.com/office/drawing/2014/main" id="{BDB6B6A4-879C-4CC3-98A3-58FBFF989D01}"/>
              </a:ext>
            </a:extLst>
          </p:cNvPr>
          <p:cNvSpPr>
            <a:spLocks xmlns:a="http://schemas.openxmlformats.org/drawingml/2006/main" noGrp="1"/>
          </p:cNvSpPr>
          <p:nvPr/>
        </p:nvSpPr>
        <p:spPr>
          <a:xfrm xmlns:a="http://schemas.openxmlformats.org/drawingml/2006/main">
            <a:off x="685800" y="4600575"/>
            <a:ext cx="3733800" cy="457200"/>
          </a:xfrm>
          <a:prstGeom xmlns:a="http://schemas.openxmlformats.org/drawingml/2006/main" prst="roundRect">
            <a:avLst>
              <a:gd name="adj" fmla="val 25000"/>
            </a:avLst>
          </a:prstGeom>
          <a:solidFill xmlns:a="http://schemas.openxmlformats.org/drawingml/2006/main">
            <a:srgbClr val="E2ECFF"/>
          </a:solidFill>
          <a:ln xmlns:a="http://schemas.openxmlformats.org/drawingml/2006/main" w="11430">
            <a:solidFill>
              <a:srgbClr val="2D6CDF"/>
            </a:solidFill>
            <a:prstDash val="solid"/>
          </a:ln>
        </p:spPr>
      </p:sp>
      <p:sp>
        <p:nvSpPr>
          <p:cNvPr id="37" name="s7-row-title-5">
            <a:extLst xmlns:a="http://schemas.openxmlformats.org/drawingml/2006/main">
              <a:ext uri="{FF2B5EF4-FFF2-40B4-BE49-F238E27FC236}">
                <a16:creationId xmlns:a16="http://schemas.microsoft.com/office/drawing/2014/main" id="{AC42A5DD-B2F7-4A27-9D43-4850CE4C44DF}"/>
              </a:ext>
            </a:extLst>
          </p:cNvPr>
          <p:cNvSpPr>
            <a:spLocks xmlns:a="http://schemas.openxmlformats.org/drawingml/2006/main" noGrp="1"/>
          </p:cNvSpPr>
          <p:nvPr/>
        </p:nvSpPr>
        <p:spPr>
          <a:xfrm xmlns:a="http://schemas.openxmlformats.org/drawingml/2006/main">
            <a:off x="819150" y="464820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050" b="1">
                <a:solidFill>
                  <a:srgbClr val="2D6CDF"/>
                </a:solidFill>
                <a:latin typeface="Aptos"/>
                <a:ea typeface="Aptos"/>
                <a:cs typeface="Aptos"/>
              </a:defRPr>
            </a:pPr>
            <a:r>
              <a:rPr sz="1050" b="1">
                <a:solidFill>
                  <a:srgbClr val="2D6CDF"/>
                </a:solidFill>
                <a:latin typeface="Aptos"/>
                <a:ea typeface="Aptos"/>
                <a:cs typeface="Aptos"/>
              </a:rPr>
              <a:t>TEST POINTS</a:t>
            </a:r>
          </a:p>
        </p:txBody>
      </p:sp>
      <p:sp>
        <p:nvSpPr>
          <p:cNvPr id="38" name="s7-row-body-5">
            <a:extLst xmlns:a="http://schemas.openxmlformats.org/drawingml/2006/main">
              <a:ext uri="{FF2B5EF4-FFF2-40B4-BE49-F238E27FC236}">
                <a16:creationId xmlns:a16="http://schemas.microsoft.com/office/drawing/2014/main" id="{1B4E38A8-0884-4D5D-A8D4-C9FD99B1B593}"/>
              </a:ext>
            </a:extLst>
          </p:cNvPr>
          <p:cNvSpPr>
            <a:spLocks xmlns:a="http://schemas.openxmlformats.org/drawingml/2006/main" noGrp="1"/>
          </p:cNvSpPr>
          <p:nvPr/>
        </p:nvSpPr>
        <p:spPr>
          <a:xfrm xmlns:a="http://schemas.openxmlformats.org/drawingml/2006/main">
            <a:off x="2200275" y="4648200"/>
            <a:ext cx="20859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defRPr sz="990" b="1">
                <a:solidFill>
                  <a:srgbClr val="17324A"/>
                </a:solidFill>
                <a:latin typeface="Aptos"/>
                <a:ea typeface="Aptos"/>
                <a:cs typeface="Aptos"/>
              </a:defRPr>
            </a:pPr>
            <a:r>
              <a:rPr sz="990" b="1">
                <a:solidFill>
                  <a:srgbClr val="17324A"/>
                </a:solidFill>
                <a:latin typeface="Aptos"/>
                <a:ea typeface="Aptos"/>
                <a:cs typeface="Aptos"/>
              </a:rPr>
              <a:t>ShowTestPointIcons, when supported</a:t>
            </a:r>
          </a:p>
        </p:txBody>
      </p:sp>
      <p:sp>
        <p:nvSpPr>
          <p:cNvPr id="39" name="s7-image-frame">
            <a:extLst xmlns:a="http://schemas.openxmlformats.org/drawingml/2006/main">
              <a:ext uri="{FF2B5EF4-FFF2-40B4-BE49-F238E27FC236}">
                <a16:creationId xmlns:a16="http://schemas.microsoft.com/office/drawing/2014/main" id="{0D2FA88E-4262-48C3-B6C1-8EF45D0DE27F}"/>
              </a:ext>
            </a:extLst>
          </p:cNvPr>
          <p:cNvSpPr>
            <a:spLocks xmlns:a="http://schemas.openxmlformats.org/drawingml/2006/main" noGrp="1"/>
          </p:cNvSpPr>
          <p:nvPr/>
        </p:nvSpPr>
        <p:spPr>
          <a:xfrm xmlns:a="http://schemas.openxmlformats.org/drawingml/2006/main">
            <a:off x="4648200" y="1381125"/>
            <a:ext cx="6858000" cy="3771900"/>
          </a:xfrm>
          <a:prstGeom xmlns:a="http://schemas.openxmlformats.org/drawingml/2006/main" prst="roundRect">
            <a:avLst>
              <a:gd name="adj" fmla="val 3030"/>
            </a:avLst>
          </a:prstGeom>
          <a:solidFill xmlns:a="http://schemas.openxmlformats.org/drawingml/2006/main">
            <a:srgbClr val="FFFFFF"/>
          </a:solidFill>
          <a:ln xmlns:a="http://schemas.openxmlformats.org/drawingml/2006/main" w="11430">
            <a:solidFill>
              <a:srgbClr val="C9D8E3"/>
            </a:solidFill>
            <a:prstDash val="solid"/>
          </a:ln>
        </p:spPr>
      </p:sp>
      <p:pic>
        <p:nvPicPr>
          <p:cNvPr id="67" name=""/>
          <p:cNvPicPr>
            <a:picLocks xmlns:a="http://schemas.openxmlformats.org/drawingml/2006/main" noChangeAspect="1"/>
          </p:cNvPicPr>
          <p:nvPr/>
        </p:nvPicPr>
        <p:blipFill>
          <a:blip xmlns:r="http://schemas.openxmlformats.org/officeDocument/2006/relationships" xmlns:a="http://schemas.openxmlformats.org/drawingml/2006/main" r:embed="R3608d1db55184f1b"/>
          <a:stretch xmlns:a="http://schemas.openxmlformats.org/drawingml/2006/main"/>
        </p:blipFill>
        <p:spPr>
          <a:xfrm xmlns:a="http://schemas.openxmlformats.org/drawingml/2006/main">
            <a:off x="5141259" y="1495425"/>
            <a:ext cx="5871882" cy="3543300"/>
          </a:xfrm>
          <a:prstGeom xmlns:a="http://schemas.openxmlformats.org/drawingml/2006/main" prst="rect">
            <a:avLst/>
          </a:prstGeom>
        </p:spPr>
      </p:pic>
      <p:sp>
        <p:nvSpPr>
          <p:cNvPr id="41" name="s7-distinction">
            <a:extLst xmlns:a="http://schemas.openxmlformats.org/drawingml/2006/main">
              <a:ext uri="{FF2B5EF4-FFF2-40B4-BE49-F238E27FC236}">
                <a16:creationId xmlns:a16="http://schemas.microsoft.com/office/drawing/2014/main" id="{C11A4772-ECA3-42D5-A2DF-8A146C3F4C30}"/>
              </a:ext>
            </a:extLst>
          </p:cNvPr>
          <p:cNvSpPr>
            <a:spLocks xmlns:a="http://schemas.openxmlformats.org/drawingml/2006/main" noGrp="1"/>
          </p:cNvSpPr>
          <p:nvPr/>
        </p:nvSpPr>
        <p:spPr>
          <a:xfrm xmlns:a="http://schemas.openxmlformats.org/drawingml/2006/main">
            <a:off x="4648200" y="5295900"/>
            <a:ext cx="6858000" cy="781050"/>
          </a:xfrm>
          <a:prstGeom xmlns:a="http://schemas.openxmlformats.org/drawingml/2006/main" prst="roundRect">
            <a:avLst>
              <a:gd name="adj" fmla="val 14634"/>
            </a:avLst>
          </a:prstGeom>
          <a:solidFill xmlns:a="http://schemas.openxmlformats.org/drawingml/2006/main">
            <a:srgbClr val="EEF4F8"/>
          </a:solidFill>
          <a:ln xmlns:a="http://schemas.openxmlformats.org/drawingml/2006/main" w="14288">
            <a:solidFill>
              <a:srgbClr val="20B7C5"/>
            </a:solidFill>
            <a:prstDash val="solid"/>
          </a:ln>
        </p:spPr>
        <p:txBody>
          <a:bodyPr xmlns:a="http://schemas.openxmlformats.org/drawingml/2006/main" wrap="square" lIns="133350" tIns="85725" rIns="133350" bIns="66675" anchor="t">
            <a:noAutofit/>
          </a:bodyPr>
          <a:lstStyle xmlns:a="http://schemas.openxmlformats.org/drawingml/2006/main"/>
          <a:p xmlns:a="http://schemas.openxmlformats.org/drawingml/2006/main">
            <a:pPr algn="l">
              <a:defRPr sz="1065" b="1">
                <a:solidFill>
                  <a:srgbClr val="0B1F33"/>
                </a:solidFill>
                <a:latin typeface="Aptos"/>
                <a:ea typeface="Aptos"/>
                <a:cs typeface="Aptos"/>
              </a:defRPr>
            </a:pPr>
            <a:r>
              <a:rPr sz="1065" b="1">
                <a:solidFill>
                  <a:srgbClr val="0B1F33"/>
                </a:solidFill>
                <a:latin typeface="Aptos"/>
                <a:ea typeface="Aptos"/>
                <a:cs typeface="Aptos"/>
              </a:rPr>
              <a:t>MODEL OVERLAYS — units, types, dimensions, names, and log/test-point badges annotate the diagram.</a:t>
            </a:r>
          </a:p>
          <a:p xmlns:a="http://schemas.openxmlformats.org/drawingml/2006/main">
            <a:pPr algn="l">
              <a:defRPr sz="1065" b="1">
                <a:solidFill>
                  <a:srgbClr val="0B1F33"/>
                </a:solidFill>
                <a:latin typeface="Aptos"/>
                <a:ea typeface="Aptos"/>
                <a:cs typeface="Aptos"/>
              </a:defRPr>
            </a:pPr>
            <a:r>
              <a:rPr sz="1065" b="1">
                <a:solidFill>
                  <a:srgbClr val="0B1F33"/>
                </a:solidFill>
                <a:latin typeface="Aptos"/>
                <a:ea typeface="Aptos"/>
                <a:cs typeface="Aptos"/>
              </a:rPr>
              <a:t>SDI MARKERS — cursors and data points annotate logged traces. Neither display changes behavior.</a:t>
            </a:r>
          </a:p>
        </p:txBody>
      </p:sp>
    </p:spTree>
    <p:extLst>
      <p:ext uri="{BB962C8B-B14F-4D97-AF65-F5344CB8AC3E}">
        <p14:creationId xmlns:p14="http://schemas.microsoft.com/office/powerpoint/2010/main" val="28635293"/>
      </p:ext>
    </p:extLst>
  </p:cSld>
</p:sld>
</file>

<file path=ppt/slides/slide8.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1" name="section-102">
            <a:extLst xmlns:a="http://schemas.openxmlformats.org/drawingml/2006/main">
              <a:ext uri="{FF2B5EF4-FFF2-40B4-BE49-F238E27FC236}">
                <a16:creationId xmlns:a16="http://schemas.microsoft.com/office/drawing/2014/main" id="{EFD8CC6F-3DF0-4054-A86C-5A9C68F37536}"/>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102">
            <a:extLst xmlns:a="http://schemas.openxmlformats.org/drawingml/2006/main">
              <a:ext uri="{FF2B5EF4-FFF2-40B4-BE49-F238E27FC236}">
                <a16:creationId xmlns:a16="http://schemas.microsoft.com/office/drawing/2014/main" id="{F06E638B-68B4-44E3-885A-1118016B3F48}"/>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FFFFFF"/>
                </a:solidFill>
                <a:latin typeface="Aptos"/>
                <a:ea typeface="Aptos"/>
                <a:cs typeface="Aptos"/>
              </a:defRPr>
            </a:pPr>
            <a:r>
              <a:rPr sz="3150" b="1" i="0">
                <a:solidFill>
                  <a:srgbClr val="FFFFFF"/>
                </a:solidFill>
                <a:latin typeface="Aptos"/>
                <a:ea typeface="Aptos"/>
                <a:cs typeface="Aptos"/>
              </a:rPr>
              <a:t>The current job determines which model is top level</a:t>
            </a:r>
          </a:p>
        </p:txBody>
      </p:sp>
      <p:sp>
        <p:nvSpPr>
          <p:cNvPr id="3" name="line-103">
            <a:extLst xmlns:a="http://schemas.openxmlformats.org/drawingml/2006/main">
              <a:ext uri="{FF2B5EF4-FFF2-40B4-BE49-F238E27FC236}">
                <a16:creationId xmlns:a16="http://schemas.microsoft.com/office/drawing/2014/main" id="{42873680-4CA7-4843-B290-41043BA4C390}"/>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104">
            <a:extLst xmlns:a="http://schemas.openxmlformats.org/drawingml/2006/main">
              <a:ext uri="{FF2B5EF4-FFF2-40B4-BE49-F238E27FC236}">
                <a16:creationId xmlns:a16="http://schemas.microsoft.com/office/drawing/2014/main" id="{3CCE68AE-7D4E-4462-B128-EFBB6AD5ADF4}"/>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05">
            <a:extLst xmlns:a="http://schemas.openxmlformats.org/drawingml/2006/main">
              <a:ext uri="{FF2B5EF4-FFF2-40B4-BE49-F238E27FC236}">
                <a16:creationId xmlns:a16="http://schemas.microsoft.com/office/drawing/2014/main" id="{1E52342A-96A5-4F2A-AAFD-5B5819ECAF95}"/>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08</a:t>
            </a:r>
          </a:p>
        </p:txBody>
      </p:sp>
      <p:sp>
        <p:nvSpPr>
          <p:cNvPr id="22" name="s8-left-v">
            <a:extLst xmlns:a="http://schemas.openxmlformats.org/drawingml/2006/main">
              <a:ext uri="{FF2B5EF4-FFF2-40B4-BE49-F238E27FC236}">
                <a16:creationId xmlns:a16="http://schemas.microsoft.com/office/drawing/2014/main" id="{18E05B59-A4C4-4A46-BA70-521E2D44F568}"/>
              </a:ext>
            </a:extLst>
          </p:cNvPr>
          <p:cNvSpPr>
            <a:spLocks xmlns:a="http://schemas.openxmlformats.org/drawingml/2006/main" noGrp="1"/>
          </p:cNvSpPr>
          <p:nvPr/>
        </p:nvSpPr>
        <p:spPr>
          <a:xfrm xmlns:a="http://schemas.openxmlformats.org/drawingml/2006/main">
            <a:off x="2362200" y="2333625"/>
            <a:ext cx="0" cy="2857500"/>
          </a:xfrm>
          <a:prstGeom xmlns:a="http://schemas.openxmlformats.org/drawingml/2006/main" prst="line">
            <a:avLst/>
          </a:prstGeom>
          <a:noFill xmlns:a="http://schemas.openxmlformats.org/drawingml/2006/main"/>
          <a:ln xmlns:a="http://schemas.openxmlformats.org/drawingml/2006/main" w="19050">
            <a:solidFill>
              <a:srgbClr val="35647A"/>
            </a:solidFill>
            <a:prstDash val="solid"/>
          </a:ln>
        </p:spPr>
      </p:sp>
      <p:sp>
        <p:nvSpPr>
          <p:cNvPr id="23" name="s8-mid-v">
            <a:extLst xmlns:a="http://schemas.openxmlformats.org/drawingml/2006/main">
              <a:ext uri="{FF2B5EF4-FFF2-40B4-BE49-F238E27FC236}">
                <a16:creationId xmlns:a16="http://schemas.microsoft.com/office/drawing/2014/main" id="{B4D3C86C-1AF5-4B1E-ABEF-8E616B4D1E93}"/>
              </a:ext>
            </a:extLst>
          </p:cNvPr>
          <p:cNvSpPr>
            <a:spLocks xmlns:a="http://schemas.openxmlformats.org/drawingml/2006/main" noGrp="1"/>
          </p:cNvSpPr>
          <p:nvPr/>
        </p:nvSpPr>
        <p:spPr>
          <a:xfrm xmlns:a="http://schemas.openxmlformats.org/drawingml/2006/main">
            <a:off x="5981700" y="2143125"/>
            <a:ext cx="0" cy="3048000"/>
          </a:xfrm>
          <a:prstGeom xmlns:a="http://schemas.openxmlformats.org/drawingml/2006/main" prst="line">
            <a:avLst/>
          </a:prstGeom>
          <a:noFill xmlns:a="http://schemas.openxmlformats.org/drawingml/2006/main"/>
          <a:ln xmlns:a="http://schemas.openxmlformats.org/drawingml/2006/main" w="19050">
            <a:solidFill>
              <a:srgbClr val="35647A"/>
            </a:solidFill>
            <a:prstDash val="solid"/>
          </a:ln>
        </p:spPr>
      </p:sp>
      <p:sp>
        <p:nvSpPr>
          <p:cNvPr id="24" name="s8-right-v1">
            <a:extLst xmlns:a="http://schemas.openxmlformats.org/drawingml/2006/main">
              <a:ext uri="{FF2B5EF4-FFF2-40B4-BE49-F238E27FC236}">
                <a16:creationId xmlns:a16="http://schemas.microsoft.com/office/drawing/2014/main" id="{78B21220-AB2C-4673-9FA7-641DD0533DD4}"/>
              </a:ext>
            </a:extLst>
          </p:cNvPr>
          <p:cNvSpPr>
            <a:spLocks xmlns:a="http://schemas.openxmlformats.org/drawingml/2006/main" noGrp="1"/>
          </p:cNvSpPr>
          <p:nvPr/>
        </p:nvSpPr>
        <p:spPr>
          <a:xfrm xmlns:a="http://schemas.openxmlformats.org/drawingml/2006/main">
            <a:off x="9601200" y="2381250"/>
            <a:ext cx="0" cy="619125"/>
          </a:xfrm>
          <a:prstGeom xmlns:a="http://schemas.openxmlformats.org/drawingml/2006/main" prst="line">
            <a:avLst/>
          </a:prstGeom>
          <a:noFill xmlns:a="http://schemas.openxmlformats.org/drawingml/2006/main"/>
          <a:ln xmlns:a="http://schemas.openxmlformats.org/drawingml/2006/main" w="19050">
            <a:solidFill>
              <a:srgbClr val="35647A"/>
            </a:solidFill>
            <a:prstDash val="solid"/>
          </a:ln>
        </p:spPr>
      </p:sp>
      <p:sp>
        <p:nvSpPr>
          <p:cNvPr id="25" name="s8-right-v2">
            <a:extLst xmlns:a="http://schemas.openxmlformats.org/drawingml/2006/main">
              <a:ext uri="{FF2B5EF4-FFF2-40B4-BE49-F238E27FC236}">
                <a16:creationId xmlns:a16="http://schemas.microsoft.com/office/drawing/2014/main" id="{9CD1B691-06FF-4234-BC90-EF8C01D406AA}"/>
              </a:ext>
            </a:extLst>
          </p:cNvPr>
          <p:cNvSpPr>
            <a:spLocks xmlns:a="http://schemas.openxmlformats.org/drawingml/2006/main" noGrp="1"/>
          </p:cNvSpPr>
          <p:nvPr/>
        </p:nvSpPr>
        <p:spPr>
          <a:xfrm xmlns:a="http://schemas.openxmlformats.org/drawingml/2006/main">
            <a:off x="9601200" y="4000500"/>
            <a:ext cx="0" cy="619125"/>
          </a:xfrm>
          <a:prstGeom xmlns:a="http://schemas.openxmlformats.org/drawingml/2006/main" prst="line">
            <a:avLst/>
          </a:prstGeom>
          <a:noFill xmlns:a="http://schemas.openxmlformats.org/drawingml/2006/main"/>
          <a:ln xmlns:a="http://schemas.openxmlformats.org/drawingml/2006/main" w="19050">
            <a:solidFill>
              <a:srgbClr val="35647A"/>
            </a:solidFill>
            <a:prstDash val="solid"/>
          </a:ln>
        </p:spPr>
      </p:sp>
      <p:sp>
        <p:nvSpPr>
          <p:cNvPr id="26" name="s8-panel-0">
            <a:extLst xmlns:a="http://schemas.openxmlformats.org/drawingml/2006/main">
              <a:ext uri="{FF2B5EF4-FFF2-40B4-BE49-F238E27FC236}">
                <a16:creationId xmlns:a16="http://schemas.microsoft.com/office/drawing/2014/main" id="{57ACD6A8-328C-4C2A-9BF3-26FCAA8D05A0}"/>
              </a:ext>
            </a:extLst>
          </p:cNvPr>
          <p:cNvSpPr>
            <a:spLocks xmlns:a="http://schemas.openxmlformats.org/drawingml/2006/main" noGrp="1"/>
          </p:cNvSpPr>
          <p:nvPr/>
        </p:nvSpPr>
        <p:spPr>
          <a:xfrm xmlns:a="http://schemas.openxmlformats.org/drawingml/2006/main">
            <a:off x="685800" y="1381125"/>
            <a:ext cx="3352800" cy="4629150"/>
          </a:xfrm>
          <a:prstGeom xmlns:a="http://schemas.openxmlformats.org/drawingml/2006/main" prst="roundRect">
            <a:avLst>
              <a:gd name="adj" fmla="val 3409"/>
            </a:avLst>
          </a:prstGeom>
          <a:solidFill xmlns:a="http://schemas.openxmlformats.org/drawingml/2006/main">
            <a:srgbClr val="0C2133"/>
          </a:solidFill>
          <a:ln xmlns:a="http://schemas.openxmlformats.org/drawingml/2006/main" w="13335">
            <a:solidFill>
              <a:srgbClr val="21465E"/>
            </a:solidFill>
            <a:prstDash val="solid"/>
          </a:ln>
        </p:spPr>
      </p:sp>
      <p:sp>
        <p:nvSpPr>
          <p:cNvPr id="27" name="s8-heading-0">
            <a:extLst xmlns:a="http://schemas.openxmlformats.org/drawingml/2006/main">
              <a:ext uri="{FF2B5EF4-FFF2-40B4-BE49-F238E27FC236}">
                <a16:creationId xmlns:a16="http://schemas.microsoft.com/office/drawing/2014/main" id="{841EA2EB-B1F5-4EC1-907F-2A6975689151}"/>
              </a:ext>
            </a:extLst>
          </p:cNvPr>
          <p:cNvSpPr>
            <a:spLocks xmlns:a="http://schemas.openxmlformats.org/drawingml/2006/main" noGrp="1"/>
          </p:cNvSpPr>
          <p:nvPr/>
        </p:nvSpPr>
        <p:spPr>
          <a:xfrm xmlns:a="http://schemas.openxmlformats.org/drawingml/2006/main">
            <a:off x="828675" y="1495425"/>
            <a:ext cx="3067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065" b="1">
                <a:solidFill>
                  <a:srgbClr val="70DCE5"/>
                </a:solidFill>
                <a:latin typeface="Aptos"/>
                <a:ea typeface="Aptos"/>
                <a:cs typeface="Aptos"/>
              </a:defRPr>
            </a:pPr>
            <a:r>
              <a:rPr sz="1065" b="1">
                <a:solidFill>
                  <a:srgbClr val="70DCE5"/>
                </a:solidFill>
                <a:latin typeface="Aptos"/>
                <a:ea typeface="Aptos"/>
                <a:cs typeface="Aptos"/>
              </a:rPr>
              <a:t>STANDALONE CLOSED LOOP</a:t>
            </a:r>
          </a:p>
        </p:txBody>
      </p:sp>
      <p:sp>
        <p:nvSpPr>
          <p:cNvPr id="28" name="s8-panel-1">
            <a:extLst xmlns:a="http://schemas.openxmlformats.org/drawingml/2006/main">
              <a:ext uri="{FF2B5EF4-FFF2-40B4-BE49-F238E27FC236}">
                <a16:creationId xmlns:a16="http://schemas.microsoft.com/office/drawing/2014/main" id="{7112E142-F052-4471-91C9-2742DFE5F596}"/>
              </a:ext>
            </a:extLst>
          </p:cNvPr>
          <p:cNvSpPr>
            <a:spLocks xmlns:a="http://schemas.openxmlformats.org/drawingml/2006/main" noGrp="1"/>
          </p:cNvSpPr>
          <p:nvPr/>
        </p:nvSpPr>
        <p:spPr>
          <a:xfrm xmlns:a="http://schemas.openxmlformats.org/drawingml/2006/main">
            <a:off x="4305300" y="1381125"/>
            <a:ext cx="3352800" cy="4629150"/>
          </a:xfrm>
          <a:prstGeom xmlns:a="http://schemas.openxmlformats.org/drawingml/2006/main" prst="roundRect">
            <a:avLst>
              <a:gd name="adj" fmla="val 3409"/>
            </a:avLst>
          </a:prstGeom>
          <a:solidFill xmlns:a="http://schemas.openxmlformats.org/drawingml/2006/main">
            <a:srgbClr val="0C2133"/>
          </a:solidFill>
          <a:ln xmlns:a="http://schemas.openxmlformats.org/drawingml/2006/main" w="13335">
            <a:solidFill>
              <a:srgbClr val="21465E"/>
            </a:solidFill>
            <a:prstDash val="solid"/>
          </a:ln>
        </p:spPr>
      </p:sp>
      <p:sp>
        <p:nvSpPr>
          <p:cNvPr id="29" name="s8-heading-1">
            <a:extLst xmlns:a="http://schemas.openxmlformats.org/drawingml/2006/main">
              <a:ext uri="{FF2B5EF4-FFF2-40B4-BE49-F238E27FC236}">
                <a16:creationId xmlns:a16="http://schemas.microsoft.com/office/drawing/2014/main" id="{F13AF169-4CCA-4A2E-9495-4C5FC7DFAB01}"/>
              </a:ext>
            </a:extLst>
          </p:cNvPr>
          <p:cNvSpPr>
            <a:spLocks xmlns:a="http://schemas.openxmlformats.org/drawingml/2006/main" noGrp="1"/>
          </p:cNvSpPr>
          <p:nvPr/>
        </p:nvSpPr>
        <p:spPr>
          <a:xfrm xmlns:a="http://schemas.openxmlformats.org/drawingml/2006/main">
            <a:off x="4448175" y="1495425"/>
            <a:ext cx="3067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065" b="1">
                <a:solidFill>
                  <a:srgbClr val="70DCE5"/>
                </a:solidFill>
                <a:latin typeface="Aptos"/>
                <a:ea typeface="Aptos"/>
                <a:cs typeface="Aptos"/>
              </a:defRPr>
            </a:pPr>
            <a:r>
              <a:rPr sz="1065" b="1">
                <a:solidFill>
                  <a:srgbClr val="70DCE5"/>
                </a:solidFill>
                <a:latin typeface="Aptos"/>
                <a:ea typeface="Aptos"/>
                <a:cs typeface="Aptos"/>
              </a:rPr>
              <a:t>REFERENCED INTEGRATION</a:t>
            </a:r>
          </a:p>
        </p:txBody>
      </p:sp>
      <p:sp>
        <p:nvSpPr>
          <p:cNvPr id="30" name="s8-panel-2">
            <a:extLst xmlns:a="http://schemas.openxmlformats.org/drawingml/2006/main">
              <a:ext uri="{FF2B5EF4-FFF2-40B4-BE49-F238E27FC236}">
                <a16:creationId xmlns:a16="http://schemas.microsoft.com/office/drawing/2014/main" id="{8D65A2C1-AB5F-4220-BF33-7A94F05B53E8}"/>
              </a:ext>
            </a:extLst>
          </p:cNvPr>
          <p:cNvSpPr>
            <a:spLocks xmlns:a="http://schemas.openxmlformats.org/drawingml/2006/main" noGrp="1"/>
          </p:cNvSpPr>
          <p:nvPr/>
        </p:nvSpPr>
        <p:spPr>
          <a:xfrm xmlns:a="http://schemas.openxmlformats.org/drawingml/2006/main">
            <a:off x="7924800" y="1381125"/>
            <a:ext cx="3352800" cy="4629150"/>
          </a:xfrm>
          <a:prstGeom xmlns:a="http://schemas.openxmlformats.org/drawingml/2006/main" prst="roundRect">
            <a:avLst>
              <a:gd name="adj" fmla="val 3409"/>
            </a:avLst>
          </a:prstGeom>
          <a:solidFill xmlns:a="http://schemas.openxmlformats.org/drawingml/2006/main">
            <a:srgbClr val="0C2133"/>
          </a:solidFill>
          <a:ln xmlns:a="http://schemas.openxmlformats.org/drawingml/2006/main" w="13335">
            <a:solidFill>
              <a:srgbClr val="21465E"/>
            </a:solidFill>
            <a:prstDash val="solid"/>
          </a:ln>
        </p:spPr>
      </p:sp>
      <p:sp>
        <p:nvSpPr>
          <p:cNvPr id="31" name="s8-heading-2">
            <a:extLst xmlns:a="http://schemas.openxmlformats.org/drawingml/2006/main">
              <a:ext uri="{FF2B5EF4-FFF2-40B4-BE49-F238E27FC236}">
                <a16:creationId xmlns:a16="http://schemas.microsoft.com/office/drawing/2014/main" id="{72BC5934-4996-4C08-A591-F83BC185CFE8}"/>
              </a:ext>
            </a:extLst>
          </p:cNvPr>
          <p:cNvSpPr>
            <a:spLocks xmlns:a="http://schemas.openxmlformats.org/drawingml/2006/main" noGrp="1"/>
          </p:cNvSpPr>
          <p:nvPr/>
        </p:nvSpPr>
        <p:spPr>
          <a:xfrm xmlns:a="http://schemas.openxmlformats.org/drawingml/2006/main">
            <a:off x="8067675" y="1495425"/>
            <a:ext cx="3067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065" b="1">
                <a:solidFill>
                  <a:srgbClr val="70DCE5"/>
                </a:solidFill>
                <a:latin typeface="Aptos"/>
                <a:ea typeface="Aptos"/>
                <a:cs typeface="Aptos"/>
              </a:defRPr>
            </a:pPr>
            <a:r>
              <a:rPr sz="1065" b="1">
                <a:solidFill>
                  <a:srgbClr val="70DCE5"/>
                </a:solidFill>
                <a:latin typeface="Aptos"/>
                <a:ea typeface="Aptos"/>
                <a:cs typeface="Aptos"/>
              </a:rPr>
              <a:t>SEPARATE TRAINING MODELS</a:t>
            </a:r>
          </a:p>
        </p:txBody>
      </p:sp>
      <p:sp>
        <p:nvSpPr>
          <p:cNvPr id="32" name="s8-afcl">
            <a:extLst xmlns:a="http://schemas.openxmlformats.org/drawingml/2006/main">
              <a:ext uri="{FF2B5EF4-FFF2-40B4-BE49-F238E27FC236}">
                <a16:creationId xmlns:a16="http://schemas.microsoft.com/office/drawing/2014/main" id="{E9C98E2F-0841-4918-A9A4-7A9916CBEC88}"/>
              </a:ext>
            </a:extLst>
          </p:cNvPr>
          <p:cNvSpPr>
            <a:spLocks xmlns:a="http://schemas.openxmlformats.org/drawingml/2006/main" noGrp="1"/>
          </p:cNvSpPr>
          <p:nvPr/>
        </p:nvSpPr>
        <p:spPr>
          <a:xfrm xmlns:a="http://schemas.openxmlformats.org/drawingml/2006/main">
            <a:off x="876300" y="1857375"/>
            <a:ext cx="2971800" cy="552450"/>
          </a:xfrm>
          <a:prstGeom xmlns:a="http://schemas.openxmlformats.org/drawingml/2006/main" prst="roundRect">
            <a:avLst>
              <a:gd name="adj" fmla="val 20690"/>
            </a:avLst>
          </a:prstGeom>
          <a:solidFill xmlns:a="http://schemas.openxmlformats.org/drawingml/2006/main">
            <a:srgbClr val="2D6CDF"/>
          </a:solidFill>
          <a:ln xmlns:a="http://schemas.openxmlformats.org/drawingml/2006/main" w="14288">
            <a:solidFill>
              <a:srgbClr val="7FA4F3"/>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238" b="1">
                <a:solidFill>
                  <a:srgbClr val="FFFFFF"/>
                </a:solidFill>
                <a:latin typeface="Aptos"/>
                <a:ea typeface="Aptos"/>
                <a:cs typeface="Aptos"/>
              </a:defRPr>
            </a:pPr>
            <a:r>
              <a:rPr sz="1238" b="1">
                <a:solidFill>
                  <a:srgbClr val="FFFFFF"/>
                </a:solidFill>
                <a:latin typeface="Aptos"/>
                <a:ea typeface="Aptos"/>
                <a:cs typeface="Aptos"/>
              </a:rPr>
              <a:t>AircraftFeedbackControlLoop.slx</a:t>
            </a:r>
          </a:p>
          <a:p xmlns:a="http://schemas.openxmlformats.org/drawingml/2006/main">
            <a:pPr algn="ctr">
              <a:defRPr sz="1238" b="1">
                <a:solidFill>
                  <a:srgbClr val="FFFFFF"/>
                </a:solidFill>
                <a:latin typeface="Aptos"/>
                <a:ea typeface="Aptos"/>
                <a:cs typeface="Aptos"/>
              </a:defRPr>
            </a:pPr>
            <a:r>
              <a:rPr sz="1238" b="1">
                <a:solidFill>
                  <a:srgbClr val="FFFFFF"/>
                </a:solidFill>
                <a:latin typeface="Aptos"/>
                <a:ea typeface="Aptos"/>
                <a:cs typeface="Aptos"/>
              </a:rPr>
              <a:t>standalone simulation top level</a:t>
            </a:r>
          </a:p>
        </p:txBody>
      </p:sp>
      <p:sp>
        <p:nvSpPr>
          <p:cNvPr id="33" name="s8-afcl-sub-0">
            <a:extLst xmlns:a="http://schemas.openxmlformats.org/drawingml/2006/main">
              <a:ext uri="{FF2B5EF4-FFF2-40B4-BE49-F238E27FC236}">
                <a16:creationId xmlns:a16="http://schemas.microsoft.com/office/drawing/2014/main" id="{63F32B32-C548-42A6-A965-5D646BF8CB5B}"/>
              </a:ext>
            </a:extLst>
          </p:cNvPr>
          <p:cNvSpPr>
            <a:spLocks xmlns:a="http://schemas.openxmlformats.org/drawingml/2006/main" noGrp="1"/>
          </p:cNvSpPr>
          <p:nvPr/>
        </p:nvSpPr>
        <p:spPr>
          <a:xfrm xmlns:a="http://schemas.openxmlformats.org/drawingml/2006/main">
            <a:off x="1066800" y="2647950"/>
            <a:ext cx="2590800" cy="476250"/>
          </a:xfrm>
          <a:prstGeom xmlns:a="http://schemas.openxmlformats.org/drawingml/2006/main" prst="roundRect">
            <a:avLst>
              <a:gd name="adj" fmla="val 24000"/>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125" b="1">
                <a:solidFill>
                  <a:srgbClr val="E7F2F7"/>
                </a:solidFill>
                <a:latin typeface="Aptos"/>
                <a:ea typeface="Aptos"/>
                <a:cs typeface="Aptos"/>
              </a:defRPr>
            </a:pPr>
            <a:r>
              <a:rPr sz="1125" b="1">
                <a:solidFill>
                  <a:srgbClr val="E7F2F7"/>
                </a:solidFill>
                <a:latin typeface="Aptos"/>
                <a:ea typeface="Aptos"/>
                <a:cs typeface="Aptos"/>
              </a:rPr>
              <a:t>Pitch Controller PI</a:t>
            </a:r>
          </a:p>
        </p:txBody>
      </p:sp>
      <p:sp>
        <p:nvSpPr>
          <p:cNvPr id="34" name="s8-afcl-sub-1">
            <a:extLst xmlns:a="http://schemas.openxmlformats.org/drawingml/2006/main">
              <a:ext uri="{FF2B5EF4-FFF2-40B4-BE49-F238E27FC236}">
                <a16:creationId xmlns:a16="http://schemas.microsoft.com/office/drawing/2014/main" id="{5FE56391-3B52-4FB2-8EDE-C45F0C02F085}"/>
              </a:ext>
            </a:extLst>
          </p:cNvPr>
          <p:cNvSpPr>
            <a:spLocks xmlns:a="http://schemas.openxmlformats.org/drawingml/2006/main" noGrp="1"/>
          </p:cNvSpPr>
          <p:nvPr/>
        </p:nvSpPr>
        <p:spPr>
          <a:xfrm xmlns:a="http://schemas.openxmlformats.org/drawingml/2006/main">
            <a:off x="1066800" y="3314700"/>
            <a:ext cx="2590800" cy="476250"/>
          </a:xfrm>
          <a:prstGeom xmlns:a="http://schemas.openxmlformats.org/drawingml/2006/main" prst="roundRect">
            <a:avLst>
              <a:gd name="adj" fmla="val 24000"/>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125" b="1">
                <a:solidFill>
                  <a:srgbClr val="E7F2F7"/>
                </a:solidFill>
                <a:latin typeface="Aptos"/>
                <a:ea typeface="Aptos"/>
                <a:cs typeface="Aptos"/>
              </a:defRPr>
            </a:pPr>
            <a:r>
              <a:rPr sz="1125" b="1">
                <a:solidFill>
                  <a:srgbClr val="E7F2F7"/>
                </a:solidFill>
                <a:latin typeface="Aptos"/>
                <a:ea typeface="Aptos"/>
                <a:cs typeface="Aptos"/>
              </a:rPr>
              <a:t>Actuator Dynamics</a:t>
            </a:r>
          </a:p>
        </p:txBody>
      </p:sp>
      <p:sp>
        <p:nvSpPr>
          <p:cNvPr id="35" name="s8-afcl-sub-2">
            <a:extLst xmlns:a="http://schemas.openxmlformats.org/drawingml/2006/main">
              <a:ext uri="{FF2B5EF4-FFF2-40B4-BE49-F238E27FC236}">
                <a16:creationId xmlns:a16="http://schemas.microsoft.com/office/drawing/2014/main" id="{1F4FD278-D4E2-49C5-980B-F4199BE9D595}"/>
              </a:ext>
            </a:extLst>
          </p:cNvPr>
          <p:cNvSpPr>
            <a:spLocks xmlns:a="http://schemas.openxmlformats.org/drawingml/2006/main" noGrp="1"/>
          </p:cNvSpPr>
          <p:nvPr/>
        </p:nvSpPr>
        <p:spPr>
          <a:xfrm xmlns:a="http://schemas.openxmlformats.org/drawingml/2006/main">
            <a:off x="1066800" y="3981450"/>
            <a:ext cx="2590800" cy="476250"/>
          </a:xfrm>
          <a:prstGeom xmlns:a="http://schemas.openxmlformats.org/drawingml/2006/main" prst="roundRect">
            <a:avLst>
              <a:gd name="adj" fmla="val 24000"/>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125" b="1">
                <a:solidFill>
                  <a:srgbClr val="E7F2F7"/>
                </a:solidFill>
                <a:latin typeface="Aptos"/>
                <a:ea typeface="Aptos"/>
                <a:cs typeface="Aptos"/>
              </a:defRPr>
            </a:pPr>
            <a:r>
              <a:rPr sz="1125" b="1">
                <a:solidFill>
                  <a:srgbClr val="E7F2F7"/>
                </a:solidFill>
                <a:latin typeface="Aptos"/>
                <a:ea typeface="Aptos"/>
                <a:cs typeface="Aptos"/>
              </a:rPr>
              <a:t>Simplified Longitudinal</a:t>
            </a:r>
          </a:p>
          <a:p xmlns:a="http://schemas.openxmlformats.org/drawingml/2006/main">
            <a:pPr algn="ctr">
              <a:defRPr sz="1125" b="1">
                <a:solidFill>
                  <a:srgbClr val="E7F2F7"/>
                </a:solidFill>
                <a:latin typeface="Aptos"/>
                <a:ea typeface="Aptos"/>
                <a:cs typeface="Aptos"/>
              </a:defRPr>
            </a:pPr>
            <a:r>
              <a:rPr sz="1125" b="1">
                <a:solidFill>
                  <a:srgbClr val="E7F2F7"/>
                </a:solidFill>
                <a:latin typeface="Aptos"/>
                <a:ea typeface="Aptos"/>
                <a:cs typeface="Aptos"/>
              </a:rPr>
              <a:t>Aircraft Dynamics</a:t>
            </a:r>
          </a:p>
        </p:txBody>
      </p:sp>
      <p:sp>
        <p:nvSpPr>
          <p:cNvPr id="36" name="s8-afcl-sub-3">
            <a:extLst xmlns:a="http://schemas.openxmlformats.org/drawingml/2006/main">
              <a:ext uri="{FF2B5EF4-FFF2-40B4-BE49-F238E27FC236}">
                <a16:creationId xmlns:a16="http://schemas.microsoft.com/office/drawing/2014/main" id="{C5131A14-8D9B-4A62-9871-E5D9C71ED547}"/>
              </a:ext>
            </a:extLst>
          </p:cNvPr>
          <p:cNvSpPr>
            <a:spLocks xmlns:a="http://schemas.openxmlformats.org/drawingml/2006/main" noGrp="1"/>
          </p:cNvSpPr>
          <p:nvPr/>
        </p:nvSpPr>
        <p:spPr>
          <a:xfrm xmlns:a="http://schemas.openxmlformats.org/drawingml/2006/main">
            <a:off x="1066800" y="4648200"/>
            <a:ext cx="2590800" cy="476250"/>
          </a:xfrm>
          <a:prstGeom xmlns:a="http://schemas.openxmlformats.org/drawingml/2006/main" prst="roundRect">
            <a:avLst>
              <a:gd name="adj" fmla="val 24000"/>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125" b="1">
                <a:solidFill>
                  <a:srgbClr val="E7F2F7"/>
                </a:solidFill>
                <a:latin typeface="Aptos"/>
                <a:ea typeface="Aptos"/>
                <a:cs typeface="Aptos"/>
              </a:defRPr>
            </a:pPr>
            <a:r>
              <a:rPr sz="1125" b="1">
                <a:solidFill>
                  <a:srgbClr val="E7F2F7"/>
                </a:solidFill>
                <a:latin typeface="Aptos"/>
                <a:ea typeface="Aptos"/>
                <a:cs typeface="Aptos"/>
              </a:rPr>
              <a:t>Sensor Processing Lag</a:t>
            </a:r>
          </a:p>
        </p:txBody>
      </p:sp>
      <p:sp>
        <p:nvSpPr>
          <p:cNvPr id="37" name="s8-parent">
            <a:extLst xmlns:a="http://schemas.openxmlformats.org/drawingml/2006/main">
              <a:ext uri="{FF2B5EF4-FFF2-40B4-BE49-F238E27FC236}">
                <a16:creationId xmlns:a16="http://schemas.microsoft.com/office/drawing/2014/main" id="{C7E9F958-A887-4CF6-A629-3D8F8E36CA8B}"/>
              </a:ext>
            </a:extLst>
          </p:cNvPr>
          <p:cNvSpPr>
            <a:spLocks xmlns:a="http://schemas.openxmlformats.org/drawingml/2006/main" noGrp="1"/>
          </p:cNvSpPr>
          <p:nvPr/>
        </p:nvSpPr>
        <p:spPr>
          <a:xfrm xmlns:a="http://schemas.openxmlformats.org/drawingml/2006/main">
            <a:off x="4495800" y="1857375"/>
            <a:ext cx="2971800" cy="552450"/>
          </a:xfrm>
          <a:prstGeom xmlns:a="http://schemas.openxmlformats.org/drawingml/2006/main" prst="roundRect">
            <a:avLst>
              <a:gd name="adj" fmla="val 20690"/>
            </a:avLst>
          </a:prstGeom>
          <a:solidFill xmlns:a="http://schemas.openxmlformats.org/drawingml/2006/main">
            <a:srgbClr val="20B7C5"/>
          </a:solidFill>
          <a:ln xmlns:a="http://schemas.openxmlformats.org/drawingml/2006/main" w="14288">
            <a:solidFill>
              <a:srgbClr val="70DCE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102" b="1">
                <a:solidFill>
                  <a:srgbClr val="071521"/>
                </a:solidFill>
                <a:latin typeface="Aptos"/>
                <a:ea typeface="Aptos"/>
                <a:cs typeface="Aptos"/>
              </a:defRPr>
            </a:pPr>
            <a:r>
              <a:rPr sz="1102" b="1">
                <a:solidFill>
                  <a:srgbClr val="071521"/>
                </a:solidFill>
                <a:latin typeface="Aptos"/>
                <a:ea typeface="Aptos"/>
                <a:cs typeface="Aptos"/>
              </a:rPr>
              <a:t>ReferencedFlightControl</a:t>
            </a:r>
          </a:p>
          <a:p xmlns:a="http://schemas.openxmlformats.org/drawingml/2006/main">
            <a:pPr algn="ctr">
              <a:defRPr sz="1102" b="1">
                <a:solidFill>
                  <a:srgbClr val="071521"/>
                </a:solidFill>
                <a:latin typeface="Aptos"/>
                <a:ea typeface="Aptos"/>
                <a:cs typeface="Aptos"/>
              </a:defRPr>
            </a:pPr>
            <a:r>
              <a:rPr sz="1102" b="1">
                <a:solidFill>
                  <a:srgbClr val="071521"/>
                </a:solidFill>
                <a:latin typeface="Aptos"/>
                <a:ea typeface="Aptos"/>
                <a:cs typeface="Aptos"/>
              </a:rPr>
              <a:t>Architecture.slx • integration parent</a:t>
            </a:r>
          </a:p>
        </p:txBody>
      </p:sp>
      <p:sp>
        <p:nvSpPr>
          <p:cNvPr id="38" name="s8-child-0">
            <a:extLst xmlns:a="http://schemas.openxmlformats.org/drawingml/2006/main">
              <a:ext uri="{FF2B5EF4-FFF2-40B4-BE49-F238E27FC236}">
                <a16:creationId xmlns:a16="http://schemas.microsoft.com/office/drawing/2014/main" id="{7550B7E5-2499-4F4B-9E68-A114009CB151}"/>
              </a:ext>
            </a:extLst>
          </p:cNvPr>
          <p:cNvSpPr>
            <a:spLocks xmlns:a="http://schemas.openxmlformats.org/drawingml/2006/main" noGrp="1"/>
          </p:cNvSpPr>
          <p:nvPr/>
        </p:nvSpPr>
        <p:spPr>
          <a:xfrm xmlns:a="http://schemas.openxmlformats.org/drawingml/2006/main">
            <a:off x="4686300" y="2647950"/>
            <a:ext cx="2590800" cy="476250"/>
          </a:xfrm>
          <a:prstGeom xmlns:a="http://schemas.openxmlformats.org/drawingml/2006/main" prst="roundRect">
            <a:avLst>
              <a:gd name="adj" fmla="val 24000"/>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088" b="1">
                <a:solidFill>
                  <a:srgbClr val="E7F2F7"/>
                </a:solidFill>
                <a:latin typeface="Aptos"/>
                <a:ea typeface="Aptos"/>
                <a:cs typeface="Aptos"/>
              </a:defRPr>
            </a:pPr>
            <a:r>
              <a:rPr sz="1088" b="1">
                <a:solidFill>
                  <a:srgbClr val="E7F2F7"/>
                </a:solidFill>
                <a:latin typeface="Aptos"/>
                <a:ea typeface="Aptos"/>
                <a:cs typeface="Aptos"/>
              </a:rPr>
              <a:t>SensorProcessingRef.slx</a:t>
            </a:r>
          </a:p>
          <a:p xmlns:a="http://schemas.openxmlformats.org/drawingml/2006/main">
            <a:pPr algn="ctr">
              <a:defRPr sz="1088" b="1">
                <a:solidFill>
                  <a:srgbClr val="E7F2F7"/>
                </a:solidFill>
                <a:latin typeface="Aptos"/>
                <a:ea typeface="Aptos"/>
                <a:cs typeface="Aptos"/>
              </a:defRPr>
            </a:pPr>
            <a:r>
              <a:rPr sz="1088" b="1">
                <a:solidFill>
                  <a:srgbClr val="E7F2F7"/>
                </a:solidFill>
                <a:latin typeface="Aptos"/>
                <a:ea typeface="Aptos"/>
                <a:cs typeface="Aptos"/>
              </a:rPr>
              <a:t>referenced child</a:t>
            </a:r>
          </a:p>
        </p:txBody>
      </p:sp>
      <p:sp>
        <p:nvSpPr>
          <p:cNvPr id="39" name="s8-child-1">
            <a:extLst xmlns:a="http://schemas.openxmlformats.org/drawingml/2006/main">
              <a:ext uri="{FF2B5EF4-FFF2-40B4-BE49-F238E27FC236}">
                <a16:creationId xmlns:a16="http://schemas.microsoft.com/office/drawing/2014/main" id="{CB6D1102-4976-4BD5-804D-48CCA068ECD2}"/>
              </a:ext>
            </a:extLst>
          </p:cNvPr>
          <p:cNvSpPr>
            <a:spLocks xmlns:a="http://schemas.openxmlformats.org/drawingml/2006/main" noGrp="1"/>
          </p:cNvSpPr>
          <p:nvPr/>
        </p:nvSpPr>
        <p:spPr>
          <a:xfrm xmlns:a="http://schemas.openxmlformats.org/drawingml/2006/main">
            <a:off x="4686300" y="3314700"/>
            <a:ext cx="2590800" cy="476250"/>
          </a:xfrm>
          <a:prstGeom xmlns:a="http://schemas.openxmlformats.org/drawingml/2006/main" prst="roundRect">
            <a:avLst>
              <a:gd name="adj" fmla="val 24000"/>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088" b="1">
                <a:solidFill>
                  <a:srgbClr val="E7F2F7"/>
                </a:solidFill>
                <a:latin typeface="Aptos"/>
                <a:ea typeface="Aptos"/>
                <a:cs typeface="Aptos"/>
              </a:defRPr>
            </a:pPr>
            <a:r>
              <a:rPr sz="1088" b="1">
                <a:solidFill>
                  <a:srgbClr val="E7F2F7"/>
                </a:solidFill>
                <a:latin typeface="Aptos"/>
                <a:ea typeface="Aptos"/>
                <a:cs typeface="Aptos"/>
              </a:rPr>
              <a:t>PitchRateLimiter.slx</a:t>
            </a:r>
          </a:p>
          <a:p xmlns:a="http://schemas.openxmlformats.org/drawingml/2006/main">
            <a:pPr algn="ctr">
              <a:defRPr sz="1088" b="1">
                <a:solidFill>
                  <a:srgbClr val="E7F2F7"/>
                </a:solidFill>
                <a:latin typeface="Aptos"/>
                <a:ea typeface="Aptos"/>
                <a:cs typeface="Aptos"/>
              </a:defRPr>
            </a:pPr>
            <a:r>
              <a:rPr sz="1088" b="1">
                <a:solidFill>
                  <a:srgbClr val="E7F2F7"/>
                </a:solidFill>
                <a:latin typeface="Aptos"/>
                <a:ea typeface="Aptos"/>
                <a:cs typeface="Aptos"/>
              </a:rPr>
              <a:t>→ Pitch Rate Limiter Logic</a:t>
            </a:r>
          </a:p>
        </p:txBody>
      </p:sp>
      <p:sp>
        <p:nvSpPr>
          <p:cNvPr id="40" name="s8-child-2">
            <a:extLst xmlns:a="http://schemas.openxmlformats.org/drawingml/2006/main">
              <a:ext uri="{FF2B5EF4-FFF2-40B4-BE49-F238E27FC236}">
                <a16:creationId xmlns:a16="http://schemas.microsoft.com/office/drawing/2014/main" id="{65ACFD7E-20BB-4072-8FA6-E37F5B19135C}"/>
              </a:ext>
            </a:extLst>
          </p:cNvPr>
          <p:cNvSpPr>
            <a:spLocks xmlns:a="http://schemas.openxmlformats.org/drawingml/2006/main" noGrp="1"/>
          </p:cNvSpPr>
          <p:nvPr/>
        </p:nvSpPr>
        <p:spPr>
          <a:xfrm xmlns:a="http://schemas.openxmlformats.org/drawingml/2006/main">
            <a:off x="4686300" y="3981450"/>
            <a:ext cx="2590800" cy="476250"/>
          </a:xfrm>
          <a:prstGeom xmlns:a="http://schemas.openxmlformats.org/drawingml/2006/main" prst="roundRect">
            <a:avLst>
              <a:gd name="adj" fmla="val 24000"/>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088" b="1">
                <a:solidFill>
                  <a:srgbClr val="E7F2F7"/>
                </a:solidFill>
                <a:latin typeface="Aptos"/>
                <a:ea typeface="Aptos"/>
                <a:cs typeface="Aptos"/>
              </a:defRPr>
            </a:pPr>
            <a:r>
              <a:rPr sz="1088" b="1">
                <a:solidFill>
                  <a:srgbClr val="E7F2F7"/>
                </a:solidFill>
                <a:latin typeface="Aptos"/>
                <a:ea typeface="Aptos"/>
                <a:cs typeface="Aptos"/>
              </a:rPr>
              <a:t>PitchControllerRef.slx</a:t>
            </a:r>
          </a:p>
          <a:p xmlns:a="http://schemas.openxmlformats.org/drawingml/2006/main">
            <a:pPr algn="ctr">
              <a:defRPr sz="1088" b="1">
                <a:solidFill>
                  <a:srgbClr val="E7F2F7"/>
                </a:solidFill>
                <a:latin typeface="Aptos"/>
                <a:ea typeface="Aptos"/>
                <a:cs typeface="Aptos"/>
              </a:defRPr>
            </a:pPr>
            <a:r>
              <a:rPr sz="1088" b="1">
                <a:solidFill>
                  <a:srgbClr val="E7F2F7"/>
                </a:solidFill>
                <a:latin typeface="Aptos"/>
                <a:ea typeface="Aptos"/>
                <a:cs typeface="Aptos"/>
              </a:rPr>
              <a:t>→ Pitch Rate PI</a:t>
            </a:r>
          </a:p>
        </p:txBody>
      </p:sp>
      <p:sp>
        <p:nvSpPr>
          <p:cNvPr id="41" name="s8-child-3">
            <a:extLst xmlns:a="http://schemas.openxmlformats.org/drawingml/2006/main">
              <a:ext uri="{FF2B5EF4-FFF2-40B4-BE49-F238E27FC236}">
                <a16:creationId xmlns:a16="http://schemas.microsoft.com/office/drawing/2014/main" id="{4C5B8235-FA69-47B2-A16F-E8FCCFB39CF9}"/>
              </a:ext>
            </a:extLst>
          </p:cNvPr>
          <p:cNvSpPr>
            <a:spLocks xmlns:a="http://schemas.openxmlformats.org/drawingml/2006/main" noGrp="1"/>
          </p:cNvSpPr>
          <p:nvPr/>
        </p:nvSpPr>
        <p:spPr>
          <a:xfrm xmlns:a="http://schemas.openxmlformats.org/drawingml/2006/main">
            <a:off x="4686300" y="4648200"/>
            <a:ext cx="2590800" cy="476250"/>
          </a:xfrm>
          <a:prstGeom xmlns:a="http://schemas.openxmlformats.org/drawingml/2006/main" prst="roundRect">
            <a:avLst>
              <a:gd name="adj" fmla="val 24000"/>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088" b="1">
                <a:solidFill>
                  <a:srgbClr val="E7F2F7"/>
                </a:solidFill>
                <a:latin typeface="Aptos"/>
                <a:ea typeface="Aptos"/>
                <a:cs typeface="Aptos"/>
              </a:defRPr>
            </a:pPr>
            <a:r>
              <a:rPr sz="1088" b="1">
                <a:solidFill>
                  <a:srgbClr val="E7F2F7"/>
                </a:solidFill>
                <a:latin typeface="Aptos"/>
                <a:ea typeface="Aptos"/>
                <a:cs typeface="Aptos"/>
              </a:rPr>
              <a:t>ActuatorCommandRef.slx</a:t>
            </a:r>
          </a:p>
          <a:p xmlns:a="http://schemas.openxmlformats.org/drawingml/2006/main">
            <a:pPr algn="ctr">
              <a:defRPr sz="1088" b="1">
                <a:solidFill>
                  <a:srgbClr val="E7F2F7"/>
                </a:solidFill>
                <a:latin typeface="Aptos"/>
                <a:ea typeface="Aptos"/>
                <a:cs typeface="Aptos"/>
              </a:defRPr>
            </a:pPr>
            <a:r>
              <a:rPr sz="1088" b="1">
                <a:solidFill>
                  <a:srgbClr val="E7F2F7"/>
                </a:solidFill>
                <a:latin typeface="Aptos"/>
                <a:ea typeface="Aptos"/>
                <a:cs typeface="Aptos"/>
              </a:rPr>
              <a:t>referenced child</a:t>
            </a:r>
          </a:p>
        </p:txBody>
      </p:sp>
      <p:sp>
        <p:nvSpPr>
          <p:cNvPr id="42" name="s8-ap-root">
            <a:extLst xmlns:a="http://schemas.openxmlformats.org/drawingml/2006/main">
              <a:ext uri="{FF2B5EF4-FFF2-40B4-BE49-F238E27FC236}">
                <a16:creationId xmlns:a16="http://schemas.microsoft.com/office/drawing/2014/main" id="{CFDE3A17-1FE3-4194-ADBC-17B41BBC86A5}"/>
              </a:ext>
            </a:extLst>
          </p:cNvPr>
          <p:cNvSpPr>
            <a:spLocks xmlns:a="http://schemas.openxmlformats.org/drawingml/2006/main" noGrp="1"/>
          </p:cNvSpPr>
          <p:nvPr/>
        </p:nvSpPr>
        <p:spPr>
          <a:xfrm xmlns:a="http://schemas.openxmlformats.org/drawingml/2006/main">
            <a:off x="8115300" y="1857375"/>
            <a:ext cx="2971800" cy="552450"/>
          </a:xfrm>
          <a:prstGeom xmlns:a="http://schemas.openxmlformats.org/drawingml/2006/main" prst="roundRect">
            <a:avLst>
              <a:gd name="adj" fmla="val 20690"/>
            </a:avLst>
          </a:prstGeom>
          <a:solidFill xmlns:a="http://schemas.openxmlformats.org/drawingml/2006/main">
            <a:srgbClr val="E9A23B"/>
          </a:solidFill>
          <a:ln xmlns:a="http://schemas.openxmlformats.org/drawingml/2006/main" w="14288">
            <a:solidFill>
              <a:srgbClr val="FFD38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140" b="1">
                <a:solidFill>
                  <a:srgbClr val="071521"/>
                </a:solidFill>
                <a:latin typeface="Aptos"/>
                <a:ea typeface="Aptos"/>
                <a:cs typeface="Aptos"/>
              </a:defRPr>
            </a:pPr>
            <a:r>
              <a:rPr sz="1140" b="1">
                <a:solidFill>
                  <a:srgbClr val="071521"/>
                </a:solidFill>
                <a:latin typeface="Aptos"/>
                <a:ea typeface="Aptos"/>
                <a:cs typeface="Aptos"/>
              </a:rPr>
              <a:t>AutopilotModeLogic.slx • separate root</a:t>
            </a:r>
          </a:p>
        </p:txBody>
      </p:sp>
      <p:sp>
        <p:nvSpPr>
          <p:cNvPr id="43" name="s8-ap-sub">
            <a:extLst xmlns:a="http://schemas.openxmlformats.org/drawingml/2006/main">
              <a:ext uri="{FF2B5EF4-FFF2-40B4-BE49-F238E27FC236}">
                <a16:creationId xmlns:a16="http://schemas.microsoft.com/office/drawing/2014/main" id="{EE3224AA-93E5-49FF-872E-0C93554BAE08}"/>
              </a:ext>
            </a:extLst>
          </p:cNvPr>
          <p:cNvSpPr>
            <a:spLocks xmlns:a="http://schemas.openxmlformats.org/drawingml/2006/main" noGrp="1"/>
          </p:cNvSpPr>
          <p:nvPr/>
        </p:nvSpPr>
        <p:spPr>
          <a:xfrm xmlns:a="http://schemas.openxmlformats.org/drawingml/2006/main">
            <a:off x="8305800" y="2714625"/>
            <a:ext cx="2590800" cy="590550"/>
          </a:xfrm>
          <a:prstGeom xmlns:a="http://schemas.openxmlformats.org/drawingml/2006/main" prst="roundRect">
            <a:avLst>
              <a:gd name="adj" fmla="val 19355"/>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095" b="1">
                <a:solidFill>
                  <a:srgbClr val="E7F2F7"/>
                </a:solidFill>
                <a:latin typeface="Aptos"/>
                <a:ea typeface="Aptos"/>
                <a:cs typeface="Aptos"/>
              </a:defRPr>
            </a:pPr>
            <a:r>
              <a:rPr sz="1095" b="1">
                <a:solidFill>
                  <a:srgbClr val="E7F2F7"/>
                </a:solidFill>
                <a:latin typeface="Aptos"/>
                <a:ea typeface="Aptos"/>
                <a:cs typeface="Aptos"/>
              </a:rPr>
              <a:t>Autopilot Mode Logic</a:t>
            </a:r>
          </a:p>
          <a:p xmlns:a="http://schemas.openxmlformats.org/drawingml/2006/main">
            <a:pPr algn="ctr">
              <a:defRPr sz="1095" b="1">
                <a:solidFill>
                  <a:srgbClr val="E7F2F7"/>
                </a:solidFill>
                <a:latin typeface="Aptos"/>
                <a:ea typeface="Aptos"/>
                <a:cs typeface="Aptos"/>
              </a:defRPr>
            </a:pPr>
            <a:r>
              <a:rPr sz="1095" b="1">
                <a:solidFill>
                  <a:srgbClr val="E7F2F7"/>
                </a:solidFill>
                <a:latin typeface="Aptos"/>
                <a:ea typeface="Aptos"/>
                <a:cs typeface="Aptos"/>
              </a:rPr>
              <a:t>Stateflow chart • internal</a:t>
            </a:r>
          </a:p>
        </p:txBody>
      </p:sp>
      <p:sp>
        <p:nvSpPr>
          <p:cNvPr id="44" name="s8-harness-root">
            <a:extLst xmlns:a="http://schemas.openxmlformats.org/drawingml/2006/main">
              <a:ext uri="{FF2B5EF4-FFF2-40B4-BE49-F238E27FC236}">
                <a16:creationId xmlns:a16="http://schemas.microsoft.com/office/drawing/2014/main" id="{6A5F1580-C84E-4D35-85FD-EE9E456F4BB3}"/>
              </a:ext>
            </a:extLst>
          </p:cNvPr>
          <p:cNvSpPr>
            <a:spLocks xmlns:a="http://schemas.openxmlformats.org/drawingml/2006/main" noGrp="1"/>
          </p:cNvSpPr>
          <p:nvPr/>
        </p:nvSpPr>
        <p:spPr>
          <a:xfrm xmlns:a="http://schemas.openxmlformats.org/drawingml/2006/main">
            <a:off x="8115300" y="3476625"/>
            <a:ext cx="2971800" cy="552450"/>
          </a:xfrm>
          <a:prstGeom xmlns:a="http://schemas.openxmlformats.org/drawingml/2006/main" prst="roundRect">
            <a:avLst>
              <a:gd name="adj" fmla="val 20690"/>
            </a:avLst>
          </a:prstGeom>
          <a:solidFill xmlns:a="http://schemas.openxmlformats.org/drawingml/2006/main">
            <a:srgbClr val="2CA56F"/>
          </a:solidFill>
          <a:ln xmlns:a="http://schemas.openxmlformats.org/drawingml/2006/main" w="14288">
            <a:solidFill>
              <a:srgbClr val="7DDBA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125" b="1">
                <a:solidFill>
                  <a:srgbClr val="071521"/>
                </a:solidFill>
                <a:latin typeface="Aptos"/>
                <a:ea typeface="Aptos"/>
                <a:cs typeface="Aptos"/>
              </a:defRPr>
            </a:pPr>
            <a:r>
              <a:rPr sz="1125" b="1">
                <a:solidFill>
                  <a:srgbClr val="071521"/>
                </a:solidFill>
                <a:latin typeface="Aptos"/>
                <a:ea typeface="Aptos"/>
                <a:cs typeface="Aptos"/>
              </a:rPr>
              <a:t>PitchRateLimiter_Harness.slx</a:t>
            </a:r>
          </a:p>
          <a:p xmlns:a="http://schemas.openxmlformats.org/drawingml/2006/main">
            <a:pPr algn="ctr">
              <a:defRPr sz="1125" b="1">
                <a:solidFill>
                  <a:srgbClr val="071521"/>
                </a:solidFill>
                <a:latin typeface="Aptos"/>
                <a:ea typeface="Aptos"/>
                <a:cs typeface="Aptos"/>
              </a:defRPr>
            </a:pPr>
            <a:r>
              <a:rPr sz="1125" b="1">
                <a:solidFill>
                  <a:srgbClr val="071521"/>
                </a:solidFill>
                <a:latin typeface="Aptos"/>
                <a:ea typeface="Aptos"/>
                <a:cs typeface="Aptos"/>
              </a:rPr>
              <a:t>independent harness</a:t>
            </a:r>
          </a:p>
        </p:txBody>
      </p:sp>
      <p:sp>
        <p:nvSpPr>
          <p:cNvPr id="45" name="s8-harness-sub">
            <a:extLst xmlns:a="http://schemas.openxmlformats.org/drawingml/2006/main">
              <a:ext uri="{FF2B5EF4-FFF2-40B4-BE49-F238E27FC236}">
                <a16:creationId xmlns:a16="http://schemas.microsoft.com/office/drawing/2014/main" id="{91B084CD-AC87-4A23-9E74-2561B3B517AF}"/>
              </a:ext>
            </a:extLst>
          </p:cNvPr>
          <p:cNvSpPr>
            <a:spLocks xmlns:a="http://schemas.openxmlformats.org/drawingml/2006/main" noGrp="1"/>
          </p:cNvSpPr>
          <p:nvPr/>
        </p:nvSpPr>
        <p:spPr>
          <a:xfrm xmlns:a="http://schemas.openxmlformats.org/drawingml/2006/main">
            <a:off x="8305800" y="4333875"/>
            <a:ext cx="2590800" cy="590550"/>
          </a:xfrm>
          <a:prstGeom xmlns:a="http://schemas.openxmlformats.org/drawingml/2006/main" prst="roundRect">
            <a:avLst>
              <a:gd name="adj" fmla="val 19355"/>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080" b="1">
                <a:solidFill>
                  <a:srgbClr val="E7F2F7"/>
                </a:solidFill>
                <a:latin typeface="Aptos"/>
                <a:ea typeface="Aptos"/>
                <a:cs typeface="Aptos"/>
              </a:defRPr>
            </a:pPr>
            <a:r>
              <a:rPr sz="1080" b="1">
                <a:solidFill>
                  <a:srgbClr val="E7F2F7"/>
                </a:solidFill>
                <a:latin typeface="Aptos"/>
                <a:ea typeface="Aptos"/>
                <a:cs typeface="Aptos"/>
              </a:rPr>
              <a:t>Unit Under Test - PitchRateLimiter</a:t>
            </a:r>
          </a:p>
          <a:p xmlns:a="http://schemas.openxmlformats.org/drawingml/2006/main">
            <a:pPr algn="ctr">
              <a:defRPr sz="1080" b="1">
                <a:solidFill>
                  <a:srgbClr val="E7F2F7"/>
                </a:solidFill>
                <a:latin typeface="Aptos"/>
                <a:ea typeface="Aptos"/>
                <a:cs typeface="Aptos"/>
              </a:defRPr>
            </a:pPr>
            <a:r>
              <a:rPr sz="1080" b="1">
                <a:solidFill>
                  <a:srgbClr val="E7F2F7"/>
                </a:solidFill>
                <a:latin typeface="Aptos"/>
                <a:ea typeface="Aptos"/>
                <a:cs typeface="Aptos"/>
              </a:rPr>
              <a:t>model reference</a:t>
            </a:r>
          </a:p>
        </p:txBody>
      </p:sp>
      <p:sp>
        <p:nvSpPr>
          <p:cNvPr id="46" name="s8-legend">
            <a:extLst xmlns:a="http://schemas.openxmlformats.org/drawingml/2006/main">
              <a:ext uri="{FF2B5EF4-FFF2-40B4-BE49-F238E27FC236}">
                <a16:creationId xmlns:a16="http://schemas.microsoft.com/office/drawing/2014/main" id="{79968503-02FB-4E4B-8627-0833C1EB2D38}"/>
              </a:ext>
            </a:extLst>
          </p:cNvPr>
          <p:cNvSpPr>
            <a:spLocks xmlns:a="http://schemas.openxmlformats.org/drawingml/2006/main" noGrp="1"/>
          </p:cNvSpPr>
          <p:nvPr/>
        </p:nvSpPr>
        <p:spPr>
          <a:xfrm xmlns:a="http://schemas.openxmlformats.org/drawingml/2006/main">
            <a:off x="8153400" y="5191125"/>
            <a:ext cx="2895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ctr">
              <a:defRPr sz="1035" b="1">
                <a:solidFill>
                  <a:srgbClr val="D8E8F1"/>
                </a:solidFill>
                <a:latin typeface="Aptos"/>
                <a:ea typeface="Aptos"/>
                <a:cs typeface="Aptos"/>
              </a:defRPr>
            </a:pPr>
            <a:r>
              <a:rPr sz="1035" b="1">
                <a:solidFill>
                  <a:srgbClr val="D8E8F1"/>
                </a:solidFill>
                <a:latin typeface="Aptos"/>
                <a:ea typeface="Aptos"/>
                <a:cs typeface="Aptos"/>
              </a:rPr>
              <a:t>Root model • referenced child • internal subsystem/chart • independent harness</a:t>
            </a:r>
          </a:p>
        </p:txBody>
      </p:sp>
    </p:spTree>
    <p:extLst>
      <p:ext uri="{BB962C8B-B14F-4D97-AF65-F5344CB8AC3E}">
        <p14:creationId xmlns:p14="http://schemas.microsoft.com/office/powerpoint/2010/main" val="1442167591"/>
      </p:ext>
    </p:extLst>
  </p:cSld>
</p:sld>
</file>

<file path=ppt/slides/slide9.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5" name="section-115">
            <a:extLst xmlns:a="http://schemas.openxmlformats.org/drawingml/2006/main">
              <a:ext uri="{FF2B5EF4-FFF2-40B4-BE49-F238E27FC236}">
                <a16:creationId xmlns:a16="http://schemas.microsoft.com/office/drawing/2014/main" id="{79CD7667-EC9D-48FB-B3DB-2E75B70AC2E2}"/>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115">
            <a:extLst xmlns:a="http://schemas.openxmlformats.org/drawingml/2006/main">
              <a:ext uri="{FF2B5EF4-FFF2-40B4-BE49-F238E27FC236}">
                <a16:creationId xmlns:a16="http://schemas.microsoft.com/office/drawing/2014/main" id="{6804D11C-B7AE-49C1-93DC-795503570309}"/>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AircraftFeedbackControlLoop closes the training loop</a:t>
            </a:r>
          </a:p>
        </p:txBody>
      </p:sp>
      <p:sp>
        <p:nvSpPr>
          <p:cNvPr id="3" name="line-116">
            <a:extLst xmlns:a="http://schemas.openxmlformats.org/drawingml/2006/main">
              <a:ext uri="{FF2B5EF4-FFF2-40B4-BE49-F238E27FC236}">
                <a16:creationId xmlns:a16="http://schemas.microsoft.com/office/drawing/2014/main" id="{7CC31265-3D48-4530-9795-E1885F3BEDFB}"/>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17">
            <a:extLst xmlns:a="http://schemas.openxmlformats.org/drawingml/2006/main">
              <a:ext uri="{FF2B5EF4-FFF2-40B4-BE49-F238E27FC236}">
                <a16:creationId xmlns:a16="http://schemas.microsoft.com/office/drawing/2014/main" id="{A69FA6FF-D740-4468-884D-767A1421E8C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18">
            <a:extLst xmlns:a="http://schemas.openxmlformats.org/drawingml/2006/main">
              <a:ext uri="{FF2B5EF4-FFF2-40B4-BE49-F238E27FC236}">
                <a16:creationId xmlns:a16="http://schemas.microsoft.com/office/drawing/2014/main" id="{5DD26572-533C-4030-89F3-6A58F58BE7B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09</a:t>
            </a:r>
          </a:p>
        </p:txBody>
      </p:sp>
      <p:sp>
        <p:nvSpPr>
          <p:cNvPr id="36" name="s9-image-frame">
            <a:extLst xmlns:a="http://schemas.openxmlformats.org/drawingml/2006/main">
              <a:ext uri="{FF2B5EF4-FFF2-40B4-BE49-F238E27FC236}">
                <a16:creationId xmlns:a16="http://schemas.microsoft.com/office/drawing/2014/main" id="{8D3613F1-0140-4C7C-A8B3-B6EE9C7BF7F1}"/>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b223f1d686d142cd"/>
          <a:stretch xmlns:a="http://schemas.openxmlformats.org/drawingml/2006/main"/>
        </p:blipFill>
        <p:spPr>
          <a:xfrm xmlns:a="http://schemas.openxmlformats.org/drawingml/2006/main">
            <a:off x="1949302" y="1438275"/>
            <a:ext cx="8293395" cy="4457700"/>
          </a:xfrm>
          <a:prstGeom xmlns:a="http://schemas.openxmlformats.org/drawingml/2006/main" prst="rect">
            <a:avLst/>
          </a:prstGeom>
        </p:spPr>
      </p:pic>
      <p:sp>
        <p:nvSpPr>
          <p:cNvPr id="38" name="s9-role">
            <a:extLst xmlns:a="http://schemas.openxmlformats.org/drawingml/2006/main">
              <a:ext uri="{FF2B5EF4-FFF2-40B4-BE49-F238E27FC236}">
                <a16:creationId xmlns:a16="http://schemas.microsoft.com/office/drawing/2014/main" id="{4AA143EC-9F55-43B4-82D4-6884097FEC64}"/>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defRPr sz="1013" b="1">
                <a:solidFill>
                  <a:srgbClr val="20B7C5"/>
                </a:solidFill>
                <a:latin typeface="Aptos"/>
                <a:ea typeface="Aptos"/>
                <a:cs typeface="Aptos"/>
              </a:defRPr>
            </a:pPr>
            <a:r>
              <a:rPr sz="1013" b="1">
                <a:solidFill>
                  <a:srgbClr val="20B7C5"/>
                </a:solidFill>
                <a:latin typeface="Aptos"/>
                <a:ea typeface="Aptos"/>
                <a:cs typeface="Aptos"/>
              </a:rPr>
              <a:t>ROOT MODEL</a:t>
            </a:r>
          </a:p>
        </p:txBody>
      </p:sp>
      <p:sp>
        <p:nvSpPr>
          <p:cNvPr id="39" name="s9-caption">
            <a:extLst xmlns:a="http://schemas.openxmlformats.org/drawingml/2006/main">
              <a:ext uri="{FF2B5EF4-FFF2-40B4-BE49-F238E27FC236}">
                <a16:creationId xmlns:a16="http://schemas.microsoft.com/office/drawing/2014/main" id="{B489CB9E-B23B-42D6-AF0D-969736A2FE67}"/>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defRPr sz="1088" b="1">
                <a:solidFill>
                  <a:srgbClr val="17324A"/>
                </a:solidFill>
                <a:latin typeface="Aptos"/>
                <a:ea typeface="Aptos"/>
                <a:cs typeface="Aptos"/>
              </a:defRPr>
            </a:pPr>
            <a:r>
              <a:rPr sz="1088" b="1">
                <a:solidFill>
                  <a:srgbClr val="17324A"/>
                </a:solidFill>
                <a:latin typeface="Aptos"/>
                <a:ea typeface="Aptos"/>
                <a:cs typeface="Aptos"/>
              </a:rPr>
              <a:t>models/AircraftFeedbackControlLoop.slx • standalone closed-loop training model</a:t>
            </a:r>
          </a:p>
        </p:txBody>
      </p:sp>
    </p:spTree>
    <p:extLst>
      <p:ext uri="{BB962C8B-B14F-4D97-AF65-F5344CB8AC3E}">
        <p14:creationId xmlns:p14="http://schemas.microsoft.com/office/powerpoint/2010/main" val="1578336787"/>
      </p:ext>
    </p:extLst>
  </p:cSld>
</p:sld>
</file>

<file path=ppt/slides/slide10.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5" name="section-115">
            <a:extLst xmlns:a="http://schemas.openxmlformats.org/drawingml/2006/main">
              <a:ext uri="{FF2B5EF4-FFF2-40B4-BE49-F238E27FC236}">
                <a16:creationId xmlns:a16="http://schemas.microsoft.com/office/drawing/2014/main" id="{79CD7667-EC9D-48FB-B3DB-2E75B70AC2E2}"/>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115">
            <a:extLst xmlns:a="http://schemas.openxmlformats.org/drawingml/2006/main">
              <a:ext uri="{FF2B5EF4-FFF2-40B4-BE49-F238E27FC236}">
                <a16:creationId xmlns:a16="http://schemas.microsoft.com/office/drawing/2014/main" id="{6804D11C-B7AE-49C1-93DC-795503570309}"/>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Pitch Controller PI turns tracking error into demand</a:t>
            </a:r>
          </a:p>
        </p:txBody>
      </p:sp>
      <p:sp>
        <p:nvSpPr>
          <p:cNvPr id="3" name="line-116">
            <a:extLst xmlns:a="http://schemas.openxmlformats.org/drawingml/2006/main">
              <a:ext uri="{FF2B5EF4-FFF2-40B4-BE49-F238E27FC236}">
                <a16:creationId xmlns:a16="http://schemas.microsoft.com/office/drawing/2014/main" id="{7CC31265-3D48-4530-9795-E1885F3BEDFB}"/>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17">
            <a:extLst xmlns:a="http://schemas.openxmlformats.org/drawingml/2006/main">
              <a:ext uri="{FF2B5EF4-FFF2-40B4-BE49-F238E27FC236}">
                <a16:creationId xmlns:a16="http://schemas.microsoft.com/office/drawing/2014/main" id="{A69FA6FF-D740-4468-884D-767A1421E8C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18">
            <a:extLst xmlns:a="http://schemas.openxmlformats.org/drawingml/2006/main">
              <a:ext uri="{FF2B5EF4-FFF2-40B4-BE49-F238E27FC236}">
                <a16:creationId xmlns:a16="http://schemas.microsoft.com/office/drawing/2014/main" id="{5DD26572-533C-4030-89F3-6A58F58BE7B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10</a:t>
            </a:r>
          </a:p>
        </p:txBody>
      </p:sp>
      <p:sp>
        <p:nvSpPr>
          <p:cNvPr id="36" name="s10-image-frame">
            <a:extLst xmlns:a="http://schemas.openxmlformats.org/drawingml/2006/main">
              <a:ext uri="{FF2B5EF4-FFF2-40B4-BE49-F238E27FC236}">
                <a16:creationId xmlns:a16="http://schemas.microsoft.com/office/drawing/2014/main" id="{0FD00060-E8F4-46B1-BE7E-855BAB6F27AE}"/>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dbcb65ad465743a5"/>
          <a:stretch xmlns:a="http://schemas.openxmlformats.org/drawingml/2006/main"/>
        </p:blipFill>
        <p:spPr>
          <a:xfrm xmlns:a="http://schemas.openxmlformats.org/drawingml/2006/main">
            <a:off x="2085198" y="1438275"/>
            <a:ext cx="8021604" cy="4457700"/>
          </a:xfrm>
          <a:prstGeom xmlns:a="http://schemas.openxmlformats.org/drawingml/2006/main" prst="rect">
            <a:avLst/>
          </a:prstGeom>
        </p:spPr>
      </p:pic>
      <p:sp>
        <p:nvSpPr>
          <p:cNvPr id="38" name="s10-role">
            <a:extLst xmlns:a="http://schemas.openxmlformats.org/drawingml/2006/main">
              <a:ext uri="{FF2B5EF4-FFF2-40B4-BE49-F238E27FC236}">
                <a16:creationId xmlns:a16="http://schemas.microsoft.com/office/drawing/2014/main" id="{1E057519-B56F-4663-A72E-9B1AD948421D}"/>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defRPr sz="1013" b="1">
                <a:solidFill>
                  <a:srgbClr val="20B7C5"/>
                </a:solidFill>
                <a:latin typeface="Aptos"/>
                <a:ea typeface="Aptos"/>
                <a:cs typeface="Aptos"/>
              </a:defRPr>
            </a:pPr>
            <a:r>
              <a:rPr sz="1013" b="1">
                <a:solidFill>
                  <a:srgbClr val="20B7C5"/>
                </a:solidFill>
                <a:latin typeface="Aptos"/>
                <a:ea typeface="Aptos"/>
                <a:cs typeface="Aptos"/>
              </a:rPr>
              <a:t>INTERNAL SUBSYSTEM</a:t>
            </a:r>
          </a:p>
        </p:txBody>
      </p:sp>
      <p:sp>
        <p:nvSpPr>
          <p:cNvPr id="39" name="s10-caption">
            <a:extLst xmlns:a="http://schemas.openxmlformats.org/drawingml/2006/main">
              <a:ext uri="{FF2B5EF4-FFF2-40B4-BE49-F238E27FC236}">
                <a16:creationId xmlns:a16="http://schemas.microsoft.com/office/drawing/2014/main" id="{F6144206-BF67-42E0-BF60-2D92F36CAF9F}"/>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defRPr sz="1088" b="1">
                <a:solidFill>
                  <a:srgbClr val="17324A"/>
                </a:solidFill>
                <a:latin typeface="Aptos"/>
                <a:ea typeface="Aptos"/>
                <a:cs typeface="Aptos"/>
              </a:defRPr>
            </a:pPr>
            <a:r>
              <a:rPr sz="1088" b="1">
                <a:solidFill>
                  <a:srgbClr val="17324A"/>
                </a:solidFill>
                <a:latin typeface="Aptos"/>
                <a:ea typeface="Aptos"/>
                <a:cs typeface="Aptos"/>
              </a:rPr>
              <a:t>AircraftFeedbackControlLoop/Pitch Controller PI</a:t>
            </a:r>
          </a:p>
        </p:txBody>
      </p:sp>
    </p:spTree>
    <p:extLst>
      <p:ext uri="{BB962C8B-B14F-4D97-AF65-F5344CB8AC3E}">
        <p14:creationId xmlns:p14="http://schemas.microsoft.com/office/powerpoint/2010/main" val="1578336787"/>
      </p:ext>
    </p:extLst>
  </p:cSld>
</p:sld>
</file>

<file path=ppt/slides/slide11.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5" name="section-115">
            <a:extLst xmlns:a="http://schemas.openxmlformats.org/drawingml/2006/main">
              <a:ext uri="{FF2B5EF4-FFF2-40B4-BE49-F238E27FC236}">
                <a16:creationId xmlns:a16="http://schemas.microsoft.com/office/drawing/2014/main" id="{79CD7667-EC9D-48FB-B3DB-2E75B70AC2E2}"/>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115">
            <a:extLst xmlns:a="http://schemas.openxmlformats.org/drawingml/2006/main">
              <a:ext uri="{FF2B5EF4-FFF2-40B4-BE49-F238E27FC236}">
                <a16:creationId xmlns:a16="http://schemas.microsoft.com/office/drawing/2014/main" id="{6804D11C-B7AE-49C1-93DC-795503570309}"/>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Actuator Dynamics converts demand into position</a:t>
            </a:r>
          </a:p>
        </p:txBody>
      </p:sp>
      <p:sp>
        <p:nvSpPr>
          <p:cNvPr id="3" name="line-116">
            <a:extLst xmlns:a="http://schemas.openxmlformats.org/drawingml/2006/main">
              <a:ext uri="{FF2B5EF4-FFF2-40B4-BE49-F238E27FC236}">
                <a16:creationId xmlns:a16="http://schemas.microsoft.com/office/drawing/2014/main" id="{7CC31265-3D48-4530-9795-E1885F3BEDFB}"/>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17">
            <a:extLst xmlns:a="http://schemas.openxmlformats.org/drawingml/2006/main">
              <a:ext uri="{FF2B5EF4-FFF2-40B4-BE49-F238E27FC236}">
                <a16:creationId xmlns:a16="http://schemas.microsoft.com/office/drawing/2014/main" id="{A69FA6FF-D740-4468-884D-767A1421E8C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18">
            <a:extLst xmlns:a="http://schemas.openxmlformats.org/drawingml/2006/main">
              <a:ext uri="{FF2B5EF4-FFF2-40B4-BE49-F238E27FC236}">
                <a16:creationId xmlns:a16="http://schemas.microsoft.com/office/drawing/2014/main" id="{5DD26572-533C-4030-89F3-6A58F58BE7B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11</a:t>
            </a:r>
          </a:p>
        </p:txBody>
      </p:sp>
      <p:sp>
        <p:nvSpPr>
          <p:cNvPr id="36" name="s11-image-frame">
            <a:extLst xmlns:a="http://schemas.openxmlformats.org/drawingml/2006/main">
              <a:ext uri="{FF2B5EF4-FFF2-40B4-BE49-F238E27FC236}">
                <a16:creationId xmlns:a16="http://schemas.microsoft.com/office/drawing/2014/main" id="{77C20563-96F3-4C95-99CA-0FB69811F728}"/>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36e5387a663649e5"/>
          <a:stretch xmlns:a="http://schemas.openxmlformats.org/drawingml/2006/main"/>
        </p:blipFill>
        <p:spPr>
          <a:xfrm xmlns:a="http://schemas.openxmlformats.org/drawingml/2006/main">
            <a:off x="2116213" y="1438275"/>
            <a:ext cx="7959574" cy="4457700"/>
          </a:xfrm>
          <a:prstGeom xmlns:a="http://schemas.openxmlformats.org/drawingml/2006/main" prst="rect">
            <a:avLst/>
          </a:prstGeom>
        </p:spPr>
      </p:pic>
      <p:sp>
        <p:nvSpPr>
          <p:cNvPr id="38" name="s11-role">
            <a:extLst xmlns:a="http://schemas.openxmlformats.org/drawingml/2006/main">
              <a:ext uri="{FF2B5EF4-FFF2-40B4-BE49-F238E27FC236}">
                <a16:creationId xmlns:a16="http://schemas.microsoft.com/office/drawing/2014/main" id="{8A7F81C6-E180-46C4-864E-0E43B7C96E0E}"/>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defRPr sz="1013" b="1">
                <a:solidFill>
                  <a:srgbClr val="20B7C5"/>
                </a:solidFill>
                <a:latin typeface="Aptos"/>
                <a:ea typeface="Aptos"/>
                <a:cs typeface="Aptos"/>
              </a:defRPr>
            </a:pPr>
            <a:r>
              <a:rPr sz="1013" b="1">
                <a:solidFill>
                  <a:srgbClr val="20B7C5"/>
                </a:solidFill>
                <a:latin typeface="Aptos"/>
                <a:ea typeface="Aptos"/>
                <a:cs typeface="Aptos"/>
              </a:rPr>
              <a:t>INTERNAL SUBSYSTEM</a:t>
            </a:r>
          </a:p>
        </p:txBody>
      </p:sp>
      <p:sp>
        <p:nvSpPr>
          <p:cNvPr id="39" name="s11-caption">
            <a:extLst xmlns:a="http://schemas.openxmlformats.org/drawingml/2006/main">
              <a:ext uri="{FF2B5EF4-FFF2-40B4-BE49-F238E27FC236}">
                <a16:creationId xmlns:a16="http://schemas.microsoft.com/office/drawing/2014/main" id="{0592EE79-674D-4236-A66E-07F4FCF5D764}"/>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defRPr sz="1088" b="1">
                <a:solidFill>
                  <a:srgbClr val="17324A"/>
                </a:solidFill>
                <a:latin typeface="Aptos"/>
                <a:ea typeface="Aptos"/>
                <a:cs typeface="Aptos"/>
              </a:defRPr>
            </a:pPr>
            <a:r>
              <a:rPr sz="1088" b="1">
                <a:solidFill>
                  <a:srgbClr val="17324A"/>
                </a:solidFill>
                <a:latin typeface="Aptos"/>
                <a:ea typeface="Aptos"/>
                <a:cs typeface="Aptos"/>
              </a:rPr>
              <a:t>AircraftFeedbackControlLoop/Actuator Dynamics</a:t>
            </a:r>
          </a:p>
        </p:txBody>
      </p:sp>
    </p:spTree>
    <p:extLst>
      <p:ext uri="{BB962C8B-B14F-4D97-AF65-F5344CB8AC3E}">
        <p14:creationId xmlns:p14="http://schemas.microsoft.com/office/powerpoint/2010/main" val="1578336787"/>
      </p:ext>
    </p:extLst>
  </p:cSld>
</p:sld>
</file>

<file path=ppt/slides/slide12.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5" name="section-115">
            <a:extLst xmlns:a="http://schemas.openxmlformats.org/drawingml/2006/main">
              <a:ext uri="{FF2B5EF4-FFF2-40B4-BE49-F238E27FC236}">
                <a16:creationId xmlns:a16="http://schemas.microsoft.com/office/drawing/2014/main" id="{79CD7667-EC9D-48FB-B3DB-2E75B70AC2E2}"/>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115">
            <a:extLst xmlns:a="http://schemas.openxmlformats.org/drawingml/2006/main">
              <a:ext uri="{FF2B5EF4-FFF2-40B4-BE49-F238E27FC236}">
                <a16:creationId xmlns:a16="http://schemas.microsoft.com/office/drawing/2014/main" id="{6804D11C-B7AE-49C1-93DC-795503570309}"/>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Longitudinal dynamics turn actuator motion into response</a:t>
            </a:r>
          </a:p>
        </p:txBody>
      </p:sp>
      <p:sp>
        <p:nvSpPr>
          <p:cNvPr id="3" name="line-116">
            <a:extLst xmlns:a="http://schemas.openxmlformats.org/drawingml/2006/main">
              <a:ext uri="{FF2B5EF4-FFF2-40B4-BE49-F238E27FC236}">
                <a16:creationId xmlns:a16="http://schemas.microsoft.com/office/drawing/2014/main" id="{7CC31265-3D48-4530-9795-E1885F3BEDFB}"/>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17">
            <a:extLst xmlns:a="http://schemas.openxmlformats.org/drawingml/2006/main">
              <a:ext uri="{FF2B5EF4-FFF2-40B4-BE49-F238E27FC236}">
                <a16:creationId xmlns:a16="http://schemas.microsoft.com/office/drawing/2014/main" id="{A69FA6FF-D740-4468-884D-767A1421E8C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18">
            <a:extLst xmlns:a="http://schemas.openxmlformats.org/drawingml/2006/main">
              <a:ext uri="{FF2B5EF4-FFF2-40B4-BE49-F238E27FC236}">
                <a16:creationId xmlns:a16="http://schemas.microsoft.com/office/drawing/2014/main" id="{5DD26572-533C-4030-89F3-6A58F58BE7B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12</a:t>
            </a:r>
          </a:p>
        </p:txBody>
      </p:sp>
      <p:sp>
        <p:nvSpPr>
          <p:cNvPr id="36" name="s12-image-frame">
            <a:extLst xmlns:a="http://schemas.openxmlformats.org/drawingml/2006/main">
              <a:ext uri="{FF2B5EF4-FFF2-40B4-BE49-F238E27FC236}">
                <a16:creationId xmlns:a16="http://schemas.microsoft.com/office/drawing/2014/main" id="{3A12BB18-B7CF-498E-A8FF-CFC09AC345FC}"/>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746f8d73e4a34d57"/>
          <a:stretch xmlns:a="http://schemas.openxmlformats.org/drawingml/2006/main"/>
        </p:blipFill>
        <p:spPr>
          <a:xfrm xmlns:a="http://schemas.openxmlformats.org/drawingml/2006/main">
            <a:off x="2075329" y="1438275"/>
            <a:ext cx="8041341" cy="4457700"/>
          </a:xfrm>
          <a:prstGeom xmlns:a="http://schemas.openxmlformats.org/drawingml/2006/main" prst="rect">
            <a:avLst/>
          </a:prstGeom>
        </p:spPr>
      </p:pic>
      <p:sp>
        <p:nvSpPr>
          <p:cNvPr id="38" name="s12-role">
            <a:extLst xmlns:a="http://schemas.openxmlformats.org/drawingml/2006/main">
              <a:ext uri="{FF2B5EF4-FFF2-40B4-BE49-F238E27FC236}">
                <a16:creationId xmlns:a16="http://schemas.microsoft.com/office/drawing/2014/main" id="{2BEA4BB5-2104-4E91-A129-BF7BF86D6608}"/>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defRPr sz="1013" b="1">
                <a:solidFill>
                  <a:srgbClr val="20B7C5"/>
                </a:solidFill>
                <a:latin typeface="Aptos"/>
                <a:ea typeface="Aptos"/>
                <a:cs typeface="Aptos"/>
              </a:defRPr>
            </a:pPr>
            <a:r>
              <a:rPr sz="1013" b="1">
                <a:solidFill>
                  <a:srgbClr val="20B7C5"/>
                </a:solidFill>
                <a:latin typeface="Aptos"/>
                <a:ea typeface="Aptos"/>
                <a:cs typeface="Aptos"/>
              </a:rPr>
              <a:t>INTERNAL SUBSYSTEM</a:t>
            </a:r>
          </a:p>
        </p:txBody>
      </p:sp>
      <p:sp>
        <p:nvSpPr>
          <p:cNvPr id="39" name="s12-caption">
            <a:extLst xmlns:a="http://schemas.openxmlformats.org/drawingml/2006/main">
              <a:ext uri="{FF2B5EF4-FFF2-40B4-BE49-F238E27FC236}">
                <a16:creationId xmlns:a16="http://schemas.microsoft.com/office/drawing/2014/main" id="{DCE5DF34-10F2-457A-B8C2-CA821098214A}"/>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defRPr sz="1088" b="1">
                <a:solidFill>
                  <a:srgbClr val="17324A"/>
                </a:solidFill>
                <a:latin typeface="Aptos"/>
                <a:ea typeface="Aptos"/>
                <a:cs typeface="Aptos"/>
              </a:defRPr>
            </a:pPr>
            <a:r>
              <a:rPr sz="1088" b="1">
                <a:solidFill>
                  <a:srgbClr val="17324A"/>
                </a:solidFill>
                <a:latin typeface="Aptos"/>
                <a:ea typeface="Aptos"/>
                <a:cs typeface="Aptos"/>
              </a:rPr>
              <a:t>AircraftFeedbackControlLoop/Simplified Longitudinal Aircraft Dynamics</a:t>
            </a:r>
          </a:p>
        </p:txBody>
      </p:sp>
    </p:spTree>
    <p:extLst>
      <p:ext uri="{BB962C8B-B14F-4D97-AF65-F5344CB8AC3E}">
        <p14:creationId xmlns:p14="http://schemas.microsoft.com/office/powerpoint/2010/main" val="1578336787"/>
      </p:ext>
    </p:extLst>
  </p:cSld>
</p:sld>
</file>

<file path=ppt/slides/slide13.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5" name="section-115">
            <a:extLst xmlns:a="http://schemas.openxmlformats.org/drawingml/2006/main">
              <a:ext uri="{FF2B5EF4-FFF2-40B4-BE49-F238E27FC236}">
                <a16:creationId xmlns:a16="http://schemas.microsoft.com/office/drawing/2014/main" id="{79CD7667-EC9D-48FB-B3DB-2E75B70AC2E2}"/>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115">
            <a:extLst xmlns:a="http://schemas.openxmlformats.org/drawingml/2006/main">
              <a:ext uri="{FF2B5EF4-FFF2-40B4-BE49-F238E27FC236}">
                <a16:creationId xmlns:a16="http://schemas.microsoft.com/office/drawing/2014/main" id="{6804D11C-B7AE-49C1-93DC-795503570309}"/>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Sensor Processing Lag exposes measurement dynamics</a:t>
            </a:r>
          </a:p>
        </p:txBody>
      </p:sp>
      <p:sp>
        <p:nvSpPr>
          <p:cNvPr id="3" name="line-116">
            <a:extLst xmlns:a="http://schemas.openxmlformats.org/drawingml/2006/main">
              <a:ext uri="{FF2B5EF4-FFF2-40B4-BE49-F238E27FC236}">
                <a16:creationId xmlns:a16="http://schemas.microsoft.com/office/drawing/2014/main" id="{7CC31265-3D48-4530-9795-E1885F3BEDFB}"/>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17">
            <a:extLst xmlns:a="http://schemas.openxmlformats.org/drawingml/2006/main">
              <a:ext uri="{FF2B5EF4-FFF2-40B4-BE49-F238E27FC236}">
                <a16:creationId xmlns:a16="http://schemas.microsoft.com/office/drawing/2014/main" id="{A69FA6FF-D740-4468-884D-767A1421E8C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18">
            <a:extLst xmlns:a="http://schemas.openxmlformats.org/drawingml/2006/main">
              <a:ext uri="{FF2B5EF4-FFF2-40B4-BE49-F238E27FC236}">
                <a16:creationId xmlns:a16="http://schemas.microsoft.com/office/drawing/2014/main" id="{5DD26572-533C-4030-89F3-6A58F58BE7B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13</a:t>
            </a:r>
          </a:p>
        </p:txBody>
      </p:sp>
      <p:sp>
        <p:nvSpPr>
          <p:cNvPr id="36" name="s13-image-frame">
            <a:extLst xmlns:a="http://schemas.openxmlformats.org/drawingml/2006/main">
              <a:ext uri="{FF2B5EF4-FFF2-40B4-BE49-F238E27FC236}">
                <a16:creationId xmlns:a16="http://schemas.microsoft.com/office/drawing/2014/main" id="{52FBA5B8-C03F-449C-9C7F-3054EF14A86E}"/>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752b4fa1f15d4b75"/>
          <a:stretch xmlns:a="http://schemas.openxmlformats.org/drawingml/2006/main"/>
        </p:blipFill>
        <p:spPr>
          <a:xfrm xmlns:a="http://schemas.openxmlformats.org/drawingml/2006/main">
            <a:off x="2117623" y="1438275"/>
            <a:ext cx="7956755" cy="4457700"/>
          </a:xfrm>
          <a:prstGeom xmlns:a="http://schemas.openxmlformats.org/drawingml/2006/main" prst="rect">
            <a:avLst/>
          </a:prstGeom>
        </p:spPr>
      </p:pic>
      <p:sp>
        <p:nvSpPr>
          <p:cNvPr id="38" name="s13-role">
            <a:extLst xmlns:a="http://schemas.openxmlformats.org/drawingml/2006/main">
              <a:ext uri="{FF2B5EF4-FFF2-40B4-BE49-F238E27FC236}">
                <a16:creationId xmlns:a16="http://schemas.microsoft.com/office/drawing/2014/main" id="{57CE753A-2954-474F-8AC4-324EF7045E36}"/>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defRPr sz="1013" b="1">
                <a:solidFill>
                  <a:srgbClr val="20B7C5"/>
                </a:solidFill>
                <a:latin typeface="Aptos"/>
                <a:ea typeface="Aptos"/>
                <a:cs typeface="Aptos"/>
              </a:defRPr>
            </a:pPr>
            <a:r>
              <a:rPr sz="1013" b="1">
                <a:solidFill>
                  <a:srgbClr val="20B7C5"/>
                </a:solidFill>
                <a:latin typeface="Aptos"/>
                <a:ea typeface="Aptos"/>
                <a:cs typeface="Aptos"/>
              </a:rPr>
              <a:t>INTERNAL SUBSYSTEM</a:t>
            </a:r>
          </a:p>
        </p:txBody>
      </p:sp>
      <p:sp>
        <p:nvSpPr>
          <p:cNvPr id="39" name="s13-caption">
            <a:extLst xmlns:a="http://schemas.openxmlformats.org/drawingml/2006/main">
              <a:ext uri="{FF2B5EF4-FFF2-40B4-BE49-F238E27FC236}">
                <a16:creationId xmlns:a16="http://schemas.microsoft.com/office/drawing/2014/main" id="{7D06E577-8055-47E3-B1CF-BEC248FF0E4A}"/>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defRPr sz="1088" b="1">
                <a:solidFill>
                  <a:srgbClr val="17324A"/>
                </a:solidFill>
                <a:latin typeface="Aptos"/>
                <a:ea typeface="Aptos"/>
                <a:cs typeface="Aptos"/>
              </a:defRPr>
            </a:pPr>
            <a:r>
              <a:rPr sz="1088" b="1">
                <a:solidFill>
                  <a:srgbClr val="17324A"/>
                </a:solidFill>
                <a:latin typeface="Aptos"/>
                <a:ea typeface="Aptos"/>
                <a:cs typeface="Aptos"/>
              </a:rPr>
              <a:t>AircraftFeedbackControlLoop/Sensor Processing Lag</a:t>
            </a:r>
          </a:p>
        </p:txBody>
      </p:sp>
    </p:spTree>
    <p:extLst>
      <p:ext uri="{BB962C8B-B14F-4D97-AF65-F5344CB8AC3E}">
        <p14:creationId xmlns:p14="http://schemas.microsoft.com/office/powerpoint/2010/main" val="1578336787"/>
      </p:ext>
    </p:extLst>
  </p:cSld>
</p:sld>
</file>

<file path=ppt/slides/slide14.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5" name="section-115">
            <a:extLst xmlns:a="http://schemas.openxmlformats.org/drawingml/2006/main">
              <a:ext uri="{FF2B5EF4-FFF2-40B4-BE49-F238E27FC236}">
                <a16:creationId xmlns:a16="http://schemas.microsoft.com/office/drawing/2014/main" id="{79CD7667-EC9D-48FB-B3DB-2E75B70AC2E2}"/>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115">
            <a:extLst xmlns:a="http://schemas.openxmlformats.org/drawingml/2006/main">
              <a:ext uri="{FF2B5EF4-FFF2-40B4-BE49-F238E27FC236}">
                <a16:creationId xmlns:a16="http://schemas.microsoft.com/office/drawing/2014/main" id="{6804D11C-B7AE-49C1-93DC-795503570309}"/>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850" b="1" i="0">
                <a:solidFill>
                  <a:srgbClr val="0B1F33"/>
                </a:solidFill>
                <a:latin typeface="Aptos"/>
                <a:ea typeface="Aptos"/>
                <a:cs typeface="Aptos"/>
              </a:defRPr>
            </a:pPr>
            <a:r>
              <a:rPr sz="2850" b="1" i="0">
                <a:solidFill>
                  <a:srgbClr val="0B1F33"/>
                </a:solidFill>
                <a:latin typeface="Aptos"/>
                <a:ea typeface="Aptos"/>
                <a:cs typeface="Aptos"/>
              </a:rPr>
              <a:t>AutopilotModeLogic wraps mode behavior in explicit interfaces</a:t>
            </a:r>
          </a:p>
        </p:txBody>
      </p:sp>
      <p:sp>
        <p:nvSpPr>
          <p:cNvPr id="3" name="line-116">
            <a:extLst xmlns:a="http://schemas.openxmlformats.org/drawingml/2006/main">
              <a:ext uri="{FF2B5EF4-FFF2-40B4-BE49-F238E27FC236}">
                <a16:creationId xmlns:a16="http://schemas.microsoft.com/office/drawing/2014/main" id="{7CC31265-3D48-4530-9795-E1885F3BEDFB}"/>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17">
            <a:extLst xmlns:a="http://schemas.openxmlformats.org/drawingml/2006/main">
              <a:ext uri="{FF2B5EF4-FFF2-40B4-BE49-F238E27FC236}">
                <a16:creationId xmlns:a16="http://schemas.microsoft.com/office/drawing/2014/main" id="{A69FA6FF-D740-4468-884D-767A1421E8C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18">
            <a:extLst xmlns:a="http://schemas.openxmlformats.org/drawingml/2006/main">
              <a:ext uri="{FF2B5EF4-FFF2-40B4-BE49-F238E27FC236}">
                <a16:creationId xmlns:a16="http://schemas.microsoft.com/office/drawing/2014/main" id="{5DD26572-533C-4030-89F3-6A58F58BE7B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14</a:t>
            </a:r>
          </a:p>
        </p:txBody>
      </p:sp>
      <p:sp>
        <p:nvSpPr>
          <p:cNvPr id="36" name="s14-image-frame">
            <a:extLst xmlns:a="http://schemas.openxmlformats.org/drawingml/2006/main">
              <a:ext uri="{FF2B5EF4-FFF2-40B4-BE49-F238E27FC236}">
                <a16:creationId xmlns:a16="http://schemas.microsoft.com/office/drawing/2014/main" id="{029643F4-4283-464D-A148-D4EB3873B812}"/>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2ba517cb219f4574"/>
          <a:stretch xmlns:a="http://schemas.openxmlformats.org/drawingml/2006/main"/>
        </p:blipFill>
        <p:spPr>
          <a:xfrm xmlns:a="http://schemas.openxmlformats.org/drawingml/2006/main">
            <a:off x="3100234" y="1438275"/>
            <a:ext cx="5991532" cy="4457700"/>
          </a:xfrm>
          <a:prstGeom xmlns:a="http://schemas.openxmlformats.org/drawingml/2006/main" prst="rect">
            <a:avLst/>
          </a:prstGeom>
        </p:spPr>
      </p:pic>
      <p:sp>
        <p:nvSpPr>
          <p:cNvPr id="38" name="s14-role">
            <a:extLst xmlns:a="http://schemas.openxmlformats.org/drawingml/2006/main">
              <a:ext uri="{FF2B5EF4-FFF2-40B4-BE49-F238E27FC236}">
                <a16:creationId xmlns:a16="http://schemas.microsoft.com/office/drawing/2014/main" id="{0E897472-283D-44B2-8BF0-CF6C6447D856}"/>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defRPr sz="1013" b="1">
                <a:solidFill>
                  <a:srgbClr val="20B7C5"/>
                </a:solidFill>
                <a:latin typeface="Aptos"/>
                <a:ea typeface="Aptos"/>
                <a:cs typeface="Aptos"/>
              </a:defRPr>
            </a:pPr>
            <a:r>
              <a:rPr sz="1013" b="1">
                <a:solidFill>
                  <a:srgbClr val="20B7C5"/>
                </a:solidFill>
                <a:latin typeface="Aptos"/>
                <a:ea typeface="Aptos"/>
                <a:cs typeface="Aptos"/>
              </a:rPr>
              <a:t>ROOT MODEL</a:t>
            </a:r>
          </a:p>
        </p:txBody>
      </p:sp>
      <p:sp>
        <p:nvSpPr>
          <p:cNvPr id="39" name="s14-caption">
            <a:extLst xmlns:a="http://schemas.openxmlformats.org/drawingml/2006/main">
              <a:ext uri="{FF2B5EF4-FFF2-40B4-BE49-F238E27FC236}">
                <a16:creationId xmlns:a16="http://schemas.microsoft.com/office/drawing/2014/main" id="{EC39C94B-0D31-4BD9-A4AE-DF885316D910}"/>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defRPr sz="1088" b="1">
                <a:solidFill>
                  <a:srgbClr val="17324A"/>
                </a:solidFill>
                <a:latin typeface="Aptos"/>
                <a:ea typeface="Aptos"/>
                <a:cs typeface="Aptos"/>
              </a:defRPr>
            </a:pPr>
            <a:r>
              <a:rPr sz="1088" b="1">
                <a:solidFill>
                  <a:srgbClr val="17324A"/>
                </a:solidFill>
                <a:latin typeface="Aptos"/>
                <a:ea typeface="Aptos"/>
                <a:cs typeface="Aptos"/>
              </a:rPr>
              <a:t>models/AutopilotModeLogic.slx • separate Stateflow training model</a:t>
            </a:r>
          </a:p>
        </p:txBody>
      </p:sp>
    </p:spTree>
    <p:extLst>
      <p:ext uri="{BB962C8B-B14F-4D97-AF65-F5344CB8AC3E}">
        <p14:creationId xmlns:p14="http://schemas.microsoft.com/office/powerpoint/2010/main" val="1578336787"/>
      </p:ext>
    </p:extLst>
  </p:cSld>
</p:sld>
</file>

<file path=ppt/slides/slide15.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162">
            <a:extLst xmlns:a="http://schemas.openxmlformats.org/drawingml/2006/main">
              <a:ext uri="{FF2B5EF4-FFF2-40B4-BE49-F238E27FC236}">
                <a16:creationId xmlns:a16="http://schemas.microsoft.com/office/drawing/2014/main" id="{4D8B0D0F-2FB4-49B2-8AFE-64D9A0B796FC}"/>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162">
            <a:extLst xmlns:a="http://schemas.openxmlformats.org/drawingml/2006/main">
              <a:ext uri="{FF2B5EF4-FFF2-40B4-BE49-F238E27FC236}">
                <a16:creationId xmlns:a16="http://schemas.microsoft.com/office/drawing/2014/main" id="{4109C46C-6FCD-49F5-B200-9338E2864EDA}"/>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Stateflow guards OFF, ARMED, ENGAGED, and DEGRADED</a:t>
            </a:r>
          </a:p>
        </p:txBody>
      </p:sp>
      <p:sp>
        <p:nvSpPr>
          <p:cNvPr id="3" name="line-163">
            <a:extLst xmlns:a="http://schemas.openxmlformats.org/drawingml/2006/main">
              <a:ext uri="{FF2B5EF4-FFF2-40B4-BE49-F238E27FC236}">
                <a16:creationId xmlns:a16="http://schemas.microsoft.com/office/drawing/2014/main" id="{CCCB790A-BF2E-4AB2-B27A-2F6038A4245D}"/>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64">
            <a:extLst xmlns:a="http://schemas.openxmlformats.org/drawingml/2006/main">
              <a:ext uri="{FF2B5EF4-FFF2-40B4-BE49-F238E27FC236}">
                <a16:creationId xmlns:a16="http://schemas.microsoft.com/office/drawing/2014/main" id="{157DA5B0-5B52-44DC-B3E1-FB6BC3DF56A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65">
            <a:extLst xmlns:a="http://schemas.openxmlformats.org/drawingml/2006/main">
              <a:ext uri="{FF2B5EF4-FFF2-40B4-BE49-F238E27FC236}">
                <a16:creationId xmlns:a16="http://schemas.microsoft.com/office/drawing/2014/main" id="{74DAD04D-06CA-4AE6-B823-18C1516BDA2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15</a:t>
            </a:r>
          </a:p>
        </p:txBody>
      </p:sp>
      <p:sp>
        <p:nvSpPr>
          <p:cNvPr id="31" name="s15-image-frame">
            <a:extLst xmlns:a="http://schemas.openxmlformats.org/drawingml/2006/main">
              <a:ext uri="{FF2B5EF4-FFF2-40B4-BE49-F238E27FC236}">
                <a16:creationId xmlns:a16="http://schemas.microsoft.com/office/drawing/2014/main" id="{2DD9EA5C-035B-45CF-8FD3-0FFC0AEE1860}"/>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b3b8ba289bd04302"/>
          <a:stretch xmlns:a="http://schemas.openxmlformats.org/drawingml/2006/main"/>
        </p:blipFill>
        <p:spPr>
          <a:xfrm xmlns:a="http://schemas.openxmlformats.org/drawingml/2006/main">
            <a:off x="1949302" y="1438275"/>
            <a:ext cx="8293395" cy="4457700"/>
          </a:xfrm>
          <a:prstGeom xmlns:a="http://schemas.openxmlformats.org/drawingml/2006/main" prst="rect">
            <a:avLst/>
          </a:prstGeom>
        </p:spPr>
      </p:pic>
      <p:sp>
        <p:nvSpPr>
          <p:cNvPr id="33" name="s15-role">
            <a:extLst xmlns:a="http://schemas.openxmlformats.org/drawingml/2006/main">
              <a:ext uri="{FF2B5EF4-FFF2-40B4-BE49-F238E27FC236}">
                <a16:creationId xmlns:a16="http://schemas.microsoft.com/office/drawing/2014/main" id="{E9726D10-41C5-4318-8538-40537069CE7B}"/>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defRPr sz="1013" b="1">
                <a:solidFill>
                  <a:srgbClr val="20B7C5"/>
                </a:solidFill>
                <a:latin typeface="Aptos"/>
                <a:ea typeface="Aptos"/>
                <a:cs typeface="Aptos"/>
              </a:defRPr>
            </a:pPr>
            <a:r>
              <a:rPr sz="1013" b="1">
                <a:solidFill>
                  <a:srgbClr val="20B7C5"/>
                </a:solidFill>
                <a:latin typeface="Aptos"/>
                <a:ea typeface="Aptos"/>
                <a:cs typeface="Aptos"/>
              </a:rPr>
              <a:t>INTERNAL STATEFLOW VIEW</a:t>
            </a:r>
          </a:p>
        </p:txBody>
      </p:sp>
      <p:sp>
        <p:nvSpPr>
          <p:cNvPr id="34" name="s15-caption">
            <a:extLst xmlns:a="http://schemas.openxmlformats.org/drawingml/2006/main">
              <a:ext uri="{FF2B5EF4-FFF2-40B4-BE49-F238E27FC236}">
                <a16:creationId xmlns:a16="http://schemas.microsoft.com/office/drawing/2014/main" id="{CF716051-DA55-4CCB-8670-694CF0C444EF}"/>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defRPr sz="1088" b="1">
                <a:solidFill>
                  <a:srgbClr val="17324A"/>
                </a:solidFill>
                <a:latin typeface="Aptos"/>
                <a:ea typeface="Aptos"/>
                <a:cs typeface="Aptos"/>
              </a:defRPr>
            </a:pPr>
            <a:r>
              <a:rPr sz="1088" b="1">
                <a:solidFill>
                  <a:srgbClr val="17324A"/>
                </a:solidFill>
                <a:latin typeface="Aptos"/>
                <a:ea typeface="Aptos"/>
                <a:cs typeface="Aptos"/>
              </a:rPr>
              <a:t>AutopilotModeLogic/Autopilot Mode Logic • Stateflow chart</a:t>
            </a:r>
          </a:p>
        </p:txBody>
      </p:sp>
    </p:spTree>
    <p:extLst>
      <p:ext uri="{BB962C8B-B14F-4D97-AF65-F5344CB8AC3E}">
        <p14:creationId xmlns:p14="http://schemas.microsoft.com/office/powerpoint/2010/main" val="812255478"/>
      </p:ext>
    </p:extLst>
  </p:cSld>
</p:sld>
</file>

<file path=ppt/slides/slide16.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412">
            <a:extLst xmlns:a="http://schemas.openxmlformats.org/drawingml/2006/main">
              <a:ext uri="{FF2B5EF4-FFF2-40B4-BE49-F238E27FC236}">
                <a16:creationId xmlns:a16="http://schemas.microsoft.com/office/drawing/2014/main" id="{622948AF-D70D-4DFB-B819-027CBD4D974F}"/>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412">
            <a:extLst xmlns:a="http://schemas.openxmlformats.org/drawingml/2006/main">
              <a:ext uri="{FF2B5EF4-FFF2-40B4-BE49-F238E27FC236}">
                <a16:creationId xmlns:a16="http://schemas.microsoft.com/office/drawing/2014/main" id="{97301C4B-B240-4DDD-A0ED-4D7B6CF5E8A2}"/>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850" b="1" i="0">
                <a:solidFill>
                  <a:srgbClr val="0B1F33"/>
                </a:solidFill>
                <a:latin typeface="Aptos"/>
                <a:ea typeface="Aptos"/>
                <a:cs typeface="Aptos"/>
              </a:defRPr>
            </a:pPr>
            <a:r>
              <a:rPr sz="2850" b="1" i="0">
                <a:solidFill>
                  <a:srgbClr val="0B1F33"/>
                </a:solidFill>
                <a:latin typeface="Aptos"/>
                <a:ea typeface="Aptos"/>
                <a:cs typeface="Aptos"/>
              </a:rPr>
              <a:t>ReferencedFlightControlArchitecture is the integration top level</a:t>
            </a:r>
          </a:p>
        </p:txBody>
      </p:sp>
      <p:sp>
        <p:nvSpPr>
          <p:cNvPr id="3" name="line-413">
            <a:extLst xmlns:a="http://schemas.openxmlformats.org/drawingml/2006/main">
              <a:ext uri="{FF2B5EF4-FFF2-40B4-BE49-F238E27FC236}">
                <a16:creationId xmlns:a16="http://schemas.microsoft.com/office/drawing/2014/main" id="{ED69F032-C6AE-4587-84D8-6454983F9363}"/>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14">
            <a:extLst xmlns:a="http://schemas.openxmlformats.org/drawingml/2006/main">
              <a:ext uri="{FF2B5EF4-FFF2-40B4-BE49-F238E27FC236}">
                <a16:creationId xmlns:a16="http://schemas.microsoft.com/office/drawing/2014/main" id="{41653C2F-E40F-4DE2-BD48-71C5A193ED98}"/>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15">
            <a:extLst xmlns:a="http://schemas.openxmlformats.org/drawingml/2006/main">
              <a:ext uri="{FF2B5EF4-FFF2-40B4-BE49-F238E27FC236}">
                <a16:creationId xmlns:a16="http://schemas.microsoft.com/office/drawing/2014/main" id="{90770552-8853-4FE0-8723-3E7F838A2C3B}"/>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16</a:t>
            </a:r>
          </a:p>
        </p:txBody>
      </p:sp>
      <p:sp>
        <p:nvSpPr>
          <p:cNvPr id="20" name="s16-image-frame">
            <a:extLst xmlns:a="http://schemas.openxmlformats.org/drawingml/2006/main">
              <a:ext uri="{FF2B5EF4-FFF2-40B4-BE49-F238E27FC236}">
                <a16:creationId xmlns:a16="http://schemas.microsoft.com/office/drawing/2014/main" id="{B89EF0BE-2F40-437E-9A9B-CC8AB0128742}"/>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954846fee395437b"/>
          <a:stretch xmlns:a="http://schemas.openxmlformats.org/drawingml/2006/main"/>
        </p:blipFill>
        <p:spPr>
          <a:xfrm xmlns:a="http://schemas.openxmlformats.org/drawingml/2006/main">
            <a:off x="1949302" y="1438275"/>
            <a:ext cx="8293395" cy="4457700"/>
          </a:xfrm>
          <a:prstGeom xmlns:a="http://schemas.openxmlformats.org/drawingml/2006/main" prst="rect">
            <a:avLst/>
          </a:prstGeom>
        </p:spPr>
      </p:pic>
      <p:sp>
        <p:nvSpPr>
          <p:cNvPr id="22" name="s16-role">
            <a:extLst xmlns:a="http://schemas.openxmlformats.org/drawingml/2006/main">
              <a:ext uri="{FF2B5EF4-FFF2-40B4-BE49-F238E27FC236}">
                <a16:creationId xmlns:a16="http://schemas.microsoft.com/office/drawing/2014/main" id="{93326B14-E2B3-4254-BEAB-A25ACF38A5F9}"/>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defRPr sz="1013" b="1">
                <a:solidFill>
                  <a:srgbClr val="20B7C5"/>
                </a:solidFill>
                <a:latin typeface="Aptos"/>
                <a:ea typeface="Aptos"/>
                <a:cs typeface="Aptos"/>
              </a:defRPr>
            </a:pPr>
            <a:r>
              <a:rPr sz="1013" b="1">
                <a:solidFill>
                  <a:srgbClr val="20B7C5"/>
                </a:solidFill>
                <a:latin typeface="Aptos"/>
                <a:ea typeface="Aptos"/>
                <a:cs typeface="Aptos"/>
              </a:rPr>
              <a:t>INTEGRATION PARENT</a:t>
            </a:r>
          </a:p>
        </p:txBody>
      </p:sp>
      <p:sp>
        <p:nvSpPr>
          <p:cNvPr id="23" name="s16-caption">
            <a:extLst xmlns:a="http://schemas.openxmlformats.org/drawingml/2006/main">
              <a:ext uri="{FF2B5EF4-FFF2-40B4-BE49-F238E27FC236}">
                <a16:creationId xmlns:a16="http://schemas.microsoft.com/office/drawing/2014/main" id="{ACD17429-25AE-4902-9A49-6C9E8DADDBA2}"/>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defRPr sz="1088" b="1">
                <a:solidFill>
                  <a:srgbClr val="17324A"/>
                </a:solidFill>
                <a:latin typeface="Aptos"/>
                <a:ea typeface="Aptos"/>
                <a:cs typeface="Aptos"/>
              </a:defRPr>
            </a:pPr>
            <a:r>
              <a:rPr sz="1088" b="1">
                <a:solidFill>
                  <a:srgbClr val="17324A"/>
                </a:solidFill>
                <a:latin typeface="Aptos"/>
                <a:ea typeface="Aptos"/>
                <a:cs typeface="Aptos"/>
              </a:rPr>
              <a:t>models/ReferencedFlightControlArchitecture.slx • model-reference integration parent</a:t>
            </a:r>
          </a:p>
        </p:txBody>
      </p:sp>
    </p:spTree>
    <p:extLst>
      <p:ext uri="{BB962C8B-B14F-4D97-AF65-F5344CB8AC3E}">
        <p14:creationId xmlns:p14="http://schemas.microsoft.com/office/powerpoint/2010/main" val="1586749842"/>
      </p:ext>
    </p:extLst>
  </p:cSld>
</p:sld>
</file>

<file path=ppt/slides/slide17.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412">
            <a:extLst xmlns:a="http://schemas.openxmlformats.org/drawingml/2006/main">
              <a:ext uri="{FF2B5EF4-FFF2-40B4-BE49-F238E27FC236}">
                <a16:creationId xmlns:a16="http://schemas.microsoft.com/office/drawing/2014/main" id="{622948AF-D70D-4DFB-B819-027CBD4D974F}"/>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412">
            <a:extLst xmlns:a="http://schemas.openxmlformats.org/drawingml/2006/main">
              <a:ext uri="{FF2B5EF4-FFF2-40B4-BE49-F238E27FC236}">
                <a16:creationId xmlns:a16="http://schemas.microsoft.com/office/drawing/2014/main" id="{97301C4B-B240-4DDD-A0ED-4D7B6CF5E8A2}"/>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SensorProcessingRef owns the referenced sensor contract</a:t>
            </a:r>
          </a:p>
        </p:txBody>
      </p:sp>
      <p:sp>
        <p:nvSpPr>
          <p:cNvPr id="3" name="line-413">
            <a:extLst xmlns:a="http://schemas.openxmlformats.org/drawingml/2006/main">
              <a:ext uri="{FF2B5EF4-FFF2-40B4-BE49-F238E27FC236}">
                <a16:creationId xmlns:a16="http://schemas.microsoft.com/office/drawing/2014/main" id="{ED69F032-C6AE-4587-84D8-6454983F9363}"/>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14">
            <a:extLst xmlns:a="http://schemas.openxmlformats.org/drawingml/2006/main">
              <a:ext uri="{FF2B5EF4-FFF2-40B4-BE49-F238E27FC236}">
                <a16:creationId xmlns:a16="http://schemas.microsoft.com/office/drawing/2014/main" id="{41653C2F-E40F-4DE2-BD48-71C5A193ED98}"/>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15">
            <a:extLst xmlns:a="http://schemas.openxmlformats.org/drawingml/2006/main">
              <a:ext uri="{FF2B5EF4-FFF2-40B4-BE49-F238E27FC236}">
                <a16:creationId xmlns:a16="http://schemas.microsoft.com/office/drawing/2014/main" id="{90770552-8853-4FE0-8723-3E7F838A2C3B}"/>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17</a:t>
            </a:r>
          </a:p>
        </p:txBody>
      </p:sp>
      <p:sp>
        <p:nvSpPr>
          <p:cNvPr id="20" name="s17-image-frame">
            <a:extLst xmlns:a="http://schemas.openxmlformats.org/drawingml/2006/main">
              <a:ext uri="{FF2B5EF4-FFF2-40B4-BE49-F238E27FC236}">
                <a16:creationId xmlns:a16="http://schemas.microsoft.com/office/drawing/2014/main" id="{F54A011E-D66A-44D8-8AED-9EE30952CDF5}"/>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f880434cc01c43a1"/>
          <a:stretch xmlns:a="http://schemas.openxmlformats.org/drawingml/2006/main"/>
        </p:blipFill>
        <p:spPr>
          <a:xfrm xmlns:a="http://schemas.openxmlformats.org/drawingml/2006/main">
            <a:off x="2097886" y="1438275"/>
            <a:ext cx="7996228" cy="4457700"/>
          </a:xfrm>
          <a:prstGeom xmlns:a="http://schemas.openxmlformats.org/drawingml/2006/main" prst="rect">
            <a:avLst/>
          </a:prstGeom>
        </p:spPr>
      </p:pic>
      <p:sp>
        <p:nvSpPr>
          <p:cNvPr id="22" name="s17-role">
            <a:extLst xmlns:a="http://schemas.openxmlformats.org/drawingml/2006/main">
              <a:ext uri="{FF2B5EF4-FFF2-40B4-BE49-F238E27FC236}">
                <a16:creationId xmlns:a16="http://schemas.microsoft.com/office/drawing/2014/main" id="{31ABF467-45AC-4081-87EB-48D8BE3DA34D}"/>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defRPr sz="1013" b="1">
                <a:solidFill>
                  <a:srgbClr val="20B7C5"/>
                </a:solidFill>
                <a:latin typeface="Aptos"/>
                <a:ea typeface="Aptos"/>
                <a:cs typeface="Aptos"/>
              </a:defRPr>
            </a:pPr>
            <a:r>
              <a:rPr sz="1013" b="1">
                <a:solidFill>
                  <a:srgbClr val="20B7C5"/>
                </a:solidFill>
                <a:latin typeface="Aptos"/>
                <a:ea typeface="Aptos"/>
                <a:cs typeface="Aptos"/>
              </a:rPr>
              <a:t>REFERENCED CHILD</a:t>
            </a:r>
          </a:p>
        </p:txBody>
      </p:sp>
      <p:sp>
        <p:nvSpPr>
          <p:cNvPr id="23" name="s17-caption">
            <a:extLst xmlns:a="http://schemas.openxmlformats.org/drawingml/2006/main">
              <a:ext uri="{FF2B5EF4-FFF2-40B4-BE49-F238E27FC236}">
                <a16:creationId xmlns:a16="http://schemas.microsoft.com/office/drawing/2014/main" id="{27291693-9177-4D9B-B157-D8DBC7934C14}"/>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defRPr sz="1088" b="1">
                <a:solidFill>
                  <a:srgbClr val="17324A"/>
                </a:solidFill>
                <a:latin typeface="Aptos"/>
                <a:ea typeface="Aptos"/>
                <a:cs typeface="Aptos"/>
              </a:defRPr>
            </a:pPr>
            <a:r>
              <a:rPr sz="1088" b="1">
                <a:solidFill>
                  <a:srgbClr val="17324A"/>
                </a:solidFill>
                <a:latin typeface="Aptos"/>
                <a:ea typeface="Aptos"/>
                <a:cs typeface="Aptos"/>
              </a:rPr>
              <a:t>models/SensorProcessingRef.slx</a:t>
            </a:r>
          </a:p>
        </p:txBody>
      </p:sp>
    </p:spTree>
    <p:extLst>
      <p:ext uri="{BB962C8B-B14F-4D97-AF65-F5344CB8AC3E}">
        <p14:creationId xmlns:p14="http://schemas.microsoft.com/office/powerpoint/2010/main" val="1586749842"/>
      </p:ext>
    </p:extLst>
  </p:cSld>
</p:sld>
</file>

<file path=ppt/slides/slide18.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5" name="section-292">
            <a:extLst xmlns:a="http://schemas.openxmlformats.org/drawingml/2006/main">
              <a:ext uri="{FF2B5EF4-FFF2-40B4-BE49-F238E27FC236}">
                <a16:creationId xmlns:a16="http://schemas.microsoft.com/office/drawing/2014/main" id="{2928F19C-5723-4A32-A069-8FCBB7D7C44D}"/>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292">
            <a:extLst xmlns:a="http://schemas.openxmlformats.org/drawingml/2006/main">
              <a:ext uri="{FF2B5EF4-FFF2-40B4-BE49-F238E27FC236}">
                <a16:creationId xmlns:a16="http://schemas.microsoft.com/office/drawing/2014/main" id="{80BC9ED0-EB73-4A0D-AE71-F2F9B790EA87}"/>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PitchRateLimiter is a separately managed component</a:t>
            </a:r>
          </a:p>
        </p:txBody>
      </p:sp>
      <p:sp>
        <p:nvSpPr>
          <p:cNvPr id="3" name="line-293">
            <a:extLst xmlns:a="http://schemas.openxmlformats.org/drawingml/2006/main">
              <a:ext uri="{FF2B5EF4-FFF2-40B4-BE49-F238E27FC236}">
                <a16:creationId xmlns:a16="http://schemas.microsoft.com/office/drawing/2014/main" id="{23E18C08-9AAA-46AB-B63C-3FC6B60178E4}"/>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294">
            <a:extLst xmlns:a="http://schemas.openxmlformats.org/drawingml/2006/main">
              <a:ext uri="{FF2B5EF4-FFF2-40B4-BE49-F238E27FC236}">
                <a16:creationId xmlns:a16="http://schemas.microsoft.com/office/drawing/2014/main" id="{DD907EB5-1AA6-44E1-ADB7-5DB5623AFC4B}"/>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295">
            <a:extLst xmlns:a="http://schemas.openxmlformats.org/drawingml/2006/main">
              <a:ext uri="{FF2B5EF4-FFF2-40B4-BE49-F238E27FC236}">
                <a16:creationId xmlns:a16="http://schemas.microsoft.com/office/drawing/2014/main" id="{65E231B1-421F-4B3E-B0FF-5DDB8AD181D3}"/>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18</a:t>
            </a:r>
          </a:p>
        </p:txBody>
      </p:sp>
      <p:sp>
        <p:nvSpPr>
          <p:cNvPr id="26" name="s18-image-frame">
            <a:extLst xmlns:a="http://schemas.openxmlformats.org/drawingml/2006/main">
              <a:ext uri="{FF2B5EF4-FFF2-40B4-BE49-F238E27FC236}">
                <a16:creationId xmlns:a16="http://schemas.microsoft.com/office/drawing/2014/main" id="{2C287DBD-BD84-4AA4-AF4E-D9FDE24E9163}"/>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47e4eba786094a8a"/>
          <a:stretch xmlns:a="http://schemas.openxmlformats.org/drawingml/2006/main"/>
        </p:blipFill>
        <p:spPr>
          <a:xfrm xmlns:a="http://schemas.openxmlformats.org/drawingml/2006/main">
            <a:off x="2402397" y="1438275"/>
            <a:ext cx="7387207" cy="4457700"/>
          </a:xfrm>
          <a:prstGeom xmlns:a="http://schemas.openxmlformats.org/drawingml/2006/main" prst="rect">
            <a:avLst/>
          </a:prstGeom>
        </p:spPr>
      </p:pic>
      <p:sp>
        <p:nvSpPr>
          <p:cNvPr id="28" name="s18-role">
            <a:extLst xmlns:a="http://schemas.openxmlformats.org/drawingml/2006/main">
              <a:ext uri="{FF2B5EF4-FFF2-40B4-BE49-F238E27FC236}">
                <a16:creationId xmlns:a16="http://schemas.microsoft.com/office/drawing/2014/main" id="{D70CE83D-7904-4E70-B6DA-B69524689A59}"/>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defRPr sz="1013" b="1">
                <a:solidFill>
                  <a:srgbClr val="20B7C5"/>
                </a:solidFill>
                <a:latin typeface="Aptos"/>
                <a:ea typeface="Aptos"/>
                <a:cs typeface="Aptos"/>
              </a:defRPr>
            </a:pPr>
            <a:r>
              <a:rPr sz="1013" b="1">
                <a:solidFill>
                  <a:srgbClr val="20B7C5"/>
                </a:solidFill>
                <a:latin typeface="Aptos"/>
                <a:ea typeface="Aptos"/>
                <a:cs typeface="Aptos"/>
              </a:rPr>
              <a:t>REFERENCED CHILD / COMPONENT</a:t>
            </a:r>
          </a:p>
        </p:txBody>
      </p:sp>
      <p:sp>
        <p:nvSpPr>
          <p:cNvPr id="29" name="s18-caption">
            <a:extLst xmlns:a="http://schemas.openxmlformats.org/drawingml/2006/main">
              <a:ext uri="{FF2B5EF4-FFF2-40B4-BE49-F238E27FC236}">
                <a16:creationId xmlns:a16="http://schemas.microsoft.com/office/drawing/2014/main" id="{86A4A533-05B7-473F-B65C-CB16370DBDC2}"/>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defRPr sz="1088" b="1">
                <a:solidFill>
                  <a:srgbClr val="17324A"/>
                </a:solidFill>
                <a:latin typeface="Aptos"/>
                <a:ea typeface="Aptos"/>
                <a:cs typeface="Aptos"/>
              </a:defRPr>
            </a:pPr>
            <a:r>
              <a:rPr sz="1088" b="1">
                <a:solidFill>
                  <a:srgbClr val="17324A"/>
                </a:solidFill>
                <a:latin typeface="Aptos"/>
                <a:ea typeface="Aptos"/>
                <a:cs typeface="Aptos"/>
              </a:rPr>
              <a:t>models/PitchRateLimiter.slx • standalone component and referenced child</a:t>
            </a:r>
          </a:p>
        </p:txBody>
      </p:sp>
    </p:spTree>
    <p:extLst>
      <p:ext uri="{BB962C8B-B14F-4D97-AF65-F5344CB8AC3E}">
        <p14:creationId xmlns:p14="http://schemas.microsoft.com/office/powerpoint/2010/main" val="112507120"/>
      </p:ext>
    </p:extLst>
  </p:cSld>
</p:sld>
</file>

<file path=ppt/slides/slide19.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5" name="section-292">
            <a:extLst xmlns:a="http://schemas.openxmlformats.org/drawingml/2006/main">
              <a:ext uri="{FF2B5EF4-FFF2-40B4-BE49-F238E27FC236}">
                <a16:creationId xmlns:a16="http://schemas.microsoft.com/office/drawing/2014/main" id="{2928F19C-5723-4A32-A069-8FCBB7D7C44D}"/>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292">
            <a:extLst xmlns:a="http://schemas.openxmlformats.org/drawingml/2006/main">
              <a:ext uri="{FF2B5EF4-FFF2-40B4-BE49-F238E27FC236}">
                <a16:creationId xmlns:a16="http://schemas.microsoft.com/office/drawing/2014/main" id="{80BC9ED0-EB73-4A0D-AE71-F2F9B790EA87}"/>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850" b="1" i="0">
                <a:solidFill>
                  <a:srgbClr val="0B1F33"/>
                </a:solidFill>
                <a:latin typeface="Aptos"/>
                <a:ea typeface="Aptos"/>
                <a:cs typeface="Aptos"/>
              </a:defRPr>
            </a:pPr>
            <a:r>
              <a:rPr sz="2850" b="1" i="0">
                <a:solidFill>
                  <a:srgbClr val="0B1F33"/>
                </a:solidFill>
                <a:latin typeface="Aptos"/>
                <a:ea typeface="Aptos"/>
                <a:cs typeface="Aptos"/>
              </a:rPr>
              <a:t>Pitch Rate Limiter Logic clamps magnitude and controls fallback</a:t>
            </a:r>
          </a:p>
        </p:txBody>
      </p:sp>
      <p:sp>
        <p:nvSpPr>
          <p:cNvPr id="3" name="line-293">
            <a:extLst xmlns:a="http://schemas.openxmlformats.org/drawingml/2006/main">
              <a:ext uri="{FF2B5EF4-FFF2-40B4-BE49-F238E27FC236}">
                <a16:creationId xmlns:a16="http://schemas.microsoft.com/office/drawing/2014/main" id="{23E18C08-9AAA-46AB-B63C-3FC6B60178E4}"/>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294">
            <a:extLst xmlns:a="http://schemas.openxmlformats.org/drawingml/2006/main">
              <a:ext uri="{FF2B5EF4-FFF2-40B4-BE49-F238E27FC236}">
                <a16:creationId xmlns:a16="http://schemas.microsoft.com/office/drawing/2014/main" id="{DD907EB5-1AA6-44E1-ADB7-5DB5623AFC4B}"/>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295">
            <a:extLst xmlns:a="http://schemas.openxmlformats.org/drawingml/2006/main">
              <a:ext uri="{FF2B5EF4-FFF2-40B4-BE49-F238E27FC236}">
                <a16:creationId xmlns:a16="http://schemas.microsoft.com/office/drawing/2014/main" id="{65E231B1-421F-4B3E-B0FF-5DDB8AD181D3}"/>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19</a:t>
            </a:r>
          </a:p>
        </p:txBody>
      </p:sp>
      <p:sp>
        <p:nvSpPr>
          <p:cNvPr id="26" name="s19-image-frame">
            <a:extLst xmlns:a="http://schemas.openxmlformats.org/drawingml/2006/main">
              <a:ext uri="{FF2B5EF4-FFF2-40B4-BE49-F238E27FC236}">
                <a16:creationId xmlns:a16="http://schemas.microsoft.com/office/drawing/2014/main" id="{6DB39B56-2D4A-44C9-A6C0-9CFA90EAE646}"/>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a393f49d91de44c9"/>
          <a:stretch xmlns:a="http://schemas.openxmlformats.org/drawingml/2006/main"/>
        </p:blipFill>
        <p:spPr>
          <a:xfrm xmlns:a="http://schemas.openxmlformats.org/drawingml/2006/main">
            <a:off x="3238392" y="1438275"/>
            <a:ext cx="5715217" cy="4457700"/>
          </a:xfrm>
          <a:prstGeom xmlns:a="http://schemas.openxmlformats.org/drawingml/2006/main" prst="rect">
            <a:avLst/>
          </a:prstGeom>
        </p:spPr>
      </p:pic>
      <p:sp>
        <p:nvSpPr>
          <p:cNvPr id="28" name="s19-role">
            <a:extLst xmlns:a="http://schemas.openxmlformats.org/drawingml/2006/main">
              <a:ext uri="{FF2B5EF4-FFF2-40B4-BE49-F238E27FC236}">
                <a16:creationId xmlns:a16="http://schemas.microsoft.com/office/drawing/2014/main" id="{5C269675-CCFA-4CE1-B6B3-0711A16DFA73}"/>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defRPr sz="1013" b="1">
                <a:solidFill>
                  <a:srgbClr val="20B7C5"/>
                </a:solidFill>
                <a:latin typeface="Aptos"/>
                <a:ea typeface="Aptos"/>
                <a:cs typeface="Aptos"/>
              </a:defRPr>
            </a:pPr>
            <a:r>
              <a:rPr sz="1013" b="1">
                <a:solidFill>
                  <a:srgbClr val="20B7C5"/>
                </a:solidFill>
                <a:latin typeface="Aptos"/>
                <a:ea typeface="Aptos"/>
                <a:cs typeface="Aptos"/>
              </a:rPr>
              <a:t>INTERNAL SUBSYSTEM</a:t>
            </a:r>
          </a:p>
        </p:txBody>
      </p:sp>
      <p:sp>
        <p:nvSpPr>
          <p:cNvPr id="29" name="s19-caption">
            <a:extLst xmlns:a="http://schemas.openxmlformats.org/drawingml/2006/main">
              <a:ext uri="{FF2B5EF4-FFF2-40B4-BE49-F238E27FC236}">
                <a16:creationId xmlns:a16="http://schemas.microsoft.com/office/drawing/2014/main" id="{6A118B28-AE7E-4066-9D40-CFDB987C8898}"/>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defRPr sz="1088" b="1">
                <a:solidFill>
                  <a:srgbClr val="17324A"/>
                </a:solidFill>
                <a:latin typeface="Aptos"/>
                <a:ea typeface="Aptos"/>
                <a:cs typeface="Aptos"/>
              </a:defRPr>
            </a:pPr>
            <a:r>
              <a:rPr sz="1088" b="1">
                <a:solidFill>
                  <a:srgbClr val="17324A"/>
                </a:solidFill>
                <a:latin typeface="Aptos"/>
                <a:ea typeface="Aptos"/>
                <a:cs typeface="Aptos"/>
              </a:rPr>
              <a:t>PitchRateLimiter/Pitch Rate Limiter Logic</a:t>
            </a:r>
          </a:p>
        </p:txBody>
      </p:sp>
    </p:spTree>
    <p:extLst>
      <p:ext uri="{BB962C8B-B14F-4D97-AF65-F5344CB8AC3E}">
        <p14:creationId xmlns:p14="http://schemas.microsoft.com/office/powerpoint/2010/main" val="112507120"/>
      </p:ext>
    </p:extLst>
  </p:cSld>
</p:sld>
</file>

<file path=ppt/slides/slide20.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412">
            <a:extLst xmlns:a="http://schemas.openxmlformats.org/drawingml/2006/main">
              <a:ext uri="{FF2B5EF4-FFF2-40B4-BE49-F238E27FC236}">
                <a16:creationId xmlns:a16="http://schemas.microsoft.com/office/drawing/2014/main" id="{622948AF-D70D-4DFB-B819-027CBD4D974F}"/>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412">
            <a:extLst xmlns:a="http://schemas.openxmlformats.org/drawingml/2006/main">
              <a:ext uri="{FF2B5EF4-FFF2-40B4-BE49-F238E27FC236}">
                <a16:creationId xmlns:a16="http://schemas.microsoft.com/office/drawing/2014/main" id="{97301C4B-B240-4DDD-A0ED-4D7B6CF5E8A2}"/>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850" b="1" i="0">
                <a:solidFill>
                  <a:srgbClr val="0B1F33"/>
                </a:solidFill>
                <a:latin typeface="Aptos"/>
                <a:ea typeface="Aptos"/>
                <a:cs typeface="Aptos"/>
              </a:defRPr>
            </a:pPr>
            <a:r>
              <a:rPr sz="2850" b="1" i="0">
                <a:solidFill>
                  <a:srgbClr val="0B1F33"/>
                </a:solidFill>
                <a:latin typeface="Aptos"/>
                <a:ea typeface="Aptos"/>
                <a:cs typeface="Aptos"/>
              </a:rPr>
              <a:t>PitchControllerRef defines the referenced controller boundary</a:t>
            </a:r>
          </a:p>
        </p:txBody>
      </p:sp>
      <p:sp>
        <p:nvSpPr>
          <p:cNvPr id="3" name="line-413">
            <a:extLst xmlns:a="http://schemas.openxmlformats.org/drawingml/2006/main">
              <a:ext uri="{FF2B5EF4-FFF2-40B4-BE49-F238E27FC236}">
                <a16:creationId xmlns:a16="http://schemas.microsoft.com/office/drawing/2014/main" id="{ED69F032-C6AE-4587-84D8-6454983F9363}"/>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14">
            <a:extLst xmlns:a="http://schemas.openxmlformats.org/drawingml/2006/main">
              <a:ext uri="{FF2B5EF4-FFF2-40B4-BE49-F238E27FC236}">
                <a16:creationId xmlns:a16="http://schemas.microsoft.com/office/drawing/2014/main" id="{41653C2F-E40F-4DE2-BD48-71C5A193ED98}"/>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15">
            <a:extLst xmlns:a="http://schemas.openxmlformats.org/drawingml/2006/main">
              <a:ext uri="{FF2B5EF4-FFF2-40B4-BE49-F238E27FC236}">
                <a16:creationId xmlns:a16="http://schemas.microsoft.com/office/drawing/2014/main" id="{90770552-8853-4FE0-8723-3E7F838A2C3B}"/>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20</a:t>
            </a:r>
          </a:p>
        </p:txBody>
      </p:sp>
      <p:sp>
        <p:nvSpPr>
          <p:cNvPr id="20" name="s20-image-frame">
            <a:extLst xmlns:a="http://schemas.openxmlformats.org/drawingml/2006/main">
              <a:ext uri="{FF2B5EF4-FFF2-40B4-BE49-F238E27FC236}">
                <a16:creationId xmlns:a16="http://schemas.microsoft.com/office/drawing/2014/main" id="{610C1686-E68B-4A11-89CA-BB77DD5D41BA}"/>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45c55bbad1aa49dc"/>
          <a:stretch xmlns:a="http://schemas.openxmlformats.org/drawingml/2006/main"/>
        </p:blipFill>
        <p:spPr>
          <a:xfrm xmlns:a="http://schemas.openxmlformats.org/drawingml/2006/main">
            <a:off x="2104935" y="1438275"/>
            <a:ext cx="7982131" cy="4457700"/>
          </a:xfrm>
          <a:prstGeom xmlns:a="http://schemas.openxmlformats.org/drawingml/2006/main" prst="rect">
            <a:avLst/>
          </a:prstGeom>
        </p:spPr>
      </p:pic>
      <p:sp>
        <p:nvSpPr>
          <p:cNvPr id="22" name="s20-role">
            <a:extLst xmlns:a="http://schemas.openxmlformats.org/drawingml/2006/main">
              <a:ext uri="{FF2B5EF4-FFF2-40B4-BE49-F238E27FC236}">
                <a16:creationId xmlns:a16="http://schemas.microsoft.com/office/drawing/2014/main" id="{602EDCB5-E6DD-4D03-AFCB-F0ADB5320BEB}"/>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defRPr sz="1013" b="1">
                <a:solidFill>
                  <a:srgbClr val="20B7C5"/>
                </a:solidFill>
                <a:latin typeface="Aptos"/>
                <a:ea typeface="Aptos"/>
                <a:cs typeface="Aptos"/>
              </a:defRPr>
            </a:pPr>
            <a:r>
              <a:rPr sz="1013" b="1">
                <a:solidFill>
                  <a:srgbClr val="20B7C5"/>
                </a:solidFill>
                <a:latin typeface="Aptos"/>
                <a:ea typeface="Aptos"/>
                <a:cs typeface="Aptos"/>
              </a:rPr>
              <a:t>REFERENCED CHILD</a:t>
            </a:r>
          </a:p>
        </p:txBody>
      </p:sp>
      <p:sp>
        <p:nvSpPr>
          <p:cNvPr id="23" name="s20-caption">
            <a:extLst xmlns:a="http://schemas.openxmlformats.org/drawingml/2006/main">
              <a:ext uri="{FF2B5EF4-FFF2-40B4-BE49-F238E27FC236}">
                <a16:creationId xmlns:a16="http://schemas.microsoft.com/office/drawing/2014/main" id="{8F58D5BF-0D04-49D2-8773-92386E29AB4B}"/>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defRPr sz="1088" b="1">
                <a:solidFill>
                  <a:srgbClr val="17324A"/>
                </a:solidFill>
                <a:latin typeface="Aptos"/>
                <a:ea typeface="Aptos"/>
                <a:cs typeface="Aptos"/>
              </a:defRPr>
            </a:pPr>
            <a:r>
              <a:rPr sz="1088" b="1">
                <a:solidFill>
                  <a:srgbClr val="17324A"/>
                </a:solidFill>
                <a:latin typeface="Aptos"/>
                <a:ea typeface="Aptos"/>
                <a:cs typeface="Aptos"/>
              </a:rPr>
              <a:t>models/PitchControllerRef.slx</a:t>
            </a:r>
          </a:p>
        </p:txBody>
      </p:sp>
    </p:spTree>
    <p:extLst>
      <p:ext uri="{BB962C8B-B14F-4D97-AF65-F5344CB8AC3E}">
        <p14:creationId xmlns:p14="http://schemas.microsoft.com/office/powerpoint/2010/main" val="1586749842"/>
      </p:ext>
    </p:extLst>
  </p:cSld>
</p:sld>
</file>

<file path=ppt/slides/slide21.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5" name="section-115">
            <a:extLst xmlns:a="http://schemas.openxmlformats.org/drawingml/2006/main">
              <a:ext uri="{FF2B5EF4-FFF2-40B4-BE49-F238E27FC236}">
                <a16:creationId xmlns:a16="http://schemas.microsoft.com/office/drawing/2014/main" id="{79CD7667-EC9D-48FB-B3DB-2E75B70AC2E2}"/>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115">
            <a:extLst xmlns:a="http://schemas.openxmlformats.org/drawingml/2006/main">
              <a:ext uri="{FF2B5EF4-FFF2-40B4-BE49-F238E27FC236}">
                <a16:creationId xmlns:a16="http://schemas.microsoft.com/office/drawing/2014/main" id="{6804D11C-B7AE-49C1-93DC-795503570309}"/>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Pitch Rate PI implements the referenced control law</a:t>
            </a:r>
          </a:p>
        </p:txBody>
      </p:sp>
      <p:sp>
        <p:nvSpPr>
          <p:cNvPr id="3" name="line-116">
            <a:extLst xmlns:a="http://schemas.openxmlformats.org/drawingml/2006/main">
              <a:ext uri="{FF2B5EF4-FFF2-40B4-BE49-F238E27FC236}">
                <a16:creationId xmlns:a16="http://schemas.microsoft.com/office/drawing/2014/main" id="{7CC31265-3D48-4530-9795-E1885F3BEDFB}"/>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17">
            <a:extLst xmlns:a="http://schemas.openxmlformats.org/drawingml/2006/main">
              <a:ext uri="{FF2B5EF4-FFF2-40B4-BE49-F238E27FC236}">
                <a16:creationId xmlns:a16="http://schemas.microsoft.com/office/drawing/2014/main" id="{A69FA6FF-D740-4468-884D-767A1421E8C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18">
            <a:extLst xmlns:a="http://schemas.openxmlformats.org/drawingml/2006/main">
              <a:ext uri="{FF2B5EF4-FFF2-40B4-BE49-F238E27FC236}">
                <a16:creationId xmlns:a16="http://schemas.microsoft.com/office/drawing/2014/main" id="{5DD26572-533C-4030-89F3-6A58F58BE7B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21</a:t>
            </a:r>
          </a:p>
        </p:txBody>
      </p:sp>
      <p:sp>
        <p:nvSpPr>
          <p:cNvPr id="36" name="s21-image-frame">
            <a:extLst xmlns:a="http://schemas.openxmlformats.org/drawingml/2006/main">
              <a:ext uri="{FF2B5EF4-FFF2-40B4-BE49-F238E27FC236}">
                <a16:creationId xmlns:a16="http://schemas.microsoft.com/office/drawing/2014/main" id="{5894E343-B40F-46C7-B41A-4FA2DF934208}"/>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d4a6f387a3314a80"/>
          <a:stretch xmlns:a="http://schemas.openxmlformats.org/drawingml/2006/main"/>
        </p:blipFill>
        <p:spPr>
          <a:xfrm xmlns:a="http://schemas.openxmlformats.org/drawingml/2006/main">
            <a:off x="2103525" y="1438275"/>
            <a:ext cx="7984950" cy="4457700"/>
          </a:xfrm>
          <a:prstGeom xmlns:a="http://schemas.openxmlformats.org/drawingml/2006/main" prst="rect">
            <a:avLst/>
          </a:prstGeom>
        </p:spPr>
      </p:pic>
      <p:sp>
        <p:nvSpPr>
          <p:cNvPr id="38" name="s21-role">
            <a:extLst xmlns:a="http://schemas.openxmlformats.org/drawingml/2006/main">
              <a:ext uri="{FF2B5EF4-FFF2-40B4-BE49-F238E27FC236}">
                <a16:creationId xmlns:a16="http://schemas.microsoft.com/office/drawing/2014/main" id="{19CC6A5A-FEB1-49B3-9AAD-49E2D7049CD3}"/>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defRPr sz="1013" b="1">
                <a:solidFill>
                  <a:srgbClr val="20B7C5"/>
                </a:solidFill>
                <a:latin typeface="Aptos"/>
                <a:ea typeface="Aptos"/>
                <a:cs typeface="Aptos"/>
              </a:defRPr>
            </a:pPr>
            <a:r>
              <a:rPr sz="1013" b="1">
                <a:solidFill>
                  <a:srgbClr val="20B7C5"/>
                </a:solidFill>
                <a:latin typeface="Aptos"/>
                <a:ea typeface="Aptos"/>
                <a:cs typeface="Aptos"/>
              </a:rPr>
              <a:t>INTERNAL SUBSYSTEM</a:t>
            </a:r>
          </a:p>
        </p:txBody>
      </p:sp>
      <p:sp>
        <p:nvSpPr>
          <p:cNvPr id="39" name="s21-caption">
            <a:extLst xmlns:a="http://schemas.openxmlformats.org/drawingml/2006/main">
              <a:ext uri="{FF2B5EF4-FFF2-40B4-BE49-F238E27FC236}">
                <a16:creationId xmlns:a16="http://schemas.microsoft.com/office/drawing/2014/main" id="{657F2B42-DDF8-4E14-85EE-F2ECCACE0BF1}"/>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defRPr sz="1088" b="1">
                <a:solidFill>
                  <a:srgbClr val="17324A"/>
                </a:solidFill>
                <a:latin typeface="Aptos"/>
                <a:ea typeface="Aptos"/>
                <a:cs typeface="Aptos"/>
              </a:defRPr>
            </a:pPr>
            <a:r>
              <a:rPr sz="1088" b="1">
                <a:solidFill>
                  <a:srgbClr val="17324A"/>
                </a:solidFill>
                <a:latin typeface="Aptos"/>
                <a:ea typeface="Aptos"/>
                <a:cs typeface="Aptos"/>
              </a:rPr>
              <a:t>PitchControllerRef/Pitch Rate PI</a:t>
            </a:r>
          </a:p>
        </p:txBody>
      </p:sp>
    </p:spTree>
    <p:extLst>
      <p:ext uri="{BB962C8B-B14F-4D97-AF65-F5344CB8AC3E}">
        <p14:creationId xmlns:p14="http://schemas.microsoft.com/office/powerpoint/2010/main" val="1578336787"/>
      </p:ext>
    </p:extLst>
  </p:cSld>
</p:sld>
</file>

<file path=ppt/slides/slide22.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412">
            <a:extLst xmlns:a="http://schemas.openxmlformats.org/drawingml/2006/main">
              <a:ext uri="{FF2B5EF4-FFF2-40B4-BE49-F238E27FC236}">
                <a16:creationId xmlns:a16="http://schemas.microsoft.com/office/drawing/2014/main" id="{622948AF-D70D-4DFB-B819-027CBD4D974F}"/>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412">
            <a:extLst xmlns:a="http://schemas.openxmlformats.org/drawingml/2006/main">
              <a:ext uri="{FF2B5EF4-FFF2-40B4-BE49-F238E27FC236}">
                <a16:creationId xmlns:a16="http://schemas.microsoft.com/office/drawing/2014/main" id="{97301C4B-B240-4DDD-A0ED-4D7B6CF5E8A2}"/>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ActuatorCommandRef owns command limiting and status</a:t>
            </a:r>
          </a:p>
        </p:txBody>
      </p:sp>
      <p:sp>
        <p:nvSpPr>
          <p:cNvPr id="3" name="line-413">
            <a:extLst xmlns:a="http://schemas.openxmlformats.org/drawingml/2006/main">
              <a:ext uri="{FF2B5EF4-FFF2-40B4-BE49-F238E27FC236}">
                <a16:creationId xmlns:a16="http://schemas.microsoft.com/office/drawing/2014/main" id="{ED69F032-C6AE-4587-84D8-6454983F9363}"/>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14">
            <a:extLst xmlns:a="http://schemas.openxmlformats.org/drawingml/2006/main">
              <a:ext uri="{FF2B5EF4-FFF2-40B4-BE49-F238E27FC236}">
                <a16:creationId xmlns:a16="http://schemas.microsoft.com/office/drawing/2014/main" id="{41653C2F-E40F-4DE2-BD48-71C5A193ED98}"/>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15">
            <a:extLst xmlns:a="http://schemas.openxmlformats.org/drawingml/2006/main">
              <a:ext uri="{FF2B5EF4-FFF2-40B4-BE49-F238E27FC236}">
                <a16:creationId xmlns:a16="http://schemas.microsoft.com/office/drawing/2014/main" id="{90770552-8853-4FE0-8723-3E7F838A2C3B}"/>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22</a:t>
            </a:r>
          </a:p>
        </p:txBody>
      </p:sp>
      <p:sp>
        <p:nvSpPr>
          <p:cNvPr id="20" name="s22-image-frame">
            <a:extLst xmlns:a="http://schemas.openxmlformats.org/drawingml/2006/main">
              <a:ext uri="{FF2B5EF4-FFF2-40B4-BE49-F238E27FC236}">
                <a16:creationId xmlns:a16="http://schemas.microsoft.com/office/drawing/2014/main" id="{3363F7CA-2EC3-4104-A2C5-67A1E088CCDC}"/>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d2d94cdf7829476b"/>
          <a:stretch xmlns:a="http://schemas.openxmlformats.org/drawingml/2006/main"/>
        </p:blipFill>
        <p:spPr>
          <a:xfrm xmlns:a="http://schemas.openxmlformats.org/drawingml/2006/main">
            <a:off x="2247322" y="1438275"/>
            <a:ext cx="7697357" cy="4457700"/>
          </a:xfrm>
          <a:prstGeom xmlns:a="http://schemas.openxmlformats.org/drawingml/2006/main" prst="rect">
            <a:avLst/>
          </a:prstGeom>
        </p:spPr>
      </p:pic>
      <p:sp>
        <p:nvSpPr>
          <p:cNvPr id="22" name="s22-role">
            <a:extLst xmlns:a="http://schemas.openxmlformats.org/drawingml/2006/main">
              <a:ext uri="{FF2B5EF4-FFF2-40B4-BE49-F238E27FC236}">
                <a16:creationId xmlns:a16="http://schemas.microsoft.com/office/drawing/2014/main" id="{EFA30B06-F2D0-4A95-B9F8-432C09DB6E08}"/>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defRPr sz="1013" b="1">
                <a:solidFill>
                  <a:srgbClr val="20B7C5"/>
                </a:solidFill>
                <a:latin typeface="Aptos"/>
                <a:ea typeface="Aptos"/>
                <a:cs typeface="Aptos"/>
              </a:defRPr>
            </a:pPr>
            <a:r>
              <a:rPr sz="1013" b="1">
                <a:solidFill>
                  <a:srgbClr val="20B7C5"/>
                </a:solidFill>
                <a:latin typeface="Aptos"/>
                <a:ea typeface="Aptos"/>
                <a:cs typeface="Aptos"/>
              </a:rPr>
              <a:t>REFERENCED CHILD</a:t>
            </a:r>
          </a:p>
        </p:txBody>
      </p:sp>
      <p:sp>
        <p:nvSpPr>
          <p:cNvPr id="23" name="s22-caption">
            <a:extLst xmlns:a="http://schemas.openxmlformats.org/drawingml/2006/main">
              <a:ext uri="{FF2B5EF4-FFF2-40B4-BE49-F238E27FC236}">
                <a16:creationId xmlns:a16="http://schemas.microsoft.com/office/drawing/2014/main" id="{153586AB-D411-43F2-976C-40FC6BE62A6C}"/>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defRPr sz="1088" b="1">
                <a:solidFill>
                  <a:srgbClr val="17324A"/>
                </a:solidFill>
                <a:latin typeface="Aptos"/>
                <a:ea typeface="Aptos"/>
                <a:cs typeface="Aptos"/>
              </a:defRPr>
            </a:pPr>
            <a:r>
              <a:rPr sz="1088" b="1">
                <a:solidFill>
                  <a:srgbClr val="17324A"/>
                </a:solidFill>
                <a:latin typeface="Aptos"/>
                <a:ea typeface="Aptos"/>
                <a:cs typeface="Aptos"/>
              </a:rPr>
              <a:t>models/ActuatorCommandRef.slx</a:t>
            </a:r>
          </a:p>
        </p:txBody>
      </p:sp>
    </p:spTree>
    <p:extLst>
      <p:ext uri="{BB962C8B-B14F-4D97-AF65-F5344CB8AC3E}">
        <p14:creationId xmlns:p14="http://schemas.microsoft.com/office/powerpoint/2010/main" val="1586749842"/>
      </p:ext>
    </p:extLst>
  </p:cSld>
</p:sld>
</file>

<file path=ppt/slides/slide23.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343">
            <a:extLst xmlns:a="http://schemas.openxmlformats.org/drawingml/2006/main">
              <a:ext uri="{FF2B5EF4-FFF2-40B4-BE49-F238E27FC236}">
                <a16:creationId xmlns:a16="http://schemas.microsoft.com/office/drawing/2014/main" id="{709CEFA9-4EB3-495D-BF39-97DD8FD590DF}"/>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343">
            <a:extLst xmlns:a="http://schemas.openxmlformats.org/drawingml/2006/main">
              <a:ext uri="{FF2B5EF4-FFF2-40B4-BE49-F238E27FC236}">
                <a16:creationId xmlns:a16="http://schemas.microsoft.com/office/drawing/2014/main" id="{7E963F83-5694-4484-AA13-205C1B2A2C47}"/>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PitchRateLimiter_Harness isolates the unit under test</a:t>
            </a:r>
          </a:p>
        </p:txBody>
      </p:sp>
      <p:sp>
        <p:nvSpPr>
          <p:cNvPr id="3" name="line-344">
            <a:extLst xmlns:a="http://schemas.openxmlformats.org/drawingml/2006/main">
              <a:ext uri="{FF2B5EF4-FFF2-40B4-BE49-F238E27FC236}">
                <a16:creationId xmlns:a16="http://schemas.microsoft.com/office/drawing/2014/main" id="{D6EE374C-848E-4A69-AAF2-BFA39C72CD28}"/>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345">
            <a:extLst xmlns:a="http://schemas.openxmlformats.org/drawingml/2006/main">
              <a:ext uri="{FF2B5EF4-FFF2-40B4-BE49-F238E27FC236}">
                <a16:creationId xmlns:a16="http://schemas.microsoft.com/office/drawing/2014/main" id="{42DF1B99-B975-4230-93F7-303AE39B6C9C}"/>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346">
            <a:extLst xmlns:a="http://schemas.openxmlformats.org/drawingml/2006/main">
              <a:ext uri="{FF2B5EF4-FFF2-40B4-BE49-F238E27FC236}">
                <a16:creationId xmlns:a16="http://schemas.microsoft.com/office/drawing/2014/main" id="{E81D7452-0177-42B9-8363-C805E4A2C22F}"/>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23</a:t>
            </a:r>
          </a:p>
        </p:txBody>
      </p:sp>
      <p:sp>
        <p:nvSpPr>
          <p:cNvPr id="20" name="s23-image-frame">
            <a:extLst xmlns:a="http://schemas.openxmlformats.org/drawingml/2006/main">
              <a:ext uri="{FF2B5EF4-FFF2-40B4-BE49-F238E27FC236}">
                <a16:creationId xmlns:a16="http://schemas.microsoft.com/office/drawing/2014/main" id="{94942EF4-6215-430A-842B-86B06BF1FAAE}"/>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8ce4463dd76847d9"/>
          <a:stretch xmlns:a="http://schemas.openxmlformats.org/drawingml/2006/main"/>
        </p:blipFill>
        <p:spPr>
          <a:xfrm xmlns:a="http://schemas.openxmlformats.org/drawingml/2006/main">
            <a:off x="2292434" y="1438275"/>
            <a:ext cx="7607131" cy="4457700"/>
          </a:xfrm>
          <a:prstGeom xmlns:a="http://schemas.openxmlformats.org/drawingml/2006/main" prst="rect">
            <a:avLst/>
          </a:prstGeom>
        </p:spPr>
      </p:pic>
      <p:sp>
        <p:nvSpPr>
          <p:cNvPr id="22" name="s23-role">
            <a:extLst xmlns:a="http://schemas.openxmlformats.org/drawingml/2006/main">
              <a:ext uri="{FF2B5EF4-FFF2-40B4-BE49-F238E27FC236}">
                <a16:creationId xmlns:a16="http://schemas.microsoft.com/office/drawing/2014/main" id="{8E57BF9F-62F2-404C-B08E-18AEAC478C79}"/>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defRPr sz="1013" b="1">
                <a:solidFill>
                  <a:srgbClr val="20B7C5"/>
                </a:solidFill>
                <a:latin typeface="Aptos"/>
                <a:ea typeface="Aptos"/>
                <a:cs typeface="Aptos"/>
              </a:defRPr>
            </a:pPr>
            <a:r>
              <a:rPr sz="1013" b="1">
                <a:solidFill>
                  <a:srgbClr val="20B7C5"/>
                </a:solidFill>
                <a:latin typeface="Aptos"/>
                <a:ea typeface="Aptos"/>
                <a:cs typeface="Aptos"/>
              </a:rPr>
              <a:t>INDEPENDENT TEST HARNESS</a:t>
            </a:r>
          </a:p>
        </p:txBody>
      </p:sp>
      <p:sp>
        <p:nvSpPr>
          <p:cNvPr id="23" name="s23-caption">
            <a:extLst xmlns:a="http://schemas.openxmlformats.org/drawingml/2006/main">
              <a:ext uri="{FF2B5EF4-FFF2-40B4-BE49-F238E27FC236}">
                <a16:creationId xmlns:a16="http://schemas.microsoft.com/office/drawing/2014/main" id="{726190F5-3283-42E6-9B20-FD0164EDA2E4}"/>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defRPr sz="1088" b="1">
                <a:solidFill>
                  <a:srgbClr val="17324A"/>
                </a:solidFill>
                <a:latin typeface="Aptos"/>
                <a:ea typeface="Aptos"/>
                <a:cs typeface="Aptos"/>
              </a:defRPr>
            </a:pPr>
            <a:r>
              <a:rPr sz="1088" b="1">
                <a:solidFill>
                  <a:srgbClr val="17324A"/>
                </a:solidFill>
                <a:latin typeface="Aptos"/>
                <a:ea typeface="Aptos"/>
                <a:cs typeface="Aptos"/>
              </a:rPr>
              <a:t>models/PitchRateLimiter_Harness.slx • references PitchRateLimiter</a:t>
            </a:r>
          </a:p>
        </p:txBody>
      </p:sp>
    </p:spTree>
    <p:extLst>
      <p:ext uri="{BB962C8B-B14F-4D97-AF65-F5344CB8AC3E}">
        <p14:creationId xmlns:p14="http://schemas.microsoft.com/office/powerpoint/2010/main" val="1234053405"/>
      </p:ext>
    </p:extLst>
  </p:cSld>
</p:sld>
</file>

<file path=ppt/slides/slide24.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4" name="section-143">
            <a:extLst xmlns:a="http://schemas.openxmlformats.org/drawingml/2006/main">
              <a:ext uri="{FF2B5EF4-FFF2-40B4-BE49-F238E27FC236}">
                <a16:creationId xmlns:a16="http://schemas.microsoft.com/office/drawing/2014/main" id="{7BE83F8B-0DC6-429F-8B3A-E850B7F9EDEA}"/>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03 • SIMULATION DATA INSPECTOR</a:t>
            </a:r>
          </a:p>
        </p:txBody>
      </p:sp>
      <p:sp>
        <p:nvSpPr>
          <p:cNvPr id="2" name="title-143">
            <a:extLst xmlns:a="http://schemas.openxmlformats.org/drawingml/2006/main">
              <a:ext uri="{FF2B5EF4-FFF2-40B4-BE49-F238E27FC236}">
                <a16:creationId xmlns:a16="http://schemas.microsoft.com/office/drawing/2014/main" id="{9C7BF5C4-98EB-4119-9793-269D2973C673}"/>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Data Inspector reveals one saved run</a:t>
            </a:r>
          </a:p>
        </p:txBody>
      </p:sp>
      <p:sp>
        <p:nvSpPr>
          <p:cNvPr id="3" name="line-144">
            <a:extLst xmlns:a="http://schemas.openxmlformats.org/drawingml/2006/main">
              <a:ext uri="{FF2B5EF4-FFF2-40B4-BE49-F238E27FC236}">
                <a16:creationId xmlns:a16="http://schemas.microsoft.com/office/drawing/2014/main" id="{E85314F3-222B-46AC-BD9B-14524AA068C6}"/>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45">
            <a:extLst xmlns:a="http://schemas.openxmlformats.org/drawingml/2006/main">
              <a:ext uri="{FF2B5EF4-FFF2-40B4-BE49-F238E27FC236}">
                <a16:creationId xmlns:a16="http://schemas.microsoft.com/office/drawing/2014/main" id="{B35205C4-F22C-413D-BD2A-331A62ADBF93}"/>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46">
            <a:extLst xmlns:a="http://schemas.openxmlformats.org/drawingml/2006/main">
              <a:ext uri="{FF2B5EF4-FFF2-40B4-BE49-F238E27FC236}">
                <a16:creationId xmlns:a16="http://schemas.microsoft.com/office/drawing/2014/main" id="{1A30CCFC-FEA5-4661-86D4-0524E33891C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24</a:t>
            </a:r>
          </a:p>
        </p:txBody>
      </p:sp>
      <p:sp>
        <p:nvSpPr>
          <p:cNvPr id="35" name="s24-image-frame">
            <a:extLst xmlns:a="http://schemas.openxmlformats.org/drawingml/2006/main">
              <a:ext uri="{FF2B5EF4-FFF2-40B4-BE49-F238E27FC236}">
                <a16:creationId xmlns:a16="http://schemas.microsoft.com/office/drawing/2014/main" id="{9C6E250C-2E90-48B6-8A9F-B7E3EABBB44A}"/>
              </a:ext>
            </a:extLst>
          </p:cNvPr>
          <p:cNvSpPr>
            <a:spLocks xmlns:a="http://schemas.openxmlformats.org/drawingml/2006/main" noGrp="1"/>
          </p:cNvSpPr>
          <p:nvPr/>
        </p:nvSpPr>
        <p:spPr>
          <a:xfrm xmlns:a="http://schemas.openxmlformats.org/drawingml/2006/main">
            <a:off x="609600" y="1381125"/>
            <a:ext cx="8572500" cy="4629150"/>
          </a:xfrm>
          <a:prstGeom xmlns:a="http://schemas.openxmlformats.org/drawingml/2006/main" prst="roundRect">
            <a:avLst>
              <a:gd name="adj" fmla="val 2469"/>
            </a:avLst>
          </a:prstGeom>
          <a:solidFill xmlns:a="http://schemas.openxmlformats.org/drawingml/2006/main">
            <a:srgbClr val="FFFFFF"/>
          </a:solidFill>
          <a:ln xmlns:a="http://schemas.openxmlformats.org/drawingml/2006/main" w="11430">
            <a:solidFill>
              <a:srgbClr val="C9D8E3"/>
            </a:solidFill>
            <a:prstDash val="solid"/>
          </a:ln>
        </p:spPr>
      </p:sp>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c94c172c936a461b"/>
          <a:stretch xmlns:a="http://schemas.openxmlformats.org/drawingml/2006/main"/>
        </p:blipFill>
        <p:spPr>
          <a:xfrm xmlns:a="http://schemas.openxmlformats.org/drawingml/2006/main">
            <a:off x="731431" y="1457325"/>
            <a:ext cx="8328837" cy="4476750"/>
          </a:xfrm>
          <a:prstGeom xmlns:a="http://schemas.openxmlformats.org/drawingml/2006/main" prst="rect">
            <a:avLst/>
          </a:prstGeom>
        </p:spPr>
      </p:pic>
      <p:sp>
        <p:nvSpPr>
          <p:cNvPr id="37" name="s24-card-0">
            <a:extLst xmlns:a="http://schemas.openxmlformats.org/drawingml/2006/main">
              <a:ext uri="{FF2B5EF4-FFF2-40B4-BE49-F238E27FC236}">
                <a16:creationId xmlns:a16="http://schemas.microsoft.com/office/drawing/2014/main" id="{140640F1-93F1-4E21-84C7-70AFDA518C0F}"/>
              </a:ext>
            </a:extLst>
          </p:cNvPr>
          <p:cNvSpPr>
            <a:spLocks xmlns:a="http://schemas.openxmlformats.org/drawingml/2006/main" noGrp="1"/>
          </p:cNvSpPr>
          <p:nvPr/>
        </p:nvSpPr>
        <p:spPr>
          <a:xfrm xmlns:a="http://schemas.openxmlformats.org/drawingml/2006/main">
            <a:off x="9391650" y="1438275"/>
            <a:ext cx="2114550" cy="933450"/>
          </a:xfrm>
          <a:prstGeom xmlns:a="http://schemas.openxmlformats.org/drawingml/2006/main" prst="roundRect">
            <a:avLst>
              <a:gd name="adj" fmla="val 12245"/>
            </a:avLst>
          </a:prstGeom>
          <a:solidFill xmlns:a="http://schemas.openxmlformats.org/drawingml/2006/main">
            <a:srgbClr val="DFF6F8"/>
          </a:solidFill>
          <a:ln xmlns:a="http://schemas.openxmlformats.org/drawingml/2006/main" w="14288">
            <a:solidFill>
              <a:srgbClr val="20B7C5"/>
            </a:solidFill>
            <a:prstDash val="solid"/>
          </a:ln>
        </p:spPr>
      </p:sp>
      <p:sp>
        <p:nvSpPr>
          <p:cNvPr id="38" name="s24-card-title-0">
            <a:extLst xmlns:a="http://schemas.openxmlformats.org/drawingml/2006/main">
              <a:ext uri="{FF2B5EF4-FFF2-40B4-BE49-F238E27FC236}">
                <a16:creationId xmlns:a16="http://schemas.microsoft.com/office/drawing/2014/main" id="{5395C24F-C743-461D-B1EA-01A256E625C2}"/>
              </a:ext>
            </a:extLst>
          </p:cNvPr>
          <p:cNvSpPr>
            <a:spLocks xmlns:a="http://schemas.openxmlformats.org/drawingml/2006/main" noGrp="1"/>
          </p:cNvSpPr>
          <p:nvPr/>
        </p:nvSpPr>
        <p:spPr>
          <a:xfrm xmlns:a="http://schemas.openxmlformats.org/drawingml/2006/main">
            <a:off x="9525000" y="1524000"/>
            <a:ext cx="1847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065" b="1">
                <a:solidFill>
                  <a:srgbClr val="20B7C5"/>
                </a:solidFill>
                <a:latin typeface="Aptos"/>
                <a:ea typeface="Aptos"/>
                <a:cs typeface="Aptos"/>
              </a:defRPr>
            </a:pPr>
            <a:r>
              <a:rPr sz="1065" b="1">
                <a:solidFill>
                  <a:srgbClr val="20B7C5"/>
                </a:solidFill>
                <a:latin typeface="Aptos"/>
                <a:ea typeface="Aptos"/>
                <a:cs typeface="Aptos"/>
              </a:rPr>
              <a:t>ONE RUN</a:t>
            </a:r>
          </a:p>
        </p:txBody>
      </p:sp>
      <p:sp>
        <p:nvSpPr>
          <p:cNvPr id="39" name="s24-card-body-0">
            <a:extLst xmlns:a="http://schemas.openxmlformats.org/drawingml/2006/main">
              <a:ext uri="{FF2B5EF4-FFF2-40B4-BE49-F238E27FC236}">
                <a16:creationId xmlns:a16="http://schemas.microsoft.com/office/drawing/2014/main" id="{5B0EB02F-2A45-4BED-BF25-F02BECF5CA4C}"/>
              </a:ext>
            </a:extLst>
          </p:cNvPr>
          <p:cNvSpPr>
            <a:spLocks xmlns:a="http://schemas.openxmlformats.org/drawingml/2006/main" noGrp="1"/>
          </p:cNvSpPr>
          <p:nvPr/>
        </p:nvSpPr>
        <p:spPr>
          <a:xfrm xmlns:a="http://schemas.openxmlformats.org/drawingml/2006/main">
            <a:off x="9525000" y="1771650"/>
            <a:ext cx="1847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defRPr sz="990" b="1">
                <a:solidFill>
                  <a:srgbClr val="17324A"/>
                </a:solidFill>
                <a:latin typeface="Aptos"/>
                <a:ea typeface="Aptos"/>
                <a:cs typeface="Aptos"/>
              </a:defRPr>
            </a:pPr>
            <a:r>
              <a:rPr sz="990" b="1">
                <a:solidFill>
                  <a:srgbClr val="17324A"/>
                </a:solidFill>
                <a:latin typeface="Aptos"/>
                <a:ea typeface="Aptos"/>
                <a:cs typeface="Aptos"/>
              </a:rPr>
              <a:t>AircraftFeedbackControlLoop — onboarding reference</a:t>
            </a:r>
          </a:p>
        </p:txBody>
      </p:sp>
      <p:sp>
        <p:nvSpPr>
          <p:cNvPr id="40" name="s24-card-1">
            <a:extLst xmlns:a="http://schemas.openxmlformats.org/drawingml/2006/main">
              <a:ext uri="{FF2B5EF4-FFF2-40B4-BE49-F238E27FC236}">
                <a16:creationId xmlns:a16="http://schemas.microsoft.com/office/drawing/2014/main" id="{7F24A3C1-D346-471F-AD75-FA41CF3B67FA}"/>
              </a:ext>
            </a:extLst>
          </p:cNvPr>
          <p:cNvSpPr>
            <a:spLocks xmlns:a="http://schemas.openxmlformats.org/drawingml/2006/main" noGrp="1"/>
          </p:cNvSpPr>
          <p:nvPr/>
        </p:nvSpPr>
        <p:spPr>
          <a:xfrm xmlns:a="http://schemas.openxmlformats.org/drawingml/2006/main">
            <a:off x="9391650" y="2533650"/>
            <a:ext cx="2114550" cy="933450"/>
          </a:xfrm>
          <a:prstGeom xmlns:a="http://schemas.openxmlformats.org/drawingml/2006/main" prst="roundRect">
            <a:avLst>
              <a:gd name="adj" fmla="val 12245"/>
            </a:avLst>
          </a:prstGeom>
          <a:solidFill xmlns:a="http://schemas.openxmlformats.org/drawingml/2006/main">
            <a:srgbClr val="DFF6F8"/>
          </a:solidFill>
          <a:ln xmlns:a="http://schemas.openxmlformats.org/drawingml/2006/main" w="14288">
            <a:solidFill>
              <a:srgbClr val="20B7C5"/>
            </a:solidFill>
            <a:prstDash val="solid"/>
          </a:ln>
        </p:spPr>
      </p:sp>
      <p:sp>
        <p:nvSpPr>
          <p:cNvPr id="41" name="s24-card-title-1">
            <a:extLst xmlns:a="http://schemas.openxmlformats.org/drawingml/2006/main">
              <a:ext uri="{FF2B5EF4-FFF2-40B4-BE49-F238E27FC236}">
                <a16:creationId xmlns:a16="http://schemas.microsoft.com/office/drawing/2014/main" id="{4C2D4B3F-19D7-458B-B79B-5AFE40A617AB}"/>
              </a:ext>
            </a:extLst>
          </p:cNvPr>
          <p:cNvSpPr>
            <a:spLocks xmlns:a="http://schemas.openxmlformats.org/drawingml/2006/main" noGrp="1"/>
          </p:cNvSpPr>
          <p:nvPr/>
        </p:nvSpPr>
        <p:spPr>
          <a:xfrm xmlns:a="http://schemas.openxmlformats.org/drawingml/2006/main">
            <a:off x="9525000" y="2619375"/>
            <a:ext cx="1847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065" b="1">
                <a:solidFill>
                  <a:srgbClr val="20B7C5"/>
                </a:solidFill>
                <a:latin typeface="Aptos"/>
                <a:ea typeface="Aptos"/>
                <a:cs typeface="Aptos"/>
              </a:defRPr>
            </a:pPr>
            <a:r>
              <a:rPr sz="1065" b="1">
                <a:solidFill>
                  <a:srgbClr val="20B7C5"/>
                </a:solidFill>
                <a:latin typeface="Aptos"/>
                <a:ea typeface="Aptos"/>
                <a:cs typeface="Aptos"/>
              </a:rPr>
              <a:t>FIVE SIGNALS</a:t>
            </a:r>
          </a:p>
        </p:txBody>
      </p:sp>
      <p:sp>
        <p:nvSpPr>
          <p:cNvPr id="42" name="s24-card-body-1">
            <a:extLst xmlns:a="http://schemas.openxmlformats.org/drawingml/2006/main">
              <a:ext uri="{FF2B5EF4-FFF2-40B4-BE49-F238E27FC236}">
                <a16:creationId xmlns:a16="http://schemas.microsoft.com/office/drawing/2014/main" id="{787B5260-6B3E-44FE-85F7-3E4CC0250664}"/>
              </a:ext>
            </a:extLst>
          </p:cNvPr>
          <p:cNvSpPr>
            <a:spLocks xmlns:a="http://schemas.openxmlformats.org/drawingml/2006/main" noGrp="1"/>
          </p:cNvSpPr>
          <p:nvPr/>
        </p:nvSpPr>
        <p:spPr>
          <a:xfrm xmlns:a="http://schemas.openxmlformats.org/drawingml/2006/main">
            <a:off x="9525000" y="2867025"/>
            <a:ext cx="1847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defRPr sz="990" b="1">
                <a:solidFill>
                  <a:srgbClr val="17324A"/>
                </a:solidFill>
                <a:latin typeface="Aptos"/>
                <a:ea typeface="Aptos"/>
                <a:cs typeface="Aptos"/>
              </a:defRPr>
            </a:pPr>
            <a:r>
              <a:rPr sz="990" b="1">
                <a:solidFill>
                  <a:srgbClr val="17324A"/>
                </a:solidFill>
                <a:latin typeface="Aptos"/>
                <a:ea typeface="Aptos"/>
                <a:cs typeface="Aptos"/>
              </a:rPr>
              <a:t>command • response • error • actuator • disturbance</a:t>
            </a:r>
          </a:p>
        </p:txBody>
      </p:sp>
      <p:sp>
        <p:nvSpPr>
          <p:cNvPr id="43" name="s24-card-2">
            <a:extLst xmlns:a="http://schemas.openxmlformats.org/drawingml/2006/main">
              <a:ext uri="{FF2B5EF4-FFF2-40B4-BE49-F238E27FC236}">
                <a16:creationId xmlns:a16="http://schemas.microsoft.com/office/drawing/2014/main" id="{F115FBD4-E640-4923-8E58-4008CD2CDFB0}"/>
              </a:ext>
            </a:extLst>
          </p:cNvPr>
          <p:cNvSpPr>
            <a:spLocks xmlns:a="http://schemas.openxmlformats.org/drawingml/2006/main" noGrp="1"/>
          </p:cNvSpPr>
          <p:nvPr/>
        </p:nvSpPr>
        <p:spPr>
          <a:xfrm xmlns:a="http://schemas.openxmlformats.org/drawingml/2006/main">
            <a:off x="9391650" y="3629025"/>
            <a:ext cx="2114550" cy="933450"/>
          </a:xfrm>
          <a:prstGeom xmlns:a="http://schemas.openxmlformats.org/drawingml/2006/main" prst="roundRect">
            <a:avLst>
              <a:gd name="adj" fmla="val 12245"/>
            </a:avLst>
          </a:prstGeom>
          <a:solidFill xmlns:a="http://schemas.openxmlformats.org/drawingml/2006/main">
            <a:srgbClr val="DFF6F8"/>
          </a:solidFill>
          <a:ln xmlns:a="http://schemas.openxmlformats.org/drawingml/2006/main" w="14288">
            <a:solidFill>
              <a:srgbClr val="20B7C5"/>
            </a:solidFill>
            <a:prstDash val="solid"/>
          </a:ln>
        </p:spPr>
      </p:sp>
      <p:sp>
        <p:nvSpPr>
          <p:cNvPr id="44" name="s24-card-title-2">
            <a:extLst xmlns:a="http://schemas.openxmlformats.org/drawingml/2006/main">
              <a:ext uri="{FF2B5EF4-FFF2-40B4-BE49-F238E27FC236}">
                <a16:creationId xmlns:a16="http://schemas.microsoft.com/office/drawing/2014/main" id="{5654B77E-C710-4900-9FCA-962E3235B78B}"/>
              </a:ext>
            </a:extLst>
          </p:cNvPr>
          <p:cNvSpPr>
            <a:spLocks xmlns:a="http://schemas.openxmlformats.org/drawingml/2006/main" noGrp="1"/>
          </p:cNvSpPr>
          <p:nvPr/>
        </p:nvSpPr>
        <p:spPr>
          <a:xfrm xmlns:a="http://schemas.openxmlformats.org/drawingml/2006/main">
            <a:off x="9525000" y="3714750"/>
            <a:ext cx="1847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065" b="1">
                <a:solidFill>
                  <a:srgbClr val="20B7C5"/>
                </a:solidFill>
                <a:latin typeface="Aptos"/>
                <a:ea typeface="Aptos"/>
                <a:cs typeface="Aptos"/>
              </a:defRPr>
            </a:pPr>
            <a:r>
              <a:rPr sz="1065" b="1">
                <a:solidFill>
                  <a:srgbClr val="20B7C5"/>
                </a:solidFill>
                <a:latin typeface="Aptos"/>
                <a:ea typeface="Aptos"/>
                <a:cs typeface="Aptos"/>
              </a:rPr>
              <a:t>THREE PLOTS</a:t>
            </a:r>
          </a:p>
        </p:txBody>
      </p:sp>
      <p:sp>
        <p:nvSpPr>
          <p:cNvPr id="45" name="s24-card-body-2">
            <a:extLst xmlns:a="http://schemas.openxmlformats.org/drawingml/2006/main">
              <a:ext uri="{FF2B5EF4-FFF2-40B4-BE49-F238E27FC236}">
                <a16:creationId xmlns:a16="http://schemas.microsoft.com/office/drawing/2014/main" id="{F2EDFD01-85FD-4F0D-94AA-F80C2256A563}"/>
              </a:ext>
            </a:extLst>
          </p:cNvPr>
          <p:cNvSpPr>
            <a:spLocks xmlns:a="http://schemas.openxmlformats.org/drawingml/2006/main" noGrp="1"/>
          </p:cNvSpPr>
          <p:nvPr/>
        </p:nvSpPr>
        <p:spPr>
          <a:xfrm xmlns:a="http://schemas.openxmlformats.org/drawingml/2006/main">
            <a:off x="9525000" y="3962400"/>
            <a:ext cx="1847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defRPr sz="990" b="1">
                <a:solidFill>
                  <a:srgbClr val="17324A"/>
                </a:solidFill>
                <a:latin typeface="Aptos"/>
                <a:ea typeface="Aptos"/>
                <a:cs typeface="Aptos"/>
              </a:defRPr>
            </a:pPr>
            <a:r>
              <a:rPr sz="990" b="1">
                <a:solidFill>
                  <a:srgbClr val="17324A"/>
                </a:solidFill>
                <a:latin typeface="Aptos"/>
                <a:ea typeface="Aptos"/>
                <a:cs typeface="Aptos"/>
              </a:rPr>
              <a:t>tracking • error • actuator + disturbance</a:t>
            </a:r>
          </a:p>
        </p:txBody>
      </p:sp>
      <p:sp>
        <p:nvSpPr>
          <p:cNvPr id="46" name="s24-card-3">
            <a:extLst xmlns:a="http://schemas.openxmlformats.org/drawingml/2006/main">
              <a:ext uri="{FF2B5EF4-FFF2-40B4-BE49-F238E27FC236}">
                <a16:creationId xmlns:a16="http://schemas.microsoft.com/office/drawing/2014/main" id="{99B87BF4-FD52-4258-9FBA-746D1BC7B81E}"/>
              </a:ext>
            </a:extLst>
          </p:cNvPr>
          <p:cNvSpPr>
            <a:spLocks xmlns:a="http://schemas.openxmlformats.org/drawingml/2006/main" noGrp="1"/>
          </p:cNvSpPr>
          <p:nvPr/>
        </p:nvSpPr>
        <p:spPr>
          <a:xfrm xmlns:a="http://schemas.openxmlformats.org/drawingml/2006/main">
            <a:off x="9391650" y="4724400"/>
            <a:ext cx="2114550" cy="933450"/>
          </a:xfrm>
          <a:prstGeom xmlns:a="http://schemas.openxmlformats.org/drawingml/2006/main" prst="roundRect">
            <a:avLst>
              <a:gd name="adj" fmla="val 12245"/>
            </a:avLst>
          </a:prstGeom>
          <a:solidFill xmlns:a="http://schemas.openxmlformats.org/drawingml/2006/main">
            <a:srgbClr val="E2F4EA"/>
          </a:solidFill>
          <a:ln xmlns:a="http://schemas.openxmlformats.org/drawingml/2006/main" w="14288">
            <a:solidFill>
              <a:srgbClr val="2CA56F"/>
            </a:solidFill>
            <a:prstDash val="solid"/>
          </a:ln>
        </p:spPr>
      </p:sp>
      <p:sp>
        <p:nvSpPr>
          <p:cNvPr id="47" name="s24-card-title-3">
            <a:extLst xmlns:a="http://schemas.openxmlformats.org/drawingml/2006/main">
              <a:ext uri="{FF2B5EF4-FFF2-40B4-BE49-F238E27FC236}">
                <a16:creationId xmlns:a16="http://schemas.microsoft.com/office/drawing/2014/main" id="{87CA70EA-E768-4BFC-AC46-9C94ABE433AB}"/>
              </a:ext>
            </a:extLst>
          </p:cNvPr>
          <p:cNvSpPr>
            <a:spLocks xmlns:a="http://schemas.openxmlformats.org/drawingml/2006/main" noGrp="1"/>
          </p:cNvSpPr>
          <p:nvPr/>
        </p:nvSpPr>
        <p:spPr>
          <a:xfrm xmlns:a="http://schemas.openxmlformats.org/drawingml/2006/main">
            <a:off x="9525000" y="4810125"/>
            <a:ext cx="1847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065" b="1">
                <a:solidFill>
                  <a:srgbClr val="2CA56F"/>
                </a:solidFill>
                <a:latin typeface="Aptos"/>
                <a:ea typeface="Aptos"/>
                <a:cs typeface="Aptos"/>
              </a:defRPr>
            </a:pPr>
            <a:r>
              <a:rPr sz="1065" b="1">
                <a:solidFill>
                  <a:srgbClr val="2CA56F"/>
                </a:solidFill>
                <a:latin typeface="Aptos"/>
                <a:ea typeface="Aptos"/>
                <a:cs typeface="Aptos"/>
              </a:rPr>
              <a:t>WHY USE SDI</a:t>
            </a:r>
          </a:p>
        </p:txBody>
      </p:sp>
      <p:sp>
        <p:nvSpPr>
          <p:cNvPr id="48" name="s24-card-body-3">
            <a:extLst xmlns:a="http://schemas.openxmlformats.org/drawingml/2006/main">
              <a:ext uri="{FF2B5EF4-FFF2-40B4-BE49-F238E27FC236}">
                <a16:creationId xmlns:a16="http://schemas.microsoft.com/office/drawing/2014/main" id="{91D06AB6-B129-4C15-BB26-F1B763B85AF4}"/>
              </a:ext>
            </a:extLst>
          </p:cNvPr>
          <p:cNvSpPr>
            <a:spLocks xmlns:a="http://schemas.openxmlformats.org/drawingml/2006/main" noGrp="1"/>
          </p:cNvSpPr>
          <p:nvPr/>
        </p:nvSpPr>
        <p:spPr>
          <a:xfrm xmlns:a="http://schemas.openxmlformats.org/drawingml/2006/main">
            <a:off x="9525000" y="5057775"/>
            <a:ext cx="1847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defRPr sz="990" b="1">
                <a:solidFill>
                  <a:srgbClr val="17324A"/>
                </a:solidFill>
                <a:latin typeface="Aptos"/>
                <a:ea typeface="Aptos"/>
                <a:cs typeface="Aptos"/>
              </a:defRPr>
            </a:pPr>
            <a:r>
              <a:rPr sz="990" b="1">
                <a:solidFill>
                  <a:srgbClr val="17324A"/>
                </a:solidFill>
                <a:latin typeface="Aptos"/>
                <a:ea typeface="Aptos"/>
                <a:cs typeface="Aptos"/>
              </a:rPr>
              <a:t>inspect without model edits • compare • zoom • cursors • units • export</a:t>
            </a:r>
          </a:p>
        </p:txBody>
      </p:sp>
      <p:sp>
        <p:nvSpPr>
          <p:cNvPr id="49" name="s24-caption">
            <a:extLst xmlns:a="http://schemas.openxmlformats.org/drawingml/2006/main">
              <a:ext uri="{FF2B5EF4-FFF2-40B4-BE49-F238E27FC236}">
                <a16:creationId xmlns:a16="http://schemas.microsoft.com/office/drawing/2014/main" id="{5037B83C-A7DA-4309-A30E-5E685DB4B532}"/>
              </a:ext>
            </a:extLst>
          </p:cNvPr>
          <p:cNvSpPr>
            <a:spLocks xmlns:a="http://schemas.openxmlformats.org/drawingml/2006/main" noGrp="1"/>
          </p:cNvSpPr>
          <p:nvPr/>
        </p:nvSpPr>
        <p:spPr>
          <a:xfrm xmlns:a="http://schemas.openxmlformats.org/drawingml/2006/main">
            <a:off x="685800" y="6019800"/>
            <a:ext cx="108204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140" b="1">
                <a:solidFill>
                  <a:srgbClr val="17324A"/>
                </a:solidFill>
                <a:latin typeface="Aptos"/>
                <a:ea typeface="Aptos"/>
                <a:cs typeface="Aptos"/>
              </a:defRPr>
            </a:pPr>
            <a:r>
              <a:rPr sz="1140" b="1">
                <a:solidFill>
                  <a:srgbClr val="17324A"/>
                </a:solidFill>
                <a:latin typeface="Aptos"/>
                <a:ea typeface="Aptos"/>
                <a:cs typeface="Aptos"/>
              </a:rPr>
              <a:t>Markers show logged samples; model overlays show model metadata. Opening a saved session can replace the current SDI repository.</a:t>
            </a:r>
          </a:p>
        </p:txBody>
      </p:sp>
    </p:spTree>
    <p:extLst>
      <p:ext uri="{BB962C8B-B14F-4D97-AF65-F5344CB8AC3E}">
        <p14:creationId xmlns:p14="http://schemas.microsoft.com/office/powerpoint/2010/main" val="354341949"/>
      </p:ext>
    </p:extLst>
  </p:cSld>
</p:sld>
</file>

<file path=ppt/slides/slide25.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2" name="section-185">
            <a:extLst xmlns:a="http://schemas.openxmlformats.org/drawingml/2006/main">
              <a:ext uri="{FF2B5EF4-FFF2-40B4-BE49-F238E27FC236}">
                <a16:creationId xmlns:a16="http://schemas.microsoft.com/office/drawing/2014/main" id="{9ECBB10C-BDEE-42BA-BC58-1616AC817DE6}"/>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04 • ASSURANCE CONTEXT</a:t>
            </a:r>
          </a:p>
        </p:txBody>
      </p:sp>
      <p:sp>
        <p:nvSpPr>
          <p:cNvPr id="2" name="title-185">
            <a:extLst xmlns:a="http://schemas.openxmlformats.org/drawingml/2006/main">
              <a:ext uri="{FF2B5EF4-FFF2-40B4-BE49-F238E27FC236}">
                <a16:creationId xmlns:a16="http://schemas.microsoft.com/office/drawing/2014/main" id="{95029AD8-33BB-466C-973C-ABB106C321CD}"/>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FFFFFF"/>
                </a:solidFill>
                <a:latin typeface="Aptos"/>
                <a:ea typeface="Aptos"/>
                <a:cs typeface="Aptos"/>
              </a:defRPr>
            </a:pPr>
            <a:r>
              <a:rPr sz="3150" b="1" i="0">
                <a:solidFill>
                  <a:srgbClr val="FFFFFF"/>
                </a:solidFill>
                <a:latin typeface="Aptos"/>
                <a:ea typeface="Aptos"/>
                <a:cs typeface="Aptos"/>
              </a:rPr>
              <a:t>DO-178C defines objectives; DO-331 addresses model use</a:t>
            </a:r>
          </a:p>
        </p:txBody>
      </p:sp>
      <p:sp>
        <p:nvSpPr>
          <p:cNvPr id="3" name="line-186">
            <a:extLst xmlns:a="http://schemas.openxmlformats.org/drawingml/2006/main">
              <a:ext uri="{FF2B5EF4-FFF2-40B4-BE49-F238E27FC236}">
                <a16:creationId xmlns:a16="http://schemas.microsoft.com/office/drawing/2014/main" id="{DEAC6CD3-D6B2-40FA-9B66-00776218FB55}"/>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187">
            <a:extLst xmlns:a="http://schemas.openxmlformats.org/drawingml/2006/main">
              <a:ext uri="{FF2B5EF4-FFF2-40B4-BE49-F238E27FC236}">
                <a16:creationId xmlns:a16="http://schemas.microsoft.com/office/drawing/2014/main" id="{1797CB8B-55BE-4F5A-8698-A12430D0582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88">
            <a:extLst xmlns:a="http://schemas.openxmlformats.org/drawingml/2006/main">
              <a:ext uri="{FF2B5EF4-FFF2-40B4-BE49-F238E27FC236}">
                <a16:creationId xmlns:a16="http://schemas.microsoft.com/office/drawing/2014/main" id="{548FAB36-A9AF-44C1-8C30-9F1DEDDBD29C}"/>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25</a:t>
            </a:r>
          </a:p>
        </p:txBody>
      </p:sp>
      <p:sp>
        <p:nvSpPr>
          <p:cNvPr id="6" name="text-189">
            <a:extLst xmlns:a="http://schemas.openxmlformats.org/drawingml/2006/main">
              <a:ext uri="{FF2B5EF4-FFF2-40B4-BE49-F238E27FC236}">
                <a16:creationId xmlns:a16="http://schemas.microsoft.com/office/drawing/2014/main" id="{49061C23-3405-450D-9EF0-EAFB08C75833}"/>
              </a:ext>
            </a:extLst>
          </p:cNvPr>
          <p:cNvSpPr>
            <a:spLocks xmlns:a="http://schemas.openxmlformats.org/drawingml/2006/main" noGrp="1"/>
          </p:cNvSpPr>
          <p:nvPr/>
        </p:nvSpPr>
        <p:spPr>
          <a:xfrm xmlns:a="http://schemas.openxmlformats.org/drawingml/2006/main">
            <a:off x="857250" y="1619250"/>
            <a:ext cx="4286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3075" b="1" i="0">
                <a:solidFill>
                  <a:srgbClr val="70DCE5"/>
                </a:solidFill>
                <a:latin typeface="Aptos"/>
                <a:ea typeface="Aptos"/>
                <a:cs typeface="Aptos"/>
              </a:defRPr>
            </a:pPr>
            <a:r>
              <a:rPr sz="3075" b="1" i="0">
                <a:solidFill>
                  <a:srgbClr val="70DCE5"/>
                </a:solidFill>
                <a:latin typeface="Aptos"/>
                <a:ea typeface="Aptos"/>
                <a:cs typeface="Aptos"/>
              </a:rPr>
              <a:t>DO-178C</a:t>
            </a:r>
          </a:p>
        </p:txBody>
      </p:sp>
      <p:sp>
        <p:nvSpPr>
          <p:cNvPr id="7" name="text-190">
            <a:extLst xmlns:a="http://schemas.openxmlformats.org/drawingml/2006/main">
              <a:ext uri="{FF2B5EF4-FFF2-40B4-BE49-F238E27FC236}">
                <a16:creationId xmlns:a16="http://schemas.microsoft.com/office/drawing/2014/main" id="{57F1CB50-CA88-4E57-819C-D72B329EC011}"/>
              </a:ext>
            </a:extLst>
          </p:cNvPr>
          <p:cNvSpPr>
            <a:spLocks xmlns:a="http://schemas.openxmlformats.org/drawingml/2006/main" noGrp="1"/>
          </p:cNvSpPr>
          <p:nvPr/>
        </p:nvSpPr>
        <p:spPr>
          <a:xfrm xmlns:a="http://schemas.openxmlformats.org/drawingml/2006/main">
            <a:off x="819150" y="2286000"/>
            <a:ext cx="47625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Defines — objectives, activities, and life-cycle data</a:t>
            </a:r>
          </a:p>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Scales — rigor according to software level</a:t>
            </a:r>
          </a:p>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Covers — planning, development, verification, CM, QA, liaison</a:t>
            </a:r>
          </a:p>
        </p:txBody>
      </p:sp>
      <p:sp>
        <p:nvSpPr>
          <p:cNvPr id="8" name="line-191">
            <a:extLst xmlns:a="http://schemas.openxmlformats.org/drawingml/2006/main">
              <a:ext uri="{FF2B5EF4-FFF2-40B4-BE49-F238E27FC236}">
                <a16:creationId xmlns:a16="http://schemas.microsoft.com/office/drawing/2014/main" id="{544FA59D-E7D5-4945-961A-9CE3EA8E4211}"/>
              </a:ext>
            </a:extLst>
          </p:cNvPr>
          <p:cNvSpPr>
            <a:spLocks xmlns:a="http://schemas.openxmlformats.org/drawingml/2006/main" noGrp="1"/>
          </p:cNvSpPr>
          <p:nvPr/>
        </p:nvSpPr>
        <p:spPr>
          <a:xfrm xmlns:a="http://schemas.openxmlformats.org/drawingml/2006/main">
            <a:off x="6000750" y="1600200"/>
            <a:ext cx="0" cy="3143250"/>
          </a:xfrm>
          <a:prstGeom xmlns:a="http://schemas.openxmlformats.org/drawingml/2006/main" prst="line">
            <a:avLst/>
          </a:prstGeom>
          <a:noFill xmlns:a="http://schemas.openxmlformats.org/drawingml/2006/main"/>
          <a:ln xmlns:a="http://schemas.openxmlformats.org/drawingml/2006/main" w="19050">
            <a:solidFill>
              <a:srgbClr val="143A55"/>
            </a:solidFill>
            <a:prstDash val="solid"/>
          </a:ln>
        </p:spPr>
      </p:sp>
      <p:sp>
        <p:nvSpPr>
          <p:cNvPr id="9" name="text-192">
            <a:extLst xmlns:a="http://schemas.openxmlformats.org/drawingml/2006/main">
              <a:ext uri="{FF2B5EF4-FFF2-40B4-BE49-F238E27FC236}">
                <a16:creationId xmlns:a16="http://schemas.microsoft.com/office/drawing/2014/main" id="{B58FE811-97AC-41C3-AAC8-7C13A877C8D9}"/>
              </a:ext>
            </a:extLst>
          </p:cNvPr>
          <p:cNvSpPr>
            <a:spLocks xmlns:a="http://schemas.openxmlformats.org/drawingml/2006/main" noGrp="1"/>
          </p:cNvSpPr>
          <p:nvPr/>
        </p:nvSpPr>
        <p:spPr>
          <a:xfrm xmlns:a="http://schemas.openxmlformats.org/drawingml/2006/main">
            <a:off x="6667500" y="1619250"/>
            <a:ext cx="4286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3075" b="1" i="0">
                <a:solidFill>
                  <a:srgbClr val="E9A23B"/>
                </a:solidFill>
                <a:latin typeface="Aptos"/>
                <a:ea typeface="Aptos"/>
                <a:cs typeface="Aptos"/>
              </a:defRPr>
            </a:pPr>
            <a:r>
              <a:rPr sz="3075" b="1" i="0">
                <a:solidFill>
                  <a:srgbClr val="E9A23B"/>
                </a:solidFill>
                <a:latin typeface="Aptos"/>
                <a:ea typeface="Aptos"/>
                <a:cs typeface="Aptos"/>
              </a:rPr>
              <a:t>DO-331</a:t>
            </a:r>
          </a:p>
        </p:txBody>
      </p:sp>
      <p:sp>
        <p:nvSpPr>
          <p:cNvPr id="10" name="text-193">
            <a:extLst xmlns:a="http://schemas.openxmlformats.org/drawingml/2006/main">
              <a:ext uri="{FF2B5EF4-FFF2-40B4-BE49-F238E27FC236}">
                <a16:creationId xmlns:a16="http://schemas.microsoft.com/office/drawing/2014/main" id="{4A1EBF62-8C57-4EC3-87D5-8E3816630AC0}"/>
              </a:ext>
            </a:extLst>
          </p:cNvPr>
          <p:cNvSpPr>
            <a:spLocks xmlns:a="http://schemas.openxmlformats.org/drawingml/2006/main" noGrp="1"/>
          </p:cNvSpPr>
          <p:nvPr/>
        </p:nvSpPr>
        <p:spPr>
          <a:xfrm xmlns:a="http://schemas.openxmlformats.org/drawingml/2006/main">
            <a:off x="6629400" y="2286000"/>
            <a:ext cx="47625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Supplements — DO-178C for model-based development and verification</a:t>
            </a:r>
          </a:p>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Clarifies — model roles, model standards, verification, and traceability</a:t>
            </a:r>
          </a:p>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Does not — make models or generated code automatically compliant</a:t>
            </a:r>
          </a:p>
        </p:txBody>
      </p:sp>
      <p:sp>
        <p:nvSpPr>
          <p:cNvPr id="11" name="box-194">
            <a:extLst xmlns:a="http://schemas.openxmlformats.org/drawingml/2006/main">
              <a:ext uri="{FF2B5EF4-FFF2-40B4-BE49-F238E27FC236}">
                <a16:creationId xmlns:a16="http://schemas.microsoft.com/office/drawing/2014/main" id="{0E66498C-6F65-4A68-BCC6-ADF35C1A4BB2}"/>
              </a:ext>
            </a:extLst>
          </p:cNvPr>
          <p:cNvSpPr>
            <a:spLocks xmlns:a="http://schemas.openxmlformats.org/drawingml/2006/main" noGrp="1"/>
          </p:cNvSpPr>
          <p:nvPr/>
        </p:nvSpPr>
        <p:spPr>
          <a:xfrm xmlns:a="http://schemas.openxmlformats.org/drawingml/2006/main">
            <a:off x="1333500" y="5095875"/>
            <a:ext cx="9525000" cy="704850"/>
          </a:xfrm>
          <a:prstGeom xmlns:a="http://schemas.openxmlformats.org/drawingml/2006/main" prst="roundRect">
            <a:avLst>
              <a:gd name="adj" fmla="val 13514"/>
            </a:avLst>
          </a:prstGeom>
          <a:solidFill xmlns:a="http://schemas.openxmlformats.org/drawingml/2006/main">
            <a:srgbClr val="FFF0D7"/>
          </a:solidFill>
          <a:ln xmlns:a="http://schemas.openxmlformats.org/drawingml/2006/main" w="9525">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The project plans define whether a model is specification, design, source, or verification material—and which objectives apply.</a:t>
            </a:r>
          </a:p>
        </p:txBody>
      </p:sp>
    </p:spTree>
    <p:extLst>
      <p:ext uri="{BB962C8B-B14F-4D97-AF65-F5344CB8AC3E}">
        <p14:creationId xmlns:p14="http://schemas.microsoft.com/office/powerpoint/2010/main" val="1612514186"/>
      </p:ext>
    </p:extLst>
  </p:cSld>
</p:sld>
</file>

<file path=ppt/slides/slide26.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194">
            <a:extLst xmlns:a="http://schemas.openxmlformats.org/drawingml/2006/main">
              <a:ext uri="{FF2B5EF4-FFF2-40B4-BE49-F238E27FC236}">
                <a16:creationId xmlns:a16="http://schemas.microsoft.com/office/drawing/2014/main" id="{707AA77F-20B3-4DF6-9C63-06B48EB8C041}"/>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04 • ASSURANCE CONTEXT</a:t>
            </a:r>
          </a:p>
        </p:txBody>
      </p:sp>
      <p:sp>
        <p:nvSpPr>
          <p:cNvPr id="2" name="title-194">
            <a:extLst xmlns:a="http://schemas.openxmlformats.org/drawingml/2006/main">
              <a:ext uri="{FF2B5EF4-FFF2-40B4-BE49-F238E27FC236}">
                <a16:creationId xmlns:a16="http://schemas.microsoft.com/office/drawing/2014/main" id="{B9167BA1-9639-40B3-99DF-30AA5669869A}"/>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Software levels scale rigor—and independence is planned</a:t>
            </a:r>
          </a:p>
        </p:txBody>
      </p:sp>
      <p:sp>
        <p:nvSpPr>
          <p:cNvPr id="3" name="line-195">
            <a:extLst xmlns:a="http://schemas.openxmlformats.org/drawingml/2006/main">
              <a:ext uri="{FF2B5EF4-FFF2-40B4-BE49-F238E27FC236}">
                <a16:creationId xmlns:a16="http://schemas.microsoft.com/office/drawing/2014/main" id="{1F485FAA-C85E-4663-9034-1E6592721453}"/>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96">
            <a:extLst xmlns:a="http://schemas.openxmlformats.org/drawingml/2006/main">
              <a:ext uri="{FF2B5EF4-FFF2-40B4-BE49-F238E27FC236}">
                <a16:creationId xmlns:a16="http://schemas.microsoft.com/office/drawing/2014/main" id="{D27EA93D-9435-47F2-93AF-75F33B47CCEF}"/>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97">
            <a:extLst xmlns:a="http://schemas.openxmlformats.org/drawingml/2006/main">
              <a:ext uri="{FF2B5EF4-FFF2-40B4-BE49-F238E27FC236}">
                <a16:creationId xmlns:a16="http://schemas.microsoft.com/office/drawing/2014/main" id="{5D800673-C228-4E1A-A9B0-3E50279F7C4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26</a:t>
            </a:r>
          </a:p>
        </p:txBody>
      </p:sp>
      <p:sp>
        <p:nvSpPr>
          <p:cNvPr id="31" name="s26-level-heading">
            <a:extLst xmlns:a="http://schemas.openxmlformats.org/drawingml/2006/main">
              <a:ext uri="{FF2B5EF4-FFF2-40B4-BE49-F238E27FC236}">
                <a16:creationId xmlns:a16="http://schemas.microsoft.com/office/drawing/2014/main" id="{6550523A-3F6A-4546-A4B6-63CF8A11741C}"/>
              </a:ext>
            </a:extLst>
          </p:cNvPr>
          <p:cNvSpPr>
            <a:spLocks xmlns:a="http://schemas.openxmlformats.org/drawingml/2006/main" noGrp="1"/>
          </p:cNvSpPr>
          <p:nvPr/>
        </p:nvSpPr>
        <p:spPr>
          <a:xfrm xmlns:a="http://schemas.openxmlformats.org/drawingml/2006/main">
            <a:off x="685800" y="1381125"/>
            <a:ext cx="5848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125" b="1">
                <a:solidFill>
                  <a:srgbClr val="2D6CDF"/>
                </a:solidFill>
                <a:latin typeface="Aptos"/>
                <a:ea typeface="Aptos"/>
                <a:cs typeface="Aptos"/>
              </a:defRPr>
            </a:pPr>
            <a:r>
              <a:rPr sz="1125" b="1">
                <a:solidFill>
                  <a:srgbClr val="2D6CDF"/>
                </a:solidFill>
                <a:latin typeface="Aptos"/>
                <a:ea typeface="Aptos"/>
                <a:cs typeface="Aptos"/>
              </a:rPr>
              <a:t>DO-178C SOFTWARE LEVEL</a:t>
            </a:r>
          </a:p>
        </p:txBody>
      </p:sp>
      <p:sp>
        <p:nvSpPr>
          <p:cNvPr id="32" name="s26-ind-heading">
            <a:extLst xmlns:a="http://schemas.openxmlformats.org/drawingml/2006/main">
              <a:ext uri="{FF2B5EF4-FFF2-40B4-BE49-F238E27FC236}">
                <a16:creationId xmlns:a16="http://schemas.microsoft.com/office/drawing/2014/main" id="{09CAB67C-8DF2-45A6-99C1-03AB4DF2F9B8}"/>
              </a:ext>
            </a:extLst>
          </p:cNvPr>
          <p:cNvSpPr>
            <a:spLocks xmlns:a="http://schemas.openxmlformats.org/drawingml/2006/main" noGrp="1"/>
          </p:cNvSpPr>
          <p:nvPr/>
        </p:nvSpPr>
        <p:spPr>
          <a:xfrm xmlns:a="http://schemas.openxmlformats.org/drawingml/2006/main">
            <a:off x="6896100" y="1381125"/>
            <a:ext cx="4610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125" b="1">
                <a:solidFill>
                  <a:srgbClr val="20B7C5"/>
                </a:solidFill>
                <a:latin typeface="Aptos"/>
                <a:ea typeface="Aptos"/>
                <a:cs typeface="Aptos"/>
              </a:defRPr>
            </a:pPr>
            <a:r>
              <a:rPr sz="1125" b="1">
                <a:solidFill>
                  <a:srgbClr val="20B7C5"/>
                </a:solidFill>
                <a:latin typeface="Aptos"/>
                <a:ea typeface="Aptos"/>
                <a:cs typeface="Aptos"/>
              </a:rPr>
              <a:t>INDEPENDENCE IS OBJECTIVE-SPECIFIC</a:t>
            </a:r>
          </a:p>
        </p:txBody>
      </p:sp>
      <p:sp>
        <p:nvSpPr>
          <p:cNvPr id="33" name="s26-level-0">
            <a:extLst xmlns:a="http://schemas.openxmlformats.org/drawingml/2006/main">
              <a:ext uri="{FF2B5EF4-FFF2-40B4-BE49-F238E27FC236}">
                <a16:creationId xmlns:a16="http://schemas.microsoft.com/office/drawing/2014/main" id="{54DB5E27-B5AD-4967-AE2D-505FB0758AF7}"/>
              </a:ext>
            </a:extLst>
          </p:cNvPr>
          <p:cNvSpPr>
            <a:spLocks xmlns:a="http://schemas.openxmlformats.org/drawingml/2006/main" noGrp="1"/>
          </p:cNvSpPr>
          <p:nvPr/>
        </p:nvSpPr>
        <p:spPr>
          <a:xfrm xmlns:a="http://schemas.openxmlformats.org/drawingml/2006/main">
            <a:off x="685800" y="1724025"/>
            <a:ext cx="5848350" cy="590550"/>
          </a:xfrm>
          <a:prstGeom xmlns:a="http://schemas.openxmlformats.org/drawingml/2006/main" prst="roundRect">
            <a:avLst>
              <a:gd name="adj" fmla="val 19355"/>
            </a:avLst>
          </a:prstGeom>
          <a:solidFill xmlns:a="http://schemas.openxmlformats.org/drawingml/2006/main">
            <a:srgbClr val="FBE7E9"/>
          </a:solidFill>
          <a:ln xmlns:a="http://schemas.openxmlformats.org/drawingml/2006/main" w="12383">
            <a:solidFill>
              <a:srgbClr val="D75A64"/>
            </a:solidFill>
            <a:prstDash val="solid"/>
          </a:ln>
        </p:spPr>
      </p:sp>
      <p:sp>
        <p:nvSpPr>
          <p:cNvPr id="34" name="s26-letter-0">
            <a:extLst xmlns:a="http://schemas.openxmlformats.org/drawingml/2006/main">
              <a:ext uri="{FF2B5EF4-FFF2-40B4-BE49-F238E27FC236}">
                <a16:creationId xmlns:a16="http://schemas.microsoft.com/office/drawing/2014/main" id="{6185B500-8345-4C27-8E5A-AE2CA85D7AEC}"/>
              </a:ext>
            </a:extLst>
          </p:cNvPr>
          <p:cNvSpPr>
            <a:spLocks xmlns:a="http://schemas.openxmlformats.org/drawingml/2006/main" noGrp="1"/>
          </p:cNvSpPr>
          <p:nvPr/>
        </p:nvSpPr>
        <p:spPr>
          <a:xfrm xmlns:a="http://schemas.openxmlformats.org/drawingml/2006/main">
            <a:off x="819150" y="1819275"/>
            <a:ext cx="447675" cy="400050"/>
          </a:xfrm>
          <a:prstGeom xmlns:a="http://schemas.openxmlformats.org/drawingml/2006/main" prst="roundRect">
            <a:avLst>
              <a:gd name="adj" fmla="val 28571"/>
            </a:avLst>
          </a:prstGeom>
          <a:solidFill xmlns:a="http://schemas.openxmlformats.org/drawingml/2006/main">
            <a:srgbClr val="D75A64"/>
          </a:solidFill>
          <a:ln xmlns:a="http://schemas.openxmlformats.org/drawingml/2006/main" w="14288">
            <a:solidFill>
              <a:srgbClr val="D75A64"/>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575" b="1">
                <a:solidFill>
                  <a:srgbClr val="FFFFFF"/>
                </a:solidFill>
                <a:latin typeface="Aptos"/>
                <a:ea typeface="Aptos"/>
                <a:cs typeface="Aptos"/>
              </a:defRPr>
            </a:pPr>
            <a:r>
              <a:rPr sz="1575" b="1">
                <a:solidFill>
                  <a:srgbClr val="FFFFFF"/>
                </a:solidFill>
                <a:latin typeface="Aptos"/>
                <a:ea typeface="Aptos"/>
                <a:cs typeface="Aptos"/>
              </a:rPr>
              <a:t>A</a:t>
            </a:r>
          </a:p>
        </p:txBody>
      </p:sp>
      <p:sp>
        <p:nvSpPr>
          <p:cNvPr id="35" name="s26-cond-0">
            <a:extLst xmlns:a="http://schemas.openxmlformats.org/drawingml/2006/main">
              <a:ext uri="{FF2B5EF4-FFF2-40B4-BE49-F238E27FC236}">
                <a16:creationId xmlns:a16="http://schemas.microsoft.com/office/drawing/2014/main" id="{06E5156A-0FA7-4569-BDF3-C7554AF06615}"/>
              </a:ext>
            </a:extLst>
          </p:cNvPr>
          <p:cNvSpPr>
            <a:spLocks xmlns:a="http://schemas.openxmlformats.org/drawingml/2006/main" noGrp="1"/>
          </p:cNvSpPr>
          <p:nvPr/>
        </p:nvSpPr>
        <p:spPr>
          <a:xfrm xmlns:a="http://schemas.openxmlformats.org/drawingml/2006/main">
            <a:off x="1438275" y="1800225"/>
            <a:ext cx="2057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275" b="1">
                <a:solidFill>
                  <a:srgbClr val="0B1F33"/>
                </a:solidFill>
                <a:latin typeface="Aptos"/>
                <a:ea typeface="Aptos"/>
                <a:cs typeface="Aptos"/>
              </a:defRPr>
            </a:pPr>
            <a:r>
              <a:rPr sz="1275" b="1">
                <a:solidFill>
                  <a:srgbClr val="0B1F33"/>
                </a:solidFill>
                <a:latin typeface="Aptos"/>
                <a:ea typeface="Aptos"/>
                <a:cs typeface="Aptos"/>
              </a:rPr>
              <a:t>Catastrophic</a:t>
            </a:r>
          </a:p>
        </p:txBody>
      </p:sp>
      <p:sp>
        <p:nvSpPr>
          <p:cNvPr id="36" name="s26-impl-0">
            <a:extLst xmlns:a="http://schemas.openxmlformats.org/drawingml/2006/main">
              <a:ext uri="{FF2B5EF4-FFF2-40B4-BE49-F238E27FC236}">
                <a16:creationId xmlns:a16="http://schemas.microsoft.com/office/drawing/2014/main" id="{99760306-503F-41AB-A7DB-E76559486A10}"/>
              </a:ext>
            </a:extLst>
          </p:cNvPr>
          <p:cNvSpPr>
            <a:spLocks xmlns:a="http://schemas.openxmlformats.org/drawingml/2006/main" noGrp="1"/>
          </p:cNvSpPr>
          <p:nvPr/>
        </p:nvSpPr>
        <p:spPr>
          <a:xfrm xmlns:a="http://schemas.openxmlformats.org/drawingml/2006/main">
            <a:off x="3543300" y="1800225"/>
            <a:ext cx="2819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defRPr sz="1140" b="1">
                <a:solidFill>
                  <a:srgbClr val="17324A"/>
                </a:solidFill>
                <a:latin typeface="Aptos"/>
                <a:ea typeface="Aptos"/>
                <a:cs typeface="Aptos"/>
              </a:defRPr>
            </a:pPr>
            <a:r>
              <a:rPr sz="1140" b="1">
                <a:solidFill>
                  <a:srgbClr val="17324A"/>
                </a:solidFill>
                <a:latin typeface="Aptos"/>
                <a:ea typeface="Aptos"/>
                <a:cs typeface="Aptos"/>
              </a:rPr>
              <a:t>highest applicable rigor + independence</a:t>
            </a:r>
          </a:p>
        </p:txBody>
      </p:sp>
      <p:sp>
        <p:nvSpPr>
          <p:cNvPr id="37" name="s26-level-1">
            <a:extLst xmlns:a="http://schemas.openxmlformats.org/drawingml/2006/main">
              <a:ext uri="{FF2B5EF4-FFF2-40B4-BE49-F238E27FC236}">
                <a16:creationId xmlns:a16="http://schemas.microsoft.com/office/drawing/2014/main" id="{28FE4766-73B6-4F1B-ADB7-B2327FA3E3BD}"/>
              </a:ext>
            </a:extLst>
          </p:cNvPr>
          <p:cNvSpPr>
            <a:spLocks xmlns:a="http://schemas.openxmlformats.org/drawingml/2006/main" noGrp="1"/>
          </p:cNvSpPr>
          <p:nvPr/>
        </p:nvSpPr>
        <p:spPr>
          <a:xfrm xmlns:a="http://schemas.openxmlformats.org/drawingml/2006/main">
            <a:off x="685800" y="2447925"/>
            <a:ext cx="5848350" cy="590550"/>
          </a:xfrm>
          <a:prstGeom xmlns:a="http://schemas.openxmlformats.org/drawingml/2006/main" prst="roundRect">
            <a:avLst>
              <a:gd name="adj" fmla="val 19355"/>
            </a:avLst>
          </a:prstGeom>
          <a:solidFill xmlns:a="http://schemas.openxmlformats.org/drawingml/2006/main">
            <a:srgbClr val="FFF0D7"/>
          </a:solidFill>
          <a:ln xmlns:a="http://schemas.openxmlformats.org/drawingml/2006/main" w="12383">
            <a:solidFill>
              <a:srgbClr val="E9A23B"/>
            </a:solidFill>
            <a:prstDash val="solid"/>
          </a:ln>
        </p:spPr>
      </p:sp>
      <p:sp>
        <p:nvSpPr>
          <p:cNvPr id="38" name="s26-letter-1">
            <a:extLst xmlns:a="http://schemas.openxmlformats.org/drawingml/2006/main">
              <a:ext uri="{FF2B5EF4-FFF2-40B4-BE49-F238E27FC236}">
                <a16:creationId xmlns:a16="http://schemas.microsoft.com/office/drawing/2014/main" id="{72E01BE2-EBA8-4CCB-B69C-125E03A45F17}"/>
              </a:ext>
            </a:extLst>
          </p:cNvPr>
          <p:cNvSpPr>
            <a:spLocks xmlns:a="http://schemas.openxmlformats.org/drawingml/2006/main" noGrp="1"/>
          </p:cNvSpPr>
          <p:nvPr/>
        </p:nvSpPr>
        <p:spPr>
          <a:xfrm xmlns:a="http://schemas.openxmlformats.org/drawingml/2006/main">
            <a:off x="819150" y="2543175"/>
            <a:ext cx="447675" cy="400050"/>
          </a:xfrm>
          <a:prstGeom xmlns:a="http://schemas.openxmlformats.org/drawingml/2006/main" prst="roundRect">
            <a:avLst>
              <a:gd name="adj" fmla="val 28571"/>
            </a:avLst>
          </a:prstGeom>
          <a:solidFill xmlns:a="http://schemas.openxmlformats.org/drawingml/2006/main">
            <a:srgbClr val="E9A23B"/>
          </a:solidFill>
          <a:ln xmlns:a="http://schemas.openxmlformats.org/drawingml/2006/main" w="14288">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575" b="1">
                <a:solidFill>
                  <a:srgbClr val="FFFFFF"/>
                </a:solidFill>
                <a:latin typeface="Aptos"/>
                <a:ea typeface="Aptos"/>
                <a:cs typeface="Aptos"/>
              </a:defRPr>
            </a:pPr>
            <a:r>
              <a:rPr sz="1575" b="1">
                <a:solidFill>
                  <a:srgbClr val="FFFFFF"/>
                </a:solidFill>
                <a:latin typeface="Aptos"/>
                <a:ea typeface="Aptos"/>
                <a:cs typeface="Aptos"/>
              </a:rPr>
              <a:t>B</a:t>
            </a:r>
          </a:p>
        </p:txBody>
      </p:sp>
      <p:sp>
        <p:nvSpPr>
          <p:cNvPr id="39" name="s26-cond-1">
            <a:extLst xmlns:a="http://schemas.openxmlformats.org/drawingml/2006/main">
              <a:ext uri="{FF2B5EF4-FFF2-40B4-BE49-F238E27FC236}">
                <a16:creationId xmlns:a16="http://schemas.microsoft.com/office/drawing/2014/main" id="{66D3CF1E-3B3F-4304-8A53-3E810C564EDE}"/>
              </a:ext>
            </a:extLst>
          </p:cNvPr>
          <p:cNvSpPr>
            <a:spLocks xmlns:a="http://schemas.openxmlformats.org/drawingml/2006/main" noGrp="1"/>
          </p:cNvSpPr>
          <p:nvPr/>
        </p:nvSpPr>
        <p:spPr>
          <a:xfrm xmlns:a="http://schemas.openxmlformats.org/drawingml/2006/main">
            <a:off x="1438275" y="2524125"/>
            <a:ext cx="2057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275" b="1">
                <a:solidFill>
                  <a:srgbClr val="0B1F33"/>
                </a:solidFill>
                <a:latin typeface="Aptos"/>
                <a:ea typeface="Aptos"/>
                <a:cs typeface="Aptos"/>
              </a:defRPr>
            </a:pPr>
            <a:r>
              <a:rPr sz="1275" b="1">
                <a:solidFill>
                  <a:srgbClr val="0B1F33"/>
                </a:solidFill>
                <a:latin typeface="Aptos"/>
                <a:ea typeface="Aptos"/>
                <a:cs typeface="Aptos"/>
              </a:rPr>
              <a:t>Hazardous / Severe-Major</a:t>
            </a:r>
          </a:p>
        </p:txBody>
      </p:sp>
      <p:sp>
        <p:nvSpPr>
          <p:cNvPr id="40" name="s26-impl-1">
            <a:extLst xmlns:a="http://schemas.openxmlformats.org/drawingml/2006/main">
              <a:ext uri="{FF2B5EF4-FFF2-40B4-BE49-F238E27FC236}">
                <a16:creationId xmlns:a16="http://schemas.microsoft.com/office/drawing/2014/main" id="{D8254171-E437-473E-956F-4C2729DBF6CA}"/>
              </a:ext>
            </a:extLst>
          </p:cNvPr>
          <p:cNvSpPr>
            <a:spLocks xmlns:a="http://schemas.openxmlformats.org/drawingml/2006/main" noGrp="1"/>
          </p:cNvSpPr>
          <p:nvPr/>
        </p:nvSpPr>
        <p:spPr>
          <a:xfrm xmlns:a="http://schemas.openxmlformats.org/drawingml/2006/main">
            <a:off x="3543300" y="2524125"/>
            <a:ext cx="2819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defRPr sz="1140" b="1">
                <a:solidFill>
                  <a:srgbClr val="17324A"/>
                </a:solidFill>
                <a:latin typeface="Aptos"/>
                <a:ea typeface="Aptos"/>
                <a:cs typeface="Aptos"/>
              </a:defRPr>
            </a:pPr>
            <a:r>
              <a:rPr sz="1140" b="1">
                <a:solidFill>
                  <a:srgbClr val="17324A"/>
                </a:solidFill>
                <a:latin typeface="Aptos"/>
                <a:ea typeface="Aptos"/>
                <a:cs typeface="Aptos"/>
              </a:rPr>
              <a:t>very high rigor</a:t>
            </a:r>
          </a:p>
        </p:txBody>
      </p:sp>
      <p:sp>
        <p:nvSpPr>
          <p:cNvPr id="41" name="s26-level-2">
            <a:extLst xmlns:a="http://schemas.openxmlformats.org/drawingml/2006/main">
              <a:ext uri="{FF2B5EF4-FFF2-40B4-BE49-F238E27FC236}">
                <a16:creationId xmlns:a16="http://schemas.microsoft.com/office/drawing/2014/main" id="{C8762727-95DA-472D-AD3F-49E573C748DF}"/>
              </a:ext>
            </a:extLst>
          </p:cNvPr>
          <p:cNvSpPr>
            <a:spLocks xmlns:a="http://schemas.openxmlformats.org/drawingml/2006/main" noGrp="1"/>
          </p:cNvSpPr>
          <p:nvPr/>
        </p:nvSpPr>
        <p:spPr>
          <a:xfrm xmlns:a="http://schemas.openxmlformats.org/drawingml/2006/main">
            <a:off x="685800" y="3171825"/>
            <a:ext cx="5848350" cy="590550"/>
          </a:xfrm>
          <a:prstGeom xmlns:a="http://schemas.openxmlformats.org/drawingml/2006/main" prst="roundRect">
            <a:avLst>
              <a:gd name="adj" fmla="val 19355"/>
            </a:avLst>
          </a:prstGeom>
          <a:solidFill xmlns:a="http://schemas.openxmlformats.org/drawingml/2006/main">
            <a:srgbClr val="E2ECFF"/>
          </a:solidFill>
          <a:ln xmlns:a="http://schemas.openxmlformats.org/drawingml/2006/main" w="12383">
            <a:solidFill>
              <a:srgbClr val="2D6CDF"/>
            </a:solidFill>
            <a:prstDash val="solid"/>
          </a:ln>
        </p:spPr>
      </p:sp>
      <p:sp>
        <p:nvSpPr>
          <p:cNvPr id="42" name="s26-letter-2">
            <a:extLst xmlns:a="http://schemas.openxmlformats.org/drawingml/2006/main">
              <a:ext uri="{FF2B5EF4-FFF2-40B4-BE49-F238E27FC236}">
                <a16:creationId xmlns:a16="http://schemas.microsoft.com/office/drawing/2014/main" id="{FAAF729C-704B-4B54-A699-7E9F8C309397}"/>
              </a:ext>
            </a:extLst>
          </p:cNvPr>
          <p:cNvSpPr>
            <a:spLocks xmlns:a="http://schemas.openxmlformats.org/drawingml/2006/main" noGrp="1"/>
          </p:cNvSpPr>
          <p:nvPr/>
        </p:nvSpPr>
        <p:spPr>
          <a:xfrm xmlns:a="http://schemas.openxmlformats.org/drawingml/2006/main">
            <a:off x="819150" y="3267075"/>
            <a:ext cx="447675" cy="400050"/>
          </a:xfrm>
          <a:prstGeom xmlns:a="http://schemas.openxmlformats.org/drawingml/2006/main" prst="roundRect">
            <a:avLst>
              <a:gd name="adj" fmla="val 28571"/>
            </a:avLst>
          </a:prstGeom>
          <a:solidFill xmlns:a="http://schemas.openxmlformats.org/drawingml/2006/main">
            <a:srgbClr val="2D6CDF"/>
          </a:solidFill>
          <a:ln xmlns:a="http://schemas.openxmlformats.org/drawingml/2006/main" w="14288">
            <a:solidFill>
              <a:srgbClr val="2D6CD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575" b="1">
                <a:solidFill>
                  <a:srgbClr val="FFFFFF"/>
                </a:solidFill>
                <a:latin typeface="Aptos"/>
                <a:ea typeface="Aptos"/>
                <a:cs typeface="Aptos"/>
              </a:defRPr>
            </a:pPr>
            <a:r>
              <a:rPr sz="1575" b="1">
                <a:solidFill>
                  <a:srgbClr val="FFFFFF"/>
                </a:solidFill>
                <a:latin typeface="Aptos"/>
                <a:ea typeface="Aptos"/>
                <a:cs typeface="Aptos"/>
              </a:rPr>
              <a:t>C</a:t>
            </a:r>
          </a:p>
        </p:txBody>
      </p:sp>
      <p:sp>
        <p:nvSpPr>
          <p:cNvPr id="43" name="s26-cond-2">
            <a:extLst xmlns:a="http://schemas.openxmlformats.org/drawingml/2006/main">
              <a:ext uri="{FF2B5EF4-FFF2-40B4-BE49-F238E27FC236}">
                <a16:creationId xmlns:a16="http://schemas.microsoft.com/office/drawing/2014/main" id="{38433486-5708-4AE2-B5C2-64AF9E6A4CC9}"/>
              </a:ext>
            </a:extLst>
          </p:cNvPr>
          <p:cNvSpPr>
            <a:spLocks xmlns:a="http://schemas.openxmlformats.org/drawingml/2006/main" noGrp="1"/>
          </p:cNvSpPr>
          <p:nvPr/>
        </p:nvSpPr>
        <p:spPr>
          <a:xfrm xmlns:a="http://schemas.openxmlformats.org/drawingml/2006/main">
            <a:off x="1438275" y="3248025"/>
            <a:ext cx="2057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275" b="1">
                <a:solidFill>
                  <a:srgbClr val="0B1F33"/>
                </a:solidFill>
                <a:latin typeface="Aptos"/>
                <a:ea typeface="Aptos"/>
                <a:cs typeface="Aptos"/>
              </a:defRPr>
            </a:pPr>
            <a:r>
              <a:rPr sz="1275" b="1">
                <a:solidFill>
                  <a:srgbClr val="0B1F33"/>
                </a:solidFill>
                <a:latin typeface="Aptos"/>
                <a:ea typeface="Aptos"/>
                <a:cs typeface="Aptos"/>
              </a:rPr>
              <a:t>Major</a:t>
            </a:r>
          </a:p>
        </p:txBody>
      </p:sp>
      <p:sp>
        <p:nvSpPr>
          <p:cNvPr id="44" name="s26-impl-2">
            <a:extLst xmlns:a="http://schemas.openxmlformats.org/drawingml/2006/main">
              <a:ext uri="{FF2B5EF4-FFF2-40B4-BE49-F238E27FC236}">
                <a16:creationId xmlns:a16="http://schemas.microsoft.com/office/drawing/2014/main" id="{9EC84567-62FD-4C87-A7E0-E70F1BC4DC62}"/>
              </a:ext>
            </a:extLst>
          </p:cNvPr>
          <p:cNvSpPr>
            <a:spLocks xmlns:a="http://schemas.openxmlformats.org/drawingml/2006/main" noGrp="1"/>
          </p:cNvSpPr>
          <p:nvPr/>
        </p:nvSpPr>
        <p:spPr>
          <a:xfrm xmlns:a="http://schemas.openxmlformats.org/drawingml/2006/main">
            <a:off x="3543300" y="3248025"/>
            <a:ext cx="2819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defRPr sz="1140" b="1">
                <a:solidFill>
                  <a:srgbClr val="17324A"/>
                </a:solidFill>
                <a:latin typeface="Aptos"/>
                <a:ea typeface="Aptos"/>
                <a:cs typeface="Aptos"/>
              </a:defRPr>
            </a:pPr>
            <a:r>
              <a:rPr sz="1140" b="1">
                <a:solidFill>
                  <a:srgbClr val="17324A"/>
                </a:solidFill>
                <a:latin typeface="Aptos"/>
                <a:ea typeface="Aptos"/>
                <a:cs typeface="Aptos"/>
              </a:rPr>
              <a:t>substantial verification rigor</a:t>
            </a:r>
          </a:p>
        </p:txBody>
      </p:sp>
      <p:sp>
        <p:nvSpPr>
          <p:cNvPr id="45" name="s26-level-3">
            <a:extLst xmlns:a="http://schemas.openxmlformats.org/drawingml/2006/main">
              <a:ext uri="{FF2B5EF4-FFF2-40B4-BE49-F238E27FC236}">
                <a16:creationId xmlns:a16="http://schemas.microsoft.com/office/drawing/2014/main" id="{3D472F9A-46F8-460E-9B45-200FD577C947}"/>
              </a:ext>
            </a:extLst>
          </p:cNvPr>
          <p:cNvSpPr>
            <a:spLocks xmlns:a="http://schemas.openxmlformats.org/drawingml/2006/main" noGrp="1"/>
          </p:cNvSpPr>
          <p:nvPr/>
        </p:nvSpPr>
        <p:spPr>
          <a:xfrm xmlns:a="http://schemas.openxmlformats.org/drawingml/2006/main">
            <a:off x="685800" y="3895725"/>
            <a:ext cx="5848350" cy="590550"/>
          </a:xfrm>
          <a:prstGeom xmlns:a="http://schemas.openxmlformats.org/drawingml/2006/main" prst="roundRect">
            <a:avLst>
              <a:gd name="adj" fmla="val 19355"/>
            </a:avLst>
          </a:prstGeom>
          <a:solidFill xmlns:a="http://schemas.openxmlformats.org/drawingml/2006/main">
            <a:srgbClr val="E2F4EA"/>
          </a:solidFill>
          <a:ln xmlns:a="http://schemas.openxmlformats.org/drawingml/2006/main" w="12383">
            <a:solidFill>
              <a:srgbClr val="2CA56F"/>
            </a:solidFill>
            <a:prstDash val="solid"/>
          </a:ln>
        </p:spPr>
      </p:sp>
      <p:sp>
        <p:nvSpPr>
          <p:cNvPr id="46" name="s26-letter-3">
            <a:extLst xmlns:a="http://schemas.openxmlformats.org/drawingml/2006/main">
              <a:ext uri="{FF2B5EF4-FFF2-40B4-BE49-F238E27FC236}">
                <a16:creationId xmlns:a16="http://schemas.microsoft.com/office/drawing/2014/main" id="{88E71B93-EA73-4CD4-81E3-9C3D3A0DB45E}"/>
              </a:ext>
            </a:extLst>
          </p:cNvPr>
          <p:cNvSpPr>
            <a:spLocks xmlns:a="http://schemas.openxmlformats.org/drawingml/2006/main" noGrp="1"/>
          </p:cNvSpPr>
          <p:nvPr/>
        </p:nvSpPr>
        <p:spPr>
          <a:xfrm xmlns:a="http://schemas.openxmlformats.org/drawingml/2006/main">
            <a:off x="819150" y="3990975"/>
            <a:ext cx="447675" cy="400050"/>
          </a:xfrm>
          <a:prstGeom xmlns:a="http://schemas.openxmlformats.org/drawingml/2006/main" prst="roundRect">
            <a:avLst>
              <a:gd name="adj" fmla="val 28571"/>
            </a:avLst>
          </a:prstGeom>
          <a:solidFill xmlns:a="http://schemas.openxmlformats.org/drawingml/2006/main">
            <a:srgbClr val="2CA56F"/>
          </a:solidFill>
          <a:ln xmlns:a="http://schemas.openxmlformats.org/drawingml/2006/main" w="14288">
            <a:solidFill>
              <a:srgbClr val="2CA56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575" b="1">
                <a:solidFill>
                  <a:srgbClr val="FFFFFF"/>
                </a:solidFill>
                <a:latin typeface="Aptos"/>
                <a:ea typeface="Aptos"/>
                <a:cs typeface="Aptos"/>
              </a:defRPr>
            </a:pPr>
            <a:r>
              <a:rPr sz="1575" b="1">
                <a:solidFill>
                  <a:srgbClr val="FFFFFF"/>
                </a:solidFill>
                <a:latin typeface="Aptos"/>
                <a:ea typeface="Aptos"/>
                <a:cs typeface="Aptos"/>
              </a:rPr>
              <a:t>D</a:t>
            </a:r>
          </a:p>
        </p:txBody>
      </p:sp>
      <p:sp>
        <p:nvSpPr>
          <p:cNvPr id="47" name="s26-cond-3">
            <a:extLst xmlns:a="http://schemas.openxmlformats.org/drawingml/2006/main">
              <a:ext uri="{FF2B5EF4-FFF2-40B4-BE49-F238E27FC236}">
                <a16:creationId xmlns:a16="http://schemas.microsoft.com/office/drawing/2014/main" id="{4DBF6E3A-8BCE-492A-B5E4-B32C7A733114}"/>
              </a:ext>
            </a:extLst>
          </p:cNvPr>
          <p:cNvSpPr>
            <a:spLocks xmlns:a="http://schemas.openxmlformats.org/drawingml/2006/main" noGrp="1"/>
          </p:cNvSpPr>
          <p:nvPr/>
        </p:nvSpPr>
        <p:spPr>
          <a:xfrm xmlns:a="http://schemas.openxmlformats.org/drawingml/2006/main">
            <a:off x="1438275" y="3971925"/>
            <a:ext cx="2057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275" b="1">
                <a:solidFill>
                  <a:srgbClr val="0B1F33"/>
                </a:solidFill>
                <a:latin typeface="Aptos"/>
                <a:ea typeface="Aptos"/>
                <a:cs typeface="Aptos"/>
              </a:defRPr>
            </a:pPr>
            <a:r>
              <a:rPr sz="1275" b="1">
                <a:solidFill>
                  <a:srgbClr val="0B1F33"/>
                </a:solidFill>
                <a:latin typeface="Aptos"/>
                <a:ea typeface="Aptos"/>
                <a:cs typeface="Aptos"/>
              </a:rPr>
              <a:t>Minor</a:t>
            </a:r>
          </a:p>
        </p:txBody>
      </p:sp>
      <p:sp>
        <p:nvSpPr>
          <p:cNvPr id="48" name="s26-impl-3">
            <a:extLst xmlns:a="http://schemas.openxmlformats.org/drawingml/2006/main">
              <a:ext uri="{FF2B5EF4-FFF2-40B4-BE49-F238E27FC236}">
                <a16:creationId xmlns:a16="http://schemas.microsoft.com/office/drawing/2014/main" id="{497355D2-CB6C-4075-ABAD-F4B6A4292549}"/>
              </a:ext>
            </a:extLst>
          </p:cNvPr>
          <p:cNvSpPr>
            <a:spLocks xmlns:a="http://schemas.openxmlformats.org/drawingml/2006/main" noGrp="1"/>
          </p:cNvSpPr>
          <p:nvPr/>
        </p:nvSpPr>
        <p:spPr>
          <a:xfrm xmlns:a="http://schemas.openxmlformats.org/drawingml/2006/main">
            <a:off x="3543300" y="3971925"/>
            <a:ext cx="2819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defRPr sz="1140" b="1">
                <a:solidFill>
                  <a:srgbClr val="17324A"/>
                </a:solidFill>
                <a:latin typeface="Aptos"/>
                <a:ea typeface="Aptos"/>
                <a:cs typeface="Aptos"/>
              </a:defRPr>
            </a:pPr>
            <a:r>
              <a:rPr sz="1140" b="1">
                <a:solidFill>
                  <a:srgbClr val="17324A"/>
                </a:solidFill>
                <a:latin typeface="Aptos"/>
                <a:ea typeface="Aptos"/>
                <a:cs typeface="Aptos"/>
              </a:rPr>
              <a:t>reduced objective set</a:t>
            </a:r>
          </a:p>
        </p:txBody>
      </p:sp>
      <p:sp>
        <p:nvSpPr>
          <p:cNvPr id="49" name="s26-level-4">
            <a:extLst xmlns:a="http://schemas.openxmlformats.org/drawingml/2006/main">
              <a:ext uri="{FF2B5EF4-FFF2-40B4-BE49-F238E27FC236}">
                <a16:creationId xmlns:a16="http://schemas.microsoft.com/office/drawing/2014/main" id="{D9B1DD94-ADCB-46F5-AFE4-B02ABDCA5CCC}"/>
              </a:ext>
            </a:extLst>
          </p:cNvPr>
          <p:cNvSpPr>
            <a:spLocks xmlns:a="http://schemas.openxmlformats.org/drawingml/2006/main" noGrp="1"/>
          </p:cNvSpPr>
          <p:nvPr/>
        </p:nvSpPr>
        <p:spPr>
          <a:xfrm xmlns:a="http://schemas.openxmlformats.org/drawingml/2006/main">
            <a:off x="685800" y="4619625"/>
            <a:ext cx="5848350" cy="590550"/>
          </a:xfrm>
          <a:prstGeom xmlns:a="http://schemas.openxmlformats.org/drawingml/2006/main" prst="roundRect">
            <a:avLst>
              <a:gd name="adj" fmla="val 19355"/>
            </a:avLst>
          </a:prstGeom>
          <a:solidFill xmlns:a="http://schemas.openxmlformats.org/drawingml/2006/main">
            <a:srgbClr val="EEF4F8"/>
          </a:solidFill>
          <a:ln xmlns:a="http://schemas.openxmlformats.org/drawingml/2006/main" w="12383">
            <a:solidFill>
              <a:srgbClr val="5D7487"/>
            </a:solidFill>
            <a:prstDash val="solid"/>
          </a:ln>
        </p:spPr>
      </p:sp>
      <p:sp>
        <p:nvSpPr>
          <p:cNvPr id="50" name="s26-letter-4">
            <a:extLst xmlns:a="http://schemas.openxmlformats.org/drawingml/2006/main">
              <a:ext uri="{FF2B5EF4-FFF2-40B4-BE49-F238E27FC236}">
                <a16:creationId xmlns:a16="http://schemas.microsoft.com/office/drawing/2014/main" id="{C5915E81-EFB3-497D-8147-DF6D4CBF20F9}"/>
              </a:ext>
            </a:extLst>
          </p:cNvPr>
          <p:cNvSpPr>
            <a:spLocks xmlns:a="http://schemas.openxmlformats.org/drawingml/2006/main" noGrp="1"/>
          </p:cNvSpPr>
          <p:nvPr/>
        </p:nvSpPr>
        <p:spPr>
          <a:xfrm xmlns:a="http://schemas.openxmlformats.org/drawingml/2006/main">
            <a:off x="819150" y="4714875"/>
            <a:ext cx="447675" cy="400050"/>
          </a:xfrm>
          <a:prstGeom xmlns:a="http://schemas.openxmlformats.org/drawingml/2006/main" prst="roundRect">
            <a:avLst>
              <a:gd name="adj" fmla="val 28571"/>
            </a:avLst>
          </a:prstGeom>
          <a:solidFill xmlns:a="http://schemas.openxmlformats.org/drawingml/2006/main">
            <a:srgbClr val="5D7487"/>
          </a:solidFill>
          <a:ln xmlns:a="http://schemas.openxmlformats.org/drawingml/2006/main" w="14288">
            <a:solidFill>
              <a:srgbClr val="5D7487"/>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575" b="1">
                <a:solidFill>
                  <a:srgbClr val="FFFFFF"/>
                </a:solidFill>
                <a:latin typeface="Aptos"/>
                <a:ea typeface="Aptos"/>
                <a:cs typeface="Aptos"/>
              </a:defRPr>
            </a:pPr>
            <a:r>
              <a:rPr sz="1575" b="1">
                <a:solidFill>
                  <a:srgbClr val="FFFFFF"/>
                </a:solidFill>
                <a:latin typeface="Aptos"/>
                <a:ea typeface="Aptos"/>
                <a:cs typeface="Aptos"/>
              </a:rPr>
              <a:t>E</a:t>
            </a:r>
          </a:p>
        </p:txBody>
      </p:sp>
      <p:sp>
        <p:nvSpPr>
          <p:cNvPr id="51" name="s26-cond-4">
            <a:extLst xmlns:a="http://schemas.openxmlformats.org/drawingml/2006/main">
              <a:ext uri="{FF2B5EF4-FFF2-40B4-BE49-F238E27FC236}">
                <a16:creationId xmlns:a16="http://schemas.microsoft.com/office/drawing/2014/main" id="{7DFB2ECD-8C90-49B8-BBA8-1A04621C8427}"/>
              </a:ext>
            </a:extLst>
          </p:cNvPr>
          <p:cNvSpPr>
            <a:spLocks xmlns:a="http://schemas.openxmlformats.org/drawingml/2006/main" noGrp="1"/>
          </p:cNvSpPr>
          <p:nvPr/>
        </p:nvSpPr>
        <p:spPr>
          <a:xfrm xmlns:a="http://schemas.openxmlformats.org/drawingml/2006/main">
            <a:off x="1438275" y="4695825"/>
            <a:ext cx="2057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275" b="1">
                <a:solidFill>
                  <a:srgbClr val="0B1F33"/>
                </a:solidFill>
                <a:latin typeface="Aptos"/>
                <a:ea typeface="Aptos"/>
                <a:cs typeface="Aptos"/>
              </a:defRPr>
            </a:pPr>
            <a:r>
              <a:rPr sz="1275" b="1">
                <a:solidFill>
                  <a:srgbClr val="0B1F33"/>
                </a:solidFill>
                <a:latin typeface="Aptos"/>
                <a:ea typeface="Aptos"/>
                <a:cs typeface="Aptos"/>
              </a:rPr>
              <a:t>No Effect</a:t>
            </a:r>
          </a:p>
        </p:txBody>
      </p:sp>
      <p:sp>
        <p:nvSpPr>
          <p:cNvPr id="52" name="s26-impl-4">
            <a:extLst xmlns:a="http://schemas.openxmlformats.org/drawingml/2006/main">
              <a:ext uri="{FF2B5EF4-FFF2-40B4-BE49-F238E27FC236}">
                <a16:creationId xmlns:a16="http://schemas.microsoft.com/office/drawing/2014/main" id="{52A9B23B-084D-40F1-BF1C-FD047E058BEB}"/>
              </a:ext>
            </a:extLst>
          </p:cNvPr>
          <p:cNvSpPr>
            <a:spLocks xmlns:a="http://schemas.openxmlformats.org/drawingml/2006/main" noGrp="1"/>
          </p:cNvSpPr>
          <p:nvPr/>
        </p:nvSpPr>
        <p:spPr>
          <a:xfrm xmlns:a="http://schemas.openxmlformats.org/drawingml/2006/main">
            <a:off x="3543300" y="4695825"/>
            <a:ext cx="2819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defRPr sz="1140" b="1">
                <a:solidFill>
                  <a:srgbClr val="17324A"/>
                </a:solidFill>
                <a:latin typeface="Aptos"/>
                <a:ea typeface="Aptos"/>
                <a:cs typeface="Aptos"/>
              </a:defRPr>
            </a:pPr>
            <a:r>
              <a:rPr sz="1140" b="1">
                <a:solidFill>
                  <a:srgbClr val="17324A"/>
                </a:solidFill>
                <a:latin typeface="Aptos"/>
                <a:ea typeface="Aptos"/>
                <a:cs typeface="Aptos"/>
              </a:rPr>
              <a:t>no DO-178C objectives apply</a:t>
            </a:r>
          </a:p>
        </p:txBody>
      </p:sp>
      <p:sp>
        <p:nvSpPr>
          <p:cNvPr id="53" name="s26-ind-0">
            <a:extLst xmlns:a="http://schemas.openxmlformats.org/drawingml/2006/main">
              <a:ext uri="{FF2B5EF4-FFF2-40B4-BE49-F238E27FC236}">
                <a16:creationId xmlns:a16="http://schemas.microsoft.com/office/drawing/2014/main" id="{A4FB38A9-7D75-4E71-9873-789897AE57ED}"/>
              </a:ext>
            </a:extLst>
          </p:cNvPr>
          <p:cNvSpPr>
            <a:spLocks xmlns:a="http://schemas.openxmlformats.org/drawingml/2006/main" noGrp="1"/>
          </p:cNvSpPr>
          <p:nvPr/>
        </p:nvSpPr>
        <p:spPr>
          <a:xfrm xmlns:a="http://schemas.openxmlformats.org/drawingml/2006/main">
            <a:off x="6896100" y="1724025"/>
            <a:ext cx="4610100" cy="990600"/>
          </a:xfrm>
          <a:prstGeom xmlns:a="http://schemas.openxmlformats.org/drawingml/2006/main" prst="roundRect">
            <a:avLst>
              <a:gd name="adj" fmla="val 11538"/>
            </a:avLst>
          </a:prstGeom>
          <a:solidFill xmlns:a="http://schemas.openxmlformats.org/drawingml/2006/main">
            <a:srgbClr val="DFF6F8"/>
          </a:solidFill>
          <a:ln xmlns:a="http://schemas.openxmlformats.org/drawingml/2006/main" w="14288">
            <a:solidFill>
              <a:srgbClr val="20B7C5"/>
            </a:solidFill>
            <a:prstDash val="solid"/>
          </a:ln>
        </p:spPr>
      </p:sp>
      <p:sp>
        <p:nvSpPr>
          <p:cNvPr id="54" name="s26-ind-title-0">
            <a:extLst xmlns:a="http://schemas.openxmlformats.org/drawingml/2006/main">
              <a:ext uri="{FF2B5EF4-FFF2-40B4-BE49-F238E27FC236}">
                <a16:creationId xmlns:a16="http://schemas.microsoft.com/office/drawing/2014/main" id="{ABC2F4AE-9FD5-4DA8-A63C-FF3A2A197D40}"/>
              </a:ext>
            </a:extLst>
          </p:cNvPr>
          <p:cNvSpPr>
            <a:spLocks xmlns:a="http://schemas.openxmlformats.org/drawingml/2006/main" noGrp="1"/>
          </p:cNvSpPr>
          <p:nvPr/>
        </p:nvSpPr>
        <p:spPr>
          <a:xfrm xmlns:a="http://schemas.openxmlformats.org/drawingml/2006/main">
            <a:off x="7086600" y="1838325"/>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163" b="1">
                <a:solidFill>
                  <a:srgbClr val="20B7C5"/>
                </a:solidFill>
                <a:latin typeface="Aptos"/>
                <a:ea typeface="Aptos"/>
                <a:cs typeface="Aptos"/>
              </a:defRPr>
            </a:pPr>
            <a:r>
              <a:rPr sz="1163" b="1">
                <a:solidFill>
                  <a:srgbClr val="20B7C5"/>
                </a:solidFill>
                <a:latin typeface="Aptos"/>
                <a:ea typeface="Aptos"/>
                <a:cs typeface="Aptos"/>
              </a:rPr>
              <a:t>PLANNED</a:t>
            </a:r>
          </a:p>
        </p:txBody>
      </p:sp>
      <p:sp>
        <p:nvSpPr>
          <p:cNvPr id="55" name="s26-ind-body-0">
            <a:extLst xmlns:a="http://schemas.openxmlformats.org/drawingml/2006/main">
              <a:ext uri="{FF2B5EF4-FFF2-40B4-BE49-F238E27FC236}">
                <a16:creationId xmlns:a16="http://schemas.microsoft.com/office/drawing/2014/main" id="{A54935B2-61FB-4E65-BC56-3B08D40DF6B3}"/>
              </a:ext>
            </a:extLst>
          </p:cNvPr>
          <p:cNvSpPr>
            <a:spLocks xmlns:a="http://schemas.openxmlformats.org/drawingml/2006/main" noGrp="1"/>
          </p:cNvSpPr>
          <p:nvPr/>
        </p:nvSpPr>
        <p:spPr>
          <a:xfrm xmlns:a="http://schemas.openxmlformats.org/drawingml/2006/main">
            <a:off x="7086600" y="2085975"/>
            <a:ext cx="4229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1200" b="1">
                <a:solidFill>
                  <a:srgbClr val="17324A"/>
                </a:solidFill>
                <a:latin typeface="Aptos"/>
                <a:ea typeface="Aptos"/>
                <a:cs typeface="Aptos"/>
              </a:defRPr>
            </a:pPr>
            <a:r>
              <a:rPr sz="1200" b="1">
                <a:solidFill>
                  <a:srgbClr val="17324A"/>
                </a:solidFill>
                <a:latin typeface="Aptos"/>
                <a:ea typeface="Aptos"/>
                <a:cs typeface="Aptos"/>
              </a:rPr>
              <a:t>Approved plans designate which verification objectives require independence.</a:t>
            </a:r>
          </a:p>
        </p:txBody>
      </p:sp>
      <p:sp>
        <p:nvSpPr>
          <p:cNvPr id="56" name="s26-ind-1">
            <a:extLst xmlns:a="http://schemas.openxmlformats.org/drawingml/2006/main">
              <a:ext uri="{FF2B5EF4-FFF2-40B4-BE49-F238E27FC236}">
                <a16:creationId xmlns:a16="http://schemas.microsoft.com/office/drawing/2014/main" id="{0E393ED6-46E8-49E3-9BA2-1A8C05C98876}"/>
              </a:ext>
            </a:extLst>
          </p:cNvPr>
          <p:cNvSpPr>
            <a:spLocks xmlns:a="http://schemas.openxmlformats.org/drawingml/2006/main" noGrp="1"/>
          </p:cNvSpPr>
          <p:nvPr/>
        </p:nvSpPr>
        <p:spPr>
          <a:xfrm xmlns:a="http://schemas.openxmlformats.org/drawingml/2006/main">
            <a:off x="6896100" y="2924175"/>
            <a:ext cx="4610100" cy="990600"/>
          </a:xfrm>
          <a:prstGeom xmlns:a="http://schemas.openxmlformats.org/drawingml/2006/main" prst="roundRect">
            <a:avLst>
              <a:gd name="adj" fmla="val 11538"/>
            </a:avLst>
          </a:prstGeom>
          <a:solidFill xmlns:a="http://schemas.openxmlformats.org/drawingml/2006/main">
            <a:srgbClr val="FFFFFF"/>
          </a:solidFill>
          <a:ln xmlns:a="http://schemas.openxmlformats.org/drawingml/2006/main" w="14288">
            <a:solidFill>
              <a:srgbClr val="20B7C5"/>
            </a:solidFill>
            <a:prstDash val="solid"/>
          </a:ln>
        </p:spPr>
      </p:sp>
      <p:sp>
        <p:nvSpPr>
          <p:cNvPr id="57" name="s26-ind-title-1">
            <a:extLst xmlns:a="http://schemas.openxmlformats.org/drawingml/2006/main">
              <a:ext uri="{FF2B5EF4-FFF2-40B4-BE49-F238E27FC236}">
                <a16:creationId xmlns:a16="http://schemas.microsoft.com/office/drawing/2014/main" id="{286C58FA-052E-4FA9-B67F-BD1FC5C09B77}"/>
              </a:ext>
            </a:extLst>
          </p:cNvPr>
          <p:cNvSpPr>
            <a:spLocks xmlns:a="http://schemas.openxmlformats.org/drawingml/2006/main" noGrp="1"/>
          </p:cNvSpPr>
          <p:nvPr/>
        </p:nvSpPr>
        <p:spPr>
          <a:xfrm xmlns:a="http://schemas.openxmlformats.org/drawingml/2006/main">
            <a:off x="7086600" y="3038475"/>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163" b="1">
                <a:solidFill>
                  <a:srgbClr val="20B7C5"/>
                </a:solidFill>
                <a:latin typeface="Aptos"/>
                <a:ea typeface="Aptos"/>
                <a:cs typeface="Aptos"/>
              </a:defRPr>
            </a:pPr>
            <a:r>
              <a:rPr sz="1163" b="1">
                <a:solidFill>
                  <a:srgbClr val="20B7C5"/>
                </a:solidFill>
                <a:latin typeface="Aptos"/>
                <a:ea typeface="Aptos"/>
                <a:cs typeface="Aptos"/>
              </a:rPr>
              <a:t>ROLE-BASED</a:t>
            </a:r>
          </a:p>
        </p:txBody>
      </p:sp>
      <p:sp>
        <p:nvSpPr>
          <p:cNvPr id="58" name="s26-ind-body-1">
            <a:extLst xmlns:a="http://schemas.openxmlformats.org/drawingml/2006/main">
              <a:ext uri="{FF2B5EF4-FFF2-40B4-BE49-F238E27FC236}">
                <a16:creationId xmlns:a16="http://schemas.microsoft.com/office/drawing/2014/main" id="{7E6AA54C-3CB2-4682-B0E3-2322FBBA2012}"/>
              </a:ext>
            </a:extLst>
          </p:cNvPr>
          <p:cNvSpPr>
            <a:spLocks xmlns:a="http://schemas.openxmlformats.org/drawingml/2006/main" noGrp="1"/>
          </p:cNvSpPr>
          <p:nvPr/>
        </p:nvSpPr>
        <p:spPr>
          <a:xfrm xmlns:a="http://schemas.openxmlformats.org/drawingml/2006/main">
            <a:off x="7086600" y="3286125"/>
            <a:ext cx="4229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1200" b="1">
                <a:solidFill>
                  <a:srgbClr val="17324A"/>
                </a:solidFill>
                <a:latin typeface="Aptos"/>
                <a:ea typeface="Aptos"/>
                <a:cs typeface="Aptos"/>
              </a:defRPr>
            </a:pPr>
            <a:r>
              <a:rPr sz="1200" b="1">
                <a:solidFill>
                  <a:srgbClr val="17324A"/>
                </a:solidFill>
                <a:latin typeface="Aptos"/>
                <a:ea typeface="Aptos"/>
                <a:cs typeface="Aptos"/>
              </a:rPr>
              <a:t>Where required, the author is not the sole independent verifier of their own work.</a:t>
            </a:r>
          </a:p>
        </p:txBody>
      </p:sp>
      <p:sp>
        <p:nvSpPr>
          <p:cNvPr id="59" name="s26-ind-2">
            <a:extLst xmlns:a="http://schemas.openxmlformats.org/drawingml/2006/main">
              <a:ext uri="{FF2B5EF4-FFF2-40B4-BE49-F238E27FC236}">
                <a16:creationId xmlns:a16="http://schemas.microsoft.com/office/drawing/2014/main" id="{F14AC1A6-6269-4885-9930-D9CB64F09C67}"/>
              </a:ext>
            </a:extLst>
          </p:cNvPr>
          <p:cNvSpPr>
            <a:spLocks xmlns:a="http://schemas.openxmlformats.org/drawingml/2006/main" noGrp="1"/>
          </p:cNvSpPr>
          <p:nvPr/>
        </p:nvSpPr>
        <p:spPr>
          <a:xfrm xmlns:a="http://schemas.openxmlformats.org/drawingml/2006/main">
            <a:off x="6896100" y="4124325"/>
            <a:ext cx="4610100" cy="990600"/>
          </a:xfrm>
          <a:prstGeom xmlns:a="http://schemas.openxmlformats.org/drawingml/2006/main" prst="roundRect">
            <a:avLst>
              <a:gd name="adj" fmla="val 11538"/>
            </a:avLst>
          </a:prstGeom>
          <a:solidFill xmlns:a="http://schemas.openxmlformats.org/drawingml/2006/main">
            <a:srgbClr val="FFFFFF"/>
          </a:solidFill>
          <a:ln xmlns:a="http://schemas.openxmlformats.org/drawingml/2006/main" w="14288">
            <a:solidFill>
              <a:srgbClr val="20B7C5"/>
            </a:solidFill>
            <a:prstDash val="solid"/>
          </a:ln>
        </p:spPr>
      </p:sp>
      <p:sp>
        <p:nvSpPr>
          <p:cNvPr id="60" name="s26-ind-title-2">
            <a:extLst xmlns:a="http://schemas.openxmlformats.org/drawingml/2006/main">
              <a:ext uri="{FF2B5EF4-FFF2-40B4-BE49-F238E27FC236}">
                <a16:creationId xmlns:a16="http://schemas.microsoft.com/office/drawing/2014/main" id="{92325337-F0B1-4DCD-96FC-C5D9287C4D5E}"/>
              </a:ext>
            </a:extLst>
          </p:cNvPr>
          <p:cNvSpPr>
            <a:spLocks xmlns:a="http://schemas.openxmlformats.org/drawingml/2006/main" noGrp="1"/>
          </p:cNvSpPr>
          <p:nvPr/>
        </p:nvSpPr>
        <p:spPr>
          <a:xfrm xmlns:a="http://schemas.openxmlformats.org/drawingml/2006/main">
            <a:off x="7086600" y="4238625"/>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163" b="1">
                <a:solidFill>
                  <a:srgbClr val="20B7C5"/>
                </a:solidFill>
                <a:latin typeface="Aptos"/>
                <a:ea typeface="Aptos"/>
                <a:cs typeface="Aptos"/>
              </a:defRPr>
            </a:pPr>
            <a:r>
              <a:rPr sz="1163" b="1">
                <a:solidFill>
                  <a:srgbClr val="20B7C5"/>
                </a:solidFill>
                <a:latin typeface="Aptos"/>
                <a:ea typeface="Aptos"/>
                <a:cs typeface="Aptos"/>
              </a:rPr>
              <a:t>EVIDENCED</a:t>
            </a:r>
          </a:p>
        </p:txBody>
      </p:sp>
      <p:sp>
        <p:nvSpPr>
          <p:cNvPr id="61" name="s26-ind-body-2">
            <a:extLst xmlns:a="http://schemas.openxmlformats.org/drawingml/2006/main">
              <a:ext uri="{FF2B5EF4-FFF2-40B4-BE49-F238E27FC236}">
                <a16:creationId xmlns:a16="http://schemas.microsoft.com/office/drawing/2014/main" id="{FBFB5AC1-D798-4EA1-B1F5-2958447B2587}"/>
              </a:ext>
            </a:extLst>
          </p:cNvPr>
          <p:cNvSpPr>
            <a:spLocks xmlns:a="http://schemas.openxmlformats.org/drawingml/2006/main" noGrp="1"/>
          </p:cNvSpPr>
          <p:nvPr/>
        </p:nvSpPr>
        <p:spPr>
          <a:xfrm xmlns:a="http://schemas.openxmlformats.org/drawingml/2006/main">
            <a:off x="7086600" y="4486275"/>
            <a:ext cx="4229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1200" b="1">
                <a:solidFill>
                  <a:srgbClr val="17324A"/>
                </a:solidFill>
                <a:latin typeface="Aptos"/>
                <a:ea typeface="Aptos"/>
                <a:cs typeface="Aptos"/>
              </a:defRPr>
            </a:pPr>
            <a:r>
              <a:rPr sz="1200" b="1">
                <a:solidFill>
                  <a:srgbClr val="17324A"/>
                </a:solidFill>
                <a:latin typeface="Aptos"/>
                <a:ea typeface="Aptos"/>
                <a:cs typeface="Aptos"/>
              </a:rPr>
              <a:t>Review records identify the verifier, activity, baseline, findings, and disposition.</a:t>
            </a:r>
          </a:p>
        </p:txBody>
      </p:sp>
      <p:sp>
        <p:nvSpPr>
          <p:cNvPr id="62" name="s26-takeaway">
            <a:extLst xmlns:a="http://schemas.openxmlformats.org/drawingml/2006/main">
              <a:ext uri="{FF2B5EF4-FFF2-40B4-BE49-F238E27FC236}">
                <a16:creationId xmlns:a16="http://schemas.microsoft.com/office/drawing/2014/main" id="{96A6152F-4749-4F3B-83D7-A0E19B84D863}"/>
              </a:ext>
            </a:extLst>
          </p:cNvPr>
          <p:cNvSpPr>
            <a:spLocks xmlns:a="http://schemas.openxmlformats.org/drawingml/2006/main" noGrp="1"/>
          </p:cNvSpPr>
          <p:nvPr/>
        </p:nvSpPr>
        <p:spPr>
          <a:xfrm xmlns:a="http://schemas.openxmlformats.org/drawingml/2006/main">
            <a:off x="6896100" y="5467350"/>
            <a:ext cx="4610100" cy="590550"/>
          </a:xfrm>
          <a:prstGeom xmlns:a="http://schemas.openxmlformats.org/drawingml/2006/main" prst="roundRect">
            <a:avLst>
              <a:gd name="adj" fmla="val 19355"/>
            </a:avLst>
          </a:prstGeom>
          <a:solidFill xmlns:a="http://schemas.openxmlformats.org/drawingml/2006/main">
            <a:srgbClr val="0B243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238" b="1">
                <a:solidFill>
                  <a:srgbClr val="FFFFFF"/>
                </a:solidFill>
                <a:latin typeface="Aptos"/>
                <a:ea typeface="Aptos"/>
                <a:cs typeface="Aptos"/>
              </a:defRPr>
            </a:pPr>
            <a:r>
              <a:rPr sz="1238" b="1">
                <a:solidFill>
                  <a:srgbClr val="FFFFFF"/>
                </a:solidFill>
                <a:latin typeface="Aptos"/>
                <a:ea typeface="Aptos"/>
                <a:cs typeface="Aptos"/>
              </a:rPr>
              <a:t>Use “DO-178C Software Level A” unless discussing a broader system DAL allocation.</a:t>
            </a:r>
          </a:p>
        </p:txBody>
      </p:sp>
    </p:spTree>
    <p:extLst>
      <p:ext uri="{BB962C8B-B14F-4D97-AF65-F5344CB8AC3E}">
        <p14:creationId xmlns:p14="http://schemas.microsoft.com/office/powerpoint/2010/main" val="1670726246"/>
      </p:ext>
    </p:extLst>
  </p:cSld>
</p:sld>
</file>

<file path=ppt/slides/slide27.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 name="title-221">
            <a:extLst xmlns:a="http://schemas.openxmlformats.org/drawingml/2006/main">
              <a:ext uri="{FF2B5EF4-FFF2-40B4-BE49-F238E27FC236}">
                <a16:creationId xmlns:a16="http://schemas.microsoft.com/office/drawing/2014/main" id="{FDE57E6C-742E-465C-BDD9-4B6AF2DAA6DC}"/>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Traceability turns artifacts into evidence</a:t>
            </a:r>
          </a:p>
        </p:txBody>
      </p:sp>
      <p:sp>
        <p:nvSpPr>
          <p:cNvPr id="3" name="line-222">
            <a:extLst xmlns:a="http://schemas.openxmlformats.org/drawingml/2006/main">
              <a:ext uri="{FF2B5EF4-FFF2-40B4-BE49-F238E27FC236}">
                <a16:creationId xmlns:a16="http://schemas.microsoft.com/office/drawing/2014/main" id="{B143FFE8-C825-4D1C-BCA7-C90445F792E7}"/>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5" name="text-224">
            <a:extLst xmlns:a="http://schemas.openxmlformats.org/drawingml/2006/main">
              <a:ext uri="{FF2B5EF4-FFF2-40B4-BE49-F238E27FC236}">
                <a16:creationId xmlns:a16="http://schemas.microsoft.com/office/drawing/2014/main" id="{E189063A-2BC8-45A5-AD92-332DFD39F0B9}"/>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27</a:t>
            </a:r>
          </a:p>
        </p:txBody>
      </p:sp>
      <p:sp>
        <p:nvSpPr>
          <p:cNvPr id="6" name="box-225">
            <a:extLst xmlns:a="http://schemas.openxmlformats.org/drawingml/2006/main">
              <a:ext uri="{FF2B5EF4-FFF2-40B4-BE49-F238E27FC236}">
                <a16:creationId xmlns:a16="http://schemas.microsoft.com/office/drawing/2014/main" id="{D01F76BD-97E0-4C59-9E93-763C9649C118}"/>
              </a:ext>
            </a:extLst>
          </p:cNvPr>
          <p:cNvSpPr>
            <a:spLocks xmlns:a="http://schemas.openxmlformats.org/drawingml/2006/main" noGrp="1"/>
          </p:cNvSpPr>
          <p:nvPr/>
        </p:nvSpPr>
        <p:spPr>
          <a:xfrm xmlns:a="http://schemas.openxmlformats.org/drawingml/2006/main">
            <a:off x="781050" y="2095500"/>
            <a:ext cx="2000250" cy="742950"/>
          </a:xfrm>
          <a:prstGeom xmlns:a="http://schemas.openxmlformats.org/drawingml/2006/main" prst="roundRect">
            <a:avLst>
              <a:gd name="adj" fmla="val 12821"/>
            </a:avLst>
          </a:prstGeom>
          <a:solidFill xmlns:a="http://schemas.openxmlformats.org/drawingml/2006/main">
            <a:srgbClr val="E2ECFF"/>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Requirement</a:t>
            </a:r>
          </a:p>
        </p:txBody>
      </p:sp>
      <p:sp>
        <p:nvSpPr>
          <p:cNvPr id="7" name="box-226">
            <a:extLst xmlns:a="http://schemas.openxmlformats.org/drawingml/2006/main">
              <a:ext uri="{FF2B5EF4-FFF2-40B4-BE49-F238E27FC236}">
                <a16:creationId xmlns:a16="http://schemas.microsoft.com/office/drawing/2014/main" id="{9B8C7A20-5105-460C-BEB1-49DBCA30DFE1}"/>
              </a:ext>
            </a:extLst>
          </p:cNvPr>
          <p:cNvSpPr>
            <a:spLocks xmlns:a="http://schemas.openxmlformats.org/drawingml/2006/main" noGrp="1"/>
          </p:cNvSpPr>
          <p:nvPr/>
        </p:nvSpPr>
        <p:spPr>
          <a:xfrm xmlns:a="http://schemas.openxmlformats.org/drawingml/2006/main">
            <a:off x="3371850" y="2095500"/>
            <a:ext cx="2000250" cy="742950"/>
          </a:xfrm>
          <a:prstGeom xmlns:a="http://schemas.openxmlformats.org/drawingml/2006/main" prst="roundRect">
            <a:avLst>
              <a:gd name="adj" fmla="val 12821"/>
            </a:avLst>
          </a:prstGeom>
          <a:solidFill xmlns:a="http://schemas.openxmlformats.org/drawingml/2006/main">
            <a:srgbClr val="DFF6F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Model element</a:t>
            </a:r>
          </a:p>
        </p:txBody>
      </p:sp>
      <p:sp>
        <p:nvSpPr>
          <p:cNvPr id="8" name="box-227">
            <a:extLst xmlns:a="http://schemas.openxmlformats.org/drawingml/2006/main">
              <a:ext uri="{FF2B5EF4-FFF2-40B4-BE49-F238E27FC236}">
                <a16:creationId xmlns:a16="http://schemas.microsoft.com/office/drawing/2014/main" id="{BEB03EEC-E091-45E6-B05B-24CCE99BD531}"/>
              </a:ext>
            </a:extLst>
          </p:cNvPr>
          <p:cNvSpPr>
            <a:spLocks xmlns:a="http://schemas.openxmlformats.org/drawingml/2006/main" noGrp="1"/>
          </p:cNvSpPr>
          <p:nvPr/>
        </p:nvSpPr>
        <p:spPr>
          <a:xfrm xmlns:a="http://schemas.openxmlformats.org/drawingml/2006/main">
            <a:off x="5962650" y="2095500"/>
            <a:ext cx="2000250" cy="742950"/>
          </a:xfrm>
          <a:prstGeom xmlns:a="http://schemas.openxmlformats.org/drawingml/2006/main" prst="roundRect">
            <a:avLst>
              <a:gd name="adj" fmla="val 12821"/>
            </a:avLst>
          </a:prstGeom>
          <a:solidFill xmlns:a="http://schemas.openxmlformats.org/drawingml/2006/main">
            <a:srgbClr val="FFF0D7"/>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Test case</a:t>
            </a:r>
          </a:p>
        </p:txBody>
      </p:sp>
      <p:sp>
        <p:nvSpPr>
          <p:cNvPr id="9" name="box-228">
            <a:extLst xmlns:a="http://schemas.openxmlformats.org/drawingml/2006/main">
              <a:ext uri="{FF2B5EF4-FFF2-40B4-BE49-F238E27FC236}">
                <a16:creationId xmlns:a16="http://schemas.microsoft.com/office/drawing/2014/main" id="{AAA547DB-9FB2-43B1-BAFC-ECAC08C98C18}"/>
              </a:ext>
            </a:extLst>
          </p:cNvPr>
          <p:cNvSpPr>
            <a:spLocks xmlns:a="http://schemas.openxmlformats.org/drawingml/2006/main" noGrp="1"/>
          </p:cNvSpPr>
          <p:nvPr/>
        </p:nvSpPr>
        <p:spPr>
          <a:xfrm xmlns:a="http://schemas.openxmlformats.org/drawingml/2006/main">
            <a:off x="8553450" y="2095500"/>
            <a:ext cx="2667000" cy="742950"/>
          </a:xfrm>
          <a:prstGeom xmlns:a="http://schemas.openxmlformats.org/drawingml/2006/main" prst="roundRect">
            <a:avLst>
              <a:gd name="adj" fmla="val 12821"/>
            </a:avLst>
          </a:prstGeom>
          <a:solidFill xmlns:a="http://schemas.openxmlformats.org/drawingml/2006/main">
            <a:srgbClr val="E2F4EA"/>
          </a:solidFill>
          <a:ln xmlns:a="http://schemas.openxmlformats.org/drawingml/2006/main" w="19050">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Verification result</a:t>
            </a:r>
          </a:p>
        </p:txBody>
      </p:sp>
      <p:cxnSp>
        <p:nvCxnSpPr>
          <p:cNvPr id="104" name="Straight Arrow Connector 29"/>
          <p:cNvCxnSpPr>
            <a:stCxn xmlns:a="http://schemas.openxmlformats.org/drawingml/2006/main" id="6" idx="3"/>
            <a:endCxn xmlns:a="http://schemas.openxmlformats.org/drawingml/2006/main" id="7" idx="1"/>
          </p:cNvCxnSpPr>
          <p:nvPr/>
        </p:nvCxnSpPr>
        <p:spPr>
          <a:xfrm xmlns:a="http://schemas.openxmlformats.org/drawingml/2006/main">
            <a:off x="2781300" y="2466975"/>
            <a:ext cx="590550" cy="0"/>
          </a:xfrm>
          <a:prstGeom xmlns:a="http://schemas.openxmlformats.org/drawingml/2006/main" prst="straightConnector1">
            <a:avLst/>
          </a:prstGeom>
          <a:ln xmlns:a="http://schemas.openxmlformats.org/drawingml/2006/main" w="28575">
            <a:solidFill>
              <a:srgbClr val="2D6CDF"/>
            </a:solidFill>
            <a:prstDash val="solid"/>
            <a:headEnd type="triangle" w="sm" len="sm"/>
            <a:tailEnd type="triangle" w="sm" len="sm"/>
          </a:ln>
        </p:spPr>
      </p:cxnSp>
      <p:cxnSp>
        <p:nvCxnSpPr>
          <p:cNvPr id="105" name="Straight Arrow Connector 30"/>
          <p:cNvCxnSpPr>
            <a:stCxn xmlns:a="http://schemas.openxmlformats.org/drawingml/2006/main" id="7" idx="3"/>
            <a:endCxn xmlns:a="http://schemas.openxmlformats.org/drawingml/2006/main" id="8" idx="1"/>
          </p:cNvCxnSpPr>
          <p:nvPr/>
        </p:nvCxnSpPr>
        <p:spPr>
          <a:xfrm xmlns:a="http://schemas.openxmlformats.org/drawingml/2006/main">
            <a:off x="5372100" y="2466975"/>
            <a:ext cx="590550" cy="0"/>
          </a:xfrm>
          <a:prstGeom xmlns:a="http://schemas.openxmlformats.org/drawingml/2006/main" prst="straightConnector1">
            <a:avLst/>
          </a:prstGeom>
          <a:ln xmlns:a="http://schemas.openxmlformats.org/drawingml/2006/main" w="28575">
            <a:solidFill>
              <a:srgbClr val="20B7C5"/>
            </a:solidFill>
            <a:prstDash val="solid"/>
            <a:headEnd type="triangle" w="sm" len="sm"/>
            <a:tailEnd type="triangle" w="sm" len="sm"/>
          </a:ln>
        </p:spPr>
      </p:cxnSp>
      <p:cxnSp>
        <p:nvCxnSpPr>
          <p:cNvPr id="106" name="Straight Arrow Connector 31"/>
          <p:cNvCxnSpPr>
            <a:stCxn xmlns:a="http://schemas.openxmlformats.org/drawingml/2006/main" id="8" idx="3"/>
            <a:endCxn xmlns:a="http://schemas.openxmlformats.org/drawingml/2006/main" id="9" idx="1"/>
          </p:cNvCxnSpPr>
          <p:nvPr/>
        </p:nvCxnSpPr>
        <p:spPr>
          <a:xfrm xmlns:a="http://schemas.openxmlformats.org/drawingml/2006/main">
            <a:off x="7962900" y="2466975"/>
            <a:ext cx="590550" cy="0"/>
          </a:xfrm>
          <a:prstGeom xmlns:a="http://schemas.openxmlformats.org/drawingml/2006/main" prst="straightConnector1">
            <a:avLst/>
          </a:prstGeom>
          <a:ln xmlns:a="http://schemas.openxmlformats.org/drawingml/2006/main" w="28575">
            <a:solidFill>
              <a:srgbClr val="2CA56F"/>
            </a:solidFill>
            <a:prstDash val="solid"/>
            <a:headEnd type="triangle" w="sm" len="sm"/>
            <a:tailEnd type="triangle" w="sm" len="sm"/>
          </a:ln>
        </p:spPr>
      </p:cxnSp>
      <p:sp>
        <p:nvSpPr>
          <p:cNvPr id="13" name="text-229">
            <a:extLst xmlns:a="http://schemas.openxmlformats.org/drawingml/2006/main">
              <a:ext uri="{FF2B5EF4-FFF2-40B4-BE49-F238E27FC236}">
                <a16:creationId xmlns:a16="http://schemas.microsoft.com/office/drawing/2014/main" id="{D75AF412-4462-4C03-B105-F35B61A01F8B}"/>
              </a:ext>
            </a:extLst>
          </p:cNvPr>
          <p:cNvSpPr>
            <a:spLocks xmlns:a="http://schemas.openxmlformats.org/drawingml/2006/main" noGrp="1"/>
          </p:cNvSpPr>
          <p:nvPr/>
        </p:nvSpPr>
        <p:spPr>
          <a:xfrm xmlns:a="http://schemas.openxmlformats.org/drawingml/2006/main">
            <a:off x="1524000" y="3143250"/>
            <a:ext cx="914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575" b="1" i="0">
                <a:solidFill>
                  <a:srgbClr val="20B7C5"/>
                </a:solidFill>
                <a:latin typeface="Aptos"/>
                <a:ea typeface="Aptos"/>
                <a:cs typeface="Aptos"/>
              </a:defRPr>
            </a:pPr>
            <a:r>
              <a:rPr sz="1575" b="1" i="0">
                <a:solidFill>
                  <a:srgbClr val="20B7C5"/>
                </a:solidFill>
                <a:latin typeface="Aptos"/>
                <a:ea typeface="Aptos"/>
                <a:cs typeface="Aptos"/>
              </a:rPr>
              <a:t>BIDIRECTIONAL: every artifact has a reason to exist; every requirement has objective coverage</a:t>
            </a:r>
          </a:p>
        </p:txBody>
      </p:sp>
      <p:sp>
        <p:nvSpPr>
          <p:cNvPr id="14" name="text-230">
            <a:extLst xmlns:a="http://schemas.openxmlformats.org/drawingml/2006/main">
              <a:ext uri="{FF2B5EF4-FFF2-40B4-BE49-F238E27FC236}">
                <a16:creationId xmlns:a16="http://schemas.microsoft.com/office/drawing/2014/main" id="{B366386A-F82D-4B5F-A1C0-BBBD65A12AC1}"/>
              </a:ext>
            </a:extLst>
          </p:cNvPr>
          <p:cNvSpPr>
            <a:spLocks xmlns:a="http://schemas.openxmlformats.org/drawingml/2006/main" noGrp="1"/>
          </p:cNvSpPr>
          <p:nvPr/>
        </p:nvSpPr>
        <p:spPr>
          <a:xfrm xmlns:a="http://schemas.openxmlformats.org/drawingml/2006/main">
            <a:off x="819150" y="40005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75" b="1" i="0">
                <a:solidFill>
                  <a:srgbClr val="5D7487"/>
                </a:solidFill>
                <a:latin typeface="Aptos"/>
                <a:ea typeface="Aptos"/>
                <a:cs typeface="Aptos"/>
              </a:defRPr>
            </a:pPr>
            <a:r>
              <a:rPr sz="1275" b="1" i="0">
                <a:solidFill>
                  <a:srgbClr val="5D7487"/>
                </a:solidFill>
                <a:latin typeface="Aptos"/>
                <a:ea typeface="Aptos"/>
                <a:cs typeface="Aptos"/>
              </a:rPr>
              <a:t>EVIDENCE PACKAGE</a:t>
            </a:r>
          </a:p>
        </p:txBody>
      </p:sp>
      <p:sp>
        <p:nvSpPr>
          <p:cNvPr id="15" name="box-231">
            <a:extLst xmlns:a="http://schemas.openxmlformats.org/drawingml/2006/main">
              <a:ext uri="{FF2B5EF4-FFF2-40B4-BE49-F238E27FC236}">
                <a16:creationId xmlns:a16="http://schemas.microsoft.com/office/drawing/2014/main" id="{28F19DBA-C55C-4970-9893-18A335A71FBE}"/>
              </a:ext>
            </a:extLst>
          </p:cNvPr>
          <p:cNvSpPr>
            <a:spLocks xmlns:a="http://schemas.openxmlformats.org/drawingml/2006/main" noGrp="1"/>
          </p:cNvSpPr>
          <p:nvPr/>
        </p:nvSpPr>
        <p:spPr>
          <a:xfrm xmlns:a="http://schemas.openxmlformats.org/drawingml/2006/main">
            <a:off x="800100" y="4457700"/>
            <a:ext cx="19431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C9D8E3"/>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plans + standards</a:t>
            </a:r>
          </a:p>
        </p:txBody>
      </p:sp>
      <p:sp>
        <p:nvSpPr>
          <p:cNvPr id="16" name="box-232">
            <a:extLst xmlns:a="http://schemas.openxmlformats.org/drawingml/2006/main">
              <a:ext uri="{FF2B5EF4-FFF2-40B4-BE49-F238E27FC236}">
                <a16:creationId xmlns:a16="http://schemas.microsoft.com/office/drawing/2014/main" id="{A2CCDA69-A083-4794-8209-FDCA6B456845}"/>
              </a:ext>
            </a:extLst>
          </p:cNvPr>
          <p:cNvSpPr>
            <a:spLocks xmlns:a="http://schemas.openxmlformats.org/drawingml/2006/main" noGrp="1"/>
          </p:cNvSpPr>
          <p:nvPr/>
        </p:nvSpPr>
        <p:spPr>
          <a:xfrm xmlns:a="http://schemas.openxmlformats.org/drawingml/2006/main">
            <a:off x="2952750" y="4457700"/>
            <a:ext cx="19431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C9D8E3"/>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review records</a:t>
            </a:r>
          </a:p>
        </p:txBody>
      </p:sp>
      <p:sp>
        <p:nvSpPr>
          <p:cNvPr id="17" name="box-233">
            <a:extLst xmlns:a="http://schemas.openxmlformats.org/drawingml/2006/main">
              <a:ext uri="{FF2B5EF4-FFF2-40B4-BE49-F238E27FC236}">
                <a16:creationId xmlns:a16="http://schemas.microsoft.com/office/drawing/2014/main" id="{9D046AB9-CE5C-43EF-B6ED-C28DDC2449BA}"/>
              </a:ext>
            </a:extLst>
          </p:cNvPr>
          <p:cNvSpPr>
            <a:spLocks xmlns:a="http://schemas.openxmlformats.org/drawingml/2006/main" noGrp="1"/>
          </p:cNvSpPr>
          <p:nvPr/>
        </p:nvSpPr>
        <p:spPr>
          <a:xfrm xmlns:a="http://schemas.openxmlformats.org/drawingml/2006/main">
            <a:off x="5105400" y="4457700"/>
            <a:ext cx="1943100" cy="647700"/>
          </a:xfrm>
          <a:prstGeom xmlns:a="http://schemas.openxmlformats.org/drawingml/2006/main" prst="roundRect">
            <a:avLst>
              <a:gd name="adj" fmla="val 11765"/>
            </a:avLst>
          </a:prstGeom>
          <a:solidFill xmlns:a="http://schemas.openxmlformats.org/drawingml/2006/main">
            <a:srgbClr val="0B2438"/>
          </a:solidFill>
          <a:ln xmlns:a="http://schemas.openxmlformats.org/drawingml/2006/main" w="9525">
            <a:solidFill>
              <a:srgbClr val="0B2438"/>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test procedures + results</a:t>
            </a:r>
          </a:p>
        </p:txBody>
      </p:sp>
      <p:sp>
        <p:nvSpPr>
          <p:cNvPr id="18" name="box-234">
            <a:extLst xmlns:a="http://schemas.openxmlformats.org/drawingml/2006/main">
              <a:ext uri="{FF2B5EF4-FFF2-40B4-BE49-F238E27FC236}">
                <a16:creationId xmlns:a16="http://schemas.microsoft.com/office/drawing/2014/main" id="{EBC7BD88-07E6-4BD5-A3B0-56D7A3D3E75E}"/>
              </a:ext>
            </a:extLst>
          </p:cNvPr>
          <p:cNvSpPr>
            <a:spLocks xmlns:a="http://schemas.openxmlformats.org/drawingml/2006/main" noGrp="1"/>
          </p:cNvSpPr>
          <p:nvPr/>
        </p:nvSpPr>
        <p:spPr>
          <a:xfrm xmlns:a="http://schemas.openxmlformats.org/drawingml/2006/main">
            <a:off x="7258050" y="4457700"/>
            <a:ext cx="19431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C9D8E3"/>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coverage + analyses</a:t>
            </a:r>
          </a:p>
        </p:txBody>
      </p:sp>
      <p:sp>
        <p:nvSpPr>
          <p:cNvPr id="19" name="box-235">
            <a:extLst xmlns:a="http://schemas.openxmlformats.org/drawingml/2006/main">
              <a:ext uri="{FF2B5EF4-FFF2-40B4-BE49-F238E27FC236}">
                <a16:creationId xmlns:a16="http://schemas.microsoft.com/office/drawing/2014/main" id="{BCF37884-EE3B-43C5-AAC0-0BBFD48E0B26}"/>
              </a:ext>
            </a:extLst>
          </p:cNvPr>
          <p:cNvSpPr>
            <a:spLocks xmlns:a="http://schemas.openxmlformats.org/drawingml/2006/main" noGrp="1"/>
          </p:cNvSpPr>
          <p:nvPr/>
        </p:nvSpPr>
        <p:spPr>
          <a:xfrm xmlns:a="http://schemas.openxmlformats.org/drawingml/2006/main">
            <a:off x="9410700" y="4457700"/>
            <a:ext cx="19431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C9D8E3"/>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configuration + problem reports</a:t>
            </a:r>
          </a:p>
        </p:txBody>
      </p:sp>
      <p:sp>
        <p:nvSpPr>
          <p:cNvPr id="20" name="box-236">
            <a:extLst xmlns:a="http://schemas.openxmlformats.org/drawingml/2006/main">
              <a:ext uri="{FF2B5EF4-FFF2-40B4-BE49-F238E27FC236}">
                <a16:creationId xmlns:a16="http://schemas.microsoft.com/office/drawing/2014/main" id="{0DB3573F-79CB-43B3-B6F8-8921A5DDD56C}"/>
              </a:ext>
            </a:extLst>
          </p:cNvPr>
          <p:cNvSpPr>
            <a:spLocks xmlns:a="http://schemas.openxmlformats.org/drawingml/2006/main" noGrp="1"/>
          </p:cNvSpPr>
          <p:nvPr/>
        </p:nvSpPr>
        <p:spPr>
          <a:xfrm xmlns:a="http://schemas.openxmlformats.org/drawingml/2006/main">
            <a:off x="2095500" y="5476875"/>
            <a:ext cx="8001000" cy="514350"/>
          </a:xfrm>
          <a:prstGeom xmlns:a="http://schemas.openxmlformats.org/drawingml/2006/main" prst="roundRect">
            <a:avLst>
              <a:gd name="adj" fmla="val 14815"/>
            </a:avLst>
          </a:prstGeom>
          <a:solidFill xmlns:a="http://schemas.openxmlformats.org/drawingml/2006/main">
            <a:srgbClr val="FBE6E8"/>
          </a:solidFill>
          <a:ln xmlns:a="http://schemas.openxmlformats.org/drawingml/2006/main" w="9525">
            <a:solidFill>
              <a:srgbClr val="D75A64"/>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75" b="1">
                <a:solidFill>
                  <a:srgbClr val="0B1F33"/>
                </a:solidFill>
                <a:latin typeface="Aptos"/>
                <a:ea typeface="Aptos"/>
                <a:cs typeface="Aptos"/>
              </a:defRPr>
            </a:pPr>
            <a:r>
              <a:rPr sz="1575" b="1">
                <a:solidFill>
                  <a:srgbClr val="0B1F33"/>
                </a:solidFill>
                <a:latin typeface="Aptos"/>
                <a:ea typeface="Aptos"/>
                <a:cs typeface="Aptos"/>
              </a:rPr>
              <a:t>Pipeline and test results are evidence inputs—not automatic approval.</a:t>
            </a:r>
          </a:p>
        </p:txBody>
      </p:sp>
      <p:sp>
        <p:nvSpPr>
          <p:cNvPr id="45" name="section-221-v3">
            <a:extLst xmlns:a="http://schemas.openxmlformats.org/drawingml/2006/main">
              <a:ext uri="{FF2B5EF4-FFF2-40B4-BE49-F238E27FC236}">
                <a16:creationId xmlns:a16="http://schemas.microsoft.com/office/drawing/2014/main" id="{3245DEDA-FCCB-4048-ABBD-52C4B480B439}"/>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088" b="1">
                <a:solidFill>
                  <a:srgbClr val="20B7C5"/>
                </a:solidFill>
                <a:latin typeface="Aptos"/>
                <a:ea typeface="Aptos"/>
                <a:cs typeface="Aptos"/>
              </a:defRPr>
            </a:pPr>
            <a:r>
              <a:rPr sz="1088" b="1">
                <a:solidFill>
                  <a:srgbClr val="20B7C5"/>
                </a:solidFill>
                <a:latin typeface="Aptos"/>
                <a:ea typeface="Aptos"/>
                <a:cs typeface="Aptos"/>
              </a:rPr>
              <a:t>04 • ASSURANCE CONTEXT</a:t>
            </a:r>
          </a:p>
        </p:txBody>
      </p:sp>
      <p:sp>
        <p:nvSpPr>
          <p:cNvPr id="46" name="text-223-v3">
            <a:extLst xmlns:a="http://schemas.openxmlformats.org/drawingml/2006/main">
              <a:ext uri="{FF2B5EF4-FFF2-40B4-BE49-F238E27FC236}">
                <a16:creationId xmlns:a16="http://schemas.microsoft.com/office/drawing/2014/main" id="{5E425080-B351-4217-A1BF-75920FDAEB5C}"/>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63" b="1">
                <a:solidFill>
                  <a:srgbClr val="7D91A0"/>
                </a:solidFill>
                <a:latin typeface="Aptos"/>
                <a:ea typeface="Aptos"/>
                <a:cs typeface="Aptos"/>
              </a:defRPr>
            </a:pPr>
            <a:r>
              <a:rPr sz="863" b="1">
                <a:solidFill>
                  <a:srgbClr val="7D91A0"/>
                </a:solidFill>
                <a:latin typeface="Aptos"/>
                <a:ea typeface="Aptos"/>
                <a:cs typeface="Aptos"/>
              </a:rPr>
              <a:t>AVIATION CONTROLS ENGINEERING ONBOARDING</a:t>
            </a:r>
          </a:p>
        </p:txBody>
      </p:sp>
    </p:spTree>
    <p:extLst>
      <p:ext uri="{BB962C8B-B14F-4D97-AF65-F5344CB8AC3E}">
        <p14:creationId xmlns:p14="http://schemas.microsoft.com/office/powerpoint/2010/main" val="1622149317"/>
      </p:ext>
    </p:extLst>
  </p:cSld>
</p:sld>
</file>

<file path=ppt/slides/slide28.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1" name="section-221">
            <a:extLst xmlns:a="http://schemas.openxmlformats.org/drawingml/2006/main">
              <a:ext uri="{FF2B5EF4-FFF2-40B4-BE49-F238E27FC236}">
                <a16:creationId xmlns:a16="http://schemas.microsoft.com/office/drawing/2014/main" id="{161B4F6E-1D9F-43A3-A35D-FE7D39C6A75A}"/>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04 • ASSURANCE CONTEXT</a:t>
            </a:r>
          </a:p>
        </p:txBody>
      </p:sp>
      <p:sp>
        <p:nvSpPr>
          <p:cNvPr id="2" name="title-221">
            <a:extLst xmlns:a="http://schemas.openxmlformats.org/drawingml/2006/main">
              <a:ext uri="{FF2B5EF4-FFF2-40B4-BE49-F238E27FC236}">
                <a16:creationId xmlns:a16="http://schemas.microsoft.com/office/drawing/2014/main" id="{FDE57E6C-742E-465C-BDD9-4B6AF2DAA6DC}"/>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The V-model pairs every definition with verification</a:t>
            </a:r>
          </a:p>
        </p:txBody>
      </p:sp>
      <p:sp>
        <p:nvSpPr>
          <p:cNvPr id="3" name="line-222">
            <a:extLst xmlns:a="http://schemas.openxmlformats.org/drawingml/2006/main">
              <a:ext uri="{FF2B5EF4-FFF2-40B4-BE49-F238E27FC236}">
                <a16:creationId xmlns:a16="http://schemas.microsoft.com/office/drawing/2014/main" id="{B143FFE8-C825-4D1C-BCA7-C90445F792E7}"/>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223">
            <a:extLst xmlns:a="http://schemas.openxmlformats.org/drawingml/2006/main">
              <a:ext uri="{FF2B5EF4-FFF2-40B4-BE49-F238E27FC236}">
                <a16:creationId xmlns:a16="http://schemas.microsoft.com/office/drawing/2014/main" id="{09BFCE7C-EBD6-4EE5-9952-68FE8025E2B2}"/>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22" name="text-224-v3">
            <a:extLst xmlns:a="http://schemas.openxmlformats.org/drawingml/2006/main">
              <a:ext uri="{FF2B5EF4-FFF2-40B4-BE49-F238E27FC236}">
                <a16:creationId xmlns:a16="http://schemas.microsoft.com/office/drawing/2014/main" id="{948598F1-3B1F-4BAD-9823-DDD18A3E07F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050" b="1">
                <a:solidFill>
                  <a:srgbClr val="20B7C5"/>
                </a:solidFill>
                <a:latin typeface="Aptos"/>
                <a:ea typeface="Aptos"/>
                <a:cs typeface="Aptos"/>
              </a:defRPr>
            </a:pPr>
            <a:r>
              <a:rPr sz="1050" b="1">
                <a:solidFill>
                  <a:srgbClr val="20B7C5"/>
                </a:solidFill>
                <a:latin typeface="Aptos"/>
                <a:ea typeface="Aptos"/>
                <a:cs typeface="Aptos"/>
              </a:rPr>
              <a:t>28</a:t>
            </a:r>
          </a:p>
        </p:txBody>
      </p:sp>
      <p:sp>
        <p:nvSpPr>
          <p:cNvPr id="23" name="vmodel-callout-1">
            <a:extLst xmlns:a="http://schemas.openxmlformats.org/drawingml/2006/main">
              <a:ext uri="{FF2B5EF4-FFF2-40B4-BE49-F238E27FC236}">
                <a16:creationId xmlns:a16="http://schemas.microsoft.com/office/drawing/2014/main" id="{C42EB010-2A32-46E7-9181-D8BADDF840A7}"/>
              </a:ext>
            </a:extLst>
          </p:cNvPr>
          <p:cNvSpPr>
            <a:spLocks xmlns:a="http://schemas.openxmlformats.org/drawingml/2006/main" noGrp="1"/>
          </p:cNvSpPr>
          <p:nvPr/>
        </p:nvSpPr>
        <p:spPr>
          <a:xfrm xmlns:a="http://schemas.openxmlformats.org/drawingml/2006/main">
            <a:off x="685800" y="1362075"/>
            <a:ext cx="2571750" cy="381000"/>
          </a:xfrm>
          <a:prstGeom xmlns:a="http://schemas.openxmlformats.org/drawingml/2006/main" prst="roundRect">
            <a:avLst>
              <a:gd name="adj" fmla="val 20000"/>
            </a:avLst>
          </a:prstGeom>
          <a:solidFill xmlns:a="http://schemas.openxmlformats.org/drawingml/2006/main">
            <a:srgbClr val="E2ECFF"/>
          </a:solidFill>
          <a:ln xmlns:a="http://schemas.openxmlformats.org/drawingml/2006/main" w="14288">
            <a:solidFill>
              <a:srgbClr val="2D6CDF"/>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buNone/>
              <a:defRPr sz="1088" b="1">
                <a:solidFill>
                  <a:srgbClr val="17324A"/>
                </a:solidFill>
                <a:latin typeface="Aptos"/>
                <a:ea typeface="Aptos"/>
                <a:cs typeface="Aptos"/>
              </a:defRPr>
            </a:pPr>
            <a:r>
              <a:rPr sz="1088" b="1">
                <a:solidFill>
                  <a:srgbClr val="17324A"/>
                </a:solidFill>
                <a:latin typeface="Aptos"/>
                <a:ea typeface="Aptos"/>
                <a:cs typeface="Aptos"/>
              </a:rPr>
              <a:t>REQUIREMENTS ↔ BIDIRECTIONAL TRACEABILITY</a:t>
            </a:r>
          </a:p>
        </p:txBody>
      </p:sp>
      <p:sp>
        <p:nvSpPr>
          <p:cNvPr id="24" name="vmodel-callout-2">
            <a:extLst xmlns:a="http://schemas.openxmlformats.org/drawingml/2006/main">
              <a:ext uri="{FF2B5EF4-FFF2-40B4-BE49-F238E27FC236}">
                <a16:creationId xmlns:a16="http://schemas.microsoft.com/office/drawing/2014/main" id="{B5F0A560-6F4F-475E-BFC1-F1AEC74AC24D}"/>
              </a:ext>
            </a:extLst>
          </p:cNvPr>
          <p:cNvSpPr>
            <a:spLocks xmlns:a="http://schemas.openxmlformats.org/drawingml/2006/main" noGrp="1"/>
          </p:cNvSpPr>
          <p:nvPr/>
        </p:nvSpPr>
        <p:spPr>
          <a:xfrm xmlns:a="http://schemas.openxmlformats.org/drawingml/2006/main">
            <a:off x="3352800" y="1362075"/>
            <a:ext cx="2571750" cy="381000"/>
          </a:xfrm>
          <a:prstGeom xmlns:a="http://schemas.openxmlformats.org/drawingml/2006/main" prst="roundRect">
            <a:avLst>
              <a:gd name="adj" fmla="val 20000"/>
            </a:avLst>
          </a:prstGeom>
          <a:solidFill xmlns:a="http://schemas.openxmlformats.org/drawingml/2006/main">
            <a:srgbClr val="DFF6F8"/>
          </a:solidFill>
          <a:ln xmlns:a="http://schemas.openxmlformats.org/drawingml/2006/main" w="14288">
            <a:solidFill>
              <a:srgbClr val="20B7C5"/>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buNone/>
              <a:defRPr sz="1088" b="1">
                <a:solidFill>
                  <a:srgbClr val="17324A"/>
                </a:solidFill>
                <a:latin typeface="Aptos"/>
                <a:ea typeface="Aptos"/>
                <a:cs typeface="Aptos"/>
              </a:defRPr>
            </a:pPr>
            <a:r>
              <a:rPr sz="1088" b="1">
                <a:solidFill>
                  <a:srgbClr val="17324A"/>
                </a:solidFill>
                <a:latin typeface="Aptos"/>
                <a:ea typeface="Aptos"/>
                <a:cs typeface="Aptos"/>
              </a:rPr>
              <a:t>MODEL-BASED · MATLAB / SIMULINK</a:t>
            </a:r>
          </a:p>
        </p:txBody>
      </p:sp>
      <p:sp>
        <p:nvSpPr>
          <p:cNvPr id="25" name="vmodel-callout-3">
            <a:extLst xmlns:a="http://schemas.openxmlformats.org/drawingml/2006/main">
              <a:ext uri="{FF2B5EF4-FFF2-40B4-BE49-F238E27FC236}">
                <a16:creationId xmlns:a16="http://schemas.microsoft.com/office/drawing/2014/main" id="{55848925-2B32-47E4-AACB-6338ED8138A4}"/>
              </a:ext>
            </a:extLst>
          </p:cNvPr>
          <p:cNvSpPr>
            <a:spLocks xmlns:a="http://schemas.openxmlformats.org/drawingml/2006/main" noGrp="1"/>
          </p:cNvSpPr>
          <p:nvPr/>
        </p:nvSpPr>
        <p:spPr>
          <a:xfrm xmlns:a="http://schemas.openxmlformats.org/drawingml/2006/main">
            <a:off x="6019800" y="1362075"/>
            <a:ext cx="2571750" cy="381000"/>
          </a:xfrm>
          <a:prstGeom xmlns:a="http://schemas.openxmlformats.org/drawingml/2006/main" prst="roundRect">
            <a:avLst>
              <a:gd name="adj" fmla="val 20000"/>
            </a:avLst>
          </a:prstGeom>
          <a:solidFill xmlns:a="http://schemas.openxmlformats.org/drawingml/2006/main">
            <a:srgbClr val="E2F4EA"/>
          </a:solidFill>
          <a:ln xmlns:a="http://schemas.openxmlformats.org/drawingml/2006/main" w="14288">
            <a:solidFill>
              <a:srgbClr val="2CA56F"/>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buNone/>
              <a:defRPr sz="1088" b="1">
                <a:solidFill>
                  <a:srgbClr val="17324A"/>
                </a:solidFill>
                <a:latin typeface="Aptos"/>
                <a:ea typeface="Aptos"/>
                <a:cs typeface="Aptos"/>
              </a:defRPr>
            </a:pPr>
            <a:r>
              <a:rPr sz="1088" b="1">
                <a:solidFill>
                  <a:srgbClr val="17324A"/>
                </a:solidFill>
                <a:latin typeface="Aptos"/>
                <a:ea typeface="Aptos"/>
                <a:cs typeface="Aptos"/>
              </a:rPr>
              <a:t>INDEPENDENT VERIFICATION ACTIVITIES</a:t>
            </a:r>
          </a:p>
        </p:txBody>
      </p:sp>
      <p:sp>
        <p:nvSpPr>
          <p:cNvPr id="26" name="vmodel-callout-4">
            <a:extLst xmlns:a="http://schemas.openxmlformats.org/drawingml/2006/main">
              <a:ext uri="{FF2B5EF4-FFF2-40B4-BE49-F238E27FC236}">
                <a16:creationId xmlns:a16="http://schemas.microsoft.com/office/drawing/2014/main" id="{8421E9EE-72D4-40A0-9411-4FA46F6C9907}"/>
              </a:ext>
            </a:extLst>
          </p:cNvPr>
          <p:cNvSpPr>
            <a:spLocks xmlns:a="http://schemas.openxmlformats.org/drawingml/2006/main" noGrp="1"/>
          </p:cNvSpPr>
          <p:nvPr/>
        </p:nvSpPr>
        <p:spPr>
          <a:xfrm xmlns:a="http://schemas.openxmlformats.org/drawingml/2006/main">
            <a:off x="8686800" y="1362075"/>
            <a:ext cx="2819400" cy="381000"/>
          </a:xfrm>
          <a:prstGeom xmlns:a="http://schemas.openxmlformats.org/drawingml/2006/main" prst="roundRect">
            <a:avLst>
              <a:gd name="adj" fmla="val 20000"/>
            </a:avLst>
          </a:prstGeom>
          <a:solidFill xmlns:a="http://schemas.openxmlformats.org/drawingml/2006/main">
            <a:srgbClr val="FFF0D7"/>
          </a:solidFill>
          <a:ln xmlns:a="http://schemas.openxmlformats.org/drawingml/2006/main" w="14288">
            <a:solidFill>
              <a:srgbClr val="E9A23B"/>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buNone/>
              <a:defRPr sz="1050" b="1">
                <a:solidFill>
                  <a:srgbClr val="17324A"/>
                </a:solidFill>
                <a:latin typeface="Aptos"/>
                <a:ea typeface="Aptos"/>
                <a:cs typeface="Aptos"/>
              </a:defRPr>
            </a:pPr>
            <a:r>
              <a:rPr sz="1050" b="1">
                <a:solidFill>
                  <a:srgbClr val="17324A"/>
                </a:solidFill>
                <a:latin typeface="Aptos"/>
                <a:ea typeface="Aptos"/>
                <a:cs typeface="Aptos"/>
              </a:rPr>
              <a:t>INTEGRATION + EXECUTION ENVIRONMENTS</a:t>
            </a:r>
          </a:p>
        </p:txBody>
      </p:sp>
      <p:sp>
        <p:nvSpPr>
          <p:cNvPr id="27" name="vmodel-left-heading">
            <a:extLst xmlns:a="http://schemas.openxmlformats.org/drawingml/2006/main">
              <a:ext uri="{FF2B5EF4-FFF2-40B4-BE49-F238E27FC236}">
                <a16:creationId xmlns:a16="http://schemas.microsoft.com/office/drawing/2014/main" id="{A4CD0E8F-240A-4DF0-ACFF-C6A7902EC00A}"/>
              </a:ext>
            </a:extLst>
          </p:cNvPr>
          <p:cNvSpPr>
            <a:spLocks xmlns:a="http://schemas.openxmlformats.org/drawingml/2006/main" noGrp="1"/>
          </p:cNvSpPr>
          <p:nvPr/>
        </p:nvSpPr>
        <p:spPr>
          <a:xfrm xmlns:a="http://schemas.openxmlformats.org/drawingml/2006/main">
            <a:off x="685800" y="1762125"/>
            <a:ext cx="466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buNone/>
              <a:defRPr sz="1088" b="1">
                <a:solidFill>
                  <a:srgbClr val="5D7487"/>
                </a:solidFill>
                <a:latin typeface="Aptos"/>
                <a:ea typeface="Aptos"/>
                <a:cs typeface="Aptos"/>
              </a:defRPr>
            </a:pPr>
            <a:r>
              <a:rPr sz="1088" b="1">
                <a:solidFill>
                  <a:srgbClr val="5D7487"/>
                </a:solidFill>
                <a:latin typeface="Aptos"/>
                <a:ea typeface="Aptos"/>
                <a:cs typeface="Aptos"/>
              </a:rPr>
              <a:t>DEFINE + DECOMPOSE  ·  REVIEW GATES G1–G5</a:t>
            </a:r>
          </a:p>
        </p:txBody>
      </p:sp>
      <p:sp>
        <p:nvSpPr>
          <p:cNvPr id="28" name="vmodel-pair-heading">
            <a:extLst xmlns:a="http://schemas.openxmlformats.org/drawingml/2006/main">
              <a:ext uri="{FF2B5EF4-FFF2-40B4-BE49-F238E27FC236}">
                <a16:creationId xmlns:a16="http://schemas.microsoft.com/office/drawing/2014/main" id="{6F9BF9EA-166F-4B0E-B2DE-F7E303645E41}"/>
              </a:ext>
            </a:extLst>
          </p:cNvPr>
          <p:cNvSpPr>
            <a:spLocks xmlns:a="http://schemas.openxmlformats.org/drawingml/2006/main" noGrp="1"/>
          </p:cNvSpPr>
          <p:nvPr/>
        </p:nvSpPr>
        <p:spPr>
          <a:xfrm xmlns:a="http://schemas.openxmlformats.org/drawingml/2006/main">
            <a:off x="5048250" y="1762125"/>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buNone/>
              <a:defRPr sz="1088" b="1">
                <a:solidFill>
                  <a:srgbClr val="20B7C5"/>
                </a:solidFill>
                <a:latin typeface="Aptos"/>
                <a:ea typeface="Aptos"/>
                <a:cs typeface="Aptos"/>
              </a:defRPr>
            </a:pPr>
            <a:r>
              <a:rPr sz="1088" b="1">
                <a:solidFill>
                  <a:srgbClr val="20B7C5"/>
                </a:solidFill>
                <a:latin typeface="Aptos"/>
                <a:ea typeface="Aptos"/>
                <a:cs typeface="Aptos"/>
              </a:rPr>
              <a:t>PAIR EACH LEVEL</a:t>
            </a:r>
          </a:p>
        </p:txBody>
      </p:sp>
      <p:sp>
        <p:nvSpPr>
          <p:cNvPr id="29" name="vmodel-right-heading">
            <a:extLst xmlns:a="http://schemas.openxmlformats.org/drawingml/2006/main">
              <a:ext uri="{FF2B5EF4-FFF2-40B4-BE49-F238E27FC236}">
                <a16:creationId xmlns:a16="http://schemas.microsoft.com/office/drawing/2014/main" id="{EE27A5D5-1A62-4587-8A9B-50B0D91047CD}"/>
              </a:ext>
            </a:extLst>
          </p:cNvPr>
          <p:cNvSpPr>
            <a:spLocks xmlns:a="http://schemas.openxmlformats.org/drawingml/2006/main" noGrp="1"/>
          </p:cNvSpPr>
          <p:nvPr/>
        </p:nvSpPr>
        <p:spPr>
          <a:xfrm xmlns:a="http://schemas.openxmlformats.org/drawingml/2006/main">
            <a:off x="7505700" y="1762125"/>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r">
              <a:buNone/>
              <a:defRPr sz="1088" b="1">
                <a:solidFill>
                  <a:srgbClr val="5D7487"/>
                </a:solidFill>
                <a:latin typeface="Aptos"/>
                <a:ea typeface="Aptos"/>
                <a:cs typeface="Aptos"/>
              </a:defRPr>
            </a:pPr>
            <a:r>
              <a:rPr sz="1088" b="1">
                <a:solidFill>
                  <a:srgbClr val="5D7487"/>
                </a:solidFill>
                <a:latin typeface="Aptos"/>
                <a:ea typeface="Aptos"/>
                <a:cs typeface="Aptos"/>
              </a:rPr>
              <a:t>INTEGRATE + VERIFY + VALIDATE</a:t>
            </a:r>
          </a:p>
        </p:txBody>
      </p:sp>
      <p:sp>
        <p:nvSpPr>
          <p:cNvPr id="30" name="vmodel-left-rail-underlay">
            <a:extLst xmlns:a="http://schemas.openxmlformats.org/drawingml/2006/main">
              <a:ext uri="{FF2B5EF4-FFF2-40B4-BE49-F238E27FC236}">
                <a16:creationId xmlns:a16="http://schemas.microsoft.com/office/drawing/2014/main" id="{6127E182-E391-4756-A9C9-F0B127B1CEB9}"/>
              </a:ext>
            </a:extLst>
          </p:cNvPr>
          <p:cNvSpPr>
            <a:spLocks xmlns:a="http://schemas.openxmlformats.org/drawingml/2006/main" noGrp="1"/>
          </p:cNvSpPr>
          <p:nvPr/>
        </p:nvSpPr>
        <p:spPr>
          <a:xfrm xmlns:a="http://schemas.openxmlformats.org/drawingml/2006/main" flipH="0">
            <a:off x="3905250" y="2228850"/>
            <a:ext cx="1524000" cy="3048000"/>
          </a:xfrm>
          <a:prstGeom xmlns:a="http://schemas.openxmlformats.org/drawingml/2006/main" prst="line">
            <a:avLst/>
          </a:prstGeom>
          <a:noFill xmlns:a="http://schemas.openxmlformats.org/drawingml/2006/main"/>
          <a:ln xmlns:a="http://schemas.openxmlformats.org/drawingml/2006/main" w="76200">
            <a:solidFill>
              <a:srgbClr val="FFFFFF"/>
            </a:solidFill>
            <a:prstDash val="solid"/>
          </a:ln>
        </p:spPr>
      </p:sp>
      <p:sp>
        <p:nvSpPr>
          <p:cNvPr id="31" name="vmodel-left-rail">
            <a:extLst xmlns:a="http://schemas.openxmlformats.org/drawingml/2006/main">
              <a:ext uri="{FF2B5EF4-FFF2-40B4-BE49-F238E27FC236}">
                <a16:creationId xmlns:a16="http://schemas.microsoft.com/office/drawing/2014/main" id="{94AA9A79-0EAD-4229-B43F-EE83FA471FD1}"/>
              </a:ext>
            </a:extLst>
          </p:cNvPr>
          <p:cNvSpPr>
            <a:spLocks xmlns:a="http://schemas.openxmlformats.org/drawingml/2006/main" noGrp="1"/>
          </p:cNvSpPr>
          <p:nvPr/>
        </p:nvSpPr>
        <p:spPr>
          <a:xfrm xmlns:a="http://schemas.openxmlformats.org/drawingml/2006/main" flipH="0">
            <a:off x="3905250" y="2228850"/>
            <a:ext cx="1524000" cy="3048000"/>
          </a:xfrm>
          <a:prstGeom xmlns:a="http://schemas.openxmlformats.org/drawingml/2006/main" prst="line">
            <a:avLst/>
          </a:prstGeom>
          <a:noFill xmlns:a="http://schemas.openxmlformats.org/drawingml/2006/main"/>
          <a:ln xmlns:a="http://schemas.openxmlformats.org/drawingml/2006/main" w="38100">
            <a:solidFill>
              <a:srgbClr val="2D6CDF"/>
            </a:solidFill>
            <a:prstDash val="solid"/>
          </a:ln>
        </p:spPr>
      </p:sp>
      <p:sp>
        <p:nvSpPr>
          <p:cNvPr id="32" name="vmodel-right-rail-underlay">
            <a:extLst xmlns:a="http://schemas.openxmlformats.org/drawingml/2006/main">
              <a:ext uri="{FF2B5EF4-FFF2-40B4-BE49-F238E27FC236}">
                <a16:creationId xmlns:a16="http://schemas.microsoft.com/office/drawing/2014/main" id="{985B1852-7AAA-4D92-A44F-6A2E251AC585}"/>
              </a:ext>
            </a:extLst>
          </p:cNvPr>
          <p:cNvSpPr>
            <a:spLocks xmlns:a="http://schemas.openxmlformats.org/drawingml/2006/main" noGrp="1"/>
          </p:cNvSpPr>
          <p:nvPr/>
        </p:nvSpPr>
        <p:spPr>
          <a:xfrm xmlns:a="http://schemas.openxmlformats.org/drawingml/2006/main" flipH="1">
            <a:off x="6762750" y="2228850"/>
            <a:ext cx="1524000" cy="3048000"/>
          </a:xfrm>
          <a:prstGeom xmlns:a="http://schemas.openxmlformats.org/drawingml/2006/main" prst="line">
            <a:avLst/>
          </a:prstGeom>
          <a:noFill xmlns:a="http://schemas.openxmlformats.org/drawingml/2006/main"/>
          <a:ln xmlns:a="http://schemas.openxmlformats.org/drawingml/2006/main" w="76200">
            <a:solidFill>
              <a:srgbClr val="FFFFFF"/>
            </a:solidFill>
            <a:prstDash val="solid"/>
          </a:ln>
        </p:spPr>
      </p:sp>
      <p:sp>
        <p:nvSpPr>
          <p:cNvPr id="33" name="vmodel-right-rail">
            <a:extLst xmlns:a="http://schemas.openxmlformats.org/drawingml/2006/main">
              <a:ext uri="{FF2B5EF4-FFF2-40B4-BE49-F238E27FC236}">
                <a16:creationId xmlns:a16="http://schemas.microsoft.com/office/drawing/2014/main" id="{DE0826B9-5002-4386-AE35-30ADECBE0155}"/>
              </a:ext>
            </a:extLst>
          </p:cNvPr>
          <p:cNvSpPr>
            <a:spLocks xmlns:a="http://schemas.openxmlformats.org/drawingml/2006/main" noGrp="1"/>
          </p:cNvSpPr>
          <p:nvPr/>
        </p:nvSpPr>
        <p:spPr>
          <a:xfrm xmlns:a="http://schemas.openxmlformats.org/drawingml/2006/main" flipH="1">
            <a:off x="6762750" y="2228850"/>
            <a:ext cx="1524000" cy="3048000"/>
          </a:xfrm>
          <a:prstGeom xmlns:a="http://schemas.openxmlformats.org/drawingml/2006/main" prst="line">
            <a:avLst/>
          </a:prstGeom>
          <a:noFill xmlns:a="http://schemas.openxmlformats.org/drawingml/2006/main"/>
          <a:ln xmlns:a="http://schemas.openxmlformats.org/drawingml/2006/main" w="38100">
            <a:solidFill>
              <a:srgbClr val="2CA56F"/>
            </a:solidFill>
            <a:prstDash val="solid"/>
          </a:ln>
        </p:spPr>
      </p:sp>
      <p:sp>
        <p:nvSpPr>
          <p:cNvPr id="34" name="vmodel-definition-1">
            <a:extLst xmlns:a="http://schemas.openxmlformats.org/drawingml/2006/main">
              <a:ext uri="{FF2B5EF4-FFF2-40B4-BE49-F238E27FC236}">
                <a16:creationId xmlns:a16="http://schemas.microsoft.com/office/drawing/2014/main" id="{03378BFE-7EE8-4678-A93D-F47D2F930259}"/>
              </a:ext>
            </a:extLst>
          </p:cNvPr>
          <p:cNvSpPr>
            <a:spLocks xmlns:a="http://schemas.openxmlformats.org/drawingml/2006/main" noGrp="1"/>
          </p:cNvSpPr>
          <p:nvPr/>
        </p:nvSpPr>
        <p:spPr>
          <a:xfrm xmlns:a="http://schemas.openxmlformats.org/drawingml/2006/main">
            <a:off x="685800" y="1981200"/>
            <a:ext cx="3048000" cy="495300"/>
          </a:xfrm>
          <a:prstGeom xmlns:a="http://schemas.openxmlformats.org/drawingml/2006/main" prst="roundRect">
            <a:avLst>
              <a:gd name="adj" fmla="val 23077"/>
            </a:avLst>
          </a:prstGeom>
          <a:solidFill xmlns:a="http://schemas.openxmlformats.org/drawingml/2006/main">
            <a:srgbClr val="E2ECFF"/>
          </a:solidFill>
          <a:ln xmlns:a="http://schemas.openxmlformats.org/drawingml/2006/main" w="19050">
            <a:solidFill>
              <a:srgbClr val="2D6CDF"/>
            </a:solidFill>
            <a:prstDash val="solid"/>
          </a:ln>
        </p:spPr>
        <p:txBody>
          <a:bodyPr xmlns:a="http://schemas.openxmlformats.org/drawingml/2006/main" wrap="square" lIns="133350" tIns="38100" rIns="114300" bIns="38100" anchor="ctr">
            <a:noAutofit/>
          </a:bodyPr>
          <a:lstStyle xmlns:a="http://schemas.openxmlformats.org/drawingml/2006/main"/>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System / engine</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requirements</a:t>
            </a:r>
          </a:p>
        </p:txBody>
      </p:sp>
      <p:sp>
        <p:nvSpPr>
          <p:cNvPr id="35" name="vmodel-verification-1">
            <a:extLst xmlns:a="http://schemas.openxmlformats.org/drawingml/2006/main">
              <a:ext uri="{FF2B5EF4-FFF2-40B4-BE49-F238E27FC236}">
                <a16:creationId xmlns:a16="http://schemas.microsoft.com/office/drawing/2014/main" id="{5760B3C2-25C9-4804-989D-E3A81DABCA04}"/>
              </a:ext>
            </a:extLst>
          </p:cNvPr>
          <p:cNvSpPr>
            <a:spLocks xmlns:a="http://schemas.openxmlformats.org/drawingml/2006/main" noGrp="1"/>
          </p:cNvSpPr>
          <p:nvPr/>
        </p:nvSpPr>
        <p:spPr>
          <a:xfrm xmlns:a="http://schemas.openxmlformats.org/drawingml/2006/main">
            <a:off x="8458200" y="1981200"/>
            <a:ext cx="3048000" cy="495300"/>
          </a:xfrm>
          <a:prstGeom xmlns:a="http://schemas.openxmlformats.org/drawingml/2006/main" prst="roundRect">
            <a:avLst>
              <a:gd name="adj" fmla="val 23077"/>
            </a:avLst>
          </a:prstGeom>
          <a:solidFill xmlns:a="http://schemas.openxmlformats.org/drawingml/2006/main">
            <a:srgbClr val="E2F4EA"/>
          </a:solidFill>
          <a:ln xmlns:a="http://schemas.openxmlformats.org/drawingml/2006/main" w="19050">
            <a:solidFill>
              <a:srgbClr val="2CA56F"/>
            </a:solidFill>
            <a:prstDash val="solid"/>
          </a:ln>
        </p:spPr>
        <p:txBody>
          <a:bodyPr xmlns:a="http://schemas.openxmlformats.org/drawingml/2006/main" wrap="square" lIns="114300" tIns="38100" rIns="133350" bIns="38100" anchor="ctr">
            <a:noAutofit/>
          </a:bodyPr>
          <a:lstStyle xmlns:a="http://schemas.openxmlformats.org/drawingml/2006/main"/>
          <a:p xmlns:a="http://schemas.openxmlformats.org/drawingml/2006/main">
            <a:pPr algn="r">
              <a:buNone/>
              <a:defRPr sz="1350" b="1">
                <a:solidFill>
                  <a:srgbClr val="0B1F33"/>
                </a:solidFill>
                <a:latin typeface="Aptos"/>
                <a:ea typeface="Aptos"/>
                <a:cs typeface="Aptos"/>
              </a:defRPr>
            </a:pPr>
            <a:r>
              <a:rPr sz="1350" b="1">
                <a:solidFill>
                  <a:srgbClr val="0B1F33"/>
                </a:solidFill>
                <a:latin typeface="Aptos"/>
                <a:ea typeface="Aptos"/>
                <a:cs typeface="Aptos"/>
              </a:rPr>
              <a:t>System verification</a:t>
            </a:r>
          </a:p>
          <a:p xmlns:a="http://schemas.openxmlformats.org/drawingml/2006/main">
            <a:pPr algn="r">
              <a:buNone/>
              <a:defRPr sz="1350" b="1">
                <a:solidFill>
                  <a:srgbClr val="0B1F33"/>
                </a:solidFill>
                <a:latin typeface="Aptos"/>
                <a:ea typeface="Aptos"/>
                <a:cs typeface="Aptos"/>
              </a:defRPr>
            </a:pPr>
            <a:r>
              <a:rPr sz="1350" b="1">
                <a:solidFill>
                  <a:srgbClr val="0B1F33"/>
                </a:solidFill>
                <a:latin typeface="Aptos"/>
                <a:ea typeface="Aptos"/>
                <a:cs typeface="Aptos"/>
              </a:rPr>
              <a:t>+ validation</a:t>
            </a:r>
          </a:p>
        </p:txBody>
      </p:sp>
      <p:sp>
        <p:nvSpPr>
          <p:cNvPr id="36" name="vmodel-definition-2">
            <a:extLst xmlns:a="http://schemas.openxmlformats.org/drawingml/2006/main">
              <a:ext uri="{FF2B5EF4-FFF2-40B4-BE49-F238E27FC236}">
                <a16:creationId xmlns:a16="http://schemas.microsoft.com/office/drawing/2014/main" id="{F082FAC3-54DF-411C-9C9D-8CFBDE4E91F4}"/>
              </a:ext>
            </a:extLst>
          </p:cNvPr>
          <p:cNvSpPr>
            <a:spLocks xmlns:a="http://schemas.openxmlformats.org/drawingml/2006/main" noGrp="1"/>
          </p:cNvSpPr>
          <p:nvPr/>
        </p:nvSpPr>
        <p:spPr>
          <a:xfrm xmlns:a="http://schemas.openxmlformats.org/drawingml/2006/main">
            <a:off x="981075" y="2562225"/>
            <a:ext cx="3048000" cy="495300"/>
          </a:xfrm>
          <a:prstGeom xmlns:a="http://schemas.openxmlformats.org/drawingml/2006/main" prst="roundRect">
            <a:avLst>
              <a:gd name="adj" fmla="val 23077"/>
            </a:avLst>
          </a:prstGeom>
          <a:solidFill xmlns:a="http://schemas.openxmlformats.org/drawingml/2006/main">
            <a:srgbClr val="E2ECFF"/>
          </a:solidFill>
          <a:ln xmlns:a="http://schemas.openxmlformats.org/drawingml/2006/main" w="19050">
            <a:solidFill>
              <a:srgbClr val="2D6CDF"/>
            </a:solidFill>
            <a:prstDash val="solid"/>
          </a:ln>
        </p:spPr>
        <p:txBody>
          <a:bodyPr xmlns:a="http://schemas.openxmlformats.org/drawingml/2006/main" wrap="square" lIns="133350" tIns="38100" rIns="114300" bIns="38100" anchor="ctr">
            <a:noAutofit/>
          </a:bodyPr>
          <a:lstStyle xmlns:a="http://schemas.openxmlformats.org/drawingml/2006/main"/>
          <a:p xmlns:a="http://schemas.openxmlformats.org/drawingml/2006/main">
            <a:pPr algn="l">
              <a:buNone/>
              <a:defRPr sz="1313" b="1">
                <a:solidFill>
                  <a:srgbClr val="0B1F33"/>
                </a:solidFill>
                <a:latin typeface="Aptos"/>
                <a:ea typeface="Aptos"/>
                <a:cs typeface="Aptos"/>
              </a:defRPr>
            </a:pPr>
            <a:r>
              <a:rPr sz="1313" b="1">
                <a:solidFill>
                  <a:srgbClr val="0B1F33"/>
                </a:solidFill>
                <a:latin typeface="Aptos"/>
                <a:ea typeface="Aptos"/>
                <a:cs typeface="Aptos"/>
              </a:rPr>
              <a:t>Software high-level</a:t>
            </a:r>
          </a:p>
          <a:p xmlns:a="http://schemas.openxmlformats.org/drawingml/2006/main">
            <a:pPr algn="l">
              <a:buNone/>
              <a:defRPr sz="1313" b="1">
                <a:solidFill>
                  <a:srgbClr val="0B1F33"/>
                </a:solidFill>
                <a:latin typeface="Aptos"/>
                <a:ea typeface="Aptos"/>
                <a:cs typeface="Aptos"/>
              </a:defRPr>
            </a:pPr>
            <a:r>
              <a:rPr sz="1313" b="1">
                <a:solidFill>
                  <a:srgbClr val="0B1F33"/>
                </a:solidFill>
                <a:latin typeface="Aptos"/>
                <a:ea typeface="Aptos"/>
                <a:cs typeface="Aptos"/>
              </a:rPr>
              <a:t>requirements (HLR)</a:t>
            </a:r>
          </a:p>
        </p:txBody>
      </p:sp>
      <p:sp>
        <p:nvSpPr>
          <p:cNvPr id="37" name="vmodel-verification-2">
            <a:extLst xmlns:a="http://schemas.openxmlformats.org/drawingml/2006/main">
              <a:ext uri="{FF2B5EF4-FFF2-40B4-BE49-F238E27FC236}">
                <a16:creationId xmlns:a16="http://schemas.microsoft.com/office/drawing/2014/main" id="{9BEEEE77-F674-45F6-B419-E5A38155566A}"/>
              </a:ext>
            </a:extLst>
          </p:cNvPr>
          <p:cNvSpPr>
            <a:spLocks xmlns:a="http://schemas.openxmlformats.org/drawingml/2006/main" noGrp="1"/>
          </p:cNvSpPr>
          <p:nvPr/>
        </p:nvSpPr>
        <p:spPr>
          <a:xfrm xmlns:a="http://schemas.openxmlformats.org/drawingml/2006/main">
            <a:off x="8162925" y="2562225"/>
            <a:ext cx="3048000" cy="495300"/>
          </a:xfrm>
          <a:prstGeom xmlns:a="http://schemas.openxmlformats.org/drawingml/2006/main" prst="roundRect">
            <a:avLst>
              <a:gd name="adj" fmla="val 23077"/>
            </a:avLst>
          </a:prstGeom>
          <a:solidFill xmlns:a="http://schemas.openxmlformats.org/drawingml/2006/main">
            <a:srgbClr val="E2F4EA"/>
          </a:solidFill>
          <a:ln xmlns:a="http://schemas.openxmlformats.org/drawingml/2006/main" w="19050">
            <a:solidFill>
              <a:srgbClr val="2CA56F"/>
            </a:solidFill>
            <a:prstDash val="solid"/>
          </a:ln>
        </p:spPr>
        <p:txBody>
          <a:bodyPr xmlns:a="http://schemas.openxmlformats.org/drawingml/2006/main" wrap="square" lIns="114300" tIns="38100" rIns="133350" bIns="38100" anchor="ctr">
            <a:noAutofit/>
          </a:bodyPr>
          <a:lstStyle xmlns:a="http://schemas.openxmlformats.org/drawingml/2006/main"/>
          <a:p xmlns:a="http://schemas.openxmlformats.org/drawingml/2006/main">
            <a:pPr algn="r">
              <a:buNone/>
              <a:defRPr sz="1313" b="1">
                <a:solidFill>
                  <a:srgbClr val="0B1F33"/>
                </a:solidFill>
                <a:latin typeface="Aptos"/>
                <a:ea typeface="Aptos"/>
                <a:cs typeface="Aptos"/>
              </a:defRPr>
            </a:pPr>
            <a:r>
              <a:rPr sz="1313" b="1">
                <a:solidFill>
                  <a:srgbClr val="0B1F33"/>
                </a:solidFill>
                <a:latin typeface="Aptos"/>
                <a:ea typeface="Aptos"/>
                <a:cs typeface="Aptos"/>
              </a:rPr>
              <a:t>Software integration</a:t>
            </a:r>
          </a:p>
          <a:p xmlns:a="http://schemas.openxmlformats.org/drawingml/2006/main">
            <a:pPr algn="r">
              <a:buNone/>
              <a:defRPr sz="1313" b="1">
                <a:solidFill>
                  <a:srgbClr val="0B1F33"/>
                </a:solidFill>
                <a:latin typeface="Aptos"/>
                <a:ea typeface="Aptos"/>
                <a:cs typeface="Aptos"/>
              </a:defRPr>
            </a:pPr>
            <a:r>
              <a:rPr sz="1313" b="1">
                <a:solidFill>
                  <a:srgbClr val="0B1F33"/>
                </a:solidFill>
                <a:latin typeface="Aptos"/>
                <a:ea typeface="Aptos"/>
                <a:cs typeface="Aptos"/>
              </a:rPr>
              <a:t>verification</a:t>
            </a:r>
          </a:p>
        </p:txBody>
      </p:sp>
      <p:sp>
        <p:nvSpPr>
          <p:cNvPr id="38" name="vmodel-definition-3">
            <a:extLst xmlns:a="http://schemas.openxmlformats.org/drawingml/2006/main">
              <a:ext uri="{FF2B5EF4-FFF2-40B4-BE49-F238E27FC236}">
                <a16:creationId xmlns:a16="http://schemas.microsoft.com/office/drawing/2014/main" id="{1E5BCB56-6EF1-429E-A9FC-D9CDEA0D4BF3}"/>
              </a:ext>
            </a:extLst>
          </p:cNvPr>
          <p:cNvSpPr>
            <a:spLocks xmlns:a="http://schemas.openxmlformats.org/drawingml/2006/main" noGrp="1"/>
          </p:cNvSpPr>
          <p:nvPr/>
        </p:nvSpPr>
        <p:spPr>
          <a:xfrm xmlns:a="http://schemas.openxmlformats.org/drawingml/2006/main">
            <a:off x="1276350" y="3143250"/>
            <a:ext cx="3048000" cy="495300"/>
          </a:xfrm>
          <a:prstGeom xmlns:a="http://schemas.openxmlformats.org/drawingml/2006/main" prst="roundRect">
            <a:avLst>
              <a:gd name="adj" fmla="val 23077"/>
            </a:avLst>
          </a:prstGeom>
          <a:solidFill xmlns:a="http://schemas.openxmlformats.org/drawingml/2006/main">
            <a:srgbClr val="DFF6F8"/>
          </a:solidFill>
          <a:ln xmlns:a="http://schemas.openxmlformats.org/drawingml/2006/main" w="19050">
            <a:solidFill>
              <a:srgbClr val="20B7C5"/>
            </a:solidFill>
            <a:prstDash val="solid"/>
          </a:ln>
        </p:spPr>
        <p:txBody>
          <a:bodyPr xmlns:a="http://schemas.openxmlformats.org/drawingml/2006/main" wrap="square" lIns="133350" tIns="38100" rIns="114300" bIns="38100" anchor="ctr">
            <a:noAutofit/>
          </a:bodyPr>
          <a:lstStyle xmlns:a="http://schemas.openxmlformats.org/drawingml/2006/main"/>
          <a:p xmlns:a="http://schemas.openxmlformats.org/drawingml/2006/main">
            <a:pPr algn="l">
              <a:buNone/>
              <a:defRPr sz="1215" b="1">
                <a:solidFill>
                  <a:srgbClr val="0B1F33"/>
                </a:solidFill>
                <a:latin typeface="Aptos"/>
                <a:ea typeface="Aptos"/>
                <a:cs typeface="Aptos"/>
              </a:defRPr>
            </a:pPr>
            <a:r>
              <a:rPr sz="1215" b="1">
                <a:solidFill>
                  <a:srgbClr val="0B1F33"/>
                </a:solidFill>
                <a:latin typeface="Aptos"/>
                <a:ea typeface="Aptos"/>
                <a:cs typeface="Aptos"/>
              </a:rPr>
              <a:t>Software architecture / design</a:t>
            </a:r>
          </a:p>
          <a:p xmlns:a="http://schemas.openxmlformats.org/drawingml/2006/main">
            <a:pPr algn="l">
              <a:buNone/>
              <a:defRPr sz="1215" b="1">
                <a:solidFill>
                  <a:srgbClr val="0B1F33"/>
                </a:solidFill>
                <a:latin typeface="Aptos"/>
                <a:ea typeface="Aptos"/>
                <a:cs typeface="Aptos"/>
              </a:defRPr>
            </a:pPr>
            <a:r>
              <a:rPr sz="1215" b="1">
                <a:solidFill>
                  <a:srgbClr val="0B1F33"/>
                </a:solidFill>
                <a:latin typeface="Aptos"/>
                <a:ea typeface="Aptos"/>
                <a:cs typeface="Aptos"/>
              </a:rPr>
              <a:t>+ low-level requirements</a:t>
            </a:r>
          </a:p>
        </p:txBody>
      </p:sp>
      <p:sp>
        <p:nvSpPr>
          <p:cNvPr id="39" name="vmodel-verification-3">
            <a:extLst xmlns:a="http://schemas.openxmlformats.org/drawingml/2006/main">
              <a:ext uri="{FF2B5EF4-FFF2-40B4-BE49-F238E27FC236}">
                <a16:creationId xmlns:a16="http://schemas.microsoft.com/office/drawing/2014/main" id="{9A382E36-F672-49F6-AAA2-D310017E4EA9}"/>
              </a:ext>
            </a:extLst>
          </p:cNvPr>
          <p:cNvSpPr>
            <a:spLocks xmlns:a="http://schemas.openxmlformats.org/drawingml/2006/main" noGrp="1"/>
          </p:cNvSpPr>
          <p:nvPr/>
        </p:nvSpPr>
        <p:spPr>
          <a:xfrm xmlns:a="http://schemas.openxmlformats.org/drawingml/2006/main">
            <a:off x="7867650" y="3143250"/>
            <a:ext cx="3048000" cy="495300"/>
          </a:xfrm>
          <a:prstGeom xmlns:a="http://schemas.openxmlformats.org/drawingml/2006/main" prst="roundRect">
            <a:avLst>
              <a:gd name="adj" fmla="val 23077"/>
            </a:avLst>
          </a:prstGeom>
          <a:solidFill xmlns:a="http://schemas.openxmlformats.org/drawingml/2006/main">
            <a:srgbClr val="E2F4EA"/>
          </a:solidFill>
          <a:ln xmlns:a="http://schemas.openxmlformats.org/drawingml/2006/main" w="19050">
            <a:solidFill>
              <a:srgbClr val="2CA56F"/>
            </a:solidFill>
            <a:prstDash val="solid"/>
          </a:ln>
        </p:spPr>
        <p:txBody>
          <a:bodyPr xmlns:a="http://schemas.openxmlformats.org/drawingml/2006/main" wrap="square" lIns="114300" tIns="38100" rIns="133350" bIns="38100" anchor="ctr">
            <a:noAutofit/>
          </a:bodyPr>
          <a:lstStyle xmlns:a="http://schemas.openxmlformats.org/drawingml/2006/main"/>
          <a:p xmlns:a="http://schemas.openxmlformats.org/drawingml/2006/main">
            <a:pPr algn="r">
              <a:buNone/>
              <a:defRPr sz="1313" b="1">
                <a:solidFill>
                  <a:srgbClr val="0B1F33"/>
                </a:solidFill>
                <a:latin typeface="Aptos"/>
                <a:ea typeface="Aptos"/>
                <a:cs typeface="Aptos"/>
              </a:defRPr>
            </a:pPr>
            <a:r>
              <a:rPr sz="1313" b="1">
                <a:solidFill>
                  <a:srgbClr val="0B1F33"/>
                </a:solidFill>
                <a:latin typeface="Aptos"/>
                <a:ea typeface="Aptos"/>
                <a:cs typeface="Aptos"/>
              </a:rPr>
              <a:t>Component / unit</a:t>
            </a:r>
          </a:p>
          <a:p xmlns:a="http://schemas.openxmlformats.org/drawingml/2006/main">
            <a:pPr algn="r">
              <a:buNone/>
              <a:defRPr sz="1313" b="1">
                <a:solidFill>
                  <a:srgbClr val="0B1F33"/>
                </a:solidFill>
                <a:latin typeface="Aptos"/>
                <a:ea typeface="Aptos"/>
                <a:cs typeface="Aptos"/>
              </a:defRPr>
            </a:pPr>
            <a:r>
              <a:rPr sz="1313" b="1">
                <a:solidFill>
                  <a:srgbClr val="0B1F33"/>
                </a:solidFill>
                <a:latin typeface="Aptos"/>
                <a:ea typeface="Aptos"/>
                <a:cs typeface="Aptos"/>
              </a:rPr>
              <a:t>verification</a:t>
            </a:r>
          </a:p>
        </p:txBody>
      </p:sp>
      <p:sp>
        <p:nvSpPr>
          <p:cNvPr id="40" name="vmodel-definition-4">
            <a:extLst xmlns:a="http://schemas.openxmlformats.org/drawingml/2006/main">
              <a:ext uri="{FF2B5EF4-FFF2-40B4-BE49-F238E27FC236}">
                <a16:creationId xmlns:a16="http://schemas.microsoft.com/office/drawing/2014/main" id="{7BF93040-5B97-4A47-9F85-6569D7361411}"/>
              </a:ext>
            </a:extLst>
          </p:cNvPr>
          <p:cNvSpPr>
            <a:spLocks xmlns:a="http://schemas.openxmlformats.org/drawingml/2006/main" noGrp="1"/>
          </p:cNvSpPr>
          <p:nvPr/>
        </p:nvSpPr>
        <p:spPr>
          <a:xfrm xmlns:a="http://schemas.openxmlformats.org/drawingml/2006/main">
            <a:off x="1571625" y="3724275"/>
            <a:ext cx="3048000" cy="495300"/>
          </a:xfrm>
          <a:prstGeom xmlns:a="http://schemas.openxmlformats.org/drawingml/2006/main" prst="roundRect">
            <a:avLst>
              <a:gd name="adj" fmla="val 23077"/>
            </a:avLst>
          </a:prstGeom>
          <a:solidFill xmlns:a="http://schemas.openxmlformats.org/drawingml/2006/main">
            <a:srgbClr val="DFF6F8"/>
          </a:solidFill>
          <a:ln xmlns:a="http://schemas.openxmlformats.org/drawingml/2006/main" w="19050">
            <a:solidFill>
              <a:srgbClr val="20B7C5"/>
            </a:solidFill>
            <a:prstDash val="solid"/>
          </a:ln>
        </p:spPr>
        <p:txBody>
          <a:bodyPr xmlns:a="http://schemas.openxmlformats.org/drawingml/2006/main" wrap="square" lIns="133350" tIns="38100" rIns="114300" bIns="38100" anchor="ctr">
            <a:noAutofit/>
          </a:bodyPr>
          <a:lstStyle xmlns:a="http://schemas.openxmlformats.org/drawingml/2006/main"/>
          <a:p xmlns:a="http://schemas.openxmlformats.org/drawingml/2006/main">
            <a:pPr algn="l">
              <a:buNone/>
              <a:defRPr sz="1313" b="1">
                <a:solidFill>
                  <a:srgbClr val="0B1F33"/>
                </a:solidFill>
                <a:latin typeface="Aptos"/>
                <a:ea typeface="Aptos"/>
                <a:cs typeface="Aptos"/>
              </a:defRPr>
            </a:pPr>
            <a:r>
              <a:rPr sz="1313" b="1">
                <a:solidFill>
                  <a:srgbClr val="0B1F33"/>
                </a:solidFill>
                <a:latin typeface="Aptos"/>
                <a:ea typeface="Aptos"/>
                <a:cs typeface="Aptos"/>
              </a:rPr>
              <a:t>Simulink models</a:t>
            </a:r>
          </a:p>
          <a:p xmlns:a="http://schemas.openxmlformats.org/drawingml/2006/main">
            <a:pPr algn="l">
              <a:buNone/>
              <a:defRPr sz="1313" b="1">
                <a:solidFill>
                  <a:srgbClr val="0B1F33"/>
                </a:solidFill>
                <a:latin typeface="Aptos"/>
                <a:ea typeface="Aptos"/>
                <a:cs typeface="Aptos"/>
              </a:defRPr>
            </a:pPr>
            <a:r>
              <a:rPr sz="1313" b="1">
                <a:solidFill>
                  <a:srgbClr val="0B1F33"/>
                </a:solidFill>
                <a:latin typeface="Aptos"/>
                <a:ea typeface="Aptos"/>
                <a:cs typeface="Aptos"/>
              </a:rPr>
              <a:t>+ C/H source code</a:t>
            </a:r>
          </a:p>
        </p:txBody>
      </p:sp>
      <p:sp>
        <p:nvSpPr>
          <p:cNvPr id="41" name="vmodel-verification-4">
            <a:extLst xmlns:a="http://schemas.openxmlformats.org/drawingml/2006/main">
              <a:ext uri="{FF2B5EF4-FFF2-40B4-BE49-F238E27FC236}">
                <a16:creationId xmlns:a16="http://schemas.microsoft.com/office/drawing/2014/main" id="{ABE35C5F-D51D-49F7-8C45-1E20E60DEBE3}"/>
              </a:ext>
            </a:extLst>
          </p:cNvPr>
          <p:cNvSpPr>
            <a:spLocks xmlns:a="http://schemas.openxmlformats.org/drawingml/2006/main" noGrp="1"/>
          </p:cNvSpPr>
          <p:nvPr/>
        </p:nvSpPr>
        <p:spPr>
          <a:xfrm xmlns:a="http://schemas.openxmlformats.org/drawingml/2006/main">
            <a:off x="7572375" y="3724275"/>
            <a:ext cx="3048000" cy="495300"/>
          </a:xfrm>
          <a:prstGeom xmlns:a="http://schemas.openxmlformats.org/drawingml/2006/main" prst="roundRect">
            <a:avLst>
              <a:gd name="adj" fmla="val 23077"/>
            </a:avLst>
          </a:prstGeom>
          <a:solidFill xmlns:a="http://schemas.openxmlformats.org/drawingml/2006/main">
            <a:srgbClr val="DFF6F8"/>
          </a:solidFill>
          <a:ln xmlns:a="http://schemas.openxmlformats.org/drawingml/2006/main" w="19050">
            <a:solidFill>
              <a:srgbClr val="20B7C5"/>
            </a:solidFill>
            <a:prstDash val="solid"/>
          </a:ln>
        </p:spPr>
        <p:txBody>
          <a:bodyPr xmlns:a="http://schemas.openxmlformats.org/drawingml/2006/main" wrap="square" lIns="114300" tIns="38100" rIns="133350" bIns="38100" anchor="ctr">
            <a:noAutofit/>
          </a:bodyPr>
          <a:lstStyle xmlns:a="http://schemas.openxmlformats.org/drawingml/2006/main"/>
          <a:p xmlns:a="http://schemas.openxmlformats.org/drawingml/2006/main">
            <a:pPr algn="r">
              <a:buNone/>
              <a:defRPr sz="1313" b="1">
                <a:solidFill>
                  <a:srgbClr val="0B1F33"/>
                </a:solidFill>
                <a:latin typeface="Aptos"/>
                <a:ea typeface="Aptos"/>
                <a:cs typeface="Aptos"/>
              </a:defRPr>
            </a:pPr>
            <a:r>
              <a:rPr sz="1313" b="1">
                <a:solidFill>
                  <a:srgbClr val="0B1F33"/>
                </a:solidFill>
                <a:latin typeface="Aptos"/>
                <a:ea typeface="Aptos"/>
                <a:cs typeface="Aptos"/>
              </a:rPr>
              <a:t>MIL / SIL · analysis</a:t>
            </a:r>
          </a:p>
          <a:p xmlns:a="http://schemas.openxmlformats.org/drawingml/2006/main">
            <a:pPr algn="r">
              <a:buNone/>
              <a:defRPr sz="1313" b="1">
                <a:solidFill>
                  <a:srgbClr val="0B1F33"/>
                </a:solidFill>
                <a:latin typeface="Aptos"/>
                <a:ea typeface="Aptos"/>
                <a:cs typeface="Aptos"/>
              </a:defRPr>
            </a:pPr>
            <a:r>
              <a:rPr sz="1313" b="1">
                <a:solidFill>
                  <a:srgbClr val="0B1F33"/>
                </a:solidFill>
                <a:latin typeface="Aptos"/>
                <a:ea typeface="Aptos"/>
                <a:cs typeface="Aptos"/>
              </a:rPr>
              <a:t>+ coverage</a:t>
            </a:r>
          </a:p>
        </p:txBody>
      </p:sp>
      <p:sp>
        <p:nvSpPr>
          <p:cNvPr id="42" name="vmodel-definition-5">
            <a:extLst xmlns:a="http://schemas.openxmlformats.org/drawingml/2006/main">
              <a:ext uri="{FF2B5EF4-FFF2-40B4-BE49-F238E27FC236}">
                <a16:creationId xmlns:a16="http://schemas.microsoft.com/office/drawing/2014/main" id="{3CE0AD5D-6953-48EF-8BD6-88F181EEEBA0}"/>
              </a:ext>
            </a:extLst>
          </p:cNvPr>
          <p:cNvSpPr>
            <a:spLocks xmlns:a="http://schemas.openxmlformats.org/drawingml/2006/main" noGrp="1"/>
          </p:cNvSpPr>
          <p:nvPr/>
        </p:nvSpPr>
        <p:spPr>
          <a:xfrm xmlns:a="http://schemas.openxmlformats.org/drawingml/2006/main">
            <a:off x="1866900" y="4305300"/>
            <a:ext cx="3048000" cy="495300"/>
          </a:xfrm>
          <a:prstGeom xmlns:a="http://schemas.openxmlformats.org/drawingml/2006/main" prst="roundRect">
            <a:avLst>
              <a:gd name="adj" fmla="val 23077"/>
            </a:avLst>
          </a:prstGeom>
          <a:solidFill xmlns:a="http://schemas.openxmlformats.org/drawingml/2006/main">
            <a:srgbClr val="FFF0D7"/>
          </a:solidFill>
          <a:ln xmlns:a="http://schemas.openxmlformats.org/drawingml/2006/main" w="19050">
            <a:solidFill>
              <a:srgbClr val="E9A23B"/>
            </a:solidFill>
            <a:prstDash val="solid"/>
          </a:ln>
        </p:spPr>
        <p:txBody>
          <a:bodyPr xmlns:a="http://schemas.openxmlformats.org/drawingml/2006/main" wrap="square" lIns="133350" tIns="38100" rIns="114300" bIns="38100" anchor="ctr">
            <a:noAutofit/>
          </a:bodyPr>
          <a:lstStyle xmlns:a="http://schemas.openxmlformats.org/drawingml/2006/main"/>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Executable</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object code</a:t>
            </a:r>
          </a:p>
        </p:txBody>
      </p:sp>
      <p:sp>
        <p:nvSpPr>
          <p:cNvPr id="43" name="vmodel-verification-5">
            <a:extLst xmlns:a="http://schemas.openxmlformats.org/drawingml/2006/main">
              <a:ext uri="{FF2B5EF4-FFF2-40B4-BE49-F238E27FC236}">
                <a16:creationId xmlns:a16="http://schemas.microsoft.com/office/drawing/2014/main" id="{76A27BFC-C2BC-45E4-B7CB-8333A6FE8223}"/>
              </a:ext>
            </a:extLst>
          </p:cNvPr>
          <p:cNvSpPr>
            <a:spLocks xmlns:a="http://schemas.openxmlformats.org/drawingml/2006/main" noGrp="1"/>
          </p:cNvSpPr>
          <p:nvPr/>
        </p:nvSpPr>
        <p:spPr>
          <a:xfrm xmlns:a="http://schemas.openxmlformats.org/drawingml/2006/main">
            <a:off x="7277100" y="4305300"/>
            <a:ext cx="3048000" cy="495300"/>
          </a:xfrm>
          <a:prstGeom xmlns:a="http://schemas.openxmlformats.org/drawingml/2006/main" prst="roundRect">
            <a:avLst>
              <a:gd name="adj" fmla="val 23077"/>
            </a:avLst>
          </a:prstGeom>
          <a:solidFill xmlns:a="http://schemas.openxmlformats.org/drawingml/2006/main">
            <a:srgbClr val="FFF0D7"/>
          </a:solidFill>
          <a:ln xmlns:a="http://schemas.openxmlformats.org/drawingml/2006/main" w="19050">
            <a:solidFill>
              <a:srgbClr val="E9A23B"/>
            </a:solidFill>
            <a:prstDash val="solid"/>
          </a:ln>
        </p:spPr>
        <p:txBody>
          <a:bodyPr xmlns:a="http://schemas.openxmlformats.org/drawingml/2006/main" wrap="square" lIns="114300" tIns="38100" rIns="133350" bIns="38100" anchor="ctr">
            <a:noAutofit/>
          </a:bodyPr>
          <a:lstStyle xmlns:a="http://schemas.openxmlformats.org/drawingml/2006/main"/>
          <a:p xmlns:a="http://schemas.openxmlformats.org/drawingml/2006/main">
            <a:pPr algn="r">
              <a:buNone/>
              <a:defRPr sz="1163" b="1">
                <a:solidFill>
                  <a:srgbClr val="0B1F33"/>
                </a:solidFill>
                <a:latin typeface="Aptos"/>
                <a:ea typeface="Aptos"/>
                <a:cs typeface="Aptos"/>
              </a:defRPr>
            </a:pPr>
            <a:r>
              <a:rPr sz="1163" b="1">
                <a:solidFill>
                  <a:srgbClr val="0B1F33"/>
                </a:solidFill>
                <a:latin typeface="Aptos"/>
                <a:ea typeface="Aptos"/>
                <a:cs typeface="Aptos"/>
              </a:rPr>
              <a:t>PIL / target · HIL / bench</a:t>
            </a:r>
          </a:p>
          <a:p xmlns:a="http://schemas.openxmlformats.org/drawingml/2006/main">
            <a:pPr algn="r">
              <a:buNone/>
              <a:defRPr sz="1163" b="1">
                <a:solidFill>
                  <a:srgbClr val="0B1F33"/>
                </a:solidFill>
                <a:latin typeface="Aptos"/>
                <a:ea typeface="Aptos"/>
                <a:cs typeface="Aptos"/>
              </a:defRPr>
            </a:pPr>
            <a:r>
              <a:rPr sz="1163" b="1">
                <a:solidFill>
                  <a:srgbClr val="0B1F33"/>
                </a:solidFill>
                <a:latin typeface="Aptos"/>
                <a:ea typeface="Aptos"/>
                <a:cs typeface="Aptos"/>
              </a:rPr>
              <a:t>+ system integration</a:t>
            </a:r>
          </a:p>
        </p:txBody>
      </p:sp>
      <p:cxnSp>
        <p:nvCxnSpPr>
          <p:cNvPr id="239" name=""/>
          <p:cNvCxnSpPr>
            <a:stCxn xmlns:a="http://schemas.openxmlformats.org/drawingml/2006/main" id="34" idx="3"/>
            <a:endCxn xmlns:a="http://schemas.openxmlformats.org/drawingml/2006/main" id="35" idx="1"/>
          </p:cNvCxnSpPr>
          <p:nvPr/>
        </p:nvCxnSpPr>
        <p:spPr>
          <a:xfrm xmlns:a="http://schemas.openxmlformats.org/drawingml/2006/main">
            <a:off x="3733800" y="2228850"/>
            <a:ext cx="4724400" cy="0"/>
          </a:xfrm>
          <a:prstGeom xmlns:a="http://schemas.openxmlformats.org/drawingml/2006/main" prst="straightConnector1">
            <a:avLst/>
          </a:prstGeom>
          <a:ln xmlns:a="http://schemas.openxmlformats.org/drawingml/2006/main" w="15240" cap="rnd">
            <a:solidFill>
              <a:srgbClr val="5D7487"/>
            </a:solidFill>
            <a:prstDash val="dash"/>
            <a:headEnd type="arrow" w="sm" len="sm"/>
            <a:tailEnd type="arrow" w="sm" len="sm"/>
          </a:ln>
        </p:spPr>
      </p:cxnSp>
      <p:cxnSp>
        <p:nvCxnSpPr>
          <p:cNvPr id="240" name=""/>
          <p:cNvCxnSpPr>
            <a:stCxn xmlns:a="http://schemas.openxmlformats.org/drawingml/2006/main" id="36" idx="3"/>
            <a:endCxn xmlns:a="http://schemas.openxmlformats.org/drawingml/2006/main" id="37" idx="1"/>
          </p:cNvCxnSpPr>
          <p:nvPr/>
        </p:nvCxnSpPr>
        <p:spPr>
          <a:xfrm xmlns:a="http://schemas.openxmlformats.org/drawingml/2006/main">
            <a:off x="4029075" y="2809875"/>
            <a:ext cx="4133850" cy="0"/>
          </a:xfrm>
          <a:prstGeom xmlns:a="http://schemas.openxmlformats.org/drawingml/2006/main" prst="straightConnector1">
            <a:avLst/>
          </a:prstGeom>
          <a:ln xmlns:a="http://schemas.openxmlformats.org/drawingml/2006/main" w="15240" cap="rnd">
            <a:solidFill>
              <a:srgbClr val="5D7487"/>
            </a:solidFill>
            <a:prstDash val="dash"/>
            <a:headEnd type="arrow" w="sm" len="sm"/>
            <a:tailEnd type="arrow" w="sm" len="sm"/>
          </a:ln>
        </p:spPr>
      </p:cxnSp>
      <p:cxnSp>
        <p:nvCxnSpPr>
          <p:cNvPr id="241" name=""/>
          <p:cNvCxnSpPr>
            <a:stCxn xmlns:a="http://schemas.openxmlformats.org/drawingml/2006/main" id="38" idx="3"/>
            <a:endCxn xmlns:a="http://schemas.openxmlformats.org/drawingml/2006/main" id="39" idx="1"/>
          </p:cNvCxnSpPr>
          <p:nvPr/>
        </p:nvCxnSpPr>
        <p:spPr>
          <a:xfrm xmlns:a="http://schemas.openxmlformats.org/drawingml/2006/main">
            <a:off x="4324350" y="3390900"/>
            <a:ext cx="3543300" cy="0"/>
          </a:xfrm>
          <a:prstGeom xmlns:a="http://schemas.openxmlformats.org/drawingml/2006/main" prst="straightConnector1">
            <a:avLst/>
          </a:prstGeom>
          <a:ln xmlns:a="http://schemas.openxmlformats.org/drawingml/2006/main" w="15240" cap="rnd">
            <a:solidFill>
              <a:srgbClr val="5D7487"/>
            </a:solidFill>
            <a:prstDash val="dash"/>
            <a:headEnd type="arrow" w="sm" len="sm"/>
            <a:tailEnd type="arrow" w="sm" len="sm"/>
          </a:ln>
        </p:spPr>
      </p:cxnSp>
      <p:cxnSp>
        <p:nvCxnSpPr>
          <p:cNvPr id="242" name=""/>
          <p:cNvCxnSpPr>
            <a:stCxn xmlns:a="http://schemas.openxmlformats.org/drawingml/2006/main" id="40" idx="3"/>
            <a:endCxn xmlns:a="http://schemas.openxmlformats.org/drawingml/2006/main" id="41" idx="1"/>
          </p:cNvCxnSpPr>
          <p:nvPr/>
        </p:nvCxnSpPr>
        <p:spPr>
          <a:xfrm xmlns:a="http://schemas.openxmlformats.org/drawingml/2006/main">
            <a:off x="4619625" y="3971925"/>
            <a:ext cx="2952750" cy="0"/>
          </a:xfrm>
          <a:prstGeom xmlns:a="http://schemas.openxmlformats.org/drawingml/2006/main" prst="straightConnector1">
            <a:avLst/>
          </a:prstGeom>
          <a:ln xmlns:a="http://schemas.openxmlformats.org/drawingml/2006/main" w="15240" cap="rnd">
            <a:solidFill>
              <a:srgbClr val="5D7487"/>
            </a:solidFill>
            <a:prstDash val="dash"/>
            <a:headEnd type="arrow" w="sm" len="sm"/>
            <a:tailEnd type="arrow" w="sm" len="sm"/>
          </a:ln>
        </p:spPr>
      </p:cxnSp>
      <p:cxnSp>
        <p:nvCxnSpPr>
          <p:cNvPr id="243" name=""/>
          <p:cNvCxnSpPr>
            <a:stCxn xmlns:a="http://schemas.openxmlformats.org/drawingml/2006/main" id="42" idx="3"/>
            <a:endCxn xmlns:a="http://schemas.openxmlformats.org/drawingml/2006/main" id="43" idx="1"/>
          </p:cNvCxnSpPr>
          <p:nvPr/>
        </p:nvCxnSpPr>
        <p:spPr>
          <a:xfrm xmlns:a="http://schemas.openxmlformats.org/drawingml/2006/main">
            <a:off x="4914900" y="4552950"/>
            <a:ext cx="2362200" cy="0"/>
          </a:xfrm>
          <a:prstGeom xmlns:a="http://schemas.openxmlformats.org/drawingml/2006/main" prst="straightConnector1">
            <a:avLst/>
          </a:prstGeom>
          <a:ln xmlns:a="http://schemas.openxmlformats.org/drawingml/2006/main" w="15240" cap="rnd">
            <a:solidFill>
              <a:srgbClr val="5D7487"/>
            </a:solidFill>
            <a:prstDash val="dash"/>
            <a:headEnd type="arrow" w="sm" len="sm"/>
            <a:tailEnd type="arrow" w="sm" len="sm"/>
          </a:ln>
        </p:spPr>
      </p:cxnSp>
      <p:sp>
        <p:nvSpPr>
          <p:cNvPr id="49" name="vmodel-gate-1">
            <a:extLst xmlns:a="http://schemas.openxmlformats.org/drawingml/2006/main">
              <a:ext uri="{FF2B5EF4-FFF2-40B4-BE49-F238E27FC236}">
                <a16:creationId xmlns:a16="http://schemas.microsoft.com/office/drawing/2014/main" id="{04A21B0A-18DB-4768-9F3A-9C17073D4E86}"/>
              </a:ext>
            </a:extLst>
          </p:cNvPr>
          <p:cNvSpPr>
            <a:spLocks xmlns:a="http://schemas.openxmlformats.org/drawingml/2006/main" noGrp="1"/>
          </p:cNvSpPr>
          <p:nvPr/>
        </p:nvSpPr>
        <p:spPr>
          <a:xfrm xmlns:a="http://schemas.openxmlformats.org/drawingml/2006/main">
            <a:off x="3743325" y="2066925"/>
            <a:ext cx="323850" cy="323850"/>
          </a:xfrm>
          <a:prstGeom xmlns:a="http://schemas.openxmlformats.org/drawingml/2006/main" prst="ellipse">
            <a:avLst/>
          </a:prstGeom>
          <a:solidFill xmlns:a="http://schemas.openxmlformats.org/drawingml/2006/main">
            <a:srgbClr val="0B2438"/>
          </a:solidFill>
          <a:ln xmlns:a="http://schemas.openxmlformats.org/drawingml/2006/main" w="19050">
            <a:solidFill>
              <a:srgbClr val="FFFFFF"/>
            </a:solidFill>
            <a:prstDash val="solid"/>
          </a:ln>
        </p:spPr>
        <p:txBody>
          <a:bodyPr xmlns:a="http://schemas.openxmlformats.org/drawingml/2006/main" wrap="none" lIns="9525" tIns="9525" rIns="9525" bIns="9525" anchor="ctr">
            <a:noAutofit/>
          </a:bodyPr>
          <a:lstStyle xmlns:a="http://schemas.openxmlformats.org/drawingml/2006/main"/>
          <a:p xmlns:a="http://schemas.openxmlformats.org/drawingml/2006/main">
            <a:pPr algn="ctr">
              <a:buNone/>
              <a:defRPr sz="1013" b="1">
                <a:solidFill>
                  <a:srgbClr val="FFFFFF"/>
                </a:solidFill>
                <a:latin typeface="Aptos"/>
                <a:ea typeface="Aptos"/>
                <a:cs typeface="Aptos"/>
              </a:defRPr>
            </a:pPr>
            <a:r>
              <a:rPr sz="1013" b="1">
                <a:solidFill>
                  <a:srgbClr val="FFFFFF"/>
                </a:solidFill>
                <a:latin typeface="Aptos"/>
                <a:ea typeface="Aptos"/>
                <a:cs typeface="Aptos"/>
              </a:rPr>
              <a:t>G1</a:t>
            </a:r>
          </a:p>
        </p:txBody>
      </p:sp>
      <p:sp>
        <p:nvSpPr>
          <p:cNvPr id="50" name="vmodel-gate-2">
            <a:extLst xmlns:a="http://schemas.openxmlformats.org/drawingml/2006/main">
              <a:ext uri="{FF2B5EF4-FFF2-40B4-BE49-F238E27FC236}">
                <a16:creationId xmlns:a16="http://schemas.microsoft.com/office/drawing/2014/main" id="{0724F861-8FB3-4114-B606-FCB00F80EA62}"/>
              </a:ext>
            </a:extLst>
          </p:cNvPr>
          <p:cNvSpPr>
            <a:spLocks xmlns:a="http://schemas.openxmlformats.org/drawingml/2006/main" noGrp="1"/>
          </p:cNvSpPr>
          <p:nvPr/>
        </p:nvSpPr>
        <p:spPr>
          <a:xfrm xmlns:a="http://schemas.openxmlformats.org/drawingml/2006/main">
            <a:off x="4038600" y="2647950"/>
            <a:ext cx="323850" cy="323850"/>
          </a:xfrm>
          <a:prstGeom xmlns:a="http://schemas.openxmlformats.org/drawingml/2006/main" prst="ellipse">
            <a:avLst/>
          </a:prstGeom>
          <a:solidFill xmlns:a="http://schemas.openxmlformats.org/drawingml/2006/main">
            <a:srgbClr val="0B2438"/>
          </a:solidFill>
          <a:ln xmlns:a="http://schemas.openxmlformats.org/drawingml/2006/main" w="19050">
            <a:solidFill>
              <a:srgbClr val="FFFFFF"/>
            </a:solidFill>
            <a:prstDash val="solid"/>
          </a:ln>
        </p:spPr>
        <p:txBody>
          <a:bodyPr xmlns:a="http://schemas.openxmlformats.org/drawingml/2006/main" wrap="none" lIns="9525" tIns="9525" rIns="9525" bIns="9525" anchor="ctr">
            <a:noAutofit/>
          </a:bodyPr>
          <a:lstStyle xmlns:a="http://schemas.openxmlformats.org/drawingml/2006/main"/>
          <a:p xmlns:a="http://schemas.openxmlformats.org/drawingml/2006/main">
            <a:pPr algn="ctr">
              <a:buNone/>
              <a:defRPr sz="1013" b="1">
                <a:solidFill>
                  <a:srgbClr val="FFFFFF"/>
                </a:solidFill>
                <a:latin typeface="Aptos"/>
                <a:ea typeface="Aptos"/>
                <a:cs typeface="Aptos"/>
              </a:defRPr>
            </a:pPr>
            <a:r>
              <a:rPr sz="1013" b="1">
                <a:solidFill>
                  <a:srgbClr val="FFFFFF"/>
                </a:solidFill>
                <a:latin typeface="Aptos"/>
                <a:ea typeface="Aptos"/>
                <a:cs typeface="Aptos"/>
              </a:rPr>
              <a:t>G2</a:t>
            </a:r>
          </a:p>
        </p:txBody>
      </p:sp>
      <p:sp>
        <p:nvSpPr>
          <p:cNvPr id="51" name="vmodel-gate-3">
            <a:extLst xmlns:a="http://schemas.openxmlformats.org/drawingml/2006/main">
              <a:ext uri="{FF2B5EF4-FFF2-40B4-BE49-F238E27FC236}">
                <a16:creationId xmlns:a16="http://schemas.microsoft.com/office/drawing/2014/main" id="{3FA70F9C-2060-4C91-BF60-496445EF3898}"/>
              </a:ext>
            </a:extLst>
          </p:cNvPr>
          <p:cNvSpPr>
            <a:spLocks xmlns:a="http://schemas.openxmlformats.org/drawingml/2006/main" noGrp="1"/>
          </p:cNvSpPr>
          <p:nvPr/>
        </p:nvSpPr>
        <p:spPr>
          <a:xfrm xmlns:a="http://schemas.openxmlformats.org/drawingml/2006/main">
            <a:off x="4333875" y="3228975"/>
            <a:ext cx="323850" cy="323850"/>
          </a:xfrm>
          <a:prstGeom xmlns:a="http://schemas.openxmlformats.org/drawingml/2006/main" prst="ellipse">
            <a:avLst/>
          </a:prstGeom>
          <a:solidFill xmlns:a="http://schemas.openxmlformats.org/drawingml/2006/main">
            <a:srgbClr val="0B2438"/>
          </a:solidFill>
          <a:ln xmlns:a="http://schemas.openxmlformats.org/drawingml/2006/main" w="19050">
            <a:solidFill>
              <a:srgbClr val="FFFFFF"/>
            </a:solidFill>
            <a:prstDash val="solid"/>
          </a:ln>
        </p:spPr>
        <p:txBody>
          <a:bodyPr xmlns:a="http://schemas.openxmlformats.org/drawingml/2006/main" wrap="none" lIns="9525" tIns="9525" rIns="9525" bIns="9525" anchor="ctr">
            <a:noAutofit/>
          </a:bodyPr>
          <a:lstStyle xmlns:a="http://schemas.openxmlformats.org/drawingml/2006/main"/>
          <a:p xmlns:a="http://schemas.openxmlformats.org/drawingml/2006/main">
            <a:pPr algn="ctr">
              <a:buNone/>
              <a:defRPr sz="1013" b="1">
                <a:solidFill>
                  <a:srgbClr val="FFFFFF"/>
                </a:solidFill>
                <a:latin typeface="Aptos"/>
                <a:ea typeface="Aptos"/>
                <a:cs typeface="Aptos"/>
              </a:defRPr>
            </a:pPr>
            <a:r>
              <a:rPr sz="1013" b="1">
                <a:solidFill>
                  <a:srgbClr val="FFFFFF"/>
                </a:solidFill>
                <a:latin typeface="Aptos"/>
                <a:ea typeface="Aptos"/>
                <a:cs typeface="Aptos"/>
              </a:rPr>
              <a:t>G3</a:t>
            </a:r>
          </a:p>
        </p:txBody>
      </p:sp>
      <p:sp>
        <p:nvSpPr>
          <p:cNvPr id="52" name="vmodel-gate-4">
            <a:extLst xmlns:a="http://schemas.openxmlformats.org/drawingml/2006/main">
              <a:ext uri="{FF2B5EF4-FFF2-40B4-BE49-F238E27FC236}">
                <a16:creationId xmlns:a16="http://schemas.microsoft.com/office/drawing/2014/main" id="{B2683F25-50D0-4E55-83AF-F2B2CE1DD939}"/>
              </a:ext>
            </a:extLst>
          </p:cNvPr>
          <p:cNvSpPr>
            <a:spLocks xmlns:a="http://schemas.openxmlformats.org/drawingml/2006/main" noGrp="1"/>
          </p:cNvSpPr>
          <p:nvPr/>
        </p:nvSpPr>
        <p:spPr>
          <a:xfrm xmlns:a="http://schemas.openxmlformats.org/drawingml/2006/main">
            <a:off x="4629150" y="3810000"/>
            <a:ext cx="323850" cy="323850"/>
          </a:xfrm>
          <a:prstGeom xmlns:a="http://schemas.openxmlformats.org/drawingml/2006/main" prst="ellipse">
            <a:avLst/>
          </a:prstGeom>
          <a:solidFill xmlns:a="http://schemas.openxmlformats.org/drawingml/2006/main">
            <a:srgbClr val="0B2438"/>
          </a:solidFill>
          <a:ln xmlns:a="http://schemas.openxmlformats.org/drawingml/2006/main" w="19050">
            <a:solidFill>
              <a:srgbClr val="FFFFFF"/>
            </a:solidFill>
            <a:prstDash val="solid"/>
          </a:ln>
        </p:spPr>
        <p:txBody>
          <a:bodyPr xmlns:a="http://schemas.openxmlformats.org/drawingml/2006/main" wrap="none" lIns="9525" tIns="9525" rIns="9525" bIns="9525" anchor="ctr">
            <a:noAutofit/>
          </a:bodyPr>
          <a:lstStyle xmlns:a="http://schemas.openxmlformats.org/drawingml/2006/main"/>
          <a:p xmlns:a="http://schemas.openxmlformats.org/drawingml/2006/main">
            <a:pPr algn="ctr">
              <a:buNone/>
              <a:defRPr sz="1013" b="1">
                <a:solidFill>
                  <a:srgbClr val="FFFFFF"/>
                </a:solidFill>
                <a:latin typeface="Aptos"/>
                <a:ea typeface="Aptos"/>
                <a:cs typeface="Aptos"/>
              </a:defRPr>
            </a:pPr>
            <a:r>
              <a:rPr sz="1013" b="1">
                <a:solidFill>
                  <a:srgbClr val="FFFFFF"/>
                </a:solidFill>
                <a:latin typeface="Aptos"/>
                <a:ea typeface="Aptos"/>
                <a:cs typeface="Aptos"/>
              </a:rPr>
              <a:t>G4</a:t>
            </a:r>
          </a:p>
        </p:txBody>
      </p:sp>
      <p:sp>
        <p:nvSpPr>
          <p:cNvPr id="53" name="vmodel-gate-5">
            <a:extLst xmlns:a="http://schemas.openxmlformats.org/drawingml/2006/main">
              <a:ext uri="{FF2B5EF4-FFF2-40B4-BE49-F238E27FC236}">
                <a16:creationId xmlns:a16="http://schemas.microsoft.com/office/drawing/2014/main" id="{66A996BE-541B-4967-991E-91317A893279}"/>
              </a:ext>
            </a:extLst>
          </p:cNvPr>
          <p:cNvSpPr>
            <a:spLocks xmlns:a="http://schemas.openxmlformats.org/drawingml/2006/main" noGrp="1"/>
          </p:cNvSpPr>
          <p:nvPr/>
        </p:nvSpPr>
        <p:spPr>
          <a:xfrm xmlns:a="http://schemas.openxmlformats.org/drawingml/2006/main">
            <a:off x="4924425" y="4391025"/>
            <a:ext cx="323850" cy="323850"/>
          </a:xfrm>
          <a:prstGeom xmlns:a="http://schemas.openxmlformats.org/drawingml/2006/main" prst="ellipse">
            <a:avLst/>
          </a:prstGeom>
          <a:solidFill xmlns:a="http://schemas.openxmlformats.org/drawingml/2006/main">
            <a:srgbClr val="0B2438"/>
          </a:solidFill>
          <a:ln xmlns:a="http://schemas.openxmlformats.org/drawingml/2006/main" w="19050">
            <a:solidFill>
              <a:srgbClr val="FFFFFF"/>
            </a:solidFill>
            <a:prstDash val="solid"/>
          </a:ln>
        </p:spPr>
        <p:txBody>
          <a:bodyPr xmlns:a="http://schemas.openxmlformats.org/drawingml/2006/main" wrap="none" lIns="9525" tIns="9525" rIns="9525" bIns="9525" anchor="ctr">
            <a:noAutofit/>
          </a:bodyPr>
          <a:lstStyle xmlns:a="http://schemas.openxmlformats.org/drawingml/2006/main"/>
          <a:p xmlns:a="http://schemas.openxmlformats.org/drawingml/2006/main">
            <a:pPr algn="ctr">
              <a:buNone/>
              <a:defRPr sz="1013" b="1">
                <a:solidFill>
                  <a:srgbClr val="FFFFFF"/>
                </a:solidFill>
                <a:latin typeface="Aptos"/>
                <a:ea typeface="Aptos"/>
                <a:cs typeface="Aptos"/>
              </a:defRPr>
            </a:pPr>
            <a:r>
              <a:rPr sz="1013" b="1">
                <a:solidFill>
                  <a:srgbClr val="FFFFFF"/>
                </a:solidFill>
                <a:latin typeface="Aptos"/>
                <a:ea typeface="Aptos"/>
                <a:cs typeface="Aptos"/>
              </a:rPr>
              <a:t>G5</a:t>
            </a:r>
          </a:p>
        </p:txBody>
      </p:sp>
      <p:sp>
        <p:nvSpPr>
          <p:cNvPr id="54" name="vmodel-baseline">
            <a:extLst xmlns:a="http://schemas.openxmlformats.org/drawingml/2006/main">
              <a:ext uri="{FF2B5EF4-FFF2-40B4-BE49-F238E27FC236}">
                <a16:creationId xmlns:a16="http://schemas.microsoft.com/office/drawing/2014/main" id="{576305FB-4A73-4D19-8AC3-D6F21E58DFF3}"/>
              </a:ext>
            </a:extLst>
          </p:cNvPr>
          <p:cNvSpPr>
            <a:spLocks xmlns:a="http://schemas.openxmlformats.org/drawingml/2006/main" noGrp="1"/>
          </p:cNvSpPr>
          <p:nvPr/>
        </p:nvSpPr>
        <p:spPr>
          <a:xfrm xmlns:a="http://schemas.openxmlformats.org/drawingml/2006/main">
            <a:off x="4524375" y="5010150"/>
            <a:ext cx="3143250" cy="552450"/>
          </a:xfrm>
          <a:prstGeom xmlns:a="http://schemas.openxmlformats.org/drawingml/2006/main" prst="roundRect">
            <a:avLst>
              <a:gd name="adj" fmla="val 20690"/>
            </a:avLst>
          </a:prstGeom>
          <a:solidFill xmlns:a="http://schemas.openxmlformats.org/drawingml/2006/main">
            <a:srgbClr val="0B2438"/>
          </a:solidFill>
          <a:ln xmlns:a="http://schemas.openxmlformats.org/drawingml/2006/main" w="19050">
            <a:solidFill>
              <a:srgbClr val="20B7C5"/>
            </a:solidFill>
            <a:prstDash val="solid"/>
          </a:ln>
        </p:spPr>
      </p:sp>
      <p:sp>
        <p:nvSpPr>
          <p:cNvPr id="55" name="vmodel-baseline-title">
            <a:extLst xmlns:a="http://schemas.openxmlformats.org/drawingml/2006/main">
              <a:ext uri="{FF2B5EF4-FFF2-40B4-BE49-F238E27FC236}">
                <a16:creationId xmlns:a16="http://schemas.microsoft.com/office/drawing/2014/main" id="{4770860C-10B8-413B-97B5-9584BE8AA4E4}"/>
              </a:ext>
            </a:extLst>
          </p:cNvPr>
          <p:cNvSpPr>
            <a:spLocks xmlns:a="http://schemas.openxmlformats.org/drawingml/2006/main" noGrp="1"/>
          </p:cNvSpPr>
          <p:nvPr/>
        </p:nvSpPr>
        <p:spPr>
          <a:xfrm xmlns:a="http://schemas.openxmlformats.org/drawingml/2006/main">
            <a:off x="4638675" y="5105400"/>
            <a:ext cx="2914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ctr">
              <a:buNone/>
              <a:defRPr sz="1260" b="1">
                <a:solidFill>
                  <a:srgbClr val="FFFFFF"/>
                </a:solidFill>
                <a:latin typeface="Aptos"/>
                <a:ea typeface="Aptos"/>
                <a:cs typeface="Aptos"/>
              </a:defRPr>
            </a:pPr>
            <a:r>
              <a:rPr sz="1260" b="1">
                <a:solidFill>
                  <a:srgbClr val="FFFFFF"/>
                </a:solidFill>
                <a:latin typeface="Aptos"/>
                <a:ea typeface="Aptos"/>
                <a:cs typeface="Aptos"/>
              </a:rPr>
              <a:t>CONTROLLED SOFTWARE BASELINE</a:t>
            </a:r>
          </a:p>
        </p:txBody>
      </p:sp>
      <p:sp>
        <p:nvSpPr>
          <p:cNvPr id="56" name="vmodel-baseline-subtitle">
            <a:extLst xmlns:a="http://schemas.openxmlformats.org/drawingml/2006/main">
              <a:ext uri="{FF2B5EF4-FFF2-40B4-BE49-F238E27FC236}">
                <a16:creationId xmlns:a16="http://schemas.microsoft.com/office/drawing/2014/main" id="{5FB72CEF-B502-47D4-BDDD-FFED8F4B929C}"/>
              </a:ext>
            </a:extLst>
          </p:cNvPr>
          <p:cNvSpPr>
            <a:spLocks xmlns:a="http://schemas.openxmlformats.org/drawingml/2006/main" noGrp="1"/>
          </p:cNvSpPr>
          <p:nvPr/>
        </p:nvSpPr>
        <p:spPr>
          <a:xfrm xmlns:a="http://schemas.openxmlformats.org/drawingml/2006/main">
            <a:off x="4638675" y="5324475"/>
            <a:ext cx="29146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0" rIns="9525" bIns="0" anchor="ctr">
            <a:noAutofit/>
          </a:bodyPr>
          <a:lstStyle xmlns:a="http://schemas.openxmlformats.org/drawingml/2006/main"/>
          <a:p xmlns:a="http://schemas.openxmlformats.org/drawingml/2006/main">
            <a:pPr algn="ctr">
              <a:buNone/>
              <a:defRPr sz="975" b="1">
                <a:solidFill>
                  <a:srgbClr val="BFEAF0"/>
                </a:solidFill>
                <a:latin typeface="Aptos"/>
                <a:ea typeface="Aptos"/>
                <a:cs typeface="Aptos"/>
              </a:defRPr>
            </a:pPr>
            <a:r>
              <a:rPr sz="975" b="1">
                <a:solidFill>
                  <a:srgbClr val="BFEAF0"/>
                </a:solidFill>
                <a:latin typeface="Aptos"/>
                <a:ea typeface="Aptos"/>
                <a:cs typeface="Aptos"/>
              </a:rPr>
              <a:t>configuration · trace links · review records</a:t>
            </a:r>
          </a:p>
        </p:txBody>
      </p:sp>
      <p:sp>
        <p:nvSpPr>
          <p:cNvPr id="57" name="vmodel-takeaway">
            <a:extLst xmlns:a="http://schemas.openxmlformats.org/drawingml/2006/main">
              <a:ext uri="{FF2B5EF4-FFF2-40B4-BE49-F238E27FC236}">
                <a16:creationId xmlns:a16="http://schemas.microsoft.com/office/drawing/2014/main" id="{EEA5064D-087C-42D1-9073-6A734CF57C47}"/>
              </a:ext>
            </a:extLst>
          </p:cNvPr>
          <p:cNvSpPr>
            <a:spLocks xmlns:a="http://schemas.openxmlformats.org/drawingml/2006/main" noGrp="1"/>
          </p:cNvSpPr>
          <p:nvPr/>
        </p:nvSpPr>
        <p:spPr>
          <a:xfrm xmlns:a="http://schemas.openxmlformats.org/drawingml/2006/main">
            <a:off x="685800" y="5734050"/>
            <a:ext cx="10820400" cy="485775"/>
          </a:xfrm>
          <a:prstGeom xmlns:a="http://schemas.openxmlformats.org/drawingml/2006/main" prst="roundRect">
            <a:avLst>
              <a:gd name="adj" fmla="val 23529"/>
            </a:avLst>
          </a:prstGeom>
          <a:solidFill xmlns:a="http://schemas.openxmlformats.org/drawingml/2006/main">
            <a:srgbClr val="E8F7F9"/>
          </a:solidFill>
          <a:ln xmlns:a="http://schemas.openxmlformats.org/drawingml/2006/main" w="14288">
            <a:solidFill>
              <a:srgbClr val="20B7C5"/>
            </a:solidFill>
            <a:prstDash val="solid"/>
          </a:ln>
        </p:spPr>
        <p:txBody>
          <a:bodyPr xmlns:a="http://schemas.openxmlformats.org/drawingml/2006/main" wrap="square" lIns="133350" tIns="38100" rIns="133350" bIns="38100" anchor="ctr">
            <a:noAutofit/>
          </a:bodyPr>
          <a:lstStyle xmlns:a="http://schemas.openxmlformats.org/drawingml/2006/main"/>
          <a:p xmlns:a="http://schemas.openxmlformats.org/drawingml/2006/main">
            <a:pPr algn="ctr">
              <a:buNone/>
              <a:defRPr sz="1238" b="1">
                <a:solidFill>
                  <a:srgbClr val="0B1F33"/>
                </a:solidFill>
                <a:latin typeface="Aptos"/>
                <a:ea typeface="Aptos"/>
                <a:cs typeface="Aptos"/>
              </a:defRPr>
            </a:pPr>
            <a:r>
              <a:rPr sz="1238" b="1">
                <a:solidFill>
                  <a:srgbClr val="0B1F33"/>
                </a:solidFill>
                <a:latin typeface="Aptos"/>
                <a:ea typeface="Aptos"/>
                <a:cs typeface="Aptos"/>
              </a:rPr>
              <a:t>Agile changes the cadence; it does not remove ordered reviews, traceability, controlled baselines, or planned independence.</a:t>
            </a:r>
          </a:p>
        </p:txBody>
      </p:sp>
    </p:spTree>
    <p:extLst>
      <p:ext uri="{BB962C8B-B14F-4D97-AF65-F5344CB8AC3E}">
        <p14:creationId xmlns:p14="http://schemas.microsoft.com/office/powerpoint/2010/main" val="1622149317"/>
      </p:ext>
    </p:extLst>
  </p:cSld>
</p:sld>
</file>

<file path=ppt/slides/slide29.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8" name="section-263">
            <a:extLst xmlns:a="http://schemas.openxmlformats.org/drawingml/2006/main">
              <a:ext uri="{FF2B5EF4-FFF2-40B4-BE49-F238E27FC236}">
                <a16:creationId xmlns:a16="http://schemas.microsoft.com/office/drawing/2014/main" id="{FFD29D7E-0FAD-4187-8A3C-C5C14883C0D9}"/>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05 • REQUIREMENTS &amp; TRACEABILITY</a:t>
            </a:r>
          </a:p>
        </p:txBody>
      </p:sp>
      <p:sp>
        <p:nvSpPr>
          <p:cNvPr id="2" name="title-263">
            <a:extLst xmlns:a="http://schemas.openxmlformats.org/drawingml/2006/main">
              <a:ext uri="{FF2B5EF4-FFF2-40B4-BE49-F238E27FC236}">
                <a16:creationId xmlns:a16="http://schemas.microsoft.com/office/drawing/2014/main" id="{BFF549DF-A418-4174-9AAA-E2AB7C38D401}"/>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Illustrative requirements make the training chain explicit</a:t>
            </a:r>
          </a:p>
        </p:txBody>
      </p:sp>
      <p:sp>
        <p:nvSpPr>
          <p:cNvPr id="3" name="line-264">
            <a:extLst xmlns:a="http://schemas.openxmlformats.org/drawingml/2006/main">
              <a:ext uri="{FF2B5EF4-FFF2-40B4-BE49-F238E27FC236}">
                <a16:creationId xmlns:a16="http://schemas.microsoft.com/office/drawing/2014/main" id="{B9C67DB8-2967-44E2-87FE-1DA24A6498B0}"/>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6" name="box-267">
            <a:extLst xmlns:a="http://schemas.openxmlformats.org/drawingml/2006/main">
              <a:ext uri="{FF2B5EF4-FFF2-40B4-BE49-F238E27FC236}">
                <a16:creationId xmlns:a16="http://schemas.microsoft.com/office/drawing/2014/main" id="{12AB20C8-E0B1-4C71-86D0-D4103C9823CD}"/>
              </a:ext>
            </a:extLst>
          </p:cNvPr>
          <p:cNvSpPr>
            <a:spLocks xmlns:a="http://schemas.openxmlformats.org/drawingml/2006/main" noGrp="1"/>
          </p:cNvSpPr>
          <p:nvPr/>
        </p:nvSpPr>
        <p:spPr>
          <a:xfrm xmlns:a="http://schemas.openxmlformats.org/drawingml/2006/main">
            <a:off x="704850" y="1571625"/>
            <a:ext cx="1571625" cy="666750"/>
          </a:xfrm>
          <a:prstGeom xmlns:a="http://schemas.openxmlformats.org/drawingml/2006/main" prst="roundRect">
            <a:avLst>
              <a:gd name="adj" fmla="val 11429"/>
            </a:avLst>
          </a:prstGeom>
          <a:solidFill xmlns:a="http://schemas.openxmlformats.org/drawingml/2006/main">
            <a:srgbClr val="2D6CDF"/>
          </a:solidFill>
          <a:ln xmlns:a="http://schemas.openxmlformats.org/drawingml/2006/main" w="9525">
            <a:solidFill>
              <a:srgbClr val="2D6CDF"/>
            </a:solid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lnSpc>
                <a:spcPct val="100000"/>
              </a:lnSpc>
              <a:buNone/>
              <a:defRPr sz="1185" b="1">
                <a:solidFill>
                  <a:srgbClr val="FFFFFF"/>
                </a:solidFill>
                <a:latin typeface="Aptos"/>
                <a:ea typeface="Aptos"/>
                <a:cs typeface="Aptos"/>
              </a:defRPr>
            </a:pPr>
            <a:r>
              <a:rPr sz="1185" b="1">
                <a:solidFill>
                  <a:srgbClr val="FFFFFF"/>
                </a:solidFill>
                <a:latin typeface="Aptos"/>
                <a:ea typeface="Aptos"/>
                <a:cs typeface="Aptos"/>
              </a:rPr>
              <a:t>SYSTEM</a:t>
            </a:r>
          </a:p>
          <a:p xmlns:a="http://schemas.openxmlformats.org/drawingml/2006/main">
            <a:pPr algn="ctr">
              <a:lnSpc>
                <a:spcPct val="100000"/>
              </a:lnSpc>
              <a:buNone/>
              <a:defRPr sz="1185" b="1">
                <a:solidFill>
                  <a:srgbClr val="FFFFFF"/>
                </a:solidFill>
                <a:latin typeface="Aptos"/>
                <a:ea typeface="Aptos"/>
                <a:cs typeface="Aptos"/>
              </a:defRPr>
            </a:pPr>
            <a:r>
              <a:rPr sz="1185" b="1">
                <a:solidFill>
                  <a:srgbClr val="FFFFFF"/>
                </a:solidFill>
                <a:latin typeface="Aptos"/>
                <a:ea typeface="Aptos"/>
                <a:cs typeface="Aptos"/>
              </a:rPr>
              <a:t>PSYS-001</a:t>
            </a:r>
          </a:p>
        </p:txBody>
      </p:sp>
      <p:sp>
        <p:nvSpPr>
          <p:cNvPr id="7" name="text-268">
            <a:extLst xmlns:a="http://schemas.openxmlformats.org/drawingml/2006/main">
              <a:ext uri="{FF2B5EF4-FFF2-40B4-BE49-F238E27FC236}">
                <a16:creationId xmlns:a16="http://schemas.microsoft.com/office/drawing/2014/main" id="{8B313C99-E8FE-4F21-83DE-BC2A94796705}"/>
              </a:ext>
            </a:extLst>
          </p:cNvPr>
          <p:cNvSpPr>
            <a:spLocks xmlns:a="http://schemas.openxmlformats.org/drawingml/2006/main" noGrp="1"/>
          </p:cNvSpPr>
          <p:nvPr/>
        </p:nvSpPr>
        <p:spPr>
          <a:xfrm xmlns:a="http://schemas.openxmlformats.org/drawingml/2006/main">
            <a:off x="2571750" y="1571625"/>
            <a:ext cx="857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47625" rIns="76200" bIns="47625" anchor="ctr">
            <a:noAutofit/>
          </a:bodyPr>
          <a:lstStyle xmlns:a="http://schemas.openxmlformats.org/drawingml/2006/main"/>
          <a:p xmlns:a="http://schemas.openxmlformats.org/drawingml/2006/main">
            <a:pPr algn="l">
              <a:lnSpc>
                <a:spcPct val="105000"/>
              </a:lnSpc>
              <a:buNone/>
              <a:defRPr sz="1350" b="1" i="0">
                <a:solidFill>
                  <a:srgbClr val="17324A"/>
                </a:solidFill>
                <a:latin typeface="Aptos"/>
                <a:ea typeface="Aptos"/>
                <a:cs typeface="Aptos"/>
              </a:defRPr>
            </a:pPr>
            <a:r>
              <a:rPr sz="1350" b="1" i="0">
                <a:solidFill>
                  <a:srgbClr val="17324A"/>
                </a:solidFill>
                <a:latin typeface="Aptos"/>
                <a:ea typeface="Aptos"/>
                <a:cs typeface="Aptos"/>
              </a:rPr>
              <a:t>Before the pitch controller, constrain a valid Normal-mode pitch-rate command to |q_cmd| ≤ 12 deg/s; otherwise substitute 0 deg/s.</a:t>
            </a:r>
          </a:p>
        </p:txBody>
      </p:sp>
      <p:sp>
        <p:nvSpPr>
          <p:cNvPr id="8" name="line-269">
            <a:extLst xmlns:a="http://schemas.openxmlformats.org/drawingml/2006/main">
              <a:ext uri="{FF2B5EF4-FFF2-40B4-BE49-F238E27FC236}">
                <a16:creationId xmlns:a16="http://schemas.microsoft.com/office/drawing/2014/main" id="{94665DA1-0695-4DBA-9F38-AD4529574C5E}"/>
              </a:ext>
            </a:extLst>
          </p:cNvPr>
          <p:cNvSpPr>
            <a:spLocks xmlns:a="http://schemas.openxmlformats.org/drawingml/2006/main" noGrp="1"/>
          </p:cNvSpPr>
          <p:nvPr/>
        </p:nvSpPr>
        <p:spPr>
          <a:xfrm xmlns:a="http://schemas.openxmlformats.org/drawingml/2006/main">
            <a:off x="1428750" y="2295525"/>
            <a:ext cx="0" cy="19050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9" name="box-270">
            <a:extLst xmlns:a="http://schemas.openxmlformats.org/drawingml/2006/main">
              <a:ext uri="{FF2B5EF4-FFF2-40B4-BE49-F238E27FC236}">
                <a16:creationId xmlns:a16="http://schemas.microsoft.com/office/drawing/2014/main" id="{8B8E75B9-CCE8-45FD-8A1D-891D38EDDFDA}"/>
              </a:ext>
            </a:extLst>
          </p:cNvPr>
          <p:cNvSpPr>
            <a:spLocks xmlns:a="http://schemas.openxmlformats.org/drawingml/2006/main" noGrp="1"/>
          </p:cNvSpPr>
          <p:nvPr/>
        </p:nvSpPr>
        <p:spPr>
          <a:xfrm xmlns:a="http://schemas.openxmlformats.org/drawingml/2006/main">
            <a:off x="704850" y="2505075"/>
            <a:ext cx="1571625" cy="666750"/>
          </a:xfrm>
          <a:prstGeom xmlns:a="http://schemas.openxmlformats.org/drawingml/2006/main" prst="roundRect">
            <a:avLst>
              <a:gd name="adj" fmla="val 11429"/>
            </a:avLst>
          </a:prstGeom>
          <a:solidFill xmlns:a="http://schemas.openxmlformats.org/drawingml/2006/main">
            <a:srgbClr val="20B7C5"/>
          </a:solidFill>
          <a:ln xmlns:a="http://schemas.openxmlformats.org/drawingml/2006/main" w="9525">
            <a:solidFill>
              <a:srgbClr val="20B7C5"/>
            </a:solid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SOFTWARE HLR  SWHLR-001 / PRL-001</a:t>
            </a:r>
          </a:p>
        </p:txBody>
      </p:sp>
      <p:sp>
        <p:nvSpPr>
          <p:cNvPr id="10" name="text-271">
            <a:extLst xmlns:a="http://schemas.openxmlformats.org/drawingml/2006/main">
              <a:ext uri="{FF2B5EF4-FFF2-40B4-BE49-F238E27FC236}">
                <a16:creationId xmlns:a16="http://schemas.microsoft.com/office/drawing/2014/main" id="{48599F06-4164-4511-8CAC-3D6720E8D677}"/>
              </a:ext>
            </a:extLst>
          </p:cNvPr>
          <p:cNvSpPr>
            <a:spLocks xmlns:a="http://schemas.openxmlformats.org/drawingml/2006/main" noGrp="1"/>
          </p:cNvSpPr>
          <p:nvPr/>
        </p:nvSpPr>
        <p:spPr>
          <a:xfrm xmlns:a="http://schemas.openxmlformats.org/drawingml/2006/main">
            <a:off x="2571750" y="2505075"/>
            <a:ext cx="857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47625" rIns="76200" bIns="47625" anchor="ctr">
            <a:noAutofit/>
          </a:bodyPr>
          <a:lstStyle xmlns:a="http://schemas.openxmlformats.org/drawingml/2006/main"/>
          <a:p xmlns:a="http://schemas.openxmlformats.org/drawingml/2006/main">
            <a:pPr algn="l">
              <a:lnSpc>
                <a:spcPct val="105000"/>
              </a:lnSpc>
              <a:buNone/>
              <a:defRPr sz="1350" b="1" i="0">
                <a:solidFill>
                  <a:srgbClr val="17324A"/>
                </a:solidFill>
                <a:latin typeface="Aptos"/>
                <a:ea typeface="Aptos"/>
                <a:cs typeface="Aptos"/>
              </a:defRPr>
            </a:pPr>
            <a:r>
              <a:rPr sz="1350" b="1" i="0">
                <a:solidFill>
                  <a:srgbClr val="17324A"/>
                </a:solidFill>
                <a:latin typeface="Aptos"/>
                <a:ea typeface="Aptos"/>
                <a:cs typeface="Aptos"/>
              </a:rPr>
              <a:t>When normal_mode and input_valid are true, q_cmd_out = min(max(q_cmd_in, −12), +12); otherwise q_cmd_out = 0 deg/s.</a:t>
            </a:r>
          </a:p>
        </p:txBody>
      </p:sp>
      <p:sp>
        <p:nvSpPr>
          <p:cNvPr id="11" name="line-272">
            <a:extLst xmlns:a="http://schemas.openxmlformats.org/drawingml/2006/main">
              <a:ext uri="{FF2B5EF4-FFF2-40B4-BE49-F238E27FC236}">
                <a16:creationId xmlns:a16="http://schemas.microsoft.com/office/drawing/2014/main" id="{86C70A5F-4A7B-4613-AAEF-AABE41014A6D}"/>
              </a:ext>
            </a:extLst>
          </p:cNvPr>
          <p:cNvSpPr>
            <a:spLocks xmlns:a="http://schemas.openxmlformats.org/drawingml/2006/main" noGrp="1"/>
          </p:cNvSpPr>
          <p:nvPr/>
        </p:nvSpPr>
        <p:spPr>
          <a:xfrm xmlns:a="http://schemas.openxmlformats.org/drawingml/2006/main">
            <a:off x="1428750" y="3228975"/>
            <a:ext cx="0" cy="19050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12" name="box-273">
            <a:extLst xmlns:a="http://schemas.openxmlformats.org/drawingml/2006/main">
              <a:ext uri="{FF2B5EF4-FFF2-40B4-BE49-F238E27FC236}">
                <a16:creationId xmlns:a16="http://schemas.microsoft.com/office/drawing/2014/main" id="{DF4A5EE0-A47B-4BE1-8152-89394397BC81}"/>
              </a:ext>
            </a:extLst>
          </p:cNvPr>
          <p:cNvSpPr>
            <a:spLocks xmlns:a="http://schemas.openxmlformats.org/drawingml/2006/main" noGrp="1"/>
          </p:cNvSpPr>
          <p:nvPr/>
        </p:nvSpPr>
        <p:spPr>
          <a:xfrm xmlns:a="http://schemas.openxmlformats.org/drawingml/2006/main">
            <a:off x="704850" y="3438525"/>
            <a:ext cx="1571625" cy="666750"/>
          </a:xfrm>
          <a:prstGeom xmlns:a="http://schemas.openxmlformats.org/drawingml/2006/main" prst="roundRect">
            <a:avLst>
              <a:gd name="adj" fmla="val 11429"/>
            </a:avLst>
          </a:prstGeom>
          <a:solidFill xmlns:a="http://schemas.openxmlformats.org/drawingml/2006/main">
            <a:srgbClr val="2CA56F"/>
          </a:solidFill>
          <a:ln xmlns:a="http://schemas.openxmlformats.org/drawingml/2006/main" w="9525">
            <a:solidFill>
              <a:srgbClr val="2CA56F"/>
            </a:solid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SOFTWARE LLR / DESIGN  SWLLR-001</a:t>
            </a:r>
          </a:p>
        </p:txBody>
      </p:sp>
      <p:sp>
        <p:nvSpPr>
          <p:cNvPr id="13" name="text-274">
            <a:extLst xmlns:a="http://schemas.openxmlformats.org/drawingml/2006/main">
              <a:ext uri="{FF2B5EF4-FFF2-40B4-BE49-F238E27FC236}">
                <a16:creationId xmlns:a16="http://schemas.microsoft.com/office/drawing/2014/main" id="{01679015-E5F5-455C-9963-287D41EAFB6E}"/>
              </a:ext>
            </a:extLst>
          </p:cNvPr>
          <p:cNvSpPr>
            <a:spLocks xmlns:a="http://schemas.openxmlformats.org/drawingml/2006/main" noGrp="1"/>
          </p:cNvSpPr>
          <p:nvPr/>
        </p:nvSpPr>
        <p:spPr>
          <a:xfrm xmlns:a="http://schemas.openxmlformats.org/drawingml/2006/main">
            <a:off x="2571750" y="3438525"/>
            <a:ext cx="857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47625" rIns="76200" bIns="47625" anchor="ctr">
            <a:noAutofit/>
          </a:bodyPr>
          <a:lstStyle xmlns:a="http://schemas.openxmlformats.org/drawingml/2006/main"/>
          <a:p xmlns:a="http://schemas.openxmlformats.org/drawingml/2006/main">
            <a:pPr algn="l">
              <a:lnSpc>
                <a:spcPct val="105000"/>
              </a:lnSpc>
              <a:buNone/>
              <a:defRPr sz="1350" b="1" i="0">
                <a:solidFill>
                  <a:srgbClr val="17324A"/>
                </a:solidFill>
                <a:latin typeface="Aptos"/>
                <a:ea typeface="Aptos"/>
                <a:cs typeface="Aptos"/>
              </a:defRPr>
            </a:pPr>
            <a:r>
              <a:rPr sz="1350" b="1" i="0">
                <a:solidFill>
                  <a:srgbClr val="17324A"/>
                </a:solidFill>
                <a:latin typeface="Aptos"/>
                <a:ea typeface="Aptos"/>
                <a:cs typeface="Aptos"/>
              </a:rPr>
              <a:t>Magnitude Clamp applies ±q_limit_normal; Normal AND Valid drives Select Valid Command; Training Fallback Command is 0 deg/s.</a:t>
            </a:r>
          </a:p>
        </p:txBody>
      </p:sp>
      <p:sp>
        <p:nvSpPr>
          <p:cNvPr id="14" name="line-275">
            <a:extLst xmlns:a="http://schemas.openxmlformats.org/drawingml/2006/main">
              <a:ext uri="{FF2B5EF4-FFF2-40B4-BE49-F238E27FC236}">
                <a16:creationId xmlns:a16="http://schemas.microsoft.com/office/drawing/2014/main" id="{3E6AF74C-0A49-49D9-B65F-67A46E6A0009}"/>
              </a:ext>
            </a:extLst>
          </p:cNvPr>
          <p:cNvSpPr>
            <a:spLocks xmlns:a="http://schemas.openxmlformats.org/drawingml/2006/main" noGrp="1"/>
          </p:cNvSpPr>
          <p:nvPr/>
        </p:nvSpPr>
        <p:spPr>
          <a:xfrm xmlns:a="http://schemas.openxmlformats.org/drawingml/2006/main">
            <a:off x="1428750" y="4162425"/>
            <a:ext cx="0" cy="19050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15" name="box-276">
            <a:extLst xmlns:a="http://schemas.openxmlformats.org/drawingml/2006/main">
              <a:ext uri="{FF2B5EF4-FFF2-40B4-BE49-F238E27FC236}">
                <a16:creationId xmlns:a16="http://schemas.microsoft.com/office/drawing/2014/main" id="{F30941C2-BB8C-4BB9-836F-E1AA4DEFA1F4}"/>
              </a:ext>
            </a:extLst>
          </p:cNvPr>
          <p:cNvSpPr>
            <a:spLocks xmlns:a="http://schemas.openxmlformats.org/drawingml/2006/main" noGrp="1"/>
          </p:cNvSpPr>
          <p:nvPr/>
        </p:nvSpPr>
        <p:spPr>
          <a:xfrm xmlns:a="http://schemas.openxmlformats.org/drawingml/2006/main">
            <a:off x="704850" y="4371975"/>
            <a:ext cx="1571625" cy="666750"/>
          </a:xfrm>
          <a:prstGeom xmlns:a="http://schemas.openxmlformats.org/drawingml/2006/main" prst="roundRect">
            <a:avLst>
              <a:gd name="adj" fmla="val 11429"/>
            </a:avLst>
          </a:prstGeom>
          <a:solidFill xmlns:a="http://schemas.openxmlformats.org/drawingml/2006/main">
            <a:srgbClr val="E9A23B"/>
          </a:solidFill>
          <a:ln xmlns:a="http://schemas.openxmlformats.org/drawingml/2006/main" w="9525">
            <a:solidFill>
              <a:srgbClr val="E9A23B"/>
            </a:solid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STATUS + TIMING  PRL-003 / PRL-004</a:t>
            </a:r>
          </a:p>
        </p:txBody>
      </p:sp>
      <p:sp>
        <p:nvSpPr>
          <p:cNvPr id="16" name="text-277">
            <a:extLst xmlns:a="http://schemas.openxmlformats.org/drawingml/2006/main">
              <a:ext uri="{FF2B5EF4-FFF2-40B4-BE49-F238E27FC236}">
                <a16:creationId xmlns:a16="http://schemas.microsoft.com/office/drawing/2014/main" id="{2271B656-C2BA-45CF-B8A9-52ABDE96111A}"/>
              </a:ext>
            </a:extLst>
          </p:cNvPr>
          <p:cNvSpPr>
            <a:spLocks xmlns:a="http://schemas.openxmlformats.org/drawingml/2006/main" noGrp="1"/>
          </p:cNvSpPr>
          <p:nvPr/>
        </p:nvSpPr>
        <p:spPr>
          <a:xfrm xmlns:a="http://schemas.openxmlformats.org/drawingml/2006/main">
            <a:off x="2571750" y="4371975"/>
            <a:ext cx="857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47625" rIns="76200" bIns="47625" anchor="ctr">
            <a:noAutofit/>
          </a:bodyPr>
          <a:lstStyle xmlns:a="http://schemas.openxmlformats.org/drawingml/2006/main"/>
          <a:p xmlns:a="http://schemas.openxmlformats.org/drawingml/2006/main">
            <a:pPr algn="l">
              <a:lnSpc>
                <a:spcPct val="105000"/>
              </a:lnSpc>
              <a:buNone/>
              <a:defRPr sz="1350" b="1" i="0">
                <a:solidFill>
                  <a:srgbClr val="17324A"/>
                </a:solidFill>
                <a:latin typeface="Aptos"/>
                <a:ea typeface="Aptos"/>
                <a:cs typeface="Aptos"/>
              </a:defRPr>
            </a:pPr>
            <a:r>
              <a:rPr sz="1350" b="1" i="0">
                <a:solidFill>
                  <a:srgbClr val="17324A"/>
                </a:solidFill>
                <a:latin typeface="Aptos"/>
                <a:ea typeface="Aptos"/>
                <a:cs typeface="Aptos"/>
              </a:rPr>
              <a:t>limiter_active is true only outside ±12 during valid Normal mode; the component updates at 50 Hz with no added state dynamics.</a:t>
            </a:r>
          </a:p>
        </p:txBody>
      </p:sp>
      <p:sp>
        <p:nvSpPr>
          <p:cNvPr id="17" name="box-278">
            <a:extLst xmlns:a="http://schemas.openxmlformats.org/drawingml/2006/main">
              <a:ext uri="{FF2B5EF4-FFF2-40B4-BE49-F238E27FC236}">
                <a16:creationId xmlns:a16="http://schemas.microsoft.com/office/drawing/2014/main" id="{E076DE64-E0CC-4190-BDC3-CB7108745A35}"/>
              </a:ext>
            </a:extLst>
          </p:cNvPr>
          <p:cNvSpPr>
            <a:spLocks xmlns:a="http://schemas.openxmlformats.org/drawingml/2006/main" noGrp="1"/>
          </p:cNvSpPr>
          <p:nvPr/>
        </p:nvSpPr>
        <p:spPr>
          <a:xfrm xmlns:a="http://schemas.openxmlformats.org/drawingml/2006/main">
            <a:off x="1047750" y="5524500"/>
            <a:ext cx="10096500" cy="552450"/>
          </a:xfrm>
          <a:prstGeom xmlns:a="http://schemas.openxmlformats.org/drawingml/2006/main" prst="roundRect">
            <a:avLst>
              <a:gd name="adj" fmla="val 13793"/>
            </a:avLst>
          </a:prstGeom>
          <a:solidFill xmlns:a="http://schemas.openxmlformats.org/drawingml/2006/main">
            <a:srgbClr val="0B2438"/>
          </a:solidFill>
          <a:ln xmlns:a="http://schemas.openxmlformats.org/drawingml/2006/main" w="9525">
            <a:solidFill>
              <a:srgbClr val="0B2438"/>
            </a:solid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lnSpc>
                <a:spcPct val="100000"/>
              </a:lnSpc>
              <a:buNone/>
              <a:defRPr sz="1215" b="1">
                <a:solidFill>
                  <a:srgbClr val="FFFFFF"/>
                </a:solidFill>
                <a:latin typeface="Aptos"/>
                <a:ea typeface="Aptos"/>
                <a:cs typeface="Aptos"/>
              </a:defRPr>
            </a:pPr>
            <a:r>
              <a:rPr sz="1215" b="1">
                <a:solidFill>
                  <a:srgbClr val="FFFFFF"/>
                </a:solidFill>
                <a:latin typeface="Aptos"/>
                <a:ea typeface="Aptos"/>
                <a:cs typeface="Aptos"/>
              </a:rPr>
              <a:t>Illustrative classroom requirements — not production aircraft data or an approved certification baseline.</a:t>
            </a:r>
          </a:p>
        </p:txBody>
      </p:sp>
      <p:sp>
        <p:nvSpPr>
          <p:cNvPr id="19" name="text-265-v4">
            <a:extLst xmlns:a="http://schemas.openxmlformats.org/drawingml/2006/main">
              <a:ext uri="{FF2B5EF4-FFF2-40B4-BE49-F238E27FC236}">
                <a16:creationId xmlns:a16="http://schemas.microsoft.com/office/drawing/2014/main" id="{28491B56-FEAB-410F-B8E0-19F9FD5C2574}"/>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63" b="1">
                <a:solidFill>
                  <a:srgbClr val="7D91A0"/>
                </a:solidFill>
                <a:latin typeface="Aptos"/>
                <a:ea typeface="Aptos"/>
                <a:cs typeface="Aptos"/>
              </a:defRPr>
            </a:pPr>
            <a:r>
              <a:rPr sz="863" b="1">
                <a:solidFill>
                  <a:srgbClr val="7D91A0"/>
                </a:solidFill>
                <a:latin typeface="Aptos"/>
                <a:ea typeface="Aptos"/>
                <a:cs typeface="Aptos"/>
              </a:rPr>
              <a:t>AVIATION CONTROLS ENGINEERING ONBOARDING</a:t>
            </a:r>
          </a:p>
        </p:txBody>
      </p:sp>
      <p:sp>
        <p:nvSpPr>
          <p:cNvPr id="20" name="page-18-v4">
            <a:extLst xmlns:a="http://schemas.openxmlformats.org/drawingml/2006/main">
              <a:ext uri="{FF2B5EF4-FFF2-40B4-BE49-F238E27FC236}">
                <a16:creationId xmlns:a16="http://schemas.microsoft.com/office/drawing/2014/main" id="{03111C0C-A7EC-430B-B609-2CFE71EE2543}"/>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050" b="1">
                <a:solidFill>
                  <a:srgbClr val="20B7C5"/>
                </a:solidFill>
                <a:latin typeface="Aptos"/>
                <a:ea typeface="Aptos"/>
                <a:cs typeface="Aptos"/>
              </a:defRPr>
            </a:pPr>
            <a:r>
              <a:rPr sz="1050" b="1">
                <a:solidFill>
                  <a:srgbClr val="20B7C5"/>
                </a:solidFill>
                <a:latin typeface="Aptos"/>
                <a:ea typeface="Aptos"/>
                <a:cs typeface="Aptos"/>
              </a:rPr>
              <a:t>29</a:t>
            </a:r>
          </a:p>
        </p:txBody>
      </p:sp>
    </p:spTree>
    <p:extLst>
      <p:ext uri="{BB962C8B-B14F-4D97-AF65-F5344CB8AC3E}">
        <p14:creationId xmlns:p14="http://schemas.microsoft.com/office/powerpoint/2010/main" val="125380021"/>
      </p:ext>
    </p:extLst>
  </p:cSld>
</p:sld>
</file>

<file path=ppt/slides/slide30.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0" name="section-278">
            <a:extLst xmlns:a="http://schemas.openxmlformats.org/drawingml/2006/main">
              <a:ext uri="{FF2B5EF4-FFF2-40B4-BE49-F238E27FC236}">
                <a16:creationId xmlns:a16="http://schemas.microsoft.com/office/drawing/2014/main" id="{43CC3F35-A57C-4C31-9D59-FA0CB038AA2E}"/>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05 • REQUIREMENTS &amp; TRACEABILITY</a:t>
            </a:r>
          </a:p>
        </p:txBody>
      </p:sp>
      <p:sp>
        <p:nvSpPr>
          <p:cNvPr id="2" name="title-278">
            <a:extLst xmlns:a="http://schemas.openxmlformats.org/drawingml/2006/main">
              <a:ext uri="{FF2B5EF4-FFF2-40B4-BE49-F238E27FC236}">
                <a16:creationId xmlns:a16="http://schemas.microsoft.com/office/drawing/2014/main" id="{9DC4587E-8993-46C6-830D-35CEC197335F}"/>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FFFFFF"/>
                </a:solidFill>
                <a:latin typeface="Aptos"/>
                <a:ea typeface="Aptos"/>
                <a:cs typeface="Aptos"/>
              </a:defRPr>
            </a:pPr>
            <a:r>
              <a:rPr sz="3150" b="1" i="0">
                <a:solidFill>
                  <a:srgbClr val="FFFFFF"/>
                </a:solidFill>
                <a:latin typeface="Aptos"/>
                <a:ea typeface="Aptos"/>
                <a:cs typeface="Aptos"/>
              </a:rPr>
              <a:t>One limiter requirement traces to one executed result</a:t>
            </a:r>
          </a:p>
        </p:txBody>
      </p:sp>
      <p:sp>
        <p:nvSpPr>
          <p:cNvPr id="3" name="line-279">
            <a:extLst xmlns:a="http://schemas.openxmlformats.org/drawingml/2006/main">
              <a:ext uri="{FF2B5EF4-FFF2-40B4-BE49-F238E27FC236}">
                <a16:creationId xmlns:a16="http://schemas.microsoft.com/office/drawing/2014/main" id="{4352DE2F-C9C3-46D3-86DA-54267191A174}"/>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280">
            <a:extLst xmlns:a="http://schemas.openxmlformats.org/drawingml/2006/main">
              <a:ext uri="{FF2B5EF4-FFF2-40B4-BE49-F238E27FC236}">
                <a16:creationId xmlns:a16="http://schemas.microsoft.com/office/drawing/2014/main" id="{8F08309F-3BC8-4869-B373-D51F3B3B1589}"/>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281">
            <a:extLst xmlns:a="http://schemas.openxmlformats.org/drawingml/2006/main">
              <a:ext uri="{FF2B5EF4-FFF2-40B4-BE49-F238E27FC236}">
                <a16:creationId xmlns:a16="http://schemas.microsoft.com/office/drawing/2014/main" id="{30F12F5B-DC61-4DA4-9E1D-E85B65E70736}"/>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30</a:t>
            </a:r>
          </a:p>
        </p:txBody>
      </p:sp>
      <p:sp>
        <p:nvSpPr>
          <p:cNvPr id="21" name="s30-top-link-0">
            <a:extLst xmlns:a="http://schemas.openxmlformats.org/drawingml/2006/main">
              <a:ext uri="{FF2B5EF4-FFF2-40B4-BE49-F238E27FC236}">
                <a16:creationId xmlns:a16="http://schemas.microsoft.com/office/drawing/2014/main" id="{E4241066-EF35-4EB9-A5C7-D6E3BF332DCB}"/>
              </a:ext>
            </a:extLst>
          </p:cNvPr>
          <p:cNvSpPr>
            <a:spLocks xmlns:a="http://schemas.openxmlformats.org/drawingml/2006/main" noGrp="1"/>
          </p:cNvSpPr>
          <p:nvPr/>
        </p:nvSpPr>
        <p:spPr>
          <a:xfrm xmlns:a="http://schemas.openxmlformats.org/drawingml/2006/main">
            <a:off x="3009900" y="2000250"/>
            <a:ext cx="381000" cy="0"/>
          </a:xfrm>
          <a:prstGeom xmlns:a="http://schemas.openxmlformats.org/drawingml/2006/main" prst="line">
            <a:avLst/>
          </a:prstGeom>
          <a:noFill xmlns:a="http://schemas.openxmlformats.org/drawingml/2006/main"/>
          <a:ln xmlns:a="http://schemas.openxmlformats.org/drawingml/2006/main" w="22860">
            <a:solidFill>
              <a:srgbClr val="35647A"/>
            </a:solidFill>
            <a:prstDash val="solid"/>
          </a:ln>
        </p:spPr>
      </p:sp>
      <p:sp>
        <p:nvSpPr>
          <p:cNvPr id="22" name="s30-top-link-1">
            <a:extLst xmlns:a="http://schemas.openxmlformats.org/drawingml/2006/main">
              <a:ext uri="{FF2B5EF4-FFF2-40B4-BE49-F238E27FC236}">
                <a16:creationId xmlns:a16="http://schemas.microsoft.com/office/drawing/2014/main" id="{59B85A38-FBB7-4278-82F7-492F4E274457}"/>
              </a:ext>
            </a:extLst>
          </p:cNvPr>
          <p:cNvSpPr>
            <a:spLocks xmlns:a="http://schemas.openxmlformats.org/drawingml/2006/main" noGrp="1"/>
          </p:cNvSpPr>
          <p:nvPr/>
        </p:nvSpPr>
        <p:spPr>
          <a:xfrm xmlns:a="http://schemas.openxmlformats.org/drawingml/2006/main">
            <a:off x="5715000" y="2000250"/>
            <a:ext cx="381000" cy="0"/>
          </a:xfrm>
          <a:prstGeom xmlns:a="http://schemas.openxmlformats.org/drawingml/2006/main" prst="line">
            <a:avLst/>
          </a:prstGeom>
          <a:noFill xmlns:a="http://schemas.openxmlformats.org/drawingml/2006/main"/>
          <a:ln xmlns:a="http://schemas.openxmlformats.org/drawingml/2006/main" w="22860">
            <a:solidFill>
              <a:srgbClr val="35647A"/>
            </a:solidFill>
            <a:prstDash val="solid"/>
          </a:ln>
        </p:spPr>
      </p:sp>
      <p:sp>
        <p:nvSpPr>
          <p:cNvPr id="23" name="s30-top-link-2">
            <a:extLst xmlns:a="http://schemas.openxmlformats.org/drawingml/2006/main">
              <a:ext uri="{FF2B5EF4-FFF2-40B4-BE49-F238E27FC236}">
                <a16:creationId xmlns:a16="http://schemas.microsoft.com/office/drawing/2014/main" id="{3652B6AF-A3D8-4615-A4DB-286A4E43945B}"/>
              </a:ext>
            </a:extLst>
          </p:cNvPr>
          <p:cNvSpPr>
            <a:spLocks xmlns:a="http://schemas.openxmlformats.org/drawingml/2006/main" noGrp="1"/>
          </p:cNvSpPr>
          <p:nvPr/>
        </p:nvSpPr>
        <p:spPr>
          <a:xfrm xmlns:a="http://schemas.openxmlformats.org/drawingml/2006/main">
            <a:off x="8420100" y="2000250"/>
            <a:ext cx="381000" cy="0"/>
          </a:xfrm>
          <a:prstGeom xmlns:a="http://schemas.openxmlformats.org/drawingml/2006/main" prst="line">
            <a:avLst/>
          </a:prstGeom>
          <a:noFill xmlns:a="http://schemas.openxmlformats.org/drawingml/2006/main"/>
          <a:ln xmlns:a="http://schemas.openxmlformats.org/drawingml/2006/main" w="22860">
            <a:solidFill>
              <a:srgbClr val="35647A"/>
            </a:solidFill>
            <a:prstDash val="solid"/>
          </a:ln>
        </p:spPr>
      </p:sp>
      <p:sp>
        <p:nvSpPr>
          <p:cNvPr id="24" name="s30-turn-link">
            <a:extLst xmlns:a="http://schemas.openxmlformats.org/drawingml/2006/main">
              <a:ext uri="{FF2B5EF4-FFF2-40B4-BE49-F238E27FC236}">
                <a16:creationId xmlns:a16="http://schemas.microsoft.com/office/drawing/2014/main" id="{EA297504-FD82-461C-9E34-54D01FE97BF4}"/>
              </a:ext>
            </a:extLst>
          </p:cNvPr>
          <p:cNvSpPr>
            <a:spLocks xmlns:a="http://schemas.openxmlformats.org/drawingml/2006/main" noGrp="1"/>
          </p:cNvSpPr>
          <p:nvPr/>
        </p:nvSpPr>
        <p:spPr>
          <a:xfrm xmlns:a="http://schemas.openxmlformats.org/drawingml/2006/main">
            <a:off x="11125200" y="2000250"/>
            <a:ext cx="0" cy="1352550"/>
          </a:xfrm>
          <a:prstGeom xmlns:a="http://schemas.openxmlformats.org/drawingml/2006/main" prst="line">
            <a:avLst/>
          </a:prstGeom>
          <a:noFill xmlns:a="http://schemas.openxmlformats.org/drawingml/2006/main"/>
          <a:ln xmlns:a="http://schemas.openxmlformats.org/drawingml/2006/main" w="22860">
            <a:solidFill>
              <a:srgbClr val="35647A"/>
            </a:solidFill>
            <a:prstDash val="solid"/>
          </a:ln>
        </p:spPr>
      </p:sp>
      <p:sp>
        <p:nvSpPr>
          <p:cNvPr id="25" name="s30-bottom-link-0">
            <a:extLst xmlns:a="http://schemas.openxmlformats.org/drawingml/2006/main">
              <a:ext uri="{FF2B5EF4-FFF2-40B4-BE49-F238E27FC236}">
                <a16:creationId xmlns:a16="http://schemas.microsoft.com/office/drawing/2014/main" id="{6FC1A7E5-ED6D-46A6-B13B-DCA5947A77E2}"/>
              </a:ext>
            </a:extLst>
          </p:cNvPr>
          <p:cNvSpPr>
            <a:spLocks xmlns:a="http://schemas.openxmlformats.org/drawingml/2006/main" noGrp="1"/>
          </p:cNvSpPr>
          <p:nvPr/>
        </p:nvSpPr>
        <p:spPr>
          <a:xfrm xmlns:a="http://schemas.openxmlformats.org/drawingml/2006/main">
            <a:off x="8420100" y="3352800"/>
            <a:ext cx="381000" cy="0"/>
          </a:xfrm>
          <a:prstGeom xmlns:a="http://schemas.openxmlformats.org/drawingml/2006/main" prst="line">
            <a:avLst/>
          </a:prstGeom>
          <a:noFill xmlns:a="http://schemas.openxmlformats.org/drawingml/2006/main"/>
          <a:ln xmlns:a="http://schemas.openxmlformats.org/drawingml/2006/main" w="22860">
            <a:solidFill>
              <a:srgbClr val="35647A"/>
            </a:solidFill>
            <a:prstDash val="solid"/>
          </a:ln>
        </p:spPr>
      </p:sp>
      <p:sp>
        <p:nvSpPr>
          <p:cNvPr id="26" name="s30-bottom-link-1">
            <a:extLst xmlns:a="http://schemas.openxmlformats.org/drawingml/2006/main">
              <a:ext uri="{FF2B5EF4-FFF2-40B4-BE49-F238E27FC236}">
                <a16:creationId xmlns:a16="http://schemas.microsoft.com/office/drawing/2014/main" id="{9003C0E7-6D5D-4768-9AA9-5DAF10032325}"/>
              </a:ext>
            </a:extLst>
          </p:cNvPr>
          <p:cNvSpPr>
            <a:spLocks xmlns:a="http://schemas.openxmlformats.org/drawingml/2006/main" noGrp="1"/>
          </p:cNvSpPr>
          <p:nvPr/>
        </p:nvSpPr>
        <p:spPr>
          <a:xfrm xmlns:a="http://schemas.openxmlformats.org/drawingml/2006/main">
            <a:off x="5715000" y="3352800"/>
            <a:ext cx="381000" cy="0"/>
          </a:xfrm>
          <a:prstGeom xmlns:a="http://schemas.openxmlformats.org/drawingml/2006/main" prst="line">
            <a:avLst/>
          </a:prstGeom>
          <a:noFill xmlns:a="http://schemas.openxmlformats.org/drawingml/2006/main"/>
          <a:ln xmlns:a="http://schemas.openxmlformats.org/drawingml/2006/main" w="22860">
            <a:solidFill>
              <a:srgbClr val="35647A"/>
            </a:solidFill>
            <a:prstDash val="solid"/>
          </a:ln>
        </p:spPr>
      </p:sp>
      <p:sp>
        <p:nvSpPr>
          <p:cNvPr id="27" name="s30-bottom-link-2">
            <a:extLst xmlns:a="http://schemas.openxmlformats.org/drawingml/2006/main">
              <a:ext uri="{FF2B5EF4-FFF2-40B4-BE49-F238E27FC236}">
                <a16:creationId xmlns:a16="http://schemas.microsoft.com/office/drawing/2014/main" id="{CF4F4F64-1AA1-4E72-947E-DC6C1E258AB4}"/>
              </a:ext>
            </a:extLst>
          </p:cNvPr>
          <p:cNvSpPr>
            <a:spLocks xmlns:a="http://schemas.openxmlformats.org/drawingml/2006/main" noGrp="1"/>
          </p:cNvSpPr>
          <p:nvPr/>
        </p:nvSpPr>
        <p:spPr>
          <a:xfrm xmlns:a="http://schemas.openxmlformats.org/drawingml/2006/main">
            <a:off x="3009900" y="3352800"/>
            <a:ext cx="381000" cy="0"/>
          </a:xfrm>
          <a:prstGeom xmlns:a="http://schemas.openxmlformats.org/drawingml/2006/main" prst="line">
            <a:avLst/>
          </a:prstGeom>
          <a:noFill xmlns:a="http://schemas.openxmlformats.org/drawingml/2006/main"/>
          <a:ln xmlns:a="http://schemas.openxmlformats.org/drawingml/2006/main" w="22860">
            <a:solidFill>
              <a:srgbClr val="35647A"/>
            </a:solidFill>
            <a:prstDash val="solid"/>
          </a:ln>
        </p:spPr>
      </p:sp>
      <p:sp>
        <p:nvSpPr>
          <p:cNvPr id="28" name="s30-node-0">
            <a:extLst xmlns:a="http://schemas.openxmlformats.org/drawingml/2006/main">
              <a:ext uri="{FF2B5EF4-FFF2-40B4-BE49-F238E27FC236}">
                <a16:creationId xmlns:a16="http://schemas.microsoft.com/office/drawing/2014/main" id="{436EF7E7-5C1F-4E28-92F9-DF5286541D9F}"/>
              </a:ext>
            </a:extLst>
          </p:cNvPr>
          <p:cNvSpPr>
            <a:spLocks xmlns:a="http://schemas.openxmlformats.org/drawingml/2006/main" noGrp="1"/>
          </p:cNvSpPr>
          <p:nvPr/>
        </p:nvSpPr>
        <p:spPr>
          <a:xfrm xmlns:a="http://schemas.openxmlformats.org/drawingml/2006/main">
            <a:off x="685800" y="1504950"/>
            <a:ext cx="2324100" cy="1000125"/>
          </a:xfrm>
          <a:prstGeom xmlns:a="http://schemas.openxmlformats.org/drawingml/2006/main" prst="roundRect">
            <a:avLst>
              <a:gd name="adj" fmla="val 11429"/>
            </a:avLst>
          </a:prstGeom>
          <a:solidFill xmlns:a="http://schemas.openxmlformats.org/drawingml/2006/main">
            <a:srgbClr val="0C2133"/>
          </a:solidFill>
          <a:ln xmlns:a="http://schemas.openxmlformats.org/drawingml/2006/main" w="17145">
            <a:solidFill>
              <a:srgbClr val="2D6CDF"/>
            </a:solidFill>
            <a:prstDash val="solid"/>
          </a:ln>
        </p:spPr>
      </p:sp>
      <p:sp>
        <p:nvSpPr>
          <p:cNvPr id="29" name="s30-node-title-0">
            <a:extLst xmlns:a="http://schemas.openxmlformats.org/drawingml/2006/main">
              <a:ext uri="{FF2B5EF4-FFF2-40B4-BE49-F238E27FC236}">
                <a16:creationId xmlns:a16="http://schemas.microsoft.com/office/drawing/2014/main" id="{D91684E7-BE10-4827-B6F5-D8252852D7B7}"/>
              </a:ext>
            </a:extLst>
          </p:cNvPr>
          <p:cNvSpPr>
            <a:spLocks xmlns:a="http://schemas.openxmlformats.org/drawingml/2006/main" noGrp="1"/>
          </p:cNvSpPr>
          <p:nvPr/>
        </p:nvSpPr>
        <p:spPr>
          <a:xfrm xmlns:a="http://schemas.openxmlformats.org/drawingml/2006/main">
            <a:off x="800100" y="1581150"/>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005" b="1">
                <a:solidFill>
                  <a:srgbClr val="2D6CDF"/>
                </a:solidFill>
                <a:latin typeface="Aptos"/>
                <a:ea typeface="Aptos"/>
                <a:cs typeface="Aptos"/>
              </a:defRPr>
            </a:pPr>
            <a:r>
              <a:rPr sz="1005" b="1">
                <a:solidFill>
                  <a:srgbClr val="2D6CDF"/>
                </a:solidFill>
                <a:latin typeface="Aptos"/>
                <a:ea typeface="Aptos"/>
                <a:cs typeface="Aptos"/>
              </a:rPr>
              <a:t>1 • SYSTEM</a:t>
            </a:r>
          </a:p>
        </p:txBody>
      </p:sp>
      <p:sp>
        <p:nvSpPr>
          <p:cNvPr id="30" name="s30-node-body-0">
            <a:extLst xmlns:a="http://schemas.openxmlformats.org/drawingml/2006/main">
              <a:ext uri="{FF2B5EF4-FFF2-40B4-BE49-F238E27FC236}">
                <a16:creationId xmlns:a16="http://schemas.microsoft.com/office/drawing/2014/main" id="{5588796A-854A-4D15-BC29-9AFC91480C75}"/>
              </a:ext>
            </a:extLst>
          </p:cNvPr>
          <p:cNvSpPr>
            <a:spLocks xmlns:a="http://schemas.openxmlformats.org/drawingml/2006/main" noGrp="1"/>
          </p:cNvSpPr>
          <p:nvPr/>
        </p:nvSpPr>
        <p:spPr>
          <a:xfrm xmlns:a="http://schemas.openxmlformats.org/drawingml/2006/main">
            <a:off x="800100" y="182880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058" b="1">
                <a:solidFill>
                  <a:srgbClr val="E7F2F7"/>
                </a:solidFill>
                <a:latin typeface="Aptos"/>
                <a:ea typeface="Aptos"/>
                <a:cs typeface="Aptos"/>
              </a:defRPr>
            </a:pPr>
            <a:r>
              <a:rPr sz="1058" b="1">
                <a:solidFill>
                  <a:srgbClr val="E7F2F7"/>
                </a:solidFill>
                <a:latin typeface="Aptos"/>
                <a:ea typeface="Aptos"/>
                <a:cs typeface="Aptos"/>
              </a:rPr>
              <a:t>PSYS-001</a:t>
            </a:r>
          </a:p>
          <a:p xmlns:a="http://schemas.openxmlformats.org/drawingml/2006/main">
            <a:pPr algn="ctr">
              <a:defRPr sz="1058" b="1">
                <a:solidFill>
                  <a:srgbClr val="E7F2F7"/>
                </a:solidFill>
                <a:latin typeface="Aptos"/>
                <a:ea typeface="Aptos"/>
                <a:cs typeface="Aptos"/>
              </a:defRPr>
            </a:pPr>
            <a:r>
              <a:rPr sz="1058" b="1">
                <a:solidFill>
                  <a:srgbClr val="E7F2F7"/>
                </a:solidFill>
                <a:latin typeface="Aptos"/>
                <a:ea typeface="Aptos"/>
                <a:cs typeface="Aptos"/>
              </a:rPr>
              <a:t>command-path protection</a:t>
            </a:r>
          </a:p>
        </p:txBody>
      </p:sp>
      <p:sp>
        <p:nvSpPr>
          <p:cNvPr id="31" name="s30-node-1">
            <a:extLst xmlns:a="http://schemas.openxmlformats.org/drawingml/2006/main">
              <a:ext uri="{FF2B5EF4-FFF2-40B4-BE49-F238E27FC236}">
                <a16:creationId xmlns:a16="http://schemas.microsoft.com/office/drawing/2014/main" id="{A120D565-5A14-4BFD-AADB-61ABA9446959}"/>
              </a:ext>
            </a:extLst>
          </p:cNvPr>
          <p:cNvSpPr>
            <a:spLocks xmlns:a="http://schemas.openxmlformats.org/drawingml/2006/main" noGrp="1"/>
          </p:cNvSpPr>
          <p:nvPr/>
        </p:nvSpPr>
        <p:spPr>
          <a:xfrm xmlns:a="http://schemas.openxmlformats.org/drawingml/2006/main">
            <a:off x="3390900" y="1504950"/>
            <a:ext cx="2324100" cy="1000125"/>
          </a:xfrm>
          <a:prstGeom xmlns:a="http://schemas.openxmlformats.org/drawingml/2006/main" prst="roundRect">
            <a:avLst>
              <a:gd name="adj" fmla="val 11429"/>
            </a:avLst>
          </a:prstGeom>
          <a:solidFill xmlns:a="http://schemas.openxmlformats.org/drawingml/2006/main">
            <a:srgbClr val="0C2133"/>
          </a:solidFill>
          <a:ln xmlns:a="http://schemas.openxmlformats.org/drawingml/2006/main" w="17145">
            <a:solidFill>
              <a:srgbClr val="2D6CDF"/>
            </a:solidFill>
            <a:prstDash val="solid"/>
          </a:ln>
        </p:spPr>
      </p:sp>
      <p:sp>
        <p:nvSpPr>
          <p:cNvPr id="32" name="s30-node-title-1">
            <a:extLst xmlns:a="http://schemas.openxmlformats.org/drawingml/2006/main">
              <a:ext uri="{FF2B5EF4-FFF2-40B4-BE49-F238E27FC236}">
                <a16:creationId xmlns:a16="http://schemas.microsoft.com/office/drawing/2014/main" id="{4F2F9F21-0C5E-4E12-B91C-14E5E1EEF5FA}"/>
              </a:ext>
            </a:extLst>
          </p:cNvPr>
          <p:cNvSpPr>
            <a:spLocks xmlns:a="http://schemas.openxmlformats.org/drawingml/2006/main" noGrp="1"/>
          </p:cNvSpPr>
          <p:nvPr/>
        </p:nvSpPr>
        <p:spPr>
          <a:xfrm xmlns:a="http://schemas.openxmlformats.org/drawingml/2006/main">
            <a:off x="3505200" y="1581150"/>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005" b="1">
                <a:solidFill>
                  <a:srgbClr val="2D6CDF"/>
                </a:solidFill>
                <a:latin typeface="Aptos"/>
                <a:ea typeface="Aptos"/>
                <a:cs typeface="Aptos"/>
              </a:defRPr>
            </a:pPr>
            <a:r>
              <a:rPr sz="1005" b="1">
                <a:solidFill>
                  <a:srgbClr val="2D6CDF"/>
                </a:solidFill>
                <a:latin typeface="Aptos"/>
                <a:ea typeface="Aptos"/>
                <a:cs typeface="Aptos"/>
              </a:rPr>
              <a:t>2 • SOFTWARE HLR</a:t>
            </a:r>
          </a:p>
        </p:txBody>
      </p:sp>
      <p:sp>
        <p:nvSpPr>
          <p:cNvPr id="33" name="s30-node-body-1">
            <a:extLst xmlns:a="http://schemas.openxmlformats.org/drawingml/2006/main">
              <a:ext uri="{FF2B5EF4-FFF2-40B4-BE49-F238E27FC236}">
                <a16:creationId xmlns:a16="http://schemas.microsoft.com/office/drawing/2014/main" id="{94421765-FA94-42D4-A7EF-74B87B1E680D}"/>
              </a:ext>
            </a:extLst>
          </p:cNvPr>
          <p:cNvSpPr>
            <a:spLocks xmlns:a="http://schemas.openxmlformats.org/drawingml/2006/main" noGrp="1"/>
          </p:cNvSpPr>
          <p:nvPr/>
        </p:nvSpPr>
        <p:spPr>
          <a:xfrm xmlns:a="http://schemas.openxmlformats.org/drawingml/2006/main">
            <a:off x="3505200" y="182880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058" b="1">
                <a:solidFill>
                  <a:srgbClr val="E7F2F7"/>
                </a:solidFill>
                <a:latin typeface="Aptos"/>
                <a:ea typeface="Aptos"/>
                <a:cs typeface="Aptos"/>
              </a:defRPr>
            </a:pPr>
            <a:r>
              <a:rPr sz="1058" b="1">
                <a:solidFill>
                  <a:srgbClr val="E7F2F7"/>
                </a:solidFill>
                <a:latin typeface="Aptos"/>
                <a:ea typeface="Aptos"/>
                <a:cs typeface="Aptos"/>
              </a:rPr>
              <a:t>SWHLR-001 / PRL-001</a:t>
            </a:r>
          </a:p>
          <a:p xmlns:a="http://schemas.openxmlformats.org/drawingml/2006/main">
            <a:pPr algn="ctr">
              <a:defRPr sz="1058" b="1">
                <a:solidFill>
                  <a:srgbClr val="E7F2F7"/>
                </a:solidFill>
                <a:latin typeface="Aptos"/>
                <a:ea typeface="Aptos"/>
                <a:cs typeface="Aptos"/>
              </a:defRPr>
            </a:pPr>
            <a:r>
              <a:rPr sz="1058" b="1">
                <a:solidFill>
                  <a:srgbClr val="E7F2F7"/>
                </a:solidFill>
                <a:latin typeface="Aptos"/>
                <a:ea typeface="Aptos"/>
                <a:cs typeface="Aptos"/>
              </a:rPr>
              <a:t>inclusive ±12 deg/s allocation</a:t>
            </a:r>
          </a:p>
        </p:txBody>
      </p:sp>
      <p:sp>
        <p:nvSpPr>
          <p:cNvPr id="34" name="s30-node-2">
            <a:extLst xmlns:a="http://schemas.openxmlformats.org/drawingml/2006/main">
              <a:ext uri="{FF2B5EF4-FFF2-40B4-BE49-F238E27FC236}">
                <a16:creationId xmlns:a16="http://schemas.microsoft.com/office/drawing/2014/main" id="{6F5BA54D-39D9-42D9-A57C-5E398431D0AF}"/>
              </a:ext>
            </a:extLst>
          </p:cNvPr>
          <p:cNvSpPr>
            <a:spLocks xmlns:a="http://schemas.openxmlformats.org/drawingml/2006/main" noGrp="1"/>
          </p:cNvSpPr>
          <p:nvPr/>
        </p:nvSpPr>
        <p:spPr>
          <a:xfrm xmlns:a="http://schemas.openxmlformats.org/drawingml/2006/main">
            <a:off x="6096000" y="1504950"/>
            <a:ext cx="2324100" cy="1000125"/>
          </a:xfrm>
          <a:prstGeom xmlns:a="http://schemas.openxmlformats.org/drawingml/2006/main" prst="roundRect">
            <a:avLst>
              <a:gd name="adj" fmla="val 11429"/>
            </a:avLst>
          </a:prstGeom>
          <a:solidFill xmlns:a="http://schemas.openxmlformats.org/drawingml/2006/main">
            <a:srgbClr val="0C2133"/>
          </a:solidFill>
          <a:ln xmlns:a="http://schemas.openxmlformats.org/drawingml/2006/main" w="17145">
            <a:solidFill>
              <a:srgbClr val="2D6CDF"/>
            </a:solidFill>
            <a:prstDash val="solid"/>
          </a:ln>
        </p:spPr>
      </p:sp>
      <p:sp>
        <p:nvSpPr>
          <p:cNvPr id="35" name="s30-node-title-2">
            <a:extLst xmlns:a="http://schemas.openxmlformats.org/drawingml/2006/main">
              <a:ext uri="{FF2B5EF4-FFF2-40B4-BE49-F238E27FC236}">
                <a16:creationId xmlns:a16="http://schemas.microsoft.com/office/drawing/2014/main" id="{52077638-A8A2-479E-848C-A39EF2EDB9FF}"/>
              </a:ext>
            </a:extLst>
          </p:cNvPr>
          <p:cNvSpPr>
            <a:spLocks xmlns:a="http://schemas.openxmlformats.org/drawingml/2006/main" noGrp="1"/>
          </p:cNvSpPr>
          <p:nvPr/>
        </p:nvSpPr>
        <p:spPr>
          <a:xfrm xmlns:a="http://schemas.openxmlformats.org/drawingml/2006/main">
            <a:off x="6210300" y="1581150"/>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005" b="1">
                <a:solidFill>
                  <a:srgbClr val="2D6CDF"/>
                </a:solidFill>
                <a:latin typeface="Aptos"/>
                <a:ea typeface="Aptos"/>
                <a:cs typeface="Aptos"/>
              </a:defRPr>
            </a:pPr>
            <a:r>
              <a:rPr sz="1005" b="1">
                <a:solidFill>
                  <a:srgbClr val="2D6CDF"/>
                </a:solidFill>
                <a:latin typeface="Aptos"/>
                <a:ea typeface="Aptos"/>
                <a:cs typeface="Aptos"/>
              </a:rPr>
              <a:t>3 • SOFTWARE LLR</a:t>
            </a:r>
          </a:p>
        </p:txBody>
      </p:sp>
      <p:sp>
        <p:nvSpPr>
          <p:cNvPr id="36" name="s30-node-body-2">
            <a:extLst xmlns:a="http://schemas.openxmlformats.org/drawingml/2006/main">
              <a:ext uri="{FF2B5EF4-FFF2-40B4-BE49-F238E27FC236}">
                <a16:creationId xmlns:a16="http://schemas.microsoft.com/office/drawing/2014/main" id="{E67F19CD-9347-4F4F-B5FA-0D7E8B906B52}"/>
              </a:ext>
            </a:extLst>
          </p:cNvPr>
          <p:cNvSpPr>
            <a:spLocks xmlns:a="http://schemas.openxmlformats.org/drawingml/2006/main" noGrp="1"/>
          </p:cNvSpPr>
          <p:nvPr/>
        </p:nvSpPr>
        <p:spPr>
          <a:xfrm xmlns:a="http://schemas.openxmlformats.org/drawingml/2006/main">
            <a:off x="6210300" y="182880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058" b="1">
                <a:solidFill>
                  <a:srgbClr val="E7F2F7"/>
                </a:solidFill>
                <a:latin typeface="Aptos"/>
                <a:ea typeface="Aptos"/>
                <a:cs typeface="Aptos"/>
              </a:defRPr>
            </a:pPr>
            <a:r>
              <a:rPr sz="1058" b="1">
                <a:solidFill>
                  <a:srgbClr val="E7F2F7"/>
                </a:solidFill>
                <a:latin typeface="Aptos"/>
                <a:ea typeface="Aptos"/>
                <a:cs typeface="Aptos"/>
              </a:rPr>
              <a:t>SWLLR-001</a:t>
            </a:r>
          </a:p>
          <a:p xmlns:a="http://schemas.openxmlformats.org/drawingml/2006/main">
            <a:pPr algn="ctr">
              <a:defRPr sz="1058" b="1">
                <a:solidFill>
                  <a:srgbClr val="E7F2F7"/>
                </a:solidFill>
                <a:latin typeface="Aptos"/>
                <a:ea typeface="Aptos"/>
                <a:cs typeface="Aptos"/>
              </a:defRPr>
            </a:pPr>
            <a:r>
              <a:rPr sz="1058" b="1">
                <a:solidFill>
                  <a:srgbClr val="E7F2F7"/>
                </a:solidFill>
                <a:latin typeface="Aptos"/>
                <a:ea typeface="Aptos"/>
                <a:cs typeface="Aptos"/>
              </a:rPr>
              <a:t>apply the magnitude clamp</a:t>
            </a:r>
          </a:p>
        </p:txBody>
      </p:sp>
      <p:sp>
        <p:nvSpPr>
          <p:cNvPr id="37" name="s30-node-3">
            <a:extLst xmlns:a="http://schemas.openxmlformats.org/drawingml/2006/main">
              <a:ext uri="{FF2B5EF4-FFF2-40B4-BE49-F238E27FC236}">
                <a16:creationId xmlns:a16="http://schemas.microsoft.com/office/drawing/2014/main" id="{812C41D1-A8A7-465F-A8D1-504C0C0E85B5}"/>
              </a:ext>
            </a:extLst>
          </p:cNvPr>
          <p:cNvSpPr>
            <a:spLocks xmlns:a="http://schemas.openxmlformats.org/drawingml/2006/main" noGrp="1"/>
          </p:cNvSpPr>
          <p:nvPr/>
        </p:nvSpPr>
        <p:spPr>
          <a:xfrm xmlns:a="http://schemas.openxmlformats.org/drawingml/2006/main">
            <a:off x="8801100" y="1504950"/>
            <a:ext cx="2324100" cy="1000125"/>
          </a:xfrm>
          <a:prstGeom xmlns:a="http://schemas.openxmlformats.org/drawingml/2006/main" prst="roundRect">
            <a:avLst>
              <a:gd name="adj" fmla="val 11429"/>
            </a:avLst>
          </a:prstGeom>
          <a:solidFill xmlns:a="http://schemas.openxmlformats.org/drawingml/2006/main">
            <a:srgbClr val="0C2133"/>
          </a:solidFill>
          <a:ln xmlns:a="http://schemas.openxmlformats.org/drawingml/2006/main" w="17145">
            <a:solidFill>
              <a:srgbClr val="20B7C5"/>
            </a:solidFill>
            <a:prstDash val="solid"/>
          </a:ln>
        </p:spPr>
      </p:sp>
      <p:sp>
        <p:nvSpPr>
          <p:cNvPr id="38" name="s30-node-title-3">
            <a:extLst xmlns:a="http://schemas.openxmlformats.org/drawingml/2006/main">
              <a:ext uri="{FF2B5EF4-FFF2-40B4-BE49-F238E27FC236}">
                <a16:creationId xmlns:a16="http://schemas.microsoft.com/office/drawing/2014/main" id="{413FC223-4573-453B-AE3C-0AA019709314}"/>
              </a:ext>
            </a:extLst>
          </p:cNvPr>
          <p:cNvSpPr>
            <a:spLocks xmlns:a="http://schemas.openxmlformats.org/drawingml/2006/main" noGrp="1"/>
          </p:cNvSpPr>
          <p:nvPr/>
        </p:nvSpPr>
        <p:spPr>
          <a:xfrm xmlns:a="http://schemas.openxmlformats.org/drawingml/2006/main">
            <a:off x="8915400" y="1581150"/>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005" b="1">
                <a:solidFill>
                  <a:srgbClr val="20B7C5"/>
                </a:solidFill>
                <a:latin typeface="Aptos"/>
                <a:ea typeface="Aptos"/>
                <a:cs typeface="Aptos"/>
              </a:defRPr>
            </a:pPr>
            <a:r>
              <a:rPr sz="1005" b="1">
                <a:solidFill>
                  <a:srgbClr val="20B7C5"/>
                </a:solidFill>
                <a:latin typeface="Aptos"/>
                <a:ea typeface="Aptos"/>
                <a:cs typeface="Aptos"/>
              </a:rPr>
              <a:t>4 • MODEL ELEMENT</a:t>
            </a:r>
          </a:p>
        </p:txBody>
      </p:sp>
      <p:sp>
        <p:nvSpPr>
          <p:cNvPr id="39" name="s30-node-body-3">
            <a:extLst xmlns:a="http://schemas.openxmlformats.org/drawingml/2006/main">
              <a:ext uri="{FF2B5EF4-FFF2-40B4-BE49-F238E27FC236}">
                <a16:creationId xmlns:a16="http://schemas.microsoft.com/office/drawing/2014/main" id="{660C097A-22E7-4EA0-B5E8-F8837DFCFB79}"/>
              </a:ext>
            </a:extLst>
          </p:cNvPr>
          <p:cNvSpPr>
            <a:spLocks xmlns:a="http://schemas.openxmlformats.org/drawingml/2006/main" noGrp="1"/>
          </p:cNvSpPr>
          <p:nvPr/>
        </p:nvSpPr>
        <p:spPr>
          <a:xfrm xmlns:a="http://schemas.openxmlformats.org/drawingml/2006/main">
            <a:off x="8915400" y="182880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968" b="1">
                <a:solidFill>
                  <a:srgbClr val="E7F2F7"/>
                </a:solidFill>
                <a:latin typeface="Aptos"/>
                <a:ea typeface="Aptos"/>
                <a:cs typeface="Aptos"/>
              </a:defRPr>
            </a:pPr>
            <a:r>
              <a:rPr sz="968" b="1">
                <a:solidFill>
                  <a:srgbClr val="E7F2F7"/>
                </a:solidFill>
                <a:latin typeface="Aptos"/>
                <a:ea typeface="Aptos"/>
                <a:cs typeface="Aptos"/>
              </a:rPr>
              <a:t>PitchRateLimiter/Pitch Rate Limiter Logic/Magnitude Clamp</a:t>
            </a:r>
          </a:p>
        </p:txBody>
      </p:sp>
      <p:sp>
        <p:nvSpPr>
          <p:cNvPr id="40" name="s30-node-4">
            <a:extLst xmlns:a="http://schemas.openxmlformats.org/drawingml/2006/main">
              <a:ext uri="{FF2B5EF4-FFF2-40B4-BE49-F238E27FC236}">
                <a16:creationId xmlns:a16="http://schemas.microsoft.com/office/drawing/2014/main" id="{EACB2528-F5F3-4BFB-8155-4320A02FA488}"/>
              </a:ext>
            </a:extLst>
          </p:cNvPr>
          <p:cNvSpPr>
            <a:spLocks xmlns:a="http://schemas.openxmlformats.org/drawingml/2006/main" noGrp="1"/>
          </p:cNvSpPr>
          <p:nvPr/>
        </p:nvSpPr>
        <p:spPr>
          <a:xfrm xmlns:a="http://schemas.openxmlformats.org/drawingml/2006/main">
            <a:off x="8801100" y="2857500"/>
            <a:ext cx="2324100" cy="1000125"/>
          </a:xfrm>
          <a:prstGeom xmlns:a="http://schemas.openxmlformats.org/drawingml/2006/main" prst="roundRect">
            <a:avLst>
              <a:gd name="adj" fmla="val 11429"/>
            </a:avLst>
          </a:prstGeom>
          <a:solidFill xmlns:a="http://schemas.openxmlformats.org/drawingml/2006/main">
            <a:srgbClr val="0C2133"/>
          </a:solidFill>
          <a:ln xmlns:a="http://schemas.openxmlformats.org/drawingml/2006/main" w="17145">
            <a:solidFill>
              <a:srgbClr val="20B7C5"/>
            </a:solidFill>
            <a:prstDash val="solid"/>
          </a:ln>
        </p:spPr>
      </p:sp>
      <p:sp>
        <p:nvSpPr>
          <p:cNvPr id="41" name="s30-node-title-4">
            <a:extLst xmlns:a="http://schemas.openxmlformats.org/drawingml/2006/main">
              <a:ext uri="{FF2B5EF4-FFF2-40B4-BE49-F238E27FC236}">
                <a16:creationId xmlns:a16="http://schemas.microsoft.com/office/drawing/2014/main" id="{F74AF5FE-51D0-4E0A-A79B-33AE35456E9C}"/>
              </a:ext>
            </a:extLst>
          </p:cNvPr>
          <p:cNvSpPr>
            <a:spLocks xmlns:a="http://schemas.openxmlformats.org/drawingml/2006/main" noGrp="1"/>
          </p:cNvSpPr>
          <p:nvPr/>
        </p:nvSpPr>
        <p:spPr>
          <a:xfrm xmlns:a="http://schemas.openxmlformats.org/drawingml/2006/main">
            <a:off x="8915400" y="2933700"/>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005" b="1">
                <a:solidFill>
                  <a:srgbClr val="20B7C5"/>
                </a:solidFill>
                <a:latin typeface="Aptos"/>
                <a:ea typeface="Aptos"/>
                <a:cs typeface="Aptos"/>
              </a:defRPr>
            </a:pPr>
            <a:r>
              <a:rPr sz="1005" b="1">
                <a:solidFill>
                  <a:srgbClr val="20B7C5"/>
                </a:solidFill>
                <a:latin typeface="Aptos"/>
                <a:ea typeface="Aptos"/>
                <a:cs typeface="Aptos"/>
              </a:rPr>
              <a:t>5 • HARNESS</a:t>
            </a:r>
          </a:p>
        </p:txBody>
      </p:sp>
      <p:sp>
        <p:nvSpPr>
          <p:cNvPr id="42" name="s30-node-body-4">
            <a:extLst xmlns:a="http://schemas.openxmlformats.org/drawingml/2006/main">
              <a:ext uri="{FF2B5EF4-FFF2-40B4-BE49-F238E27FC236}">
                <a16:creationId xmlns:a16="http://schemas.microsoft.com/office/drawing/2014/main" id="{9E2FC49A-F61A-4147-B2F6-0F0349F7E88B}"/>
              </a:ext>
            </a:extLst>
          </p:cNvPr>
          <p:cNvSpPr>
            <a:spLocks xmlns:a="http://schemas.openxmlformats.org/drawingml/2006/main" noGrp="1"/>
          </p:cNvSpPr>
          <p:nvPr/>
        </p:nvSpPr>
        <p:spPr>
          <a:xfrm xmlns:a="http://schemas.openxmlformats.org/drawingml/2006/main">
            <a:off x="8915400" y="31813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968" b="1">
                <a:solidFill>
                  <a:srgbClr val="E7F2F7"/>
                </a:solidFill>
                <a:latin typeface="Aptos"/>
                <a:ea typeface="Aptos"/>
                <a:cs typeface="Aptos"/>
              </a:defRPr>
            </a:pPr>
            <a:r>
              <a:rPr sz="968" b="1">
                <a:solidFill>
                  <a:srgbClr val="E7F2F7"/>
                </a:solidFill>
                <a:latin typeface="Aptos"/>
                <a:ea typeface="Aptos"/>
                <a:cs typeface="Aptos"/>
              </a:rPr>
              <a:t>PitchRateLimiter_Harness/Unit Under Test - PitchRateLimiter</a:t>
            </a:r>
          </a:p>
        </p:txBody>
      </p:sp>
      <p:sp>
        <p:nvSpPr>
          <p:cNvPr id="43" name="s30-node-5">
            <a:extLst xmlns:a="http://schemas.openxmlformats.org/drawingml/2006/main">
              <a:ext uri="{FF2B5EF4-FFF2-40B4-BE49-F238E27FC236}">
                <a16:creationId xmlns:a16="http://schemas.microsoft.com/office/drawing/2014/main" id="{460129E9-16B3-4CA0-A8E7-6C6E840C5110}"/>
              </a:ext>
            </a:extLst>
          </p:cNvPr>
          <p:cNvSpPr>
            <a:spLocks xmlns:a="http://schemas.openxmlformats.org/drawingml/2006/main" noGrp="1"/>
          </p:cNvSpPr>
          <p:nvPr/>
        </p:nvSpPr>
        <p:spPr>
          <a:xfrm xmlns:a="http://schemas.openxmlformats.org/drawingml/2006/main">
            <a:off x="6096000" y="2857500"/>
            <a:ext cx="2324100" cy="1000125"/>
          </a:xfrm>
          <a:prstGeom xmlns:a="http://schemas.openxmlformats.org/drawingml/2006/main" prst="roundRect">
            <a:avLst>
              <a:gd name="adj" fmla="val 11429"/>
            </a:avLst>
          </a:prstGeom>
          <a:solidFill xmlns:a="http://schemas.openxmlformats.org/drawingml/2006/main">
            <a:srgbClr val="0C2133"/>
          </a:solidFill>
          <a:ln xmlns:a="http://schemas.openxmlformats.org/drawingml/2006/main" w="17145">
            <a:solidFill>
              <a:srgbClr val="20B7C5"/>
            </a:solidFill>
            <a:prstDash val="solid"/>
          </a:ln>
        </p:spPr>
      </p:sp>
      <p:sp>
        <p:nvSpPr>
          <p:cNvPr id="44" name="s30-node-title-5">
            <a:extLst xmlns:a="http://schemas.openxmlformats.org/drawingml/2006/main">
              <a:ext uri="{FF2B5EF4-FFF2-40B4-BE49-F238E27FC236}">
                <a16:creationId xmlns:a16="http://schemas.microsoft.com/office/drawing/2014/main" id="{AE07A6DC-2E05-415E-A0F0-E18E653B3CDA}"/>
              </a:ext>
            </a:extLst>
          </p:cNvPr>
          <p:cNvSpPr>
            <a:spLocks xmlns:a="http://schemas.openxmlformats.org/drawingml/2006/main" noGrp="1"/>
          </p:cNvSpPr>
          <p:nvPr/>
        </p:nvSpPr>
        <p:spPr>
          <a:xfrm xmlns:a="http://schemas.openxmlformats.org/drawingml/2006/main">
            <a:off x="6210300" y="2933700"/>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005" b="1">
                <a:solidFill>
                  <a:srgbClr val="20B7C5"/>
                </a:solidFill>
                <a:latin typeface="Aptos"/>
                <a:ea typeface="Aptos"/>
                <a:cs typeface="Aptos"/>
              </a:defRPr>
            </a:pPr>
            <a:r>
              <a:rPr sz="1005" b="1">
                <a:solidFill>
                  <a:srgbClr val="20B7C5"/>
                </a:solidFill>
                <a:latin typeface="Aptos"/>
                <a:ea typeface="Aptos"/>
                <a:cs typeface="Aptos"/>
              </a:rPr>
              <a:t>6 • EXECUTED CASE</a:t>
            </a:r>
          </a:p>
        </p:txBody>
      </p:sp>
      <p:sp>
        <p:nvSpPr>
          <p:cNvPr id="45" name="s30-node-body-5">
            <a:extLst xmlns:a="http://schemas.openxmlformats.org/drawingml/2006/main">
              <a:ext uri="{FF2B5EF4-FFF2-40B4-BE49-F238E27FC236}">
                <a16:creationId xmlns:a16="http://schemas.microsoft.com/office/drawing/2014/main" id="{1BA9950D-368F-4951-8A99-6D47034DA8CE}"/>
              </a:ext>
            </a:extLst>
          </p:cNvPr>
          <p:cNvSpPr>
            <a:spLocks xmlns:a="http://schemas.openxmlformats.org/drawingml/2006/main" noGrp="1"/>
          </p:cNvSpPr>
          <p:nvPr/>
        </p:nvSpPr>
        <p:spPr>
          <a:xfrm xmlns:a="http://schemas.openxmlformats.org/drawingml/2006/main">
            <a:off x="6210300" y="31813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058" b="1">
                <a:solidFill>
                  <a:srgbClr val="E7F2F7"/>
                </a:solidFill>
                <a:latin typeface="Aptos"/>
                <a:ea typeface="Aptos"/>
                <a:cs typeface="Aptos"/>
              </a:defRPr>
            </a:pPr>
            <a:r>
              <a:rPr sz="1058" b="1">
                <a:solidFill>
                  <a:srgbClr val="E7F2F7"/>
                </a:solidFill>
                <a:latin typeface="Aptos"/>
                <a:ea typeface="Aptos"/>
                <a:cs typeface="Aptos"/>
              </a:rPr>
              <a:t>run_pitch_rate_limiter_tests.m</a:t>
            </a:r>
          </a:p>
          <a:p xmlns:a="http://schemas.openxmlformats.org/drawingml/2006/main">
            <a:pPr algn="ctr">
              <a:defRPr sz="1058" b="1">
                <a:solidFill>
                  <a:srgbClr val="E7F2F7"/>
                </a:solidFill>
                <a:latin typeface="Aptos"/>
                <a:ea typeface="Aptos"/>
                <a:cs typeface="Aptos"/>
              </a:defRPr>
            </a:pPr>
            <a:r>
              <a:rPr sz="1058" b="1">
                <a:solidFill>
                  <a:srgbClr val="E7F2F7"/>
                </a:solidFill>
                <a:latin typeface="Aptos"/>
                <a:ea typeface="Aptos"/>
                <a:cs typeface="Aptos"/>
              </a:rPr>
              <a:t>“Boundary above upper limit”</a:t>
            </a:r>
          </a:p>
        </p:txBody>
      </p:sp>
      <p:sp>
        <p:nvSpPr>
          <p:cNvPr id="46" name="s30-node-6">
            <a:extLst xmlns:a="http://schemas.openxmlformats.org/drawingml/2006/main">
              <a:ext uri="{FF2B5EF4-FFF2-40B4-BE49-F238E27FC236}">
                <a16:creationId xmlns:a16="http://schemas.microsoft.com/office/drawing/2014/main" id="{56F533FC-2499-4B99-884C-FCC6FBD6FEB5}"/>
              </a:ext>
            </a:extLst>
          </p:cNvPr>
          <p:cNvSpPr>
            <a:spLocks xmlns:a="http://schemas.openxmlformats.org/drawingml/2006/main" noGrp="1"/>
          </p:cNvSpPr>
          <p:nvPr/>
        </p:nvSpPr>
        <p:spPr>
          <a:xfrm xmlns:a="http://schemas.openxmlformats.org/drawingml/2006/main">
            <a:off x="3390900" y="2857500"/>
            <a:ext cx="2324100" cy="1000125"/>
          </a:xfrm>
          <a:prstGeom xmlns:a="http://schemas.openxmlformats.org/drawingml/2006/main" prst="roundRect">
            <a:avLst>
              <a:gd name="adj" fmla="val 11429"/>
            </a:avLst>
          </a:prstGeom>
          <a:solidFill xmlns:a="http://schemas.openxmlformats.org/drawingml/2006/main">
            <a:srgbClr val="0C2133"/>
          </a:solidFill>
          <a:ln xmlns:a="http://schemas.openxmlformats.org/drawingml/2006/main" w="17145">
            <a:solidFill>
              <a:srgbClr val="2CA56F"/>
            </a:solidFill>
            <a:prstDash val="solid"/>
          </a:ln>
        </p:spPr>
      </p:sp>
      <p:sp>
        <p:nvSpPr>
          <p:cNvPr id="47" name="s30-node-title-6">
            <a:extLst xmlns:a="http://schemas.openxmlformats.org/drawingml/2006/main">
              <a:ext uri="{FF2B5EF4-FFF2-40B4-BE49-F238E27FC236}">
                <a16:creationId xmlns:a16="http://schemas.microsoft.com/office/drawing/2014/main" id="{A8DE721C-6618-4B13-B868-59A27AAE4394}"/>
              </a:ext>
            </a:extLst>
          </p:cNvPr>
          <p:cNvSpPr>
            <a:spLocks xmlns:a="http://schemas.openxmlformats.org/drawingml/2006/main" noGrp="1"/>
          </p:cNvSpPr>
          <p:nvPr/>
        </p:nvSpPr>
        <p:spPr>
          <a:xfrm xmlns:a="http://schemas.openxmlformats.org/drawingml/2006/main">
            <a:off x="3505200" y="2933700"/>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005" b="1">
                <a:solidFill>
                  <a:srgbClr val="2CA56F"/>
                </a:solidFill>
                <a:latin typeface="Aptos"/>
                <a:ea typeface="Aptos"/>
                <a:cs typeface="Aptos"/>
              </a:defRPr>
            </a:pPr>
            <a:r>
              <a:rPr sz="1005" b="1">
                <a:solidFill>
                  <a:srgbClr val="2CA56F"/>
                </a:solidFill>
                <a:latin typeface="Aptos"/>
                <a:ea typeface="Aptos"/>
                <a:cs typeface="Aptos"/>
              </a:rPr>
              <a:t>7 • ITERATION 8</a:t>
            </a:r>
          </a:p>
        </p:txBody>
      </p:sp>
      <p:sp>
        <p:nvSpPr>
          <p:cNvPr id="48" name="s30-node-body-6">
            <a:extLst xmlns:a="http://schemas.openxmlformats.org/drawingml/2006/main">
              <a:ext uri="{FF2B5EF4-FFF2-40B4-BE49-F238E27FC236}">
                <a16:creationId xmlns:a16="http://schemas.microsoft.com/office/drawing/2014/main" id="{55E038E7-848B-414C-BC15-93018B3EC65E}"/>
              </a:ext>
            </a:extLst>
          </p:cNvPr>
          <p:cNvSpPr>
            <a:spLocks xmlns:a="http://schemas.openxmlformats.org/drawingml/2006/main" noGrp="1"/>
          </p:cNvSpPr>
          <p:nvPr/>
        </p:nvSpPr>
        <p:spPr>
          <a:xfrm xmlns:a="http://schemas.openxmlformats.org/drawingml/2006/main">
            <a:off x="3505200" y="31813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058" b="1">
                <a:solidFill>
                  <a:srgbClr val="E7F2F7"/>
                </a:solidFill>
                <a:latin typeface="Aptos"/>
                <a:ea typeface="Aptos"/>
                <a:cs typeface="Aptos"/>
              </a:defRPr>
            </a:pPr>
            <a:r>
              <a:rPr sz="1058" b="1">
                <a:solidFill>
                  <a:srgbClr val="E7F2F7"/>
                </a:solidFill>
                <a:latin typeface="Aptos"/>
                <a:ea typeface="Aptos"/>
                <a:cs typeface="Aptos"/>
              </a:rPr>
              <a:t>input 12.1 • expected 12 • actual 12</a:t>
            </a:r>
          </a:p>
          <a:p xmlns:a="http://schemas.openxmlformats.org/drawingml/2006/main">
            <a:pPr algn="ctr">
              <a:defRPr sz="1058" b="1">
                <a:solidFill>
                  <a:srgbClr val="E7F2F7"/>
                </a:solidFill>
                <a:latin typeface="Aptos"/>
                <a:ea typeface="Aptos"/>
                <a:cs typeface="Aptos"/>
              </a:defRPr>
            </a:pPr>
            <a:r>
              <a:rPr sz="1058" b="1">
                <a:solidFill>
                  <a:srgbClr val="E7F2F7"/>
                </a:solidFill>
                <a:latin typeface="Aptos"/>
                <a:ea typeface="Aptos"/>
                <a:cs typeface="Aptos"/>
              </a:rPr>
              <a:t>error 0 • tolerance 1e-9 • PASS</a:t>
            </a:r>
          </a:p>
        </p:txBody>
      </p:sp>
      <p:sp>
        <p:nvSpPr>
          <p:cNvPr id="49" name="s30-node-7">
            <a:extLst xmlns:a="http://schemas.openxmlformats.org/drawingml/2006/main">
              <a:ext uri="{FF2B5EF4-FFF2-40B4-BE49-F238E27FC236}">
                <a16:creationId xmlns:a16="http://schemas.microsoft.com/office/drawing/2014/main" id="{8B942BED-C89D-40F0-831E-B84BD05723A2}"/>
              </a:ext>
            </a:extLst>
          </p:cNvPr>
          <p:cNvSpPr>
            <a:spLocks xmlns:a="http://schemas.openxmlformats.org/drawingml/2006/main" noGrp="1"/>
          </p:cNvSpPr>
          <p:nvPr/>
        </p:nvSpPr>
        <p:spPr>
          <a:xfrm xmlns:a="http://schemas.openxmlformats.org/drawingml/2006/main">
            <a:off x="685800" y="2857500"/>
            <a:ext cx="2324100" cy="1000125"/>
          </a:xfrm>
          <a:prstGeom xmlns:a="http://schemas.openxmlformats.org/drawingml/2006/main" prst="roundRect">
            <a:avLst>
              <a:gd name="adj" fmla="val 11429"/>
            </a:avLst>
          </a:prstGeom>
          <a:solidFill xmlns:a="http://schemas.openxmlformats.org/drawingml/2006/main">
            <a:srgbClr val="0C2133"/>
          </a:solidFill>
          <a:ln xmlns:a="http://schemas.openxmlformats.org/drawingml/2006/main" w="17145">
            <a:solidFill>
              <a:srgbClr val="2CA56F"/>
            </a:solidFill>
            <a:prstDash val="solid"/>
          </a:ln>
        </p:spPr>
      </p:sp>
      <p:sp>
        <p:nvSpPr>
          <p:cNvPr id="50" name="s30-node-title-7">
            <a:extLst xmlns:a="http://schemas.openxmlformats.org/drawingml/2006/main">
              <a:ext uri="{FF2B5EF4-FFF2-40B4-BE49-F238E27FC236}">
                <a16:creationId xmlns:a16="http://schemas.microsoft.com/office/drawing/2014/main" id="{FD3D41A7-CD8D-4763-9CEB-F031DB208857}"/>
              </a:ext>
            </a:extLst>
          </p:cNvPr>
          <p:cNvSpPr>
            <a:spLocks xmlns:a="http://schemas.openxmlformats.org/drawingml/2006/main" noGrp="1"/>
          </p:cNvSpPr>
          <p:nvPr/>
        </p:nvSpPr>
        <p:spPr>
          <a:xfrm xmlns:a="http://schemas.openxmlformats.org/drawingml/2006/main">
            <a:off x="800100" y="2933700"/>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005" b="1">
                <a:solidFill>
                  <a:srgbClr val="2CA56F"/>
                </a:solidFill>
                <a:latin typeface="Aptos"/>
                <a:ea typeface="Aptos"/>
                <a:cs typeface="Aptos"/>
              </a:defRPr>
            </a:pPr>
            <a:r>
              <a:rPr sz="1005" b="1">
                <a:solidFill>
                  <a:srgbClr val="2CA56F"/>
                </a:solidFill>
                <a:latin typeface="Aptos"/>
                <a:ea typeface="Aptos"/>
                <a:cs typeface="Aptos"/>
              </a:rPr>
              <a:t>8 • ASSOCIATION</a:t>
            </a:r>
          </a:p>
        </p:txBody>
      </p:sp>
      <p:sp>
        <p:nvSpPr>
          <p:cNvPr id="51" name="s30-node-body-7">
            <a:extLst xmlns:a="http://schemas.openxmlformats.org/drawingml/2006/main">
              <a:ext uri="{FF2B5EF4-FFF2-40B4-BE49-F238E27FC236}">
                <a16:creationId xmlns:a16="http://schemas.microsoft.com/office/drawing/2014/main" id="{AD97A932-CAE6-451F-985F-FBFF340D6C52}"/>
              </a:ext>
            </a:extLst>
          </p:cNvPr>
          <p:cNvSpPr>
            <a:spLocks xmlns:a="http://schemas.openxmlformats.org/drawingml/2006/main" noGrp="1"/>
          </p:cNvSpPr>
          <p:nvPr/>
        </p:nvSpPr>
        <p:spPr>
          <a:xfrm xmlns:a="http://schemas.openxmlformats.org/drawingml/2006/main">
            <a:off x="800100" y="31813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058" b="1">
                <a:solidFill>
                  <a:srgbClr val="E7F2F7"/>
                </a:solidFill>
                <a:latin typeface="Aptos"/>
                <a:ea typeface="Aptos"/>
                <a:cs typeface="Aptos"/>
              </a:defRPr>
            </a:pPr>
            <a:r>
              <a:rPr sz="1058" b="1">
                <a:solidFill>
                  <a:srgbClr val="E7F2F7"/>
                </a:solidFill>
                <a:latin typeface="Aptos"/>
                <a:ea typeface="Aptos"/>
                <a:cs typeface="Aptos"/>
              </a:rPr>
              <a:t>PRL-001, PRL-003, PRL-004</a:t>
            </a:r>
          </a:p>
          <a:p xmlns:a="http://schemas.openxmlformats.org/drawingml/2006/main">
            <a:pPr algn="ctr">
              <a:defRPr sz="1058" b="1">
                <a:solidFill>
                  <a:srgbClr val="E7F2F7"/>
                </a:solidFill>
                <a:latin typeface="Aptos"/>
                <a:ea typeface="Aptos"/>
                <a:cs typeface="Aptos"/>
              </a:defRPr>
            </a:pPr>
            <a:r>
              <a:rPr sz="1058" b="1">
                <a:solidFill>
                  <a:srgbClr val="E7F2F7"/>
                </a:solidFill>
                <a:latin typeface="Aptos"/>
                <a:ea typeface="Aptos"/>
                <a:cs typeface="Aptos"/>
              </a:rPr>
              <a:t>trace backward to intent</a:t>
            </a:r>
          </a:p>
        </p:txBody>
      </p:sp>
      <p:sp>
        <p:nvSpPr>
          <p:cNvPr id="52" name="s30-arrow-0">
            <a:extLst xmlns:a="http://schemas.openxmlformats.org/drawingml/2006/main">
              <a:ext uri="{FF2B5EF4-FFF2-40B4-BE49-F238E27FC236}">
                <a16:creationId xmlns:a16="http://schemas.microsoft.com/office/drawing/2014/main" id="{FD0E3458-6BB4-4367-95A0-0A902DBE39E6}"/>
              </a:ext>
            </a:extLst>
          </p:cNvPr>
          <p:cNvSpPr>
            <a:spLocks xmlns:a="http://schemas.openxmlformats.org/drawingml/2006/main" noGrp="1"/>
          </p:cNvSpPr>
          <p:nvPr/>
        </p:nvSpPr>
        <p:spPr>
          <a:xfrm xmlns:a="http://schemas.openxmlformats.org/drawingml/2006/main">
            <a:off x="3028950" y="1819275"/>
            <a:ext cx="342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800" b="1">
                <a:solidFill>
                  <a:srgbClr val="20B7C5"/>
                </a:solidFill>
                <a:latin typeface="Aptos"/>
                <a:ea typeface="Aptos"/>
                <a:cs typeface="Aptos"/>
              </a:defRPr>
            </a:pPr>
            <a:r>
              <a:rPr sz="1800" b="1">
                <a:solidFill>
                  <a:srgbClr val="20B7C5"/>
                </a:solidFill>
                <a:latin typeface="Aptos"/>
                <a:ea typeface="Aptos"/>
                <a:cs typeface="Aptos"/>
              </a:rPr>
              <a:t>→</a:t>
            </a:r>
          </a:p>
        </p:txBody>
      </p:sp>
      <p:sp>
        <p:nvSpPr>
          <p:cNvPr id="53" name="s30-arrow-1">
            <a:extLst xmlns:a="http://schemas.openxmlformats.org/drawingml/2006/main">
              <a:ext uri="{FF2B5EF4-FFF2-40B4-BE49-F238E27FC236}">
                <a16:creationId xmlns:a16="http://schemas.microsoft.com/office/drawing/2014/main" id="{011FBFC5-99F0-4BBB-B39C-53FAE24CB4BA}"/>
              </a:ext>
            </a:extLst>
          </p:cNvPr>
          <p:cNvSpPr>
            <a:spLocks xmlns:a="http://schemas.openxmlformats.org/drawingml/2006/main" noGrp="1"/>
          </p:cNvSpPr>
          <p:nvPr/>
        </p:nvSpPr>
        <p:spPr>
          <a:xfrm xmlns:a="http://schemas.openxmlformats.org/drawingml/2006/main">
            <a:off x="5734050" y="1819275"/>
            <a:ext cx="342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800" b="1">
                <a:solidFill>
                  <a:srgbClr val="20B7C5"/>
                </a:solidFill>
                <a:latin typeface="Aptos"/>
                <a:ea typeface="Aptos"/>
                <a:cs typeface="Aptos"/>
              </a:defRPr>
            </a:pPr>
            <a:r>
              <a:rPr sz="1800" b="1">
                <a:solidFill>
                  <a:srgbClr val="20B7C5"/>
                </a:solidFill>
                <a:latin typeface="Aptos"/>
                <a:ea typeface="Aptos"/>
                <a:cs typeface="Aptos"/>
              </a:rPr>
              <a:t>→</a:t>
            </a:r>
          </a:p>
        </p:txBody>
      </p:sp>
      <p:sp>
        <p:nvSpPr>
          <p:cNvPr id="54" name="s30-arrow-2">
            <a:extLst xmlns:a="http://schemas.openxmlformats.org/drawingml/2006/main">
              <a:ext uri="{FF2B5EF4-FFF2-40B4-BE49-F238E27FC236}">
                <a16:creationId xmlns:a16="http://schemas.microsoft.com/office/drawing/2014/main" id="{E04B1A1F-86FF-4C4F-8B32-86901AB103E2}"/>
              </a:ext>
            </a:extLst>
          </p:cNvPr>
          <p:cNvSpPr>
            <a:spLocks xmlns:a="http://schemas.openxmlformats.org/drawingml/2006/main" noGrp="1"/>
          </p:cNvSpPr>
          <p:nvPr/>
        </p:nvSpPr>
        <p:spPr>
          <a:xfrm xmlns:a="http://schemas.openxmlformats.org/drawingml/2006/main">
            <a:off x="8439150" y="1819275"/>
            <a:ext cx="342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800" b="1">
                <a:solidFill>
                  <a:srgbClr val="20B7C5"/>
                </a:solidFill>
                <a:latin typeface="Aptos"/>
                <a:ea typeface="Aptos"/>
                <a:cs typeface="Aptos"/>
              </a:defRPr>
            </a:pPr>
            <a:r>
              <a:rPr sz="1800" b="1">
                <a:solidFill>
                  <a:srgbClr val="20B7C5"/>
                </a:solidFill>
                <a:latin typeface="Aptos"/>
                <a:ea typeface="Aptos"/>
                <a:cs typeface="Aptos"/>
              </a:rPr>
              <a:t>→</a:t>
            </a:r>
          </a:p>
        </p:txBody>
      </p:sp>
      <p:sp>
        <p:nvSpPr>
          <p:cNvPr id="55" name="s30-arrow-3">
            <a:extLst xmlns:a="http://schemas.openxmlformats.org/drawingml/2006/main">
              <a:ext uri="{FF2B5EF4-FFF2-40B4-BE49-F238E27FC236}">
                <a16:creationId xmlns:a16="http://schemas.microsoft.com/office/drawing/2014/main" id="{A911F84E-E901-48C0-B7E6-C850FA956A1F}"/>
              </a:ext>
            </a:extLst>
          </p:cNvPr>
          <p:cNvSpPr>
            <a:spLocks xmlns:a="http://schemas.openxmlformats.org/drawingml/2006/main" noGrp="1"/>
          </p:cNvSpPr>
          <p:nvPr/>
        </p:nvSpPr>
        <p:spPr>
          <a:xfrm xmlns:a="http://schemas.openxmlformats.org/drawingml/2006/main">
            <a:off x="10934700" y="2524125"/>
            <a:ext cx="38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800" b="1">
                <a:solidFill>
                  <a:srgbClr val="20B7C5"/>
                </a:solidFill>
                <a:latin typeface="Aptos"/>
                <a:ea typeface="Aptos"/>
                <a:cs typeface="Aptos"/>
              </a:defRPr>
            </a:pPr>
            <a:r>
              <a:rPr sz="1800" b="1">
                <a:solidFill>
                  <a:srgbClr val="20B7C5"/>
                </a:solidFill>
                <a:latin typeface="Aptos"/>
                <a:ea typeface="Aptos"/>
                <a:cs typeface="Aptos"/>
              </a:rPr>
              <a:t>↓</a:t>
            </a:r>
          </a:p>
        </p:txBody>
      </p:sp>
      <p:sp>
        <p:nvSpPr>
          <p:cNvPr id="56" name="s30-arrow-4">
            <a:extLst xmlns:a="http://schemas.openxmlformats.org/drawingml/2006/main">
              <a:ext uri="{FF2B5EF4-FFF2-40B4-BE49-F238E27FC236}">
                <a16:creationId xmlns:a16="http://schemas.microsoft.com/office/drawing/2014/main" id="{8B211C82-10DB-4D2F-A572-722535D247FD}"/>
              </a:ext>
            </a:extLst>
          </p:cNvPr>
          <p:cNvSpPr>
            <a:spLocks xmlns:a="http://schemas.openxmlformats.org/drawingml/2006/main" noGrp="1"/>
          </p:cNvSpPr>
          <p:nvPr/>
        </p:nvSpPr>
        <p:spPr>
          <a:xfrm xmlns:a="http://schemas.openxmlformats.org/drawingml/2006/main">
            <a:off x="5734050" y="3171825"/>
            <a:ext cx="342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800" b="1">
                <a:solidFill>
                  <a:srgbClr val="20B7C5"/>
                </a:solidFill>
                <a:latin typeface="Aptos"/>
                <a:ea typeface="Aptos"/>
                <a:cs typeface="Aptos"/>
              </a:defRPr>
            </a:pPr>
            <a:r>
              <a:rPr sz="1800" b="1">
                <a:solidFill>
                  <a:srgbClr val="20B7C5"/>
                </a:solidFill>
                <a:latin typeface="Aptos"/>
                <a:ea typeface="Aptos"/>
                <a:cs typeface="Aptos"/>
              </a:rPr>
              <a:t>←</a:t>
            </a:r>
          </a:p>
        </p:txBody>
      </p:sp>
      <p:sp>
        <p:nvSpPr>
          <p:cNvPr id="57" name="s30-arrow-5">
            <a:extLst xmlns:a="http://schemas.openxmlformats.org/drawingml/2006/main">
              <a:ext uri="{FF2B5EF4-FFF2-40B4-BE49-F238E27FC236}">
                <a16:creationId xmlns:a16="http://schemas.microsoft.com/office/drawing/2014/main" id="{46144294-7D81-4CCA-B94A-00A5E7B19866}"/>
              </a:ext>
            </a:extLst>
          </p:cNvPr>
          <p:cNvSpPr>
            <a:spLocks xmlns:a="http://schemas.openxmlformats.org/drawingml/2006/main" noGrp="1"/>
          </p:cNvSpPr>
          <p:nvPr/>
        </p:nvSpPr>
        <p:spPr>
          <a:xfrm xmlns:a="http://schemas.openxmlformats.org/drawingml/2006/main">
            <a:off x="3028950" y="3171825"/>
            <a:ext cx="342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800" b="1">
                <a:solidFill>
                  <a:srgbClr val="20B7C5"/>
                </a:solidFill>
                <a:latin typeface="Aptos"/>
                <a:ea typeface="Aptos"/>
                <a:cs typeface="Aptos"/>
              </a:defRPr>
            </a:pPr>
            <a:r>
              <a:rPr sz="1800" b="1">
                <a:solidFill>
                  <a:srgbClr val="20B7C5"/>
                </a:solidFill>
                <a:latin typeface="Aptos"/>
                <a:ea typeface="Aptos"/>
                <a:cs typeface="Aptos"/>
              </a:rPr>
              <a:t>←</a:t>
            </a:r>
          </a:p>
        </p:txBody>
      </p:sp>
      <p:sp>
        <p:nvSpPr>
          <p:cNvPr id="58" name="s30-arrow-6">
            <a:extLst xmlns:a="http://schemas.openxmlformats.org/drawingml/2006/main">
              <a:ext uri="{FF2B5EF4-FFF2-40B4-BE49-F238E27FC236}">
                <a16:creationId xmlns:a16="http://schemas.microsoft.com/office/drawing/2014/main" id="{9EB3DADD-D124-4EDD-93C3-5F6F3CD78A0C}"/>
              </a:ext>
            </a:extLst>
          </p:cNvPr>
          <p:cNvSpPr>
            <a:spLocks xmlns:a="http://schemas.openxmlformats.org/drawingml/2006/main" noGrp="1"/>
          </p:cNvSpPr>
          <p:nvPr/>
        </p:nvSpPr>
        <p:spPr>
          <a:xfrm xmlns:a="http://schemas.openxmlformats.org/drawingml/2006/main">
            <a:off x="323850" y="3171825"/>
            <a:ext cx="342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800" b="1">
                <a:solidFill>
                  <a:srgbClr val="20B7C5"/>
                </a:solidFill>
                <a:latin typeface="Aptos"/>
                <a:ea typeface="Aptos"/>
                <a:cs typeface="Aptos"/>
              </a:defRPr>
            </a:pPr>
            <a:r>
              <a:rPr sz="1800" b="1">
                <a:solidFill>
                  <a:srgbClr val="20B7C5"/>
                </a:solidFill>
                <a:latin typeface="Aptos"/>
                <a:ea typeface="Aptos"/>
                <a:cs typeface="Aptos"/>
              </a:rPr>
              <a:t>←</a:t>
            </a:r>
          </a:p>
        </p:txBody>
      </p:sp>
      <p:sp>
        <p:nvSpPr>
          <p:cNvPr id="59" name="s30-evidence">
            <a:extLst xmlns:a="http://schemas.openxmlformats.org/drawingml/2006/main">
              <a:ext uri="{FF2B5EF4-FFF2-40B4-BE49-F238E27FC236}">
                <a16:creationId xmlns:a16="http://schemas.microsoft.com/office/drawing/2014/main" id="{5948A748-D978-4D71-BD4A-74F7F4D6486B}"/>
              </a:ext>
            </a:extLst>
          </p:cNvPr>
          <p:cNvSpPr>
            <a:spLocks xmlns:a="http://schemas.openxmlformats.org/drawingml/2006/main" noGrp="1"/>
          </p:cNvSpPr>
          <p:nvPr/>
        </p:nvSpPr>
        <p:spPr>
          <a:xfrm xmlns:a="http://schemas.openxmlformats.org/drawingml/2006/main">
            <a:off x="685800" y="4171950"/>
            <a:ext cx="10820400" cy="857250"/>
          </a:xfrm>
          <a:prstGeom xmlns:a="http://schemas.openxmlformats.org/drawingml/2006/main" prst="roundRect">
            <a:avLst>
              <a:gd name="adj" fmla="val 13333"/>
            </a:avLst>
          </a:prstGeom>
          <a:solidFill xmlns:a="http://schemas.openxmlformats.org/drawingml/2006/main">
            <a:srgbClr val="E2F4EA"/>
          </a:solidFill>
          <a:ln xmlns:a="http://schemas.openxmlformats.org/drawingml/2006/main" w="14288">
            <a:solidFill>
              <a:srgbClr val="2CA56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290" b="1">
                <a:solidFill>
                  <a:srgbClr val="0B1F33"/>
                </a:solidFill>
                <a:latin typeface="Aptos"/>
                <a:ea typeface="Aptos"/>
                <a:cs typeface="Aptos"/>
              </a:defRPr>
            </a:pPr>
            <a:r>
              <a:rPr sz="1290" b="1">
                <a:solidFill>
                  <a:srgbClr val="0B1F33"/>
                </a:solidFill>
                <a:latin typeface="Aptos"/>
                <a:ea typeface="Aptos"/>
                <a:cs typeface="Aptos"/>
              </a:rPr>
              <a:t>VISIBLE RESULT  •  t = 0.14 s  •  normal_mode = true  •  input_valid = true  •  limiter_active expected/actual = true  •  every recorded check passed</a:t>
            </a:r>
          </a:p>
        </p:txBody>
      </p:sp>
      <p:sp>
        <p:nvSpPr>
          <p:cNvPr id="60" name="s30-env">
            <a:extLst xmlns:a="http://schemas.openxmlformats.org/drawingml/2006/main">
              <a:ext uri="{FF2B5EF4-FFF2-40B4-BE49-F238E27FC236}">
                <a16:creationId xmlns:a16="http://schemas.microsoft.com/office/drawing/2014/main" id="{2A93A536-8149-41AD-97F7-2F54D8326521}"/>
              </a:ext>
            </a:extLst>
          </p:cNvPr>
          <p:cNvSpPr>
            <a:spLocks xmlns:a="http://schemas.openxmlformats.org/drawingml/2006/main" noGrp="1"/>
          </p:cNvSpPr>
          <p:nvPr/>
        </p:nvSpPr>
        <p:spPr>
          <a:xfrm xmlns:a="http://schemas.openxmlformats.org/drawingml/2006/main">
            <a:off x="685800" y="5219700"/>
            <a:ext cx="10820400" cy="628650"/>
          </a:xfrm>
          <a:prstGeom xmlns:a="http://schemas.openxmlformats.org/drawingml/2006/main" prst="roundRect">
            <a:avLst>
              <a:gd name="adj" fmla="val 18182"/>
            </a:avLst>
          </a:prstGeom>
          <a:solidFill xmlns:a="http://schemas.openxmlformats.org/drawingml/2006/main">
            <a:srgbClr val="0B243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215" b="1">
                <a:solidFill>
                  <a:srgbClr val="FFFFFF"/>
                </a:solidFill>
                <a:latin typeface="Aptos"/>
                <a:ea typeface="Aptos"/>
                <a:cs typeface="Aptos"/>
              </a:defRPr>
            </a:pPr>
            <a:r>
              <a:rPr sz="1215" b="1">
                <a:solidFill>
                  <a:srgbClr val="FFFFFF"/>
                </a:solidFill>
                <a:latin typeface="Aptos"/>
                <a:ea typeface="Aptos"/>
                <a:cs typeface="Aptos"/>
              </a:rPr>
              <a:t>Desktop Simulink model execution (MIL); not SIL, PIL, or HIL.</a:t>
            </a:r>
          </a:p>
          <a:p xmlns:a="http://schemas.openxmlformats.org/drawingml/2006/main">
            <a:pPr algn="ctr">
              <a:defRPr sz="1215" b="1">
                <a:solidFill>
                  <a:srgbClr val="FFFFFF"/>
                </a:solidFill>
                <a:latin typeface="Aptos"/>
                <a:ea typeface="Aptos"/>
                <a:cs typeface="Aptos"/>
              </a:defRPr>
            </a:pPr>
            <a:r>
              <a:rPr sz="1215" b="1">
                <a:solidFill>
                  <a:srgbClr val="FFFFFF"/>
                </a:solidFill>
                <a:latin typeface="Aptos"/>
                <a:ea typeface="Aptos"/>
                <a:cs typeface="Aptos"/>
              </a:rPr>
              <a:t>Traceability is demonstrated through CSV, script, model-path, and result associations—not live Simulink Requirements links.</a:t>
            </a:r>
          </a:p>
        </p:txBody>
      </p:sp>
    </p:spTree>
    <p:extLst>
      <p:ext uri="{BB962C8B-B14F-4D97-AF65-F5344CB8AC3E}">
        <p14:creationId xmlns:p14="http://schemas.microsoft.com/office/powerpoint/2010/main" val="2043144866"/>
      </p:ext>
    </p:extLst>
  </p:cSld>
</p:sld>
</file>

<file path=ppt/slides/slide31.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4" name="section-236">
            <a:extLst xmlns:a="http://schemas.openxmlformats.org/drawingml/2006/main">
              <a:ext uri="{FF2B5EF4-FFF2-40B4-BE49-F238E27FC236}">
                <a16:creationId xmlns:a16="http://schemas.microsoft.com/office/drawing/2014/main" id="{1A4E4B74-3096-417B-BACE-8CE88B27542E}"/>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05 • REQUIREMENTS &amp; TRACEABILITY</a:t>
            </a:r>
          </a:p>
        </p:txBody>
      </p:sp>
      <p:sp>
        <p:nvSpPr>
          <p:cNvPr id="2" name="title-236">
            <a:extLst xmlns:a="http://schemas.openxmlformats.org/drawingml/2006/main">
              <a:ext uri="{FF2B5EF4-FFF2-40B4-BE49-F238E27FC236}">
                <a16:creationId xmlns:a16="http://schemas.microsoft.com/office/drawing/2014/main" id="{0451522F-09CA-4B68-9D8A-87C1CFDD211E}"/>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FFFFFF"/>
                </a:solidFill>
                <a:latin typeface="Aptos"/>
                <a:ea typeface="Aptos"/>
                <a:cs typeface="Aptos"/>
              </a:defRPr>
            </a:pPr>
            <a:r>
              <a:rPr sz="3150" b="1" i="0">
                <a:solidFill>
                  <a:srgbClr val="FFFFFF"/>
                </a:solidFill>
                <a:latin typeface="Aptos"/>
                <a:ea typeface="Aptos"/>
                <a:cs typeface="Aptos"/>
              </a:rPr>
              <a:t>The harness sits inside a controlled relative-file flow</a:t>
            </a:r>
          </a:p>
        </p:txBody>
      </p:sp>
      <p:sp>
        <p:nvSpPr>
          <p:cNvPr id="3" name="line-237">
            <a:extLst xmlns:a="http://schemas.openxmlformats.org/drawingml/2006/main">
              <a:ext uri="{FF2B5EF4-FFF2-40B4-BE49-F238E27FC236}">
                <a16:creationId xmlns:a16="http://schemas.microsoft.com/office/drawing/2014/main" id="{BA74B352-2C1A-4AA6-9BDA-82266067D5D5}"/>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238">
            <a:extLst xmlns:a="http://schemas.openxmlformats.org/drawingml/2006/main">
              <a:ext uri="{FF2B5EF4-FFF2-40B4-BE49-F238E27FC236}">
                <a16:creationId xmlns:a16="http://schemas.microsoft.com/office/drawing/2014/main" id="{5D21AC84-C12A-4417-8C07-83E63BE376D4}"/>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239">
            <a:extLst xmlns:a="http://schemas.openxmlformats.org/drawingml/2006/main">
              <a:ext uri="{FF2B5EF4-FFF2-40B4-BE49-F238E27FC236}">
                <a16:creationId xmlns:a16="http://schemas.microsoft.com/office/drawing/2014/main" id="{4C0551BA-66F9-4339-A4B8-288B06AA5ECC}"/>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31</a:t>
            </a:r>
          </a:p>
        </p:txBody>
      </p:sp>
      <p:sp>
        <p:nvSpPr>
          <p:cNvPr id="25" name="s31-down-0">
            <a:extLst xmlns:a="http://schemas.openxmlformats.org/drawingml/2006/main">
              <a:ext uri="{FF2B5EF4-FFF2-40B4-BE49-F238E27FC236}">
                <a16:creationId xmlns:a16="http://schemas.microsoft.com/office/drawing/2014/main" id="{4616FC85-18A4-4963-AB60-BABF6DDAAEF2}"/>
              </a:ext>
            </a:extLst>
          </p:cNvPr>
          <p:cNvSpPr>
            <a:spLocks xmlns:a="http://schemas.openxmlformats.org/drawingml/2006/main" noGrp="1"/>
          </p:cNvSpPr>
          <p:nvPr/>
        </p:nvSpPr>
        <p:spPr>
          <a:xfrm xmlns:a="http://schemas.openxmlformats.org/drawingml/2006/main">
            <a:off x="3438525" y="2105025"/>
            <a:ext cx="0" cy="247650"/>
          </a:xfrm>
          <a:prstGeom xmlns:a="http://schemas.openxmlformats.org/drawingml/2006/main" prst="line">
            <a:avLst/>
          </a:prstGeom>
          <a:noFill xmlns:a="http://schemas.openxmlformats.org/drawingml/2006/main"/>
          <a:ln xmlns:a="http://schemas.openxmlformats.org/drawingml/2006/main" w="22860">
            <a:solidFill>
              <a:srgbClr val="20B7C5"/>
            </a:solidFill>
            <a:prstDash val="solid"/>
          </a:ln>
        </p:spPr>
      </p:sp>
      <p:sp>
        <p:nvSpPr>
          <p:cNvPr id="26" name="s31-down-1">
            <a:extLst xmlns:a="http://schemas.openxmlformats.org/drawingml/2006/main">
              <a:ext uri="{FF2B5EF4-FFF2-40B4-BE49-F238E27FC236}">
                <a16:creationId xmlns:a16="http://schemas.microsoft.com/office/drawing/2014/main" id="{4E975D15-721C-4220-89E0-5D56DE826FD3}"/>
              </a:ext>
            </a:extLst>
          </p:cNvPr>
          <p:cNvSpPr>
            <a:spLocks xmlns:a="http://schemas.openxmlformats.org/drawingml/2006/main" noGrp="1"/>
          </p:cNvSpPr>
          <p:nvPr/>
        </p:nvSpPr>
        <p:spPr>
          <a:xfrm xmlns:a="http://schemas.openxmlformats.org/drawingml/2006/main">
            <a:off x="3438525" y="2981325"/>
            <a:ext cx="0" cy="247650"/>
          </a:xfrm>
          <a:prstGeom xmlns:a="http://schemas.openxmlformats.org/drawingml/2006/main" prst="line">
            <a:avLst/>
          </a:prstGeom>
          <a:noFill xmlns:a="http://schemas.openxmlformats.org/drawingml/2006/main"/>
          <a:ln xmlns:a="http://schemas.openxmlformats.org/drawingml/2006/main" w="22860">
            <a:solidFill>
              <a:srgbClr val="20B7C5"/>
            </a:solidFill>
            <a:prstDash val="solid"/>
          </a:ln>
        </p:spPr>
      </p:sp>
      <p:sp>
        <p:nvSpPr>
          <p:cNvPr id="27" name="s31-down-2">
            <a:extLst xmlns:a="http://schemas.openxmlformats.org/drawingml/2006/main">
              <a:ext uri="{FF2B5EF4-FFF2-40B4-BE49-F238E27FC236}">
                <a16:creationId xmlns:a16="http://schemas.microsoft.com/office/drawing/2014/main" id="{B9DBF7E7-BDF6-4746-8B64-AEF31AF420E1}"/>
              </a:ext>
            </a:extLst>
          </p:cNvPr>
          <p:cNvSpPr>
            <a:spLocks xmlns:a="http://schemas.openxmlformats.org/drawingml/2006/main" noGrp="1"/>
          </p:cNvSpPr>
          <p:nvPr/>
        </p:nvSpPr>
        <p:spPr>
          <a:xfrm xmlns:a="http://schemas.openxmlformats.org/drawingml/2006/main">
            <a:off x="3438525" y="3857625"/>
            <a:ext cx="0" cy="247650"/>
          </a:xfrm>
          <a:prstGeom xmlns:a="http://schemas.openxmlformats.org/drawingml/2006/main" prst="line">
            <a:avLst/>
          </a:prstGeom>
          <a:noFill xmlns:a="http://schemas.openxmlformats.org/drawingml/2006/main"/>
          <a:ln xmlns:a="http://schemas.openxmlformats.org/drawingml/2006/main" w="22860">
            <a:solidFill>
              <a:srgbClr val="20B7C5"/>
            </a:solidFill>
            <a:prstDash val="solid"/>
          </a:ln>
        </p:spPr>
      </p:sp>
      <p:sp>
        <p:nvSpPr>
          <p:cNvPr id="28" name="s31-down-3">
            <a:extLst xmlns:a="http://schemas.openxmlformats.org/drawingml/2006/main">
              <a:ext uri="{FF2B5EF4-FFF2-40B4-BE49-F238E27FC236}">
                <a16:creationId xmlns:a16="http://schemas.microsoft.com/office/drawing/2014/main" id="{AC014577-47CC-4353-8AFA-9E32145313F9}"/>
              </a:ext>
            </a:extLst>
          </p:cNvPr>
          <p:cNvSpPr>
            <a:spLocks xmlns:a="http://schemas.openxmlformats.org/drawingml/2006/main" noGrp="1"/>
          </p:cNvSpPr>
          <p:nvPr/>
        </p:nvSpPr>
        <p:spPr>
          <a:xfrm xmlns:a="http://schemas.openxmlformats.org/drawingml/2006/main">
            <a:off x="3438525" y="4733925"/>
            <a:ext cx="0" cy="247650"/>
          </a:xfrm>
          <a:prstGeom xmlns:a="http://schemas.openxmlformats.org/drawingml/2006/main" prst="line">
            <a:avLst/>
          </a:prstGeom>
          <a:noFill xmlns:a="http://schemas.openxmlformats.org/drawingml/2006/main"/>
          <a:ln xmlns:a="http://schemas.openxmlformats.org/drawingml/2006/main" w="22860">
            <a:solidFill>
              <a:srgbClr val="20B7C5"/>
            </a:solidFill>
            <a:prstDash val="solid"/>
          </a:ln>
        </p:spPr>
      </p:sp>
      <p:sp>
        <p:nvSpPr>
          <p:cNvPr id="29" name="s31-ref-link">
            <a:extLst xmlns:a="http://schemas.openxmlformats.org/drawingml/2006/main">
              <a:ext uri="{FF2B5EF4-FFF2-40B4-BE49-F238E27FC236}">
                <a16:creationId xmlns:a16="http://schemas.microsoft.com/office/drawing/2014/main" id="{480BC147-7196-4065-8D1E-D63ADFEB8FC0}"/>
              </a:ext>
            </a:extLst>
          </p:cNvPr>
          <p:cNvSpPr>
            <a:spLocks xmlns:a="http://schemas.openxmlformats.org/drawingml/2006/main" noGrp="1"/>
          </p:cNvSpPr>
          <p:nvPr/>
        </p:nvSpPr>
        <p:spPr>
          <a:xfrm xmlns:a="http://schemas.openxmlformats.org/drawingml/2006/main">
            <a:off x="5810250" y="2667000"/>
            <a:ext cx="742950" cy="0"/>
          </a:xfrm>
          <a:prstGeom xmlns:a="http://schemas.openxmlformats.org/drawingml/2006/main" prst="line">
            <a:avLst/>
          </a:prstGeom>
          <a:noFill xmlns:a="http://schemas.openxmlformats.org/drawingml/2006/main"/>
          <a:ln xmlns:a="http://schemas.openxmlformats.org/drawingml/2006/main" w="22860">
            <a:solidFill>
              <a:srgbClr val="2CA56F"/>
            </a:solidFill>
            <a:prstDash val="solid"/>
          </a:ln>
        </p:spPr>
      </p:sp>
      <p:sp>
        <p:nvSpPr>
          <p:cNvPr id="30" name="s31-trace-link">
            <a:extLst xmlns:a="http://schemas.openxmlformats.org/drawingml/2006/main">
              <a:ext uri="{FF2B5EF4-FFF2-40B4-BE49-F238E27FC236}">
                <a16:creationId xmlns:a16="http://schemas.microsoft.com/office/drawing/2014/main" id="{4889D4BA-D119-4E17-9A74-C1C59B2FDF75}"/>
              </a:ext>
            </a:extLst>
          </p:cNvPr>
          <p:cNvSpPr>
            <a:spLocks xmlns:a="http://schemas.openxmlformats.org/drawingml/2006/main" noGrp="1"/>
          </p:cNvSpPr>
          <p:nvPr/>
        </p:nvSpPr>
        <p:spPr>
          <a:xfrm xmlns:a="http://schemas.openxmlformats.org/drawingml/2006/main">
            <a:off x="5810250" y="3543300"/>
            <a:ext cx="742950" cy="0"/>
          </a:xfrm>
          <a:prstGeom xmlns:a="http://schemas.openxmlformats.org/drawingml/2006/main" prst="line">
            <a:avLst/>
          </a:prstGeom>
          <a:noFill xmlns:a="http://schemas.openxmlformats.org/drawingml/2006/main"/>
          <a:ln xmlns:a="http://schemas.openxmlformats.org/drawingml/2006/main" w="22860">
            <a:solidFill>
              <a:srgbClr val="2D6CDF"/>
            </a:solidFill>
            <a:prstDash val="solid"/>
          </a:ln>
        </p:spPr>
      </p:sp>
      <p:sp>
        <p:nvSpPr>
          <p:cNvPr id="31" name="s31-flow-0">
            <a:extLst xmlns:a="http://schemas.openxmlformats.org/drawingml/2006/main">
              <a:ext uri="{FF2B5EF4-FFF2-40B4-BE49-F238E27FC236}">
                <a16:creationId xmlns:a16="http://schemas.microsoft.com/office/drawing/2014/main" id="{11454C18-4165-42AC-90D4-A6B2461AD47E}"/>
              </a:ext>
            </a:extLst>
          </p:cNvPr>
          <p:cNvSpPr>
            <a:spLocks xmlns:a="http://schemas.openxmlformats.org/drawingml/2006/main" noGrp="1"/>
          </p:cNvSpPr>
          <p:nvPr/>
        </p:nvSpPr>
        <p:spPr>
          <a:xfrm xmlns:a="http://schemas.openxmlformats.org/drawingml/2006/main">
            <a:off x="685800" y="1476375"/>
            <a:ext cx="5505450" cy="628650"/>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14288">
            <a:solidFill>
              <a:srgbClr val="C9D8E3"/>
            </a:solidFill>
            <a:prstDash val="solid"/>
          </a:ln>
        </p:spPr>
      </p:sp>
      <p:sp>
        <p:nvSpPr>
          <p:cNvPr id="32" name="s31-flow-path-0">
            <a:extLst xmlns:a="http://schemas.openxmlformats.org/drawingml/2006/main">
              <a:ext uri="{FF2B5EF4-FFF2-40B4-BE49-F238E27FC236}">
                <a16:creationId xmlns:a16="http://schemas.microsoft.com/office/drawing/2014/main" id="{CAFFC582-E087-4FE4-B5AD-D0286AFF57F4}"/>
              </a:ext>
            </a:extLst>
          </p:cNvPr>
          <p:cNvSpPr>
            <a:spLocks xmlns:a="http://schemas.openxmlformats.org/drawingml/2006/main" noGrp="1"/>
          </p:cNvSpPr>
          <p:nvPr/>
        </p:nvSpPr>
        <p:spPr>
          <a:xfrm xmlns:a="http://schemas.openxmlformats.org/drawingml/2006/main">
            <a:off x="857250" y="1543050"/>
            <a:ext cx="5162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208" b="1">
                <a:solidFill>
                  <a:srgbClr val="2D6CDF"/>
                </a:solidFill>
                <a:latin typeface="Aptos"/>
                <a:ea typeface="Aptos"/>
                <a:cs typeface="Aptos"/>
              </a:defRPr>
            </a:pPr>
            <a:r>
              <a:rPr sz="1208" b="1">
                <a:solidFill>
                  <a:srgbClr val="2D6CDF"/>
                </a:solidFill>
                <a:latin typeface="Aptos"/>
                <a:ea typeface="Aptos"/>
                <a:cs typeface="Aptos"/>
              </a:rPr>
              <a:t>data/FCS_Data.sldd</a:t>
            </a:r>
          </a:p>
        </p:txBody>
      </p:sp>
      <p:sp>
        <p:nvSpPr>
          <p:cNvPr id="33" name="s31-flow-role-0">
            <a:extLst xmlns:a="http://schemas.openxmlformats.org/drawingml/2006/main">
              <a:ext uri="{FF2B5EF4-FFF2-40B4-BE49-F238E27FC236}">
                <a16:creationId xmlns:a16="http://schemas.microsoft.com/office/drawing/2014/main" id="{6EB40220-B8E3-45D9-8C4E-99AA8ED3D920}"/>
              </a:ext>
            </a:extLst>
          </p:cNvPr>
          <p:cNvSpPr>
            <a:spLocks xmlns:a="http://schemas.openxmlformats.org/drawingml/2006/main" noGrp="1"/>
          </p:cNvSpPr>
          <p:nvPr/>
        </p:nvSpPr>
        <p:spPr>
          <a:xfrm xmlns:a="http://schemas.openxmlformats.org/drawingml/2006/main">
            <a:off x="857250" y="1790700"/>
            <a:ext cx="5162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088" b="1">
                <a:solidFill>
                  <a:srgbClr val="17324A"/>
                </a:solidFill>
                <a:latin typeface="Aptos"/>
                <a:ea typeface="Aptos"/>
                <a:cs typeface="Aptos"/>
              </a:defRPr>
            </a:pPr>
            <a:r>
              <a:rPr sz="1088" b="1">
                <a:solidFill>
                  <a:srgbClr val="17324A"/>
                </a:solidFill>
                <a:latin typeface="Aptos"/>
                <a:ea typeface="Aptos"/>
                <a:cs typeface="Aptos"/>
              </a:rPr>
              <a:t>controlled parameters, buses, units, ranges</a:t>
            </a:r>
          </a:p>
        </p:txBody>
      </p:sp>
      <p:sp>
        <p:nvSpPr>
          <p:cNvPr id="34" name="s31-flow-1">
            <a:extLst xmlns:a="http://schemas.openxmlformats.org/drawingml/2006/main">
              <a:ext uri="{FF2B5EF4-FFF2-40B4-BE49-F238E27FC236}">
                <a16:creationId xmlns:a16="http://schemas.microsoft.com/office/drawing/2014/main" id="{28C91B52-238C-4263-8118-4069A0B734A7}"/>
              </a:ext>
            </a:extLst>
          </p:cNvPr>
          <p:cNvSpPr>
            <a:spLocks xmlns:a="http://schemas.openxmlformats.org/drawingml/2006/main" noGrp="1"/>
          </p:cNvSpPr>
          <p:nvPr/>
        </p:nvSpPr>
        <p:spPr>
          <a:xfrm xmlns:a="http://schemas.openxmlformats.org/drawingml/2006/main">
            <a:off x="685800" y="2352675"/>
            <a:ext cx="5505450" cy="628650"/>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14288">
            <a:solidFill>
              <a:srgbClr val="C9D8E3"/>
            </a:solidFill>
            <a:prstDash val="solid"/>
          </a:ln>
        </p:spPr>
      </p:sp>
      <p:sp>
        <p:nvSpPr>
          <p:cNvPr id="35" name="s31-flow-path-1">
            <a:extLst xmlns:a="http://schemas.openxmlformats.org/drawingml/2006/main">
              <a:ext uri="{FF2B5EF4-FFF2-40B4-BE49-F238E27FC236}">
                <a16:creationId xmlns:a16="http://schemas.microsoft.com/office/drawing/2014/main" id="{AAE1302A-D831-401C-8BD2-079687F7C466}"/>
              </a:ext>
            </a:extLst>
          </p:cNvPr>
          <p:cNvSpPr>
            <a:spLocks xmlns:a="http://schemas.openxmlformats.org/drawingml/2006/main" noGrp="1"/>
          </p:cNvSpPr>
          <p:nvPr/>
        </p:nvSpPr>
        <p:spPr>
          <a:xfrm xmlns:a="http://schemas.openxmlformats.org/drawingml/2006/main">
            <a:off x="857250" y="2419350"/>
            <a:ext cx="5162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208" b="1">
                <a:solidFill>
                  <a:srgbClr val="2D6CDF"/>
                </a:solidFill>
                <a:latin typeface="Aptos"/>
                <a:ea typeface="Aptos"/>
                <a:cs typeface="Aptos"/>
              </a:defRPr>
            </a:pPr>
            <a:r>
              <a:rPr sz="1208" b="1">
                <a:solidFill>
                  <a:srgbClr val="2D6CDF"/>
                </a:solidFill>
                <a:latin typeface="Aptos"/>
                <a:ea typeface="Aptos"/>
                <a:cs typeface="Aptos"/>
              </a:rPr>
              <a:t>models/PitchRateLimiter_Harness.slx</a:t>
            </a:r>
          </a:p>
        </p:txBody>
      </p:sp>
      <p:sp>
        <p:nvSpPr>
          <p:cNvPr id="36" name="s31-flow-role-1">
            <a:extLst xmlns:a="http://schemas.openxmlformats.org/drawingml/2006/main">
              <a:ext uri="{FF2B5EF4-FFF2-40B4-BE49-F238E27FC236}">
                <a16:creationId xmlns:a16="http://schemas.microsoft.com/office/drawing/2014/main" id="{2B6FFE49-5830-4FE5-B59A-59FD59AA1C72}"/>
              </a:ext>
            </a:extLst>
          </p:cNvPr>
          <p:cNvSpPr>
            <a:spLocks xmlns:a="http://schemas.openxmlformats.org/drawingml/2006/main" noGrp="1"/>
          </p:cNvSpPr>
          <p:nvPr/>
        </p:nvSpPr>
        <p:spPr>
          <a:xfrm xmlns:a="http://schemas.openxmlformats.org/drawingml/2006/main">
            <a:off x="857250" y="2667000"/>
            <a:ext cx="5162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088" b="1">
                <a:solidFill>
                  <a:srgbClr val="17324A"/>
                </a:solidFill>
                <a:latin typeface="Aptos"/>
                <a:ea typeface="Aptos"/>
                <a:cs typeface="Aptos"/>
              </a:defRPr>
            </a:pPr>
            <a:r>
              <a:rPr sz="1088" b="1">
                <a:solidFill>
                  <a:srgbClr val="17324A"/>
                </a:solidFill>
                <a:latin typeface="Aptos"/>
                <a:ea typeface="Aptos"/>
                <a:cs typeface="Aptos"/>
              </a:rPr>
              <a:t>stimulus + capture around the UUT</a:t>
            </a:r>
          </a:p>
        </p:txBody>
      </p:sp>
      <p:sp>
        <p:nvSpPr>
          <p:cNvPr id="37" name="s31-flow-2">
            <a:extLst xmlns:a="http://schemas.openxmlformats.org/drawingml/2006/main">
              <a:ext uri="{FF2B5EF4-FFF2-40B4-BE49-F238E27FC236}">
                <a16:creationId xmlns:a16="http://schemas.microsoft.com/office/drawing/2014/main" id="{0DF6F4F0-8B3F-40E9-8B8B-A4ACFDACEF67}"/>
              </a:ext>
            </a:extLst>
          </p:cNvPr>
          <p:cNvSpPr>
            <a:spLocks xmlns:a="http://schemas.openxmlformats.org/drawingml/2006/main" noGrp="1"/>
          </p:cNvSpPr>
          <p:nvPr/>
        </p:nvSpPr>
        <p:spPr>
          <a:xfrm xmlns:a="http://schemas.openxmlformats.org/drawingml/2006/main">
            <a:off x="685800" y="3228975"/>
            <a:ext cx="5505450" cy="628650"/>
          </a:xfrm>
          <a:prstGeom xmlns:a="http://schemas.openxmlformats.org/drawingml/2006/main" prst="roundRect">
            <a:avLst>
              <a:gd name="adj" fmla="val 18182"/>
            </a:avLst>
          </a:prstGeom>
          <a:solidFill xmlns:a="http://schemas.openxmlformats.org/drawingml/2006/main">
            <a:srgbClr val="DFF6F8"/>
          </a:solidFill>
          <a:ln xmlns:a="http://schemas.openxmlformats.org/drawingml/2006/main" w="14288">
            <a:solidFill>
              <a:srgbClr val="20B7C5"/>
            </a:solidFill>
            <a:prstDash val="solid"/>
          </a:ln>
        </p:spPr>
      </p:sp>
      <p:sp>
        <p:nvSpPr>
          <p:cNvPr id="38" name="s31-flow-path-2">
            <a:extLst xmlns:a="http://schemas.openxmlformats.org/drawingml/2006/main">
              <a:ext uri="{FF2B5EF4-FFF2-40B4-BE49-F238E27FC236}">
                <a16:creationId xmlns:a16="http://schemas.microsoft.com/office/drawing/2014/main" id="{03247712-36D5-4CF6-8600-375C83797B4D}"/>
              </a:ext>
            </a:extLst>
          </p:cNvPr>
          <p:cNvSpPr>
            <a:spLocks xmlns:a="http://schemas.openxmlformats.org/drawingml/2006/main" noGrp="1"/>
          </p:cNvSpPr>
          <p:nvPr/>
        </p:nvSpPr>
        <p:spPr>
          <a:xfrm xmlns:a="http://schemas.openxmlformats.org/drawingml/2006/main">
            <a:off x="857250" y="3295650"/>
            <a:ext cx="5162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208" b="1">
                <a:solidFill>
                  <a:srgbClr val="2D6CDF"/>
                </a:solidFill>
                <a:latin typeface="Aptos"/>
                <a:ea typeface="Aptos"/>
                <a:cs typeface="Aptos"/>
              </a:defRPr>
            </a:pPr>
            <a:r>
              <a:rPr sz="1208" b="1">
                <a:solidFill>
                  <a:srgbClr val="2D6CDF"/>
                </a:solidFill>
                <a:latin typeface="Aptos"/>
                <a:ea typeface="Aptos"/>
                <a:cs typeface="Aptos"/>
              </a:rPr>
              <a:t>scripts/run_pitch_rate_limiter_tests.m</a:t>
            </a:r>
          </a:p>
        </p:txBody>
      </p:sp>
      <p:sp>
        <p:nvSpPr>
          <p:cNvPr id="39" name="s31-flow-role-2">
            <a:extLst xmlns:a="http://schemas.openxmlformats.org/drawingml/2006/main">
              <a:ext uri="{FF2B5EF4-FFF2-40B4-BE49-F238E27FC236}">
                <a16:creationId xmlns:a16="http://schemas.microsoft.com/office/drawing/2014/main" id="{6C1FB1C6-AACE-4FEB-A321-AA824338E828}"/>
              </a:ext>
            </a:extLst>
          </p:cNvPr>
          <p:cNvSpPr>
            <a:spLocks xmlns:a="http://schemas.openxmlformats.org/drawingml/2006/main" noGrp="1"/>
          </p:cNvSpPr>
          <p:nvPr/>
        </p:nvSpPr>
        <p:spPr>
          <a:xfrm xmlns:a="http://schemas.openxmlformats.org/drawingml/2006/main">
            <a:off x="857250" y="3543300"/>
            <a:ext cx="5162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088" b="1">
                <a:solidFill>
                  <a:srgbClr val="17324A"/>
                </a:solidFill>
                <a:latin typeface="Aptos"/>
                <a:ea typeface="Aptos"/>
                <a:cs typeface="Aptos"/>
              </a:defRPr>
            </a:pPr>
            <a:r>
              <a:rPr sz="1088" b="1">
                <a:solidFill>
                  <a:srgbClr val="17324A"/>
                </a:solidFill>
                <a:latin typeface="Aptos"/>
                <a:ea typeface="Aptos"/>
                <a:cs typeface="Aptos"/>
              </a:rPr>
              <a:t>test driver + visible pass/fail oracle</a:t>
            </a:r>
          </a:p>
        </p:txBody>
      </p:sp>
      <p:sp>
        <p:nvSpPr>
          <p:cNvPr id="40" name="s31-flow-3">
            <a:extLst xmlns:a="http://schemas.openxmlformats.org/drawingml/2006/main">
              <a:ext uri="{FF2B5EF4-FFF2-40B4-BE49-F238E27FC236}">
                <a16:creationId xmlns:a16="http://schemas.microsoft.com/office/drawing/2014/main" id="{378694B5-6F92-469F-8BA2-983906F356D2}"/>
              </a:ext>
            </a:extLst>
          </p:cNvPr>
          <p:cNvSpPr>
            <a:spLocks xmlns:a="http://schemas.openxmlformats.org/drawingml/2006/main" noGrp="1"/>
          </p:cNvSpPr>
          <p:nvPr/>
        </p:nvSpPr>
        <p:spPr>
          <a:xfrm xmlns:a="http://schemas.openxmlformats.org/drawingml/2006/main">
            <a:off x="685800" y="4105275"/>
            <a:ext cx="5505450" cy="628650"/>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14288">
            <a:solidFill>
              <a:srgbClr val="C9D8E3"/>
            </a:solidFill>
            <a:prstDash val="solid"/>
          </a:ln>
        </p:spPr>
      </p:sp>
      <p:sp>
        <p:nvSpPr>
          <p:cNvPr id="41" name="s31-flow-path-3">
            <a:extLst xmlns:a="http://schemas.openxmlformats.org/drawingml/2006/main">
              <a:ext uri="{FF2B5EF4-FFF2-40B4-BE49-F238E27FC236}">
                <a16:creationId xmlns:a16="http://schemas.microsoft.com/office/drawing/2014/main" id="{49C08F3B-8059-471C-A148-A6BA036F1862}"/>
              </a:ext>
            </a:extLst>
          </p:cNvPr>
          <p:cNvSpPr>
            <a:spLocks xmlns:a="http://schemas.openxmlformats.org/drawingml/2006/main" noGrp="1"/>
          </p:cNvSpPr>
          <p:nvPr/>
        </p:nvSpPr>
        <p:spPr>
          <a:xfrm xmlns:a="http://schemas.openxmlformats.org/drawingml/2006/main">
            <a:off x="857250" y="4171950"/>
            <a:ext cx="5162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208" b="1">
                <a:solidFill>
                  <a:srgbClr val="2D6CDF"/>
                </a:solidFill>
                <a:latin typeface="Aptos"/>
                <a:ea typeface="Aptos"/>
                <a:cs typeface="Aptos"/>
              </a:defRPr>
            </a:pPr>
            <a:r>
              <a:rPr sz="1208" b="1">
                <a:solidFill>
                  <a:srgbClr val="2D6CDF"/>
                </a:solidFill>
                <a:latin typeface="Aptos"/>
                <a:ea typeface="Aptos"/>
                <a:cs typeface="Aptos"/>
              </a:rPr>
              <a:t>results/PitchRateLimiter_TestResults.csv + .mat</a:t>
            </a:r>
          </a:p>
        </p:txBody>
      </p:sp>
      <p:sp>
        <p:nvSpPr>
          <p:cNvPr id="42" name="s31-flow-role-3">
            <a:extLst xmlns:a="http://schemas.openxmlformats.org/drawingml/2006/main">
              <a:ext uri="{FF2B5EF4-FFF2-40B4-BE49-F238E27FC236}">
                <a16:creationId xmlns:a16="http://schemas.microsoft.com/office/drawing/2014/main" id="{5B900847-E050-40BB-B3E0-7461DBCA7B64}"/>
              </a:ext>
            </a:extLst>
          </p:cNvPr>
          <p:cNvSpPr>
            <a:spLocks xmlns:a="http://schemas.openxmlformats.org/drawingml/2006/main" noGrp="1"/>
          </p:cNvSpPr>
          <p:nvPr/>
        </p:nvSpPr>
        <p:spPr>
          <a:xfrm xmlns:a="http://schemas.openxmlformats.org/drawingml/2006/main">
            <a:off x="857250" y="4419600"/>
            <a:ext cx="5162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088" b="1">
                <a:solidFill>
                  <a:srgbClr val="17324A"/>
                </a:solidFill>
                <a:latin typeface="Aptos"/>
                <a:ea typeface="Aptos"/>
                <a:cs typeface="Aptos"/>
              </a:defRPr>
            </a:pPr>
            <a:r>
              <a:rPr sz="1088" b="1">
                <a:solidFill>
                  <a:srgbClr val="17324A"/>
                </a:solidFill>
                <a:latin typeface="Aptos"/>
                <a:ea typeface="Aptos"/>
                <a:cs typeface="Aptos"/>
              </a:rPr>
              <a:t>retained machine-readable results</a:t>
            </a:r>
          </a:p>
        </p:txBody>
      </p:sp>
      <p:sp>
        <p:nvSpPr>
          <p:cNvPr id="43" name="s31-flow-4">
            <a:extLst xmlns:a="http://schemas.openxmlformats.org/drawingml/2006/main">
              <a:ext uri="{FF2B5EF4-FFF2-40B4-BE49-F238E27FC236}">
                <a16:creationId xmlns:a16="http://schemas.microsoft.com/office/drawing/2014/main" id="{33566793-D39C-4323-B48A-99614664A797}"/>
              </a:ext>
            </a:extLst>
          </p:cNvPr>
          <p:cNvSpPr>
            <a:spLocks xmlns:a="http://schemas.openxmlformats.org/drawingml/2006/main" noGrp="1"/>
          </p:cNvSpPr>
          <p:nvPr/>
        </p:nvSpPr>
        <p:spPr>
          <a:xfrm xmlns:a="http://schemas.openxmlformats.org/drawingml/2006/main">
            <a:off x="685800" y="4981575"/>
            <a:ext cx="5505450" cy="628650"/>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14288">
            <a:solidFill>
              <a:srgbClr val="C9D8E3"/>
            </a:solidFill>
            <a:prstDash val="solid"/>
          </a:ln>
        </p:spPr>
      </p:sp>
      <p:sp>
        <p:nvSpPr>
          <p:cNvPr id="44" name="s31-flow-path-4">
            <a:extLst xmlns:a="http://schemas.openxmlformats.org/drawingml/2006/main">
              <a:ext uri="{FF2B5EF4-FFF2-40B4-BE49-F238E27FC236}">
                <a16:creationId xmlns:a16="http://schemas.microsoft.com/office/drawing/2014/main" id="{E73DC37D-6019-4F7B-86C5-DEA20B4167E9}"/>
              </a:ext>
            </a:extLst>
          </p:cNvPr>
          <p:cNvSpPr>
            <a:spLocks xmlns:a="http://schemas.openxmlformats.org/drawingml/2006/main" noGrp="1"/>
          </p:cNvSpPr>
          <p:nvPr/>
        </p:nvSpPr>
        <p:spPr>
          <a:xfrm xmlns:a="http://schemas.openxmlformats.org/drawingml/2006/main">
            <a:off x="857250" y="5048250"/>
            <a:ext cx="5162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208" b="1">
                <a:solidFill>
                  <a:srgbClr val="2D6CDF"/>
                </a:solidFill>
                <a:latin typeface="Aptos"/>
                <a:ea typeface="Aptos"/>
                <a:cs typeface="Aptos"/>
              </a:defRPr>
            </a:pPr>
            <a:r>
              <a:rPr sz="1208" b="1">
                <a:solidFill>
                  <a:srgbClr val="2D6CDF"/>
                </a:solidFill>
                <a:latin typeface="Aptos"/>
                <a:ea typeface="Aptos"/>
                <a:cs typeface="Aptos"/>
              </a:rPr>
              <a:t>reports/PitchRateLimiter_TestReport.html + .png</a:t>
            </a:r>
          </a:p>
        </p:txBody>
      </p:sp>
      <p:sp>
        <p:nvSpPr>
          <p:cNvPr id="45" name="s31-flow-role-4">
            <a:extLst xmlns:a="http://schemas.openxmlformats.org/drawingml/2006/main">
              <a:ext uri="{FF2B5EF4-FFF2-40B4-BE49-F238E27FC236}">
                <a16:creationId xmlns:a16="http://schemas.microsoft.com/office/drawing/2014/main" id="{E7A505E3-D01B-424F-A1E8-3E98F960F493}"/>
              </a:ext>
            </a:extLst>
          </p:cNvPr>
          <p:cNvSpPr>
            <a:spLocks xmlns:a="http://schemas.openxmlformats.org/drawingml/2006/main" noGrp="1"/>
          </p:cNvSpPr>
          <p:nvPr/>
        </p:nvSpPr>
        <p:spPr>
          <a:xfrm xmlns:a="http://schemas.openxmlformats.org/drawingml/2006/main">
            <a:off x="857250" y="5295900"/>
            <a:ext cx="5162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088" b="1">
                <a:solidFill>
                  <a:srgbClr val="17324A"/>
                </a:solidFill>
                <a:latin typeface="Aptos"/>
                <a:ea typeface="Aptos"/>
                <a:cs typeface="Aptos"/>
              </a:defRPr>
            </a:pPr>
            <a:r>
              <a:rPr sz="1088" b="1">
                <a:solidFill>
                  <a:srgbClr val="17324A"/>
                </a:solidFill>
                <a:latin typeface="Aptos"/>
                <a:ea typeface="Aptos"/>
                <a:cs typeface="Aptos"/>
              </a:rPr>
              <a:t>human-readable evidence report</a:t>
            </a:r>
          </a:p>
        </p:txBody>
      </p:sp>
      <p:sp>
        <p:nvSpPr>
          <p:cNvPr id="46" name="s31-component">
            <a:extLst xmlns:a="http://schemas.openxmlformats.org/drawingml/2006/main">
              <a:ext uri="{FF2B5EF4-FFF2-40B4-BE49-F238E27FC236}">
                <a16:creationId xmlns:a16="http://schemas.microsoft.com/office/drawing/2014/main" id="{3EC98C4C-089D-4DC9-BB3D-67C10B1FE790}"/>
              </a:ext>
            </a:extLst>
          </p:cNvPr>
          <p:cNvSpPr>
            <a:spLocks xmlns:a="http://schemas.openxmlformats.org/drawingml/2006/main" noGrp="1"/>
          </p:cNvSpPr>
          <p:nvPr/>
        </p:nvSpPr>
        <p:spPr>
          <a:xfrm xmlns:a="http://schemas.openxmlformats.org/drawingml/2006/main">
            <a:off x="6553200" y="2333625"/>
            <a:ext cx="4953000" cy="666750"/>
          </a:xfrm>
          <a:prstGeom xmlns:a="http://schemas.openxmlformats.org/drawingml/2006/main" prst="roundRect">
            <a:avLst>
              <a:gd name="adj" fmla="val 17143"/>
            </a:avLst>
          </a:prstGeom>
          <a:solidFill xmlns:a="http://schemas.openxmlformats.org/drawingml/2006/main">
            <a:srgbClr val="E2F4EA"/>
          </a:solidFill>
          <a:ln xmlns:a="http://schemas.openxmlformats.org/drawingml/2006/main" w="14288">
            <a:solidFill>
              <a:srgbClr val="2CA56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l">
              <a:defRPr sz="1238" b="1">
                <a:solidFill>
                  <a:srgbClr val="0B1F33"/>
                </a:solidFill>
                <a:latin typeface="Aptos"/>
                <a:ea typeface="Aptos"/>
                <a:cs typeface="Aptos"/>
              </a:defRPr>
            </a:pPr>
            <a:r>
              <a:rPr sz="1238" b="1">
                <a:solidFill>
                  <a:srgbClr val="0B1F33"/>
                </a:solidFill>
                <a:latin typeface="Aptos"/>
                <a:ea typeface="Aptos"/>
                <a:cs typeface="Aptos"/>
              </a:rPr>
              <a:t>└ references  models/PitchRateLimiter.slx</a:t>
            </a:r>
          </a:p>
          <a:p xmlns:a="http://schemas.openxmlformats.org/drawingml/2006/main">
            <a:pPr algn="l">
              <a:defRPr sz="1238" b="1">
                <a:solidFill>
                  <a:srgbClr val="0B1F33"/>
                </a:solidFill>
                <a:latin typeface="Aptos"/>
                <a:ea typeface="Aptos"/>
                <a:cs typeface="Aptos"/>
              </a:defRPr>
            </a:pPr>
            <a:r>
              <a:rPr sz="1238" b="1">
                <a:solidFill>
                  <a:srgbClr val="0B1F33"/>
                </a:solidFill>
                <a:latin typeface="Aptos"/>
                <a:ea typeface="Aptos"/>
                <a:cs typeface="Aptos"/>
              </a:rPr>
              <a:t>component implementation under test</a:t>
            </a:r>
          </a:p>
        </p:txBody>
      </p:sp>
      <p:sp>
        <p:nvSpPr>
          <p:cNvPr id="47" name="s31-trace">
            <a:extLst xmlns:a="http://schemas.openxmlformats.org/drawingml/2006/main">
              <a:ext uri="{FF2B5EF4-FFF2-40B4-BE49-F238E27FC236}">
                <a16:creationId xmlns:a16="http://schemas.microsoft.com/office/drawing/2014/main" id="{CD11BC40-8D4E-429D-837E-12B54818CF50}"/>
              </a:ext>
            </a:extLst>
          </p:cNvPr>
          <p:cNvSpPr>
            <a:spLocks xmlns:a="http://schemas.openxmlformats.org/drawingml/2006/main" noGrp="1"/>
          </p:cNvSpPr>
          <p:nvPr/>
        </p:nvSpPr>
        <p:spPr>
          <a:xfrm xmlns:a="http://schemas.openxmlformats.org/drawingml/2006/main">
            <a:off x="6553200" y="3209925"/>
            <a:ext cx="4953000" cy="666750"/>
          </a:xfrm>
          <a:prstGeom xmlns:a="http://schemas.openxmlformats.org/drawingml/2006/main" prst="roundRect">
            <a:avLst>
              <a:gd name="adj" fmla="val 17143"/>
            </a:avLst>
          </a:prstGeom>
          <a:solidFill xmlns:a="http://schemas.openxmlformats.org/drawingml/2006/main">
            <a:srgbClr val="E2ECFF"/>
          </a:solidFill>
          <a:ln xmlns:a="http://schemas.openxmlformats.org/drawingml/2006/main" w="14288">
            <a:solidFill>
              <a:srgbClr val="2D6CD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l">
              <a:defRPr sz="1200" b="1">
                <a:solidFill>
                  <a:srgbClr val="0B1F33"/>
                </a:solidFill>
                <a:latin typeface="Aptos"/>
                <a:ea typeface="Aptos"/>
                <a:cs typeface="Aptos"/>
              </a:defRPr>
            </a:pPr>
            <a:r>
              <a:rPr sz="1200" b="1">
                <a:solidFill>
                  <a:srgbClr val="0B1F33"/>
                </a:solidFill>
                <a:latin typeface="Aptos"/>
                <a:ea typeface="Aptos"/>
                <a:cs typeface="Aptos"/>
              </a:rPr>
              <a:t>↔  docs/PitchRateLimiter_Requirements_Traceability.csv</a:t>
            </a:r>
          </a:p>
          <a:p xmlns:a="http://schemas.openxmlformats.org/drawingml/2006/main">
            <a:pPr algn="l">
              <a:defRPr sz="1200" b="1">
                <a:solidFill>
                  <a:srgbClr val="0B1F33"/>
                </a:solidFill>
                <a:latin typeface="Aptos"/>
                <a:ea typeface="Aptos"/>
                <a:cs typeface="Aptos"/>
              </a:defRPr>
            </a:pPr>
            <a:r>
              <a:rPr sz="1200" b="1">
                <a:solidFill>
                  <a:srgbClr val="0B1F33"/>
                </a:solidFill>
                <a:latin typeface="Aptos"/>
                <a:ea typeface="Aptos"/>
                <a:cs typeface="Aptos"/>
              </a:rPr>
              <a:t>requirement-to-model/test association</a:t>
            </a:r>
          </a:p>
        </p:txBody>
      </p:sp>
      <p:sp>
        <p:nvSpPr>
          <p:cNvPr id="48" name="s31-roles">
            <a:extLst xmlns:a="http://schemas.openxmlformats.org/drawingml/2006/main">
              <a:ext uri="{FF2B5EF4-FFF2-40B4-BE49-F238E27FC236}">
                <a16:creationId xmlns:a16="http://schemas.microsoft.com/office/drawing/2014/main" id="{9B130294-D6EF-45C1-B05A-C508347D3EB0}"/>
              </a:ext>
            </a:extLst>
          </p:cNvPr>
          <p:cNvSpPr>
            <a:spLocks xmlns:a="http://schemas.openxmlformats.org/drawingml/2006/main" noGrp="1"/>
          </p:cNvSpPr>
          <p:nvPr/>
        </p:nvSpPr>
        <p:spPr>
          <a:xfrm xmlns:a="http://schemas.openxmlformats.org/drawingml/2006/main">
            <a:off x="6553200" y="4105275"/>
            <a:ext cx="4953000" cy="1504950"/>
          </a:xfrm>
          <a:prstGeom xmlns:a="http://schemas.openxmlformats.org/drawingml/2006/main" prst="roundRect">
            <a:avLst>
              <a:gd name="adj" fmla="val 7595"/>
            </a:avLst>
          </a:prstGeom>
          <a:solidFill xmlns:a="http://schemas.openxmlformats.org/drawingml/2006/main">
            <a:srgbClr val="0B243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l">
              <a:defRPr sz="1230" b="1">
                <a:solidFill>
                  <a:srgbClr val="FFFFFF"/>
                </a:solidFill>
                <a:latin typeface="Aptos"/>
                <a:ea typeface="Aptos"/>
                <a:cs typeface="Aptos"/>
              </a:defRPr>
            </a:pPr>
            <a:r>
              <a:rPr sz="1230" b="1">
                <a:solidFill>
                  <a:srgbClr val="FFFFFF"/>
                </a:solidFill>
                <a:latin typeface="Aptos"/>
                <a:ea typeface="Aptos"/>
                <a:cs typeface="Aptos"/>
              </a:rPr>
              <a:t>HARNESS ≠ COMPONENT ≠ DRIVER ≠ REQUIREMENTS ≠ RESULTS ≠ REPORT</a:t>
            </a:r>
          </a:p>
          <a:p xmlns:a="http://schemas.openxmlformats.org/drawingml/2006/main">
            <a:r>
              <a:t/>
            </a:r>
          </a:p>
          <a:p xmlns:a="http://schemas.openxmlformats.org/drawingml/2006/main">
            <a:pPr algn="l">
              <a:defRPr sz="1230" b="1">
                <a:solidFill>
                  <a:srgbClr val="FFFFFF"/>
                </a:solidFill>
                <a:latin typeface="Aptos"/>
                <a:ea typeface="Aptos"/>
                <a:cs typeface="Aptos"/>
              </a:defRPr>
            </a:pPr>
            <a:r>
              <a:rPr sz="1230" b="1">
                <a:solidFill>
                  <a:srgbClr val="FFFFFF"/>
                </a:solidFill>
                <a:latin typeface="Aptos"/>
                <a:ea typeface="Aptos"/>
                <a:cs typeface="Aptos"/>
              </a:rPr>
              <a:t>The two retained .mldatx files are SDI view/session artifacts. No Simulink Test or Test Manager test-suite .mldatx file is claimed.</a:t>
            </a:r>
          </a:p>
        </p:txBody>
      </p:sp>
      <p:sp>
        <p:nvSpPr>
          <p:cNvPr id="49" name="s31-env">
            <a:extLst xmlns:a="http://schemas.openxmlformats.org/drawingml/2006/main">
              <a:ext uri="{FF2B5EF4-FFF2-40B4-BE49-F238E27FC236}">
                <a16:creationId xmlns:a16="http://schemas.microsoft.com/office/drawing/2014/main" id="{06E23B09-4703-4AD7-9070-0A95685943DE}"/>
              </a:ext>
            </a:extLst>
          </p:cNvPr>
          <p:cNvSpPr>
            <a:spLocks xmlns:a="http://schemas.openxmlformats.org/drawingml/2006/main" noGrp="1"/>
          </p:cNvSpPr>
          <p:nvPr/>
        </p:nvSpPr>
        <p:spPr>
          <a:xfrm xmlns:a="http://schemas.openxmlformats.org/drawingml/2006/main">
            <a:off x="685800" y="5829300"/>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275" b="1">
                <a:solidFill>
                  <a:srgbClr val="20B7C5"/>
                </a:solidFill>
                <a:latin typeface="Aptos"/>
                <a:ea typeface="Aptos"/>
                <a:cs typeface="Aptos"/>
              </a:defRPr>
            </a:pPr>
            <a:r>
              <a:rPr sz="1275" b="1">
                <a:solidFill>
                  <a:srgbClr val="20B7C5"/>
                </a:solidFill>
                <a:latin typeface="Aptos"/>
                <a:ea typeface="Aptos"/>
                <a:cs typeface="Aptos"/>
              </a:rPr>
              <a:t>Desktop Simulink model execution (MIL); not SIL, PIL, or HIL.</a:t>
            </a:r>
          </a:p>
        </p:txBody>
      </p:sp>
    </p:spTree>
    <p:extLst>
      <p:ext uri="{BB962C8B-B14F-4D97-AF65-F5344CB8AC3E}">
        <p14:creationId xmlns:p14="http://schemas.microsoft.com/office/powerpoint/2010/main" val="445827379"/>
      </p:ext>
    </p:extLst>
  </p:cSld>
</p:sld>
</file>

<file path=ppt/slides/slide32.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355">
            <a:extLst xmlns:a="http://schemas.openxmlformats.org/drawingml/2006/main">
              <a:ext uri="{FF2B5EF4-FFF2-40B4-BE49-F238E27FC236}">
                <a16:creationId xmlns:a16="http://schemas.microsoft.com/office/drawing/2014/main" id="{DB8C1F3E-7FF8-432F-A4F0-99480ED39CD7}"/>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06 • VERIFICATION WORKFLOW</a:t>
            </a:r>
          </a:p>
        </p:txBody>
      </p:sp>
      <p:sp>
        <p:nvSpPr>
          <p:cNvPr id="2" name="title-355">
            <a:extLst xmlns:a="http://schemas.openxmlformats.org/drawingml/2006/main">
              <a:ext uri="{FF2B5EF4-FFF2-40B4-BE49-F238E27FC236}">
                <a16:creationId xmlns:a16="http://schemas.microsoft.com/office/drawing/2014/main" id="{974343D5-E23C-4F68-A772-6AD975F804CB}"/>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850" b="1" i="0">
                <a:solidFill>
                  <a:srgbClr val="0B1F33"/>
                </a:solidFill>
                <a:latin typeface="Aptos"/>
                <a:ea typeface="Aptos"/>
                <a:cs typeface="Aptos"/>
              </a:defRPr>
            </a:pPr>
            <a:r>
              <a:rPr sz="2850" b="1" i="0">
                <a:solidFill>
                  <a:srgbClr val="0B1F33"/>
                </a:solidFill>
                <a:latin typeface="Aptos"/>
                <a:ea typeface="Aptos"/>
                <a:cs typeface="Aptos"/>
              </a:rPr>
              <a:t>Strong tests target boundaries, modes, failures, and timing</a:t>
            </a:r>
          </a:p>
        </p:txBody>
      </p:sp>
      <p:sp>
        <p:nvSpPr>
          <p:cNvPr id="3" name="line-356">
            <a:extLst xmlns:a="http://schemas.openxmlformats.org/drawingml/2006/main">
              <a:ext uri="{FF2B5EF4-FFF2-40B4-BE49-F238E27FC236}">
                <a16:creationId xmlns:a16="http://schemas.microsoft.com/office/drawing/2014/main" id="{6AB2B0E1-B75D-400B-B852-C133150A86D6}"/>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357">
            <a:extLst xmlns:a="http://schemas.openxmlformats.org/drawingml/2006/main">
              <a:ext uri="{FF2B5EF4-FFF2-40B4-BE49-F238E27FC236}">
                <a16:creationId xmlns:a16="http://schemas.microsoft.com/office/drawing/2014/main" id="{72CA5A8E-704A-448D-B2F2-E2F5A146D05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358">
            <a:extLst xmlns:a="http://schemas.openxmlformats.org/drawingml/2006/main">
              <a:ext uri="{FF2B5EF4-FFF2-40B4-BE49-F238E27FC236}">
                <a16:creationId xmlns:a16="http://schemas.microsoft.com/office/drawing/2014/main" id="{83C1283D-B5EA-4795-8AAB-22B72A0A0DF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32</a:t>
            </a:r>
          </a:p>
        </p:txBody>
      </p:sp>
      <p:sp>
        <p:nvSpPr>
          <p:cNvPr id="6" name="text-359">
            <a:extLst xmlns:a="http://schemas.openxmlformats.org/drawingml/2006/main">
              <a:ext uri="{FF2B5EF4-FFF2-40B4-BE49-F238E27FC236}">
                <a16:creationId xmlns:a16="http://schemas.microsoft.com/office/drawing/2014/main" id="{F5C97437-57C1-447F-A551-06101A8D2713}"/>
              </a:ext>
            </a:extLst>
          </p:cNvPr>
          <p:cNvSpPr>
            <a:spLocks xmlns:a="http://schemas.openxmlformats.org/drawingml/2006/main" noGrp="1"/>
          </p:cNvSpPr>
          <p:nvPr/>
        </p:nvSpPr>
        <p:spPr>
          <a:xfrm xmlns:a="http://schemas.openxmlformats.org/drawingml/2006/main">
            <a:off x="742950" y="1485900"/>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TEST CLASS</a:t>
            </a:r>
          </a:p>
        </p:txBody>
      </p:sp>
      <p:sp>
        <p:nvSpPr>
          <p:cNvPr id="7" name="text-360">
            <a:extLst xmlns:a="http://schemas.openxmlformats.org/drawingml/2006/main">
              <a:ext uri="{FF2B5EF4-FFF2-40B4-BE49-F238E27FC236}">
                <a16:creationId xmlns:a16="http://schemas.microsoft.com/office/drawing/2014/main" id="{F03822A9-7F78-4C4A-86F8-2FE972663EB9}"/>
              </a:ext>
            </a:extLst>
          </p:cNvPr>
          <p:cNvSpPr>
            <a:spLocks xmlns:a="http://schemas.openxmlformats.org/drawingml/2006/main" noGrp="1"/>
          </p:cNvSpPr>
          <p:nvPr/>
        </p:nvSpPr>
        <p:spPr>
          <a:xfrm xmlns:a="http://schemas.openxmlformats.org/drawingml/2006/main">
            <a:off x="3238500" y="14859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PITCH-RATE-LIMITER EXAMPLE</a:t>
            </a:r>
          </a:p>
        </p:txBody>
      </p:sp>
      <p:sp>
        <p:nvSpPr>
          <p:cNvPr id="8" name="text-361">
            <a:extLst xmlns:a="http://schemas.openxmlformats.org/drawingml/2006/main">
              <a:ext uri="{FF2B5EF4-FFF2-40B4-BE49-F238E27FC236}">
                <a16:creationId xmlns:a16="http://schemas.microsoft.com/office/drawing/2014/main" id="{A21A986A-CE2F-4BC0-86DA-B22605B5C06F}"/>
              </a:ext>
            </a:extLst>
          </p:cNvPr>
          <p:cNvSpPr>
            <a:spLocks xmlns:a="http://schemas.openxmlformats.org/drawingml/2006/main" noGrp="1"/>
          </p:cNvSpPr>
          <p:nvPr/>
        </p:nvSpPr>
        <p:spPr>
          <a:xfrm xmlns:a="http://schemas.openxmlformats.org/drawingml/2006/main">
            <a:off x="8572500" y="14859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WHAT IT PROVES</a:t>
            </a:r>
          </a:p>
        </p:txBody>
      </p:sp>
      <p:sp>
        <p:nvSpPr>
          <p:cNvPr id="9" name="box-362">
            <a:extLst xmlns:a="http://schemas.openxmlformats.org/drawingml/2006/main">
              <a:ext uri="{FF2B5EF4-FFF2-40B4-BE49-F238E27FC236}">
                <a16:creationId xmlns:a16="http://schemas.microsoft.com/office/drawing/2014/main" id="{32FEF9A1-25E1-42F6-A659-3A9226E08991}"/>
              </a:ext>
            </a:extLst>
          </p:cNvPr>
          <p:cNvSpPr>
            <a:spLocks xmlns:a="http://schemas.openxmlformats.org/drawingml/2006/main" noGrp="1"/>
          </p:cNvSpPr>
          <p:nvPr/>
        </p:nvSpPr>
        <p:spPr>
          <a:xfrm xmlns:a="http://schemas.openxmlformats.org/drawingml/2006/main">
            <a:off x="742950" y="1885950"/>
            <a:ext cx="1809750" cy="533400"/>
          </a:xfrm>
          <a:prstGeom xmlns:a="http://schemas.openxmlformats.org/drawingml/2006/main" prst="roundRect">
            <a:avLst>
              <a:gd name="adj" fmla="val 12500"/>
            </a:avLst>
          </a:prstGeom>
          <a:solidFill xmlns:a="http://schemas.openxmlformats.org/drawingml/2006/main">
            <a:srgbClr val="2D6CDF"/>
          </a:solidFill>
          <a:ln xmlns:a="http://schemas.openxmlformats.org/drawingml/2006/main" w="9525">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Nominal</a:t>
            </a:r>
          </a:p>
        </p:txBody>
      </p:sp>
      <p:sp>
        <p:nvSpPr>
          <p:cNvPr id="10" name="text-363">
            <a:extLst xmlns:a="http://schemas.openxmlformats.org/drawingml/2006/main">
              <a:ext uri="{FF2B5EF4-FFF2-40B4-BE49-F238E27FC236}">
                <a16:creationId xmlns:a16="http://schemas.microsoft.com/office/drawing/2014/main" id="{05803DF9-E0D2-433B-8BBB-6D7AEF4EF235}"/>
              </a:ext>
            </a:extLst>
          </p:cNvPr>
          <p:cNvSpPr>
            <a:spLocks xmlns:a="http://schemas.openxmlformats.org/drawingml/2006/main" noGrp="1"/>
          </p:cNvSpPr>
          <p:nvPr/>
        </p:nvSpPr>
        <p:spPr>
          <a:xfrm xmlns:a="http://schemas.openxmlformats.org/drawingml/2006/main">
            <a:off x="3238500" y="1885950"/>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75" b="0" i="0">
                <a:solidFill>
                  <a:srgbClr val="0B1F33"/>
                </a:solidFill>
                <a:latin typeface="Aptos"/>
                <a:ea typeface="Aptos"/>
                <a:cs typeface="Aptos"/>
              </a:defRPr>
            </a:pPr>
            <a:r>
              <a:rPr sz="1575" b="0" i="0">
                <a:solidFill>
                  <a:srgbClr val="0B1F33"/>
                </a:solidFill>
                <a:latin typeface="Aptos"/>
                <a:ea typeface="Aptos"/>
                <a:cs typeface="Aptos"/>
              </a:rPr>
              <a:t>q_cmd = +5.0 → +5.0 deg/s</a:t>
            </a:r>
          </a:p>
        </p:txBody>
      </p:sp>
      <p:sp>
        <p:nvSpPr>
          <p:cNvPr id="11" name="text-364">
            <a:extLst xmlns:a="http://schemas.openxmlformats.org/drawingml/2006/main">
              <a:ext uri="{FF2B5EF4-FFF2-40B4-BE49-F238E27FC236}">
                <a16:creationId xmlns:a16="http://schemas.microsoft.com/office/drawing/2014/main" id="{7E05D41F-7B19-405E-B94A-FFB20BFE4F80}"/>
              </a:ext>
            </a:extLst>
          </p:cNvPr>
          <p:cNvSpPr>
            <a:spLocks xmlns:a="http://schemas.openxmlformats.org/drawingml/2006/main" noGrp="1"/>
          </p:cNvSpPr>
          <p:nvPr/>
        </p:nvSpPr>
        <p:spPr>
          <a:xfrm xmlns:a="http://schemas.openxmlformats.org/drawingml/2006/main">
            <a:off x="8572500" y="1885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no unnecessary modification</a:t>
            </a:r>
          </a:p>
        </p:txBody>
      </p:sp>
      <p:sp>
        <p:nvSpPr>
          <p:cNvPr id="12" name="line-365">
            <a:extLst xmlns:a="http://schemas.openxmlformats.org/drawingml/2006/main">
              <a:ext uri="{FF2B5EF4-FFF2-40B4-BE49-F238E27FC236}">
                <a16:creationId xmlns:a16="http://schemas.microsoft.com/office/drawing/2014/main" id="{F9BAF144-06CD-461E-8918-904E75CF9F21}"/>
              </a:ext>
            </a:extLst>
          </p:cNvPr>
          <p:cNvSpPr>
            <a:spLocks xmlns:a="http://schemas.openxmlformats.org/drawingml/2006/main" noGrp="1"/>
          </p:cNvSpPr>
          <p:nvPr/>
        </p:nvSpPr>
        <p:spPr>
          <a:xfrm xmlns:a="http://schemas.openxmlformats.org/drawingml/2006/main">
            <a:off x="685800" y="25146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13" name="box-366">
            <a:extLst xmlns:a="http://schemas.openxmlformats.org/drawingml/2006/main">
              <a:ext uri="{FF2B5EF4-FFF2-40B4-BE49-F238E27FC236}">
                <a16:creationId xmlns:a16="http://schemas.microsoft.com/office/drawing/2014/main" id="{26065905-5C87-400A-A25C-D42F573BF575}"/>
              </a:ext>
            </a:extLst>
          </p:cNvPr>
          <p:cNvSpPr>
            <a:spLocks xmlns:a="http://schemas.openxmlformats.org/drawingml/2006/main" noGrp="1"/>
          </p:cNvSpPr>
          <p:nvPr/>
        </p:nvSpPr>
        <p:spPr>
          <a:xfrm xmlns:a="http://schemas.openxmlformats.org/drawingml/2006/main">
            <a:off x="742950" y="2647950"/>
            <a:ext cx="1809750" cy="533400"/>
          </a:xfrm>
          <a:prstGeom xmlns:a="http://schemas.openxmlformats.org/drawingml/2006/main" prst="roundRect">
            <a:avLst>
              <a:gd name="adj" fmla="val 12500"/>
            </a:avLst>
          </a:prstGeom>
          <a:solidFill xmlns:a="http://schemas.openxmlformats.org/drawingml/2006/main">
            <a:srgbClr val="20B7C5"/>
          </a:solidFill>
          <a:ln xmlns:a="http://schemas.openxmlformats.org/drawingml/2006/main" w="952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Boundary</a:t>
            </a:r>
          </a:p>
        </p:txBody>
      </p:sp>
      <p:sp>
        <p:nvSpPr>
          <p:cNvPr id="14" name="text-367">
            <a:extLst xmlns:a="http://schemas.openxmlformats.org/drawingml/2006/main">
              <a:ext uri="{FF2B5EF4-FFF2-40B4-BE49-F238E27FC236}">
                <a16:creationId xmlns:a16="http://schemas.microsoft.com/office/drawing/2014/main" id="{1773B375-37A0-49EB-BB0B-DBD52B61D849}"/>
              </a:ext>
            </a:extLst>
          </p:cNvPr>
          <p:cNvSpPr>
            <a:spLocks xmlns:a="http://schemas.openxmlformats.org/drawingml/2006/main" noGrp="1"/>
          </p:cNvSpPr>
          <p:nvPr/>
        </p:nvSpPr>
        <p:spPr>
          <a:xfrm xmlns:a="http://schemas.openxmlformats.org/drawingml/2006/main">
            <a:off x="3238500" y="2647950"/>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75" b="0" i="0">
                <a:solidFill>
                  <a:srgbClr val="0B1F33"/>
                </a:solidFill>
                <a:latin typeface="Aptos"/>
                <a:ea typeface="Aptos"/>
                <a:cs typeface="Aptos"/>
              </a:defRPr>
            </a:pPr>
            <a:r>
              <a:rPr sz="1575" b="0" i="0">
                <a:solidFill>
                  <a:srgbClr val="0B1F33"/>
                </a:solidFill>
                <a:latin typeface="Aptos"/>
                <a:ea typeface="Aptos"/>
                <a:cs typeface="Aptos"/>
              </a:rPr>
              <a:t>−12.0 and +12.0 → unchanged</a:t>
            </a:r>
          </a:p>
        </p:txBody>
      </p:sp>
      <p:sp>
        <p:nvSpPr>
          <p:cNvPr id="15" name="text-368">
            <a:extLst xmlns:a="http://schemas.openxmlformats.org/drawingml/2006/main">
              <a:ext uri="{FF2B5EF4-FFF2-40B4-BE49-F238E27FC236}">
                <a16:creationId xmlns:a16="http://schemas.microsoft.com/office/drawing/2014/main" id="{3E114649-18FE-4B05-9F7A-8D1B3FCDE5F3}"/>
              </a:ext>
            </a:extLst>
          </p:cNvPr>
          <p:cNvSpPr>
            <a:spLocks xmlns:a="http://schemas.openxmlformats.org/drawingml/2006/main" noGrp="1"/>
          </p:cNvSpPr>
          <p:nvPr/>
        </p:nvSpPr>
        <p:spPr>
          <a:xfrm xmlns:a="http://schemas.openxmlformats.org/drawingml/2006/main">
            <a:off x="8572500" y="2647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inclusive limits</a:t>
            </a:r>
          </a:p>
        </p:txBody>
      </p:sp>
      <p:sp>
        <p:nvSpPr>
          <p:cNvPr id="16" name="line-369">
            <a:extLst xmlns:a="http://schemas.openxmlformats.org/drawingml/2006/main">
              <a:ext uri="{FF2B5EF4-FFF2-40B4-BE49-F238E27FC236}">
                <a16:creationId xmlns:a16="http://schemas.microsoft.com/office/drawing/2014/main" id="{61B573A7-07B1-4B3C-8412-C8EF11D88B7E}"/>
              </a:ext>
            </a:extLst>
          </p:cNvPr>
          <p:cNvSpPr>
            <a:spLocks xmlns:a="http://schemas.openxmlformats.org/drawingml/2006/main" noGrp="1"/>
          </p:cNvSpPr>
          <p:nvPr/>
        </p:nvSpPr>
        <p:spPr>
          <a:xfrm xmlns:a="http://schemas.openxmlformats.org/drawingml/2006/main">
            <a:off x="685800" y="32766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17" name="box-370">
            <a:extLst xmlns:a="http://schemas.openxmlformats.org/drawingml/2006/main">
              <a:ext uri="{FF2B5EF4-FFF2-40B4-BE49-F238E27FC236}">
                <a16:creationId xmlns:a16="http://schemas.microsoft.com/office/drawing/2014/main" id="{6782CBEC-E726-4D2D-931D-2CAC15E3EBDB}"/>
              </a:ext>
            </a:extLst>
          </p:cNvPr>
          <p:cNvSpPr>
            <a:spLocks xmlns:a="http://schemas.openxmlformats.org/drawingml/2006/main" noGrp="1"/>
          </p:cNvSpPr>
          <p:nvPr/>
        </p:nvSpPr>
        <p:spPr>
          <a:xfrm xmlns:a="http://schemas.openxmlformats.org/drawingml/2006/main">
            <a:off x="742950" y="3409950"/>
            <a:ext cx="1809750" cy="533400"/>
          </a:xfrm>
          <a:prstGeom xmlns:a="http://schemas.openxmlformats.org/drawingml/2006/main" prst="roundRect">
            <a:avLst>
              <a:gd name="adj" fmla="val 12500"/>
            </a:avLst>
          </a:prstGeom>
          <a:solidFill xmlns:a="http://schemas.openxmlformats.org/drawingml/2006/main">
            <a:srgbClr val="E9A23B"/>
          </a:solidFill>
          <a:ln xmlns:a="http://schemas.openxmlformats.org/drawingml/2006/main" w="9525">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Just outside</a:t>
            </a:r>
          </a:p>
        </p:txBody>
      </p:sp>
      <p:sp>
        <p:nvSpPr>
          <p:cNvPr id="18" name="text-371">
            <a:extLst xmlns:a="http://schemas.openxmlformats.org/drawingml/2006/main">
              <a:ext uri="{FF2B5EF4-FFF2-40B4-BE49-F238E27FC236}">
                <a16:creationId xmlns:a16="http://schemas.microsoft.com/office/drawing/2014/main" id="{4EE8A224-85E6-4B27-B67C-51A385EBF459}"/>
              </a:ext>
            </a:extLst>
          </p:cNvPr>
          <p:cNvSpPr>
            <a:spLocks xmlns:a="http://schemas.openxmlformats.org/drawingml/2006/main" noGrp="1"/>
          </p:cNvSpPr>
          <p:nvPr/>
        </p:nvSpPr>
        <p:spPr>
          <a:xfrm xmlns:a="http://schemas.openxmlformats.org/drawingml/2006/main">
            <a:off x="3238500" y="3409950"/>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75" b="0" i="0">
                <a:solidFill>
                  <a:srgbClr val="0B1F33"/>
                </a:solidFill>
                <a:latin typeface="Aptos"/>
                <a:ea typeface="Aptos"/>
                <a:cs typeface="Aptos"/>
              </a:defRPr>
            </a:pPr>
            <a:r>
              <a:rPr sz="1575" b="0" i="0">
                <a:solidFill>
                  <a:srgbClr val="0B1F33"/>
                </a:solidFill>
                <a:latin typeface="Aptos"/>
                <a:ea typeface="Aptos"/>
                <a:cs typeface="Aptos"/>
              </a:rPr>
              <a:t>−12.1 → −12.0; +12.1 → +12.0</a:t>
            </a:r>
          </a:p>
        </p:txBody>
      </p:sp>
      <p:sp>
        <p:nvSpPr>
          <p:cNvPr id="19" name="text-372">
            <a:extLst xmlns:a="http://schemas.openxmlformats.org/drawingml/2006/main">
              <a:ext uri="{FF2B5EF4-FFF2-40B4-BE49-F238E27FC236}">
                <a16:creationId xmlns:a16="http://schemas.microsoft.com/office/drawing/2014/main" id="{87EC0183-EA91-40B1-8269-476A500EEB87}"/>
              </a:ext>
            </a:extLst>
          </p:cNvPr>
          <p:cNvSpPr>
            <a:spLocks xmlns:a="http://schemas.openxmlformats.org/drawingml/2006/main" noGrp="1"/>
          </p:cNvSpPr>
          <p:nvPr/>
        </p:nvSpPr>
        <p:spPr>
          <a:xfrm xmlns:a="http://schemas.openxmlformats.org/drawingml/2006/main">
            <a:off x="8572500" y="3409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correct clamping</a:t>
            </a:r>
          </a:p>
        </p:txBody>
      </p:sp>
      <p:sp>
        <p:nvSpPr>
          <p:cNvPr id="20" name="line-373">
            <a:extLst xmlns:a="http://schemas.openxmlformats.org/drawingml/2006/main">
              <a:ext uri="{FF2B5EF4-FFF2-40B4-BE49-F238E27FC236}">
                <a16:creationId xmlns:a16="http://schemas.microsoft.com/office/drawing/2014/main" id="{C7F237EE-443F-4605-AED9-74823232B23A}"/>
              </a:ext>
            </a:extLst>
          </p:cNvPr>
          <p:cNvSpPr>
            <a:spLocks xmlns:a="http://schemas.openxmlformats.org/drawingml/2006/main" noGrp="1"/>
          </p:cNvSpPr>
          <p:nvPr/>
        </p:nvSpPr>
        <p:spPr>
          <a:xfrm xmlns:a="http://schemas.openxmlformats.org/drawingml/2006/main">
            <a:off x="685800" y="40386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1" name="box-374">
            <a:extLst xmlns:a="http://schemas.openxmlformats.org/drawingml/2006/main">
              <a:ext uri="{FF2B5EF4-FFF2-40B4-BE49-F238E27FC236}">
                <a16:creationId xmlns:a16="http://schemas.microsoft.com/office/drawing/2014/main" id="{7F0353DD-18E6-4F86-B554-0ADF2ADAD0EC}"/>
              </a:ext>
            </a:extLst>
          </p:cNvPr>
          <p:cNvSpPr>
            <a:spLocks xmlns:a="http://schemas.openxmlformats.org/drawingml/2006/main" noGrp="1"/>
          </p:cNvSpPr>
          <p:nvPr/>
        </p:nvSpPr>
        <p:spPr>
          <a:xfrm xmlns:a="http://schemas.openxmlformats.org/drawingml/2006/main">
            <a:off x="742950" y="4171950"/>
            <a:ext cx="1809750" cy="533400"/>
          </a:xfrm>
          <a:prstGeom xmlns:a="http://schemas.openxmlformats.org/drawingml/2006/main" prst="roundRect">
            <a:avLst>
              <a:gd name="adj" fmla="val 12500"/>
            </a:avLst>
          </a:prstGeom>
          <a:solidFill xmlns:a="http://schemas.openxmlformats.org/drawingml/2006/main">
            <a:srgbClr val="D75A64"/>
          </a:solidFill>
          <a:ln xmlns:a="http://schemas.openxmlformats.org/drawingml/2006/main" w="9525">
            <a:solidFill>
              <a:srgbClr val="D75A64"/>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Mode / invalid</a:t>
            </a:r>
          </a:p>
        </p:txBody>
      </p:sp>
      <p:sp>
        <p:nvSpPr>
          <p:cNvPr id="22" name="text-375">
            <a:extLst xmlns:a="http://schemas.openxmlformats.org/drawingml/2006/main">
              <a:ext uri="{FF2B5EF4-FFF2-40B4-BE49-F238E27FC236}">
                <a16:creationId xmlns:a16="http://schemas.microsoft.com/office/drawing/2014/main" id="{194C0AF4-8A70-4CCC-ABFB-928E6AFD80EE}"/>
              </a:ext>
            </a:extLst>
          </p:cNvPr>
          <p:cNvSpPr>
            <a:spLocks xmlns:a="http://schemas.openxmlformats.org/drawingml/2006/main" noGrp="1"/>
          </p:cNvSpPr>
          <p:nvPr/>
        </p:nvSpPr>
        <p:spPr>
          <a:xfrm xmlns:a="http://schemas.openxmlformats.org/drawingml/2006/main">
            <a:off x="3238500" y="4171950"/>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75" b="0" i="0">
                <a:solidFill>
                  <a:srgbClr val="0B1F33"/>
                </a:solidFill>
                <a:latin typeface="Aptos"/>
                <a:ea typeface="Aptos"/>
                <a:cs typeface="Aptos"/>
              </a:defRPr>
            </a:pPr>
            <a:r>
              <a:rPr sz="1575" b="0" i="0">
                <a:solidFill>
                  <a:srgbClr val="0B1F33"/>
                </a:solidFill>
                <a:latin typeface="Aptos"/>
                <a:ea typeface="Aptos"/>
                <a:cs typeface="Aptos"/>
              </a:rPr>
              <a:t>Normal false or input invalid → specified fallback</a:t>
            </a:r>
          </a:p>
        </p:txBody>
      </p:sp>
      <p:sp>
        <p:nvSpPr>
          <p:cNvPr id="23" name="text-376">
            <a:extLst xmlns:a="http://schemas.openxmlformats.org/drawingml/2006/main">
              <a:ext uri="{FF2B5EF4-FFF2-40B4-BE49-F238E27FC236}">
                <a16:creationId xmlns:a16="http://schemas.microsoft.com/office/drawing/2014/main" id="{7904C25D-65A9-47EE-ADF8-637D0E75B0AB}"/>
              </a:ext>
            </a:extLst>
          </p:cNvPr>
          <p:cNvSpPr>
            <a:spLocks xmlns:a="http://schemas.openxmlformats.org/drawingml/2006/main" noGrp="1"/>
          </p:cNvSpPr>
          <p:nvPr/>
        </p:nvSpPr>
        <p:spPr>
          <a:xfrm xmlns:a="http://schemas.openxmlformats.org/drawingml/2006/main">
            <a:off x="8572500" y="4171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guard and degraded behavior</a:t>
            </a:r>
          </a:p>
        </p:txBody>
      </p:sp>
      <p:sp>
        <p:nvSpPr>
          <p:cNvPr id="24" name="line-377">
            <a:extLst xmlns:a="http://schemas.openxmlformats.org/drawingml/2006/main">
              <a:ext uri="{FF2B5EF4-FFF2-40B4-BE49-F238E27FC236}">
                <a16:creationId xmlns:a16="http://schemas.microsoft.com/office/drawing/2014/main" id="{30247D1C-45CC-40EF-8010-EA3AD51CECDA}"/>
              </a:ext>
            </a:extLst>
          </p:cNvPr>
          <p:cNvSpPr>
            <a:spLocks xmlns:a="http://schemas.openxmlformats.org/drawingml/2006/main" noGrp="1"/>
          </p:cNvSpPr>
          <p:nvPr/>
        </p:nvSpPr>
        <p:spPr>
          <a:xfrm xmlns:a="http://schemas.openxmlformats.org/drawingml/2006/main">
            <a:off x="685800" y="48006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5" name="box-378">
            <a:extLst xmlns:a="http://schemas.openxmlformats.org/drawingml/2006/main">
              <a:ext uri="{FF2B5EF4-FFF2-40B4-BE49-F238E27FC236}">
                <a16:creationId xmlns:a16="http://schemas.microsoft.com/office/drawing/2014/main" id="{CE099581-F51A-45BF-B951-23CA5940A1CF}"/>
              </a:ext>
            </a:extLst>
          </p:cNvPr>
          <p:cNvSpPr>
            <a:spLocks xmlns:a="http://schemas.openxmlformats.org/drawingml/2006/main" noGrp="1"/>
          </p:cNvSpPr>
          <p:nvPr/>
        </p:nvSpPr>
        <p:spPr>
          <a:xfrm xmlns:a="http://schemas.openxmlformats.org/drawingml/2006/main">
            <a:off x="742950" y="4933950"/>
            <a:ext cx="1809750" cy="533400"/>
          </a:xfrm>
          <a:prstGeom xmlns:a="http://schemas.openxmlformats.org/drawingml/2006/main" prst="roundRect">
            <a:avLst>
              <a:gd name="adj" fmla="val 12500"/>
            </a:avLst>
          </a:prstGeom>
          <a:solidFill xmlns:a="http://schemas.openxmlformats.org/drawingml/2006/main">
            <a:srgbClr val="2CA56F"/>
          </a:solidFill>
          <a:ln xmlns:a="http://schemas.openxmlformats.org/drawingml/2006/main" w="9525">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Timing</a:t>
            </a:r>
          </a:p>
        </p:txBody>
      </p:sp>
      <p:sp>
        <p:nvSpPr>
          <p:cNvPr id="26" name="text-379">
            <a:extLst xmlns:a="http://schemas.openxmlformats.org/drawingml/2006/main">
              <a:ext uri="{FF2B5EF4-FFF2-40B4-BE49-F238E27FC236}">
                <a16:creationId xmlns:a16="http://schemas.microsoft.com/office/drawing/2014/main" id="{D3D34DDF-F0B0-4375-9013-AB497AEB4135}"/>
              </a:ext>
            </a:extLst>
          </p:cNvPr>
          <p:cNvSpPr>
            <a:spLocks xmlns:a="http://schemas.openxmlformats.org/drawingml/2006/main" noGrp="1"/>
          </p:cNvSpPr>
          <p:nvPr/>
        </p:nvSpPr>
        <p:spPr>
          <a:xfrm xmlns:a="http://schemas.openxmlformats.org/drawingml/2006/main">
            <a:off x="3238500" y="4933950"/>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75" b="0" i="0">
                <a:solidFill>
                  <a:srgbClr val="0B1F33"/>
                </a:solidFill>
                <a:latin typeface="Aptos"/>
                <a:ea typeface="Aptos"/>
                <a:cs typeface="Aptos"/>
              </a:defRPr>
            </a:pPr>
            <a:r>
              <a:rPr sz="1575" b="0" i="0">
                <a:solidFill>
                  <a:srgbClr val="0B1F33"/>
                </a:solidFill>
                <a:latin typeface="Aptos"/>
                <a:ea typeface="Aptos"/>
                <a:cs typeface="Aptos"/>
              </a:rPr>
              <a:t>step and transient inputs at 50 Hz</a:t>
            </a:r>
          </a:p>
        </p:txBody>
      </p:sp>
      <p:sp>
        <p:nvSpPr>
          <p:cNvPr id="27" name="text-380">
            <a:extLst xmlns:a="http://schemas.openxmlformats.org/drawingml/2006/main">
              <a:ext uri="{FF2B5EF4-FFF2-40B4-BE49-F238E27FC236}">
                <a16:creationId xmlns:a16="http://schemas.microsoft.com/office/drawing/2014/main" id="{4DDAEE01-8584-4E0E-B003-556B2107E94B}"/>
              </a:ext>
            </a:extLst>
          </p:cNvPr>
          <p:cNvSpPr>
            <a:spLocks xmlns:a="http://schemas.openxmlformats.org/drawingml/2006/main" noGrp="1"/>
          </p:cNvSpPr>
          <p:nvPr/>
        </p:nvSpPr>
        <p:spPr>
          <a:xfrm xmlns:a="http://schemas.openxmlformats.org/drawingml/2006/main">
            <a:off x="8572500" y="4933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same-frame response / no overrun</a:t>
            </a:r>
          </a:p>
        </p:txBody>
      </p:sp>
      <p:sp>
        <p:nvSpPr>
          <p:cNvPr id="28" name="line-381">
            <a:extLst xmlns:a="http://schemas.openxmlformats.org/drawingml/2006/main">
              <a:ext uri="{FF2B5EF4-FFF2-40B4-BE49-F238E27FC236}">
                <a16:creationId xmlns:a16="http://schemas.microsoft.com/office/drawing/2014/main" id="{F5083E1B-CAE1-4E8B-B645-E4445DAA0F57}"/>
              </a:ext>
            </a:extLst>
          </p:cNvPr>
          <p:cNvSpPr>
            <a:spLocks xmlns:a="http://schemas.openxmlformats.org/drawingml/2006/main" noGrp="1"/>
          </p:cNvSpPr>
          <p:nvPr/>
        </p:nvSpPr>
        <p:spPr>
          <a:xfrm xmlns:a="http://schemas.openxmlformats.org/drawingml/2006/main">
            <a:off x="685800" y="55626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9" name="text-382">
            <a:extLst xmlns:a="http://schemas.openxmlformats.org/drawingml/2006/main">
              <a:ext uri="{FF2B5EF4-FFF2-40B4-BE49-F238E27FC236}">
                <a16:creationId xmlns:a16="http://schemas.microsoft.com/office/drawing/2014/main" id="{D33AFB95-F512-4924-B361-67C804081D3E}"/>
              </a:ext>
            </a:extLst>
          </p:cNvPr>
          <p:cNvSpPr>
            <a:spLocks xmlns:a="http://schemas.openxmlformats.org/drawingml/2006/main" noGrp="1"/>
          </p:cNvSpPr>
          <p:nvPr/>
        </p:nvSpPr>
        <p:spPr>
          <a:xfrm xmlns:a="http://schemas.openxmlformats.org/drawingml/2006/main">
            <a:off x="1028700" y="5829300"/>
            <a:ext cx="10134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650" b="1" i="0">
                <a:solidFill>
                  <a:srgbClr val="20B7C5"/>
                </a:solidFill>
                <a:latin typeface="Aptos"/>
                <a:ea typeface="Aptos"/>
                <a:cs typeface="Aptos"/>
              </a:defRPr>
            </a:pPr>
            <a:r>
              <a:rPr sz="1650" b="1" i="0">
                <a:solidFill>
                  <a:srgbClr val="20B7C5"/>
                </a:solidFill>
                <a:latin typeface="Aptos"/>
                <a:ea typeface="Aptos"/>
                <a:cs typeface="Aptos"/>
              </a:rPr>
              <a:t>Add combinations when requirements interact: mode × validity × boundary × schedule breakpoint.</a:t>
            </a:r>
          </a:p>
        </p:txBody>
      </p:sp>
    </p:spTree>
    <p:extLst>
      <p:ext uri="{BB962C8B-B14F-4D97-AF65-F5344CB8AC3E}">
        <p14:creationId xmlns:p14="http://schemas.microsoft.com/office/powerpoint/2010/main" val="415732081"/>
      </p:ext>
    </p:extLst>
  </p:cSld>
</p:sld>
</file>

<file path=ppt/slides/slide33.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6" name="section-382">
            <a:extLst xmlns:a="http://schemas.openxmlformats.org/drawingml/2006/main">
              <a:ext uri="{FF2B5EF4-FFF2-40B4-BE49-F238E27FC236}">
                <a16:creationId xmlns:a16="http://schemas.microsoft.com/office/drawing/2014/main" id="{F5CFB3FD-395D-4683-A0A2-E7AA3BDF80F8}"/>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06 • VERIFICATION WORKFLOW</a:t>
            </a:r>
          </a:p>
        </p:txBody>
      </p:sp>
      <p:sp>
        <p:nvSpPr>
          <p:cNvPr id="2" name="title-382">
            <a:extLst xmlns:a="http://schemas.openxmlformats.org/drawingml/2006/main">
              <a:ext uri="{FF2B5EF4-FFF2-40B4-BE49-F238E27FC236}">
                <a16:creationId xmlns:a16="http://schemas.microsoft.com/office/drawing/2014/main" id="{CCEECEC1-20A0-4FD4-91E9-400EB3AA3589}"/>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FFFFFF"/>
                </a:solidFill>
                <a:latin typeface="Aptos"/>
                <a:ea typeface="Aptos"/>
                <a:cs typeface="Aptos"/>
              </a:defRPr>
            </a:pPr>
            <a:r>
              <a:rPr sz="3150" b="1" i="0">
                <a:solidFill>
                  <a:srgbClr val="FFFFFF"/>
                </a:solidFill>
                <a:latin typeface="Aptos"/>
                <a:ea typeface="Aptos"/>
                <a:cs typeface="Aptos"/>
              </a:rPr>
              <a:t>The limiter suite retains 19 passing assessments</a:t>
            </a:r>
            <a:endParaRPr sz="3525" b="1" i="0">
              <a:solidFill>
                <a:srgbClr val="FFFFFF"/>
              </a:solidFill>
              <a:latin typeface="Aptos"/>
              <a:ea typeface="Aptos"/>
              <a:cs typeface="Aptos"/>
            </a:endParaRPr>
          </a:p>
        </p:txBody>
      </p:sp>
      <p:sp>
        <p:nvSpPr>
          <p:cNvPr id="3" name="line-383">
            <a:extLst xmlns:a="http://schemas.openxmlformats.org/drawingml/2006/main">
              <a:ext uri="{FF2B5EF4-FFF2-40B4-BE49-F238E27FC236}">
                <a16:creationId xmlns:a16="http://schemas.microsoft.com/office/drawing/2014/main" id="{49D78A63-8DF4-498E-B062-3624D15A287D}"/>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384">
            <a:extLst xmlns:a="http://schemas.openxmlformats.org/drawingml/2006/main">
              <a:ext uri="{FF2B5EF4-FFF2-40B4-BE49-F238E27FC236}">
                <a16:creationId xmlns:a16="http://schemas.microsoft.com/office/drawing/2014/main" id="{731DCEC0-6610-4E3D-B137-3BFE13CFEC61}"/>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385">
            <a:extLst xmlns:a="http://schemas.openxmlformats.org/drawingml/2006/main">
              <a:ext uri="{FF2B5EF4-FFF2-40B4-BE49-F238E27FC236}">
                <a16:creationId xmlns:a16="http://schemas.microsoft.com/office/drawing/2014/main" id="{F0DBCDF6-67ED-4B1D-85BD-D6B3DFC5945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33</a:t>
            </a:r>
          </a:p>
        </p:txBody>
      </p:sp>
      <p:sp>
        <p:nvSpPr>
          <p:cNvPr id="27" name="s33-report-frame">
            <a:extLst xmlns:a="http://schemas.openxmlformats.org/drawingml/2006/main">
              <a:ext uri="{FF2B5EF4-FFF2-40B4-BE49-F238E27FC236}">
                <a16:creationId xmlns:a16="http://schemas.microsoft.com/office/drawing/2014/main" id="{054B3C4F-7160-44D2-8E19-D97E2B1C8980}"/>
              </a:ext>
            </a:extLst>
          </p:cNvPr>
          <p:cNvSpPr>
            <a:spLocks xmlns:a="http://schemas.openxmlformats.org/drawingml/2006/main" noGrp="1"/>
          </p:cNvSpPr>
          <p:nvPr/>
        </p:nvSpPr>
        <p:spPr>
          <a:xfrm xmlns:a="http://schemas.openxmlformats.org/drawingml/2006/main">
            <a:off x="609600" y="1381125"/>
            <a:ext cx="8058150" cy="4638675"/>
          </a:xfrm>
          <a:prstGeom xmlns:a="http://schemas.openxmlformats.org/drawingml/2006/main" prst="roundRect">
            <a:avLst>
              <a:gd name="adj" fmla="val 2464"/>
            </a:avLst>
          </a:prstGeom>
          <a:solidFill xmlns:a="http://schemas.openxmlformats.org/drawingml/2006/main">
            <a:srgbClr val="0C2133"/>
          </a:solidFill>
          <a:ln xmlns:a="http://schemas.openxmlformats.org/drawingml/2006/main" w="11430">
            <a:solidFill>
              <a:srgbClr val="21465E"/>
            </a:solidFill>
            <a:prstDash val="solid"/>
          </a:ln>
        </p:spPr>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20392b2b9e9541d6"/>
          <a:stretch xmlns:a="http://schemas.openxmlformats.org/drawingml/2006/main"/>
        </p:blipFill>
        <p:spPr>
          <a:xfrm xmlns:a="http://schemas.openxmlformats.org/drawingml/2006/main">
            <a:off x="685800" y="1458678"/>
            <a:ext cx="7905750" cy="4483568"/>
          </a:xfrm>
          <a:prstGeom xmlns:a="http://schemas.openxmlformats.org/drawingml/2006/main" prst="rect">
            <a:avLst/>
          </a:prstGeom>
        </p:spPr>
      </p:pic>
      <p:sp>
        <p:nvSpPr>
          <p:cNvPr id="29" name="s33-metric-0">
            <a:extLst xmlns:a="http://schemas.openxmlformats.org/drawingml/2006/main">
              <a:ext uri="{FF2B5EF4-FFF2-40B4-BE49-F238E27FC236}">
                <a16:creationId xmlns:a16="http://schemas.microsoft.com/office/drawing/2014/main" id="{3F808B9D-452F-4DCB-9452-4FEADEE00E47}"/>
              </a:ext>
            </a:extLst>
          </p:cNvPr>
          <p:cNvSpPr>
            <a:spLocks xmlns:a="http://schemas.openxmlformats.org/drawingml/2006/main" noGrp="1"/>
          </p:cNvSpPr>
          <p:nvPr/>
        </p:nvSpPr>
        <p:spPr>
          <a:xfrm xmlns:a="http://schemas.openxmlformats.org/drawingml/2006/main">
            <a:off x="8877300" y="1438275"/>
            <a:ext cx="2628900" cy="971550"/>
          </a:xfrm>
          <a:prstGeom xmlns:a="http://schemas.openxmlformats.org/drawingml/2006/main" prst="roundRect">
            <a:avLst>
              <a:gd name="adj" fmla="val 11765"/>
            </a:avLst>
          </a:prstGeom>
          <a:solidFill xmlns:a="http://schemas.openxmlformats.org/drawingml/2006/main">
            <a:srgbClr val="0C2133"/>
          </a:solidFill>
          <a:ln xmlns:a="http://schemas.openxmlformats.org/drawingml/2006/main" w="17145">
            <a:solidFill>
              <a:srgbClr val="2CA56F"/>
            </a:solidFill>
            <a:prstDash val="solid"/>
          </a:ln>
        </p:spPr>
      </p:sp>
      <p:sp>
        <p:nvSpPr>
          <p:cNvPr id="30" name="s33-metric-value-0">
            <a:extLst xmlns:a="http://schemas.openxmlformats.org/drawingml/2006/main">
              <a:ext uri="{FF2B5EF4-FFF2-40B4-BE49-F238E27FC236}">
                <a16:creationId xmlns:a16="http://schemas.microsoft.com/office/drawing/2014/main" id="{32A6F227-93AC-4619-B6BE-2D5ED21C23F8}"/>
              </a:ext>
            </a:extLst>
          </p:cNvPr>
          <p:cNvSpPr>
            <a:spLocks xmlns:a="http://schemas.openxmlformats.org/drawingml/2006/main" noGrp="1"/>
          </p:cNvSpPr>
          <p:nvPr/>
        </p:nvSpPr>
        <p:spPr>
          <a:xfrm xmlns:a="http://schemas.openxmlformats.org/drawingml/2006/main">
            <a:off x="9048750" y="1552575"/>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2175" b="1">
                <a:solidFill>
                  <a:srgbClr val="2CA56F"/>
                </a:solidFill>
                <a:latin typeface="Aptos"/>
                <a:ea typeface="Aptos"/>
                <a:cs typeface="Aptos"/>
              </a:defRPr>
            </a:pPr>
            <a:r>
              <a:rPr sz="2175" b="1">
                <a:solidFill>
                  <a:srgbClr val="2CA56F"/>
                </a:solidFill>
                <a:latin typeface="Aptos"/>
                <a:ea typeface="Aptos"/>
                <a:cs typeface="Aptos"/>
              </a:rPr>
              <a:t>19 / 19</a:t>
            </a:r>
          </a:p>
        </p:txBody>
      </p:sp>
      <p:sp>
        <p:nvSpPr>
          <p:cNvPr id="31" name="s33-metric-label-0">
            <a:extLst xmlns:a="http://schemas.openxmlformats.org/drawingml/2006/main">
              <a:ext uri="{FF2B5EF4-FFF2-40B4-BE49-F238E27FC236}">
                <a16:creationId xmlns:a16="http://schemas.microsoft.com/office/drawing/2014/main" id="{3771BBD7-1FED-4D3B-B396-80211FE47E94}"/>
              </a:ext>
            </a:extLst>
          </p:cNvPr>
          <p:cNvSpPr>
            <a:spLocks xmlns:a="http://schemas.openxmlformats.org/drawingml/2006/main" noGrp="1"/>
          </p:cNvSpPr>
          <p:nvPr/>
        </p:nvSpPr>
        <p:spPr>
          <a:xfrm xmlns:a="http://schemas.openxmlformats.org/drawingml/2006/main">
            <a:off x="9048750" y="1971675"/>
            <a:ext cx="2286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020" b="1">
                <a:solidFill>
                  <a:srgbClr val="D8E8F1"/>
                </a:solidFill>
                <a:latin typeface="Aptos"/>
                <a:ea typeface="Aptos"/>
                <a:cs typeface="Aptos"/>
              </a:defRPr>
            </a:pPr>
            <a:r>
              <a:rPr sz="1020" b="1">
                <a:solidFill>
                  <a:srgbClr val="D8E8F1"/>
                </a:solidFill>
                <a:latin typeface="Aptos"/>
                <a:ea typeface="Aptos"/>
                <a:cs typeface="Aptos"/>
              </a:rPr>
              <a:t>ASSESSMENTS PASSED</a:t>
            </a:r>
          </a:p>
        </p:txBody>
      </p:sp>
      <p:sp>
        <p:nvSpPr>
          <p:cNvPr id="32" name="s33-metric-1">
            <a:extLst xmlns:a="http://schemas.openxmlformats.org/drawingml/2006/main">
              <a:ext uri="{FF2B5EF4-FFF2-40B4-BE49-F238E27FC236}">
                <a16:creationId xmlns:a16="http://schemas.microsoft.com/office/drawing/2014/main" id="{86949787-76B1-4E5F-BD3F-029A0816BC01}"/>
              </a:ext>
            </a:extLst>
          </p:cNvPr>
          <p:cNvSpPr>
            <a:spLocks xmlns:a="http://schemas.openxmlformats.org/drawingml/2006/main" noGrp="1"/>
          </p:cNvSpPr>
          <p:nvPr/>
        </p:nvSpPr>
        <p:spPr>
          <a:xfrm xmlns:a="http://schemas.openxmlformats.org/drawingml/2006/main">
            <a:off x="8877300" y="2581275"/>
            <a:ext cx="2628900" cy="971550"/>
          </a:xfrm>
          <a:prstGeom xmlns:a="http://schemas.openxmlformats.org/drawingml/2006/main" prst="roundRect">
            <a:avLst>
              <a:gd name="adj" fmla="val 11765"/>
            </a:avLst>
          </a:prstGeom>
          <a:solidFill xmlns:a="http://schemas.openxmlformats.org/drawingml/2006/main">
            <a:srgbClr val="0C2133"/>
          </a:solidFill>
          <a:ln xmlns:a="http://schemas.openxmlformats.org/drawingml/2006/main" w="17145">
            <a:solidFill>
              <a:srgbClr val="20B7C5"/>
            </a:solidFill>
            <a:prstDash val="solid"/>
          </a:ln>
        </p:spPr>
      </p:sp>
      <p:sp>
        <p:nvSpPr>
          <p:cNvPr id="33" name="s33-metric-value-1">
            <a:extLst xmlns:a="http://schemas.openxmlformats.org/drawingml/2006/main">
              <a:ext uri="{FF2B5EF4-FFF2-40B4-BE49-F238E27FC236}">
                <a16:creationId xmlns:a16="http://schemas.microsoft.com/office/drawing/2014/main" id="{271DB4EE-96A7-4438-A36B-A5D2C73CDB1E}"/>
              </a:ext>
            </a:extLst>
          </p:cNvPr>
          <p:cNvSpPr>
            <a:spLocks xmlns:a="http://schemas.openxmlformats.org/drawingml/2006/main" noGrp="1"/>
          </p:cNvSpPr>
          <p:nvPr/>
        </p:nvSpPr>
        <p:spPr>
          <a:xfrm xmlns:a="http://schemas.openxmlformats.org/drawingml/2006/main">
            <a:off x="9048750" y="2695575"/>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2175" b="1">
                <a:solidFill>
                  <a:srgbClr val="20B7C5"/>
                </a:solidFill>
                <a:latin typeface="Aptos"/>
                <a:ea typeface="Aptos"/>
                <a:cs typeface="Aptos"/>
              </a:defRPr>
            </a:pPr>
            <a:r>
              <a:rPr sz="2175" b="1">
                <a:solidFill>
                  <a:srgbClr val="20B7C5"/>
                </a:solidFill>
                <a:latin typeface="Aptos"/>
                <a:ea typeface="Aptos"/>
                <a:cs typeface="Aptos"/>
              </a:rPr>
              <a:t>0</a:t>
            </a:r>
          </a:p>
        </p:txBody>
      </p:sp>
      <p:sp>
        <p:nvSpPr>
          <p:cNvPr id="34" name="s33-metric-label-1">
            <a:extLst xmlns:a="http://schemas.openxmlformats.org/drawingml/2006/main">
              <a:ext uri="{FF2B5EF4-FFF2-40B4-BE49-F238E27FC236}">
                <a16:creationId xmlns:a16="http://schemas.microsoft.com/office/drawing/2014/main" id="{E4419534-127A-41D9-BD4A-9ED1B23654A1}"/>
              </a:ext>
            </a:extLst>
          </p:cNvPr>
          <p:cNvSpPr>
            <a:spLocks xmlns:a="http://schemas.openxmlformats.org/drawingml/2006/main" noGrp="1"/>
          </p:cNvSpPr>
          <p:nvPr/>
        </p:nvSpPr>
        <p:spPr>
          <a:xfrm xmlns:a="http://schemas.openxmlformats.org/drawingml/2006/main">
            <a:off x="9048750" y="3114675"/>
            <a:ext cx="2286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020" b="1">
                <a:solidFill>
                  <a:srgbClr val="D8E8F1"/>
                </a:solidFill>
                <a:latin typeface="Aptos"/>
                <a:ea typeface="Aptos"/>
                <a:cs typeface="Aptos"/>
              </a:defRPr>
            </a:pPr>
            <a:r>
              <a:rPr sz="1020" b="1">
                <a:solidFill>
                  <a:srgbClr val="D8E8F1"/>
                </a:solidFill>
                <a:latin typeface="Aptos"/>
                <a:ea typeface="Aptos"/>
                <a:cs typeface="Aptos"/>
              </a:rPr>
              <a:t>FAILED</a:t>
            </a:r>
          </a:p>
        </p:txBody>
      </p:sp>
      <p:sp>
        <p:nvSpPr>
          <p:cNvPr id="35" name="s33-metric-2">
            <a:extLst xmlns:a="http://schemas.openxmlformats.org/drawingml/2006/main">
              <a:ext uri="{FF2B5EF4-FFF2-40B4-BE49-F238E27FC236}">
                <a16:creationId xmlns:a16="http://schemas.microsoft.com/office/drawing/2014/main" id="{DA47A7E5-FE8F-421D-ABEC-1644182DCA45}"/>
              </a:ext>
            </a:extLst>
          </p:cNvPr>
          <p:cNvSpPr>
            <a:spLocks xmlns:a="http://schemas.openxmlformats.org/drawingml/2006/main" noGrp="1"/>
          </p:cNvSpPr>
          <p:nvPr/>
        </p:nvSpPr>
        <p:spPr>
          <a:xfrm xmlns:a="http://schemas.openxmlformats.org/drawingml/2006/main">
            <a:off x="8877300" y="3724275"/>
            <a:ext cx="2628900" cy="971550"/>
          </a:xfrm>
          <a:prstGeom xmlns:a="http://schemas.openxmlformats.org/drawingml/2006/main" prst="roundRect">
            <a:avLst>
              <a:gd name="adj" fmla="val 11765"/>
            </a:avLst>
          </a:prstGeom>
          <a:solidFill xmlns:a="http://schemas.openxmlformats.org/drawingml/2006/main">
            <a:srgbClr val="0C2133"/>
          </a:solidFill>
          <a:ln xmlns:a="http://schemas.openxmlformats.org/drawingml/2006/main" w="17145">
            <a:solidFill>
              <a:srgbClr val="2D6CDF"/>
            </a:solidFill>
            <a:prstDash val="solid"/>
          </a:ln>
        </p:spPr>
      </p:sp>
      <p:sp>
        <p:nvSpPr>
          <p:cNvPr id="36" name="s33-metric-value-2">
            <a:extLst xmlns:a="http://schemas.openxmlformats.org/drawingml/2006/main">
              <a:ext uri="{FF2B5EF4-FFF2-40B4-BE49-F238E27FC236}">
                <a16:creationId xmlns:a16="http://schemas.microsoft.com/office/drawing/2014/main" id="{DF37309B-2325-4F8C-9268-49FC67B7D7CC}"/>
              </a:ext>
            </a:extLst>
          </p:cNvPr>
          <p:cNvSpPr>
            <a:spLocks xmlns:a="http://schemas.openxmlformats.org/drawingml/2006/main" noGrp="1"/>
          </p:cNvSpPr>
          <p:nvPr/>
        </p:nvSpPr>
        <p:spPr>
          <a:xfrm xmlns:a="http://schemas.openxmlformats.org/drawingml/2006/main">
            <a:off x="9048750" y="3838575"/>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2175" b="1">
                <a:solidFill>
                  <a:srgbClr val="2D6CDF"/>
                </a:solidFill>
                <a:latin typeface="Aptos"/>
                <a:ea typeface="Aptos"/>
                <a:cs typeface="Aptos"/>
              </a:defRPr>
            </a:pPr>
            <a:r>
              <a:rPr sz="2175" b="1">
                <a:solidFill>
                  <a:srgbClr val="2D6CDF"/>
                </a:solidFill>
                <a:latin typeface="Aptos"/>
                <a:ea typeface="Aptos"/>
                <a:cs typeface="Aptos"/>
              </a:rPr>
              <a:t>50 Hz</a:t>
            </a:r>
          </a:p>
        </p:txBody>
      </p:sp>
      <p:sp>
        <p:nvSpPr>
          <p:cNvPr id="37" name="s33-metric-label-2">
            <a:extLst xmlns:a="http://schemas.openxmlformats.org/drawingml/2006/main">
              <a:ext uri="{FF2B5EF4-FFF2-40B4-BE49-F238E27FC236}">
                <a16:creationId xmlns:a16="http://schemas.microsoft.com/office/drawing/2014/main" id="{E5C70175-3FA3-4BA2-B96E-E3A651E801AF}"/>
              </a:ext>
            </a:extLst>
          </p:cNvPr>
          <p:cNvSpPr>
            <a:spLocks xmlns:a="http://schemas.openxmlformats.org/drawingml/2006/main" noGrp="1"/>
          </p:cNvSpPr>
          <p:nvPr/>
        </p:nvSpPr>
        <p:spPr>
          <a:xfrm xmlns:a="http://schemas.openxmlformats.org/drawingml/2006/main">
            <a:off x="9048750" y="4257675"/>
            <a:ext cx="2286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020" b="1">
                <a:solidFill>
                  <a:srgbClr val="D8E8F1"/>
                </a:solidFill>
                <a:latin typeface="Aptos"/>
                <a:ea typeface="Aptos"/>
                <a:cs typeface="Aptos"/>
              </a:defRPr>
            </a:pPr>
            <a:r>
              <a:rPr sz="1020" b="1">
                <a:solidFill>
                  <a:srgbClr val="D8E8F1"/>
                </a:solidFill>
                <a:latin typeface="Aptos"/>
                <a:ea typeface="Aptos"/>
                <a:cs typeface="Aptos"/>
              </a:rPr>
              <a:t>0.02 s SAMPLE TIME</a:t>
            </a:r>
          </a:p>
        </p:txBody>
      </p:sp>
      <p:sp>
        <p:nvSpPr>
          <p:cNvPr id="38" name="s33-method">
            <a:extLst xmlns:a="http://schemas.openxmlformats.org/drawingml/2006/main">
              <a:ext uri="{FF2B5EF4-FFF2-40B4-BE49-F238E27FC236}">
                <a16:creationId xmlns:a16="http://schemas.microsoft.com/office/drawing/2014/main" id="{613259BA-102D-4019-B331-871675935394}"/>
              </a:ext>
            </a:extLst>
          </p:cNvPr>
          <p:cNvSpPr>
            <a:spLocks xmlns:a="http://schemas.openxmlformats.org/drawingml/2006/main" noGrp="1"/>
          </p:cNvSpPr>
          <p:nvPr/>
        </p:nvSpPr>
        <p:spPr>
          <a:xfrm xmlns:a="http://schemas.openxmlformats.org/drawingml/2006/main">
            <a:off x="8877300" y="4914900"/>
            <a:ext cx="2628900" cy="1066800"/>
          </a:xfrm>
          <a:prstGeom xmlns:a="http://schemas.openxmlformats.org/drawingml/2006/main" prst="roundRect">
            <a:avLst>
              <a:gd name="adj" fmla="val 10714"/>
            </a:avLst>
          </a:prstGeom>
          <a:solidFill xmlns:a="http://schemas.openxmlformats.org/drawingml/2006/main">
            <a:srgbClr val="0C2133"/>
          </a:solidFill>
          <a:ln xmlns:a="http://schemas.openxmlformats.org/drawingml/2006/main" w="15240">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080" b="1">
                <a:solidFill>
                  <a:srgbClr val="FFFFFF"/>
                </a:solidFill>
                <a:latin typeface="Aptos"/>
                <a:ea typeface="Aptos"/>
                <a:cs typeface="Aptos"/>
              </a:defRPr>
            </a:pPr>
            <a:r>
              <a:rPr sz="1080" b="1">
                <a:solidFill>
                  <a:srgbClr val="FFFFFF"/>
                </a:solidFill>
                <a:latin typeface="Aptos"/>
                <a:ea typeface="Aptos"/>
                <a:cs typeface="Aptos"/>
              </a:rPr>
              <a:t>Executed MATLAB assessments</a:t>
            </a:r>
          </a:p>
          <a:p xmlns:a="http://schemas.openxmlformats.org/drawingml/2006/main">
            <a:pPr algn="ctr">
              <a:defRPr sz="1080" b="1">
                <a:solidFill>
                  <a:srgbClr val="FFFFFF"/>
                </a:solidFill>
                <a:latin typeface="Aptos"/>
                <a:ea typeface="Aptos"/>
                <a:cs typeface="Aptos"/>
              </a:defRPr>
            </a:pPr>
            <a:r>
              <a:rPr sz="1080" b="1">
                <a:solidFill>
                  <a:srgbClr val="FFFFFF"/>
                </a:solidFill>
                <a:latin typeface="Aptos"/>
                <a:ea typeface="Aptos"/>
                <a:cs typeface="Aptos"/>
              </a:rPr>
              <a:t>using the standalone Simulink harness</a:t>
            </a:r>
          </a:p>
          <a:p xmlns:a="http://schemas.openxmlformats.org/drawingml/2006/main">
            <a:r>
              <a:t/>
            </a:r>
          </a:p>
          <a:p xmlns:a="http://schemas.openxmlformats.org/drawingml/2006/main">
            <a:pPr algn="ctr">
              <a:defRPr sz="1080" b="1">
                <a:solidFill>
                  <a:srgbClr val="FFFFFF"/>
                </a:solidFill>
                <a:latin typeface="Aptos"/>
                <a:ea typeface="Aptos"/>
                <a:cs typeface="Aptos"/>
              </a:defRPr>
            </a:pPr>
            <a:r>
              <a:rPr sz="1080" b="1">
                <a:solidFill>
                  <a:srgbClr val="FFFFFF"/>
                </a:solidFill>
                <a:latin typeface="Aptos"/>
                <a:ea typeface="Aptos"/>
                <a:cs typeface="Aptos"/>
              </a:rPr>
              <a:t>SimulinkTestUsed = false</a:t>
            </a:r>
          </a:p>
          <a:p xmlns:a="http://schemas.openxmlformats.org/drawingml/2006/main">
            <a:pPr algn="ctr">
              <a:defRPr sz="1080" b="1">
                <a:solidFill>
                  <a:srgbClr val="FFFFFF"/>
                </a:solidFill>
                <a:latin typeface="Aptos"/>
                <a:ea typeface="Aptos"/>
                <a:cs typeface="Aptos"/>
              </a:defRPr>
            </a:pPr>
            <a:r>
              <a:rPr sz="1080" b="1">
                <a:solidFill>
                  <a:srgbClr val="FFFFFF"/>
                </a:solidFill>
                <a:latin typeface="Aptos"/>
                <a:ea typeface="Aptos"/>
                <a:cs typeface="Aptos"/>
              </a:rPr>
              <a:t>TestManagerFileCreated = false</a:t>
            </a:r>
          </a:p>
        </p:txBody>
      </p:sp>
    </p:spTree>
    <p:extLst>
      <p:ext uri="{BB962C8B-B14F-4D97-AF65-F5344CB8AC3E}">
        <p14:creationId xmlns:p14="http://schemas.microsoft.com/office/powerpoint/2010/main" val="1092961568"/>
      </p:ext>
    </p:extLst>
  </p:cSld>
</p:sld>
</file>

<file path=ppt/slides/slide34.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2" name="section-398">
            <a:extLst xmlns:a="http://schemas.openxmlformats.org/drawingml/2006/main">
              <a:ext uri="{FF2B5EF4-FFF2-40B4-BE49-F238E27FC236}">
                <a16:creationId xmlns:a16="http://schemas.microsoft.com/office/drawing/2014/main" id="{47B47782-605B-4C62-B69F-4EB1C82FEA14}"/>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06 • VERIFICATION WORKFLOW</a:t>
            </a:r>
          </a:p>
        </p:txBody>
      </p:sp>
      <p:sp>
        <p:nvSpPr>
          <p:cNvPr id="2" name="title-398">
            <a:extLst xmlns:a="http://schemas.openxmlformats.org/drawingml/2006/main">
              <a:ext uri="{FF2B5EF4-FFF2-40B4-BE49-F238E27FC236}">
                <a16:creationId xmlns:a16="http://schemas.microsoft.com/office/drawing/2014/main" id="{7ADB05D0-38D6-4E43-B29C-C6BCE219B311}"/>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Callbacks create context; the test driver owns the oracle</a:t>
            </a:r>
          </a:p>
        </p:txBody>
      </p:sp>
      <p:sp>
        <p:nvSpPr>
          <p:cNvPr id="3" name="line-399">
            <a:extLst xmlns:a="http://schemas.openxmlformats.org/drawingml/2006/main">
              <a:ext uri="{FF2B5EF4-FFF2-40B4-BE49-F238E27FC236}">
                <a16:creationId xmlns:a16="http://schemas.microsoft.com/office/drawing/2014/main" id="{8B720D7C-4440-4D8A-913B-8DB5FF355DDA}"/>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00">
            <a:extLst xmlns:a="http://schemas.openxmlformats.org/drawingml/2006/main">
              <a:ext uri="{FF2B5EF4-FFF2-40B4-BE49-F238E27FC236}">
                <a16:creationId xmlns:a16="http://schemas.microsoft.com/office/drawing/2014/main" id="{70402650-5984-4D38-95D9-9FC244B1814D}"/>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01">
            <a:extLst xmlns:a="http://schemas.openxmlformats.org/drawingml/2006/main">
              <a:ext uri="{FF2B5EF4-FFF2-40B4-BE49-F238E27FC236}">
                <a16:creationId xmlns:a16="http://schemas.microsoft.com/office/drawing/2014/main" id="{53160D6A-7D4B-4D9C-B478-0C6C7D0BA14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34</a:t>
            </a:r>
          </a:p>
        </p:txBody>
      </p:sp>
      <p:sp>
        <p:nvSpPr>
          <p:cNvPr id="23" name="s34-link-0">
            <a:extLst xmlns:a="http://schemas.openxmlformats.org/drawingml/2006/main">
              <a:ext uri="{FF2B5EF4-FFF2-40B4-BE49-F238E27FC236}">
                <a16:creationId xmlns:a16="http://schemas.microsoft.com/office/drawing/2014/main" id="{1613ED5C-9015-437F-AB30-06D99B06C46E}"/>
              </a:ext>
            </a:extLst>
          </p:cNvPr>
          <p:cNvSpPr>
            <a:spLocks xmlns:a="http://schemas.openxmlformats.org/drawingml/2006/main" noGrp="1"/>
          </p:cNvSpPr>
          <p:nvPr/>
        </p:nvSpPr>
        <p:spPr>
          <a:xfrm xmlns:a="http://schemas.openxmlformats.org/drawingml/2006/main">
            <a:off x="2514600" y="2400300"/>
            <a:ext cx="381000" cy="0"/>
          </a:xfrm>
          <a:prstGeom xmlns:a="http://schemas.openxmlformats.org/drawingml/2006/main" prst="line">
            <a:avLst/>
          </a:prstGeom>
          <a:noFill xmlns:a="http://schemas.openxmlformats.org/drawingml/2006/main"/>
          <a:ln xmlns:a="http://schemas.openxmlformats.org/drawingml/2006/main" w="21908">
            <a:solidFill>
              <a:srgbClr val="20B7C5"/>
            </a:solidFill>
            <a:prstDash val="solid"/>
          </a:ln>
        </p:spPr>
      </p:sp>
      <p:sp>
        <p:nvSpPr>
          <p:cNvPr id="24" name="s34-link-1">
            <a:extLst xmlns:a="http://schemas.openxmlformats.org/drawingml/2006/main">
              <a:ext uri="{FF2B5EF4-FFF2-40B4-BE49-F238E27FC236}">
                <a16:creationId xmlns:a16="http://schemas.microsoft.com/office/drawing/2014/main" id="{1D800947-D722-4237-9582-E3FC759EF6A3}"/>
              </a:ext>
            </a:extLst>
          </p:cNvPr>
          <p:cNvSpPr>
            <a:spLocks xmlns:a="http://schemas.openxmlformats.org/drawingml/2006/main" noGrp="1"/>
          </p:cNvSpPr>
          <p:nvPr/>
        </p:nvSpPr>
        <p:spPr>
          <a:xfrm xmlns:a="http://schemas.openxmlformats.org/drawingml/2006/main">
            <a:off x="4724400" y="2400300"/>
            <a:ext cx="381000" cy="0"/>
          </a:xfrm>
          <a:prstGeom xmlns:a="http://schemas.openxmlformats.org/drawingml/2006/main" prst="line">
            <a:avLst/>
          </a:prstGeom>
          <a:noFill xmlns:a="http://schemas.openxmlformats.org/drawingml/2006/main"/>
          <a:ln xmlns:a="http://schemas.openxmlformats.org/drawingml/2006/main" w="21908">
            <a:solidFill>
              <a:srgbClr val="20B7C5"/>
            </a:solidFill>
            <a:prstDash val="solid"/>
          </a:ln>
        </p:spPr>
      </p:sp>
      <p:sp>
        <p:nvSpPr>
          <p:cNvPr id="25" name="s34-link-2">
            <a:extLst xmlns:a="http://schemas.openxmlformats.org/drawingml/2006/main">
              <a:ext uri="{FF2B5EF4-FFF2-40B4-BE49-F238E27FC236}">
                <a16:creationId xmlns:a16="http://schemas.microsoft.com/office/drawing/2014/main" id="{C34D7FED-817C-4480-BE81-D2C14887F118}"/>
              </a:ext>
            </a:extLst>
          </p:cNvPr>
          <p:cNvSpPr>
            <a:spLocks xmlns:a="http://schemas.openxmlformats.org/drawingml/2006/main" noGrp="1"/>
          </p:cNvSpPr>
          <p:nvPr/>
        </p:nvSpPr>
        <p:spPr>
          <a:xfrm xmlns:a="http://schemas.openxmlformats.org/drawingml/2006/main">
            <a:off x="6934200" y="2400300"/>
            <a:ext cx="381000" cy="0"/>
          </a:xfrm>
          <a:prstGeom xmlns:a="http://schemas.openxmlformats.org/drawingml/2006/main" prst="line">
            <a:avLst/>
          </a:prstGeom>
          <a:noFill xmlns:a="http://schemas.openxmlformats.org/drawingml/2006/main"/>
          <a:ln xmlns:a="http://schemas.openxmlformats.org/drawingml/2006/main" w="21908">
            <a:solidFill>
              <a:srgbClr val="20B7C5"/>
            </a:solidFill>
            <a:prstDash val="solid"/>
          </a:ln>
        </p:spPr>
      </p:sp>
      <p:sp>
        <p:nvSpPr>
          <p:cNvPr id="26" name="s34-link-3">
            <a:extLst xmlns:a="http://schemas.openxmlformats.org/drawingml/2006/main">
              <a:ext uri="{FF2B5EF4-FFF2-40B4-BE49-F238E27FC236}">
                <a16:creationId xmlns:a16="http://schemas.microsoft.com/office/drawing/2014/main" id="{9285CF81-2E27-486A-A4FB-724A368CC834}"/>
              </a:ext>
            </a:extLst>
          </p:cNvPr>
          <p:cNvSpPr>
            <a:spLocks xmlns:a="http://schemas.openxmlformats.org/drawingml/2006/main" noGrp="1"/>
          </p:cNvSpPr>
          <p:nvPr/>
        </p:nvSpPr>
        <p:spPr>
          <a:xfrm xmlns:a="http://schemas.openxmlformats.org/drawingml/2006/main">
            <a:off x="9144000" y="2400300"/>
            <a:ext cx="381000" cy="0"/>
          </a:xfrm>
          <a:prstGeom xmlns:a="http://schemas.openxmlformats.org/drawingml/2006/main" prst="line">
            <a:avLst/>
          </a:prstGeom>
          <a:noFill xmlns:a="http://schemas.openxmlformats.org/drawingml/2006/main"/>
          <a:ln xmlns:a="http://schemas.openxmlformats.org/drawingml/2006/main" w="21908">
            <a:solidFill>
              <a:srgbClr val="20B7C5"/>
            </a:solidFill>
            <a:prstDash val="solid"/>
          </a:ln>
        </p:spPr>
      </p:sp>
      <p:sp>
        <p:nvSpPr>
          <p:cNvPr id="27" name="s34-stage-0">
            <a:extLst xmlns:a="http://schemas.openxmlformats.org/drawingml/2006/main">
              <a:ext uri="{FF2B5EF4-FFF2-40B4-BE49-F238E27FC236}">
                <a16:creationId xmlns:a16="http://schemas.microsoft.com/office/drawing/2014/main" id="{11CD3531-0DA0-4585-A346-72CC0A7E9D19}"/>
              </a:ext>
            </a:extLst>
          </p:cNvPr>
          <p:cNvSpPr>
            <a:spLocks xmlns:a="http://schemas.openxmlformats.org/drawingml/2006/main" noGrp="1"/>
          </p:cNvSpPr>
          <p:nvPr/>
        </p:nvSpPr>
        <p:spPr>
          <a:xfrm xmlns:a="http://schemas.openxmlformats.org/drawingml/2006/main">
            <a:off x="685800" y="1714500"/>
            <a:ext cx="1828800" cy="1381125"/>
          </a:xfrm>
          <a:prstGeom xmlns:a="http://schemas.openxmlformats.org/drawingml/2006/main" prst="roundRect">
            <a:avLst>
              <a:gd name="adj" fmla="val 8276"/>
            </a:avLst>
          </a:prstGeom>
          <a:solidFill xmlns:a="http://schemas.openxmlformats.org/drawingml/2006/main">
            <a:srgbClr val="FFFFFF"/>
          </a:solidFill>
          <a:ln xmlns:a="http://schemas.openxmlformats.org/drawingml/2006/main" w="14288">
            <a:solidFill>
              <a:srgbClr val="20B7C5"/>
            </a:solidFill>
            <a:prstDash val="solid"/>
          </a:ln>
        </p:spPr>
      </p:sp>
      <p:sp>
        <p:nvSpPr>
          <p:cNvPr id="28" name="s34-stage-title-0">
            <a:extLst xmlns:a="http://schemas.openxmlformats.org/drawingml/2006/main">
              <a:ext uri="{FF2B5EF4-FFF2-40B4-BE49-F238E27FC236}">
                <a16:creationId xmlns:a16="http://schemas.microsoft.com/office/drawing/2014/main" id="{F8394E1A-4D44-4CC1-998E-CE1677314639}"/>
              </a:ext>
            </a:extLst>
          </p:cNvPr>
          <p:cNvSpPr>
            <a:spLocks xmlns:a="http://schemas.openxmlformats.org/drawingml/2006/main" noGrp="1"/>
          </p:cNvSpPr>
          <p:nvPr/>
        </p:nvSpPr>
        <p:spPr>
          <a:xfrm xmlns:a="http://schemas.openxmlformats.org/drawingml/2006/main">
            <a:off x="800100" y="1828800"/>
            <a:ext cx="1600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140" b="1">
                <a:solidFill>
                  <a:srgbClr val="20B7C5"/>
                </a:solidFill>
                <a:latin typeface="Aptos"/>
                <a:ea typeface="Aptos"/>
                <a:cs typeface="Aptos"/>
              </a:defRPr>
            </a:pPr>
            <a:r>
              <a:rPr sz="1140" b="1">
                <a:solidFill>
                  <a:srgbClr val="20B7C5"/>
                </a:solidFill>
                <a:latin typeface="Aptos"/>
                <a:ea typeface="Aptos"/>
                <a:cs typeface="Aptos"/>
              </a:rPr>
              <a:t>SETUP</a:t>
            </a:r>
          </a:p>
        </p:txBody>
      </p:sp>
      <p:sp>
        <p:nvSpPr>
          <p:cNvPr id="29" name="s34-stage-file-0">
            <a:extLst xmlns:a="http://schemas.openxmlformats.org/drawingml/2006/main">
              <a:ext uri="{FF2B5EF4-FFF2-40B4-BE49-F238E27FC236}">
                <a16:creationId xmlns:a16="http://schemas.microsoft.com/office/drawing/2014/main" id="{375DDE31-B078-4EA4-BD5A-00B94EAD8278}"/>
              </a:ext>
            </a:extLst>
          </p:cNvPr>
          <p:cNvSpPr>
            <a:spLocks xmlns:a="http://schemas.openxmlformats.org/drawingml/2006/main" noGrp="1"/>
          </p:cNvSpPr>
          <p:nvPr/>
        </p:nvSpPr>
        <p:spPr>
          <a:xfrm xmlns:a="http://schemas.openxmlformats.org/drawingml/2006/main">
            <a:off x="781050" y="2105025"/>
            <a:ext cx="1638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960" b="1">
                <a:solidFill>
                  <a:srgbClr val="2D6CDF"/>
                </a:solidFill>
                <a:latin typeface="Aptos"/>
                <a:ea typeface="Aptos"/>
                <a:cs typeface="Aptos"/>
              </a:defRPr>
            </a:pPr>
            <a:r>
              <a:rPr sz="960" b="1">
                <a:solidFill>
                  <a:srgbClr val="2D6CDF"/>
                </a:solidFill>
                <a:latin typeface="Aptos"/>
                <a:ea typeface="Aptos"/>
                <a:cs typeface="Aptos"/>
              </a:rPr>
              <a:t>training_callback_</a:t>
            </a:r>
          </a:p>
          <a:p xmlns:a="http://schemas.openxmlformats.org/drawingml/2006/main">
            <a:pPr algn="ctr">
              <a:defRPr sz="960" b="1">
                <a:solidFill>
                  <a:srgbClr val="2D6CDF"/>
                </a:solidFill>
                <a:latin typeface="Aptos"/>
                <a:ea typeface="Aptos"/>
                <a:cs typeface="Aptos"/>
              </a:defRPr>
            </a:pPr>
            <a:r>
              <a:rPr sz="960" b="1">
                <a:solidFill>
                  <a:srgbClr val="2D6CDF"/>
                </a:solidFill>
                <a:latin typeface="Aptos"/>
                <a:ea typeface="Aptos"/>
                <a:cs typeface="Aptos"/>
              </a:rPr>
              <a:t>setup.m</a:t>
            </a:r>
          </a:p>
        </p:txBody>
      </p:sp>
      <p:sp>
        <p:nvSpPr>
          <p:cNvPr id="30" name="s34-stage-body-0">
            <a:extLst xmlns:a="http://schemas.openxmlformats.org/drawingml/2006/main">
              <a:ext uri="{FF2B5EF4-FFF2-40B4-BE49-F238E27FC236}">
                <a16:creationId xmlns:a16="http://schemas.microsoft.com/office/drawing/2014/main" id="{807FAA97-51CD-4438-8878-96B961D08315}"/>
              </a:ext>
            </a:extLst>
          </p:cNvPr>
          <p:cNvSpPr>
            <a:spLocks xmlns:a="http://schemas.openxmlformats.org/drawingml/2006/main" noGrp="1"/>
          </p:cNvSpPr>
          <p:nvPr/>
        </p:nvSpPr>
        <p:spPr>
          <a:xfrm xmlns:a="http://schemas.openxmlformats.org/drawingml/2006/main">
            <a:off x="800100" y="2571750"/>
            <a:ext cx="1600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990" b="1">
                <a:solidFill>
                  <a:srgbClr val="17324A"/>
                </a:solidFill>
                <a:latin typeface="Aptos"/>
                <a:ea typeface="Aptos"/>
                <a:cs typeface="Aptos"/>
              </a:defRPr>
            </a:pPr>
            <a:r>
              <a:rPr sz="990" b="1">
                <a:solidFill>
                  <a:srgbClr val="17324A"/>
                </a:solidFill>
                <a:latin typeface="Aptos"/>
                <a:ea typeface="Aptos"/>
                <a:cs typeface="Aptos"/>
              </a:rPr>
              <a:t>paths • dictionary • initial state</a:t>
            </a:r>
          </a:p>
        </p:txBody>
      </p:sp>
      <p:sp>
        <p:nvSpPr>
          <p:cNvPr id="31" name="s34-stage-1">
            <a:extLst xmlns:a="http://schemas.openxmlformats.org/drawingml/2006/main">
              <a:ext uri="{FF2B5EF4-FFF2-40B4-BE49-F238E27FC236}">
                <a16:creationId xmlns:a16="http://schemas.microsoft.com/office/drawing/2014/main" id="{EE04B751-7AA2-4052-815C-C082968C1210}"/>
              </a:ext>
            </a:extLst>
          </p:cNvPr>
          <p:cNvSpPr>
            <a:spLocks xmlns:a="http://schemas.openxmlformats.org/drawingml/2006/main" noGrp="1"/>
          </p:cNvSpPr>
          <p:nvPr/>
        </p:nvSpPr>
        <p:spPr>
          <a:xfrm xmlns:a="http://schemas.openxmlformats.org/drawingml/2006/main">
            <a:off x="2895600" y="1714500"/>
            <a:ext cx="1828800" cy="1381125"/>
          </a:xfrm>
          <a:prstGeom xmlns:a="http://schemas.openxmlformats.org/drawingml/2006/main" prst="roundRect">
            <a:avLst>
              <a:gd name="adj" fmla="val 8276"/>
            </a:avLst>
          </a:prstGeom>
          <a:solidFill xmlns:a="http://schemas.openxmlformats.org/drawingml/2006/main">
            <a:srgbClr val="FFFFFF"/>
          </a:solidFill>
          <a:ln xmlns:a="http://schemas.openxmlformats.org/drawingml/2006/main" w="14288">
            <a:solidFill>
              <a:srgbClr val="20B7C5"/>
            </a:solidFill>
            <a:prstDash val="solid"/>
          </a:ln>
        </p:spPr>
      </p:sp>
      <p:sp>
        <p:nvSpPr>
          <p:cNvPr id="32" name="s34-stage-title-1">
            <a:extLst xmlns:a="http://schemas.openxmlformats.org/drawingml/2006/main">
              <a:ext uri="{FF2B5EF4-FFF2-40B4-BE49-F238E27FC236}">
                <a16:creationId xmlns:a16="http://schemas.microsoft.com/office/drawing/2014/main" id="{D3B169D0-A7B8-49C7-A8C1-785D018411E8}"/>
              </a:ext>
            </a:extLst>
          </p:cNvPr>
          <p:cNvSpPr>
            <a:spLocks xmlns:a="http://schemas.openxmlformats.org/drawingml/2006/main" noGrp="1"/>
          </p:cNvSpPr>
          <p:nvPr/>
        </p:nvSpPr>
        <p:spPr>
          <a:xfrm xmlns:a="http://schemas.openxmlformats.org/drawingml/2006/main">
            <a:off x="3009900" y="1828800"/>
            <a:ext cx="1600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140" b="1">
                <a:solidFill>
                  <a:srgbClr val="20B7C5"/>
                </a:solidFill>
                <a:latin typeface="Aptos"/>
                <a:ea typeface="Aptos"/>
                <a:cs typeface="Aptos"/>
              </a:defRPr>
            </a:pPr>
            <a:r>
              <a:rPr sz="1140" b="1">
                <a:solidFill>
                  <a:srgbClr val="20B7C5"/>
                </a:solidFill>
                <a:latin typeface="Aptos"/>
                <a:ea typeface="Aptos"/>
                <a:cs typeface="Aptos"/>
              </a:rPr>
              <a:t>PRELOAD</a:t>
            </a:r>
          </a:p>
        </p:txBody>
      </p:sp>
      <p:sp>
        <p:nvSpPr>
          <p:cNvPr id="33" name="s34-stage-file-1">
            <a:extLst xmlns:a="http://schemas.openxmlformats.org/drawingml/2006/main">
              <a:ext uri="{FF2B5EF4-FFF2-40B4-BE49-F238E27FC236}">
                <a16:creationId xmlns:a16="http://schemas.microsoft.com/office/drawing/2014/main" id="{C294FF68-9B68-4E77-BD2F-A2B441CAC8C6}"/>
              </a:ext>
            </a:extLst>
          </p:cNvPr>
          <p:cNvSpPr>
            <a:spLocks xmlns:a="http://schemas.openxmlformats.org/drawingml/2006/main" noGrp="1"/>
          </p:cNvSpPr>
          <p:nvPr/>
        </p:nvSpPr>
        <p:spPr>
          <a:xfrm xmlns:a="http://schemas.openxmlformats.org/drawingml/2006/main">
            <a:off x="2990850" y="2105025"/>
            <a:ext cx="1638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960" b="1">
                <a:solidFill>
                  <a:srgbClr val="2D6CDF"/>
                </a:solidFill>
                <a:latin typeface="Aptos"/>
                <a:ea typeface="Aptos"/>
                <a:cs typeface="Aptos"/>
              </a:defRPr>
            </a:pPr>
            <a:r>
              <a:rPr sz="960" b="1">
                <a:solidFill>
                  <a:srgbClr val="2D6CDF"/>
                </a:solidFill>
                <a:latin typeface="Aptos"/>
                <a:ea typeface="Aptos"/>
                <a:cs typeface="Aptos"/>
              </a:rPr>
              <a:t>training_callback_</a:t>
            </a:r>
          </a:p>
          <a:p xmlns:a="http://schemas.openxmlformats.org/drawingml/2006/main">
            <a:pPr algn="ctr">
              <a:defRPr sz="960" b="1">
                <a:solidFill>
                  <a:srgbClr val="2D6CDF"/>
                </a:solidFill>
                <a:latin typeface="Aptos"/>
                <a:ea typeface="Aptos"/>
                <a:cs typeface="Aptos"/>
              </a:defRPr>
            </a:pPr>
            <a:r>
              <a:rPr sz="960" b="1">
                <a:solidFill>
                  <a:srgbClr val="2D6CDF"/>
                </a:solidFill>
                <a:latin typeface="Aptos"/>
                <a:ea typeface="Aptos"/>
                <a:cs typeface="Aptos"/>
              </a:rPr>
              <a:t>preload.m</a:t>
            </a:r>
          </a:p>
        </p:txBody>
      </p:sp>
      <p:sp>
        <p:nvSpPr>
          <p:cNvPr id="34" name="s34-stage-body-1">
            <a:extLst xmlns:a="http://schemas.openxmlformats.org/drawingml/2006/main">
              <a:ext uri="{FF2B5EF4-FFF2-40B4-BE49-F238E27FC236}">
                <a16:creationId xmlns:a16="http://schemas.microsoft.com/office/drawing/2014/main" id="{870ECB79-33FD-4DFC-983E-48841A230FDF}"/>
              </a:ext>
            </a:extLst>
          </p:cNvPr>
          <p:cNvSpPr>
            <a:spLocks xmlns:a="http://schemas.openxmlformats.org/drawingml/2006/main" noGrp="1"/>
          </p:cNvSpPr>
          <p:nvPr/>
        </p:nvSpPr>
        <p:spPr>
          <a:xfrm xmlns:a="http://schemas.openxmlformats.org/drawingml/2006/main">
            <a:off x="3009900" y="2571750"/>
            <a:ext cx="1600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990" b="1">
                <a:solidFill>
                  <a:srgbClr val="17324A"/>
                </a:solidFill>
                <a:latin typeface="Aptos"/>
                <a:ea typeface="Aptos"/>
                <a:cs typeface="Aptos"/>
              </a:defRPr>
            </a:pPr>
            <a:r>
              <a:rPr sz="990" b="1">
                <a:solidFill>
                  <a:srgbClr val="17324A"/>
                </a:solidFill>
                <a:latin typeface="Aptos"/>
                <a:ea typeface="Aptos"/>
                <a:cs typeface="Aptos"/>
              </a:rPr>
              <a:t>deterministic stimulus</a:t>
            </a:r>
          </a:p>
        </p:txBody>
      </p:sp>
      <p:sp>
        <p:nvSpPr>
          <p:cNvPr id="35" name="s34-stage-2">
            <a:extLst xmlns:a="http://schemas.openxmlformats.org/drawingml/2006/main">
              <a:ext uri="{FF2B5EF4-FFF2-40B4-BE49-F238E27FC236}">
                <a16:creationId xmlns:a16="http://schemas.microsoft.com/office/drawing/2014/main" id="{84146C8C-743B-4E08-B815-8924C813955C}"/>
              </a:ext>
            </a:extLst>
          </p:cNvPr>
          <p:cNvSpPr>
            <a:spLocks xmlns:a="http://schemas.openxmlformats.org/drawingml/2006/main" noGrp="1"/>
          </p:cNvSpPr>
          <p:nvPr/>
        </p:nvSpPr>
        <p:spPr>
          <a:xfrm xmlns:a="http://schemas.openxmlformats.org/drawingml/2006/main">
            <a:off x="5105400" y="1714500"/>
            <a:ext cx="1828800" cy="1381125"/>
          </a:xfrm>
          <a:prstGeom xmlns:a="http://schemas.openxmlformats.org/drawingml/2006/main" prst="roundRect">
            <a:avLst>
              <a:gd name="adj" fmla="val 8276"/>
            </a:avLst>
          </a:prstGeom>
          <a:solidFill xmlns:a="http://schemas.openxmlformats.org/drawingml/2006/main">
            <a:srgbClr val="FFFFFF"/>
          </a:solidFill>
          <a:ln xmlns:a="http://schemas.openxmlformats.org/drawingml/2006/main" w="14288">
            <a:solidFill>
              <a:srgbClr val="20B7C5"/>
            </a:solidFill>
            <a:prstDash val="solid"/>
          </a:ln>
        </p:spPr>
      </p:sp>
      <p:sp>
        <p:nvSpPr>
          <p:cNvPr id="36" name="s34-stage-title-2">
            <a:extLst xmlns:a="http://schemas.openxmlformats.org/drawingml/2006/main">
              <a:ext uri="{FF2B5EF4-FFF2-40B4-BE49-F238E27FC236}">
                <a16:creationId xmlns:a16="http://schemas.microsoft.com/office/drawing/2014/main" id="{99E4E1B4-9EAF-435F-9F25-C338AF743C25}"/>
              </a:ext>
            </a:extLst>
          </p:cNvPr>
          <p:cNvSpPr>
            <a:spLocks xmlns:a="http://schemas.openxmlformats.org/drawingml/2006/main" noGrp="1"/>
          </p:cNvSpPr>
          <p:nvPr/>
        </p:nvSpPr>
        <p:spPr>
          <a:xfrm xmlns:a="http://schemas.openxmlformats.org/drawingml/2006/main">
            <a:off x="5219700" y="1828800"/>
            <a:ext cx="1600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140" b="1">
                <a:solidFill>
                  <a:srgbClr val="20B7C5"/>
                </a:solidFill>
                <a:latin typeface="Aptos"/>
                <a:ea typeface="Aptos"/>
                <a:cs typeface="Aptos"/>
              </a:defRPr>
            </a:pPr>
            <a:r>
              <a:rPr sz="1140" b="1">
                <a:solidFill>
                  <a:srgbClr val="20B7C5"/>
                </a:solidFill>
                <a:latin typeface="Aptos"/>
                <a:ea typeface="Aptos"/>
                <a:cs typeface="Aptos"/>
              </a:rPr>
              <a:t>POSTLOAD</a:t>
            </a:r>
          </a:p>
        </p:txBody>
      </p:sp>
      <p:sp>
        <p:nvSpPr>
          <p:cNvPr id="37" name="s34-stage-file-2">
            <a:extLst xmlns:a="http://schemas.openxmlformats.org/drawingml/2006/main">
              <a:ext uri="{FF2B5EF4-FFF2-40B4-BE49-F238E27FC236}">
                <a16:creationId xmlns:a16="http://schemas.microsoft.com/office/drawing/2014/main" id="{D3DD8DA9-B3C0-486C-B295-53339A5820E1}"/>
              </a:ext>
            </a:extLst>
          </p:cNvPr>
          <p:cNvSpPr>
            <a:spLocks xmlns:a="http://schemas.openxmlformats.org/drawingml/2006/main" noGrp="1"/>
          </p:cNvSpPr>
          <p:nvPr/>
        </p:nvSpPr>
        <p:spPr>
          <a:xfrm xmlns:a="http://schemas.openxmlformats.org/drawingml/2006/main">
            <a:off x="5200650" y="2105025"/>
            <a:ext cx="1638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960" b="1">
                <a:solidFill>
                  <a:srgbClr val="2D6CDF"/>
                </a:solidFill>
                <a:latin typeface="Aptos"/>
                <a:ea typeface="Aptos"/>
                <a:cs typeface="Aptos"/>
              </a:defRPr>
            </a:pPr>
            <a:r>
              <a:rPr sz="960" b="1">
                <a:solidFill>
                  <a:srgbClr val="2D6CDF"/>
                </a:solidFill>
                <a:latin typeface="Aptos"/>
                <a:ea typeface="Aptos"/>
                <a:cs typeface="Aptos"/>
              </a:rPr>
              <a:t>training_callback_</a:t>
            </a:r>
          </a:p>
          <a:p xmlns:a="http://schemas.openxmlformats.org/drawingml/2006/main">
            <a:pPr algn="ctr">
              <a:defRPr sz="960" b="1">
                <a:solidFill>
                  <a:srgbClr val="2D6CDF"/>
                </a:solidFill>
                <a:latin typeface="Aptos"/>
                <a:ea typeface="Aptos"/>
                <a:cs typeface="Aptos"/>
              </a:defRPr>
            </a:pPr>
            <a:r>
              <a:rPr sz="960" b="1">
                <a:solidFill>
                  <a:srgbClr val="2D6CDF"/>
                </a:solidFill>
                <a:latin typeface="Aptos"/>
                <a:ea typeface="Aptos"/>
                <a:cs typeface="Aptos"/>
              </a:rPr>
              <a:t>postload.m</a:t>
            </a:r>
          </a:p>
        </p:txBody>
      </p:sp>
      <p:sp>
        <p:nvSpPr>
          <p:cNvPr id="38" name="s34-stage-body-2">
            <a:extLst xmlns:a="http://schemas.openxmlformats.org/drawingml/2006/main">
              <a:ext uri="{FF2B5EF4-FFF2-40B4-BE49-F238E27FC236}">
                <a16:creationId xmlns:a16="http://schemas.microsoft.com/office/drawing/2014/main" id="{A3012A61-58A3-4A25-92BE-36C1BEC6B6F1}"/>
              </a:ext>
            </a:extLst>
          </p:cNvPr>
          <p:cNvSpPr>
            <a:spLocks xmlns:a="http://schemas.openxmlformats.org/drawingml/2006/main" noGrp="1"/>
          </p:cNvSpPr>
          <p:nvPr/>
        </p:nvSpPr>
        <p:spPr>
          <a:xfrm xmlns:a="http://schemas.openxmlformats.org/drawingml/2006/main">
            <a:off x="5219700" y="2571750"/>
            <a:ext cx="1600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990" b="1">
                <a:solidFill>
                  <a:srgbClr val="17324A"/>
                </a:solidFill>
                <a:latin typeface="Aptos"/>
                <a:ea typeface="Aptos"/>
                <a:cs typeface="Aptos"/>
              </a:defRPr>
            </a:pPr>
            <a:r>
              <a:rPr sz="990" b="1">
                <a:solidFill>
                  <a:srgbClr val="17324A"/>
                </a:solidFill>
                <a:latin typeface="Aptos"/>
                <a:ea typeface="Aptos"/>
                <a:cs typeface="Aptos"/>
              </a:rPr>
              <a:t>solver • logging configuration</a:t>
            </a:r>
          </a:p>
        </p:txBody>
      </p:sp>
      <p:sp>
        <p:nvSpPr>
          <p:cNvPr id="39" name="s34-stage-3">
            <a:extLst xmlns:a="http://schemas.openxmlformats.org/drawingml/2006/main">
              <a:ext uri="{FF2B5EF4-FFF2-40B4-BE49-F238E27FC236}">
                <a16:creationId xmlns:a16="http://schemas.microsoft.com/office/drawing/2014/main" id="{256E0CA4-3156-4061-92AA-8CE2B3833D41}"/>
              </a:ext>
            </a:extLst>
          </p:cNvPr>
          <p:cNvSpPr>
            <a:spLocks xmlns:a="http://schemas.openxmlformats.org/drawingml/2006/main" noGrp="1"/>
          </p:cNvSpPr>
          <p:nvPr/>
        </p:nvSpPr>
        <p:spPr>
          <a:xfrm xmlns:a="http://schemas.openxmlformats.org/drawingml/2006/main">
            <a:off x="7315200" y="1714500"/>
            <a:ext cx="1828800" cy="1381125"/>
          </a:xfrm>
          <a:prstGeom xmlns:a="http://schemas.openxmlformats.org/drawingml/2006/main" prst="roundRect">
            <a:avLst>
              <a:gd name="adj" fmla="val 8276"/>
            </a:avLst>
          </a:prstGeom>
          <a:solidFill xmlns:a="http://schemas.openxmlformats.org/drawingml/2006/main">
            <a:srgbClr val="E2F4EA"/>
          </a:solidFill>
          <a:ln xmlns:a="http://schemas.openxmlformats.org/drawingml/2006/main" w="14288">
            <a:solidFill>
              <a:srgbClr val="2CA56F"/>
            </a:solidFill>
            <a:prstDash val="solid"/>
          </a:ln>
        </p:spPr>
      </p:sp>
      <p:sp>
        <p:nvSpPr>
          <p:cNvPr id="40" name="s34-stage-title-3">
            <a:extLst xmlns:a="http://schemas.openxmlformats.org/drawingml/2006/main">
              <a:ext uri="{FF2B5EF4-FFF2-40B4-BE49-F238E27FC236}">
                <a16:creationId xmlns:a16="http://schemas.microsoft.com/office/drawing/2014/main" id="{F27E142A-90AE-4B5A-92F1-3B6A9AB0218B}"/>
              </a:ext>
            </a:extLst>
          </p:cNvPr>
          <p:cNvSpPr>
            <a:spLocks xmlns:a="http://schemas.openxmlformats.org/drawingml/2006/main" noGrp="1"/>
          </p:cNvSpPr>
          <p:nvPr/>
        </p:nvSpPr>
        <p:spPr>
          <a:xfrm xmlns:a="http://schemas.openxmlformats.org/drawingml/2006/main">
            <a:off x="7429500" y="1828800"/>
            <a:ext cx="1600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140" b="1">
                <a:solidFill>
                  <a:srgbClr val="2CA56F"/>
                </a:solidFill>
                <a:latin typeface="Aptos"/>
                <a:ea typeface="Aptos"/>
                <a:cs typeface="Aptos"/>
              </a:defRPr>
            </a:pPr>
            <a:r>
              <a:rPr sz="1140" b="1">
                <a:solidFill>
                  <a:srgbClr val="2CA56F"/>
                </a:solidFill>
                <a:latin typeface="Aptos"/>
                <a:ea typeface="Aptos"/>
                <a:cs typeface="Aptos"/>
              </a:rPr>
              <a:t>EXECUTE</a:t>
            </a:r>
          </a:p>
        </p:txBody>
      </p:sp>
      <p:sp>
        <p:nvSpPr>
          <p:cNvPr id="41" name="s34-stage-file-3">
            <a:extLst xmlns:a="http://schemas.openxmlformats.org/drawingml/2006/main">
              <a:ext uri="{FF2B5EF4-FFF2-40B4-BE49-F238E27FC236}">
                <a16:creationId xmlns:a16="http://schemas.microsoft.com/office/drawing/2014/main" id="{EF8EAE54-58EE-42EA-8D80-9D25021E174A}"/>
              </a:ext>
            </a:extLst>
          </p:cNvPr>
          <p:cNvSpPr>
            <a:spLocks xmlns:a="http://schemas.openxmlformats.org/drawingml/2006/main" noGrp="1"/>
          </p:cNvSpPr>
          <p:nvPr/>
        </p:nvSpPr>
        <p:spPr>
          <a:xfrm xmlns:a="http://schemas.openxmlformats.org/drawingml/2006/main">
            <a:off x="7410450" y="2105025"/>
            <a:ext cx="1638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960" b="1">
                <a:solidFill>
                  <a:srgbClr val="2D6CDF"/>
                </a:solidFill>
                <a:latin typeface="Aptos"/>
                <a:ea typeface="Aptos"/>
                <a:cs typeface="Aptos"/>
              </a:defRPr>
            </a:pPr>
            <a:r>
              <a:rPr sz="960" b="1">
                <a:solidFill>
                  <a:srgbClr val="2D6CDF"/>
                </a:solidFill>
                <a:latin typeface="Aptos"/>
                <a:ea typeface="Aptos"/>
                <a:cs typeface="Aptos"/>
              </a:rPr>
              <a:t>run_pitch_rate_</a:t>
            </a:r>
          </a:p>
          <a:p xmlns:a="http://schemas.openxmlformats.org/drawingml/2006/main">
            <a:pPr algn="ctr">
              <a:defRPr sz="960" b="1">
                <a:solidFill>
                  <a:srgbClr val="2D6CDF"/>
                </a:solidFill>
                <a:latin typeface="Aptos"/>
                <a:ea typeface="Aptos"/>
                <a:cs typeface="Aptos"/>
              </a:defRPr>
            </a:pPr>
            <a:r>
              <a:rPr sz="960" b="1">
                <a:solidFill>
                  <a:srgbClr val="2D6CDF"/>
                </a:solidFill>
                <a:latin typeface="Aptos"/>
                <a:ea typeface="Aptos"/>
                <a:cs typeface="Aptos"/>
              </a:rPr>
              <a:t>limiter_tests.m</a:t>
            </a:r>
          </a:p>
        </p:txBody>
      </p:sp>
      <p:sp>
        <p:nvSpPr>
          <p:cNvPr id="42" name="s34-stage-body-3">
            <a:extLst xmlns:a="http://schemas.openxmlformats.org/drawingml/2006/main">
              <a:ext uri="{FF2B5EF4-FFF2-40B4-BE49-F238E27FC236}">
                <a16:creationId xmlns:a16="http://schemas.microsoft.com/office/drawing/2014/main" id="{9561AFF4-B393-4AF8-BC11-BC478BAEAB6B}"/>
              </a:ext>
            </a:extLst>
          </p:cNvPr>
          <p:cNvSpPr>
            <a:spLocks xmlns:a="http://schemas.openxmlformats.org/drawingml/2006/main" noGrp="1"/>
          </p:cNvSpPr>
          <p:nvPr/>
        </p:nvSpPr>
        <p:spPr>
          <a:xfrm xmlns:a="http://schemas.openxmlformats.org/drawingml/2006/main">
            <a:off x="7429500" y="2571750"/>
            <a:ext cx="1600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990" b="1">
                <a:solidFill>
                  <a:srgbClr val="17324A"/>
                </a:solidFill>
                <a:latin typeface="Aptos"/>
                <a:ea typeface="Aptos"/>
                <a:cs typeface="Aptos"/>
              </a:defRPr>
            </a:pPr>
            <a:r>
              <a:rPr sz="990" b="1">
                <a:solidFill>
                  <a:srgbClr val="17324A"/>
                </a:solidFill>
                <a:latin typeface="Aptos"/>
                <a:ea typeface="Aptos"/>
                <a:cs typeface="Aptos"/>
              </a:rPr>
              <a:t>harness run + visible oracle</a:t>
            </a:r>
          </a:p>
        </p:txBody>
      </p:sp>
      <p:sp>
        <p:nvSpPr>
          <p:cNvPr id="43" name="s34-stage-4">
            <a:extLst xmlns:a="http://schemas.openxmlformats.org/drawingml/2006/main">
              <a:ext uri="{FF2B5EF4-FFF2-40B4-BE49-F238E27FC236}">
                <a16:creationId xmlns:a16="http://schemas.microsoft.com/office/drawing/2014/main" id="{9AFCE74D-CB9A-4F6B-B52E-8D2D2213FF06}"/>
              </a:ext>
            </a:extLst>
          </p:cNvPr>
          <p:cNvSpPr>
            <a:spLocks xmlns:a="http://schemas.openxmlformats.org/drawingml/2006/main" noGrp="1"/>
          </p:cNvSpPr>
          <p:nvPr/>
        </p:nvSpPr>
        <p:spPr>
          <a:xfrm xmlns:a="http://schemas.openxmlformats.org/drawingml/2006/main">
            <a:off x="9525000" y="1714500"/>
            <a:ext cx="1828800" cy="1381125"/>
          </a:xfrm>
          <a:prstGeom xmlns:a="http://schemas.openxmlformats.org/drawingml/2006/main" prst="roundRect">
            <a:avLst>
              <a:gd name="adj" fmla="val 8276"/>
            </a:avLst>
          </a:prstGeom>
          <a:solidFill xmlns:a="http://schemas.openxmlformats.org/drawingml/2006/main">
            <a:srgbClr val="FFFFFF"/>
          </a:solidFill>
          <a:ln xmlns:a="http://schemas.openxmlformats.org/drawingml/2006/main" w="14288">
            <a:solidFill>
              <a:srgbClr val="20B7C5"/>
            </a:solidFill>
            <a:prstDash val="solid"/>
          </a:ln>
        </p:spPr>
      </p:sp>
      <p:sp>
        <p:nvSpPr>
          <p:cNvPr id="44" name="s34-stage-title-4">
            <a:extLst xmlns:a="http://schemas.openxmlformats.org/drawingml/2006/main">
              <a:ext uri="{FF2B5EF4-FFF2-40B4-BE49-F238E27FC236}">
                <a16:creationId xmlns:a16="http://schemas.microsoft.com/office/drawing/2014/main" id="{32682F9D-1D8B-4181-80D3-B31FD919B603}"/>
              </a:ext>
            </a:extLst>
          </p:cNvPr>
          <p:cNvSpPr>
            <a:spLocks xmlns:a="http://schemas.openxmlformats.org/drawingml/2006/main" noGrp="1"/>
          </p:cNvSpPr>
          <p:nvPr/>
        </p:nvSpPr>
        <p:spPr>
          <a:xfrm xmlns:a="http://schemas.openxmlformats.org/drawingml/2006/main">
            <a:off x="9639300" y="1828800"/>
            <a:ext cx="1600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140" b="1">
                <a:solidFill>
                  <a:srgbClr val="20B7C5"/>
                </a:solidFill>
                <a:latin typeface="Aptos"/>
                <a:ea typeface="Aptos"/>
                <a:cs typeface="Aptos"/>
              </a:defRPr>
            </a:pPr>
            <a:r>
              <a:rPr sz="1140" b="1">
                <a:solidFill>
                  <a:srgbClr val="20B7C5"/>
                </a:solidFill>
                <a:latin typeface="Aptos"/>
                <a:ea typeface="Aptos"/>
                <a:cs typeface="Aptos"/>
              </a:rPr>
              <a:t>CLEANUP</a:t>
            </a:r>
          </a:p>
        </p:txBody>
      </p:sp>
      <p:sp>
        <p:nvSpPr>
          <p:cNvPr id="45" name="s34-stage-file-4">
            <a:extLst xmlns:a="http://schemas.openxmlformats.org/drawingml/2006/main">
              <a:ext uri="{FF2B5EF4-FFF2-40B4-BE49-F238E27FC236}">
                <a16:creationId xmlns:a16="http://schemas.microsoft.com/office/drawing/2014/main" id="{BE776F2E-F3A2-4589-B04B-72B01E79F327}"/>
              </a:ext>
            </a:extLst>
          </p:cNvPr>
          <p:cNvSpPr>
            <a:spLocks xmlns:a="http://schemas.openxmlformats.org/drawingml/2006/main" noGrp="1"/>
          </p:cNvSpPr>
          <p:nvPr/>
        </p:nvSpPr>
        <p:spPr>
          <a:xfrm xmlns:a="http://schemas.openxmlformats.org/drawingml/2006/main">
            <a:off x="9620250" y="2105025"/>
            <a:ext cx="1638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960" b="1">
                <a:solidFill>
                  <a:srgbClr val="2D6CDF"/>
                </a:solidFill>
                <a:latin typeface="Aptos"/>
                <a:ea typeface="Aptos"/>
                <a:cs typeface="Aptos"/>
              </a:defRPr>
            </a:pPr>
            <a:r>
              <a:rPr sz="960" b="1">
                <a:solidFill>
                  <a:srgbClr val="2D6CDF"/>
                </a:solidFill>
                <a:latin typeface="Aptos"/>
                <a:ea typeface="Aptos"/>
                <a:cs typeface="Aptos"/>
              </a:rPr>
              <a:t>training_callback_</a:t>
            </a:r>
          </a:p>
          <a:p xmlns:a="http://schemas.openxmlformats.org/drawingml/2006/main">
            <a:pPr algn="ctr">
              <a:defRPr sz="960" b="1">
                <a:solidFill>
                  <a:srgbClr val="2D6CDF"/>
                </a:solidFill>
                <a:latin typeface="Aptos"/>
                <a:ea typeface="Aptos"/>
                <a:cs typeface="Aptos"/>
              </a:defRPr>
            </a:pPr>
            <a:r>
              <a:rPr sz="960" b="1">
                <a:solidFill>
                  <a:srgbClr val="2D6CDF"/>
                </a:solidFill>
                <a:latin typeface="Aptos"/>
                <a:ea typeface="Aptos"/>
                <a:cs typeface="Aptos"/>
              </a:rPr>
              <a:t>cleanup.m</a:t>
            </a:r>
          </a:p>
        </p:txBody>
      </p:sp>
      <p:sp>
        <p:nvSpPr>
          <p:cNvPr id="46" name="s34-stage-body-4">
            <a:extLst xmlns:a="http://schemas.openxmlformats.org/drawingml/2006/main">
              <a:ext uri="{FF2B5EF4-FFF2-40B4-BE49-F238E27FC236}">
                <a16:creationId xmlns:a16="http://schemas.microsoft.com/office/drawing/2014/main" id="{1C99E313-1AB2-40B7-B406-185A3000C708}"/>
              </a:ext>
            </a:extLst>
          </p:cNvPr>
          <p:cNvSpPr>
            <a:spLocks xmlns:a="http://schemas.openxmlformats.org/drawingml/2006/main" noGrp="1"/>
          </p:cNvSpPr>
          <p:nvPr/>
        </p:nvSpPr>
        <p:spPr>
          <a:xfrm xmlns:a="http://schemas.openxmlformats.org/drawingml/2006/main">
            <a:off x="9639300" y="2571750"/>
            <a:ext cx="1600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990" b="1">
                <a:solidFill>
                  <a:srgbClr val="17324A"/>
                </a:solidFill>
                <a:latin typeface="Aptos"/>
                <a:ea typeface="Aptos"/>
                <a:cs typeface="Aptos"/>
              </a:defRPr>
            </a:pPr>
            <a:r>
              <a:rPr sz="990" b="1">
                <a:solidFill>
                  <a:srgbClr val="17324A"/>
                </a:solidFill>
                <a:latin typeface="Aptos"/>
                <a:ea typeface="Aptos"/>
                <a:cs typeface="Aptos"/>
              </a:rPr>
              <a:t>release only owned state</a:t>
            </a:r>
          </a:p>
        </p:txBody>
      </p:sp>
      <p:sp>
        <p:nvSpPr>
          <p:cNvPr id="47" name="s34-principle-0">
            <a:extLst xmlns:a="http://schemas.openxmlformats.org/drawingml/2006/main">
              <a:ext uri="{FF2B5EF4-FFF2-40B4-BE49-F238E27FC236}">
                <a16:creationId xmlns:a16="http://schemas.microsoft.com/office/drawing/2014/main" id="{5ECA5762-8B37-4E7E-91C7-8758F8ED2599}"/>
              </a:ext>
            </a:extLst>
          </p:cNvPr>
          <p:cNvSpPr>
            <a:spLocks xmlns:a="http://schemas.openxmlformats.org/drawingml/2006/main" noGrp="1"/>
          </p:cNvSpPr>
          <p:nvPr/>
        </p:nvSpPr>
        <p:spPr>
          <a:xfrm xmlns:a="http://schemas.openxmlformats.org/drawingml/2006/main">
            <a:off x="685800" y="3600450"/>
            <a:ext cx="3390900" cy="1200150"/>
          </a:xfrm>
          <a:prstGeom xmlns:a="http://schemas.openxmlformats.org/drawingml/2006/main" prst="roundRect">
            <a:avLst>
              <a:gd name="adj" fmla="val 9524"/>
            </a:avLst>
          </a:prstGeom>
          <a:solidFill xmlns:a="http://schemas.openxmlformats.org/drawingml/2006/main">
            <a:srgbClr val="EEF4F8"/>
          </a:solidFill>
          <a:ln xmlns:a="http://schemas.openxmlformats.org/drawingml/2006/main" w="14288">
            <a:solidFill>
              <a:srgbClr val="C9D8E3"/>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350" b="1">
                <a:solidFill>
                  <a:srgbClr val="0B1F33"/>
                </a:solidFill>
                <a:latin typeface="Aptos"/>
                <a:ea typeface="Aptos"/>
                <a:cs typeface="Aptos"/>
              </a:defRPr>
            </a:pPr>
            <a:r>
              <a:rPr sz="1350" b="1">
                <a:solidFill>
                  <a:srgbClr val="0B1F33"/>
                </a:solidFill>
                <a:latin typeface="Aptos"/>
                <a:ea typeface="Aptos"/>
                <a:cs typeface="Aptos"/>
              </a:rPr>
              <a:t>CONTEXT</a:t>
            </a:r>
          </a:p>
          <a:p xmlns:a="http://schemas.openxmlformats.org/drawingml/2006/main">
            <a:pPr algn="ctr">
              <a:defRPr sz="1350" b="1">
                <a:solidFill>
                  <a:srgbClr val="0B1F33"/>
                </a:solidFill>
                <a:latin typeface="Aptos"/>
                <a:ea typeface="Aptos"/>
                <a:cs typeface="Aptos"/>
              </a:defRPr>
            </a:pPr>
            <a:r>
              <a:rPr sz="1350" b="1">
                <a:solidFill>
                  <a:srgbClr val="0B1F33"/>
                </a:solidFill>
                <a:latin typeface="Aptos"/>
                <a:ea typeface="Aptos"/>
                <a:cs typeface="Aptos"/>
              </a:rPr>
              <a:t>Callbacks establish reproducible state.</a:t>
            </a:r>
          </a:p>
        </p:txBody>
      </p:sp>
      <p:sp>
        <p:nvSpPr>
          <p:cNvPr id="48" name="s34-principle-1">
            <a:extLst xmlns:a="http://schemas.openxmlformats.org/drawingml/2006/main">
              <a:ext uri="{FF2B5EF4-FFF2-40B4-BE49-F238E27FC236}">
                <a16:creationId xmlns:a16="http://schemas.microsoft.com/office/drawing/2014/main" id="{3321E1B9-1DD6-4A65-929F-49071314BA3A}"/>
              </a:ext>
            </a:extLst>
          </p:cNvPr>
          <p:cNvSpPr>
            <a:spLocks xmlns:a="http://schemas.openxmlformats.org/drawingml/2006/main" noGrp="1"/>
          </p:cNvSpPr>
          <p:nvPr/>
        </p:nvSpPr>
        <p:spPr>
          <a:xfrm xmlns:a="http://schemas.openxmlformats.org/drawingml/2006/main">
            <a:off x="4305300" y="3600450"/>
            <a:ext cx="3390900" cy="1200150"/>
          </a:xfrm>
          <a:prstGeom xmlns:a="http://schemas.openxmlformats.org/drawingml/2006/main" prst="roundRect">
            <a:avLst>
              <a:gd name="adj" fmla="val 9524"/>
            </a:avLst>
          </a:prstGeom>
          <a:solidFill xmlns:a="http://schemas.openxmlformats.org/drawingml/2006/main">
            <a:srgbClr val="0B243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350" b="1">
                <a:solidFill>
                  <a:srgbClr val="FFFFFF"/>
                </a:solidFill>
                <a:latin typeface="Aptos"/>
                <a:ea typeface="Aptos"/>
                <a:cs typeface="Aptos"/>
              </a:defRPr>
            </a:pPr>
            <a:r>
              <a:rPr sz="1350" b="1">
                <a:solidFill>
                  <a:srgbClr val="FFFFFF"/>
                </a:solidFill>
                <a:latin typeface="Aptos"/>
                <a:ea typeface="Aptos"/>
                <a:cs typeface="Aptos"/>
              </a:rPr>
              <a:t>ORACLE</a:t>
            </a:r>
          </a:p>
          <a:p xmlns:a="http://schemas.openxmlformats.org/drawingml/2006/main">
            <a:pPr algn="ctr">
              <a:defRPr sz="1350" b="1">
                <a:solidFill>
                  <a:srgbClr val="FFFFFF"/>
                </a:solidFill>
                <a:latin typeface="Aptos"/>
                <a:ea typeface="Aptos"/>
                <a:cs typeface="Aptos"/>
              </a:defRPr>
            </a:pPr>
            <a:r>
              <a:rPr sz="1350" b="1">
                <a:solidFill>
                  <a:srgbClr val="FFFFFF"/>
                </a:solidFill>
                <a:latin typeface="Aptos"/>
                <a:ea typeface="Aptos"/>
                <a:cs typeface="Aptos"/>
              </a:rPr>
              <a:t>Expected values and pass/fail logic stay in the test driver.</a:t>
            </a:r>
          </a:p>
        </p:txBody>
      </p:sp>
      <p:sp>
        <p:nvSpPr>
          <p:cNvPr id="49" name="s34-principle-2">
            <a:extLst xmlns:a="http://schemas.openxmlformats.org/drawingml/2006/main">
              <a:ext uri="{FF2B5EF4-FFF2-40B4-BE49-F238E27FC236}">
                <a16:creationId xmlns:a16="http://schemas.microsoft.com/office/drawing/2014/main" id="{F0D763B5-54A8-46EF-AEA3-FE4EFECDD9D2}"/>
              </a:ext>
            </a:extLst>
          </p:cNvPr>
          <p:cNvSpPr>
            <a:spLocks xmlns:a="http://schemas.openxmlformats.org/drawingml/2006/main" noGrp="1"/>
          </p:cNvSpPr>
          <p:nvPr/>
        </p:nvSpPr>
        <p:spPr>
          <a:xfrm xmlns:a="http://schemas.openxmlformats.org/drawingml/2006/main">
            <a:off x="7924800" y="3600450"/>
            <a:ext cx="3390900" cy="1200150"/>
          </a:xfrm>
          <a:prstGeom xmlns:a="http://schemas.openxmlformats.org/drawingml/2006/main" prst="roundRect">
            <a:avLst>
              <a:gd name="adj" fmla="val 9524"/>
            </a:avLst>
          </a:prstGeom>
          <a:solidFill xmlns:a="http://schemas.openxmlformats.org/drawingml/2006/main">
            <a:srgbClr val="EEF4F8"/>
          </a:solidFill>
          <a:ln xmlns:a="http://schemas.openxmlformats.org/drawingml/2006/main" w="14288">
            <a:solidFill>
              <a:srgbClr val="C9D8E3"/>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350" b="1">
                <a:solidFill>
                  <a:srgbClr val="0B1F33"/>
                </a:solidFill>
                <a:latin typeface="Aptos"/>
                <a:ea typeface="Aptos"/>
                <a:cs typeface="Aptos"/>
              </a:defRPr>
            </a:pPr>
            <a:r>
              <a:rPr sz="1350" b="1">
                <a:solidFill>
                  <a:srgbClr val="0B1F33"/>
                </a:solidFill>
                <a:latin typeface="Aptos"/>
                <a:ea typeface="Aptos"/>
                <a:cs typeface="Aptos"/>
              </a:rPr>
              <a:t>EVIDENCE</a:t>
            </a:r>
          </a:p>
          <a:p xmlns:a="http://schemas.openxmlformats.org/drawingml/2006/main">
            <a:pPr algn="ctr">
              <a:defRPr sz="1350" b="1">
                <a:solidFill>
                  <a:srgbClr val="0B1F33"/>
                </a:solidFill>
                <a:latin typeface="Aptos"/>
                <a:ea typeface="Aptos"/>
                <a:cs typeface="Aptos"/>
              </a:defRPr>
            </a:pPr>
            <a:r>
              <a:rPr sz="1350" b="1">
                <a:solidFill>
                  <a:srgbClr val="0B1F33"/>
                </a:solidFill>
                <a:latin typeface="Aptos"/>
                <a:ea typeface="Aptos"/>
                <a:cs typeface="Aptos"/>
              </a:rPr>
              <a:t>CSV, MAT, HTML, and PNG retain the controlled outcome.</a:t>
            </a:r>
          </a:p>
        </p:txBody>
      </p:sp>
      <p:sp>
        <p:nvSpPr>
          <p:cNvPr id="50" name="s34-repeat">
            <a:extLst xmlns:a="http://schemas.openxmlformats.org/drawingml/2006/main">
              <a:ext uri="{FF2B5EF4-FFF2-40B4-BE49-F238E27FC236}">
                <a16:creationId xmlns:a16="http://schemas.microsoft.com/office/drawing/2014/main" id="{25E600EB-D492-4BF7-9FA2-C0A154BD392D}"/>
              </a:ext>
            </a:extLst>
          </p:cNvPr>
          <p:cNvSpPr>
            <a:spLocks xmlns:a="http://schemas.openxmlformats.org/drawingml/2006/main" noGrp="1"/>
          </p:cNvSpPr>
          <p:nvPr/>
        </p:nvSpPr>
        <p:spPr>
          <a:xfrm xmlns:a="http://schemas.openxmlformats.org/drawingml/2006/main">
            <a:off x="685800" y="5067300"/>
            <a:ext cx="10820400" cy="781050"/>
          </a:xfrm>
          <a:prstGeom xmlns:a="http://schemas.openxmlformats.org/drawingml/2006/main" prst="roundRect">
            <a:avLst>
              <a:gd name="adj" fmla="val 14634"/>
            </a:avLst>
          </a:prstGeom>
          <a:solidFill xmlns:a="http://schemas.openxmlformats.org/drawingml/2006/main">
            <a:srgbClr val="DFF6F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350" b="1">
                <a:solidFill>
                  <a:srgbClr val="0B1F33"/>
                </a:solidFill>
                <a:latin typeface="Aptos"/>
                <a:ea typeface="Aptos"/>
                <a:cs typeface="Aptos"/>
              </a:defRPr>
            </a:pPr>
            <a:r>
              <a:rPr sz="1350" b="1">
                <a:solidFill>
                  <a:srgbClr val="0B1F33"/>
                </a:solidFill>
                <a:latin typeface="Aptos"/>
                <a:ea typeface="Aptos"/>
                <a:cs typeface="Aptos"/>
              </a:rPr>
              <a:t>Repeatability rule: prepare → execute → assess → retain → clean up. Dirty learner models are preserved so cleanup does not discard unsaved work.</a:t>
            </a:r>
          </a:p>
        </p:txBody>
      </p:sp>
    </p:spTree>
    <p:extLst>
      <p:ext uri="{BB962C8B-B14F-4D97-AF65-F5344CB8AC3E}">
        <p14:creationId xmlns:p14="http://schemas.microsoft.com/office/powerpoint/2010/main" val="1450052894"/>
      </p:ext>
    </p:extLst>
  </p:cSld>
</p:sld>
</file>

<file path=ppt/slides/slide35.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6" name="section-310">
            <a:extLst xmlns:a="http://schemas.openxmlformats.org/drawingml/2006/main">
              <a:ext uri="{FF2B5EF4-FFF2-40B4-BE49-F238E27FC236}">
                <a16:creationId xmlns:a16="http://schemas.microsoft.com/office/drawing/2014/main" id="{6B41A3AD-E5BA-4C1F-9AA7-DF9DD5BEC401}"/>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06 • VERIFICATION WORKFLOW</a:t>
            </a:r>
          </a:p>
        </p:txBody>
      </p:sp>
      <p:sp>
        <p:nvSpPr>
          <p:cNvPr id="2" name="title-310">
            <a:extLst xmlns:a="http://schemas.openxmlformats.org/drawingml/2006/main">
              <a:ext uri="{FF2B5EF4-FFF2-40B4-BE49-F238E27FC236}">
                <a16:creationId xmlns:a16="http://schemas.microsoft.com/office/drawing/2014/main" id="{8CB8F5F0-F0A5-4605-B70C-BE3A618F8732}"/>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FCS_Data.sldd controls shared parameters and interfaces</a:t>
            </a:r>
          </a:p>
        </p:txBody>
      </p:sp>
      <p:sp>
        <p:nvSpPr>
          <p:cNvPr id="3" name="line-311">
            <a:extLst xmlns:a="http://schemas.openxmlformats.org/drawingml/2006/main">
              <a:ext uri="{FF2B5EF4-FFF2-40B4-BE49-F238E27FC236}">
                <a16:creationId xmlns:a16="http://schemas.microsoft.com/office/drawing/2014/main" id="{786527CA-9120-4ABE-B714-7B2DE7C28E55}"/>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312">
            <a:extLst xmlns:a="http://schemas.openxmlformats.org/drawingml/2006/main">
              <a:ext uri="{FF2B5EF4-FFF2-40B4-BE49-F238E27FC236}">
                <a16:creationId xmlns:a16="http://schemas.microsoft.com/office/drawing/2014/main" id="{990F2D20-3950-4DA0-8426-B004A52AC789}"/>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313">
            <a:extLst xmlns:a="http://schemas.openxmlformats.org/drawingml/2006/main">
              <a:ext uri="{FF2B5EF4-FFF2-40B4-BE49-F238E27FC236}">
                <a16:creationId xmlns:a16="http://schemas.microsoft.com/office/drawing/2014/main" id="{0D535931-27E5-4693-A353-740B01F881D7}"/>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35</a:t>
            </a:r>
          </a:p>
        </p:txBody>
      </p:sp>
      <p:sp>
        <p:nvSpPr>
          <p:cNvPr id="17" name="s35-path">
            <a:extLst xmlns:a="http://schemas.openxmlformats.org/drawingml/2006/main">
              <a:ext uri="{FF2B5EF4-FFF2-40B4-BE49-F238E27FC236}">
                <a16:creationId xmlns:a16="http://schemas.microsoft.com/office/drawing/2014/main" id="{3A6611F2-B048-45EB-9CF4-D80DC37D0ECF}"/>
              </a:ext>
            </a:extLst>
          </p:cNvPr>
          <p:cNvSpPr>
            <a:spLocks xmlns:a="http://schemas.openxmlformats.org/drawingml/2006/main" noGrp="1"/>
          </p:cNvSpPr>
          <p:nvPr/>
        </p:nvSpPr>
        <p:spPr>
          <a:xfrm xmlns:a="http://schemas.openxmlformats.org/drawingml/2006/main">
            <a:off x="685800" y="1381125"/>
            <a:ext cx="10820400" cy="381000"/>
          </a:xfrm>
          <a:prstGeom xmlns:a="http://schemas.openxmlformats.org/drawingml/2006/main" prst="roundRect">
            <a:avLst>
              <a:gd name="adj" fmla="val 30000"/>
            </a:avLst>
          </a:prstGeom>
          <a:solidFill xmlns:a="http://schemas.openxmlformats.org/drawingml/2006/main">
            <a:srgbClr val="0B243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238" b="1">
                <a:solidFill>
                  <a:srgbClr val="FFFFFF"/>
                </a:solidFill>
                <a:latin typeface="Aptos"/>
                <a:ea typeface="Aptos"/>
                <a:cs typeface="Aptos"/>
              </a:defRPr>
            </a:pPr>
            <a:r>
              <a:rPr sz="1238" b="1">
                <a:solidFill>
                  <a:srgbClr val="FFFFFF"/>
                </a:solidFill>
                <a:latin typeface="Aptos"/>
                <a:ea typeface="Aptos"/>
                <a:cs typeface="Aptos"/>
              </a:rPr>
              <a:t>data/FCS_Data.sldd  •  shared by all eight delivered models  •  controlled fixed-step Sample_time = 0.02 s (50 Hz)</a:t>
            </a:r>
          </a:p>
        </p:txBody>
      </p:sp>
      <p:sp>
        <p:nvSpPr>
          <p:cNvPr id="18" name="s35-param-heading">
            <a:extLst xmlns:a="http://schemas.openxmlformats.org/drawingml/2006/main">
              <a:ext uri="{FF2B5EF4-FFF2-40B4-BE49-F238E27FC236}">
                <a16:creationId xmlns:a16="http://schemas.microsoft.com/office/drawing/2014/main" id="{E891095B-CEF8-4D9A-8051-DA9B748BAC3E}"/>
              </a:ext>
            </a:extLst>
          </p:cNvPr>
          <p:cNvSpPr>
            <a:spLocks xmlns:a="http://schemas.openxmlformats.org/drawingml/2006/main" noGrp="1"/>
          </p:cNvSpPr>
          <p:nvPr/>
        </p:nvSpPr>
        <p:spPr>
          <a:xfrm xmlns:a="http://schemas.openxmlformats.org/drawingml/2006/main">
            <a:off x="685800" y="1914525"/>
            <a:ext cx="5257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125" b="1">
                <a:solidFill>
                  <a:srgbClr val="2D6CDF"/>
                </a:solidFill>
                <a:latin typeface="Aptos"/>
                <a:ea typeface="Aptos"/>
                <a:cs typeface="Aptos"/>
              </a:defRPr>
            </a:pPr>
            <a:r>
              <a:rPr sz="1125" b="1">
                <a:solidFill>
                  <a:srgbClr val="2D6CDF"/>
                </a:solidFill>
                <a:latin typeface="Aptos"/>
                <a:ea typeface="Aptos"/>
                <a:cs typeface="Aptos"/>
              </a:rPr>
              <a:t>ILLUSTRATIVE CONTROLLED PARAMETERS</a:t>
            </a:r>
          </a:p>
        </p:txBody>
      </p:sp>
      <p:sp>
        <p:nvSpPr>
          <p:cNvPr id="19" name="s35-bus-heading">
            <a:extLst xmlns:a="http://schemas.openxmlformats.org/drawingml/2006/main">
              <a:ext uri="{FF2B5EF4-FFF2-40B4-BE49-F238E27FC236}">
                <a16:creationId xmlns:a16="http://schemas.microsoft.com/office/drawing/2014/main" id="{B45598B7-AA24-40AA-8DF9-2A11A0F7D6B3}"/>
              </a:ext>
            </a:extLst>
          </p:cNvPr>
          <p:cNvSpPr>
            <a:spLocks xmlns:a="http://schemas.openxmlformats.org/drawingml/2006/main" noGrp="1"/>
          </p:cNvSpPr>
          <p:nvPr/>
        </p:nvSpPr>
        <p:spPr>
          <a:xfrm xmlns:a="http://schemas.openxmlformats.org/drawingml/2006/main">
            <a:off x="6248400" y="1914525"/>
            <a:ext cx="5257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125" b="1">
                <a:solidFill>
                  <a:srgbClr val="20B7C5"/>
                </a:solidFill>
                <a:latin typeface="Aptos"/>
                <a:ea typeface="Aptos"/>
                <a:cs typeface="Aptos"/>
              </a:defRPr>
            </a:pPr>
            <a:r>
              <a:rPr sz="1125" b="1">
                <a:solidFill>
                  <a:srgbClr val="20B7C5"/>
                </a:solidFill>
                <a:latin typeface="Aptos"/>
                <a:ea typeface="Aptos"/>
                <a:cs typeface="Aptos"/>
              </a:rPr>
              <a:t>FlightControlBus — EXPLICIT INTERFACE CONTRACT</a:t>
            </a:r>
          </a:p>
        </p:txBody>
      </p:sp>
      <p:sp>
        <p:nvSpPr>
          <p:cNvPr id="20" name="s35-param-0">
            <a:extLst xmlns:a="http://schemas.openxmlformats.org/drawingml/2006/main">
              <a:ext uri="{FF2B5EF4-FFF2-40B4-BE49-F238E27FC236}">
                <a16:creationId xmlns:a16="http://schemas.microsoft.com/office/drawing/2014/main" id="{CF4CC462-81BD-4FB3-9D1A-8C8B23D4F9E2}"/>
              </a:ext>
            </a:extLst>
          </p:cNvPr>
          <p:cNvSpPr>
            <a:spLocks xmlns:a="http://schemas.openxmlformats.org/drawingml/2006/main" noGrp="1"/>
          </p:cNvSpPr>
          <p:nvPr/>
        </p:nvSpPr>
        <p:spPr>
          <a:xfrm xmlns:a="http://schemas.openxmlformats.org/drawingml/2006/main">
            <a:off x="685800" y="2266950"/>
            <a:ext cx="525780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9525">
            <a:solidFill>
              <a:srgbClr val="C9D8E3"/>
            </a:solidFill>
            <a:prstDash val="solid"/>
          </a:ln>
        </p:spPr>
      </p:sp>
      <p:sp>
        <p:nvSpPr>
          <p:cNvPr id="21" name="s35-param-name-0">
            <a:extLst xmlns:a="http://schemas.openxmlformats.org/drawingml/2006/main">
              <a:ext uri="{FF2B5EF4-FFF2-40B4-BE49-F238E27FC236}">
                <a16:creationId xmlns:a16="http://schemas.microsoft.com/office/drawing/2014/main" id="{BD489A8E-0DCC-40C6-BE90-901E5CEC200A}"/>
              </a:ext>
            </a:extLst>
          </p:cNvPr>
          <p:cNvSpPr>
            <a:spLocks xmlns:a="http://schemas.openxmlformats.org/drawingml/2006/main" noGrp="1"/>
          </p:cNvSpPr>
          <p:nvPr/>
        </p:nvSpPr>
        <p:spPr>
          <a:xfrm xmlns:a="http://schemas.openxmlformats.org/drawingml/2006/main">
            <a:off x="819150" y="2305050"/>
            <a:ext cx="2171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200" b="1">
                <a:solidFill>
                  <a:srgbClr val="2D6CDF"/>
                </a:solidFill>
                <a:latin typeface="Aptos"/>
                <a:ea typeface="Aptos"/>
                <a:cs typeface="Aptos"/>
              </a:defRPr>
            </a:pPr>
            <a:r>
              <a:rPr sz="1200" b="1">
                <a:solidFill>
                  <a:srgbClr val="2D6CDF"/>
                </a:solidFill>
                <a:latin typeface="Aptos"/>
                <a:ea typeface="Aptos"/>
                <a:cs typeface="Aptos"/>
              </a:rPr>
              <a:t>Sample_time</a:t>
            </a:r>
          </a:p>
        </p:txBody>
      </p:sp>
      <p:sp>
        <p:nvSpPr>
          <p:cNvPr id="22" name="s35-param-value-0">
            <a:extLst xmlns:a="http://schemas.openxmlformats.org/drawingml/2006/main">
              <a:ext uri="{FF2B5EF4-FFF2-40B4-BE49-F238E27FC236}">
                <a16:creationId xmlns:a16="http://schemas.microsoft.com/office/drawing/2014/main" id="{8BD2267C-F92C-4E27-A2A9-94B09F7B27A0}"/>
              </a:ext>
            </a:extLst>
          </p:cNvPr>
          <p:cNvSpPr>
            <a:spLocks xmlns:a="http://schemas.openxmlformats.org/drawingml/2006/main" noGrp="1"/>
          </p:cNvSpPr>
          <p:nvPr/>
        </p:nvSpPr>
        <p:spPr>
          <a:xfrm xmlns:a="http://schemas.openxmlformats.org/drawingml/2006/main">
            <a:off x="3048000" y="2305050"/>
            <a:ext cx="1638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defRPr sz="1200" b="1">
                <a:solidFill>
                  <a:srgbClr val="0B1F33"/>
                </a:solidFill>
                <a:latin typeface="Aptos"/>
                <a:ea typeface="Aptos"/>
                <a:cs typeface="Aptos"/>
              </a:defRPr>
            </a:pPr>
            <a:r>
              <a:rPr sz="1200" b="1">
                <a:solidFill>
                  <a:srgbClr val="0B1F33"/>
                </a:solidFill>
                <a:latin typeface="Aptos"/>
                <a:ea typeface="Aptos"/>
                <a:cs typeface="Aptos"/>
              </a:rPr>
              <a:t>0.02 s</a:t>
            </a:r>
          </a:p>
        </p:txBody>
      </p:sp>
      <p:sp>
        <p:nvSpPr>
          <p:cNvPr id="23" name="s35-param-type-0">
            <a:extLst xmlns:a="http://schemas.openxmlformats.org/drawingml/2006/main">
              <a:ext uri="{FF2B5EF4-FFF2-40B4-BE49-F238E27FC236}">
                <a16:creationId xmlns:a16="http://schemas.microsoft.com/office/drawing/2014/main" id="{2F70D834-EE6F-4A7C-AD83-3783ACC65F5B}"/>
              </a:ext>
            </a:extLst>
          </p:cNvPr>
          <p:cNvSpPr>
            <a:spLocks xmlns:a="http://schemas.openxmlformats.org/drawingml/2006/main" noGrp="1"/>
          </p:cNvSpPr>
          <p:nvPr/>
        </p:nvSpPr>
        <p:spPr>
          <a:xfrm xmlns:a="http://schemas.openxmlformats.org/drawingml/2006/main">
            <a:off x="4762500" y="2305050"/>
            <a:ext cx="1028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defRPr sz="1050" b="1">
                <a:solidFill>
                  <a:srgbClr val="5D7487"/>
                </a:solidFill>
                <a:latin typeface="Aptos"/>
                <a:ea typeface="Aptos"/>
                <a:cs typeface="Aptos"/>
              </a:defRPr>
            </a:pPr>
            <a:r>
              <a:rPr sz="1050" b="1">
                <a:solidFill>
                  <a:srgbClr val="5D7487"/>
                </a:solidFill>
                <a:latin typeface="Aptos"/>
                <a:ea typeface="Aptos"/>
                <a:cs typeface="Aptos"/>
              </a:rPr>
              <a:t>double</a:t>
            </a:r>
          </a:p>
        </p:txBody>
      </p:sp>
      <p:sp>
        <p:nvSpPr>
          <p:cNvPr id="24" name="s35-param-1">
            <a:extLst xmlns:a="http://schemas.openxmlformats.org/drawingml/2006/main">
              <a:ext uri="{FF2B5EF4-FFF2-40B4-BE49-F238E27FC236}">
                <a16:creationId xmlns:a16="http://schemas.microsoft.com/office/drawing/2014/main" id="{95F6E0F5-E295-4A05-A9BC-6E50739EEDAD}"/>
              </a:ext>
            </a:extLst>
          </p:cNvPr>
          <p:cNvSpPr>
            <a:spLocks xmlns:a="http://schemas.openxmlformats.org/drawingml/2006/main" noGrp="1"/>
          </p:cNvSpPr>
          <p:nvPr/>
        </p:nvSpPr>
        <p:spPr>
          <a:xfrm xmlns:a="http://schemas.openxmlformats.org/drawingml/2006/main">
            <a:off x="685800" y="2781300"/>
            <a:ext cx="5257800" cy="419100"/>
          </a:xfrm>
          <a:prstGeom xmlns:a="http://schemas.openxmlformats.org/drawingml/2006/main" prst="roundRect">
            <a:avLst>
              <a:gd name="adj" fmla="val 27273"/>
            </a:avLst>
          </a:prstGeom>
          <a:solidFill xmlns:a="http://schemas.openxmlformats.org/drawingml/2006/main">
            <a:srgbClr val="EEF4F8"/>
          </a:solidFill>
          <a:ln xmlns:a="http://schemas.openxmlformats.org/drawingml/2006/main" w="9525">
            <a:solidFill>
              <a:srgbClr val="C9D8E3"/>
            </a:solidFill>
            <a:prstDash val="solid"/>
          </a:ln>
        </p:spPr>
      </p:sp>
      <p:sp>
        <p:nvSpPr>
          <p:cNvPr id="25" name="s35-param-name-1">
            <a:extLst xmlns:a="http://schemas.openxmlformats.org/drawingml/2006/main">
              <a:ext uri="{FF2B5EF4-FFF2-40B4-BE49-F238E27FC236}">
                <a16:creationId xmlns:a16="http://schemas.microsoft.com/office/drawing/2014/main" id="{9A077507-3434-4162-BF07-B00BAF8DF003}"/>
              </a:ext>
            </a:extLst>
          </p:cNvPr>
          <p:cNvSpPr>
            <a:spLocks xmlns:a="http://schemas.openxmlformats.org/drawingml/2006/main" noGrp="1"/>
          </p:cNvSpPr>
          <p:nvPr/>
        </p:nvSpPr>
        <p:spPr>
          <a:xfrm xmlns:a="http://schemas.openxmlformats.org/drawingml/2006/main">
            <a:off x="819150" y="2819400"/>
            <a:ext cx="2171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200" b="1">
                <a:solidFill>
                  <a:srgbClr val="2D6CDF"/>
                </a:solidFill>
                <a:latin typeface="Aptos"/>
                <a:ea typeface="Aptos"/>
                <a:cs typeface="Aptos"/>
              </a:defRPr>
            </a:pPr>
            <a:r>
              <a:rPr sz="1200" b="1">
                <a:solidFill>
                  <a:srgbClr val="2D6CDF"/>
                </a:solidFill>
                <a:latin typeface="Aptos"/>
                <a:ea typeface="Aptos"/>
                <a:cs typeface="Aptos"/>
              </a:rPr>
              <a:t>q_limit_normal</a:t>
            </a:r>
          </a:p>
        </p:txBody>
      </p:sp>
      <p:sp>
        <p:nvSpPr>
          <p:cNvPr id="26" name="s35-param-value-1">
            <a:extLst xmlns:a="http://schemas.openxmlformats.org/drawingml/2006/main">
              <a:ext uri="{FF2B5EF4-FFF2-40B4-BE49-F238E27FC236}">
                <a16:creationId xmlns:a16="http://schemas.microsoft.com/office/drawing/2014/main" id="{93A1A999-F884-443A-A8F5-CD23532B7F12}"/>
              </a:ext>
            </a:extLst>
          </p:cNvPr>
          <p:cNvSpPr>
            <a:spLocks xmlns:a="http://schemas.openxmlformats.org/drawingml/2006/main" noGrp="1"/>
          </p:cNvSpPr>
          <p:nvPr/>
        </p:nvSpPr>
        <p:spPr>
          <a:xfrm xmlns:a="http://schemas.openxmlformats.org/drawingml/2006/main">
            <a:off x="3048000" y="2819400"/>
            <a:ext cx="1638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defRPr sz="1200" b="1">
                <a:solidFill>
                  <a:srgbClr val="0B1F33"/>
                </a:solidFill>
                <a:latin typeface="Aptos"/>
                <a:ea typeface="Aptos"/>
                <a:cs typeface="Aptos"/>
              </a:defRPr>
            </a:pPr>
            <a:r>
              <a:rPr sz="1200" b="1">
                <a:solidFill>
                  <a:srgbClr val="0B1F33"/>
                </a:solidFill>
                <a:latin typeface="Aptos"/>
                <a:ea typeface="Aptos"/>
                <a:cs typeface="Aptos"/>
              </a:rPr>
              <a:t>12 deg/s</a:t>
            </a:r>
          </a:p>
        </p:txBody>
      </p:sp>
      <p:sp>
        <p:nvSpPr>
          <p:cNvPr id="27" name="s35-param-type-1">
            <a:extLst xmlns:a="http://schemas.openxmlformats.org/drawingml/2006/main">
              <a:ext uri="{FF2B5EF4-FFF2-40B4-BE49-F238E27FC236}">
                <a16:creationId xmlns:a16="http://schemas.microsoft.com/office/drawing/2014/main" id="{C772B499-B236-4BE9-8E01-0CE71CC11BD2}"/>
              </a:ext>
            </a:extLst>
          </p:cNvPr>
          <p:cNvSpPr>
            <a:spLocks xmlns:a="http://schemas.openxmlformats.org/drawingml/2006/main" noGrp="1"/>
          </p:cNvSpPr>
          <p:nvPr/>
        </p:nvSpPr>
        <p:spPr>
          <a:xfrm xmlns:a="http://schemas.openxmlformats.org/drawingml/2006/main">
            <a:off x="4762500" y="2819400"/>
            <a:ext cx="1028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defRPr sz="1050" b="1">
                <a:solidFill>
                  <a:srgbClr val="5D7487"/>
                </a:solidFill>
                <a:latin typeface="Aptos"/>
                <a:ea typeface="Aptos"/>
                <a:cs typeface="Aptos"/>
              </a:defRPr>
            </a:pPr>
            <a:r>
              <a:rPr sz="1050" b="1">
                <a:solidFill>
                  <a:srgbClr val="5D7487"/>
                </a:solidFill>
                <a:latin typeface="Aptos"/>
                <a:ea typeface="Aptos"/>
                <a:cs typeface="Aptos"/>
              </a:rPr>
              <a:t>double</a:t>
            </a:r>
          </a:p>
        </p:txBody>
      </p:sp>
      <p:sp>
        <p:nvSpPr>
          <p:cNvPr id="28" name="s35-param-2">
            <a:extLst xmlns:a="http://schemas.openxmlformats.org/drawingml/2006/main">
              <a:ext uri="{FF2B5EF4-FFF2-40B4-BE49-F238E27FC236}">
                <a16:creationId xmlns:a16="http://schemas.microsoft.com/office/drawing/2014/main" id="{6D1EF078-8790-45C6-9D25-1632EEA38B05}"/>
              </a:ext>
            </a:extLst>
          </p:cNvPr>
          <p:cNvSpPr>
            <a:spLocks xmlns:a="http://schemas.openxmlformats.org/drawingml/2006/main" noGrp="1"/>
          </p:cNvSpPr>
          <p:nvPr/>
        </p:nvSpPr>
        <p:spPr>
          <a:xfrm xmlns:a="http://schemas.openxmlformats.org/drawingml/2006/main">
            <a:off x="685800" y="3295650"/>
            <a:ext cx="525780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9525">
            <a:solidFill>
              <a:srgbClr val="C9D8E3"/>
            </a:solidFill>
            <a:prstDash val="solid"/>
          </a:ln>
        </p:spPr>
      </p:sp>
      <p:sp>
        <p:nvSpPr>
          <p:cNvPr id="29" name="s35-param-name-2">
            <a:extLst xmlns:a="http://schemas.openxmlformats.org/drawingml/2006/main">
              <a:ext uri="{FF2B5EF4-FFF2-40B4-BE49-F238E27FC236}">
                <a16:creationId xmlns:a16="http://schemas.microsoft.com/office/drawing/2014/main" id="{A4B1245B-242F-4D05-9CBE-DA4B5B0CBFF4}"/>
              </a:ext>
            </a:extLst>
          </p:cNvPr>
          <p:cNvSpPr>
            <a:spLocks xmlns:a="http://schemas.openxmlformats.org/drawingml/2006/main" noGrp="1"/>
          </p:cNvSpPr>
          <p:nvPr/>
        </p:nvSpPr>
        <p:spPr>
          <a:xfrm xmlns:a="http://schemas.openxmlformats.org/drawingml/2006/main">
            <a:off x="819150" y="3333750"/>
            <a:ext cx="2171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200" b="1">
                <a:solidFill>
                  <a:srgbClr val="2D6CDF"/>
                </a:solidFill>
                <a:latin typeface="Aptos"/>
                <a:ea typeface="Aptos"/>
                <a:cs typeface="Aptos"/>
              </a:defRPr>
            </a:pPr>
            <a:r>
              <a:rPr sz="1200" b="1">
                <a:solidFill>
                  <a:srgbClr val="2D6CDF"/>
                </a:solidFill>
                <a:latin typeface="Aptos"/>
                <a:ea typeface="Aptos"/>
                <a:cs typeface="Aptos"/>
              </a:rPr>
              <a:t>pitch_Kp</a:t>
            </a:r>
          </a:p>
        </p:txBody>
      </p:sp>
      <p:sp>
        <p:nvSpPr>
          <p:cNvPr id="30" name="s35-param-value-2">
            <a:extLst xmlns:a="http://schemas.openxmlformats.org/drawingml/2006/main">
              <a:ext uri="{FF2B5EF4-FFF2-40B4-BE49-F238E27FC236}">
                <a16:creationId xmlns:a16="http://schemas.microsoft.com/office/drawing/2014/main" id="{CD4041DE-DCFB-4FC0-B358-99793690EE32}"/>
              </a:ext>
            </a:extLst>
          </p:cNvPr>
          <p:cNvSpPr>
            <a:spLocks xmlns:a="http://schemas.openxmlformats.org/drawingml/2006/main" noGrp="1"/>
          </p:cNvSpPr>
          <p:nvPr/>
        </p:nvSpPr>
        <p:spPr>
          <a:xfrm xmlns:a="http://schemas.openxmlformats.org/drawingml/2006/main">
            <a:off x="3048000" y="3333750"/>
            <a:ext cx="1638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defRPr sz="1200" b="1">
                <a:solidFill>
                  <a:srgbClr val="0B1F33"/>
                </a:solidFill>
                <a:latin typeface="Aptos"/>
                <a:ea typeface="Aptos"/>
                <a:cs typeface="Aptos"/>
              </a:defRPr>
            </a:pPr>
            <a:r>
              <a:rPr sz="1200" b="1">
                <a:solidFill>
                  <a:srgbClr val="0B1F33"/>
                </a:solidFill>
                <a:latin typeface="Aptos"/>
                <a:ea typeface="Aptos"/>
                <a:cs typeface="Aptos"/>
              </a:rPr>
              <a:t>0.60</a:t>
            </a:r>
          </a:p>
        </p:txBody>
      </p:sp>
      <p:sp>
        <p:nvSpPr>
          <p:cNvPr id="31" name="s35-param-type-2">
            <a:extLst xmlns:a="http://schemas.openxmlformats.org/drawingml/2006/main">
              <a:ext uri="{FF2B5EF4-FFF2-40B4-BE49-F238E27FC236}">
                <a16:creationId xmlns:a16="http://schemas.microsoft.com/office/drawing/2014/main" id="{5C1E0DD0-CA37-48C9-A89E-C9A5C4BA9B17}"/>
              </a:ext>
            </a:extLst>
          </p:cNvPr>
          <p:cNvSpPr>
            <a:spLocks xmlns:a="http://schemas.openxmlformats.org/drawingml/2006/main" noGrp="1"/>
          </p:cNvSpPr>
          <p:nvPr/>
        </p:nvSpPr>
        <p:spPr>
          <a:xfrm xmlns:a="http://schemas.openxmlformats.org/drawingml/2006/main">
            <a:off x="4762500" y="3333750"/>
            <a:ext cx="1028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defRPr sz="1050" b="1">
                <a:solidFill>
                  <a:srgbClr val="5D7487"/>
                </a:solidFill>
                <a:latin typeface="Aptos"/>
                <a:ea typeface="Aptos"/>
                <a:cs typeface="Aptos"/>
              </a:defRPr>
            </a:pPr>
            <a:r>
              <a:rPr sz="1050" b="1">
                <a:solidFill>
                  <a:srgbClr val="5D7487"/>
                </a:solidFill>
                <a:latin typeface="Aptos"/>
                <a:ea typeface="Aptos"/>
                <a:cs typeface="Aptos"/>
              </a:rPr>
              <a:t>double</a:t>
            </a:r>
          </a:p>
        </p:txBody>
      </p:sp>
      <p:sp>
        <p:nvSpPr>
          <p:cNvPr id="32" name="s35-param-3">
            <a:extLst xmlns:a="http://schemas.openxmlformats.org/drawingml/2006/main">
              <a:ext uri="{FF2B5EF4-FFF2-40B4-BE49-F238E27FC236}">
                <a16:creationId xmlns:a16="http://schemas.microsoft.com/office/drawing/2014/main" id="{1D086A47-58CA-47D8-AC2F-DA58F0728A58}"/>
              </a:ext>
            </a:extLst>
          </p:cNvPr>
          <p:cNvSpPr>
            <a:spLocks xmlns:a="http://schemas.openxmlformats.org/drawingml/2006/main" noGrp="1"/>
          </p:cNvSpPr>
          <p:nvPr/>
        </p:nvSpPr>
        <p:spPr>
          <a:xfrm xmlns:a="http://schemas.openxmlformats.org/drawingml/2006/main">
            <a:off x="685800" y="3810000"/>
            <a:ext cx="5257800" cy="419100"/>
          </a:xfrm>
          <a:prstGeom xmlns:a="http://schemas.openxmlformats.org/drawingml/2006/main" prst="roundRect">
            <a:avLst>
              <a:gd name="adj" fmla="val 27273"/>
            </a:avLst>
          </a:prstGeom>
          <a:solidFill xmlns:a="http://schemas.openxmlformats.org/drawingml/2006/main">
            <a:srgbClr val="EEF4F8"/>
          </a:solidFill>
          <a:ln xmlns:a="http://schemas.openxmlformats.org/drawingml/2006/main" w="9525">
            <a:solidFill>
              <a:srgbClr val="C9D8E3"/>
            </a:solidFill>
            <a:prstDash val="solid"/>
          </a:ln>
        </p:spPr>
      </p:sp>
      <p:sp>
        <p:nvSpPr>
          <p:cNvPr id="33" name="s35-param-name-3">
            <a:extLst xmlns:a="http://schemas.openxmlformats.org/drawingml/2006/main">
              <a:ext uri="{FF2B5EF4-FFF2-40B4-BE49-F238E27FC236}">
                <a16:creationId xmlns:a16="http://schemas.microsoft.com/office/drawing/2014/main" id="{A72168E7-535E-4AA7-8207-CBFD3AE1560E}"/>
              </a:ext>
            </a:extLst>
          </p:cNvPr>
          <p:cNvSpPr>
            <a:spLocks xmlns:a="http://schemas.openxmlformats.org/drawingml/2006/main" noGrp="1"/>
          </p:cNvSpPr>
          <p:nvPr/>
        </p:nvSpPr>
        <p:spPr>
          <a:xfrm xmlns:a="http://schemas.openxmlformats.org/drawingml/2006/main">
            <a:off x="819150" y="3848100"/>
            <a:ext cx="2171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200" b="1">
                <a:solidFill>
                  <a:srgbClr val="2D6CDF"/>
                </a:solidFill>
                <a:latin typeface="Aptos"/>
                <a:ea typeface="Aptos"/>
                <a:cs typeface="Aptos"/>
              </a:defRPr>
            </a:pPr>
            <a:r>
              <a:rPr sz="1200" b="1">
                <a:solidFill>
                  <a:srgbClr val="2D6CDF"/>
                </a:solidFill>
                <a:latin typeface="Aptos"/>
                <a:ea typeface="Aptos"/>
                <a:cs typeface="Aptos"/>
              </a:rPr>
              <a:t>pitch_Ki</a:t>
            </a:r>
          </a:p>
        </p:txBody>
      </p:sp>
      <p:sp>
        <p:nvSpPr>
          <p:cNvPr id="34" name="s35-param-value-3">
            <a:extLst xmlns:a="http://schemas.openxmlformats.org/drawingml/2006/main">
              <a:ext uri="{FF2B5EF4-FFF2-40B4-BE49-F238E27FC236}">
                <a16:creationId xmlns:a16="http://schemas.microsoft.com/office/drawing/2014/main" id="{D36363ED-3DA3-49A2-9A1A-859774D1F779}"/>
              </a:ext>
            </a:extLst>
          </p:cNvPr>
          <p:cNvSpPr>
            <a:spLocks xmlns:a="http://schemas.openxmlformats.org/drawingml/2006/main" noGrp="1"/>
          </p:cNvSpPr>
          <p:nvPr/>
        </p:nvSpPr>
        <p:spPr>
          <a:xfrm xmlns:a="http://schemas.openxmlformats.org/drawingml/2006/main">
            <a:off x="3048000" y="3848100"/>
            <a:ext cx="1638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defRPr sz="1200" b="1">
                <a:solidFill>
                  <a:srgbClr val="0B1F33"/>
                </a:solidFill>
                <a:latin typeface="Aptos"/>
                <a:ea typeface="Aptos"/>
                <a:cs typeface="Aptos"/>
              </a:defRPr>
            </a:pPr>
            <a:r>
              <a:rPr sz="1200" b="1">
                <a:solidFill>
                  <a:srgbClr val="0B1F33"/>
                </a:solidFill>
                <a:latin typeface="Aptos"/>
                <a:ea typeface="Aptos"/>
                <a:cs typeface="Aptos"/>
              </a:rPr>
              <a:t>0.025 1/s</a:t>
            </a:r>
          </a:p>
        </p:txBody>
      </p:sp>
      <p:sp>
        <p:nvSpPr>
          <p:cNvPr id="35" name="s35-param-type-3">
            <a:extLst xmlns:a="http://schemas.openxmlformats.org/drawingml/2006/main">
              <a:ext uri="{FF2B5EF4-FFF2-40B4-BE49-F238E27FC236}">
                <a16:creationId xmlns:a16="http://schemas.microsoft.com/office/drawing/2014/main" id="{65673B00-80F4-4FB6-ABD0-24316B15F40F}"/>
              </a:ext>
            </a:extLst>
          </p:cNvPr>
          <p:cNvSpPr>
            <a:spLocks xmlns:a="http://schemas.openxmlformats.org/drawingml/2006/main" noGrp="1"/>
          </p:cNvSpPr>
          <p:nvPr/>
        </p:nvSpPr>
        <p:spPr>
          <a:xfrm xmlns:a="http://schemas.openxmlformats.org/drawingml/2006/main">
            <a:off x="4762500" y="3848100"/>
            <a:ext cx="1028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defRPr sz="1050" b="1">
                <a:solidFill>
                  <a:srgbClr val="5D7487"/>
                </a:solidFill>
                <a:latin typeface="Aptos"/>
                <a:ea typeface="Aptos"/>
                <a:cs typeface="Aptos"/>
              </a:defRPr>
            </a:pPr>
            <a:r>
              <a:rPr sz="1050" b="1">
                <a:solidFill>
                  <a:srgbClr val="5D7487"/>
                </a:solidFill>
                <a:latin typeface="Aptos"/>
                <a:ea typeface="Aptos"/>
                <a:cs typeface="Aptos"/>
              </a:rPr>
              <a:t>double</a:t>
            </a:r>
          </a:p>
        </p:txBody>
      </p:sp>
      <p:sp>
        <p:nvSpPr>
          <p:cNvPr id="36" name="s35-param-4">
            <a:extLst xmlns:a="http://schemas.openxmlformats.org/drawingml/2006/main">
              <a:ext uri="{FF2B5EF4-FFF2-40B4-BE49-F238E27FC236}">
                <a16:creationId xmlns:a16="http://schemas.microsoft.com/office/drawing/2014/main" id="{3CEBB3B4-457D-410B-A9B1-5ABC65BCC0FE}"/>
              </a:ext>
            </a:extLst>
          </p:cNvPr>
          <p:cNvSpPr>
            <a:spLocks xmlns:a="http://schemas.openxmlformats.org/drawingml/2006/main" noGrp="1"/>
          </p:cNvSpPr>
          <p:nvPr/>
        </p:nvSpPr>
        <p:spPr>
          <a:xfrm xmlns:a="http://schemas.openxmlformats.org/drawingml/2006/main">
            <a:off x="685800" y="4324350"/>
            <a:ext cx="525780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9525">
            <a:solidFill>
              <a:srgbClr val="C9D8E3"/>
            </a:solidFill>
            <a:prstDash val="solid"/>
          </a:ln>
        </p:spPr>
      </p:sp>
      <p:sp>
        <p:nvSpPr>
          <p:cNvPr id="37" name="s35-param-name-4">
            <a:extLst xmlns:a="http://schemas.openxmlformats.org/drawingml/2006/main">
              <a:ext uri="{FF2B5EF4-FFF2-40B4-BE49-F238E27FC236}">
                <a16:creationId xmlns:a16="http://schemas.microsoft.com/office/drawing/2014/main" id="{76326D0D-9141-432F-810C-4EB3C0F08743}"/>
              </a:ext>
            </a:extLst>
          </p:cNvPr>
          <p:cNvSpPr>
            <a:spLocks xmlns:a="http://schemas.openxmlformats.org/drawingml/2006/main" noGrp="1"/>
          </p:cNvSpPr>
          <p:nvPr/>
        </p:nvSpPr>
        <p:spPr>
          <a:xfrm xmlns:a="http://schemas.openxmlformats.org/drawingml/2006/main">
            <a:off x="819150" y="4362450"/>
            <a:ext cx="2171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200" b="1">
                <a:solidFill>
                  <a:srgbClr val="2D6CDF"/>
                </a:solidFill>
                <a:latin typeface="Aptos"/>
                <a:ea typeface="Aptos"/>
                <a:cs typeface="Aptos"/>
              </a:defRPr>
            </a:pPr>
            <a:r>
              <a:rPr sz="1200" b="1">
                <a:solidFill>
                  <a:srgbClr val="2D6CDF"/>
                </a:solidFill>
                <a:latin typeface="Aptos"/>
                <a:ea typeface="Aptos"/>
                <a:cs typeface="Aptos"/>
              </a:rPr>
              <a:t>pitch_rate_Kp</a:t>
            </a:r>
          </a:p>
        </p:txBody>
      </p:sp>
      <p:sp>
        <p:nvSpPr>
          <p:cNvPr id="38" name="s35-param-value-4">
            <a:extLst xmlns:a="http://schemas.openxmlformats.org/drawingml/2006/main">
              <a:ext uri="{FF2B5EF4-FFF2-40B4-BE49-F238E27FC236}">
                <a16:creationId xmlns:a16="http://schemas.microsoft.com/office/drawing/2014/main" id="{7626062B-B7E9-49A4-B81A-9E08214F7EBB}"/>
              </a:ext>
            </a:extLst>
          </p:cNvPr>
          <p:cNvSpPr>
            <a:spLocks xmlns:a="http://schemas.openxmlformats.org/drawingml/2006/main" noGrp="1"/>
          </p:cNvSpPr>
          <p:nvPr/>
        </p:nvSpPr>
        <p:spPr>
          <a:xfrm xmlns:a="http://schemas.openxmlformats.org/drawingml/2006/main">
            <a:off x="3048000" y="4362450"/>
            <a:ext cx="1638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defRPr sz="1200" b="1">
                <a:solidFill>
                  <a:srgbClr val="0B1F33"/>
                </a:solidFill>
                <a:latin typeface="Aptos"/>
                <a:ea typeface="Aptos"/>
                <a:cs typeface="Aptos"/>
              </a:defRPr>
            </a:pPr>
            <a:r>
              <a:rPr sz="1200" b="1">
                <a:solidFill>
                  <a:srgbClr val="0B1F33"/>
                </a:solidFill>
                <a:latin typeface="Aptos"/>
                <a:ea typeface="Aptos"/>
                <a:cs typeface="Aptos"/>
              </a:rPr>
              <a:t>0.30 s</a:t>
            </a:r>
          </a:p>
        </p:txBody>
      </p:sp>
      <p:sp>
        <p:nvSpPr>
          <p:cNvPr id="39" name="s35-param-type-4">
            <a:extLst xmlns:a="http://schemas.openxmlformats.org/drawingml/2006/main">
              <a:ext uri="{FF2B5EF4-FFF2-40B4-BE49-F238E27FC236}">
                <a16:creationId xmlns:a16="http://schemas.microsoft.com/office/drawing/2014/main" id="{E0AB59EB-34AA-499B-AC20-885563BC7B87}"/>
              </a:ext>
            </a:extLst>
          </p:cNvPr>
          <p:cNvSpPr>
            <a:spLocks xmlns:a="http://schemas.openxmlformats.org/drawingml/2006/main" noGrp="1"/>
          </p:cNvSpPr>
          <p:nvPr/>
        </p:nvSpPr>
        <p:spPr>
          <a:xfrm xmlns:a="http://schemas.openxmlformats.org/drawingml/2006/main">
            <a:off x="4762500" y="4362450"/>
            <a:ext cx="1028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defRPr sz="1050" b="1">
                <a:solidFill>
                  <a:srgbClr val="5D7487"/>
                </a:solidFill>
                <a:latin typeface="Aptos"/>
                <a:ea typeface="Aptos"/>
                <a:cs typeface="Aptos"/>
              </a:defRPr>
            </a:pPr>
            <a:r>
              <a:rPr sz="1050" b="1">
                <a:solidFill>
                  <a:srgbClr val="5D7487"/>
                </a:solidFill>
                <a:latin typeface="Aptos"/>
                <a:ea typeface="Aptos"/>
                <a:cs typeface="Aptos"/>
              </a:rPr>
              <a:t>double</a:t>
            </a:r>
          </a:p>
        </p:txBody>
      </p:sp>
      <p:sp>
        <p:nvSpPr>
          <p:cNvPr id="40" name="s35-param-5">
            <a:extLst xmlns:a="http://schemas.openxmlformats.org/drawingml/2006/main">
              <a:ext uri="{FF2B5EF4-FFF2-40B4-BE49-F238E27FC236}">
                <a16:creationId xmlns:a16="http://schemas.microsoft.com/office/drawing/2014/main" id="{E6BD3B59-CF04-4355-A204-D1C2CDCA7320}"/>
              </a:ext>
            </a:extLst>
          </p:cNvPr>
          <p:cNvSpPr>
            <a:spLocks xmlns:a="http://schemas.openxmlformats.org/drawingml/2006/main" noGrp="1"/>
          </p:cNvSpPr>
          <p:nvPr/>
        </p:nvSpPr>
        <p:spPr>
          <a:xfrm xmlns:a="http://schemas.openxmlformats.org/drawingml/2006/main">
            <a:off x="685800" y="4838700"/>
            <a:ext cx="5257800" cy="419100"/>
          </a:xfrm>
          <a:prstGeom xmlns:a="http://schemas.openxmlformats.org/drawingml/2006/main" prst="roundRect">
            <a:avLst>
              <a:gd name="adj" fmla="val 27273"/>
            </a:avLst>
          </a:prstGeom>
          <a:solidFill xmlns:a="http://schemas.openxmlformats.org/drawingml/2006/main">
            <a:srgbClr val="EEF4F8"/>
          </a:solidFill>
          <a:ln xmlns:a="http://schemas.openxmlformats.org/drawingml/2006/main" w="9525">
            <a:solidFill>
              <a:srgbClr val="C9D8E3"/>
            </a:solidFill>
            <a:prstDash val="solid"/>
          </a:ln>
        </p:spPr>
      </p:sp>
      <p:sp>
        <p:nvSpPr>
          <p:cNvPr id="41" name="s35-param-name-5">
            <a:extLst xmlns:a="http://schemas.openxmlformats.org/drawingml/2006/main">
              <a:ext uri="{FF2B5EF4-FFF2-40B4-BE49-F238E27FC236}">
                <a16:creationId xmlns:a16="http://schemas.microsoft.com/office/drawing/2014/main" id="{6AAB9C5D-7A98-4D0F-BB68-13A68C73C425}"/>
              </a:ext>
            </a:extLst>
          </p:cNvPr>
          <p:cNvSpPr>
            <a:spLocks xmlns:a="http://schemas.openxmlformats.org/drawingml/2006/main" noGrp="1"/>
          </p:cNvSpPr>
          <p:nvPr/>
        </p:nvSpPr>
        <p:spPr>
          <a:xfrm xmlns:a="http://schemas.openxmlformats.org/drawingml/2006/main">
            <a:off x="819150" y="4876800"/>
            <a:ext cx="2171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200" b="1">
                <a:solidFill>
                  <a:srgbClr val="2D6CDF"/>
                </a:solidFill>
                <a:latin typeface="Aptos"/>
                <a:ea typeface="Aptos"/>
                <a:cs typeface="Aptos"/>
              </a:defRPr>
            </a:pPr>
            <a:r>
              <a:rPr sz="1200" b="1">
                <a:solidFill>
                  <a:srgbClr val="2D6CDF"/>
                </a:solidFill>
                <a:latin typeface="Aptos"/>
                <a:ea typeface="Aptos"/>
                <a:cs typeface="Aptos"/>
              </a:rPr>
              <a:t>pitch_rate_Ki</a:t>
            </a:r>
          </a:p>
        </p:txBody>
      </p:sp>
      <p:sp>
        <p:nvSpPr>
          <p:cNvPr id="42" name="s35-param-value-5">
            <a:extLst xmlns:a="http://schemas.openxmlformats.org/drawingml/2006/main">
              <a:ext uri="{FF2B5EF4-FFF2-40B4-BE49-F238E27FC236}">
                <a16:creationId xmlns:a16="http://schemas.microsoft.com/office/drawing/2014/main" id="{9DBEC7B7-BFA9-44D4-B1E4-C5D2648E6499}"/>
              </a:ext>
            </a:extLst>
          </p:cNvPr>
          <p:cNvSpPr>
            <a:spLocks xmlns:a="http://schemas.openxmlformats.org/drawingml/2006/main" noGrp="1"/>
          </p:cNvSpPr>
          <p:nvPr/>
        </p:nvSpPr>
        <p:spPr>
          <a:xfrm xmlns:a="http://schemas.openxmlformats.org/drawingml/2006/main">
            <a:off x="3048000" y="4876800"/>
            <a:ext cx="1638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defRPr sz="1200" b="1">
                <a:solidFill>
                  <a:srgbClr val="0B1F33"/>
                </a:solidFill>
                <a:latin typeface="Aptos"/>
                <a:ea typeface="Aptos"/>
                <a:cs typeface="Aptos"/>
              </a:defRPr>
            </a:pPr>
            <a:r>
              <a:rPr sz="1200" b="1">
                <a:solidFill>
                  <a:srgbClr val="0B1F33"/>
                </a:solidFill>
                <a:latin typeface="Aptos"/>
                <a:ea typeface="Aptos"/>
                <a:cs typeface="Aptos"/>
              </a:rPr>
              <a:t>0.20</a:t>
            </a:r>
          </a:p>
        </p:txBody>
      </p:sp>
      <p:sp>
        <p:nvSpPr>
          <p:cNvPr id="43" name="s35-param-type-5">
            <a:extLst xmlns:a="http://schemas.openxmlformats.org/drawingml/2006/main">
              <a:ext uri="{FF2B5EF4-FFF2-40B4-BE49-F238E27FC236}">
                <a16:creationId xmlns:a16="http://schemas.microsoft.com/office/drawing/2014/main" id="{D3105C8E-BC08-44EB-89A5-E43A987C8473}"/>
              </a:ext>
            </a:extLst>
          </p:cNvPr>
          <p:cNvSpPr>
            <a:spLocks xmlns:a="http://schemas.openxmlformats.org/drawingml/2006/main" noGrp="1"/>
          </p:cNvSpPr>
          <p:nvPr/>
        </p:nvSpPr>
        <p:spPr>
          <a:xfrm xmlns:a="http://schemas.openxmlformats.org/drawingml/2006/main">
            <a:off x="4762500" y="4876800"/>
            <a:ext cx="1028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defRPr sz="1050" b="1">
                <a:solidFill>
                  <a:srgbClr val="5D7487"/>
                </a:solidFill>
                <a:latin typeface="Aptos"/>
                <a:ea typeface="Aptos"/>
                <a:cs typeface="Aptos"/>
              </a:defRPr>
            </a:pPr>
            <a:r>
              <a:rPr sz="1050" b="1">
                <a:solidFill>
                  <a:srgbClr val="5D7487"/>
                </a:solidFill>
                <a:latin typeface="Aptos"/>
                <a:ea typeface="Aptos"/>
                <a:cs typeface="Aptos"/>
              </a:rPr>
              <a:t>double</a:t>
            </a:r>
          </a:p>
        </p:txBody>
      </p:sp>
      <p:sp>
        <p:nvSpPr>
          <p:cNvPr id="44" name="s35-bus-0">
            <a:extLst xmlns:a="http://schemas.openxmlformats.org/drawingml/2006/main">
              <a:ext uri="{FF2B5EF4-FFF2-40B4-BE49-F238E27FC236}">
                <a16:creationId xmlns:a16="http://schemas.microsoft.com/office/drawing/2014/main" id="{18290F3F-A78F-4C39-AB10-F9E58EF4400B}"/>
              </a:ext>
            </a:extLst>
          </p:cNvPr>
          <p:cNvSpPr>
            <a:spLocks xmlns:a="http://schemas.openxmlformats.org/drawingml/2006/main" noGrp="1"/>
          </p:cNvSpPr>
          <p:nvPr/>
        </p:nvSpPr>
        <p:spPr>
          <a:xfrm xmlns:a="http://schemas.openxmlformats.org/drawingml/2006/main">
            <a:off x="6248400" y="2266950"/>
            <a:ext cx="5257800" cy="523875"/>
          </a:xfrm>
          <a:prstGeom xmlns:a="http://schemas.openxmlformats.org/drawingml/2006/main" prst="roundRect">
            <a:avLst>
              <a:gd name="adj" fmla="val 21818"/>
            </a:avLst>
          </a:prstGeom>
          <a:solidFill xmlns:a="http://schemas.openxmlformats.org/drawingml/2006/main">
            <a:srgbClr val="FFFFFF"/>
          </a:solidFill>
          <a:ln xmlns:a="http://schemas.openxmlformats.org/drawingml/2006/main" w="9525">
            <a:solidFill>
              <a:srgbClr val="C9D8E3"/>
            </a:solidFill>
            <a:prstDash val="solid"/>
          </a:ln>
        </p:spPr>
      </p:sp>
      <p:sp>
        <p:nvSpPr>
          <p:cNvPr id="45" name="s35-bus-name-0">
            <a:extLst xmlns:a="http://schemas.openxmlformats.org/drawingml/2006/main">
              <a:ext uri="{FF2B5EF4-FFF2-40B4-BE49-F238E27FC236}">
                <a16:creationId xmlns:a16="http://schemas.microsoft.com/office/drawing/2014/main" id="{EEBA10EA-7EE9-4F3B-B57F-E17D1744863A}"/>
              </a:ext>
            </a:extLst>
          </p:cNvPr>
          <p:cNvSpPr>
            <a:spLocks xmlns:a="http://schemas.openxmlformats.org/drawingml/2006/main" noGrp="1"/>
          </p:cNvSpPr>
          <p:nvPr/>
        </p:nvSpPr>
        <p:spPr>
          <a:xfrm xmlns:a="http://schemas.openxmlformats.org/drawingml/2006/main">
            <a:off x="6381750" y="2305050"/>
            <a:ext cx="1476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140" b="1">
                <a:solidFill>
                  <a:srgbClr val="20B7C5"/>
                </a:solidFill>
                <a:latin typeface="Aptos"/>
                <a:ea typeface="Aptos"/>
                <a:cs typeface="Aptos"/>
              </a:defRPr>
            </a:pPr>
            <a:r>
              <a:rPr sz="1140" b="1">
                <a:solidFill>
                  <a:srgbClr val="20B7C5"/>
                </a:solidFill>
                <a:latin typeface="Aptos"/>
                <a:ea typeface="Aptos"/>
                <a:cs typeface="Aptos"/>
              </a:rPr>
              <a:t>q_rate</a:t>
            </a:r>
          </a:p>
        </p:txBody>
      </p:sp>
      <p:sp>
        <p:nvSpPr>
          <p:cNvPr id="46" name="s35-bus-meta-0">
            <a:extLst xmlns:a="http://schemas.openxmlformats.org/drawingml/2006/main">
              <a:ext uri="{FF2B5EF4-FFF2-40B4-BE49-F238E27FC236}">
                <a16:creationId xmlns:a16="http://schemas.microsoft.com/office/drawing/2014/main" id="{9BCD1BD0-BABF-4B67-A8F9-4BF2AC324A06}"/>
              </a:ext>
            </a:extLst>
          </p:cNvPr>
          <p:cNvSpPr>
            <a:spLocks xmlns:a="http://schemas.openxmlformats.org/drawingml/2006/main" noGrp="1"/>
          </p:cNvSpPr>
          <p:nvPr/>
        </p:nvSpPr>
        <p:spPr>
          <a:xfrm xmlns:a="http://schemas.openxmlformats.org/drawingml/2006/main">
            <a:off x="7896225" y="2305050"/>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defRPr sz="1065" b="1">
                <a:solidFill>
                  <a:srgbClr val="0B1F33"/>
                </a:solidFill>
                <a:latin typeface="Aptos"/>
                <a:ea typeface="Aptos"/>
                <a:cs typeface="Aptos"/>
              </a:defRPr>
            </a:pPr>
            <a:r>
              <a:rPr sz="1065" b="1">
                <a:solidFill>
                  <a:srgbClr val="0B1F33"/>
                </a:solidFill>
                <a:latin typeface="Aptos"/>
                <a:ea typeface="Aptos"/>
                <a:cs typeface="Aptos"/>
              </a:rPr>
              <a:t>double • deg/s</a:t>
            </a:r>
          </a:p>
        </p:txBody>
      </p:sp>
      <p:sp>
        <p:nvSpPr>
          <p:cNvPr id="47" name="s35-bus-desc-0">
            <a:extLst xmlns:a="http://schemas.openxmlformats.org/drawingml/2006/main">
              <a:ext uri="{FF2B5EF4-FFF2-40B4-BE49-F238E27FC236}">
                <a16:creationId xmlns:a16="http://schemas.microsoft.com/office/drawing/2014/main" id="{E9C9EC00-EF2E-482B-AA5A-A3C6AF2DB7C2}"/>
              </a:ext>
            </a:extLst>
          </p:cNvPr>
          <p:cNvSpPr>
            <a:spLocks xmlns:a="http://schemas.openxmlformats.org/drawingml/2006/main" noGrp="1"/>
          </p:cNvSpPr>
          <p:nvPr/>
        </p:nvSpPr>
        <p:spPr>
          <a:xfrm xmlns:a="http://schemas.openxmlformats.org/drawingml/2006/main">
            <a:off x="6381750" y="25336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035" b="1">
                <a:solidFill>
                  <a:srgbClr val="17324A"/>
                </a:solidFill>
                <a:latin typeface="Aptos"/>
                <a:ea typeface="Aptos"/>
                <a:cs typeface="Aptos"/>
              </a:defRPr>
            </a:pPr>
            <a:r>
              <a:rPr sz="1035" b="1">
                <a:solidFill>
                  <a:srgbClr val="17324A"/>
                </a:solidFill>
                <a:latin typeface="Aptos"/>
                <a:ea typeface="Aptos"/>
                <a:cs typeface="Aptos"/>
              </a:rPr>
              <a:t>Measured pitch rate</a:t>
            </a:r>
          </a:p>
        </p:txBody>
      </p:sp>
      <p:sp>
        <p:nvSpPr>
          <p:cNvPr id="48" name="s35-bus-1">
            <a:extLst xmlns:a="http://schemas.openxmlformats.org/drawingml/2006/main">
              <a:ext uri="{FF2B5EF4-FFF2-40B4-BE49-F238E27FC236}">
                <a16:creationId xmlns:a16="http://schemas.microsoft.com/office/drawing/2014/main" id="{68342C14-3A88-42B6-901D-4ED12B4663D5}"/>
              </a:ext>
            </a:extLst>
          </p:cNvPr>
          <p:cNvSpPr>
            <a:spLocks xmlns:a="http://schemas.openxmlformats.org/drawingml/2006/main" noGrp="1"/>
          </p:cNvSpPr>
          <p:nvPr/>
        </p:nvSpPr>
        <p:spPr>
          <a:xfrm xmlns:a="http://schemas.openxmlformats.org/drawingml/2006/main">
            <a:off x="6248400" y="2886075"/>
            <a:ext cx="5257800" cy="523875"/>
          </a:xfrm>
          <a:prstGeom xmlns:a="http://schemas.openxmlformats.org/drawingml/2006/main" prst="roundRect">
            <a:avLst>
              <a:gd name="adj" fmla="val 21818"/>
            </a:avLst>
          </a:prstGeom>
          <a:solidFill xmlns:a="http://schemas.openxmlformats.org/drawingml/2006/main">
            <a:srgbClr val="DFF6F8"/>
          </a:solidFill>
          <a:ln xmlns:a="http://schemas.openxmlformats.org/drawingml/2006/main" w="9525">
            <a:solidFill>
              <a:srgbClr val="C9D8E3"/>
            </a:solidFill>
            <a:prstDash val="solid"/>
          </a:ln>
        </p:spPr>
      </p:sp>
      <p:sp>
        <p:nvSpPr>
          <p:cNvPr id="49" name="s35-bus-name-1">
            <a:extLst xmlns:a="http://schemas.openxmlformats.org/drawingml/2006/main">
              <a:ext uri="{FF2B5EF4-FFF2-40B4-BE49-F238E27FC236}">
                <a16:creationId xmlns:a16="http://schemas.microsoft.com/office/drawing/2014/main" id="{AA4FECE6-1284-41DF-AD57-AEFC311FFEFC}"/>
              </a:ext>
            </a:extLst>
          </p:cNvPr>
          <p:cNvSpPr>
            <a:spLocks xmlns:a="http://schemas.openxmlformats.org/drawingml/2006/main" noGrp="1"/>
          </p:cNvSpPr>
          <p:nvPr/>
        </p:nvSpPr>
        <p:spPr>
          <a:xfrm xmlns:a="http://schemas.openxmlformats.org/drawingml/2006/main">
            <a:off x="6381750" y="2924175"/>
            <a:ext cx="1476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140" b="1">
                <a:solidFill>
                  <a:srgbClr val="20B7C5"/>
                </a:solidFill>
                <a:latin typeface="Aptos"/>
                <a:ea typeface="Aptos"/>
                <a:cs typeface="Aptos"/>
              </a:defRPr>
            </a:pPr>
            <a:r>
              <a:rPr sz="1140" b="1">
                <a:solidFill>
                  <a:srgbClr val="20B7C5"/>
                </a:solidFill>
                <a:latin typeface="Aptos"/>
                <a:ea typeface="Aptos"/>
                <a:cs typeface="Aptos"/>
              </a:rPr>
              <a:t>pitch_angle</a:t>
            </a:r>
          </a:p>
        </p:txBody>
      </p:sp>
      <p:sp>
        <p:nvSpPr>
          <p:cNvPr id="50" name="s35-bus-meta-1">
            <a:extLst xmlns:a="http://schemas.openxmlformats.org/drawingml/2006/main">
              <a:ext uri="{FF2B5EF4-FFF2-40B4-BE49-F238E27FC236}">
                <a16:creationId xmlns:a16="http://schemas.microsoft.com/office/drawing/2014/main" id="{5C0F6D64-F17D-4ABD-AA7C-806D8BD82386}"/>
              </a:ext>
            </a:extLst>
          </p:cNvPr>
          <p:cNvSpPr>
            <a:spLocks xmlns:a="http://schemas.openxmlformats.org/drawingml/2006/main" noGrp="1"/>
          </p:cNvSpPr>
          <p:nvPr/>
        </p:nvSpPr>
        <p:spPr>
          <a:xfrm xmlns:a="http://schemas.openxmlformats.org/drawingml/2006/main">
            <a:off x="7896225" y="2924175"/>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defRPr sz="1065" b="1">
                <a:solidFill>
                  <a:srgbClr val="0B1F33"/>
                </a:solidFill>
                <a:latin typeface="Aptos"/>
                <a:ea typeface="Aptos"/>
                <a:cs typeface="Aptos"/>
              </a:defRPr>
            </a:pPr>
            <a:r>
              <a:rPr sz="1065" b="1">
                <a:solidFill>
                  <a:srgbClr val="0B1F33"/>
                </a:solidFill>
                <a:latin typeface="Aptos"/>
                <a:ea typeface="Aptos"/>
                <a:cs typeface="Aptos"/>
              </a:rPr>
              <a:t>double • deg</a:t>
            </a:r>
          </a:p>
        </p:txBody>
      </p:sp>
      <p:sp>
        <p:nvSpPr>
          <p:cNvPr id="51" name="s35-bus-desc-1">
            <a:extLst xmlns:a="http://schemas.openxmlformats.org/drawingml/2006/main">
              <a:ext uri="{FF2B5EF4-FFF2-40B4-BE49-F238E27FC236}">
                <a16:creationId xmlns:a16="http://schemas.microsoft.com/office/drawing/2014/main" id="{C9B9DFF4-AF25-4D45-AEF4-A5077E97486B}"/>
              </a:ext>
            </a:extLst>
          </p:cNvPr>
          <p:cNvSpPr>
            <a:spLocks xmlns:a="http://schemas.openxmlformats.org/drawingml/2006/main" noGrp="1"/>
          </p:cNvSpPr>
          <p:nvPr/>
        </p:nvSpPr>
        <p:spPr>
          <a:xfrm xmlns:a="http://schemas.openxmlformats.org/drawingml/2006/main">
            <a:off x="6381750" y="3152775"/>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035" b="1">
                <a:solidFill>
                  <a:srgbClr val="17324A"/>
                </a:solidFill>
                <a:latin typeface="Aptos"/>
                <a:ea typeface="Aptos"/>
                <a:cs typeface="Aptos"/>
              </a:defRPr>
            </a:pPr>
            <a:r>
              <a:rPr sz="1035" b="1">
                <a:solidFill>
                  <a:srgbClr val="17324A"/>
                </a:solidFill>
                <a:latin typeface="Aptos"/>
                <a:ea typeface="Aptos"/>
                <a:cs typeface="Aptos"/>
              </a:rPr>
              <a:t>Measured pitch attitude</a:t>
            </a:r>
          </a:p>
        </p:txBody>
      </p:sp>
      <p:sp>
        <p:nvSpPr>
          <p:cNvPr id="52" name="s35-bus-2">
            <a:extLst xmlns:a="http://schemas.openxmlformats.org/drawingml/2006/main">
              <a:ext uri="{FF2B5EF4-FFF2-40B4-BE49-F238E27FC236}">
                <a16:creationId xmlns:a16="http://schemas.microsoft.com/office/drawing/2014/main" id="{B7CC50DB-4AD9-447F-B6F4-F6701014552D}"/>
              </a:ext>
            </a:extLst>
          </p:cNvPr>
          <p:cNvSpPr>
            <a:spLocks xmlns:a="http://schemas.openxmlformats.org/drawingml/2006/main" noGrp="1"/>
          </p:cNvSpPr>
          <p:nvPr/>
        </p:nvSpPr>
        <p:spPr>
          <a:xfrm xmlns:a="http://schemas.openxmlformats.org/drawingml/2006/main">
            <a:off x="6248400" y="3505200"/>
            <a:ext cx="5257800" cy="523875"/>
          </a:xfrm>
          <a:prstGeom xmlns:a="http://schemas.openxmlformats.org/drawingml/2006/main" prst="roundRect">
            <a:avLst>
              <a:gd name="adj" fmla="val 21818"/>
            </a:avLst>
          </a:prstGeom>
          <a:solidFill xmlns:a="http://schemas.openxmlformats.org/drawingml/2006/main">
            <a:srgbClr val="FFFFFF"/>
          </a:solidFill>
          <a:ln xmlns:a="http://schemas.openxmlformats.org/drawingml/2006/main" w="9525">
            <a:solidFill>
              <a:srgbClr val="C9D8E3"/>
            </a:solidFill>
            <a:prstDash val="solid"/>
          </a:ln>
        </p:spPr>
      </p:sp>
      <p:sp>
        <p:nvSpPr>
          <p:cNvPr id="53" name="s35-bus-name-2">
            <a:extLst xmlns:a="http://schemas.openxmlformats.org/drawingml/2006/main">
              <a:ext uri="{FF2B5EF4-FFF2-40B4-BE49-F238E27FC236}">
                <a16:creationId xmlns:a16="http://schemas.microsoft.com/office/drawing/2014/main" id="{751EC5E8-E082-4C6D-9C00-C1CA94CFB1BF}"/>
              </a:ext>
            </a:extLst>
          </p:cNvPr>
          <p:cNvSpPr>
            <a:spLocks xmlns:a="http://schemas.openxmlformats.org/drawingml/2006/main" noGrp="1"/>
          </p:cNvSpPr>
          <p:nvPr/>
        </p:nvSpPr>
        <p:spPr>
          <a:xfrm xmlns:a="http://schemas.openxmlformats.org/drawingml/2006/main">
            <a:off x="6381750" y="3543300"/>
            <a:ext cx="1476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140" b="1">
                <a:solidFill>
                  <a:srgbClr val="20B7C5"/>
                </a:solidFill>
                <a:latin typeface="Aptos"/>
                <a:ea typeface="Aptos"/>
                <a:cs typeface="Aptos"/>
              </a:defRPr>
            </a:pPr>
            <a:r>
              <a:rPr sz="1140" b="1">
                <a:solidFill>
                  <a:srgbClr val="20B7C5"/>
                </a:solidFill>
                <a:latin typeface="Aptos"/>
                <a:ea typeface="Aptos"/>
                <a:cs typeface="Aptos"/>
              </a:rPr>
              <a:t>mach</a:t>
            </a:r>
          </a:p>
        </p:txBody>
      </p:sp>
      <p:sp>
        <p:nvSpPr>
          <p:cNvPr id="54" name="s35-bus-meta-2">
            <a:extLst xmlns:a="http://schemas.openxmlformats.org/drawingml/2006/main">
              <a:ext uri="{FF2B5EF4-FFF2-40B4-BE49-F238E27FC236}">
                <a16:creationId xmlns:a16="http://schemas.microsoft.com/office/drawing/2014/main" id="{68B8D947-0325-4ECA-9355-C5E2D2AE05E3}"/>
              </a:ext>
            </a:extLst>
          </p:cNvPr>
          <p:cNvSpPr>
            <a:spLocks xmlns:a="http://schemas.openxmlformats.org/drawingml/2006/main" noGrp="1"/>
          </p:cNvSpPr>
          <p:nvPr/>
        </p:nvSpPr>
        <p:spPr>
          <a:xfrm xmlns:a="http://schemas.openxmlformats.org/drawingml/2006/main">
            <a:off x="7896225" y="3543300"/>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defRPr sz="1065" b="1">
                <a:solidFill>
                  <a:srgbClr val="0B1F33"/>
                </a:solidFill>
                <a:latin typeface="Aptos"/>
                <a:ea typeface="Aptos"/>
                <a:cs typeface="Aptos"/>
              </a:defRPr>
            </a:pPr>
            <a:r>
              <a:rPr sz="1065" b="1">
                <a:solidFill>
                  <a:srgbClr val="0B1F33"/>
                </a:solidFill>
                <a:latin typeface="Aptos"/>
                <a:ea typeface="Aptos"/>
                <a:cs typeface="Aptos"/>
              </a:rPr>
              <a:t>double • 1</a:t>
            </a:r>
          </a:p>
        </p:txBody>
      </p:sp>
      <p:sp>
        <p:nvSpPr>
          <p:cNvPr id="55" name="s35-bus-desc-2">
            <a:extLst xmlns:a="http://schemas.openxmlformats.org/drawingml/2006/main">
              <a:ext uri="{FF2B5EF4-FFF2-40B4-BE49-F238E27FC236}">
                <a16:creationId xmlns:a16="http://schemas.microsoft.com/office/drawing/2014/main" id="{AA8DF03E-B13B-49CB-85A3-17D65D4E62AE}"/>
              </a:ext>
            </a:extLst>
          </p:cNvPr>
          <p:cNvSpPr>
            <a:spLocks xmlns:a="http://schemas.openxmlformats.org/drawingml/2006/main" noGrp="1"/>
          </p:cNvSpPr>
          <p:nvPr/>
        </p:nvSpPr>
        <p:spPr>
          <a:xfrm xmlns:a="http://schemas.openxmlformats.org/drawingml/2006/main">
            <a:off x="6381750" y="37719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035" b="1">
                <a:solidFill>
                  <a:srgbClr val="17324A"/>
                </a:solidFill>
                <a:latin typeface="Aptos"/>
                <a:ea typeface="Aptos"/>
                <a:cs typeface="Aptos"/>
              </a:defRPr>
            </a:pPr>
            <a:r>
              <a:rPr sz="1035" b="1">
                <a:solidFill>
                  <a:srgbClr val="17324A"/>
                </a:solidFill>
                <a:latin typeface="Aptos"/>
                <a:ea typeface="Aptos"/>
                <a:cs typeface="Aptos"/>
              </a:rPr>
              <a:t>Illustrative Mach number</a:t>
            </a:r>
          </a:p>
        </p:txBody>
      </p:sp>
      <p:sp>
        <p:nvSpPr>
          <p:cNvPr id="56" name="s35-bus-3">
            <a:extLst xmlns:a="http://schemas.openxmlformats.org/drawingml/2006/main">
              <a:ext uri="{FF2B5EF4-FFF2-40B4-BE49-F238E27FC236}">
                <a16:creationId xmlns:a16="http://schemas.microsoft.com/office/drawing/2014/main" id="{520D100B-C964-4FA4-AB3D-4C829301A28A}"/>
              </a:ext>
            </a:extLst>
          </p:cNvPr>
          <p:cNvSpPr>
            <a:spLocks xmlns:a="http://schemas.openxmlformats.org/drawingml/2006/main" noGrp="1"/>
          </p:cNvSpPr>
          <p:nvPr/>
        </p:nvSpPr>
        <p:spPr>
          <a:xfrm xmlns:a="http://schemas.openxmlformats.org/drawingml/2006/main">
            <a:off x="6248400" y="4124325"/>
            <a:ext cx="5257800" cy="523875"/>
          </a:xfrm>
          <a:prstGeom xmlns:a="http://schemas.openxmlformats.org/drawingml/2006/main" prst="roundRect">
            <a:avLst>
              <a:gd name="adj" fmla="val 21818"/>
            </a:avLst>
          </a:prstGeom>
          <a:solidFill xmlns:a="http://schemas.openxmlformats.org/drawingml/2006/main">
            <a:srgbClr val="DFF6F8"/>
          </a:solidFill>
          <a:ln xmlns:a="http://schemas.openxmlformats.org/drawingml/2006/main" w="9525">
            <a:solidFill>
              <a:srgbClr val="C9D8E3"/>
            </a:solidFill>
            <a:prstDash val="solid"/>
          </a:ln>
        </p:spPr>
      </p:sp>
      <p:sp>
        <p:nvSpPr>
          <p:cNvPr id="57" name="s35-bus-name-3">
            <a:extLst xmlns:a="http://schemas.openxmlformats.org/drawingml/2006/main">
              <a:ext uri="{FF2B5EF4-FFF2-40B4-BE49-F238E27FC236}">
                <a16:creationId xmlns:a16="http://schemas.microsoft.com/office/drawing/2014/main" id="{99FC99E8-A288-436B-BD16-B3CC9371AC5F}"/>
              </a:ext>
            </a:extLst>
          </p:cNvPr>
          <p:cNvSpPr>
            <a:spLocks xmlns:a="http://schemas.openxmlformats.org/drawingml/2006/main" noGrp="1"/>
          </p:cNvSpPr>
          <p:nvPr/>
        </p:nvSpPr>
        <p:spPr>
          <a:xfrm xmlns:a="http://schemas.openxmlformats.org/drawingml/2006/main">
            <a:off x="6381750" y="4162425"/>
            <a:ext cx="1476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140" b="1">
                <a:solidFill>
                  <a:srgbClr val="20B7C5"/>
                </a:solidFill>
                <a:latin typeface="Aptos"/>
                <a:ea typeface="Aptos"/>
                <a:cs typeface="Aptos"/>
              </a:defRPr>
            </a:pPr>
            <a:r>
              <a:rPr sz="1140" b="1">
                <a:solidFill>
                  <a:srgbClr val="20B7C5"/>
                </a:solidFill>
                <a:latin typeface="Aptos"/>
                <a:ea typeface="Aptos"/>
                <a:cs typeface="Aptos"/>
              </a:rPr>
              <a:t>air_data_valid</a:t>
            </a:r>
          </a:p>
        </p:txBody>
      </p:sp>
      <p:sp>
        <p:nvSpPr>
          <p:cNvPr id="58" name="s35-bus-meta-3">
            <a:extLst xmlns:a="http://schemas.openxmlformats.org/drawingml/2006/main">
              <a:ext uri="{FF2B5EF4-FFF2-40B4-BE49-F238E27FC236}">
                <a16:creationId xmlns:a16="http://schemas.microsoft.com/office/drawing/2014/main" id="{3489597D-FE42-4CB3-8D73-42FEBAC42E67}"/>
              </a:ext>
            </a:extLst>
          </p:cNvPr>
          <p:cNvSpPr>
            <a:spLocks xmlns:a="http://schemas.openxmlformats.org/drawingml/2006/main" noGrp="1"/>
          </p:cNvSpPr>
          <p:nvPr/>
        </p:nvSpPr>
        <p:spPr>
          <a:xfrm xmlns:a="http://schemas.openxmlformats.org/drawingml/2006/main">
            <a:off x="7896225" y="4162425"/>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defRPr sz="1065" b="1">
                <a:solidFill>
                  <a:srgbClr val="0B1F33"/>
                </a:solidFill>
                <a:latin typeface="Aptos"/>
                <a:ea typeface="Aptos"/>
                <a:cs typeface="Aptos"/>
              </a:defRPr>
            </a:pPr>
            <a:r>
              <a:rPr sz="1065" b="1">
                <a:solidFill>
                  <a:srgbClr val="0B1F33"/>
                </a:solidFill>
                <a:latin typeface="Aptos"/>
                <a:ea typeface="Aptos"/>
                <a:cs typeface="Aptos"/>
              </a:rPr>
              <a:t>boolean • 1</a:t>
            </a:r>
          </a:p>
        </p:txBody>
      </p:sp>
      <p:sp>
        <p:nvSpPr>
          <p:cNvPr id="59" name="s35-bus-desc-3">
            <a:extLst xmlns:a="http://schemas.openxmlformats.org/drawingml/2006/main">
              <a:ext uri="{FF2B5EF4-FFF2-40B4-BE49-F238E27FC236}">
                <a16:creationId xmlns:a16="http://schemas.microsoft.com/office/drawing/2014/main" id="{6E1C1701-4D80-499D-BA52-26BD95F29C34}"/>
              </a:ext>
            </a:extLst>
          </p:cNvPr>
          <p:cNvSpPr>
            <a:spLocks xmlns:a="http://schemas.openxmlformats.org/drawingml/2006/main" noGrp="1"/>
          </p:cNvSpPr>
          <p:nvPr/>
        </p:nvSpPr>
        <p:spPr>
          <a:xfrm xmlns:a="http://schemas.openxmlformats.org/drawingml/2006/main">
            <a:off x="6381750" y="4391025"/>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035" b="1">
                <a:solidFill>
                  <a:srgbClr val="17324A"/>
                </a:solidFill>
                <a:latin typeface="Aptos"/>
                <a:ea typeface="Aptos"/>
                <a:cs typeface="Aptos"/>
              </a:defRPr>
            </a:pPr>
            <a:r>
              <a:rPr sz="1035" b="1">
                <a:solidFill>
                  <a:srgbClr val="17324A"/>
                </a:solidFill>
                <a:latin typeface="Aptos"/>
                <a:ea typeface="Aptos"/>
                <a:cs typeface="Aptos"/>
              </a:rPr>
              <a:t>Validity flag</a:t>
            </a:r>
          </a:p>
        </p:txBody>
      </p:sp>
      <p:sp>
        <p:nvSpPr>
          <p:cNvPr id="60" name="s35-bus-4">
            <a:extLst xmlns:a="http://schemas.openxmlformats.org/drawingml/2006/main">
              <a:ext uri="{FF2B5EF4-FFF2-40B4-BE49-F238E27FC236}">
                <a16:creationId xmlns:a16="http://schemas.microsoft.com/office/drawing/2014/main" id="{4FA529C5-888B-4540-A725-70B516BA6C34}"/>
              </a:ext>
            </a:extLst>
          </p:cNvPr>
          <p:cNvSpPr>
            <a:spLocks xmlns:a="http://schemas.openxmlformats.org/drawingml/2006/main" noGrp="1"/>
          </p:cNvSpPr>
          <p:nvPr/>
        </p:nvSpPr>
        <p:spPr>
          <a:xfrm xmlns:a="http://schemas.openxmlformats.org/drawingml/2006/main">
            <a:off x="6248400" y="4743450"/>
            <a:ext cx="5257800" cy="523875"/>
          </a:xfrm>
          <a:prstGeom xmlns:a="http://schemas.openxmlformats.org/drawingml/2006/main" prst="roundRect">
            <a:avLst>
              <a:gd name="adj" fmla="val 21818"/>
            </a:avLst>
          </a:prstGeom>
          <a:solidFill xmlns:a="http://schemas.openxmlformats.org/drawingml/2006/main">
            <a:srgbClr val="FFFFFF"/>
          </a:solidFill>
          <a:ln xmlns:a="http://schemas.openxmlformats.org/drawingml/2006/main" w="9525">
            <a:solidFill>
              <a:srgbClr val="C9D8E3"/>
            </a:solidFill>
            <a:prstDash val="solid"/>
          </a:ln>
        </p:spPr>
      </p:sp>
      <p:sp>
        <p:nvSpPr>
          <p:cNvPr id="61" name="s35-bus-name-4">
            <a:extLst xmlns:a="http://schemas.openxmlformats.org/drawingml/2006/main">
              <a:ext uri="{FF2B5EF4-FFF2-40B4-BE49-F238E27FC236}">
                <a16:creationId xmlns:a16="http://schemas.microsoft.com/office/drawing/2014/main" id="{7611D67E-E6D7-435D-BAF0-25CB872A8854}"/>
              </a:ext>
            </a:extLst>
          </p:cNvPr>
          <p:cNvSpPr>
            <a:spLocks xmlns:a="http://schemas.openxmlformats.org/drawingml/2006/main" noGrp="1"/>
          </p:cNvSpPr>
          <p:nvPr/>
        </p:nvSpPr>
        <p:spPr>
          <a:xfrm xmlns:a="http://schemas.openxmlformats.org/drawingml/2006/main">
            <a:off x="6381750" y="4781550"/>
            <a:ext cx="1476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140" b="1">
                <a:solidFill>
                  <a:srgbClr val="20B7C5"/>
                </a:solidFill>
                <a:latin typeface="Aptos"/>
                <a:ea typeface="Aptos"/>
                <a:cs typeface="Aptos"/>
              </a:defRPr>
            </a:pPr>
            <a:r>
              <a:rPr sz="1140" b="1">
                <a:solidFill>
                  <a:srgbClr val="20B7C5"/>
                </a:solidFill>
                <a:latin typeface="Aptos"/>
                <a:ea typeface="Aptos"/>
                <a:cs typeface="Aptos"/>
              </a:rPr>
              <a:t>mode</a:t>
            </a:r>
          </a:p>
        </p:txBody>
      </p:sp>
      <p:sp>
        <p:nvSpPr>
          <p:cNvPr id="62" name="s35-bus-meta-4">
            <a:extLst xmlns:a="http://schemas.openxmlformats.org/drawingml/2006/main">
              <a:ext uri="{FF2B5EF4-FFF2-40B4-BE49-F238E27FC236}">
                <a16:creationId xmlns:a16="http://schemas.microsoft.com/office/drawing/2014/main" id="{3B366A71-08CE-4B3F-BAE7-4C84147BD8A1}"/>
              </a:ext>
            </a:extLst>
          </p:cNvPr>
          <p:cNvSpPr>
            <a:spLocks xmlns:a="http://schemas.openxmlformats.org/drawingml/2006/main" noGrp="1"/>
          </p:cNvSpPr>
          <p:nvPr/>
        </p:nvSpPr>
        <p:spPr>
          <a:xfrm xmlns:a="http://schemas.openxmlformats.org/drawingml/2006/main">
            <a:off x="7896225" y="4781550"/>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defRPr sz="1065" b="1">
                <a:solidFill>
                  <a:srgbClr val="0B1F33"/>
                </a:solidFill>
                <a:latin typeface="Aptos"/>
                <a:ea typeface="Aptos"/>
                <a:cs typeface="Aptos"/>
              </a:defRPr>
            </a:pPr>
            <a:r>
              <a:rPr sz="1065" b="1">
                <a:solidFill>
                  <a:srgbClr val="0B1F33"/>
                </a:solidFill>
                <a:latin typeface="Aptos"/>
                <a:ea typeface="Aptos"/>
                <a:cs typeface="Aptos"/>
              </a:rPr>
              <a:t>uint8 • 1</a:t>
            </a:r>
          </a:p>
        </p:txBody>
      </p:sp>
      <p:sp>
        <p:nvSpPr>
          <p:cNvPr id="63" name="s35-bus-desc-4">
            <a:extLst xmlns:a="http://schemas.openxmlformats.org/drawingml/2006/main">
              <a:ext uri="{FF2B5EF4-FFF2-40B4-BE49-F238E27FC236}">
                <a16:creationId xmlns:a16="http://schemas.microsoft.com/office/drawing/2014/main" id="{C1802BCA-7075-46CF-AB6C-2179A6E41560}"/>
              </a:ext>
            </a:extLst>
          </p:cNvPr>
          <p:cNvSpPr>
            <a:spLocks xmlns:a="http://schemas.openxmlformats.org/drawingml/2006/main" noGrp="1"/>
          </p:cNvSpPr>
          <p:nvPr/>
        </p:nvSpPr>
        <p:spPr>
          <a:xfrm xmlns:a="http://schemas.openxmlformats.org/drawingml/2006/main">
            <a:off x="6381750" y="50101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035" b="1">
                <a:solidFill>
                  <a:srgbClr val="17324A"/>
                </a:solidFill>
                <a:latin typeface="Aptos"/>
                <a:ea typeface="Aptos"/>
                <a:cs typeface="Aptos"/>
              </a:defRPr>
            </a:pPr>
            <a:r>
              <a:rPr sz="1035" b="1">
                <a:solidFill>
                  <a:srgbClr val="17324A"/>
                </a:solidFill>
                <a:latin typeface="Aptos"/>
                <a:ea typeface="Aptos"/>
                <a:cs typeface="Aptos"/>
              </a:rPr>
              <a:t>0 OFF • 1 ARMED • 2 ENGAGED • 3 DEGRADED</a:t>
            </a:r>
          </a:p>
        </p:txBody>
      </p:sp>
      <p:sp>
        <p:nvSpPr>
          <p:cNvPr id="64" name="s35-takeaway">
            <a:extLst xmlns:a="http://schemas.openxmlformats.org/drawingml/2006/main">
              <a:ext uri="{FF2B5EF4-FFF2-40B4-BE49-F238E27FC236}">
                <a16:creationId xmlns:a16="http://schemas.microsoft.com/office/drawing/2014/main" id="{26A3611A-5504-49CD-8B79-E0AEE17A951D}"/>
              </a:ext>
            </a:extLst>
          </p:cNvPr>
          <p:cNvSpPr>
            <a:spLocks xmlns:a="http://schemas.openxmlformats.org/drawingml/2006/main" noGrp="1"/>
          </p:cNvSpPr>
          <p:nvPr/>
        </p:nvSpPr>
        <p:spPr>
          <a:xfrm xmlns:a="http://schemas.openxmlformats.org/drawingml/2006/main">
            <a:off x="685800" y="5543550"/>
            <a:ext cx="10820400" cy="533400"/>
          </a:xfrm>
          <a:prstGeom xmlns:a="http://schemas.openxmlformats.org/drawingml/2006/main" prst="roundRect">
            <a:avLst>
              <a:gd name="adj" fmla="val 21429"/>
            </a:avLst>
          </a:prstGeom>
          <a:solidFill xmlns:a="http://schemas.openxmlformats.org/drawingml/2006/main">
            <a:srgbClr val="E2ECFF"/>
          </a:solidFill>
          <a:ln xmlns:a="http://schemas.openxmlformats.org/drawingml/2006/main" w="14288">
            <a:solidFill>
              <a:srgbClr val="2D6CD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350" b="1">
                <a:solidFill>
                  <a:srgbClr val="0B1F33"/>
                </a:solidFill>
                <a:latin typeface="Aptos"/>
                <a:ea typeface="Aptos"/>
                <a:cs typeface="Aptos"/>
              </a:defRPr>
            </a:pPr>
            <a:r>
              <a:rPr sz="1350" b="1">
                <a:solidFill>
                  <a:srgbClr val="0B1F33"/>
                </a:solidFill>
                <a:latin typeface="Aptos"/>
                <a:ea typeface="Aptos"/>
                <a:cs typeface="Aptos"/>
              </a:rPr>
              <a:t>Explicit units, types, dimensions, ranges, validity, and ownership make integration predictable—and reviewable.</a:t>
            </a:r>
          </a:p>
        </p:txBody>
      </p:sp>
    </p:spTree>
    <p:extLst>
      <p:ext uri="{BB962C8B-B14F-4D97-AF65-F5344CB8AC3E}">
        <p14:creationId xmlns:p14="http://schemas.microsoft.com/office/powerpoint/2010/main" val="786167458"/>
      </p:ext>
    </p:extLst>
  </p:cSld>
</p:sld>
</file>

<file path=ppt/slides/slide36.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7" name="section-319">
            <a:extLst xmlns:a="http://schemas.openxmlformats.org/drawingml/2006/main">
              <a:ext uri="{FF2B5EF4-FFF2-40B4-BE49-F238E27FC236}">
                <a16:creationId xmlns:a16="http://schemas.microsoft.com/office/drawing/2014/main" id="{5E7AE4DA-DA11-4EF2-A4EE-2AEBCD9996BE}"/>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06 • VERIFICATION WORKFLOW</a:t>
            </a:r>
          </a:p>
        </p:txBody>
      </p:sp>
      <p:sp>
        <p:nvSpPr>
          <p:cNvPr id="2" name="title-319">
            <a:extLst xmlns:a="http://schemas.openxmlformats.org/drawingml/2006/main">
              <a:ext uri="{FF2B5EF4-FFF2-40B4-BE49-F238E27FC236}">
                <a16:creationId xmlns:a16="http://schemas.microsoft.com/office/drawing/2014/main" id="{B53B82A1-1296-4524-9015-01380CFBDF0B}"/>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FFFFFF"/>
                </a:solidFill>
                <a:latin typeface="Aptos"/>
                <a:ea typeface="Aptos"/>
                <a:cs typeface="Aptos"/>
              </a:defRPr>
            </a:pPr>
            <a:r>
              <a:rPr sz="3150" b="1" i="0">
                <a:solidFill>
                  <a:srgbClr val="FFFFFF"/>
                </a:solidFill>
                <a:latin typeface="Aptos"/>
                <a:ea typeface="Aptos"/>
                <a:cs typeface="Aptos"/>
              </a:rPr>
              <a:t>Reviewable models make intent obvious</a:t>
            </a:r>
          </a:p>
        </p:txBody>
      </p:sp>
      <p:sp>
        <p:nvSpPr>
          <p:cNvPr id="3" name="line-320">
            <a:extLst xmlns:a="http://schemas.openxmlformats.org/drawingml/2006/main">
              <a:ext uri="{FF2B5EF4-FFF2-40B4-BE49-F238E27FC236}">
                <a16:creationId xmlns:a16="http://schemas.microsoft.com/office/drawing/2014/main" id="{44DD73CA-BEA8-4642-AF63-DBCE58FFC322}"/>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321">
            <a:extLst xmlns:a="http://schemas.openxmlformats.org/drawingml/2006/main">
              <a:ext uri="{FF2B5EF4-FFF2-40B4-BE49-F238E27FC236}">
                <a16:creationId xmlns:a16="http://schemas.microsoft.com/office/drawing/2014/main" id="{2267A4B4-B09C-406A-BD5D-70D70DA8373B}"/>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322">
            <a:extLst xmlns:a="http://schemas.openxmlformats.org/drawingml/2006/main">
              <a:ext uri="{FF2B5EF4-FFF2-40B4-BE49-F238E27FC236}">
                <a16:creationId xmlns:a16="http://schemas.microsoft.com/office/drawing/2014/main" id="{6595F1F7-86B2-4E1E-8C9A-7635825F6040}"/>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36</a:t>
            </a:r>
          </a:p>
        </p:txBody>
      </p:sp>
      <p:sp>
        <p:nvSpPr>
          <p:cNvPr id="6" name="text-323">
            <a:extLst xmlns:a="http://schemas.openxmlformats.org/drawingml/2006/main">
              <a:ext uri="{FF2B5EF4-FFF2-40B4-BE49-F238E27FC236}">
                <a16:creationId xmlns:a16="http://schemas.microsoft.com/office/drawing/2014/main" id="{274202ED-E664-4AB0-985C-B052CB9F07F9}"/>
              </a:ext>
            </a:extLst>
          </p:cNvPr>
          <p:cNvSpPr>
            <a:spLocks xmlns:a="http://schemas.openxmlformats.org/drawingml/2006/main" noGrp="1"/>
          </p:cNvSpPr>
          <p:nvPr/>
        </p:nvSpPr>
        <p:spPr>
          <a:xfrm xmlns:a="http://schemas.openxmlformats.org/drawingml/2006/main">
            <a:off x="742950" y="1504950"/>
            <a:ext cx="49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01</a:t>
            </a:r>
          </a:p>
        </p:txBody>
      </p:sp>
      <p:sp>
        <p:nvSpPr>
          <p:cNvPr id="7" name="text-324">
            <a:extLst xmlns:a="http://schemas.openxmlformats.org/drawingml/2006/main">
              <a:ext uri="{FF2B5EF4-FFF2-40B4-BE49-F238E27FC236}">
                <a16:creationId xmlns:a16="http://schemas.microsoft.com/office/drawing/2014/main" id="{0E94AA98-B2B4-4F0F-82EC-531D8260587C}"/>
              </a:ext>
            </a:extLst>
          </p:cNvPr>
          <p:cNvSpPr>
            <a:spLocks xmlns:a="http://schemas.openxmlformats.org/drawingml/2006/main" noGrp="1"/>
          </p:cNvSpPr>
          <p:nvPr/>
        </p:nvSpPr>
        <p:spPr>
          <a:xfrm xmlns:a="http://schemas.openxmlformats.org/drawingml/2006/main">
            <a:off x="1524000" y="15049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575" b="1" i="0">
                <a:solidFill>
                  <a:srgbClr val="FFFFFF"/>
                </a:solidFill>
                <a:latin typeface="Aptos"/>
                <a:ea typeface="Aptos"/>
                <a:cs typeface="Aptos"/>
              </a:defRPr>
            </a:pPr>
            <a:r>
              <a:rPr sz="1575" b="1" i="0">
                <a:solidFill>
                  <a:srgbClr val="FFFFFF"/>
                </a:solidFill>
                <a:latin typeface="Aptos"/>
                <a:ea typeface="Aptos"/>
                <a:cs typeface="Aptos"/>
              </a:rPr>
              <a:t>NAME FOR MEANING</a:t>
            </a:r>
          </a:p>
        </p:txBody>
      </p:sp>
      <p:sp>
        <p:nvSpPr>
          <p:cNvPr id="8" name="text-325">
            <a:extLst xmlns:a="http://schemas.openxmlformats.org/drawingml/2006/main">
              <a:ext uri="{FF2B5EF4-FFF2-40B4-BE49-F238E27FC236}">
                <a16:creationId xmlns:a16="http://schemas.microsoft.com/office/drawing/2014/main" id="{F5486363-7984-41C1-9678-9A76FCCE8488}"/>
              </a:ext>
            </a:extLst>
          </p:cNvPr>
          <p:cNvSpPr>
            <a:spLocks xmlns:a="http://schemas.openxmlformats.org/drawingml/2006/main" noGrp="1"/>
          </p:cNvSpPr>
          <p:nvPr/>
        </p:nvSpPr>
        <p:spPr>
          <a:xfrm xmlns:a="http://schemas.openxmlformats.org/drawingml/2006/main">
            <a:off x="4572000" y="150495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BDD1DE"/>
                </a:solidFill>
                <a:latin typeface="Aptos"/>
                <a:ea typeface="Aptos"/>
                <a:cs typeface="Aptos"/>
              </a:defRPr>
            </a:pPr>
            <a:r>
              <a:rPr sz="1500" b="0" i="0">
                <a:solidFill>
                  <a:srgbClr val="BDD1DE"/>
                </a:solidFill>
                <a:latin typeface="Aptos"/>
                <a:ea typeface="Aptos"/>
                <a:cs typeface="Aptos"/>
              </a:rPr>
              <a:t>PitchRateLimiter, q_cmd_in, air_data_valid—not Subsystem3 or u1</a:t>
            </a:r>
          </a:p>
        </p:txBody>
      </p:sp>
      <p:sp>
        <p:nvSpPr>
          <p:cNvPr id="9" name="line-326">
            <a:extLst xmlns:a="http://schemas.openxmlformats.org/drawingml/2006/main">
              <a:ext uri="{FF2B5EF4-FFF2-40B4-BE49-F238E27FC236}">
                <a16:creationId xmlns:a16="http://schemas.microsoft.com/office/drawing/2014/main" id="{28A77F49-AAE8-4B0A-814D-28DCB2A2DB31}"/>
              </a:ext>
            </a:extLst>
          </p:cNvPr>
          <p:cNvSpPr>
            <a:spLocks xmlns:a="http://schemas.openxmlformats.org/drawingml/2006/main" noGrp="1"/>
          </p:cNvSpPr>
          <p:nvPr/>
        </p:nvSpPr>
        <p:spPr>
          <a:xfrm xmlns:a="http://schemas.openxmlformats.org/drawingml/2006/main">
            <a:off x="1524000" y="2076450"/>
            <a:ext cx="971550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10" name="text-327">
            <a:extLst xmlns:a="http://schemas.openxmlformats.org/drawingml/2006/main">
              <a:ext uri="{FF2B5EF4-FFF2-40B4-BE49-F238E27FC236}">
                <a16:creationId xmlns:a16="http://schemas.microsoft.com/office/drawing/2014/main" id="{45E5BEC2-0B5E-4FFD-ABA4-263F5662B1D7}"/>
              </a:ext>
            </a:extLst>
          </p:cNvPr>
          <p:cNvSpPr>
            <a:spLocks xmlns:a="http://schemas.openxmlformats.org/drawingml/2006/main" noGrp="1"/>
          </p:cNvSpPr>
          <p:nvPr/>
        </p:nvSpPr>
        <p:spPr>
          <a:xfrm xmlns:a="http://schemas.openxmlformats.org/drawingml/2006/main">
            <a:off x="742950" y="2343150"/>
            <a:ext cx="49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02</a:t>
            </a:r>
          </a:p>
        </p:txBody>
      </p:sp>
      <p:sp>
        <p:nvSpPr>
          <p:cNvPr id="11" name="text-328">
            <a:extLst xmlns:a="http://schemas.openxmlformats.org/drawingml/2006/main">
              <a:ext uri="{FF2B5EF4-FFF2-40B4-BE49-F238E27FC236}">
                <a16:creationId xmlns:a16="http://schemas.microsoft.com/office/drawing/2014/main" id="{F95C54DF-873A-4AE9-BFF3-A48C07277BFB}"/>
              </a:ext>
            </a:extLst>
          </p:cNvPr>
          <p:cNvSpPr>
            <a:spLocks xmlns:a="http://schemas.openxmlformats.org/drawingml/2006/main" noGrp="1"/>
          </p:cNvSpPr>
          <p:nvPr/>
        </p:nvSpPr>
        <p:spPr>
          <a:xfrm xmlns:a="http://schemas.openxmlformats.org/drawingml/2006/main">
            <a:off x="1524000" y="23431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575" b="1" i="0">
                <a:solidFill>
                  <a:srgbClr val="FFFFFF"/>
                </a:solidFill>
                <a:latin typeface="Aptos"/>
                <a:ea typeface="Aptos"/>
                <a:cs typeface="Aptos"/>
              </a:defRPr>
            </a:pPr>
            <a:r>
              <a:rPr sz="1575" b="1" i="0">
                <a:solidFill>
                  <a:srgbClr val="FFFFFF"/>
                </a:solidFill>
                <a:latin typeface="Aptos"/>
                <a:ea typeface="Aptos"/>
                <a:cs typeface="Aptos"/>
              </a:rPr>
              <a:t>LABEL THE CONTRACT</a:t>
            </a:r>
          </a:p>
        </p:txBody>
      </p:sp>
      <p:sp>
        <p:nvSpPr>
          <p:cNvPr id="12" name="text-329">
            <a:extLst xmlns:a="http://schemas.openxmlformats.org/drawingml/2006/main">
              <a:ext uri="{FF2B5EF4-FFF2-40B4-BE49-F238E27FC236}">
                <a16:creationId xmlns:a16="http://schemas.microsoft.com/office/drawing/2014/main" id="{18612215-8EA1-4490-91BB-2E11D2052898}"/>
              </a:ext>
            </a:extLst>
          </p:cNvPr>
          <p:cNvSpPr>
            <a:spLocks xmlns:a="http://schemas.openxmlformats.org/drawingml/2006/main" noGrp="1"/>
          </p:cNvSpPr>
          <p:nvPr/>
        </p:nvSpPr>
        <p:spPr>
          <a:xfrm xmlns:a="http://schemas.openxmlformats.org/drawingml/2006/main">
            <a:off x="4572000" y="234315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BDD1DE"/>
                </a:solidFill>
                <a:latin typeface="Aptos"/>
                <a:ea typeface="Aptos"/>
                <a:cs typeface="Aptos"/>
              </a:defRPr>
            </a:pPr>
            <a:r>
              <a:rPr sz="1500" b="0" i="0">
                <a:solidFill>
                  <a:srgbClr val="BDD1DE"/>
                </a:solidFill>
                <a:latin typeface="Aptos"/>
                <a:ea typeface="Aptos"/>
                <a:cs typeface="Aptos"/>
              </a:rPr>
              <a:t>units, type, dimensions, sample time, range, validity, ownership</a:t>
            </a:r>
          </a:p>
        </p:txBody>
      </p:sp>
      <p:sp>
        <p:nvSpPr>
          <p:cNvPr id="13" name="line-330">
            <a:extLst xmlns:a="http://schemas.openxmlformats.org/drawingml/2006/main">
              <a:ext uri="{FF2B5EF4-FFF2-40B4-BE49-F238E27FC236}">
                <a16:creationId xmlns:a16="http://schemas.microsoft.com/office/drawing/2014/main" id="{BD30EC1E-1585-4587-9FF5-D649139CCF0F}"/>
              </a:ext>
            </a:extLst>
          </p:cNvPr>
          <p:cNvSpPr>
            <a:spLocks xmlns:a="http://schemas.openxmlformats.org/drawingml/2006/main" noGrp="1"/>
          </p:cNvSpPr>
          <p:nvPr/>
        </p:nvSpPr>
        <p:spPr>
          <a:xfrm xmlns:a="http://schemas.openxmlformats.org/drawingml/2006/main">
            <a:off x="1524000" y="2914650"/>
            <a:ext cx="971550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14" name="text-331">
            <a:extLst xmlns:a="http://schemas.openxmlformats.org/drawingml/2006/main">
              <a:ext uri="{FF2B5EF4-FFF2-40B4-BE49-F238E27FC236}">
                <a16:creationId xmlns:a16="http://schemas.microsoft.com/office/drawing/2014/main" id="{F7EE569B-0D13-4CEC-A668-514D6FBE277B}"/>
              </a:ext>
            </a:extLst>
          </p:cNvPr>
          <p:cNvSpPr>
            <a:spLocks xmlns:a="http://schemas.openxmlformats.org/drawingml/2006/main" noGrp="1"/>
          </p:cNvSpPr>
          <p:nvPr/>
        </p:nvSpPr>
        <p:spPr>
          <a:xfrm xmlns:a="http://schemas.openxmlformats.org/drawingml/2006/main">
            <a:off x="742950" y="3181350"/>
            <a:ext cx="49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03</a:t>
            </a:r>
          </a:p>
        </p:txBody>
      </p:sp>
      <p:sp>
        <p:nvSpPr>
          <p:cNvPr id="15" name="text-332">
            <a:extLst xmlns:a="http://schemas.openxmlformats.org/drawingml/2006/main">
              <a:ext uri="{FF2B5EF4-FFF2-40B4-BE49-F238E27FC236}">
                <a16:creationId xmlns:a16="http://schemas.microsoft.com/office/drawing/2014/main" id="{9054FC18-4019-429B-9CA9-84DE3401D634}"/>
              </a:ext>
            </a:extLst>
          </p:cNvPr>
          <p:cNvSpPr>
            <a:spLocks xmlns:a="http://schemas.openxmlformats.org/drawingml/2006/main" noGrp="1"/>
          </p:cNvSpPr>
          <p:nvPr/>
        </p:nvSpPr>
        <p:spPr>
          <a:xfrm xmlns:a="http://schemas.openxmlformats.org/drawingml/2006/main">
            <a:off x="1524000" y="31813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575" b="1" i="0">
                <a:solidFill>
                  <a:srgbClr val="FFFFFF"/>
                </a:solidFill>
                <a:latin typeface="Aptos"/>
                <a:ea typeface="Aptos"/>
                <a:cs typeface="Aptos"/>
              </a:defRPr>
            </a:pPr>
            <a:r>
              <a:rPr sz="1575" b="1" i="0">
                <a:solidFill>
                  <a:srgbClr val="FFFFFF"/>
                </a:solidFill>
                <a:latin typeface="Aptos"/>
                <a:ea typeface="Aptos"/>
                <a:cs typeface="Aptos"/>
              </a:rPr>
              <a:t>FLOW LEFT TO RIGHT</a:t>
            </a:r>
          </a:p>
        </p:txBody>
      </p:sp>
      <p:sp>
        <p:nvSpPr>
          <p:cNvPr id="16" name="text-333">
            <a:extLst xmlns:a="http://schemas.openxmlformats.org/drawingml/2006/main">
              <a:ext uri="{FF2B5EF4-FFF2-40B4-BE49-F238E27FC236}">
                <a16:creationId xmlns:a16="http://schemas.microsoft.com/office/drawing/2014/main" id="{4269560D-85B2-4CBF-A3FB-9494F4C476F0}"/>
              </a:ext>
            </a:extLst>
          </p:cNvPr>
          <p:cNvSpPr>
            <a:spLocks xmlns:a="http://schemas.openxmlformats.org/drawingml/2006/main" noGrp="1"/>
          </p:cNvSpPr>
          <p:nvPr/>
        </p:nvSpPr>
        <p:spPr>
          <a:xfrm xmlns:a="http://schemas.openxmlformats.org/drawingml/2006/main">
            <a:off x="4572000" y="318135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BDD1DE"/>
                </a:solidFill>
                <a:latin typeface="Aptos"/>
                <a:ea typeface="Aptos"/>
                <a:cs typeface="Aptos"/>
              </a:defRPr>
            </a:pPr>
            <a:r>
              <a:rPr sz="1500" b="0" i="0">
                <a:solidFill>
                  <a:srgbClr val="BDD1DE"/>
                </a:solidFill>
                <a:latin typeface="Aptos"/>
                <a:ea typeface="Aptos"/>
                <a:cs typeface="Aptos"/>
              </a:rPr>
              <a:t>commands and data enter consistently; outputs leave consistently</a:t>
            </a:r>
          </a:p>
        </p:txBody>
      </p:sp>
      <p:sp>
        <p:nvSpPr>
          <p:cNvPr id="17" name="line-334">
            <a:extLst xmlns:a="http://schemas.openxmlformats.org/drawingml/2006/main">
              <a:ext uri="{FF2B5EF4-FFF2-40B4-BE49-F238E27FC236}">
                <a16:creationId xmlns:a16="http://schemas.microsoft.com/office/drawing/2014/main" id="{5D646359-F787-44EC-A94C-6442FA39919E}"/>
              </a:ext>
            </a:extLst>
          </p:cNvPr>
          <p:cNvSpPr>
            <a:spLocks xmlns:a="http://schemas.openxmlformats.org/drawingml/2006/main" noGrp="1"/>
          </p:cNvSpPr>
          <p:nvPr/>
        </p:nvSpPr>
        <p:spPr>
          <a:xfrm xmlns:a="http://schemas.openxmlformats.org/drawingml/2006/main">
            <a:off x="1524000" y="3752850"/>
            <a:ext cx="971550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18" name="text-335">
            <a:extLst xmlns:a="http://schemas.openxmlformats.org/drawingml/2006/main">
              <a:ext uri="{FF2B5EF4-FFF2-40B4-BE49-F238E27FC236}">
                <a16:creationId xmlns:a16="http://schemas.microsoft.com/office/drawing/2014/main" id="{FDA07C6B-4AE3-4BCC-9B55-353955614B74}"/>
              </a:ext>
            </a:extLst>
          </p:cNvPr>
          <p:cNvSpPr>
            <a:spLocks xmlns:a="http://schemas.openxmlformats.org/drawingml/2006/main" noGrp="1"/>
          </p:cNvSpPr>
          <p:nvPr/>
        </p:nvSpPr>
        <p:spPr>
          <a:xfrm xmlns:a="http://schemas.openxmlformats.org/drawingml/2006/main">
            <a:off x="742950" y="4019550"/>
            <a:ext cx="49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04</a:t>
            </a:r>
          </a:p>
        </p:txBody>
      </p:sp>
      <p:sp>
        <p:nvSpPr>
          <p:cNvPr id="19" name="text-336">
            <a:extLst xmlns:a="http://schemas.openxmlformats.org/drawingml/2006/main">
              <a:ext uri="{FF2B5EF4-FFF2-40B4-BE49-F238E27FC236}">
                <a16:creationId xmlns:a16="http://schemas.microsoft.com/office/drawing/2014/main" id="{AB7739A0-8F4C-4E54-BFD6-2C672EE2B14F}"/>
              </a:ext>
            </a:extLst>
          </p:cNvPr>
          <p:cNvSpPr>
            <a:spLocks xmlns:a="http://schemas.openxmlformats.org/drawingml/2006/main" noGrp="1"/>
          </p:cNvSpPr>
          <p:nvPr/>
        </p:nvSpPr>
        <p:spPr>
          <a:xfrm xmlns:a="http://schemas.openxmlformats.org/drawingml/2006/main">
            <a:off x="1524000" y="40195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575" b="1" i="0">
                <a:solidFill>
                  <a:srgbClr val="FFFFFF"/>
                </a:solidFill>
                <a:latin typeface="Aptos"/>
                <a:ea typeface="Aptos"/>
                <a:cs typeface="Aptos"/>
              </a:defRPr>
            </a:pPr>
            <a:r>
              <a:rPr sz="1575" b="1" i="0">
                <a:solidFill>
                  <a:srgbClr val="FFFFFF"/>
                </a:solidFill>
                <a:latin typeface="Aptos"/>
                <a:ea typeface="Aptos"/>
                <a:cs typeface="Aptos"/>
              </a:rPr>
              <a:t>ONE LEVEL, ONE STORY</a:t>
            </a:r>
          </a:p>
        </p:txBody>
      </p:sp>
      <p:sp>
        <p:nvSpPr>
          <p:cNvPr id="20" name="text-337">
            <a:extLst xmlns:a="http://schemas.openxmlformats.org/drawingml/2006/main">
              <a:ext uri="{FF2B5EF4-FFF2-40B4-BE49-F238E27FC236}">
                <a16:creationId xmlns:a16="http://schemas.microsoft.com/office/drawing/2014/main" id="{FB75E0AE-536C-437D-B22E-330F903E4E51}"/>
              </a:ext>
            </a:extLst>
          </p:cNvPr>
          <p:cNvSpPr>
            <a:spLocks xmlns:a="http://schemas.openxmlformats.org/drawingml/2006/main" noGrp="1"/>
          </p:cNvSpPr>
          <p:nvPr/>
        </p:nvSpPr>
        <p:spPr>
          <a:xfrm xmlns:a="http://schemas.openxmlformats.org/drawingml/2006/main">
            <a:off x="4572000" y="401955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BDD1DE"/>
                </a:solidFill>
                <a:latin typeface="Aptos"/>
                <a:ea typeface="Aptos"/>
                <a:cs typeface="Aptos"/>
              </a:defRPr>
            </a:pPr>
            <a:r>
              <a:rPr sz="1500" b="0" i="0">
                <a:solidFill>
                  <a:srgbClr val="BDD1DE"/>
                </a:solidFill>
                <a:latin typeface="Aptos"/>
                <a:ea typeface="Aptos"/>
                <a:cs typeface="Aptos"/>
              </a:rPr>
              <a:t>use hierarchy when a reviewer cannot summarize the diagram quickly</a:t>
            </a:r>
          </a:p>
        </p:txBody>
      </p:sp>
      <p:sp>
        <p:nvSpPr>
          <p:cNvPr id="21" name="line-338">
            <a:extLst xmlns:a="http://schemas.openxmlformats.org/drawingml/2006/main">
              <a:ext uri="{FF2B5EF4-FFF2-40B4-BE49-F238E27FC236}">
                <a16:creationId xmlns:a16="http://schemas.microsoft.com/office/drawing/2014/main" id="{4776EE4B-1776-4C5C-9B7B-F15501A26A93}"/>
              </a:ext>
            </a:extLst>
          </p:cNvPr>
          <p:cNvSpPr>
            <a:spLocks xmlns:a="http://schemas.openxmlformats.org/drawingml/2006/main" noGrp="1"/>
          </p:cNvSpPr>
          <p:nvPr/>
        </p:nvSpPr>
        <p:spPr>
          <a:xfrm xmlns:a="http://schemas.openxmlformats.org/drawingml/2006/main">
            <a:off x="1524000" y="4591050"/>
            <a:ext cx="971550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22" name="text-339">
            <a:extLst xmlns:a="http://schemas.openxmlformats.org/drawingml/2006/main">
              <a:ext uri="{FF2B5EF4-FFF2-40B4-BE49-F238E27FC236}">
                <a16:creationId xmlns:a16="http://schemas.microsoft.com/office/drawing/2014/main" id="{8DF68E8C-5524-4E2F-BF17-AA58BCA85C11}"/>
              </a:ext>
            </a:extLst>
          </p:cNvPr>
          <p:cNvSpPr>
            <a:spLocks xmlns:a="http://schemas.openxmlformats.org/drawingml/2006/main" noGrp="1"/>
          </p:cNvSpPr>
          <p:nvPr/>
        </p:nvSpPr>
        <p:spPr>
          <a:xfrm xmlns:a="http://schemas.openxmlformats.org/drawingml/2006/main">
            <a:off x="742950" y="4857750"/>
            <a:ext cx="49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05</a:t>
            </a:r>
          </a:p>
        </p:txBody>
      </p:sp>
      <p:sp>
        <p:nvSpPr>
          <p:cNvPr id="23" name="text-340">
            <a:extLst xmlns:a="http://schemas.openxmlformats.org/drawingml/2006/main">
              <a:ext uri="{FF2B5EF4-FFF2-40B4-BE49-F238E27FC236}">
                <a16:creationId xmlns:a16="http://schemas.microsoft.com/office/drawing/2014/main" id="{539FB3A7-1E16-47BA-86FE-1F28AC6EEFE9}"/>
              </a:ext>
            </a:extLst>
          </p:cNvPr>
          <p:cNvSpPr>
            <a:spLocks xmlns:a="http://schemas.openxmlformats.org/drawingml/2006/main" noGrp="1"/>
          </p:cNvSpPr>
          <p:nvPr/>
        </p:nvSpPr>
        <p:spPr>
          <a:xfrm xmlns:a="http://schemas.openxmlformats.org/drawingml/2006/main">
            <a:off x="1524000" y="48577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575" b="1" i="0">
                <a:solidFill>
                  <a:srgbClr val="FFFFFF"/>
                </a:solidFill>
                <a:latin typeface="Aptos"/>
                <a:ea typeface="Aptos"/>
                <a:cs typeface="Aptos"/>
              </a:defRPr>
            </a:pPr>
            <a:r>
              <a:rPr sz="1575" b="1" i="0">
                <a:solidFill>
                  <a:srgbClr val="FFFFFF"/>
                </a:solidFill>
                <a:latin typeface="Aptos"/>
                <a:ea typeface="Aptos"/>
                <a:cs typeface="Aptos"/>
              </a:rPr>
              <a:t>REUSE CONTROLLED CONTENT</a:t>
            </a:r>
          </a:p>
        </p:txBody>
      </p:sp>
      <p:sp>
        <p:nvSpPr>
          <p:cNvPr id="24" name="text-341">
            <a:extLst xmlns:a="http://schemas.openxmlformats.org/drawingml/2006/main">
              <a:ext uri="{FF2B5EF4-FFF2-40B4-BE49-F238E27FC236}">
                <a16:creationId xmlns:a16="http://schemas.microsoft.com/office/drawing/2014/main" id="{EBE7FAFD-9BF6-4B2E-B97C-BAF1798FD94C}"/>
              </a:ext>
            </a:extLst>
          </p:cNvPr>
          <p:cNvSpPr>
            <a:spLocks xmlns:a="http://schemas.openxmlformats.org/drawingml/2006/main" noGrp="1"/>
          </p:cNvSpPr>
          <p:nvPr/>
        </p:nvSpPr>
        <p:spPr>
          <a:xfrm xmlns:a="http://schemas.openxmlformats.org/drawingml/2006/main">
            <a:off x="4572000" y="485775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BDD1DE"/>
                </a:solidFill>
                <a:latin typeface="Aptos"/>
                <a:ea typeface="Aptos"/>
                <a:cs typeface="Aptos"/>
              </a:defRPr>
            </a:pPr>
            <a:r>
              <a:rPr sz="1500" b="0" i="0">
                <a:solidFill>
                  <a:srgbClr val="BDD1DE"/>
                </a:solidFill>
                <a:latin typeface="Aptos"/>
                <a:ea typeface="Aptos"/>
                <a:cs typeface="Aptos"/>
              </a:rPr>
              <a:t>libraries and references—never copy/paste divergence</a:t>
            </a:r>
          </a:p>
        </p:txBody>
      </p:sp>
      <p:sp>
        <p:nvSpPr>
          <p:cNvPr id="25" name="line-342">
            <a:extLst xmlns:a="http://schemas.openxmlformats.org/drawingml/2006/main">
              <a:ext uri="{FF2B5EF4-FFF2-40B4-BE49-F238E27FC236}">
                <a16:creationId xmlns:a16="http://schemas.microsoft.com/office/drawing/2014/main" id="{B731D8B4-8226-4907-857A-6F667B19C6F0}"/>
              </a:ext>
            </a:extLst>
          </p:cNvPr>
          <p:cNvSpPr>
            <a:spLocks xmlns:a="http://schemas.openxmlformats.org/drawingml/2006/main" noGrp="1"/>
          </p:cNvSpPr>
          <p:nvPr/>
        </p:nvSpPr>
        <p:spPr>
          <a:xfrm xmlns:a="http://schemas.openxmlformats.org/drawingml/2006/main">
            <a:off x="1524000" y="5429250"/>
            <a:ext cx="971550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26" name="box-343">
            <a:extLst xmlns:a="http://schemas.openxmlformats.org/drawingml/2006/main">
              <a:ext uri="{FF2B5EF4-FFF2-40B4-BE49-F238E27FC236}">
                <a16:creationId xmlns:a16="http://schemas.microsoft.com/office/drawing/2014/main" id="{F9187C8D-F06C-4555-913A-2BB2D300EFCE}"/>
              </a:ext>
            </a:extLst>
          </p:cNvPr>
          <p:cNvSpPr>
            <a:spLocks xmlns:a="http://schemas.openxmlformats.org/drawingml/2006/main" noGrp="1"/>
          </p:cNvSpPr>
          <p:nvPr/>
        </p:nvSpPr>
        <p:spPr>
          <a:xfrm xmlns:a="http://schemas.openxmlformats.org/drawingml/2006/main">
            <a:off x="2381250" y="5667375"/>
            <a:ext cx="7429500" cy="495300"/>
          </a:xfrm>
          <a:prstGeom xmlns:a="http://schemas.openxmlformats.org/drawingml/2006/main" prst="roundRect">
            <a:avLst>
              <a:gd name="adj" fmla="val 15385"/>
            </a:avLst>
          </a:prstGeom>
          <a:solidFill xmlns:a="http://schemas.openxmlformats.org/drawingml/2006/main">
            <a:srgbClr val="20B7C5"/>
          </a:solidFill>
          <a:ln xmlns:a="http://schemas.openxmlformats.org/drawingml/2006/main" w="952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71521"/>
                </a:solidFill>
                <a:latin typeface="Aptos"/>
                <a:ea typeface="Aptos"/>
                <a:cs typeface="Aptos"/>
              </a:defRPr>
            </a:pPr>
            <a:r>
              <a:rPr sz="1725" b="1">
                <a:solidFill>
                  <a:srgbClr val="071521"/>
                </a:solidFill>
                <a:latin typeface="Aptos"/>
                <a:ea typeface="Aptos"/>
                <a:cs typeface="Aptos"/>
              </a:rPr>
              <a:t>If the diagram needs a verbal apology, refactor the diagram.</a:t>
            </a:r>
          </a:p>
        </p:txBody>
      </p:sp>
    </p:spTree>
    <p:extLst>
      <p:ext uri="{BB962C8B-B14F-4D97-AF65-F5344CB8AC3E}">
        <p14:creationId xmlns:p14="http://schemas.microsoft.com/office/powerpoint/2010/main" val="1772874882"/>
      </p:ext>
    </p:extLst>
  </p:cSld>
</p:sld>
</file>

<file path=ppt/slides/slide37.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7" name="section-425">
            <a:extLst xmlns:a="http://schemas.openxmlformats.org/drawingml/2006/main">
              <a:ext uri="{FF2B5EF4-FFF2-40B4-BE49-F238E27FC236}">
                <a16:creationId xmlns:a16="http://schemas.microsoft.com/office/drawing/2014/main" id="{84B853C9-7494-4593-A0EA-D6704866BD70}"/>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07 • AUTOMATION &amp; ENVIRONMENTS</a:t>
            </a:r>
          </a:p>
        </p:txBody>
      </p:sp>
      <p:sp>
        <p:nvSpPr>
          <p:cNvPr id="2" name="title-425">
            <a:extLst xmlns:a="http://schemas.openxmlformats.org/drawingml/2006/main">
              <a:ext uri="{FF2B5EF4-FFF2-40B4-BE49-F238E27FC236}">
                <a16:creationId xmlns:a16="http://schemas.microsoft.com/office/drawing/2014/main" id="{8E382DA7-3333-42CA-B821-65C161CF9C6E}"/>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FFFFFF"/>
                </a:solidFill>
                <a:latin typeface="Aptos"/>
                <a:ea typeface="Aptos"/>
                <a:cs typeface="Aptos"/>
              </a:defRPr>
            </a:pPr>
            <a:r>
              <a:rPr sz="3150" b="1" i="0">
                <a:solidFill>
                  <a:srgbClr val="FFFFFF"/>
                </a:solidFill>
                <a:latin typeface="Aptos"/>
                <a:ea typeface="Aptos"/>
                <a:cs typeface="Aptos"/>
              </a:rPr>
              <a:t>CI automates evidence production—not approval</a:t>
            </a:r>
          </a:p>
        </p:txBody>
      </p:sp>
      <p:sp>
        <p:nvSpPr>
          <p:cNvPr id="3" name="line-426">
            <a:extLst xmlns:a="http://schemas.openxmlformats.org/drawingml/2006/main">
              <a:ext uri="{FF2B5EF4-FFF2-40B4-BE49-F238E27FC236}">
                <a16:creationId xmlns:a16="http://schemas.microsoft.com/office/drawing/2014/main" id="{69605B9E-CD00-4DE0-A1C1-89DBDB4D9962}"/>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427">
            <a:extLst xmlns:a="http://schemas.openxmlformats.org/drawingml/2006/main">
              <a:ext uri="{FF2B5EF4-FFF2-40B4-BE49-F238E27FC236}">
                <a16:creationId xmlns:a16="http://schemas.microsoft.com/office/drawing/2014/main" id="{C06A717A-D6FD-4A14-8CDB-1C15B66FF552}"/>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28">
            <a:extLst xmlns:a="http://schemas.openxmlformats.org/drawingml/2006/main">
              <a:ext uri="{FF2B5EF4-FFF2-40B4-BE49-F238E27FC236}">
                <a16:creationId xmlns:a16="http://schemas.microsoft.com/office/drawing/2014/main" id="{C2E53156-CD14-4DE1-806B-8EED8DBA4D55}"/>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37</a:t>
            </a:r>
          </a:p>
        </p:txBody>
      </p:sp>
      <p:sp>
        <p:nvSpPr>
          <p:cNvPr id="6" name="box-429">
            <a:extLst xmlns:a="http://schemas.openxmlformats.org/drawingml/2006/main">
              <a:ext uri="{FF2B5EF4-FFF2-40B4-BE49-F238E27FC236}">
                <a16:creationId xmlns:a16="http://schemas.microsoft.com/office/drawing/2014/main" id="{6B80003F-FA96-4E5F-9A30-BFD7C9F3FD1A}"/>
              </a:ext>
            </a:extLst>
          </p:cNvPr>
          <p:cNvSpPr>
            <a:spLocks xmlns:a="http://schemas.openxmlformats.org/drawingml/2006/main" noGrp="1"/>
          </p:cNvSpPr>
          <p:nvPr/>
        </p:nvSpPr>
        <p:spPr>
          <a:xfrm xmlns:a="http://schemas.openxmlformats.org/drawingml/2006/main">
            <a:off x="5524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Commit</a:t>
            </a:r>
          </a:p>
        </p:txBody>
      </p:sp>
      <p:sp>
        <p:nvSpPr>
          <p:cNvPr id="7" name="box-430">
            <a:extLst xmlns:a="http://schemas.openxmlformats.org/drawingml/2006/main">
              <a:ext uri="{FF2B5EF4-FFF2-40B4-BE49-F238E27FC236}">
                <a16:creationId xmlns:a16="http://schemas.microsoft.com/office/drawing/2014/main" id="{F014702A-D1EE-4086-B75D-805F0D4672AC}"/>
              </a:ext>
            </a:extLst>
          </p:cNvPr>
          <p:cNvSpPr>
            <a:spLocks xmlns:a="http://schemas.openxmlformats.org/drawingml/2006/main" noGrp="1"/>
          </p:cNvSpPr>
          <p:nvPr/>
        </p:nvSpPr>
        <p:spPr>
          <a:xfrm xmlns:a="http://schemas.openxmlformats.org/drawingml/2006/main">
            <a:off x="24955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Jenkinsfile</a:t>
            </a:r>
          </a:p>
        </p:txBody>
      </p:sp>
      <p:sp>
        <p:nvSpPr>
          <p:cNvPr id="8" name="box-431">
            <a:extLst xmlns:a="http://schemas.openxmlformats.org/drawingml/2006/main">
              <a:ext uri="{FF2B5EF4-FFF2-40B4-BE49-F238E27FC236}">
                <a16:creationId xmlns:a16="http://schemas.microsoft.com/office/drawing/2014/main" id="{4E6103F6-0C97-4137-B1F5-D7D062CD4C97}"/>
              </a:ext>
            </a:extLst>
          </p:cNvPr>
          <p:cNvSpPr>
            <a:spLocks xmlns:a="http://schemas.openxmlformats.org/drawingml/2006/main" noGrp="1"/>
          </p:cNvSpPr>
          <p:nvPr/>
        </p:nvSpPr>
        <p:spPr>
          <a:xfrm xmlns:a="http://schemas.openxmlformats.org/drawingml/2006/main">
            <a:off x="44386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Build / Update</a:t>
            </a:r>
          </a:p>
        </p:txBody>
      </p:sp>
      <p:sp>
        <p:nvSpPr>
          <p:cNvPr id="9" name="box-432">
            <a:extLst xmlns:a="http://schemas.openxmlformats.org/drawingml/2006/main">
              <a:ext uri="{FF2B5EF4-FFF2-40B4-BE49-F238E27FC236}">
                <a16:creationId xmlns:a16="http://schemas.microsoft.com/office/drawing/2014/main" id="{88FEB925-6E90-4BD8-8C1C-5F833B4C5778}"/>
              </a:ext>
            </a:extLst>
          </p:cNvPr>
          <p:cNvSpPr>
            <a:spLocks xmlns:a="http://schemas.openxmlformats.org/drawingml/2006/main" noGrp="1"/>
          </p:cNvSpPr>
          <p:nvPr/>
        </p:nvSpPr>
        <p:spPr>
          <a:xfrm xmlns:a="http://schemas.openxmlformats.org/drawingml/2006/main">
            <a:off x="63817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Model Checks</a:t>
            </a:r>
          </a:p>
        </p:txBody>
      </p:sp>
      <p:sp>
        <p:nvSpPr>
          <p:cNvPr id="10" name="box-433">
            <a:extLst xmlns:a="http://schemas.openxmlformats.org/drawingml/2006/main">
              <a:ext uri="{FF2B5EF4-FFF2-40B4-BE49-F238E27FC236}">
                <a16:creationId xmlns:a16="http://schemas.microsoft.com/office/drawing/2014/main" id="{2CB4FC25-4B36-4C69-AF87-48521F37CEF5}"/>
              </a:ext>
            </a:extLst>
          </p:cNvPr>
          <p:cNvSpPr>
            <a:spLocks xmlns:a="http://schemas.openxmlformats.org/drawingml/2006/main" noGrp="1"/>
          </p:cNvSpPr>
          <p:nvPr/>
        </p:nvSpPr>
        <p:spPr>
          <a:xfrm xmlns:a="http://schemas.openxmlformats.org/drawingml/2006/main">
            <a:off x="83248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Tests</a:t>
            </a:r>
          </a:p>
        </p:txBody>
      </p:sp>
      <p:sp>
        <p:nvSpPr>
          <p:cNvPr id="11" name="box-434">
            <a:extLst xmlns:a="http://schemas.openxmlformats.org/drawingml/2006/main">
              <a:ext uri="{FF2B5EF4-FFF2-40B4-BE49-F238E27FC236}">
                <a16:creationId xmlns:a16="http://schemas.microsoft.com/office/drawing/2014/main" id="{F9CEC0EC-847A-42DF-9B24-ADC29EEBF891}"/>
              </a:ext>
            </a:extLst>
          </p:cNvPr>
          <p:cNvSpPr>
            <a:spLocks xmlns:a="http://schemas.openxmlformats.org/drawingml/2006/main" noGrp="1"/>
          </p:cNvSpPr>
          <p:nvPr/>
        </p:nvSpPr>
        <p:spPr>
          <a:xfrm xmlns:a="http://schemas.openxmlformats.org/drawingml/2006/main">
            <a:off x="10267950" y="1809750"/>
            <a:ext cx="1600200" cy="628650"/>
          </a:xfrm>
          <a:prstGeom xmlns:a="http://schemas.openxmlformats.org/drawingml/2006/main" prst="roundRect">
            <a:avLst>
              <a:gd name="adj" fmla="val 12121"/>
            </a:avLst>
          </a:prstGeom>
          <a:solidFill xmlns:a="http://schemas.openxmlformats.org/drawingml/2006/main">
            <a:srgbClr val="10372A"/>
          </a:solidFill>
          <a:ln xmlns:a="http://schemas.openxmlformats.org/drawingml/2006/main" w="19050">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Reports + Artifacts</a:t>
            </a:r>
          </a:p>
        </p:txBody>
      </p:sp>
      <p:cxnSp>
        <p:nvCxnSpPr>
          <p:cNvPr id="150" name="Straight Arrow Connector 37"/>
          <p:cNvCxnSpPr>
            <a:stCxn xmlns:a="http://schemas.openxmlformats.org/drawingml/2006/main" id="6" idx="3"/>
            <a:endCxn xmlns:a="http://schemas.openxmlformats.org/drawingml/2006/main" id="7" idx="1"/>
          </p:cNvCxnSpPr>
          <p:nvPr/>
        </p:nvCxnSpPr>
        <p:spPr>
          <a:xfrm xmlns:a="http://schemas.openxmlformats.org/drawingml/2006/main">
            <a:off x="2152650" y="2124075"/>
            <a:ext cx="342900" cy="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151" name="Straight Arrow Connector 38"/>
          <p:cNvCxnSpPr>
            <a:stCxn xmlns:a="http://schemas.openxmlformats.org/drawingml/2006/main" id="7" idx="3"/>
            <a:endCxn xmlns:a="http://schemas.openxmlformats.org/drawingml/2006/main" id="8" idx="1"/>
          </p:cNvCxnSpPr>
          <p:nvPr/>
        </p:nvCxnSpPr>
        <p:spPr>
          <a:xfrm xmlns:a="http://schemas.openxmlformats.org/drawingml/2006/main">
            <a:off x="4095750" y="2124075"/>
            <a:ext cx="342900" cy="0"/>
          </a:xfrm>
          <a:prstGeom xmlns:a="http://schemas.openxmlformats.org/drawingml/2006/main" prst="straightConnector1">
            <a:avLst/>
          </a:prstGeom>
          <a:ln xmlns:a="http://schemas.openxmlformats.org/drawingml/2006/main" w="28575">
            <a:solidFill>
              <a:srgbClr val="2D6CDF"/>
            </a:solidFill>
            <a:prstDash val="solid"/>
            <a:tailEnd type="triangle" w="sm" len="sm"/>
          </a:ln>
        </p:spPr>
      </p:cxnSp>
      <p:cxnSp>
        <p:nvCxnSpPr>
          <p:cNvPr id="152" name="Straight Arrow Connector 39"/>
          <p:cNvCxnSpPr>
            <a:stCxn xmlns:a="http://schemas.openxmlformats.org/drawingml/2006/main" id="8" idx="3"/>
            <a:endCxn xmlns:a="http://schemas.openxmlformats.org/drawingml/2006/main" id="9" idx="1"/>
          </p:cNvCxnSpPr>
          <p:nvPr/>
        </p:nvCxnSpPr>
        <p:spPr>
          <a:xfrm xmlns:a="http://schemas.openxmlformats.org/drawingml/2006/main">
            <a:off x="6038850" y="2124075"/>
            <a:ext cx="342900" cy="0"/>
          </a:xfrm>
          <a:prstGeom xmlns:a="http://schemas.openxmlformats.org/drawingml/2006/main" prst="straightConnector1">
            <a:avLst/>
          </a:prstGeom>
          <a:ln xmlns:a="http://schemas.openxmlformats.org/drawingml/2006/main" w="28575">
            <a:solidFill>
              <a:srgbClr val="E9A23B"/>
            </a:solidFill>
            <a:prstDash val="solid"/>
            <a:tailEnd type="triangle" w="sm" len="sm"/>
          </a:ln>
        </p:spPr>
      </p:cxnSp>
      <p:cxnSp>
        <p:nvCxnSpPr>
          <p:cNvPr id="153" name="Straight Arrow Connector 40"/>
          <p:cNvCxnSpPr>
            <a:stCxn xmlns:a="http://schemas.openxmlformats.org/drawingml/2006/main" id="9" idx="3"/>
            <a:endCxn xmlns:a="http://schemas.openxmlformats.org/drawingml/2006/main" id="10" idx="1"/>
          </p:cNvCxnSpPr>
          <p:nvPr/>
        </p:nvCxnSpPr>
        <p:spPr>
          <a:xfrm xmlns:a="http://schemas.openxmlformats.org/drawingml/2006/main">
            <a:off x="7981950" y="2124075"/>
            <a:ext cx="342900" cy="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154" name="Straight Arrow Connector 41"/>
          <p:cNvCxnSpPr>
            <a:stCxn xmlns:a="http://schemas.openxmlformats.org/drawingml/2006/main" id="10" idx="3"/>
            <a:endCxn xmlns:a="http://schemas.openxmlformats.org/drawingml/2006/main" id="11" idx="1"/>
          </p:cNvCxnSpPr>
          <p:nvPr/>
        </p:nvCxnSpPr>
        <p:spPr>
          <a:xfrm xmlns:a="http://schemas.openxmlformats.org/drawingml/2006/main">
            <a:off x="9925050" y="2124075"/>
            <a:ext cx="342900" cy="0"/>
          </a:xfrm>
          <a:prstGeom xmlns:a="http://schemas.openxmlformats.org/drawingml/2006/main" prst="straightConnector1">
            <a:avLst/>
          </a:prstGeom>
          <a:ln xmlns:a="http://schemas.openxmlformats.org/drawingml/2006/main" w="28575">
            <a:solidFill>
              <a:srgbClr val="2CA56F"/>
            </a:solidFill>
            <a:prstDash val="solid"/>
            <a:tailEnd type="triangle" w="sm" len="sm"/>
          </a:ln>
        </p:spPr>
      </p:cxnSp>
      <p:sp>
        <p:nvSpPr>
          <p:cNvPr id="17" name="text-435">
            <a:extLst xmlns:a="http://schemas.openxmlformats.org/drawingml/2006/main">
              <a:ext uri="{FF2B5EF4-FFF2-40B4-BE49-F238E27FC236}">
                <a16:creationId xmlns:a16="http://schemas.microsoft.com/office/drawing/2014/main" id="{9A50BA15-ECE2-4C7D-BC6C-C85A1DCC01FA}"/>
              </a:ext>
            </a:extLst>
          </p:cNvPr>
          <p:cNvSpPr>
            <a:spLocks xmlns:a="http://schemas.openxmlformats.org/drawingml/2006/main" noGrp="1"/>
          </p:cNvSpPr>
          <p:nvPr/>
        </p:nvSpPr>
        <p:spPr>
          <a:xfrm xmlns:a="http://schemas.openxmlformats.org/drawingml/2006/main">
            <a:off x="819150" y="32385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425" b="1" i="0">
                <a:solidFill>
                  <a:srgbClr val="2D6CDF"/>
                </a:solidFill>
                <a:latin typeface="Aptos"/>
                <a:ea typeface="Aptos"/>
                <a:cs typeface="Aptos"/>
              </a:defRPr>
            </a:pPr>
            <a:r>
              <a:rPr sz="1425" b="1" i="0">
                <a:solidFill>
                  <a:srgbClr val="2D6CDF"/>
                </a:solidFill>
                <a:latin typeface="Aptos"/>
                <a:ea typeface="Aptos"/>
                <a:cs typeface="Aptos"/>
              </a:rPr>
              <a:t>GROOVY / JENKINSFILE</a:t>
            </a:r>
          </a:p>
        </p:txBody>
      </p:sp>
      <p:sp>
        <p:nvSpPr>
          <p:cNvPr id="18" name="text-436">
            <a:extLst xmlns:a="http://schemas.openxmlformats.org/drawingml/2006/main">
              <a:ext uri="{FF2B5EF4-FFF2-40B4-BE49-F238E27FC236}">
                <a16:creationId xmlns:a16="http://schemas.microsoft.com/office/drawing/2014/main" id="{CCCC1C0B-1A3E-4826-B956-545014BE5760}"/>
              </a:ext>
            </a:extLst>
          </p:cNvPr>
          <p:cNvSpPr>
            <a:spLocks xmlns:a="http://schemas.openxmlformats.org/drawingml/2006/main" noGrp="1"/>
          </p:cNvSpPr>
          <p:nvPr/>
        </p:nvSpPr>
        <p:spPr>
          <a:xfrm xmlns:a="http://schemas.openxmlformats.org/drawingml/2006/main">
            <a:off x="3714750" y="3238500"/>
            <a:ext cx="752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C6D9E4"/>
                </a:solidFill>
                <a:latin typeface="Aptos"/>
                <a:ea typeface="Aptos"/>
                <a:cs typeface="Aptos"/>
              </a:defRPr>
            </a:pPr>
            <a:r>
              <a:rPr sz="1500" b="0" i="0">
                <a:solidFill>
                  <a:srgbClr val="C6D9E4"/>
                </a:solidFill>
                <a:latin typeface="Aptos"/>
                <a:ea typeface="Aptos"/>
                <a:cs typeface="Aptos"/>
              </a:rPr>
              <a:t>orchestrates stages, agents, parameters, parallel branches, retention</a:t>
            </a:r>
          </a:p>
        </p:txBody>
      </p:sp>
      <p:sp>
        <p:nvSpPr>
          <p:cNvPr id="19" name="line-437">
            <a:extLst xmlns:a="http://schemas.openxmlformats.org/drawingml/2006/main">
              <a:ext uri="{FF2B5EF4-FFF2-40B4-BE49-F238E27FC236}">
                <a16:creationId xmlns:a16="http://schemas.microsoft.com/office/drawing/2014/main" id="{A848100F-1B90-432E-AFFF-EE2F0B4E3732}"/>
              </a:ext>
            </a:extLst>
          </p:cNvPr>
          <p:cNvSpPr>
            <a:spLocks xmlns:a="http://schemas.openxmlformats.org/drawingml/2006/main" noGrp="1"/>
          </p:cNvSpPr>
          <p:nvPr/>
        </p:nvSpPr>
        <p:spPr>
          <a:xfrm xmlns:a="http://schemas.openxmlformats.org/drawingml/2006/main">
            <a:off x="819150" y="3810000"/>
            <a:ext cx="1042035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20" name="text-438">
            <a:extLst xmlns:a="http://schemas.openxmlformats.org/drawingml/2006/main">
              <a:ext uri="{FF2B5EF4-FFF2-40B4-BE49-F238E27FC236}">
                <a16:creationId xmlns:a16="http://schemas.microsoft.com/office/drawing/2014/main" id="{9E349B35-A410-4ED4-935A-B09EE8683BBF}"/>
              </a:ext>
            </a:extLst>
          </p:cNvPr>
          <p:cNvSpPr>
            <a:spLocks xmlns:a="http://schemas.openxmlformats.org/drawingml/2006/main" noGrp="1"/>
          </p:cNvSpPr>
          <p:nvPr/>
        </p:nvSpPr>
        <p:spPr>
          <a:xfrm xmlns:a="http://schemas.openxmlformats.org/drawingml/2006/main">
            <a:off x="819150" y="40767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425" b="1" i="0">
                <a:solidFill>
                  <a:srgbClr val="20B7C5"/>
                </a:solidFill>
                <a:latin typeface="Aptos"/>
                <a:ea typeface="Aptos"/>
                <a:cs typeface="Aptos"/>
              </a:defRPr>
            </a:pPr>
            <a:r>
              <a:rPr sz="1425" b="1" i="0">
                <a:solidFill>
                  <a:srgbClr val="20B7C5"/>
                </a:solidFill>
                <a:latin typeface="Aptos"/>
                <a:ea typeface="Aptos"/>
                <a:cs typeface="Aptos"/>
              </a:rPr>
              <a:t>MATLAB + SIMULINK</a:t>
            </a:r>
          </a:p>
        </p:txBody>
      </p:sp>
      <p:sp>
        <p:nvSpPr>
          <p:cNvPr id="21" name="text-439">
            <a:extLst xmlns:a="http://schemas.openxmlformats.org/drawingml/2006/main">
              <a:ext uri="{FF2B5EF4-FFF2-40B4-BE49-F238E27FC236}">
                <a16:creationId xmlns:a16="http://schemas.microsoft.com/office/drawing/2014/main" id="{9C3415C8-3BC3-4120-B405-BC30778EB2DA}"/>
              </a:ext>
            </a:extLst>
          </p:cNvPr>
          <p:cNvSpPr>
            <a:spLocks xmlns:a="http://schemas.openxmlformats.org/drawingml/2006/main" noGrp="1"/>
          </p:cNvSpPr>
          <p:nvPr/>
        </p:nvSpPr>
        <p:spPr>
          <a:xfrm xmlns:a="http://schemas.openxmlformats.org/drawingml/2006/main">
            <a:off x="3714750" y="4076700"/>
            <a:ext cx="752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lnSpc>
                <a:spcPct val="105000"/>
              </a:lnSpc>
              <a:buNone/>
              <a:defRPr sz="1245" b="0" i="0">
                <a:solidFill>
                  <a:srgbClr val="D8E8F1"/>
                </a:solidFill>
                <a:latin typeface="Aptos"/>
                <a:ea typeface="Aptos"/>
                <a:cs typeface="Aptos"/>
              </a:defRPr>
            </a:pPr>
            <a:r>
              <a:rPr sz="1245" b="0" i="0">
                <a:solidFill>
                  <a:srgbClr val="D8E8F1"/>
                </a:solidFill>
                <a:latin typeface="Aptos"/>
                <a:ea typeface="Aptos"/>
                <a:cs typeface="Aptos"/>
              </a:rPr>
              <a:t>initializes the repository, updates models, runs checks and the MATLAB harness driver; the two retained .mldatx files are SDI artifacts—not Test Manager suites</a:t>
            </a:r>
          </a:p>
        </p:txBody>
      </p:sp>
      <p:sp>
        <p:nvSpPr>
          <p:cNvPr id="22" name="line-440">
            <a:extLst xmlns:a="http://schemas.openxmlformats.org/drawingml/2006/main">
              <a:ext uri="{FF2B5EF4-FFF2-40B4-BE49-F238E27FC236}">
                <a16:creationId xmlns:a16="http://schemas.microsoft.com/office/drawing/2014/main" id="{3F8ADD45-A15E-49E5-9F2F-3171DF1E5ED7}"/>
              </a:ext>
            </a:extLst>
          </p:cNvPr>
          <p:cNvSpPr>
            <a:spLocks xmlns:a="http://schemas.openxmlformats.org/drawingml/2006/main" noGrp="1"/>
          </p:cNvSpPr>
          <p:nvPr/>
        </p:nvSpPr>
        <p:spPr>
          <a:xfrm xmlns:a="http://schemas.openxmlformats.org/drawingml/2006/main">
            <a:off x="819150" y="4648200"/>
            <a:ext cx="1042035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23" name="text-441">
            <a:extLst xmlns:a="http://schemas.openxmlformats.org/drawingml/2006/main">
              <a:ext uri="{FF2B5EF4-FFF2-40B4-BE49-F238E27FC236}">
                <a16:creationId xmlns:a16="http://schemas.microsoft.com/office/drawing/2014/main" id="{6164949F-1370-43CD-9889-5A2294C15DAD}"/>
              </a:ext>
            </a:extLst>
          </p:cNvPr>
          <p:cNvSpPr>
            <a:spLocks xmlns:a="http://schemas.openxmlformats.org/drawingml/2006/main" noGrp="1"/>
          </p:cNvSpPr>
          <p:nvPr/>
        </p:nvSpPr>
        <p:spPr>
          <a:xfrm xmlns:a="http://schemas.openxmlformats.org/drawingml/2006/main">
            <a:off x="819150" y="49149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425" b="1" i="0">
                <a:solidFill>
                  <a:srgbClr val="E9A23B"/>
                </a:solidFill>
                <a:latin typeface="Aptos"/>
                <a:ea typeface="Aptos"/>
                <a:cs typeface="Aptos"/>
              </a:defRPr>
            </a:pPr>
            <a:r>
              <a:rPr sz="1425" b="1" i="0">
                <a:solidFill>
                  <a:srgbClr val="E9A23B"/>
                </a:solidFill>
                <a:latin typeface="Aptos"/>
                <a:ea typeface="Aptos"/>
                <a:cs typeface="Aptos"/>
              </a:rPr>
              <a:t>ROBOT FRAMEWORK</a:t>
            </a:r>
          </a:p>
        </p:txBody>
      </p:sp>
      <p:sp>
        <p:nvSpPr>
          <p:cNvPr id="24" name="text-442">
            <a:extLst xmlns:a="http://schemas.openxmlformats.org/drawingml/2006/main">
              <a:ext uri="{FF2B5EF4-FFF2-40B4-BE49-F238E27FC236}">
                <a16:creationId xmlns:a16="http://schemas.microsoft.com/office/drawing/2014/main" id="{DD751F3A-FCDB-4440-BD10-4F46B3E51056}"/>
              </a:ext>
            </a:extLst>
          </p:cNvPr>
          <p:cNvSpPr>
            <a:spLocks xmlns:a="http://schemas.openxmlformats.org/drawingml/2006/main" noGrp="1"/>
          </p:cNvSpPr>
          <p:nvPr/>
        </p:nvSpPr>
        <p:spPr>
          <a:xfrm xmlns:a="http://schemas.openxmlformats.org/drawingml/2006/main">
            <a:off x="3714750" y="4914900"/>
            <a:ext cx="752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C6D9E4"/>
                </a:solidFill>
                <a:latin typeface="Aptos"/>
                <a:ea typeface="Aptos"/>
                <a:cs typeface="Aptos"/>
              </a:defRPr>
            </a:pPr>
            <a:r>
              <a:rPr sz="1500" b="0" i="0">
                <a:solidFill>
                  <a:srgbClr val="C6D9E4"/>
                </a:solidFill>
                <a:latin typeface="Aptos"/>
                <a:ea typeface="Aptos"/>
                <a:cs typeface="Aptos"/>
              </a:rPr>
              <a:t>optional keyword-driven orchestration for benches, external interfaces, and system tests</a:t>
            </a:r>
          </a:p>
        </p:txBody>
      </p:sp>
      <p:sp>
        <p:nvSpPr>
          <p:cNvPr id="25" name="line-443">
            <a:extLst xmlns:a="http://schemas.openxmlformats.org/drawingml/2006/main">
              <a:ext uri="{FF2B5EF4-FFF2-40B4-BE49-F238E27FC236}">
                <a16:creationId xmlns:a16="http://schemas.microsoft.com/office/drawing/2014/main" id="{B4A15AA6-12C4-4A14-B1F0-18936CF9CAC2}"/>
              </a:ext>
            </a:extLst>
          </p:cNvPr>
          <p:cNvSpPr>
            <a:spLocks xmlns:a="http://schemas.openxmlformats.org/drawingml/2006/main" noGrp="1"/>
          </p:cNvSpPr>
          <p:nvPr/>
        </p:nvSpPr>
        <p:spPr>
          <a:xfrm xmlns:a="http://schemas.openxmlformats.org/drawingml/2006/main">
            <a:off x="819150" y="5486400"/>
            <a:ext cx="1042035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26" name="text-444">
            <a:extLst xmlns:a="http://schemas.openxmlformats.org/drawingml/2006/main">
              <a:ext uri="{FF2B5EF4-FFF2-40B4-BE49-F238E27FC236}">
                <a16:creationId xmlns:a16="http://schemas.microsoft.com/office/drawing/2014/main" id="{8C7B9B7F-4C1D-4B10-8192-A711B2378B78}"/>
              </a:ext>
            </a:extLst>
          </p:cNvPr>
          <p:cNvSpPr>
            <a:spLocks xmlns:a="http://schemas.openxmlformats.org/drawingml/2006/main" noGrp="1"/>
          </p:cNvSpPr>
          <p:nvPr/>
        </p:nvSpPr>
        <p:spPr>
          <a:xfrm xmlns:a="http://schemas.openxmlformats.org/drawingml/2006/main">
            <a:off x="1295400" y="5953125"/>
            <a:ext cx="9601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lnSpc>
                <a:spcPct val="105000"/>
              </a:lnSpc>
              <a:buNone/>
              <a:defRPr sz="1500" b="1" i="0">
                <a:solidFill>
                  <a:srgbClr val="70DCE5"/>
                </a:solidFill>
                <a:latin typeface="Aptos"/>
                <a:ea typeface="Aptos"/>
                <a:cs typeface="Aptos"/>
              </a:defRPr>
            </a:pPr>
            <a:r>
              <a:rPr sz="1500" b="1" i="0">
                <a:solidFill>
                  <a:srgbClr val="70DCE5"/>
                </a:solidFill>
                <a:latin typeface="Aptos"/>
                <a:ea typeface="Aptos"/>
                <a:cs typeface="Aptos"/>
              </a:rPr>
              <a:t>A green pipeline is controlled evidence input—not certification approval.</a:t>
            </a:r>
          </a:p>
        </p:txBody>
      </p:sp>
    </p:spTree>
    <p:extLst>
      <p:ext uri="{BB962C8B-B14F-4D97-AF65-F5344CB8AC3E}">
        <p14:creationId xmlns:p14="http://schemas.microsoft.com/office/powerpoint/2010/main" val="92477978"/>
      </p:ext>
    </p:extLst>
  </p:cSld>
</p:sld>
</file>

<file path=ppt/slides/slide38.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6" name="section-444">
            <a:extLst xmlns:a="http://schemas.openxmlformats.org/drawingml/2006/main">
              <a:ext uri="{FF2B5EF4-FFF2-40B4-BE49-F238E27FC236}">
                <a16:creationId xmlns:a16="http://schemas.microsoft.com/office/drawing/2014/main" id="{B7967667-1559-492F-8957-875528EDB045}"/>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07 • AUTOMATION &amp; ENVIRONMENTS</a:t>
            </a:r>
          </a:p>
        </p:txBody>
      </p:sp>
      <p:sp>
        <p:nvSpPr>
          <p:cNvPr id="2" name="title-444">
            <a:extLst xmlns:a="http://schemas.openxmlformats.org/drawingml/2006/main">
              <a:ext uri="{FF2B5EF4-FFF2-40B4-BE49-F238E27FC236}">
                <a16:creationId xmlns:a16="http://schemas.microsoft.com/office/drawing/2014/main" id="{50F491A5-17FC-4A6D-B7FD-66EC28F19FF7}"/>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Classify the first meaningful failure</a:t>
            </a:r>
          </a:p>
        </p:txBody>
      </p:sp>
      <p:sp>
        <p:nvSpPr>
          <p:cNvPr id="3" name="line-445">
            <a:extLst xmlns:a="http://schemas.openxmlformats.org/drawingml/2006/main">
              <a:ext uri="{FF2B5EF4-FFF2-40B4-BE49-F238E27FC236}">
                <a16:creationId xmlns:a16="http://schemas.microsoft.com/office/drawing/2014/main" id="{5CEBA712-C0DC-450D-8E1F-B3E5575A85AD}"/>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46">
            <a:extLst xmlns:a="http://schemas.openxmlformats.org/drawingml/2006/main">
              <a:ext uri="{FF2B5EF4-FFF2-40B4-BE49-F238E27FC236}">
                <a16:creationId xmlns:a16="http://schemas.microsoft.com/office/drawing/2014/main" id="{392024D4-26D9-480A-ACBB-8F23D2B00D9F}"/>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47">
            <a:extLst xmlns:a="http://schemas.openxmlformats.org/drawingml/2006/main">
              <a:ext uri="{FF2B5EF4-FFF2-40B4-BE49-F238E27FC236}">
                <a16:creationId xmlns:a16="http://schemas.microsoft.com/office/drawing/2014/main" id="{8CC7157F-69BF-48ED-A1A5-8D11578F337C}"/>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38</a:t>
            </a:r>
          </a:p>
        </p:txBody>
      </p:sp>
      <p:sp>
        <p:nvSpPr>
          <p:cNvPr id="6" name="box-448">
            <a:extLst xmlns:a="http://schemas.openxmlformats.org/drawingml/2006/main">
              <a:ext uri="{FF2B5EF4-FFF2-40B4-BE49-F238E27FC236}">
                <a16:creationId xmlns:a16="http://schemas.microsoft.com/office/drawing/2014/main" id="{EDDC7DD9-C0BA-49E7-8A66-5716E10E9211}"/>
              </a:ext>
            </a:extLst>
          </p:cNvPr>
          <p:cNvSpPr>
            <a:spLocks xmlns:a="http://schemas.openxmlformats.org/drawingml/2006/main" noGrp="1"/>
          </p:cNvSpPr>
          <p:nvPr/>
        </p:nvSpPr>
        <p:spPr>
          <a:xfrm xmlns:a="http://schemas.openxmlformats.org/drawingml/2006/main">
            <a:off x="4476750" y="1428750"/>
            <a:ext cx="3238500" cy="590550"/>
          </a:xfrm>
          <a:prstGeom xmlns:a="http://schemas.openxmlformats.org/drawingml/2006/main" prst="roundRect">
            <a:avLst>
              <a:gd name="adj" fmla="val 12903"/>
            </a:avLst>
          </a:prstGeom>
          <a:solidFill xmlns:a="http://schemas.openxmlformats.org/drawingml/2006/main">
            <a:srgbClr val="FBE6E8"/>
          </a:solidFill>
          <a:ln xmlns:a="http://schemas.openxmlformats.org/drawingml/2006/main" w="19050">
            <a:solidFill>
              <a:srgbClr val="D75A64"/>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PIPELINE FAILURE</a:t>
            </a:r>
          </a:p>
        </p:txBody>
      </p:sp>
      <p:sp>
        <p:nvSpPr>
          <p:cNvPr id="7" name="box-449">
            <a:extLst xmlns:a="http://schemas.openxmlformats.org/drawingml/2006/main">
              <a:ext uri="{FF2B5EF4-FFF2-40B4-BE49-F238E27FC236}">
                <a16:creationId xmlns:a16="http://schemas.microsoft.com/office/drawing/2014/main" id="{FFE5CB04-2C4E-4A9A-9BDB-07C43C7EC104}"/>
              </a:ext>
            </a:extLst>
          </p:cNvPr>
          <p:cNvSpPr>
            <a:spLocks xmlns:a="http://schemas.openxmlformats.org/drawingml/2006/main" noGrp="1"/>
          </p:cNvSpPr>
          <p:nvPr/>
        </p:nvSpPr>
        <p:spPr>
          <a:xfrm xmlns:a="http://schemas.openxmlformats.org/drawingml/2006/main">
            <a:off x="4476750" y="2457450"/>
            <a:ext cx="3238500" cy="7620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75" b="1">
                <a:solidFill>
                  <a:srgbClr val="0B1F33"/>
                </a:solidFill>
                <a:latin typeface="Aptos"/>
                <a:ea typeface="Aptos"/>
                <a:cs typeface="Aptos"/>
              </a:defRPr>
            </a:pPr>
            <a:r>
              <a:rPr sz="1575" b="1">
                <a:solidFill>
                  <a:srgbClr val="0B1F33"/>
                </a:solidFill>
                <a:latin typeface="Aptos"/>
                <a:ea typeface="Aptos"/>
                <a:cs typeface="Aptos"/>
              </a:rPr>
              <a:t>Can you reproduce it</a:t>
            </a:r>
          </a:p>
          <a:p xmlns:a="http://schemas.openxmlformats.org/drawingml/2006/main">
            <a:pPr algn="ctr">
              <a:lnSpc>
                <a:spcPct val="100000"/>
              </a:lnSpc>
              <a:buNone/>
              <a:defRPr sz="1575" b="1">
                <a:solidFill>
                  <a:srgbClr val="0B1F33"/>
                </a:solidFill>
                <a:latin typeface="Aptos"/>
                <a:ea typeface="Aptos"/>
                <a:cs typeface="Aptos"/>
              </a:defRPr>
            </a:pPr>
            <a:r>
              <a:rPr sz="1575" b="1">
                <a:solidFill>
                  <a:srgbClr val="0B1F33"/>
                </a:solidFill>
                <a:latin typeface="Aptos"/>
                <a:ea typeface="Aptos"/>
                <a:cs typeface="Aptos"/>
              </a:rPr>
              <a:t>with the controlled command?</a:t>
            </a:r>
          </a:p>
        </p:txBody>
      </p:sp>
      <p:sp>
        <p:nvSpPr>
          <p:cNvPr id="8" name="box-450">
            <a:extLst xmlns:a="http://schemas.openxmlformats.org/drawingml/2006/main">
              <a:ext uri="{FF2B5EF4-FFF2-40B4-BE49-F238E27FC236}">
                <a16:creationId xmlns:a16="http://schemas.microsoft.com/office/drawing/2014/main" id="{58A6C376-536E-467F-98DF-AEDA4FF4C1C7}"/>
              </a:ext>
            </a:extLst>
          </p:cNvPr>
          <p:cNvSpPr>
            <a:spLocks xmlns:a="http://schemas.openxmlformats.org/drawingml/2006/main" noGrp="1"/>
          </p:cNvSpPr>
          <p:nvPr/>
        </p:nvSpPr>
        <p:spPr>
          <a:xfrm xmlns:a="http://schemas.openxmlformats.org/drawingml/2006/main">
            <a:off x="838200" y="3810000"/>
            <a:ext cx="3143250" cy="1047750"/>
          </a:xfrm>
          <a:prstGeom xmlns:a="http://schemas.openxmlformats.org/drawingml/2006/main" prst="roundRect">
            <a:avLst>
              <a:gd name="adj" fmla="val 9091"/>
            </a:avLst>
          </a:prstGeom>
          <a:solidFill xmlns:a="http://schemas.openxmlformats.org/drawingml/2006/main">
            <a:srgbClr val="FFF0D7"/>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NO</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Compare agent, licenses, paths,</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project startup, data, versions</a:t>
            </a:r>
          </a:p>
        </p:txBody>
      </p:sp>
      <p:sp>
        <p:nvSpPr>
          <p:cNvPr id="9" name="box-451">
            <a:extLst xmlns:a="http://schemas.openxmlformats.org/drawingml/2006/main">
              <a:ext uri="{FF2B5EF4-FFF2-40B4-BE49-F238E27FC236}">
                <a16:creationId xmlns:a16="http://schemas.microsoft.com/office/drawing/2014/main" id="{C305EFF5-B41C-49E9-AD2A-F57CFD79BA7E}"/>
              </a:ext>
            </a:extLst>
          </p:cNvPr>
          <p:cNvSpPr>
            <a:spLocks xmlns:a="http://schemas.openxmlformats.org/drawingml/2006/main" noGrp="1"/>
          </p:cNvSpPr>
          <p:nvPr/>
        </p:nvSpPr>
        <p:spPr>
          <a:xfrm xmlns:a="http://schemas.openxmlformats.org/drawingml/2006/main">
            <a:off x="4524375" y="3810000"/>
            <a:ext cx="3143250" cy="1047750"/>
          </a:xfrm>
          <a:prstGeom xmlns:a="http://schemas.openxmlformats.org/drawingml/2006/main" prst="roundRect">
            <a:avLst>
              <a:gd name="adj" fmla="val 9091"/>
            </a:avLst>
          </a:prstGeom>
          <a:solidFill xmlns:a="http://schemas.openxmlformats.org/drawingml/2006/main">
            <a:srgbClr val="E2ECFF"/>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YES — compile/static</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Interface • type • dimension • rate</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reference • parameter • variant</a:t>
            </a:r>
          </a:p>
        </p:txBody>
      </p:sp>
      <p:sp>
        <p:nvSpPr>
          <p:cNvPr id="10" name="box-452">
            <a:extLst xmlns:a="http://schemas.openxmlformats.org/drawingml/2006/main">
              <a:ext uri="{FF2B5EF4-FFF2-40B4-BE49-F238E27FC236}">
                <a16:creationId xmlns:a16="http://schemas.microsoft.com/office/drawing/2014/main" id="{DFEE7E19-1989-4CD4-90E2-5B3AA461E206}"/>
              </a:ext>
            </a:extLst>
          </p:cNvPr>
          <p:cNvSpPr>
            <a:spLocks xmlns:a="http://schemas.openxmlformats.org/drawingml/2006/main" noGrp="1"/>
          </p:cNvSpPr>
          <p:nvPr/>
        </p:nvSpPr>
        <p:spPr>
          <a:xfrm xmlns:a="http://schemas.openxmlformats.org/drawingml/2006/main">
            <a:off x="8210550" y="3810000"/>
            <a:ext cx="3143250" cy="1047750"/>
          </a:xfrm>
          <a:prstGeom xmlns:a="http://schemas.openxmlformats.org/drawingml/2006/main" prst="roundRect">
            <a:avLst>
              <a:gd name="adj" fmla="val 9091"/>
            </a:avLst>
          </a:prstGeom>
          <a:solidFill xmlns:a="http://schemas.openxmlformats.org/drawingml/2006/main">
            <a:srgbClr val="DFF6F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YES — functional</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Stimulus • expected result • tolerance</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mode • initial state • timing</a:t>
            </a:r>
          </a:p>
        </p:txBody>
      </p:sp>
      <p:cxnSp>
        <p:nvCxnSpPr>
          <p:cNvPr id="124" name="Straight Arrow Connector 25"/>
          <p:cNvCxnSpPr>
            <a:stCxn xmlns:a="http://schemas.openxmlformats.org/drawingml/2006/main" id="6" idx="2"/>
            <a:endCxn xmlns:a="http://schemas.openxmlformats.org/drawingml/2006/main" id="7" idx="0"/>
          </p:cNvCxnSpPr>
          <p:nvPr/>
        </p:nvCxnSpPr>
        <p:spPr>
          <a:xfrm xmlns:a="http://schemas.openxmlformats.org/drawingml/2006/main">
            <a:off x="6096000" y="2019300"/>
            <a:ext cx="0" cy="438150"/>
          </a:xfrm>
          <a:prstGeom xmlns:a="http://schemas.openxmlformats.org/drawingml/2006/main" prst="straightConnector1">
            <a:avLst/>
          </a:prstGeom>
          <a:ln xmlns:a="http://schemas.openxmlformats.org/drawingml/2006/main" w="28575">
            <a:solidFill>
              <a:srgbClr val="D75A64"/>
            </a:solidFill>
            <a:prstDash val="solid"/>
            <a:tailEnd type="triangle" w="sm" len="sm"/>
          </a:ln>
        </p:spPr>
      </p:cxnSp>
      <p:cxnSp>
        <p:nvCxnSpPr>
          <p:cNvPr id="125" name="Connector: Elbow 26"/>
          <p:cNvCxnSpPr>
            <a:stCxn xmlns:a="http://schemas.openxmlformats.org/drawingml/2006/main" id="7" idx="1"/>
            <a:endCxn xmlns:a="http://schemas.openxmlformats.org/drawingml/2006/main" id="8" idx="0"/>
          </p:cNvCxnSpPr>
          <p:nvPr/>
        </p:nvCxnSpPr>
        <p:spPr>
          <a:xfrm xmlns:a="http://schemas.openxmlformats.org/drawingml/2006/main" flipH="1">
            <a:off x="2409825" y="2838450"/>
            <a:ext cx="2066925" cy="971550"/>
          </a:xfrm>
          <a:prstGeom xmlns:a="http://schemas.openxmlformats.org/drawingml/2006/main" prst="bentConnector2">
            <a:avLst/>
          </a:prstGeom>
          <a:ln xmlns:a="http://schemas.openxmlformats.org/drawingml/2006/main" w="28575">
            <a:solidFill>
              <a:srgbClr val="E9A23B"/>
            </a:solidFill>
            <a:prstDash val="solid"/>
            <a:tailEnd type="triangle" w="sm" len="sm"/>
          </a:ln>
        </p:spPr>
      </p:cxnSp>
      <p:cxnSp>
        <p:nvCxnSpPr>
          <p:cNvPr id="126" name="Straight Arrow Connector 27"/>
          <p:cNvCxnSpPr>
            <a:stCxn xmlns:a="http://schemas.openxmlformats.org/drawingml/2006/main" id="7" idx="2"/>
            <a:endCxn xmlns:a="http://schemas.openxmlformats.org/drawingml/2006/main" id="9" idx="0"/>
          </p:cNvCxnSpPr>
          <p:nvPr/>
        </p:nvCxnSpPr>
        <p:spPr>
          <a:xfrm xmlns:a="http://schemas.openxmlformats.org/drawingml/2006/main">
            <a:off x="6096000" y="3219450"/>
            <a:ext cx="0" cy="590550"/>
          </a:xfrm>
          <a:prstGeom xmlns:a="http://schemas.openxmlformats.org/drawingml/2006/main" prst="straightConnector1">
            <a:avLst/>
          </a:prstGeom>
          <a:ln xmlns:a="http://schemas.openxmlformats.org/drawingml/2006/main" w="28575">
            <a:solidFill>
              <a:srgbClr val="2D6CDF"/>
            </a:solidFill>
            <a:prstDash val="solid"/>
            <a:tailEnd type="triangle" w="sm" len="sm"/>
          </a:ln>
        </p:spPr>
      </p:cxnSp>
      <p:cxnSp>
        <p:nvCxnSpPr>
          <p:cNvPr id="127" name="Connector: Elbow 28"/>
          <p:cNvCxnSpPr>
            <a:stCxn xmlns:a="http://schemas.openxmlformats.org/drawingml/2006/main" id="7" idx="3"/>
            <a:endCxn xmlns:a="http://schemas.openxmlformats.org/drawingml/2006/main" id="10" idx="0"/>
          </p:cNvCxnSpPr>
          <p:nvPr/>
        </p:nvCxnSpPr>
        <p:spPr>
          <a:xfrm xmlns:a="http://schemas.openxmlformats.org/drawingml/2006/main">
            <a:off x="7715250" y="2838450"/>
            <a:ext cx="2066925" cy="971550"/>
          </a:xfrm>
          <a:prstGeom xmlns:a="http://schemas.openxmlformats.org/drawingml/2006/main" prst="bentConnector2">
            <a:avLst/>
          </a:prstGeom>
          <a:ln xmlns:a="http://schemas.openxmlformats.org/drawingml/2006/main" w="28575">
            <a:solidFill>
              <a:srgbClr val="20B7C5"/>
            </a:solidFill>
            <a:prstDash val="solid"/>
            <a:tailEnd type="triangle" w="sm" len="sm"/>
          </a:ln>
        </p:spPr>
      </p:cxnSp>
      <p:sp>
        <p:nvSpPr>
          <p:cNvPr id="15" name="box-453">
            <a:extLst xmlns:a="http://schemas.openxmlformats.org/drawingml/2006/main">
              <a:ext uri="{FF2B5EF4-FFF2-40B4-BE49-F238E27FC236}">
                <a16:creationId xmlns:a16="http://schemas.microsoft.com/office/drawing/2014/main" id="{D919C782-A4DD-4E83-8D27-191320E8CDB9}"/>
              </a:ext>
            </a:extLst>
          </p:cNvPr>
          <p:cNvSpPr>
            <a:spLocks xmlns:a="http://schemas.openxmlformats.org/drawingml/2006/main" noGrp="1"/>
          </p:cNvSpPr>
          <p:nvPr/>
        </p:nvSpPr>
        <p:spPr>
          <a:xfrm xmlns:a="http://schemas.openxmlformats.org/drawingml/2006/main">
            <a:off x="1524000" y="5429250"/>
            <a:ext cx="9144000" cy="571500"/>
          </a:xfrm>
          <a:prstGeom xmlns:a="http://schemas.openxmlformats.org/drawingml/2006/main" prst="roundRect">
            <a:avLst>
              <a:gd name="adj" fmla="val 13333"/>
            </a:avLst>
          </a:prstGeom>
          <a:solidFill xmlns:a="http://schemas.openxmlformats.org/drawingml/2006/main">
            <a:srgbClr val="0B2438"/>
          </a:solidFill>
          <a:ln xmlns:a="http://schemas.openxmlformats.org/drawingml/2006/main" w="9525">
            <a:solidFill>
              <a:srgbClr val="0B2438"/>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FFFFFF"/>
                </a:solidFill>
                <a:latin typeface="Aptos"/>
                <a:ea typeface="Aptos"/>
                <a:cs typeface="Aptos"/>
              </a:defRPr>
            </a:pPr>
            <a:r>
              <a:rPr sz="1650" b="1">
                <a:solidFill>
                  <a:srgbClr val="FFFFFF"/>
                </a:solidFill>
                <a:latin typeface="Aptos"/>
                <a:ea typeface="Aptos"/>
                <a:cs typeface="Aptos"/>
              </a:rPr>
              <a:t>Fix root cause → add regression protection → re-run affected scope → run controlled full pipeline</a:t>
            </a:r>
          </a:p>
        </p:txBody>
      </p:sp>
    </p:spTree>
    <p:extLst>
      <p:ext uri="{BB962C8B-B14F-4D97-AF65-F5344CB8AC3E}">
        <p14:creationId xmlns:p14="http://schemas.microsoft.com/office/powerpoint/2010/main" val="64423345"/>
      </p:ext>
    </p:extLst>
  </p:cSld>
</p:sld>
</file>

<file path=ppt/slides/slide39.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7" name="section-453">
            <a:extLst xmlns:a="http://schemas.openxmlformats.org/drawingml/2006/main">
              <a:ext uri="{FF2B5EF4-FFF2-40B4-BE49-F238E27FC236}">
                <a16:creationId xmlns:a16="http://schemas.microsoft.com/office/drawing/2014/main" id="{167C50D1-0B97-4DF0-9224-14D2CD658FF2}"/>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07 • AUTOMATION &amp; ENVIRONMENTS</a:t>
            </a:r>
          </a:p>
        </p:txBody>
      </p:sp>
      <p:sp>
        <p:nvSpPr>
          <p:cNvPr id="2" name="title-453">
            <a:extLst xmlns:a="http://schemas.openxmlformats.org/drawingml/2006/main">
              <a:ext uri="{FF2B5EF4-FFF2-40B4-BE49-F238E27FC236}">
                <a16:creationId xmlns:a16="http://schemas.microsoft.com/office/drawing/2014/main" id="{BC539958-0826-4EF4-A598-04CADF6C866B}"/>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850" b="1" i="0">
                <a:solidFill>
                  <a:srgbClr val="FFFFFF"/>
                </a:solidFill>
                <a:latin typeface="Aptos"/>
                <a:ea typeface="Aptos"/>
                <a:cs typeface="Aptos"/>
              </a:defRPr>
            </a:pPr>
            <a:r>
              <a:rPr sz="2850" b="1" i="0">
                <a:solidFill>
                  <a:srgbClr val="FFFFFF"/>
                </a:solidFill>
                <a:latin typeface="Aptos"/>
                <a:ea typeface="Aptos"/>
                <a:cs typeface="Aptos"/>
              </a:rPr>
              <a:t>MIL, SIL, PIL, HIL, bench, and system integration are distinct</a:t>
            </a:r>
          </a:p>
        </p:txBody>
      </p:sp>
      <p:sp>
        <p:nvSpPr>
          <p:cNvPr id="3" name="line-454">
            <a:extLst xmlns:a="http://schemas.openxmlformats.org/drawingml/2006/main">
              <a:ext uri="{FF2B5EF4-FFF2-40B4-BE49-F238E27FC236}">
                <a16:creationId xmlns:a16="http://schemas.microsoft.com/office/drawing/2014/main" id="{3E6809E5-87B8-4C51-A443-3CBF82104013}"/>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455">
            <a:extLst xmlns:a="http://schemas.openxmlformats.org/drawingml/2006/main">
              <a:ext uri="{FF2B5EF4-FFF2-40B4-BE49-F238E27FC236}">
                <a16:creationId xmlns:a16="http://schemas.microsoft.com/office/drawing/2014/main" id="{51B59FC2-2C1C-440E-B77C-78DCDECE2368}"/>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56">
            <a:extLst xmlns:a="http://schemas.openxmlformats.org/drawingml/2006/main">
              <a:ext uri="{FF2B5EF4-FFF2-40B4-BE49-F238E27FC236}">
                <a16:creationId xmlns:a16="http://schemas.microsoft.com/office/drawing/2014/main" id="{B657F59D-CCCA-4658-B4D7-4556339BE377}"/>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39</a:t>
            </a:r>
          </a:p>
        </p:txBody>
      </p:sp>
      <p:sp>
        <p:nvSpPr>
          <p:cNvPr id="18" name="s39-card-0">
            <a:extLst xmlns:a="http://schemas.openxmlformats.org/drawingml/2006/main">
              <a:ext uri="{FF2B5EF4-FFF2-40B4-BE49-F238E27FC236}">
                <a16:creationId xmlns:a16="http://schemas.microsoft.com/office/drawing/2014/main" id="{4B3CFF97-D94C-4C55-8AEB-DA012DD4FF3F}"/>
              </a:ext>
            </a:extLst>
          </p:cNvPr>
          <p:cNvSpPr>
            <a:spLocks xmlns:a="http://schemas.openxmlformats.org/drawingml/2006/main" noGrp="1"/>
          </p:cNvSpPr>
          <p:nvPr/>
        </p:nvSpPr>
        <p:spPr>
          <a:xfrm xmlns:a="http://schemas.openxmlformats.org/drawingml/2006/main">
            <a:off x="685800" y="1495425"/>
            <a:ext cx="3352800" cy="1743075"/>
          </a:xfrm>
          <a:prstGeom xmlns:a="http://schemas.openxmlformats.org/drawingml/2006/main" prst="roundRect">
            <a:avLst>
              <a:gd name="adj" fmla="val 6557"/>
            </a:avLst>
          </a:prstGeom>
          <a:solidFill xmlns:a="http://schemas.openxmlformats.org/drawingml/2006/main">
            <a:srgbClr val="0C2133"/>
          </a:solidFill>
          <a:ln xmlns:a="http://schemas.openxmlformats.org/drawingml/2006/main" w="17145">
            <a:solidFill>
              <a:srgbClr val="2CA56F"/>
            </a:solidFill>
            <a:prstDash val="solid"/>
          </a:ln>
        </p:spPr>
      </p:sp>
      <p:sp>
        <p:nvSpPr>
          <p:cNvPr id="19" name="s39-title-0">
            <a:extLst xmlns:a="http://schemas.openxmlformats.org/drawingml/2006/main">
              <a:ext uri="{FF2B5EF4-FFF2-40B4-BE49-F238E27FC236}">
                <a16:creationId xmlns:a16="http://schemas.microsoft.com/office/drawing/2014/main" id="{36B58256-0468-447C-ABB9-23FBB85427E7}"/>
              </a:ext>
            </a:extLst>
          </p:cNvPr>
          <p:cNvSpPr>
            <a:spLocks xmlns:a="http://schemas.openxmlformats.org/drawingml/2006/main" noGrp="1"/>
          </p:cNvSpPr>
          <p:nvPr/>
        </p:nvSpPr>
        <p:spPr>
          <a:xfrm xmlns:a="http://schemas.openxmlformats.org/drawingml/2006/main">
            <a:off x="857250" y="1628775"/>
            <a:ext cx="3009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575" b="1">
                <a:solidFill>
                  <a:srgbClr val="2CA56F"/>
                </a:solidFill>
                <a:latin typeface="Aptos"/>
                <a:ea typeface="Aptos"/>
                <a:cs typeface="Aptos"/>
              </a:defRPr>
            </a:pPr>
            <a:r>
              <a:rPr sz="1575" b="1">
                <a:solidFill>
                  <a:srgbClr val="2CA56F"/>
                </a:solidFill>
                <a:latin typeface="Aptos"/>
                <a:ea typeface="Aptos"/>
                <a:cs typeface="Aptos"/>
              </a:rPr>
              <a:t>MIL</a:t>
            </a:r>
          </a:p>
        </p:txBody>
      </p:sp>
      <p:sp>
        <p:nvSpPr>
          <p:cNvPr id="20" name="s39-body-0">
            <a:extLst xmlns:a="http://schemas.openxmlformats.org/drawingml/2006/main">
              <a:ext uri="{FF2B5EF4-FFF2-40B4-BE49-F238E27FC236}">
                <a16:creationId xmlns:a16="http://schemas.microsoft.com/office/drawing/2014/main" id="{8B41761A-9AB4-42F0-9883-29D006566A17}"/>
              </a:ext>
            </a:extLst>
          </p:cNvPr>
          <p:cNvSpPr>
            <a:spLocks xmlns:a="http://schemas.openxmlformats.org/drawingml/2006/main" noGrp="1"/>
          </p:cNvSpPr>
          <p:nvPr/>
        </p:nvSpPr>
        <p:spPr>
          <a:xfrm xmlns:a="http://schemas.openxmlformats.org/drawingml/2006/main">
            <a:off x="857250" y="1990725"/>
            <a:ext cx="30099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defRPr sz="1140" b="1">
                <a:solidFill>
                  <a:srgbClr val="E7F2F7"/>
                </a:solidFill>
                <a:latin typeface="Aptos"/>
                <a:ea typeface="Aptos"/>
                <a:cs typeface="Aptos"/>
              </a:defRPr>
            </a:pPr>
            <a:r>
              <a:rPr sz="1140" b="1">
                <a:solidFill>
                  <a:srgbClr val="E7F2F7"/>
                </a:solidFill>
                <a:latin typeface="Aptos"/>
                <a:ea typeface="Aptos"/>
                <a:cs typeface="Aptos"/>
              </a:rPr>
              <a:t>Model/control logic executes with model plant or model environment.</a:t>
            </a:r>
          </a:p>
        </p:txBody>
      </p:sp>
      <p:sp>
        <p:nvSpPr>
          <p:cNvPr id="21" name="s39-status-0">
            <a:extLst xmlns:a="http://schemas.openxmlformats.org/drawingml/2006/main">
              <a:ext uri="{FF2B5EF4-FFF2-40B4-BE49-F238E27FC236}">
                <a16:creationId xmlns:a16="http://schemas.microsoft.com/office/drawing/2014/main" id="{26745AB3-709D-4CD7-8D94-631DF79B3945}"/>
              </a:ext>
            </a:extLst>
          </p:cNvPr>
          <p:cNvSpPr>
            <a:spLocks xmlns:a="http://schemas.openxmlformats.org/drawingml/2006/main" noGrp="1"/>
          </p:cNvSpPr>
          <p:nvPr/>
        </p:nvSpPr>
        <p:spPr>
          <a:xfrm xmlns:a="http://schemas.openxmlformats.org/drawingml/2006/main">
            <a:off x="971550" y="2800350"/>
            <a:ext cx="2781300" cy="304800"/>
          </a:xfrm>
          <a:prstGeom xmlns:a="http://schemas.openxmlformats.org/drawingml/2006/main" prst="roundRect">
            <a:avLst>
              <a:gd name="adj" fmla="val 37500"/>
            </a:avLst>
          </a:prstGeom>
          <a:solidFill xmlns:a="http://schemas.openxmlformats.org/drawingml/2006/main">
            <a:srgbClr val="E2F4EA"/>
          </a:solidFill>
          <a:ln xmlns:a="http://schemas.openxmlformats.org/drawingml/2006/main" w="9525">
            <a:solidFill>
              <a:srgbClr val="2CA56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990" b="1">
                <a:solidFill>
                  <a:srgbClr val="071521"/>
                </a:solidFill>
                <a:latin typeface="Aptos"/>
                <a:ea typeface="Aptos"/>
                <a:cs typeface="Aptos"/>
              </a:defRPr>
            </a:pPr>
            <a:r>
              <a:rPr sz="990" b="1">
                <a:solidFill>
                  <a:srgbClr val="071521"/>
                </a:solidFill>
                <a:latin typeface="Aptos"/>
                <a:ea typeface="Aptos"/>
                <a:cs typeface="Aptos"/>
              </a:rPr>
              <a:t>EXECUTED HERE</a:t>
            </a:r>
          </a:p>
        </p:txBody>
      </p:sp>
      <p:sp>
        <p:nvSpPr>
          <p:cNvPr id="22" name="s39-card-1">
            <a:extLst xmlns:a="http://schemas.openxmlformats.org/drawingml/2006/main">
              <a:ext uri="{FF2B5EF4-FFF2-40B4-BE49-F238E27FC236}">
                <a16:creationId xmlns:a16="http://schemas.microsoft.com/office/drawing/2014/main" id="{406EECAD-CF2C-4696-BFB1-B5ECCA5A20FF}"/>
              </a:ext>
            </a:extLst>
          </p:cNvPr>
          <p:cNvSpPr>
            <a:spLocks xmlns:a="http://schemas.openxmlformats.org/drawingml/2006/main" noGrp="1"/>
          </p:cNvSpPr>
          <p:nvPr/>
        </p:nvSpPr>
        <p:spPr>
          <a:xfrm xmlns:a="http://schemas.openxmlformats.org/drawingml/2006/main">
            <a:off x="4305300" y="1495425"/>
            <a:ext cx="3352800" cy="1743075"/>
          </a:xfrm>
          <a:prstGeom xmlns:a="http://schemas.openxmlformats.org/drawingml/2006/main" prst="roundRect">
            <a:avLst>
              <a:gd name="adj" fmla="val 6557"/>
            </a:avLst>
          </a:prstGeom>
          <a:solidFill xmlns:a="http://schemas.openxmlformats.org/drawingml/2006/main">
            <a:srgbClr val="0C2133"/>
          </a:solidFill>
          <a:ln xmlns:a="http://schemas.openxmlformats.org/drawingml/2006/main" w="17145">
            <a:solidFill>
              <a:srgbClr val="2D6CDF"/>
            </a:solidFill>
            <a:prstDash val="solid"/>
          </a:ln>
        </p:spPr>
      </p:sp>
      <p:sp>
        <p:nvSpPr>
          <p:cNvPr id="23" name="s39-title-1">
            <a:extLst xmlns:a="http://schemas.openxmlformats.org/drawingml/2006/main">
              <a:ext uri="{FF2B5EF4-FFF2-40B4-BE49-F238E27FC236}">
                <a16:creationId xmlns:a16="http://schemas.microsoft.com/office/drawing/2014/main" id="{AA95DF90-C831-4F0E-A0C8-B854C2B3CCD0}"/>
              </a:ext>
            </a:extLst>
          </p:cNvPr>
          <p:cNvSpPr>
            <a:spLocks xmlns:a="http://schemas.openxmlformats.org/drawingml/2006/main" noGrp="1"/>
          </p:cNvSpPr>
          <p:nvPr/>
        </p:nvSpPr>
        <p:spPr>
          <a:xfrm xmlns:a="http://schemas.openxmlformats.org/drawingml/2006/main">
            <a:off x="4476750" y="1628775"/>
            <a:ext cx="3009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575" b="1">
                <a:solidFill>
                  <a:srgbClr val="2D6CDF"/>
                </a:solidFill>
                <a:latin typeface="Aptos"/>
                <a:ea typeface="Aptos"/>
                <a:cs typeface="Aptos"/>
              </a:defRPr>
            </a:pPr>
            <a:r>
              <a:rPr sz="1575" b="1">
                <a:solidFill>
                  <a:srgbClr val="2D6CDF"/>
                </a:solidFill>
                <a:latin typeface="Aptos"/>
                <a:ea typeface="Aptos"/>
                <a:cs typeface="Aptos"/>
              </a:rPr>
              <a:t>SIL</a:t>
            </a:r>
          </a:p>
        </p:txBody>
      </p:sp>
      <p:sp>
        <p:nvSpPr>
          <p:cNvPr id="24" name="s39-body-1">
            <a:extLst xmlns:a="http://schemas.openxmlformats.org/drawingml/2006/main">
              <a:ext uri="{FF2B5EF4-FFF2-40B4-BE49-F238E27FC236}">
                <a16:creationId xmlns:a16="http://schemas.microsoft.com/office/drawing/2014/main" id="{D1901D99-71B2-4F55-B7AB-BBDD5603CF69}"/>
              </a:ext>
            </a:extLst>
          </p:cNvPr>
          <p:cNvSpPr>
            <a:spLocks xmlns:a="http://schemas.openxmlformats.org/drawingml/2006/main" noGrp="1"/>
          </p:cNvSpPr>
          <p:nvPr/>
        </p:nvSpPr>
        <p:spPr>
          <a:xfrm xmlns:a="http://schemas.openxmlformats.org/drawingml/2006/main">
            <a:off x="4476750" y="1990725"/>
            <a:ext cx="30099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defRPr sz="1140" b="1">
                <a:solidFill>
                  <a:srgbClr val="E7F2F7"/>
                </a:solidFill>
                <a:latin typeface="Aptos"/>
                <a:ea typeface="Aptos"/>
                <a:cs typeface="Aptos"/>
              </a:defRPr>
            </a:pPr>
            <a:r>
              <a:rPr sz="1140" b="1">
                <a:solidFill>
                  <a:srgbClr val="E7F2F7"/>
                </a:solidFill>
                <a:latin typeface="Aptos"/>
                <a:ea typeface="Aptos"/>
                <a:cs typeface="Aptos"/>
              </a:rPr>
              <a:t>Generated software executes on the host using a software build.</a:t>
            </a:r>
          </a:p>
        </p:txBody>
      </p:sp>
      <p:sp>
        <p:nvSpPr>
          <p:cNvPr id="25" name="s39-status-1">
            <a:extLst xmlns:a="http://schemas.openxmlformats.org/drawingml/2006/main">
              <a:ext uri="{FF2B5EF4-FFF2-40B4-BE49-F238E27FC236}">
                <a16:creationId xmlns:a16="http://schemas.microsoft.com/office/drawing/2014/main" id="{6E4698EF-CCFC-4318-A5D6-BD47AE9BA43D}"/>
              </a:ext>
            </a:extLst>
          </p:cNvPr>
          <p:cNvSpPr>
            <a:spLocks xmlns:a="http://schemas.openxmlformats.org/drawingml/2006/main" noGrp="1"/>
          </p:cNvSpPr>
          <p:nvPr/>
        </p:nvSpPr>
        <p:spPr>
          <a:xfrm xmlns:a="http://schemas.openxmlformats.org/drawingml/2006/main">
            <a:off x="4591050" y="2800350"/>
            <a:ext cx="2781300" cy="304800"/>
          </a:xfrm>
          <a:prstGeom xmlns:a="http://schemas.openxmlformats.org/drawingml/2006/main" prst="roundRect">
            <a:avLst>
              <a:gd name="adj" fmla="val 37500"/>
            </a:avLst>
          </a:prstGeom>
          <a:solidFill xmlns:a="http://schemas.openxmlformats.org/drawingml/2006/main">
            <a:srgbClr val="E2ECFF"/>
          </a:solidFill>
          <a:ln xmlns:a="http://schemas.openxmlformats.org/drawingml/2006/main" w="9525">
            <a:solidFill>
              <a:srgbClr val="2D6CD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990" b="1">
                <a:solidFill>
                  <a:srgbClr val="071521"/>
                </a:solidFill>
                <a:latin typeface="Aptos"/>
                <a:ea typeface="Aptos"/>
                <a:cs typeface="Aptos"/>
              </a:defRPr>
            </a:pPr>
            <a:r>
              <a:rPr sz="990" b="1">
                <a:solidFill>
                  <a:srgbClr val="071521"/>
                </a:solidFill>
                <a:latin typeface="Aptos"/>
                <a:ea typeface="Aptos"/>
                <a:cs typeface="Aptos"/>
              </a:rPr>
              <a:t>NOT PERFORMED</a:t>
            </a:r>
          </a:p>
        </p:txBody>
      </p:sp>
      <p:sp>
        <p:nvSpPr>
          <p:cNvPr id="26" name="s39-card-2">
            <a:extLst xmlns:a="http://schemas.openxmlformats.org/drawingml/2006/main">
              <a:ext uri="{FF2B5EF4-FFF2-40B4-BE49-F238E27FC236}">
                <a16:creationId xmlns:a16="http://schemas.microsoft.com/office/drawing/2014/main" id="{736915CD-3F41-4D94-AD1C-41BF130381A0}"/>
              </a:ext>
            </a:extLst>
          </p:cNvPr>
          <p:cNvSpPr>
            <a:spLocks xmlns:a="http://schemas.openxmlformats.org/drawingml/2006/main" noGrp="1"/>
          </p:cNvSpPr>
          <p:nvPr/>
        </p:nvSpPr>
        <p:spPr>
          <a:xfrm xmlns:a="http://schemas.openxmlformats.org/drawingml/2006/main">
            <a:off x="7924800" y="1495425"/>
            <a:ext cx="3352800" cy="1743075"/>
          </a:xfrm>
          <a:prstGeom xmlns:a="http://schemas.openxmlformats.org/drawingml/2006/main" prst="roundRect">
            <a:avLst>
              <a:gd name="adj" fmla="val 6557"/>
            </a:avLst>
          </a:prstGeom>
          <a:solidFill xmlns:a="http://schemas.openxmlformats.org/drawingml/2006/main">
            <a:srgbClr val="0C2133"/>
          </a:solidFill>
          <a:ln xmlns:a="http://schemas.openxmlformats.org/drawingml/2006/main" w="17145">
            <a:solidFill>
              <a:srgbClr val="E9A23B"/>
            </a:solidFill>
            <a:prstDash val="solid"/>
          </a:ln>
        </p:spPr>
      </p:sp>
      <p:sp>
        <p:nvSpPr>
          <p:cNvPr id="27" name="s39-title-2">
            <a:extLst xmlns:a="http://schemas.openxmlformats.org/drawingml/2006/main">
              <a:ext uri="{FF2B5EF4-FFF2-40B4-BE49-F238E27FC236}">
                <a16:creationId xmlns:a16="http://schemas.microsoft.com/office/drawing/2014/main" id="{C2EA5C53-EB61-444E-8633-FCE3197CC7FC}"/>
              </a:ext>
            </a:extLst>
          </p:cNvPr>
          <p:cNvSpPr>
            <a:spLocks xmlns:a="http://schemas.openxmlformats.org/drawingml/2006/main" noGrp="1"/>
          </p:cNvSpPr>
          <p:nvPr/>
        </p:nvSpPr>
        <p:spPr>
          <a:xfrm xmlns:a="http://schemas.openxmlformats.org/drawingml/2006/main">
            <a:off x="8096250" y="1628775"/>
            <a:ext cx="3009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575" b="1">
                <a:solidFill>
                  <a:srgbClr val="E9A23B"/>
                </a:solidFill>
                <a:latin typeface="Aptos"/>
                <a:ea typeface="Aptos"/>
                <a:cs typeface="Aptos"/>
              </a:defRPr>
            </a:pPr>
            <a:r>
              <a:rPr sz="1575" b="1">
                <a:solidFill>
                  <a:srgbClr val="E9A23B"/>
                </a:solidFill>
                <a:latin typeface="Aptos"/>
                <a:ea typeface="Aptos"/>
                <a:cs typeface="Aptos"/>
              </a:rPr>
              <a:t>PIL</a:t>
            </a:r>
          </a:p>
        </p:txBody>
      </p:sp>
      <p:sp>
        <p:nvSpPr>
          <p:cNvPr id="28" name="s39-body-2">
            <a:extLst xmlns:a="http://schemas.openxmlformats.org/drawingml/2006/main">
              <a:ext uri="{FF2B5EF4-FFF2-40B4-BE49-F238E27FC236}">
                <a16:creationId xmlns:a16="http://schemas.microsoft.com/office/drawing/2014/main" id="{E5C4E9A0-591C-43D6-8C19-8515EBE0D260}"/>
              </a:ext>
            </a:extLst>
          </p:cNvPr>
          <p:cNvSpPr>
            <a:spLocks xmlns:a="http://schemas.openxmlformats.org/drawingml/2006/main" noGrp="1"/>
          </p:cNvSpPr>
          <p:nvPr/>
        </p:nvSpPr>
        <p:spPr>
          <a:xfrm xmlns:a="http://schemas.openxmlformats.org/drawingml/2006/main">
            <a:off x="8096250" y="1990725"/>
            <a:ext cx="30099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defRPr sz="1140" b="1">
                <a:solidFill>
                  <a:srgbClr val="E7F2F7"/>
                </a:solidFill>
                <a:latin typeface="Aptos"/>
                <a:ea typeface="Aptos"/>
                <a:cs typeface="Aptos"/>
              </a:defRPr>
            </a:pPr>
            <a:r>
              <a:rPr sz="1140" b="1">
                <a:solidFill>
                  <a:srgbClr val="E7F2F7"/>
                </a:solidFill>
                <a:latin typeface="Aptos"/>
                <a:ea typeface="Aptos"/>
                <a:cs typeface="Aptos"/>
              </a:rPr>
              <a:t>Generated code executes on a target processor or representative processor.</a:t>
            </a:r>
          </a:p>
        </p:txBody>
      </p:sp>
      <p:sp>
        <p:nvSpPr>
          <p:cNvPr id="29" name="s39-status-2">
            <a:extLst xmlns:a="http://schemas.openxmlformats.org/drawingml/2006/main">
              <a:ext uri="{FF2B5EF4-FFF2-40B4-BE49-F238E27FC236}">
                <a16:creationId xmlns:a16="http://schemas.microsoft.com/office/drawing/2014/main" id="{138BB933-6077-4734-B082-E7D721676F13}"/>
              </a:ext>
            </a:extLst>
          </p:cNvPr>
          <p:cNvSpPr>
            <a:spLocks xmlns:a="http://schemas.openxmlformats.org/drawingml/2006/main" noGrp="1"/>
          </p:cNvSpPr>
          <p:nvPr/>
        </p:nvSpPr>
        <p:spPr>
          <a:xfrm xmlns:a="http://schemas.openxmlformats.org/drawingml/2006/main">
            <a:off x="8210550" y="2800350"/>
            <a:ext cx="2781300" cy="304800"/>
          </a:xfrm>
          <a:prstGeom xmlns:a="http://schemas.openxmlformats.org/drawingml/2006/main" prst="roundRect">
            <a:avLst>
              <a:gd name="adj" fmla="val 37500"/>
            </a:avLst>
          </a:prstGeom>
          <a:solidFill xmlns:a="http://schemas.openxmlformats.org/drawingml/2006/main">
            <a:srgbClr val="FFF0D7"/>
          </a:solidFill>
          <a:ln xmlns:a="http://schemas.openxmlformats.org/drawingml/2006/main" w="9525">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990" b="1">
                <a:solidFill>
                  <a:srgbClr val="071521"/>
                </a:solidFill>
                <a:latin typeface="Aptos"/>
                <a:ea typeface="Aptos"/>
                <a:cs typeface="Aptos"/>
              </a:defRPr>
            </a:pPr>
            <a:r>
              <a:rPr sz="990" b="1">
                <a:solidFill>
                  <a:srgbClr val="071521"/>
                </a:solidFill>
                <a:latin typeface="Aptos"/>
                <a:ea typeface="Aptos"/>
                <a:cs typeface="Aptos"/>
              </a:rPr>
              <a:t>NOT AUTOMATICALLY UNIT TESTING</a:t>
            </a:r>
          </a:p>
        </p:txBody>
      </p:sp>
      <p:sp>
        <p:nvSpPr>
          <p:cNvPr id="30" name="s39-card-3">
            <a:extLst xmlns:a="http://schemas.openxmlformats.org/drawingml/2006/main">
              <a:ext uri="{FF2B5EF4-FFF2-40B4-BE49-F238E27FC236}">
                <a16:creationId xmlns:a16="http://schemas.microsoft.com/office/drawing/2014/main" id="{4E78FC0E-332C-46ED-B61E-B7505F9CA625}"/>
              </a:ext>
            </a:extLst>
          </p:cNvPr>
          <p:cNvSpPr>
            <a:spLocks xmlns:a="http://schemas.openxmlformats.org/drawingml/2006/main" noGrp="1"/>
          </p:cNvSpPr>
          <p:nvPr/>
        </p:nvSpPr>
        <p:spPr>
          <a:xfrm xmlns:a="http://schemas.openxmlformats.org/drawingml/2006/main">
            <a:off x="685800" y="3543300"/>
            <a:ext cx="3352800" cy="1743075"/>
          </a:xfrm>
          <a:prstGeom xmlns:a="http://schemas.openxmlformats.org/drawingml/2006/main" prst="roundRect">
            <a:avLst>
              <a:gd name="adj" fmla="val 6557"/>
            </a:avLst>
          </a:prstGeom>
          <a:solidFill xmlns:a="http://schemas.openxmlformats.org/drawingml/2006/main">
            <a:srgbClr val="0C2133"/>
          </a:solidFill>
          <a:ln xmlns:a="http://schemas.openxmlformats.org/drawingml/2006/main" w="17145">
            <a:solidFill>
              <a:srgbClr val="D75A64"/>
            </a:solidFill>
            <a:prstDash val="solid"/>
          </a:ln>
        </p:spPr>
      </p:sp>
      <p:sp>
        <p:nvSpPr>
          <p:cNvPr id="31" name="s39-title-3">
            <a:extLst xmlns:a="http://schemas.openxmlformats.org/drawingml/2006/main">
              <a:ext uri="{FF2B5EF4-FFF2-40B4-BE49-F238E27FC236}">
                <a16:creationId xmlns:a16="http://schemas.microsoft.com/office/drawing/2014/main" id="{D5427986-53CA-44CD-BCD2-0D00488D2A5C}"/>
              </a:ext>
            </a:extLst>
          </p:cNvPr>
          <p:cNvSpPr>
            <a:spLocks xmlns:a="http://schemas.openxmlformats.org/drawingml/2006/main" noGrp="1"/>
          </p:cNvSpPr>
          <p:nvPr/>
        </p:nvSpPr>
        <p:spPr>
          <a:xfrm xmlns:a="http://schemas.openxmlformats.org/drawingml/2006/main">
            <a:off x="857250" y="3676650"/>
            <a:ext cx="3009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575" b="1">
                <a:solidFill>
                  <a:srgbClr val="D75A64"/>
                </a:solidFill>
                <a:latin typeface="Aptos"/>
                <a:ea typeface="Aptos"/>
                <a:cs typeface="Aptos"/>
              </a:defRPr>
            </a:pPr>
            <a:r>
              <a:rPr sz="1575" b="1">
                <a:solidFill>
                  <a:srgbClr val="D75A64"/>
                </a:solidFill>
                <a:latin typeface="Aptos"/>
                <a:ea typeface="Aptos"/>
                <a:cs typeface="Aptos"/>
              </a:rPr>
              <a:t>HIL</a:t>
            </a:r>
          </a:p>
        </p:txBody>
      </p:sp>
      <p:sp>
        <p:nvSpPr>
          <p:cNvPr id="32" name="s39-body-3">
            <a:extLst xmlns:a="http://schemas.openxmlformats.org/drawingml/2006/main">
              <a:ext uri="{FF2B5EF4-FFF2-40B4-BE49-F238E27FC236}">
                <a16:creationId xmlns:a16="http://schemas.microsoft.com/office/drawing/2014/main" id="{7DE9B7C7-2A4B-4E1D-8785-951D9CD25418}"/>
              </a:ext>
            </a:extLst>
          </p:cNvPr>
          <p:cNvSpPr>
            <a:spLocks xmlns:a="http://schemas.openxmlformats.org/drawingml/2006/main" noGrp="1"/>
          </p:cNvSpPr>
          <p:nvPr/>
        </p:nvSpPr>
        <p:spPr>
          <a:xfrm xmlns:a="http://schemas.openxmlformats.org/drawingml/2006/main">
            <a:off x="857250" y="4038600"/>
            <a:ext cx="30099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defRPr sz="1140" b="1">
                <a:solidFill>
                  <a:srgbClr val="E7F2F7"/>
                </a:solidFill>
                <a:latin typeface="Aptos"/>
                <a:ea typeface="Aptos"/>
                <a:cs typeface="Aptos"/>
              </a:defRPr>
            </a:pPr>
            <a:r>
              <a:rPr sz="1140" b="1">
                <a:solidFill>
                  <a:srgbClr val="E7F2F7"/>
                </a:solidFill>
                <a:latin typeface="Aptos"/>
                <a:ea typeface="Aptos"/>
                <a:cs typeface="Aptos"/>
              </a:rPr>
              <a:t>Real controller/target hardware + real-time plant + physical I/O.</a:t>
            </a:r>
          </a:p>
        </p:txBody>
      </p:sp>
      <p:sp>
        <p:nvSpPr>
          <p:cNvPr id="33" name="s39-status-3">
            <a:extLst xmlns:a="http://schemas.openxmlformats.org/drawingml/2006/main">
              <a:ext uri="{FF2B5EF4-FFF2-40B4-BE49-F238E27FC236}">
                <a16:creationId xmlns:a16="http://schemas.microsoft.com/office/drawing/2014/main" id="{6A3BFF40-F7BA-49F6-8AA9-02FC269D9245}"/>
              </a:ext>
            </a:extLst>
          </p:cNvPr>
          <p:cNvSpPr>
            <a:spLocks xmlns:a="http://schemas.openxmlformats.org/drawingml/2006/main" noGrp="1"/>
          </p:cNvSpPr>
          <p:nvPr/>
        </p:nvSpPr>
        <p:spPr>
          <a:xfrm xmlns:a="http://schemas.openxmlformats.org/drawingml/2006/main">
            <a:off x="971550" y="4848225"/>
            <a:ext cx="2781300" cy="304800"/>
          </a:xfrm>
          <a:prstGeom xmlns:a="http://schemas.openxmlformats.org/drawingml/2006/main" prst="roundRect">
            <a:avLst>
              <a:gd name="adj" fmla="val 37500"/>
            </a:avLst>
          </a:prstGeom>
          <a:solidFill xmlns:a="http://schemas.openxmlformats.org/drawingml/2006/main">
            <a:srgbClr val="FBE7E9"/>
          </a:solidFill>
          <a:ln xmlns:a="http://schemas.openxmlformats.org/drawingml/2006/main" w="9525">
            <a:solidFill>
              <a:srgbClr val="D75A64"/>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990" b="1">
                <a:solidFill>
                  <a:srgbClr val="071521"/>
                </a:solidFill>
                <a:latin typeface="Aptos"/>
                <a:ea typeface="Aptos"/>
                <a:cs typeface="Aptos"/>
              </a:defRPr>
            </a:pPr>
            <a:r>
              <a:rPr sz="990" b="1">
                <a:solidFill>
                  <a:srgbClr val="071521"/>
                </a:solidFill>
                <a:latin typeface="Aptos"/>
                <a:ea typeface="Aptos"/>
                <a:cs typeface="Aptos"/>
              </a:rPr>
              <a:t>NOT PERFORMED</a:t>
            </a:r>
          </a:p>
        </p:txBody>
      </p:sp>
      <p:sp>
        <p:nvSpPr>
          <p:cNvPr id="34" name="s39-card-4">
            <a:extLst xmlns:a="http://schemas.openxmlformats.org/drawingml/2006/main">
              <a:ext uri="{FF2B5EF4-FFF2-40B4-BE49-F238E27FC236}">
                <a16:creationId xmlns:a16="http://schemas.microsoft.com/office/drawing/2014/main" id="{88B38B77-BEA4-460A-A99E-7BA3B14C90C1}"/>
              </a:ext>
            </a:extLst>
          </p:cNvPr>
          <p:cNvSpPr>
            <a:spLocks xmlns:a="http://schemas.openxmlformats.org/drawingml/2006/main" noGrp="1"/>
          </p:cNvSpPr>
          <p:nvPr/>
        </p:nvSpPr>
        <p:spPr>
          <a:xfrm xmlns:a="http://schemas.openxmlformats.org/drawingml/2006/main">
            <a:off x="4305300" y="3543300"/>
            <a:ext cx="3352800" cy="1743075"/>
          </a:xfrm>
          <a:prstGeom xmlns:a="http://schemas.openxmlformats.org/drawingml/2006/main" prst="roundRect">
            <a:avLst>
              <a:gd name="adj" fmla="val 6557"/>
            </a:avLst>
          </a:prstGeom>
          <a:solidFill xmlns:a="http://schemas.openxmlformats.org/drawingml/2006/main">
            <a:srgbClr val="0C2133"/>
          </a:solidFill>
          <a:ln xmlns:a="http://schemas.openxmlformats.org/drawingml/2006/main" w="17145">
            <a:solidFill>
              <a:srgbClr val="20B7C5"/>
            </a:solidFill>
            <a:prstDash val="solid"/>
          </a:ln>
        </p:spPr>
      </p:sp>
      <p:sp>
        <p:nvSpPr>
          <p:cNvPr id="35" name="s39-title-4">
            <a:extLst xmlns:a="http://schemas.openxmlformats.org/drawingml/2006/main">
              <a:ext uri="{FF2B5EF4-FFF2-40B4-BE49-F238E27FC236}">
                <a16:creationId xmlns:a16="http://schemas.microsoft.com/office/drawing/2014/main" id="{80BB881B-12C0-4BB9-A593-58D89A559742}"/>
              </a:ext>
            </a:extLst>
          </p:cNvPr>
          <p:cNvSpPr>
            <a:spLocks xmlns:a="http://schemas.openxmlformats.org/drawingml/2006/main" noGrp="1"/>
          </p:cNvSpPr>
          <p:nvPr/>
        </p:nvSpPr>
        <p:spPr>
          <a:xfrm xmlns:a="http://schemas.openxmlformats.org/drawingml/2006/main">
            <a:off x="4476750" y="3676650"/>
            <a:ext cx="3009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575" b="1">
                <a:solidFill>
                  <a:srgbClr val="20B7C5"/>
                </a:solidFill>
                <a:latin typeface="Aptos"/>
                <a:ea typeface="Aptos"/>
                <a:cs typeface="Aptos"/>
              </a:defRPr>
            </a:pPr>
            <a:r>
              <a:rPr sz="1575" b="1">
                <a:solidFill>
                  <a:srgbClr val="20B7C5"/>
                </a:solidFill>
                <a:latin typeface="Aptos"/>
                <a:ea typeface="Aptos"/>
                <a:cs typeface="Aptos"/>
              </a:rPr>
              <a:t>BENCH</a:t>
            </a:r>
          </a:p>
        </p:txBody>
      </p:sp>
      <p:sp>
        <p:nvSpPr>
          <p:cNvPr id="36" name="s39-body-4">
            <a:extLst xmlns:a="http://schemas.openxmlformats.org/drawingml/2006/main">
              <a:ext uri="{FF2B5EF4-FFF2-40B4-BE49-F238E27FC236}">
                <a16:creationId xmlns:a16="http://schemas.microsoft.com/office/drawing/2014/main" id="{3C276CA7-5B65-431A-9336-EFA169D9DD54}"/>
              </a:ext>
            </a:extLst>
          </p:cNvPr>
          <p:cNvSpPr>
            <a:spLocks xmlns:a="http://schemas.openxmlformats.org/drawingml/2006/main" noGrp="1"/>
          </p:cNvSpPr>
          <p:nvPr/>
        </p:nvSpPr>
        <p:spPr>
          <a:xfrm xmlns:a="http://schemas.openxmlformats.org/drawingml/2006/main">
            <a:off x="4476750" y="4038600"/>
            <a:ext cx="30099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defRPr sz="1140" b="1">
                <a:solidFill>
                  <a:srgbClr val="E7F2F7"/>
                </a:solidFill>
                <a:latin typeface="Aptos"/>
                <a:ea typeface="Aptos"/>
                <a:cs typeface="Aptos"/>
              </a:defRPr>
            </a:pPr>
            <a:r>
              <a:rPr sz="1140" b="1">
                <a:solidFill>
                  <a:srgbClr val="E7F2F7"/>
                </a:solidFill>
                <a:latin typeface="Aptos"/>
                <a:ea typeface="Aptos"/>
                <a:cs typeface="Aptos"/>
              </a:rPr>
              <a:t>Hardware subsystem with instrumentation, loads, and controlled stimuli.</a:t>
            </a:r>
          </a:p>
        </p:txBody>
      </p:sp>
      <p:sp>
        <p:nvSpPr>
          <p:cNvPr id="37" name="s39-status-4">
            <a:extLst xmlns:a="http://schemas.openxmlformats.org/drawingml/2006/main">
              <a:ext uri="{FF2B5EF4-FFF2-40B4-BE49-F238E27FC236}">
                <a16:creationId xmlns:a16="http://schemas.microsoft.com/office/drawing/2014/main" id="{35BFD700-BBCE-4CB0-ADC1-6DA8DBEC6CA0}"/>
              </a:ext>
            </a:extLst>
          </p:cNvPr>
          <p:cNvSpPr>
            <a:spLocks xmlns:a="http://schemas.openxmlformats.org/drawingml/2006/main" noGrp="1"/>
          </p:cNvSpPr>
          <p:nvPr/>
        </p:nvSpPr>
        <p:spPr>
          <a:xfrm xmlns:a="http://schemas.openxmlformats.org/drawingml/2006/main">
            <a:off x="4591050" y="4848225"/>
            <a:ext cx="2781300" cy="304800"/>
          </a:xfrm>
          <a:prstGeom xmlns:a="http://schemas.openxmlformats.org/drawingml/2006/main" prst="roundRect">
            <a:avLst>
              <a:gd name="adj" fmla="val 37500"/>
            </a:avLst>
          </a:prstGeom>
          <a:solidFill xmlns:a="http://schemas.openxmlformats.org/drawingml/2006/main">
            <a:srgbClr val="DFF6F8"/>
          </a:solidFill>
          <a:ln xmlns:a="http://schemas.openxmlformats.org/drawingml/2006/main" w="9525">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990" b="1">
                <a:solidFill>
                  <a:srgbClr val="071521"/>
                </a:solidFill>
                <a:latin typeface="Aptos"/>
                <a:ea typeface="Aptos"/>
                <a:cs typeface="Aptos"/>
              </a:defRPr>
            </a:pPr>
            <a:r>
              <a:rPr sz="990" b="1">
                <a:solidFill>
                  <a:srgbClr val="071521"/>
                </a:solidFill>
                <a:latin typeface="Aptos"/>
                <a:ea typeface="Aptos"/>
                <a:cs typeface="Aptos"/>
              </a:rPr>
              <a:t>CONCEPT ONLY</a:t>
            </a:r>
          </a:p>
        </p:txBody>
      </p:sp>
      <p:sp>
        <p:nvSpPr>
          <p:cNvPr id="38" name="s39-card-5">
            <a:extLst xmlns:a="http://schemas.openxmlformats.org/drawingml/2006/main">
              <a:ext uri="{FF2B5EF4-FFF2-40B4-BE49-F238E27FC236}">
                <a16:creationId xmlns:a16="http://schemas.microsoft.com/office/drawing/2014/main" id="{7D2FA62B-0CF1-4198-B303-3E272D68674F}"/>
              </a:ext>
            </a:extLst>
          </p:cNvPr>
          <p:cNvSpPr>
            <a:spLocks xmlns:a="http://schemas.openxmlformats.org/drawingml/2006/main" noGrp="1"/>
          </p:cNvSpPr>
          <p:nvPr/>
        </p:nvSpPr>
        <p:spPr>
          <a:xfrm xmlns:a="http://schemas.openxmlformats.org/drawingml/2006/main">
            <a:off x="7924800" y="3543300"/>
            <a:ext cx="3352800" cy="1743075"/>
          </a:xfrm>
          <a:prstGeom xmlns:a="http://schemas.openxmlformats.org/drawingml/2006/main" prst="roundRect">
            <a:avLst>
              <a:gd name="adj" fmla="val 6557"/>
            </a:avLst>
          </a:prstGeom>
          <a:solidFill xmlns:a="http://schemas.openxmlformats.org/drawingml/2006/main">
            <a:srgbClr val="0C2133"/>
          </a:solidFill>
          <a:ln xmlns:a="http://schemas.openxmlformats.org/drawingml/2006/main" w="17145">
            <a:solidFill>
              <a:srgbClr val="5D7487"/>
            </a:solidFill>
            <a:prstDash val="solid"/>
          </a:ln>
        </p:spPr>
      </p:sp>
      <p:sp>
        <p:nvSpPr>
          <p:cNvPr id="39" name="s39-title-5">
            <a:extLst xmlns:a="http://schemas.openxmlformats.org/drawingml/2006/main">
              <a:ext uri="{FF2B5EF4-FFF2-40B4-BE49-F238E27FC236}">
                <a16:creationId xmlns:a16="http://schemas.microsoft.com/office/drawing/2014/main" id="{C9615EFB-1CA6-4F26-9EF3-3CEFEB91ABF2}"/>
              </a:ext>
            </a:extLst>
          </p:cNvPr>
          <p:cNvSpPr>
            <a:spLocks xmlns:a="http://schemas.openxmlformats.org/drawingml/2006/main" noGrp="1"/>
          </p:cNvSpPr>
          <p:nvPr/>
        </p:nvSpPr>
        <p:spPr>
          <a:xfrm xmlns:a="http://schemas.openxmlformats.org/drawingml/2006/main">
            <a:off x="8096250" y="3676650"/>
            <a:ext cx="3009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575" b="1">
                <a:solidFill>
                  <a:srgbClr val="5D7487"/>
                </a:solidFill>
                <a:latin typeface="Aptos"/>
                <a:ea typeface="Aptos"/>
                <a:cs typeface="Aptos"/>
              </a:defRPr>
            </a:pPr>
            <a:r>
              <a:rPr sz="1575" b="1">
                <a:solidFill>
                  <a:srgbClr val="5D7487"/>
                </a:solidFill>
                <a:latin typeface="Aptos"/>
                <a:ea typeface="Aptos"/>
                <a:cs typeface="Aptos"/>
              </a:rPr>
              <a:t>SYSTEM INTEGRATION</a:t>
            </a:r>
          </a:p>
        </p:txBody>
      </p:sp>
      <p:sp>
        <p:nvSpPr>
          <p:cNvPr id="40" name="s39-body-5">
            <a:extLst xmlns:a="http://schemas.openxmlformats.org/drawingml/2006/main">
              <a:ext uri="{FF2B5EF4-FFF2-40B4-BE49-F238E27FC236}">
                <a16:creationId xmlns:a16="http://schemas.microsoft.com/office/drawing/2014/main" id="{D9E81CCE-A4A0-4D19-989A-2401AFB2BCCC}"/>
              </a:ext>
            </a:extLst>
          </p:cNvPr>
          <p:cNvSpPr>
            <a:spLocks xmlns:a="http://schemas.openxmlformats.org/drawingml/2006/main" noGrp="1"/>
          </p:cNvSpPr>
          <p:nvPr/>
        </p:nvSpPr>
        <p:spPr>
          <a:xfrm xmlns:a="http://schemas.openxmlformats.org/drawingml/2006/main">
            <a:off x="8096250" y="4038600"/>
            <a:ext cx="30099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defRPr sz="1140" b="1">
                <a:solidFill>
                  <a:srgbClr val="E7F2F7"/>
                </a:solidFill>
                <a:latin typeface="Aptos"/>
                <a:ea typeface="Aptos"/>
                <a:cs typeface="Aptos"/>
              </a:defRPr>
            </a:pPr>
            <a:r>
              <a:rPr sz="1140" b="1">
                <a:solidFill>
                  <a:srgbClr val="E7F2F7"/>
                </a:solidFill>
                <a:latin typeface="Aptos"/>
                <a:ea typeface="Aptos"/>
                <a:cs typeface="Aptos"/>
              </a:rPr>
              <a:t>Integrated aircraft/system environment with representative interfaces.</a:t>
            </a:r>
          </a:p>
        </p:txBody>
      </p:sp>
      <p:sp>
        <p:nvSpPr>
          <p:cNvPr id="41" name="s39-status-5">
            <a:extLst xmlns:a="http://schemas.openxmlformats.org/drawingml/2006/main">
              <a:ext uri="{FF2B5EF4-FFF2-40B4-BE49-F238E27FC236}">
                <a16:creationId xmlns:a16="http://schemas.microsoft.com/office/drawing/2014/main" id="{DDF30BD3-536F-45B4-9098-F85ABDEB6908}"/>
              </a:ext>
            </a:extLst>
          </p:cNvPr>
          <p:cNvSpPr>
            <a:spLocks xmlns:a="http://schemas.openxmlformats.org/drawingml/2006/main" noGrp="1"/>
          </p:cNvSpPr>
          <p:nvPr/>
        </p:nvSpPr>
        <p:spPr>
          <a:xfrm xmlns:a="http://schemas.openxmlformats.org/drawingml/2006/main">
            <a:off x="8210550" y="4848225"/>
            <a:ext cx="2781300" cy="304800"/>
          </a:xfrm>
          <a:prstGeom xmlns:a="http://schemas.openxmlformats.org/drawingml/2006/main" prst="roundRect">
            <a:avLst>
              <a:gd name="adj" fmla="val 37500"/>
            </a:avLst>
          </a:prstGeom>
          <a:solidFill xmlns:a="http://schemas.openxmlformats.org/drawingml/2006/main">
            <a:srgbClr val="EEF4F8"/>
          </a:solidFill>
          <a:ln xmlns:a="http://schemas.openxmlformats.org/drawingml/2006/main" w="9525">
            <a:solidFill>
              <a:srgbClr val="5D7487"/>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990" b="1">
                <a:solidFill>
                  <a:srgbClr val="071521"/>
                </a:solidFill>
                <a:latin typeface="Aptos"/>
                <a:ea typeface="Aptos"/>
                <a:cs typeface="Aptos"/>
              </a:defRPr>
            </a:pPr>
            <a:r>
              <a:rPr sz="990" b="1">
                <a:solidFill>
                  <a:srgbClr val="071521"/>
                </a:solidFill>
                <a:latin typeface="Aptos"/>
                <a:ea typeface="Aptos"/>
                <a:cs typeface="Aptos"/>
              </a:rPr>
              <a:t>CONCEPT ONLY</a:t>
            </a:r>
          </a:p>
        </p:txBody>
      </p:sp>
      <p:sp>
        <p:nvSpPr>
          <p:cNvPr id="42" name="s39-label">
            <a:extLst xmlns:a="http://schemas.openxmlformats.org/drawingml/2006/main">
              <a:ext uri="{FF2B5EF4-FFF2-40B4-BE49-F238E27FC236}">
                <a16:creationId xmlns:a16="http://schemas.microsoft.com/office/drawing/2014/main" id="{984AC03F-54F8-4430-8A6D-DC6C7567290E}"/>
              </a:ext>
            </a:extLst>
          </p:cNvPr>
          <p:cNvSpPr>
            <a:spLocks xmlns:a="http://schemas.openxmlformats.org/drawingml/2006/main" noGrp="1"/>
          </p:cNvSpPr>
          <p:nvPr/>
        </p:nvSpPr>
        <p:spPr>
          <a:xfrm xmlns:a="http://schemas.openxmlformats.org/drawingml/2006/main">
            <a:off x="685800" y="5629275"/>
            <a:ext cx="10820400" cy="476250"/>
          </a:xfrm>
          <a:prstGeom xmlns:a="http://schemas.openxmlformats.org/drawingml/2006/main" prst="roundRect">
            <a:avLst>
              <a:gd name="adj" fmla="val 24000"/>
            </a:avLst>
          </a:prstGeom>
          <a:solidFill xmlns:a="http://schemas.openxmlformats.org/drawingml/2006/main">
            <a:srgbClr val="E2F4EA"/>
          </a:solidFill>
          <a:ln xmlns:a="http://schemas.openxmlformats.org/drawingml/2006/main" w="14288">
            <a:solidFill>
              <a:srgbClr val="2CA56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388" b="1">
                <a:solidFill>
                  <a:srgbClr val="0B1F33"/>
                </a:solidFill>
                <a:latin typeface="Aptos"/>
                <a:ea typeface="Aptos"/>
                <a:cs typeface="Aptos"/>
              </a:defRPr>
            </a:pPr>
            <a:r>
              <a:rPr sz="1388" b="1">
                <a:solidFill>
                  <a:srgbClr val="0B1F33"/>
                </a:solidFill>
                <a:latin typeface="Aptos"/>
                <a:ea typeface="Aptos"/>
                <a:cs typeface="Aptos"/>
              </a:rPr>
              <a:t>Desktop Simulink model execution (MIL); not SIL, PIL, or HIL.</a:t>
            </a:r>
          </a:p>
        </p:txBody>
      </p:sp>
    </p:spTree>
    <p:extLst>
      <p:ext uri="{BB962C8B-B14F-4D97-AF65-F5344CB8AC3E}">
        <p14:creationId xmlns:p14="http://schemas.microsoft.com/office/powerpoint/2010/main" val="198638874"/>
      </p:ext>
    </p:extLst>
  </p:cSld>
</p:sld>
</file>

<file path=ppt/slides/slide40.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3" name="section-490">
            <a:extLst xmlns:a="http://schemas.openxmlformats.org/drawingml/2006/main">
              <a:ext uri="{FF2B5EF4-FFF2-40B4-BE49-F238E27FC236}">
                <a16:creationId xmlns:a16="http://schemas.microsoft.com/office/drawing/2014/main" id="{1517FAAE-DDA5-486D-A3C7-FB586788CA6E}"/>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07 • AUTOMATION &amp; ENVIRONMENTS</a:t>
            </a:r>
          </a:p>
        </p:txBody>
      </p:sp>
      <p:sp>
        <p:nvSpPr>
          <p:cNvPr id="2" name="title-490">
            <a:extLst xmlns:a="http://schemas.openxmlformats.org/drawingml/2006/main">
              <a:ext uri="{FF2B5EF4-FFF2-40B4-BE49-F238E27FC236}">
                <a16:creationId xmlns:a16="http://schemas.microsoft.com/office/drawing/2014/main" id="{4B9B1F30-DE5E-4DCB-A220-1CA7AF0D7E34}"/>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FFFFFF"/>
                </a:solidFill>
                <a:latin typeface="Aptos"/>
                <a:ea typeface="Aptos"/>
                <a:cs typeface="Aptos"/>
              </a:defRPr>
            </a:pPr>
            <a:r>
              <a:rPr sz="3150" b="1" i="0">
                <a:solidFill>
                  <a:srgbClr val="FFFFFF"/>
                </a:solidFill>
                <a:latin typeface="Aptos"/>
                <a:ea typeface="Aptos"/>
                <a:cs typeface="Aptos"/>
              </a:rPr>
              <a:t>The current training package is internally consistent</a:t>
            </a:r>
          </a:p>
        </p:txBody>
      </p:sp>
      <p:sp>
        <p:nvSpPr>
          <p:cNvPr id="3" name="line-491">
            <a:extLst xmlns:a="http://schemas.openxmlformats.org/drawingml/2006/main">
              <a:ext uri="{FF2B5EF4-FFF2-40B4-BE49-F238E27FC236}">
                <a16:creationId xmlns:a16="http://schemas.microsoft.com/office/drawing/2014/main" id="{4499C323-8AAD-4703-8814-D4AED6239951}"/>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492">
            <a:extLst xmlns:a="http://schemas.openxmlformats.org/drawingml/2006/main">
              <a:ext uri="{FF2B5EF4-FFF2-40B4-BE49-F238E27FC236}">
                <a16:creationId xmlns:a16="http://schemas.microsoft.com/office/drawing/2014/main" id="{F3B165B8-FCB8-4777-A161-96DF4EF4F2C3}"/>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93">
            <a:extLst xmlns:a="http://schemas.openxmlformats.org/drawingml/2006/main">
              <a:ext uri="{FF2B5EF4-FFF2-40B4-BE49-F238E27FC236}">
                <a16:creationId xmlns:a16="http://schemas.microsoft.com/office/drawing/2014/main" id="{FC3641C8-8D37-4421-8615-0D5A2A9CC82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40</a:t>
            </a:r>
          </a:p>
        </p:txBody>
      </p:sp>
      <p:sp>
        <p:nvSpPr>
          <p:cNvPr id="24" name="s40-card-0">
            <a:extLst xmlns:a="http://schemas.openxmlformats.org/drawingml/2006/main">
              <a:ext uri="{FF2B5EF4-FFF2-40B4-BE49-F238E27FC236}">
                <a16:creationId xmlns:a16="http://schemas.microsoft.com/office/drawing/2014/main" id="{63609224-FF25-4A65-9757-158BA3E1AAC0}"/>
              </a:ext>
            </a:extLst>
          </p:cNvPr>
          <p:cNvSpPr>
            <a:spLocks xmlns:a="http://schemas.openxmlformats.org/drawingml/2006/main" noGrp="1"/>
          </p:cNvSpPr>
          <p:nvPr/>
        </p:nvSpPr>
        <p:spPr>
          <a:xfrm xmlns:a="http://schemas.openxmlformats.org/drawingml/2006/main">
            <a:off x="685800" y="1571625"/>
            <a:ext cx="3390900" cy="2686050"/>
          </a:xfrm>
          <a:prstGeom xmlns:a="http://schemas.openxmlformats.org/drawingml/2006/main" prst="roundRect">
            <a:avLst>
              <a:gd name="adj" fmla="val 4255"/>
            </a:avLst>
          </a:prstGeom>
          <a:solidFill xmlns:a="http://schemas.openxmlformats.org/drawingml/2006/main">
            <a:srgbClr val="0C2133"/>
          </a:solidFill>
          <a:ln xmlns:a="http://schemas.openxmlformats.org/drawingml/2006/main" w="20003">
            <a:solidFill>
              <a:srgbClr val="20B7C5"/>
            </a:solidFill>
            <a:prstDash val="solid"/>
          </a:ln>
        </p:spPr>
      </p:sp>
      <p:sp>
        <p:nvSpPr>
          <p:cNvPr id="25" name="s40-value-0">
            <a:extLst xmlns:a="http://schemas.openxmlformats.org/drawingml/2006/main">
              <a:ext uri="{FF2B5EF4-FFF2-40B4-BE49-F238E27FC236}">
                <a16:creationId xmlns:a16="http://schemas.microsoft.com/office/drawing/2014/main" id="{A07E76C4-5D03-49EA-8DC4-CCF13C36D386}"/>
              </a:ext>
            </a:extLst>
          </p:cNvPr>
          <p:cNvSpPr>
            <a:spLocks xmlns:a="http://schemas.openxmlformats.org/drawingml/2006/main" noGrp="1"/>
          </p:cNvSpPr>
          <p:nvPr/>
        </p:nvSpPr>
        <p:spPr>
          <a:xfrm xmlns:a="http://schemas.openxmlformats.org/drawingml/2006/main">
            <a:off x="876300" y="1838325"/>
            <a:ext cx="30099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3600" b="1">
                <a:solidFill>
                  <a:srgbClr val="20B7C5"/>
                </a:solidFill>
                <a:latin typeface="Aptos"/>
                <a:ea typeface="Aptos"/>
                <a:cs typeface="Aptos"/>
              </a:defRPr>
            </a:pPr>
            <a:r>
              <a:rPr sz="3600" b="1">
                <a:solidFill>
                  <a:srgbClr val="20B7C5"/>
                </a:solidFill>
                <a:latin typeface="Aptos"/>
                <a:ea typeface="Aptos"/>
                <a:cs typeface="Aptos"/>
              </a:rPr>
              <a:t>8 / 8</a:t>
            </a:r>
          </a:p>
        </p:txBody>
      </p:sp>
      <p:sp>
        <p:nvSpPr>
          <p:cNvPr id="26" name="s40-label-0">
            <a:extLst xmlns:a="http://schemas.openxmlformats.org/drawingml/2006/main">
              <a:ext uri="{FF2B5EF4-FFF2-40B4-BE49-F238E27FC236}">
                <a16:creationId xmlns:a16="http://schemas.microsoft.com/office/drawing/2014/main" id="{7DECE567-741B-42C3-B10D-52EB96B92820}"/>
              </a:ext>
            </a:extLst>
          </p:cNvPr>
          <p:cNvSpPr>
            <a:spLocks xmlns:a="http://schemas.openxmlformats.org/drawingml/2006/main" noGrp="1"/>
          </p:cNvSpPr>
          <p:nvPr/>
        </p:nvSpPr>
        <p:spPr>
          <a:xfrm xmlns:a="http://schemas.openxmlformats.org/drawingml/2006/main">
            <a:off x="876300" y="2686050"/>
            <a:ext cx="3009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DELIVERED MODELS</a:t>
            </a:r>
          </a:p>
        </p:txBody>
      </p:sp>
      <p:sp>
        <p:nvSpPr>
          <p:cNvPr id="27" name="s40-sub-0">
            <a:extLst xmlns:a="http://schemas.openxmlformats.org/drawingml/2006/main">
              <a:ext uri="{FF2B5EF4-FFF2-40B4-BE49-F238E27FC236}">
                <a16:creationId xmlns:a16="http://schemas.microsoft.com/office/drawing/2014/main" id="{01DB4ADC-2528-44E5-890C-203A59156E0A}"/>
              </a:ext>
            </a:extLst>
          </p:cNvPr>
          <p:cNvSpPr>
            <a:spLocks xmlns:a="http://schemas.openxmlformats.org/drawingml/2006/main" noGrp="1"/>
          </p:cNvSpPr>
          <p:nvPr/>
        </p:nvSpPr>
        <p:spPr>
          <a:xfrm xmlns:a="http://schemas.openxmlformats.org/drawingml/2006/main">
            <a:off x="876300" y="3038475"/>
            <a:ext cx="3009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275" b="1">
                <a:solidFill>
                  <a:srgbClr val="20B7C5"/>
                </a:solidFill>
                <a:latin typeface="Aptos"/>
                <a:ea typeface="Aptos"/>
                <a:cs typeface="Aptos"/>
              </a:defRPr>
            </a:pPr>
            <a:r>
              <a:rPr sz="1275" b="1">
                <a:solidFill>
                  <a:srgbClr val="20B7C5"/>
                </a:solidFill>
                <a:latin typeface="Aptos"/>
                <a:ea typeface="Aptos"/>
                <a:cs typeface="Aptos"/>
              </a:rPr>
              <a:t>updated / compiled</a:t>
            </a:r>
          </a:p>
        </p:txBody>
      </p:sp>
      <p:sp>
        <p:nvSpPr>
          <p:cNvPr id="28" name="s40-def-0">
            <a:extLst xmlns:a="http://schemas.openxmlformats.org/drawingml/2006/main">
              <a:ext uri="{FF2B5EF4-FFF2-40B4-BE49-F238E27FC236}">
                <a16:creationId xmlns:a16="http://schemas.microsoft.com/office/drawing/2014/main" id="{76809E68-C541-4EE3-8C31-8AE1D2DA9CCD}"/>
              </a:ext>
            </a:extLst>
          </p:cNvPr>
          <p:cNvSpPr>
            <a:spLocks xmlns:a="http://schemas.openxmlformats.org/drawingml/2006/main" noGrp="1"/>
          </p:cNvSpPr>
          <p:nvPr/>
        </p:nvSpPr>
        <p:spPr>
          <a:xfrm xmlns:a="http://schemas.openxmlformats.org/drawingml/2006/main">
            <a:off x="914400" y="3457575"/>
            <a:ext cx="29337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defRPr sz="1065" b="1">
                <a:solidFill>
                  <a:srgbClr val="D8E8F1"/>
                </a:solidFill>
                <a:latin typeface="Aptos"/>
                <a:ea typeface="Aptos"/>
                <a:cs typeface="Aptos"/>
              </a:defRPr>
            </a:pPr>
            <a:r>
              <a:rPr sz="1065" b="1">
                <a:solidFill>
                  <a:srgbClr val="D8E8F1"/>
                </a:solidFill>
                <a:latin typeface="Aptos"/>
                <a:ea typeface="Aptos"/>
                <a:cs typeface="Aptos"/>
              </a:rPr>
              <a:t>Simulink diagram update succeeded for all eight model files.</a:t>
            </a:r>
          </a:p>
        </p:txBody>
      </p:sp>
      <p:sp>
        <p:nvSpPr>
          <p:cNvPr id="29" name="s40-card-1">
            <a:extLst xmlns:a="http://schemas.openxmlformats.org/drawingml/2006/main">
              <a:ext uri="{FF2B5EF4-FFF2-40B4-BE49-F238E27FC236}">
                <a16:creationId xmlns:a16="http://schemas.microsoft.com/office/drawing/2014/main" id="{433FF65A-7669-45F8-AE2C-1523B224BB89}"/>
              </a:ext>
            </a:extLst>
          </p:cNvPr>
          <p:cNvSpPr>
            <a:spLocks xmlns:a="http://schemas.openxmlformats.org/drawingml/2006/main" noGrp="1"/>
          </p:cNvSpPr>
          <p:nvPr/>
        </p:nvSpPr>
        <p:spPr>
          <a:xfrm xmlns:a="http://schemas.openxmlformats.org/drawingml/2006/main">
            <a:off x="4305300" y="1571625"/>
            <a:ext cx="3390900" cy="2686050"/>
          </a:xfrm>
          <a:prstGeom xmlns:a="http://schemas.openxmlformats.org/drawingml/2006/main" prst="roundRect">
            <a:avLst>
              <a:gd name="adj" fmla="val 4255"/>
            </a:avLst>
          </a:prstGeom>
          <a:solidFill xmlns:a="http://schemas.openxmlformats.org/drawingml/2006/main">
            <a:srgbClr val="0C2133"/>
          </a:solidFill>
          <a:ln xmlns:a="http://schemas.openxmlformats.org/drawingml/2006/main" w="20003">
            <a:solidFill>
              <a:srgbClr val="2CA56F"/>
            </a:solidFill>
            <a:prstDash val="solid"/>
          </a:ln>
        </p:spPr>
      </p:sp>
      <p:sp>
        <p:nvSpPr>
          <p:cNvPr id="30" name="s40-value-1">
            <a:extLst xmlns:a="http://schemas.openxmlformats.org/drawingml/2006/main">
              <a:ext uri="{FF2B5EF4-FFF2-40B4-BE49-F238E27FC236}">
                <a16:creationId xmlns:a16="http://schemas.microsoft.com/office/drawing/2014/main" id="{B9D6E2BF-93C9-4132-98FD-0728C43AA340}"/>
              </a:ext>
            </a:extLst>
          </p:cNvPr>
          <p:cNvSpPr>
            <a:spLocks xmlns:a="http://schemas.openxmlformats.org/drawingml/2006/main" noGrp="1"/>
          </p:cNvSpPr>
          <p:nvPr/>
        </p:nvSpPr>
        <p:spPr>
          <a:xfrm xmlns:a="http://schemas.openxmlformats.org/drawingml/2006/main">
            <a:off x="4495800" y="1838325"/>
            <a:ext cx="30099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3600" b="1">
                <a:solidFill>
                  <a:srgbClr val="2CA56F"/>
                </a:solidFill>
                <a:latin typeface="Aptos"/>
                <a:ea typeface="Aptos"/>
                <a:cs typeface="Aptos"/>
              </a:defRPr>
            </a:pPr>
            <a:r>
              <a:rPr sz="3600" b="1">
                <a:solidFill>
                  <a:srgbClr val="2CA56F"/>
                </a:solidFill>
                <a:latin typeface="Aptos"/>
                <a:ea typeface="Aptos"/>
                <a:cs typeface="Aptos"/>
              </a:rPr>
              <a:t>19 / 19</a:t>
            </a:r>
          </a:p>
        </p:txBody>
      </p:sp>
      <p:sp>
        <p:nvSpPr>
          <p:cNvPr id="31" name="s40-label-1">
            <a:extLst xmlns:a="http://schemas.openxmlformats.org/drawingml/2006/main">
              <a:ext uri="{FF2B5EF4-FFF2-40B4-BE49-F238E27FC236}">
                <a16:creationId xmlns:a16="http://schemas.microsoft.com/office/drawing/2014/main" id="{10B2F861-5E0B-4361-8680-199C9F4D4C56}"/>
              </a:ext>
            </a:extLst>
          </p:cNvPr>
          <p:cNvSpPr>
            <a:spLocks xmlns:a="http://schemas.openxmlformats.org/drawingml/2006/main" noGrp="1"/>
          </p:cNvSpPr>
          <p:nvPr/>
        </p:nvSpPr>
        <p:spPr>
          <a:xfrm xmlns:a="http://schemas.openxmlformats.org/drawingml/2006/main">
            <a:off x="4495800" y="2686050"/>
            <a:ext cx="3009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LIMITER ASSESSMENTS</a:t>
            </a:r>
          </a:p>
        </p:txBody>
      </p:sp>
      <p:sp>
        <p:nvSpPr>
          <p:cNvPr id="32" name="s40-sub-1">
            <a:extLst xmlns:a="http://schemas.openxmlformats.org/drawingml/2006/main">
              <a:ext uri="{FF2B5EF4-FFF2-40B4-BE49-F238E27FC236}">
                <a16:creationId xmlns:a16="http://schemas.microsoft.com/office/drawing/2014/main" id="{CAAA7CBD-31F8-44A3-A458-49F6007717C6}"/>
              </a:ext>
            </a:extLst>
          </p:cNvPr>
          <p:cNvSpPr>
            <a:spLocks xmlns:a="http://schemas.openxmlformats.org/drawingml/2006/main" noGrp="1"/>
          </p:cNvSpPr>
          <p:nvPr/>
        </p:nvSpPr>
        <p:spPr>
          <a:xfrm xmlns:a="http://schemas.openxmlformats.org/drawingml/2006/main">
            <a:off x="4495800" y="3038475"/>
            <a:ext cx="3009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275" b="1">
                <a:solidFill>
                  <a:srgbClr val="2CA56F"/>
                </a:solidFill>
                <a:latin typeface="Aptos"/>
                <a:ea typeface="Aptos"/>
                <a:cs typeface="Aptos"/>
              </a:defRPr>
            </a:pPr>
            <a:r>
              <a:rPr sz="1275" b="1">
                <a:solidFill>
                  <a:srgbClr val="2CA56F"/>
                </a:solidFill>
                <a:latin typeface="Aptos"/>
                <a:ea typeface="Aptos"/>
                <a:cs typeface="Aptos"/>
              </a:rPr>
              <a:t>passed • 0 failed</a:t>
            </a:r>
          </a:p>
        </p:txBody>
      </p:sp>
      <p:sp>
        <p:nvSpPr>
          <p:cNvPr id="33" name="s40-def-1">
            <a:extLst xmlns:a="http://schemas.openxmlformats.org/drawingml/2006/main">
              <a:ext uri="{FF2B5EF4-FFF2-40B4-BE49-F238E27FC236}">
                <a16:creationId xmlns:a16="http://schemas.microsoft.com/office/drawing/2014/main" id="{A94DF4CA-72F1-4868-B7BC-E32946C952D3}"/>
              </a:ext>
            </a:extLst>
          </p:cNvPr>
          <p:cNvSpPr>
            <a:spLocks xmlns:a="http://schemas.openxmlformats.org/drawingml/2006/main" noGrp="1"/>
          </p:cNvSpPr>
          <p:nvPr/>
        </p:nvSpPr>
        <p:spPr>
          <a:xfrm xmlns:a="http://schemas.openxmlformats.org/drawingml/2006/main">
            <a:off x="4533900" y="3457575"/>
            <a:ext cx="29337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defRPr sz="1065" b="1">
                <a:solidFill>
                  <a:srgbClr val="D8E8F1"/>
                </a:solidFill>
                <a:latin typeface="Aptos"/>
                <a:ea typeface="Aptos"/>
                <a:cs typeface="Aptos"/>
              </a:defRPr>
            </a:pPr>
            <a:r>
              <a:rPr sz="1065" b="1">
                <a:solidFill>
                  <a:srgbClr val="D8E8F1"/>
                </a:solidFill>
                <a:latin typeface="Aptos"/>
                <a:ea typeface="Aptos"/>
                <a:cs typeface="Aptos"/>
              </a:rPr>
              <a:t>Executable MATLAB assessments using the standalone Simulink harness.</a:t>
            </a:r>
          </a:p>
        </p:txBody>
      </p:sp>
      <p:sp>
        <p:nvSpPr>
          <p:cNvPr id="34" name="s40-card-2">
            <a:extLst xmlns:a="http://schemas.openxmlformats.org/drawingml/2006/main">
              <a:ext uri="{FF2B5EF4-FFF2-40B4-BE49-F238E27FC236}">
                <a16:creationId xmlns:a16="http://schemas.microsoft.com/office/drawing/2014/main" id="{44CC8DD0-D466-4424-BBA8-57405233B6C2}"/>
              </a:ext>
            </a:extLst>
          </p:cNvPr>
          <p:cNvSpPr>
            <a:spLocks xmlns:a="http://schemas.openxmlformats.org/drawingml/2006/main" noGrp="1"/>
          </p:cNvSpPr>
          <p:nvPr/>
        </p:nvSpPr>
        <p:spPr>
          <a:xfrm xmlns:a="http://schemas.openxmlformats.org/drawingml/2006/main">
            <a:off x="7924800" y="1571625"/>
            <a:ext cx="3390900" cy="2686050"/>
          </a:xfrm>
          <a:prstGeom xmlns:a="http://schemas.openxmlformats.org/drawingml/2006/main" prst="roundRect">
            <a:avLst>
              <a:gd name="adj" fmla="val 4255"/>
            </a:avLst>
          </a:prstGeom>
          <a:solidFill xmlns:a="http://schemas.openxmlformats.org/drawingml/2006/main">
            <a:srgbClr val="0C2133"/>
          </a:solidFill>
          <a:ln xmlns:a="http://schemas.openxmlformats.org/drawingml/2006/main" w="20003">
            <a:solidFill>
              <a:srgbClr val="2D6CDF"/>
            </a:solidFill>
            <a:prstDash val="solid"/>
          </a:ln>
        </p:spPr>
      </p:sp>
      <p:sp>
        <p:nvSpPr>
          <p:cNvPr id="35" name="s40-value-2">
            <a:extLst xmlns:a="http://schemas.openxmlformats.org/drawingml/2006/main">
              <a:ext uri="{FF2B5EF4-FFF2-40B4-BE49-F238E27FC236}">
                <a16:creationId xmlns:a16="http://schemas.microsoft.com/office/drawing/2014/main" id="{7EF28DDF-B039-4E49-A385-B39E58211AC5}"/>
              </a:ext>
            </a:extLst>
          </p:cNvPr>
          <p:cNvSpPr>
            <a:spLocks xmlns:a="http://schemas.openxmlformats.org/drawingml/2006/main" noGrp="1"/>
          </p:cNvSpPr>
          <p:nvPr/>
        </p:nvSpPr>
        <p:spPr>
          <a:xfrm xmlns:a="http://schemas.openxmlformats.org/drawingml/2006/main">
            <a:off x="8115300" y="1838325"/>
            <a:ext cx="30099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3600" b="1">
                <a:solidFill>
                  <a:srgbClr val="2D6CDF"/>
                </a:solidFill>
                <a:latin typeface="Aptos"/>
                <a:ea typeface="Aptos"/>
                <a:cs typeface="Aptos"/>
              </a:defRPr>
            </a:pPr>
            <a:r>
              <a:rPr sz="3600" b="1">
                <a:solidFill>
                  <a:srgbClr val="2D6CDF"/>
                </a:solidFill>
                <a:latin typeface="Aptos"/>
                <a:ea typeface="Aptos"/>
                <a:cs typeface="Aptos"/>
              </a:rPr>
              <a:t>24 / 24</a:t>
            </a:r>
          </a:p>
        </p:txBody>
      </p:sp>
      <p:sp>
        <p:nvSpPr>
          <p:cNvPr id="36" name="s40-label-2">
            <a:extLst xmlns:a="http://schemas.openxmlformats.org/drawingml/2006/main">
              <a:ext uri="{FF2B5EF4-FFF2-40B4-BE49-F238E27FC236}">
                <a16:creationId xmlns:a16="http://schemas.microsoft.com/office/drawing/2014/main" id="{340AC186-3410-4588-9E30-96A4B46E5EED}"/>
              </a:ext>
            </a:extLst>
          </p:cNvPr>
          <p:cNvSpPr>
            <a:spLocks xmlns:a="http://schemas.openxmlformats.org/drawingml/2006/main" noGrp="1"/>
          </p:cNvSpPr>
          <p:nvPr/>
        </p:nvSpPr>
        <p:spPr>
          <a:xfrm xmlns:a="http://schemas.openxmlformats.org/drawingml/2006/main">
            <a:off x="8115300" y="2686050"/>
            <a:ext cx="3009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REQUIRED EXPORTS</a:t>
            </a:r>
          </a:p>
        </p:txBody>
      </p:sp>
      <p:sp>
        <p:nvSpPr>
          <p:cNvPr id="37" name="s40-sub-2">
            <a:extLst xmlns:a="http://schemas.openxmlformats.org/drawingml/2006/main">
              <a:ext uri="{FF2B5EF4-FFF2-40B4-BE49-F238E27FC236}">
                <a16:creationId xmlns:a16="http://schemas.microsoft.com/office/drawing/2014/main" id="{A32C6442-B730-4B22-A769-51181A981F8B}"/>
              </a:ext>
            </a:extLst>
          </p:cNvPr>
          <p:cNvSpPr>
            <a:spLocks xmlns:a="http://schemas.openxmlformats.org/drawingml/2006/main" noGrp="1"/>
          </p:cNvSpPr>
          <p:nvPr/>
        </p:nvSpPr>
        <p:spPr>
          <a:xfrm xmlns:a="http://schemas.openxmlformats.org/drawingml/2006/main">
            <a:off x="8115300" y="3038475"/>
            <a:ext cx="3009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275" b="1">
                <a:solidFill>
                  <a:srgbClr val="2D6CDF"/>
                </a:solidFill>
                <a:latin typeface="Aptos"/>
                <a:ea typeface="Aptos"/>
                <a:cs typeface="Aptos"/>
              </a:defRPr>
            </a:pPr>
            <a:r>
              <a:rPr sz="1275" b="1">
                <a:solidFill>
                  <a:srgbClr val="2D6CDF"/>
                </a:solidFill>
                <a:latin typeface="Aptos"/>
                <a:ea typeface="Aptos"/>
                <a:cs typeface="Aptos"/>
              </a:rPr>
              <a:t>present</a:t>
            </a:r>
          </a:p>
        </p:txBody>
      </p:sp>
      <p:sp>
        <p:nvSpPr>
          <p:cNvPr id="38" name="s40-def-2">
            <a:extLst xmlns:a="http://schemas.openxmlformats.org/drawingml/2006/main">
              <a:ext uri="{FF2B5EF4-FFF2-40B4-BE49-F238E27FC236}">
                <a16:creationId xmlns:a16="http://schemas.microsoft.com/office/drawing/2014/main" id="{6C59E417-5366-4CA6-AEC6-0FCF68F1A03E}"/>
              </a:ext>
            </a:extLst>
          </p:cNvPr>
          <p:cNvSpPr>
            <a:spLocks xmlns:a="http://schemas.openxmlformats.org/drawingml/2006/main" noGrp="1"/>
          </p:cNvSpPr>
          <p:nvPr/>
        </p:nvSpPr>
        <p:spPr>
          <a:xfrm xmlns:a="http://schemas.openxmlformats.org/drawingml/2006/main">
            <a:off x="8153400" y="3457575"/>
            <a:ext cx="29337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defRPr sz="1065" b="1">
                <a:solidFill>
                  <a:srgbClr val="D8E8F1"/>
                </a:solidFill>
                <a:latin typeface="Aptos"/>
                <a:ea typeface="Aptos"/>
                <a:cs typeface="Aptos"/>
              </a:defRPr>
            </a:pPr>
            <a:r>
              <a:rPr sz="1065" b="1">
                <a:solidFill>
                  <a:srgbClr val="D8E8F1"/>
                </a:solidFill>
                <a:latin typeface="Aptos"/>
                <a:ea typeface="Aptos"/>
                <a:cs typeface="Aptos"/>
              </a:rPr>
              <a:t>1 HTML report • 21 visual exports • 2 SDI .mldatx artifacts.</a:t>
            </a:r>
          </a:p>
        </p:txBody>
      </p:sp>
      <p:sp>
        <p:nvSpPr>
          <p:cNvPr id="39" name="s40-models">
            <a:extLst xmlns:a="http://schemas.openxmlformats.org/drawingml/2006/main">
              <a:ext uri="{FF2B5EF4-FFF2-40B4-BE49-F238E27FC236}">
                <a16:creationId xmlns:a16="http://schemas.microsoft.com/office/drawing/2014/main" id="{3C153B29-AED7-46D2-8067-04CBB1F6F9EF}"/>
              </a:ext>
            </a:extLst>
          </p:cNvPr>
          <p:cNvSpPr>
            <a:spLocks xmlns:a="http://schemas.openxmlformats.org/drawingml/2006/main" noGrp="1"/>
          </p:cNvSpPr>
          <p:nvPr/>
        </p:nvSpPr>
        <p:spPr>
          <a:xfrm xmlns:a="http://schemas.openxmlformats.org/drawingml/2006/main">
            <a:off x="685800" y="4533900"/>
            <a:ext cx="10820400" cy="990600"/>
          </a:xfrm>
          <a:prstGeom xmlns:a="http://schemas.openxmlformats.org/drawingml/2006/main" prst="roundRect">
            <a:avLst>
              <a:gd name="adj" fmla="val 11538"/>
            </a:avLst>
          </a:prstGeom>
          <a:solidFill xmlns:a="http://schemas.openxmlformats.org/drawingml/2006/main">
            <a:srgbClr val="0C2133"/>
          </a:solidFill>
          <a:ln xmlns:a="http://schemas.openxmlformats.org/drawingml/2006/main" w="12383">
            <a:solidFill>
              <a:srgbClr val="21465E"/>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163" b="1">
                <a:solidFill>
                  <a:srgbClr val="FFFFFF"/>
                </a:solidFill>
                <a:latin typeface="Aptos"/>
                <a:ea typeface="Aptos"/>
                <a:cs typeface="Aptos"/>
              </a:defRPr>
            </a:pPr>
            <a:r>
              <a:rPr sz="1163" b="1">
                <a:solidFill>
                  <a:srgbClr val="FFFFFF"/>
                </a:solidFill>
                <a:latin typeface="Aptos"/>
                <a:ea typeface="Aptos"/>
                <a:cs typeface="Aptos"/>
              </a:rPr>
              <a:t>MODEL SET</a:t>
            </a:r>
          </a:p>
          <a:p xmlns:a="http://schemas.openxmlformats.org/drawingml/2006/main">
            <a:pPr algn="ctr">
              <a:defRPr sz="1163" b="1">
                <a:solidFill>
                  <a:srgbClr val="FFFFFF"/>
                </a:solidFill>
                <a:latin typeface="Aptos"/>
                <a:ea typeface="Aptos"/>
                <a:cs typeface="Aptos"/>
              </a:defRPr>
            </a:pPr>
            <a:r>
              <a:rPr sz="1163" b="1">
                <a:solidFill>
                  <a:srgbClr val="FFFFFF"/>
                </a:solidFill>
                <a:latin typeface="Aptos"/>
                <a:ea typeface="Aptos"/>
                <a:cs typeface="Aptos"/>
              </a:rPr>
              <a:t>AircraftFeedbackControlLoop • AutopilotModeLogic • ReferencedFlightControlArchitecture • SensorProcessingRef</a:t>
            </a:r>
          </a:p>
          <a:p xmlns:a="http://schemas.openxmlformats.org/drawingml/2006/main">
            <a:pPr algn="ctr">
              <a:defRPr sz="1163" b="1">
                <a:solidFill>
                  <a:srgbClr val="FFFFFF"/>
                </a:solidFill>
                <a:latin typeface="Aptos"/>
                <a:ea typeface="Aptos"/>
                <a:cs typeface="Aptos"/>
              </a:defRPr>
            </a:pPr>
            <a:r>
              <a:rPr sz="1163" b="1">
                <a:solidFill>
                  <a:srgbClr val="FFFFFF"/>
                </a:solidFill>
                <a:latin typeface="Aptos"/>
                <a:ea typeface="Aptos"/>
                <a:cs typeface="Aptos"/>
              </a:rPr>
              <a:t>PitchRateLimiter • PitchControllerRef • ActuatorCommandRef • PitchRateLimiter_Harness</a:t>
            </a:r>
          </a:p>
        </p:txBody>
      </p:sp>
      <p:sp>
        <p:nvSpPr>
          <p:cNvPr id="40" name="s40-warning">
            <a:extLst xmlns:a="http://schemas.openxmlformats.org/drawingml/2006/main">
              <a:ext uri="{FF2B5EF4-FFF2-40B4-BE49-F238E27FC236}">
                <a16:creationId xmlns:a16="http://schemas.microsoft.com/office/drawing/2014/main" id="{D11B5ADA-2133-4525-9653-E5650079D38D}"/>
              </a:ext>
            </a:extLst>
          </p:cNvPr>
          <p:cNvSpPr>
            <a:spLocks xmlns:a="http://schemas.openxmlformats.org/drawingml/2006/main" noGrp="1"/>
          </p:cNvSpPr>
          <p:nvPr/>
        </p:nvSpPr>
        <p:spPr>
          <a:xfrm xmlns:a="http://schemas.openxmlformats.org/drawingml/2006/main">
            <a:off x="685800" y="5705475"/>
            <a:ext cx="10820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200" b="1">
                <a:solidFill>
                  <a:srgbClr val="70DCE5"/>
                </a:solidFill>
                <a:latin typeface="Aptos"/>
                <a:ea typeface="Aptos"/>
                <a:cs typeface="Aptos"/>
              </a:defRPr>
            </a:pPr>
            <a:r>
              <a:rPr sz="1200" b="1">
                <a:solidFill>
                  <a:srgbClr val="70DCE5"/>
                </a:solidFill>
                <a:latin typeface="Aptos"/>
                <a:ea typeface="Aptos"/>
                <a:cs typeface="Aptos"/>
              </a:rPr>
              <a:t>“Updated” means validation compile/update succeeded; it does not mean eight files were edited.</a:t>
            </a:r>
          </a:p>
        </p:txBody>
      </p:sp>
    </p:spTree>
    <p:extLst>
      <p:ext uri="{BB962C8B-B14F-4D97-AF65-F5344CB8AC3E}">
        <p14:creationId xmlns:p14="http://schemas.microsoft.com/office/powerpoint/2010/main" val="807636582"/>
      </p:ext>
    </p:extLst>
  </p:cSld>
</p:sld>
</file>

<file path=ppt/slides/slide41.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463">
            <a:extLst xmlns:a="http://schemas.openxmlformats.org/drawingml/2006/main">
              <a:ext uri="{FF2B5EF4-FFF2-40B4-BE49-F238E27FC236}">
                <a16:creationId xmlns:a16="http://schemas.microsoft.com/office/drawing/2014/main" id="{5F722B4A-15D0-4BC0-8B00-39427679F741}"/>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07 • AUTOMATION &amp; ENVIRONMENTS</a:t>
            </a:r>
          </a:p>
        </p:txBody>
      </p:sp>
      <p:sp>
        <p:nvSpPr>
          <p:cNvPr id="2" name="title-463">
            <a:extLst xmlns:a="http://schemas.openxmlformats.org/drawingml/2006/main">
              <a:ext uri="{FF2B5EF4-FFF2-40B4-BE49-F238E27FC236}">
                <a16:creationId xmlns:a16="http://schemas.microsoft.com/office/drawing/2014/main" id="{2117EA39-A93D-49FB-A2DD-08F17C8258B5}"/>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850" b="1" i="0">
                <a:solidFill>
                  <a:srgbClr val="0B1F33"/>
                </a:solidFill>
                <a:latin typeface="Aptos"/>
                <a:ea typeface="Aptos"/>
                <a:cs typeface="Aptos"/>
              </a:defRPr>
            </a:pPr>
            <a:r>
              <a:rPr sz="2850" b="1" i="0">
                <a:solidFill>
                  <a:srgbClr val="0B1F33"/>
                </a:solidFill>
                <a:latin typeface="Aptos"/>
                <a:ea typeface="Aptos"/>
                <a:cs typeface="Aptos"/>
              </a:rPr>
              <a:t>Demonstrated evidence is narrower than certification evidence</a:t>
            </a:r>
          </a:p>
        </p:txBody>
      </p:sp>
      <p:sp>
        <p:nvSpPr>
          <p:cNvPr id="3" name="line-464">
            <a:extLst xmlns:a="http://schemas.openxmlformats.org/drawingml/2006/main">
              <a:ext uri="{FF2B5EF4-FFF2-40B4-BE49-F238E27FC236}">
                <a16:creationId xmlns:a16="http://schemas.microsoft.com/office/drawing/2014/main" id="{DB12B06D-3F8A-40D7-A5C9-3E7DD8D5F5CF}"/>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65">
            <a:extLst xmlns:a="http://schemas.openxmlformats.org/drawingml/2006/main">
              <a:ext uri="{FF2B5EF4-FFF2-40B4-BE49-F238E27FC236}">
                <a16:creationId xmlns:a16="http://schemas.microsoft.com/office/drawing/2014/main" id="{C71FF6B9-5DFE-4109-8A3E-B4201F0FF899}"/>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66">
            <a:extLst xmlns:a="http://schemas.openxmlformats.org/drawingml/2006/main">
              <a:ext uri="{FF2B5EF4-FFF2-40B4-BE49-F238E27FC236}">
                <a16:creationId xmlns:a16="http://schemas.microsoft.com/office/drawing/2014/main" id="{9F5B685D-4E7A-4FC1-A775-31D465F6A5E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41</a:t>
            </a:r>
          </a:p>
        </p:txBody>
      </p:sp>
      <p:sp>
        <p:nvSpPr>
          <p:cNvPr id="31" name="s41-does">
            <a:extLst xmlns:a="http://schemas.openxmlformats.org/drawingml/2006/main">
              <a:ext uri="{FF2B5EF4-FFF2-40B4-BE49-F238E27FC236}">
                <a16:creationId xmlns:a16="http://schemas.microsoft.com/office/drawing/2014/main" id="{F5F9EF5D-5D03-496F-8C1B-A1C3340EEC8F}"/>
              </a:ext>
            </a:extLst>
          </p:cNvPr>
          <p:cNvSpPr>
            <a:spLocks xmlns:a="http://schemas.openxmlformats.org/drawingml/2006/main" noGrp="1"/>
          </p:cNvSpPr>
          <p:nvPr/>
        </p:nvSpPr>
        <p:spPr>
          <a:xfrm xmlns:a="http://schemas.openxmlformats.org/drawingml/2006/main">
            <a:off x="685800" y="1476375"/>
            <a:ext cx="5162550" cy="4010025"/>
          </a:xfrm>
          <a:prstGeom xmlns:a="http://schemas.openxmlformats.org/drawingml/2006/main" prst="roundRect">
            <a:avLst>
              <a:gd name="adj" fmla="val 2850"/>
            </a:avLst>
          </a:prstGeom>
          <a:solidFill xmlns:a="http://schemas.openxmlformats.org/drawingml/2006/main">
            <a:srgbClr val="E2F4EA"/>
          </a:solidFill>
          <a:ln xmlns:a="http://schemas.openxmlformats.org/drawingml/2006/main" w="17145">
            <a:solidFill>
              <a:srgbClr val="2CA56F"/>
            </a:solidFill>
            <a:prstDash val="solid"/>
          </a:ln>
        </p:spPr>
      </p:sp>
      <p:sp>
        <p:nvSpPr>
          <p:cNvPr id="32" name="s41-does-not">
            <a:extLst xmlns:a="http://schemas.openxmlformats.org/drawingml/2006/main">
              <a:ext uri="{FF2B5EF4-FFF2-40B4-BE49-F238E27FC236}">
                <a16:creationId xmlns:a16="http://schemas.microsoft.com/office/drawing/2014/main" id="{378E76A9-265E-40F2-8C27-61D0A5A83A79}"/>
              </a:ext>
            </a:extLst>
          </p:cNvPr>
          <p:cNvSpPr>
            <a:spLocks xmlns:a="http://schemas.openxmlformats.org/drawingml/2006/main" noGrp="1"/>
          </p:cNvSpPr>
          <p:nvPr/>
        </p:nvSpPr>
        <p:spPr>
          <a:xfrm xmlns:a="http://schemas.openxmlformats.org/drawingml/2006/main">
            <a:off x="6343650" y="1476375"/>
            <a:ext cx="5162550" cy="4010025"/>
          </a:xfrm>
          <a:prstGeom xmlns:a="http://schemas.openxmlformats.org/drawingml/2006/main" prst="roundRect">
            <a:avLst>
              <a:gd name="adj" fmla="val 2850"/>
            </a:avLst>
          </a:prstGeom>
          <a:solidFill xmlns:a="http://schemas.openxmlformats.org/drawingml/2006/main">
            <a:srgbClr val="FBE7E9"/>
          </a:solidFill>
          <a:ln xmlns:a="http://schemas.openxmlformats.org/drawingml/2006/main" w="17145">
            <a:solidFill>
              <a:srgbClr val="D75A64"/>
            </a:solidFill>
            <a:prstDash val="solid"/>
          </a:ln>
        </p:spPr>
      </p:sp>
      <p:sp>
        <p:nvSpPr>
          <p:cNvPr id="33" name="s41-does-title">
            <a:extLst xmlns:a="http://schemas.openxmlformats.org/drawingml/2006/main">
              <a:ext uri="{FF2B5EF4-FFF2-40B4-BE49-F238E27FC236}">
                <a16:creationId xmlns:a16="http://schemas.microsoft.com/office/drawing/2014/main" id="{C6BF4BB0-8986-4F7B-86A9-91DF17A0D1F9}"/>
              </a:ext>
            </a:extLst>
          </p:cNvPr>
          <p:cNvSpPr>
            <a:spLocks xmlns:a="http://schemas.openxmlformats.org/drawingml/2006/main" noGrp="1"/>
          </p:cNvSpPr>
          <p:nvPr/>
        </p:nvSpPr>
        <p:spPr>
          <a:xfrm xmlns:a="http://schemas.openxmlformats.org/drawingml/2006/main">
            <a:off x="914400" y="1657350"/>
            <a:ext cx="4705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350" b="1">
                <a:solidFill>
                  <a:srgbClr val="2CA56F"/>
                </a:solidFill>
                <a:latin typeface="Aptos"/>
                <a:ea typeface="Aptos"/>
                <a:cs typeface="Aptos"/>
              </a:defRPr>
            </a:pPr>
            <a:r>
              <a:rPr sz="1350" b="1">
                <a:solidFill>
                  <a:srgbClr val="2CA56F"/>
                </a:solidFill>
                <a:latin typeface="Aptos"/>
                <a:ea typeface="Aptos"/>
                <a:cs typeface="Aptos"/>
              </a:rPr>
              <a:t>THIS PACKAGE DEMONSTRATES</a:t>
            </a:r>
          </a:p>
        </p:txBody>
      </p:sp>
      <p:sp>
        <p:nvSpPr>
          <p:cNvPr id="34" name="s41-does-body">
            <a:extLst xmlns:a="http://schemas.openxmlformats.org/drawingml/2006/main">
              <a:ext uri="{FF2B5EF4-FFF2-40B4-BE49-F238E27FC236}">
                <a16:creationId xmlns:a16="http://schemas.microsoft.com/office/drawing/2014/main" id="{3EE6A7F1-2B95-409F-B226-EC1C40BC7DF5}"/>
              </a:ext>
            </a:extLst>
          </p:cNvPr>
          <p:cNvSpPr>
            <a:spLocks xmlns:a="http://schemas.openxmlformats.org/drawingml/2006/main" noGrp="1"/>
          </p:cNvSpPr>
          <p:nvPr/>
        </p:nvSpPr>
        <p:spPr>
          <a:xfrm xmlns:a="http://schemas.openxmlformats.org/drawingml/2006/main">
            <a:off x="971550" y="2076450"/>
            <a:ext cx="4591050" cy="3133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t">
            <a:noAutofit/>
          </a:bodyPr>
          <a:lstStyle xmlns:a="http://schemas.openxmlformats.org/drawingml/2006/main"/>
          <a:p xmlns:a="http://schemas.openxmlformats.org/drawingml/2006/main">
            <a:pPr algn="l">
              <a:defRPr sz="1350" b="1">
                <a:solidFill>
                  <a:srgbClr val="0B1F33"/>
                </a:solidFill>
                <a:latin typeface="Aptos"/>
                <a:ea typeface="Aptos"/>
                <a:cs typeface="Aptos"/>
              </a:defRPr>
            </a:pPr>
            <a:r>
              <a:rPr sz="1350" b="1">
                <a:solidFill>
                  <a:srgbClr val="0B1F33"/>
                </a:solidFill>
                <a:latin typeface="Aptos"/>
                <a:ea typeface="Aptos"/>
                <a:cs typeface="Aptos"/>
              </a:rPr>
              <a:t>✓ Current saved models update / compile</a:t>
            </a:r>
          </a:p>
          <a:p xmlns:a="http://schemas.openxmlformats.org/drawingml/2006/main">
            <a:pPr algn="l">
              <a:defRPr sz="1350" b="1">
                <a:solidFill>
                  <a:srgbClr val="0B1F33"/>
                </a:solidFill>
                <a:latin typeface="Aptos"/>
                <a:ea typeface="Aptos"/>
                <a:cs typeface="Aptos"/>
              </a:defRPr>
            </a:pPr>
            <a:r>
              <a:rPr sz="1350" b="1">
                <a:solidFill>
                  <a:srgbClr val="0B1F33"/>
                </a:solidFill>
                <a:latin typeface="Aptos"/>
                <a:ea typeface="Aptos"/>
                <a:cs typeface="Aptos"/>
              </a:rPr>
              <a:t>✓ Standalone desktop MIL behavior</a:t>
            </a:r>
          </a:p>
          <a:p xmlns:a="http://schemas.openxmlformats.org/drawingml/2006/main">
            <a:pPr algn="l">
              <a:defRPr sz="1350" b="1">
                <a:solidFill>
                  <a:srgbClr val="0B1F33"/>
                </a:solidFill>
                <a:latin typeface="Aptos"/>
                <a:ea typeface="Aptos"/>
                <a:cs typeface="Aptos"/>
              </a:defRPr>
            </a:pPr>
            <a:r>
              <a:rPr sz="1350" b="1">
                <a:solidFill>
                  <a:srgbClr val="0B1F33"/>
                </a:solidFill>
                <a:latin typeface="Aptos"/>
                <a:ea typeface="Aptos"/>
                <a:cs typeface="Aptos"/>
              </a:rPr>
              <a:t>✓ Model-reference integration structure</a:t>
            </a:r>
          </a:p>
          <a:p xmlns:a="http://schemas.openxmlformats.org/drawingml/2006/main">
            <a:pPr algn="l">
              <a:defRPr sz="1350" b="1">
                <a:solidFill>
                  <a:srgbClr val="0B1F33"/>
                </a:solidFill>
                <a:latin typeface="Aptos"/>
                <a:ea typeface="Aptos"/>
                <a:cs typeface="Aptos"/>
              </a:defRPr>
            </a:pPr>
            <a:r>
              <a:rPr sz="1350" b="1">
                <a:solidFill>
                  <a:srgbClr val="0B1F33"/>
                </a:solidFill>
                <a:latin typeface="Aptos"/>
                <a:ea typeface="Aptos"/>
                <a:cs typeface="Aptos"/>
              </a:rPr>
              <a:t>✓ MATLAB-driven limiter harness assessments</a:t>
            </a:r>
          </a:p>
          <a:p xmlns:a="http://schemas.openxmlformats.org/drawingml/2006/main">
            <a:pPr algn="l">
              <a:defRPr sz="1350" b="1">
                <a:solidFill>
                  <a:srgbClr val="0B1F33"/>
                </a:solidFill>
                <a:latin typeface="Aptos"/>
                <a:ea typeface="Aptos"/>
                <a:cs typeface="Aptos"/>
              </a:defRPr>
            </a:pPr>
            <a:r>
              <a:rPr sz="1350" b="1">
                <a:solidFill>
                  <a:srgbClr val="0B1F33"/>
                </a:solidFill>
                <a:latin typeface="Aptos"/>
                <a:ea typeface="Aptos"/>
                <a:cs typeface="Aptos"/>
              </a:rPr>
              <a:t>✓ CSV + script + path + result associations</a:t>
            </a:r>
          </a:p>
          <a:p xmlns:a="http://schemas.openxmlformats.org/drawingml/2006/main">
            <a:pPr algn="l">
              <a:defRPr sz="1350" b="1">
                <a:solidFill>
                  <a:srgbClr val="0B1F33"/>
                </a:solidFill>
                <a:latin typeface="Aptos"/>
                <a:ea typeface="Aptos"/>
                <a:cs typeface="Aptos"/>
              </a:defRPr>
            </a:pPr>
            <a:r>
              <a:rPr sz="1350" b="1">
                <a:solidFill>
                  <a:srgbClr val="0B1F33"/>
                </a:solidFill>
                <a:latin typeface="Aptos"/>
                <a:ea typeface="Aptos"/>
                <a:cs typeface="Aptos"/>
              </a:rPr>
              <a:t>✓ One saved SDI run, view, and session</a:t>
            </a:r>
          </a:p>
          <a:p xmlns:a="http://schemas.openxmlformats.org/drawingml/2006/main">
            <a:pPr algn="l">
              <a:defRPr sz="1350" b="1">
                <a:solidFill>
                  <a:srgbClr val="0B1F33"/>
                </a:solidFill>
                <a:latin typeface="Aptos"/>
                <a:ea typeface="Aptos"/>
                <a:cs typeface="Aptos"/>
              </a:defRPr>
            </a:pPr>
            <a:r>
              <a:rPr sz="1350" b="1">
                <a:solidFill>
                  <a:srgbClr val="0B1F33"/>
                </a:solidFill>
                <a:latin typeface="Aptos"/>
                <a:ea typeface="Aptos"/>
                <a:cs typeface="Aptos"/>
              </a:rPr>
              <a:t>✓ Retained CSV, MAT, HTML, PNG, and visual exports</a:t>
            </a:r>
          </a:p>
        </p:txBody>
      </p:sp>
      <p:sp>
        <p:nvSpPr>
          <p:cNvPr id="35" name="s41-does-not-title">
            <a:extLst xmlns:a="http://schemas.openxmlformats.org/drawingml/2006/main">
              <a:ext uri="{FF2B5EF4-FFF2-40B4-BE49-F238E27FC236}">
                <a16:creationId xmlns:a16="http://schemas.microsoft.com/office/drawing/2014/main" id="{DBA765CC-E539-4411-A6B9-8382F9C3EF05}"/>
              </a:ext>
            </a:extLst>
          </p:cNvPr>
          <p:cNvSpPr>
            <a:spLocks xmlns:a="http://schemas.openxmlformats.org/drawingml/2006/main" noGrp="1"/>
          </p:cNvSpPr>
          <p:nvPr/>
        </p:nvSpPr>
        <p:spPr>
          <a:xfrm xmlns:a="http://schemas.openxmlformats.org/drawingml/2006/main">
            <a:off x="6572250" y="1657350"/>
            <a:ext cx="4705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350" b="1">
                <a:solidFill>
                  <a:srgbClr val="D75A64"/>
                </a:solidFill>
                <a:latin typeface="Aptos"/>
                <a:ea typeface="Aptos"/>
                <a:cs typeface="Aptos"/>
              </a:defRPr>
            </a:pPr>
            <a:r>
              <a:rPr sz="1350" b="1">
                <a:solidFill>
                  <a:srgbClr val="D75A64"/>
                </a:solidFill>
                <a:latin typeface="Aptos"/>
                <a:ea typeface="Aptos"/>
                <a:cs typeface="Aptos"/>
              </a:rPr>
              <a:t>THIS PACKAGE DOES NOT CLAIM</a:t>
            </a:r>
          </a:p>
        </p:txBody>
      </p:sp>
      <p:sp>
        <p:nvSpPr>
          <p:cNvPr id="36" name="s41-does-not-body">
            <a:extLst xmlns:a="http://schemas.openxmlformats.org/drawingml/2006/main">
              <a:ext uri="{FF2B5EF4-FFF2-40B4-BE49-F238E27FC236}">
                <a16:creationId xmlns:a16="http://schemas.microsoft.com/office/drawing/2014/main" id="{73B9E9D7-AB6D-4188-B99C-6DA43D289248}"/>
              </a:ext>
            </a:extLst>
          </p:cNvPr>
          <p:cNvSpPr>
            <a:spLocks xmlns:a="http://schemas.openxmlformats.org/drawingml/2006/main" noGrp="1"/>
          </p:cNvSpPr>
          <p:nvPr/>
        </p:nvSpPr>
        <p:spPr>
          <a:xfrm xmlns:a="http://schemas.openxmlformats.org/drawingml/2006/main">
            <a:off x="6629400" y="2076450"/>
            <a:ext cx="4591050" cy="3133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t">
            <a:noAutofit/>
          </a:bodyPr>
          <a:lstStyle xmlns:a="http://schemas.openxmlformats.org/drawingml/2006/main"/>
          <a:p xmlns:a="http://schemas.openxmlformats.org/drawingml/2006/main">
            <a:pPr algn="l">
              <a:defRPr sz="1350" b="1">
                <a:solidFill>
                  <a:srgbClr val="0B1F33"/>
                </a:solidFill>
                <a:latin typeface="Aptos"/>
                <a:ea typeface="Aptos"/>
                <a:cs typeface="Aptos"/>
              </a:defRPr>
            </a:pPr>
            <a:r>
              <a:rPr sz="1350" b="1">
                <a:solidFill>
                  <a:srgbClr val="0B1F33"/>
                </a:solidFill>
                <a:latin typeface="Aptos"/>
                <a:ea typeface="Aptos"/>
                <a:cs typeface="Aptos"/>
              </a:rPr>
              <a:t>× Production aircraft data or approved baseline</a:t>
            </a:r>
          </a:p>
          <a:p xmlns:a="http://schemas.openxmlformats.org/drawingml/2006/main">
            <a:pPr algn="l">
              <a:defRPr sz="1350" b="1">
                <a:solidFill>
                  <a:srgbClr val="0B1F33"/>
                </a:solidFill>
                <a:latin typeface="Aptos"/>
                <a:ea typeface="Aptos"/>
                <a:cs typeface="Aptos"/>
              </a:defRPr>
            </a:pPr>
            <a:r>
              <a:rPr sz="1350" b="1">
                <a:solidFill>
                  <a:srgbClr val="0B1F33"/>
                </a:solidFill>
                <a:latin typeface="Aptos"/>
                <a:ea typeface="Aptos"/>
                <a:cs typeface="Aptos"/>
              </a:rPr>
              <a:t>× Live Simulink Requirements links</a:t>
            </a:r>
          </a:p>
          <a:p xmlns:a="http://schemas.openxmlformats.org/drawingml/2006/main">
            <a:pPr algn="l">
              <a:defRPr sz="1350" b="1">
                <a:solidFill>
                  <a:srgbClr val="0B1F33"/>
                </a:solidFill>
                <a:latin typeface="Aptos"/>
                <a:ea typeface="Aptos"/>
                <a:cs typeface="Aptos"/>
              </a:defRPr>
            </a:pPr>
            <a:r>
              <a:rPr sz="1350" b="1">
                <a:solidFill>
                  <a:srgbClr val="0B1F33"/>
                </a:solidFill>
                <a:latin typeface="Aptos"/>
                <a:ea typeface="Aptos"/>
                <a:cs typeface="Aptos"/>
              </a:rPr>
              <a:t>× Simulink Test / Test Manager suite</a:t>
            </a:r>
          </a:p>
          <a:p xmlns:a="http://schemas.openxmlformats.org/drawingml/2006/main">
            <a:pPr algn="l">
              <a:defRPr sz="1350" b="1">
                <a:solidFill>
                  <a:srgbClr val="0B1F33"/>
                </a:solidFill>
                <a:latin typeface="Aptos"/>
                <a:ea typeface="Aptos"/>
                <a:cs typeface="Aptos"/>
              </a:defRPr>
            </a:pPr>
            <a:r>
              <a:rPr sz="1350" b="1">
                <a:solidFill>
                  <a:srgbClr val="0B1F33"/>
                </a:solidFill>
                <a:latin typeface="Aptos"/>
                <a:ea typeface="Aptos"/>
                <a:cs typeface="Aptos"/>
              </a:rPr>
              <a:t>× Production-code generation or code verification</a:t>
            </a:r>
          </a:p>
          <a:p xmlns:a="http://schemas.openxmlformats.org/drawingml/2006/main">
            <a:pPr algn="l">
              <a:defRPr sz="1350" b="1">
                <a:solidFill>
                  <a:srgbClr val="0B1F33"/>
                </a:solidFill>
                <a:latin typeface="Aptos"/>
                <a:ea typeface="Aptos"/>
                <a:cs typeface="Aptos"/>
              </a:defRPr>
            </a:pPr>
            <a:r>
              <a:rPr sz="1350" b="1">
                <a:solidFill>
                  <a:srgbClr val="0B1F33"/>
                </a:solidFill>
                <a:latin typeface="Aptos"/>
                <a:ea typeface="Aptos"/>
                <a:cs typeface="Aptos"/>
              </a:rPr>
              <a:t>× SIL, PIL, HIL, bench, or system-integration execution</a:t>
            </a:r>
          </a:p>
          <a:p xmlns:a="http://schemas.openxmlformats.org/drawingml/2006/main">
            <a:pPr algn="l">
              <a:defRPr sz="1350" b="1">
                <a:solidFill>
                  <a:srgbClr val="0B1F33"/>
                </a:solidFill>
                <a:latin typeface="Aptos"/>
                <a:ea typeface="Aptos"/>
                <a:cs typeface="Aptos"/>
              </a:defRPr>
            </a:pPr>
            <a:r>
              <a:rPr sz="1350" b="1">
                <a:solidFill>
                  <a:srgbClr val="0B1F33"/>
                </a:solidFill>
                <a:latin typeface="Aptos"/>
                <a:ea typeface="Aptos"/>
                <a:cs typeface="Aptos"/>
              </a:rPr>
              <a:t>× Certification approval</a:t>
            </a:r>
          </a:p>
          <a:p xmlns:a="http://schemas.openxmlformats.org/drawingml/2006/main">
            <a:pPr algn="l">
              <a:defRPr sz="1350" b="1">
                <a:solidFill>
                  <a:srgbClr val="0B1F33"/>
                </a:solidFill>
                <a:latin typeface="Aptos"/>
                <a:ea typeface="Aptos"/>
                <a:cs typeface="Aptos"/>
              </a:defRPr>
            </a:pPr>
            <a:r>
              <a:rPr sz="1350" b="1">
                <a:solidFill>
                  <a:srgbClr val="0B1F33"/>
                </a:solidFill>
                <a:latin typeface="Aptos"/>
                <a:ea typeface="Aptos"/>
                <a:cs typeface="Aptos"/>
              </a:rPr>
              <a:t>× Automatic compliance from a model or pipeline</a:t>
            </a:r>
          </a:p>
        </p:txBody>
      </p:sp>
      <p:sp>
        <p:nvSpPr>
          <p:cNvPr id="37" name="s41-mldatx">
            <a:extLst xmlns:a="http://schemas.openxmlformats.org/drawingml/2006/main">
              <a:ext uri="{FF2B5EF4-FFF2-40B4-BE49-F238E27FC236}">
                <a16:creationId xmlns:a16="http://schemas.microsoft.com/office/drawing/2014/main" id="{BE1CD416-1F61-4543-96E3-36F1D084C602}"/>
              </a:ext>
            </a:extLst>
          </p:cNvPr>
          <p:cNvSpPr>
            <a:spLocks xmlns:a="http://schemas.openxmlformats.org/drawingml/2006/main" noGrp="1"/>
          </p:cNvSpPr>
          <p:nvPr/>
        </p:nvSpPr>
        <p:spPr>
          <a:xfrm xmlns:a="http://schemas.openxmlformats.org/drawingml/2006/main">
            <a:off x="685800" y="5676900"/>
            <a:ext cx="10820400" cy="428625"/>
          </a:xfrm>
          <a:prstGeom xmlns:a="http://schemas.openxmlformats.org/drawingml/2006/main" prst="roundRect">
            <a:avLst>
              <a:gd name="adj" fmla="val 26667"/>
            </a:avLst>
          </a:prstGeom>
          <a:solidFill xmlns:a="http://schemas.openxmlformats.org/drawingml/2006/main">
            <a:srgbClr val="0B243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275" b="1">
                <a:solidFill>
                  <a:srgbClr val="FFFFFF"/>
                </a:solidFill>
                <a:latin typeface="Aptos"/>
                <a:ea typeface="Aptos"/>
                <a:cs typeface="Aptos"/>
              </a:defRPr>
            </a:pPr>
            <a:r>
              <a:rPr sz="1275" b="1">
                <a:solidFill>
                  <a:srgbClr val="FFFFFF"/>
                </a:solidFill>
                <a:latin typeface="Aptos"/>
                <a:ea typeface="Aptos"/>
                <a:cs typeface="Aptos"/>
              </a:rPr>
              <a:t>Exactly two .mldatx files are retained, and both are Simulation Data Inspector artifacts.</a:t>
            </a:r>
          </a:p>
        </p:txBody>
      </p:sp>
    </p:spTree>
    <p:extLst>
      <p:ext uri="{BB962C8B-B14F-4D97-AF65-F5344CB8AC3E}">
        <p14:creationId xmlns:p14="http://schemas.microsoft.com/office/powerpoint/2010/main" val="140704512"/>
      </p:ext>
    </p:extLst>
  </p:cSld>
</p:sld>
</file>

<file path=ppt/slides/slide42.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7" name="section-503">
            <a:extLst xmlns:a="http://schemas.openxmlformats.org/drawingml/2006/main">
              <a:ext uri="{FF2B5EF4-FFF2-40B4-BE49-F238E27FC236}">
                <a16:creationId xmlns:a16="http://schemas.microsoft.com/office/drawing/2014/main" id="{B9339CC5-0322-4A6D-A398-EC17103D7BD4}"/>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08 • FIRST-WEEK TAKEAWAYS</a:t>
            </a:r>
          </a:p>
        </p:txBody>
      </p:sp>
      <p:sp>
        <p:nvSpPr>
          <p:cNvPr id="2" name="title-503">
            <a:extLst xmlns:a="http://schemas.openxmlformats.org/drawingml/2006/main">
              <a:ext uri="{FF2B5EF4-FFF2-40B4-BE49-F238E27FC236}">
                <a16:creationId xmlns:a16="http://schemas.microsoft.com/office/drawing/2014/main" id="{9704C947-B76A-4532-85E2-375167EE132E}"/>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FFFFFF"/>
                </a:solidFill>
                <a:latin typeface="Aptos"/>
                <a:ea typeface="Aptos"/>
                <a:cs typeface="Aptos"/>
              </a:defRPr>
            </a:pPr>
            <a:r>
              <a:rPr sz="3150" b="1" i="0">
                <a:solidFill>
                  <a:srgbClr val="FFFFFF"/>
                </a:solidFill>
                <a:latin typeface="Aptos"/>
                <a:ea typeface="Aptos"/>
                <a:cs typeface="Aptos"/>
              </a:rPr>
              <a:t>Your first week should produce one repeatable chain</a:t>
            </a:r>
          </a:p>
        </p:txBody>
      </p:sp>
      <p:sp>
        <p:nvSpPr>
          <p:cNvPr id="3" name="line-504">
            <a:extLst xmlns:a="http://schemas.openxmlformats.org/drawingml/2006/main">
              <a:ext uri="{FF2B5EF4-FFF2-40B4-BE49-F238E27FC236}">
                <a16:creationId xmlns:a16="http://schemas.microsoft.com/office/drawing/2014/main" id="{B537E2FC-7C16-47EA-9D18-66A638AC3B6B}"/>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6" name="text-507">
            <a:extLst xmlns:a="http://schemas.openxmlformats.org/drawingml/2006/main">
              <a:ext uri="{FF2B5EF4-FFF2-40B4-BE49-F238E27FC236}">
                <a16:creationId xmlns:a16="http://schemas.microsoft.com/office/drawing/2014/main" id="{0E700A0F-2F94-4602-96B5-4956814AF4A9}"/>
              </a:ext>
            </a:extLst>
          </p:cNvPr>
          <p:cNvSpPr>
            <a:spLocks xmlns:a="http://schemas.openxmlformats.org/drawingml/2006/main" noGrp="1"/>
          </p:cNvSpPr>
          <p:nvPr/>
        </p:nvSpPr>
        <p:spPr>
          <a:xfrm xmlns:a="http://schemas.openxmlformats.org/drawingml/2006/main">
            <a:off x="819150" y="1504950"/>
            <a:ext cx="466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75" b="1" i="0">
                <a:solidFill>
                  <a:srgbClr val="70DCE5"/>
                </a:solidFill>
                <a:latin typeface="Aptos"/>
                <a:ea typeface="Aptos"/>
                <a:cs typeface="Aptos"/>
              </a:defRPr>
            </a:pPr>
            <a:r>
              <a:rPr sz="1275" b="1" i="0">
                <a:solidFill>
                  <a:srgbClr val="70DCE5"/>
                </a:solidFill>
                <a:latin typeface="Aptos"/>
                <a:ea typeface="Aptos"/>
                <a:cs typeface="Aptos"/>
              </a:rPr>
              <a:t>WHAT TO REMEMBER</a:t>
            </a:r>
          </a:p>
        </p:txBody>
      </p:sp>
      <p:sp>
        <p:nvSpPr>
          <p:cNvPr id="7" name="text-508">
            <a:extLst xmlns:a="http://schemas.openxmlformats.org/drawingml/2006/main">
              <a:ext uri="{FF2B5EF4-FFF2-40B4-BE49-F238E27FC236}">
                <a16:creationId xmlns:a16="http://schemas.microsoft.com/office/drawing/2014/main" id="{7CDF9D49-08B8-4DAF-9CB9-8F1822EEB39C}"/>
              </a:ext>
            </a:extLst>
          </p:cNvPr>
          <p:cNvSpPr>
            <a:spLocks xmlns:a="http://schemas.openxmlformats.org/drawingml/2006/main" noGrp="1"/>
          </p:cNvSpPr>
          <p:nvPr/>
        </p:nvSpPr>
        <p:spPr>
          <a:xfrm xmlns:a="http://schemas.openxmlformats.org/drawingml/2006/main">
            <a:off x="781050" y="1981200"/>
            <a:ext cx="53340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5"/>
              </a:spcAft>
              <a:buNone/>
              <a:defRPr sz="1650" b="0" i="0">
                <a:solidFill>
                  <a:srgbClr val="FFFFFF"/>
                </a:solidFill>
                <a:latin typeface="Aptos"/>
                <a:ea typeface="Aptos"/>
                <a:cs typeface="Aptos"/>
              </a:defRPr>
            </a:pPr>
            <a:r>
              <a:rPr sz="1650" b="0" i="0">
                <a:solidFill>
                  <a:srgbClr val="FFFFFF"/>
                </a:solidFill>
                <a:latin typeface="Aptos"/>
                <a:ea typeface="Aptos"/>
                <a:cs typeface="Aptos"/>
              </a:rPr>
              <a:t>Simulink — executable data flow, state, timing, and hierarchy</a:t>
            </a:r>
          </a:p>
          <a:p xmlns:a="http://schemas.openxmlformats.org/drawingml/2006/main">
            <a:pPr marL="24" indent="-13" algn="l">
              <a:lnSpc>
                <a:spcPct val="108000"/>
              </a:lnSpc>
              <a:spcAft>
                <a:spcPts val="15"/>
              </a:spcAft>
              <a:buNone/>
              <a:defRPr sz="1650" b="0" i="0">
                <a:solidFill>
                  <a:srgbClr val="FFFFFF"/>
                </a:solidFill>
                <a:latin typeface="Aptos"/>
                <a:ea typeface="Aptos"/>
                <a:cs typeface="Aptos"/>
              </a:defRPr>
            </a:pPr>
            <a:r>
              <a:rPr sz="1650" b="0" i="0">
                <a:solidFill>
                  <a:srgbClr val="FFFFFF"/>
                </a:solidFill>
                <a:latin typeface="Aptos"/>
                <a:ea typeface="Aptos"/>
                <a:cs typeface="Aptos"/>
              </a:rPr>
              <a:t>DO-178C / DO-331 — planned objectives, model role, verification, and evidence</a:t>
            </a:r>
          </a:p>
          <a:p xmlns:a="http://schemas.openxmlformats.org/drawingml/2006/main">
            <a:pPr marL="24" indent="-13" algn="l">
              <a:lnSpc>
                <a:spcPct val="108000"/>
              </a:lnSpc>
              <a:spcAft>
                <a:spcPts val="15"/>
              </a:spcAft>
              <a:buNone/>
              <a:defRPr sz="1650" b="0" i="0">
                <a:solidFill>
                  <a:srgbClr val="FFFFFF"/>
                </a:solidFill>
                <a:latin typeface="Aptos"/>
                <a:ea typeface="Aptos"/>
                <a:cs typeface="Aptos"/>
              </a:defRPr>
            </a:pPr>
            <a:r>
              <a:rPr sz="1650" b="0" i="0">
                <a:solidFill>
                  <a:srgbClr val="FFFFFF"/>
                </a:solidFill>
                <a:latin typeface="Aptos"/>
                <a:ea typeface="Aptos"/>
                <a:cs typeface="Aptos"/>
              </a:rPr>
              <a:t>Testing — requirements first; boundaries, modes, failures, and timing</a:t>
            </a:r>
          </a:p>
          <a:p xmlns:a="http://schemas.openxmlformats.org/drawingml/2006/main">
            <a:pPr marL="24" indent="-13" algn="l">
              <a:lnSpc>
                <a:spcPct val="108000"/>
              </a:lnSpc>
              <a:spcAft>
                <a:spcPts val="15"/>
              </a:spcAft>
              <a:buNone/>
              <a:defRPr sz="1650" b="0" i="0">
                <a:solidFill>
                  <a:srgbClr val="FFFFFF"/>
                </a:solidFill>
                <a:latin typeface="Aptos"/>
                <a:ea typeface="Aptos"/>
                <a:cs typeface="Aptos"/>
              </a:defRPr>
            </a:pPr>
            <a:r>
              <a:rPr sz="1650" b="0" i="0">
                <a:solidFill>
                  <a:srgbClr val="FFFFFF"/>
                </a:solidFill>
                <a:latin typeface="Aptos"/>
                <a:ea typeface="Aptos"/>
                <a:cs typeface="Aptos"/>
              </a:rPr>
              <a:t>Automation — repeatable checks and results under controlled configuration</a:t>
            </a:r>
          </a:p>
          <a:p xmlns:a="http://schemas.openxmlformats.org/drawingml/2006/main">
            <a:pPr marL="24" indent="-13" algn="l">
              <a:lnSpc>
                <a:spcPct val="108000"/>
              </a:lnSpc>
              <a:spcAft>
                <a:spcPts val="15"/>
              </a:spcAft>
              <a:buNone/>
              <a:defRPr sz="1650" b="0" i="0">
                <a:solidFill>
                  <a:srgbClr val="FFFFFF"/>
                </a:solidFill>
                <a:latin typeface="Aptos"/>
                <a:ea typeface="Aptos"/>
                <a:cs typeface="Aptos"/>
              </a:defRPr>
            </a:pPr>
            <a:r>
              <a:rPr sz="1650" b="0" i="0">
                <a:solidFill>
                  <a:srgbClr val="FFFFFF"/>
                </a:solidFill>
                <a:latin typeface="Aptos"/>
                <a:ea typeface="Aptos"/>
                <a:cs typeface="Aptos"/>
              </a:rPr>
              <a:t>HIL — real controller, physical I/O, real-time plant, quantitative criteria</a:t>
            </a:r>
          </a:p>
        </p:txBody>
      </p:sp>
      <p:sp>
        <p:nvSpPr>
          <p:cNvPr id="8" name="line-509">
            <a:extLst xmlns:a="http://schemas.openxmlformats.org/drawingml/2006/main">
              <a:ext uri="{FF2B5EF4-FFF2-40B4-BE49-F238E27FC236}">
                <a16:creationId xmlns:a16="http://schemas.microsoft.com/office/drawing/2014/main" id="{053DB801-A2B8-4C10-AD1C-B7D824EDB3E7}"/>
              </a:ext>
            </a:extLst>
          </p:cNvPr>
          <p:cNvSpPr>
            <a:spLocks xmlns:a="http://schemas.openxmlformats.org/drawingml/2006/main" noGrp="1"/>
          </p:cNvSpPr>
          <p:nvPr/>
        </p:nvSpPr>
        <p:spPr>
          <a:xfrm xmlns:a="http://schemas.openxmlformats.org/drawingml/2006/main">
            <a:off x="6286500" y="1504950"/>
            <a:ext cx="0" cy="3600450"/>
          </a:xfrm>
          <a:prstGeom xmlns:a="http://schemas.openxmlformats.org/drawingml/2006/main" prst="line">
            <a:avLst/>
          </a:prstGeom>
          <a:noFill xmlns:a="http://schemas.openxmlformats.org/drawingml/2006/main"/>
          <a:ln xmlns:a="http://schemas.openxmlformats.org/drawingml/2006/main" w="19050">
            <a:solidFill>
              <a:srgbClr val="143A55"/>
            </a:solidFill>
            <a:prstDash val="solid"/>
          </a:ln>
        </p:spPr>
      </p:sp>
      <p:sp>
        <p:nvSpPr>
          <p:cNvPr id="9" name="text-510">
            <a:extLst xmlns:a="http://schemas.openxmlformats.org/drawingml/2006/main">
              <a:ext uri="{FF2B5EF4-FFF2-40B4-BE49-F238E27FC236}">
                <a16:creationId xmlns:a16="http://schemas.microsoft.com/office/drawing/2014/main" id="{3EDDC643-C96B-4F44-BE46-191A5A6458BE}"/>
              </a:ext>
            </a:extLst>
          </p:cNvPr>
          <p:cNvSpPr>
            <a:spLocks xmlns:a="http://schemas.openxmlformats.org/drawingml/2006/main" noGrp="1"/>
          </p:cNvSpPr>
          <p:nvPr/>
        </p:nvSpPr>
        <p:spPr>
          <a:xfrm xmlns:a="http://schemas.openxmlformats.org/drawingml/2006/main">
            <a:off x="6858000" y="15049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75" b="1" i="0">
                <a:solidFill>
                  <a:srgbClr val="E9A23B"/>
                </a:solidFill>
                <a:latin typeface="Aptos"/>
                <a:ea typeface="Aptos"/>
                <a:cs typeface="Aptos"/>
              </a:defRPr>
            </a:pPr>
            <a:r>
              <a:rPr sz="1275" b="1" i="0">
                <a:solidFill>
                  <a:srgbClr val="E9A23B"/>
                </a:solidFill>
                <a:latin typeface="Aptos"/>
                <a:ea typeface="Aptos"/>
                <a:cs typeface="Aptos"/>
              </a:rPr>
              <a:t>FIRST WEEK</a:t>
            </a:r>
          </a:p>
        </p:txBody>
      </p:sp>
      <p:sp>
        <p:nvSpPr>
          <p:cNvPr id="10" name="box-511">
            <a:extLst xmlns:a="http://schemas.openxmlformats.org/drawingml/2006/main">
              <a:ext uri="{FF2B5EF4-FFF2-40B4-BE49-F238E27FC236}">
                <a16:creationId xmlns:a16="http://schemas.microsoft.com/office/drawing/2014/main" id="{5EF92CC0-FA7A-4292-8844-30171E3C92EA}"/>
              </a:ext>
            </a:extLst>
          </p:cNvPr>
          <p:cNvSpPr>
            <a:spLocks xmlns:a="http://schemas.openxmlformats.org/drawingml/2006/main" noGrp="1"/>
          </p:cNvSpPr>
          <p:nvPr/>
        </p:nvSpPr>
        <p:spPr>
          <a:xfrm xmlns:a="http://schemas.openxmlformats.org/drawingml/2006/main">
            <a:off x="6858000" y="1981200"/>
            <a:ext cx="4381500" cy="419100"/>
          </a:xfrm>
          <a:prstGeom xmlns:a="http://schemas.openxmlformats.org/drawingml/2006/main" prst="roundRect">
            <a:avLst>
              <a:gd name="adj" fmla="val 13636"/>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wrap="square" lIns="133350" tIns="28575" rIns="95250" bIns="28575" anchor="ctr">
            <a:noAutofit/>
          </a:bodyPr>
          <a:lstStyle xmlns:a="http://schemas.openxmlformats.org/drawingml/2006/main"/>
          <a:p xmlns:a="http://schemas.openxmlformats.org/drawingml/2006/main">
            <a:pPr algn="l">
              <a:lnSpc>
                <a:spcPct val="100000"/>
              </a:lnSpc>
              <a:buNone/>
              <a:defRPr sz="1260" b="1">
                <a:solidFill>
                  <a:srgbClr val="FFFFFF"/>
                </a:solidFill>
                <a:latin typeface="Aptos"/>
                <a:ea typeface="Aptos"/>
                <a:cs typeface="Aptos"/>
              </a:defRPr>
            </a:pPr>
            <a:r>
              <a:rPr sz="1260" b="1">
                <a:solidFill>
                  <a:srgbClr val="FFFFFF"/>
                </a:solidFill>
                <a:latin typeface="Aptos"/>
                <a:ea typeface="Aptos"/>
                <a:cs typeface="Aptos"/>
              </a:rPr>
              <a:t>01  initialize folders + open the correct top level</a:t>
            </a:r>
          </a:p>
        </p:txBody>
      </p:sp>
      <p:sp>
        <p:nvSpPr>
          <p:cNvPr id="11" name="box-512">
            <a:extLst xmlns:a="http://schemas.openxmlformats.org/drawingml/2006/main">
              <a:ext uri="{FF2B5EF4-FFF2-40B4-BE49-F238E27FC236}">
                <a16:creationId xmlns:a16="http://schemas.microsoft.com/office/drawing/2014/main" id="{0552A155-2C11-438A-9BBE-B8BD5615C51F}"/>
              </a:ext>
            </a:extLst>
          </p:cNvPr>
          <p:cNvSpPr>
            <a:spLocks xmlns:a="http://schemas.openxmlformats.org/drawingml/2006/main" noGrp="1"/>
          </p:cNvSpPr>
          <p:nvPr/>
        </p:nvSpPr>
        <p:spPr>
          <a:xfrm xmlns:a="http://schemas.openxmlformats.org/drawingml/2006/main">
            <a:off x="6858000" y="2533650"/>
            <a:ext cx="4381500" cy="419100"/>
          </a:xfrm>
          <a:prstGeom xmlns:a="http://schemas.openxmlformats.org/drawingml/2006/main" prst="roundRect">
            <a:avLst>
              <a:gd name="adj" fmla="val 13636"/>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wrap="square" lIns="133350" tIns="28575" rIns="95250" bIns="28575" anchor="ctr">
            <a:noAutofit/>
          </a:bodyPr>
          <a:lstStyle xmlns:a="http://schemas.openxmlformats.org/drawingml/2006/main"/>
          <a:p xmlns:a="http://schemas.openxmlformats.org/drawingml/2006/main">
            <a:pPr algn="l">
              <a:lnSpc>
                <a:spcPct val="100000"/>
              </a:lnSpc>
              <a:buNone/>
              <a:defRPr sz="1260" b="1">
                <a:solidFill>
                  <a:srgbClr val="FFFFFF"/>
                </a:solidFill>
                <a:latin typeface="Aptos"/>
                <a:ea typeface="Aptos"/>
                <a:cs typeface="Aptos"/>
              </a:defRPr>
            </a:pPr>
            <a:r>
              <a:rPr sz="1260" b="1">
                <a:solidFill>
                  <a:srgbClr val="FFFFFF"/>
                </a:solidFill>
                <a:latin typeface="Aptos"/>
                <a:ea typeface="Aptos"/>
                <a:cs typeface="Aptos"/>
              </a:rPr>
              <a:t>02  update, run, stop, build, and test distinctly</a:t>
            </a:r>
          </a:p>
        </p:txBody>
      </p:sp>
      <p:sp>
        <p:nvSpPr>
          <p:cNvPr id="12" name="box-513">
            <a:extLst xmlns:a="http://schemas.openxmlformats.org/drawingml/2006/main">
              <a:ext uri="{FF2B5EF4-FFF2-40B4-BE49-F238E27FC236}">
                <a16:creationId xmlns:a16="http://schemas.microsoft.com/office/drawing/2014/main" id="{59EB19FF-2FCB-4B3B-A2EE-1FCF1ABB3800}"/>
              </a:ext>
            </a:extLst>
          </p:cNvPr>
          <p:cNvSpPr>
            <a:spLocks xmlns:a="http://schemas.openxmlformats.org/drawingml/2006/main" noGrp="1"/>
          </p:cNvSpPr>
          <p:nvPr/>
        </p:nvSpPr>
        <p:spPr>
          <a:xfrm xmlns:a="http://schemas.openxmlformats.org/drawingml/2006/main">
            <a:off x="6858000" y="3086100"/>
            <a:ext cx="4381500" cy="419100"/>
          </a:xfrm>
          <a:prstGeom xmlns:a="http://schemas.openxmlformats.org/drawingml/2006/main" prst="roundRect">
            <a:avLst>
              <a:gd name="adj" fmla="val 13636"/>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wrap="square" lIns="133350" tIns="28575" rIns="95250" bIns="28575" anchor="ctr">
            <a:noAutofit/>
          </a:bodyPr>
          <a:lstStyle xmlns:a="http://schemas.openxmlformats.org/drawingml/2006/main"/>
          <a:p xmlns:a="http://schemas.openxmlformats.org/drawingml/2006/main">
            <a:pPr algn="l">
              <a:lnSpc>
                <a:spcPct val="100000"/>
              </a:lnSpc>
              <a:buNone/>
              <a:defRPr sz="1260" b="1">
                <a:solidFill>
                  <a:srgbClr val="FFFFFF"/>
                </a:solidFill>
                <a:latin typeface="Aptos"/>
                <a:ea typeface="Aptos"/>
                <a:cs typeface="Aptos"/>
              </a:defRPr>
            </a:pPr>
            <a:r>
              <a:rPr sz="1260" b="1">
                <a:solidFill>
                  <a:srgbClr val="FFFFFF"/>
                </a:solidFill>
                <a:latin typeface="Aptos"/>
                <a:ea typeface="Aptos"/>
                <a:cs typeface="Aptos"/>
              </a:rPr>
              <a:t>03  toggle units, types, dimensions, names + badges</a:t>
            </a:r>
          </a:p>
        </p:txBody>
      </p:sp>
      <p:sp>
        <p:nvSpPr>
          <p:cNvPr id="13" name="box-514">
            <a:extLst xmlns:a="http://schemas.openxmlformats.org/drawingml/2006/main">
              <a:ext uri="{FF2B5EF4-FFF2-40B4-BE49-F238E27FC236}">
                <a16:creationId xmlns:a16="http://schemas.microsoft.com/office/drawing/2014/main" id="{86DE6C69-5797-46A0-83DA-A03DD80F58F4}"/>
              </a:ext>
            </a:extLst>
          </p:cNvPr>
          <p:cNvSpPr>
            <a:spLocks xmlns:a="http://schemas.openxmlformats.org/drawingml/2006/main" noGrp="1"/>
          </p:cNvSpPr>
          <p:nvPr/>
        </p:nvSpPr>
        <p:spPr>
          <a:xfrm xmlns:a="http://schemas.openxmlformats.org/drawingml/2006/main">
            <a:off x="6858000" y="3638550"/>
            <a:ext cx="4381500" cy="419100"/>
          </a:xfrm>
          <a:prstGeom xmlns:a="http://schemas.openxmlformats.org/drawingml/2006/main" prst="roundRect">
            <a:avLst>
              <a:gd name="adj" fmla="val 13636"/>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wrap="square" lIns="133350" tIns="28575" rIns="95250" bIns="28575" anchor="ctr">
            <a:noAutofit/>
          </a:bodyPr>
          <a:lstStyle xmlns:a="http://schemas.openxmlformats.org/drawingml/2006/main"/>
          <a:p xmlns:a="http://schemas.openxmlformats.org/drawingml/2006/main">
            <a:pPr algn="l">
              <a:lnSpc>
                <a:spcPct val="100000"/>
              </a:lnSpc>
              <a:buNone/>
              <a:defRPr sz="1260" b="1">
                <a:solidFill>
                  <a:srgbClr val="FFFFFF"/>
                </a:solidFill>
                <a:latin typeface="Aptos"/>
                <a:ea typeface="Aptos"/>
                <a:cs typeface="Aptos"/>
              </a:defRPr>
            </a:pPr>
            <a:r>
              <a:rPr sz="1260" b="1">
                <a:solidFill>
                  <a:srgbClr val="FFFFFF"/>
                </a:solidFill>
                <a:latin typeface="Aptos"/>
                <a:ea typeface="Aptos"/>
                <a:cs typeface="Aptos"/>
              </a:rPr>
              <a:t>04  inspect one run and five signals in Data Inspector</a:t>
            </a:r>
          </a:p>
        </p:txBody>
      </p:sp>
      <p:sp>
        <p:nvSpPr>
          <p:cNvPr id="14" name="box-515">
            <a:extLst xmlns:a="http://schemas.openxmlformats.org/drawingml/2006/main">
              <a:ext uri="{FF2B5EF4-FFF2-40B4-BE49-F238E27FC236}">
                <a16:creationId xmlns:a16="http://schemas.microsoft.com/office/drawing/2014/main" id="{E0F4BD95-2774-4FE4-8D94-374A28C3E8E5}"/>
              </a:ext>
            </a:extLst>
          </p:cNvPr>
          <p:cNvSpPr>
            <a:spLocks xmlns:a="http://schemas.openxmlformats.org/drawingml/2006/main" noGrp="1"/>
          </p:cNvSpPr>
          <p:nvPr/>
        </p:nvSpPr>
        <p:spPr>
          <a:xfrm xmlns:a="http://schemas.openxmlformats.org/drawingml/2006/main">
            <a:off x="6858000" y="4191000"/>
            <a:ext cx="4381500" cy="419100"/>
          </a:xfrm>
          <a:prstGeom xmlns:a="http://schemas.openxmlformats.org/drawingml/2006/main" prst="roundRect">
            <a:avLst>
              <a:gd name="adj" fmla="val 13636"/>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wrap="square" lIns="133350" tIns="28575" rIns="95250" bIns="28575" anchor="ctr">
            <a:noAutofit/>
          </a:bodyPr>
          <a:lstStyle xmlns:a="http://schemas.openxmlformats.org/drawingml/2006/main"/>
          <a:p xmlns:a="http://schemas.openxmlformats.org/drawingml/2006/main">
            <a:pPr algn="l">
              <a:lnSpc>
                <a:spcPct val="100000"/>
              </a:lnSpc>
              <a:buNone/>
              <a:defRPr sz="1260" b="1">
                <a:solidFill>
                  <a:srgbClr val="FFFFFF"/>
                </a:solidFill>
                <a:latin typeface="Aptos"/>
                <a:ea typeface="Aptos"/>
                <a:cs typeface="Aptos"/>
              </a:defRPr>
            </a:pPr>
            <a:r>
              <a:rPr sz="1260" b="1">
                <a:solidFill>
                  <a:srgbClr val="FFFFFF"/>
                </a:solidFill>
                <a:latin typeface="Aptos"/>
                <a:ea typeface="Aptos"/>
                <a:cs typeface="Aptos"/>
              </a:rPr>
              <a:t>05  trace PSYS-001 to the executed Iteration 8 PASS</a:t>
            </a:r>
          </a:p>
        </p:txBody>
      </p:sp>
      <p:sp>
        <p:nvSpPr>
          <p:cNvPr id="15" name="box-516">
            <a:extLst xmlns:a="http://schemas.openxmlformats.org/drawingml/2006/main">
              <a:ext uri="{FF2B5EF4-FFF2-40B4-BE49-F238E27FC236}">
                <a16:creationId xmlns:a16="http://schemas.microsoft.com/office/drawing/2014/main" id="{0815572C-20E2-4D01-B52E-5E58F8BCEE66}"/>
              </a:ext>
            </a:extLst>
          </p:cNvPr>
          <p:cNvSpPr>
            <a:spLocks xmlns:a="http://schemas.openxmlformats.org/drawingml/2006/main" noGrp="1"/>
          </p:cNvSpPr>
          <p:nvPr/>
        </p:nvSpPr>
        <p:spPr>
          <a:xfrm xmlns:a="http://schemas.openxmlformats.org/drawingml/2006/main">
            <a:off x="6858000" y="4743450"/>
            <a:ext cx="4381500" cy="419100"/>
          </a:xfrm>
          <a:prstGeom xmlns:a="http://schemas.openxmlformats.org/drawingml/2006/main" prst="roundRect">
            <a:avLst>
              <a:gd name="adj" fmla="val 13636"/>
            </a:avLst>
          </a:prstGeom>
          <a:solidFill xmlns:a="http://schemas.openxmlformats.org/drawingml/2006/main">
            <a:srgbClr val="10372A"/>
          </a:solidFill>
          <a:ln xmlns:a="http://schemas.openxmlformats.org/drawingml/2006/main" w="9525">
            <a:solidFill>
              <a:srgbClr val="2CA56F"/>
            </a:solidFill>
            <a:prstDash val="solid"/>
          </a:ln>
        </p:spPr>
        <p:txBody>
          <a:bodyPr xmlns:a="http://schemas.openxmlformats.org/drawingml/2006/main" wrap="square" lIns="133350" tIns="28575" rIns="95250" bIns="28575" anchor="ctr">
            <a:noAutofit/>
          </a:bodyPr>
          <a:lstStyle xmlns:a="http://schemas.openxmlformats.org/drawingml/2006/main"/>
          <a:p xmlns:a="http://schemas.openxmlformats.org/drawingml/2006/main">
            <a:pPr algn="l">
              <a:lnSpc>
                <a:spcPct val="100000"/>
              </a:lnSpc>
              <a:buNone/>
              <a:defRPr sz="1260" b="1">
                <a:solidFill>
                  <a:srgbClr val="FFFFFF"/>
                </a:solidFill>
                <a:latin typeface="Aptos"/>
                <a:ea typeface="Aptos"/>
                <a:cs typeface="Aptos"/>
              </a:defRPr>
            </a:pPr>
            <a:r>
              <a:rPr sz="1260" b="1">
                <a:solidFill>
                  <a:srgbClr val="FFFFFF"/>
                </a:solidFill>
                <a:latin typeface="Aptos"/>
                <a:ea typeface="Aptos"/>
                <a:cs typeface="Aptos"/>
              </a:rPr>
              <a:t>06  make one controlled change; rerun affected evidence</a:t>
            </a:r>
          </a:p>
        </p:txBody>
      </p:sp>
      <p:sp>
        <p:nvSpPr>
          <p:cNvPr id="16" name="box-517">
            <a:extLst xmlns:a="http://schemas.openxmlformats.org/drawingml/2006/main">
              <a:ext uri="{FF2B5EF4-FFF2-40B4-BE49-F238E27FC236}">
                <a16:creationId xmlns:a16="http://schemas.microsoft.com/office/drawing/2014/main" id="{4C86E091-2C53-4EF0-83CC-1406EE6AA817}"/>
              </a:ext>
            </a:extLst>
          </p:cNvPr>
          <p:cNvSpPr>
            <a:spLocks xmlns:a="http://schemas.openxmlformats.org/drawingml/2006/main" noGrp="1"/>
          </p:cNvSpPr>
          <p:nvPr/>
        </p:nvSpPr>
        <p:spPr>
          <a:xfrm xmlns:a="http://schemas.openxmlformats.org/drawingml/2006/main">
            <a:off x="1238250" y="5619750"/>
            <a:ext cx="9715500" cy="552450"/>
          </a:xfrm>
          <a:prstGeom xmlns:a="http://schemas.openxmlformats.org/drawingml/2006/main" prst="roundRect">
            <a:avLst>
              <a:gd name="adj" fmla="val 13793"/>
            </a:avLst>
          </a:prstGeom>
          <a:solidFill xmlns:a="http://schemas.openxmlformats.org/drawingml/2006/main">
            <a:srgbClr val="20B7C5"/>
          </a:solidFill>
          <a:ln xmlns:a="http://schemas.openxmlformats.org/drawingml/2006/main" w="9525">
            <a:solidFill>
              <a:srgbClr val="20B7C5"/>
            </a:solid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lnSpc>
                <a:spcPct val="100000"/>
              </a:lnSpc>
              <a:buNone/>
              <a:defRPr sz="1463" b="1">
                <a:solidFill>
                  <a:srgbClr val="FFFFFF"/>
                </a:solidFill>
                <a:latin typeface="Aptos"/>
                <a:ea typeface="Aptos"/>
                <a:cs typeface="Aptos"/>
              </a:defRPr>
            </a:pPr>
            <a:r>
              <a:rPr sz="1463" b="1">
                <a:solidFill>
                  <a:srgbClr val="FFFFFF"/>
                </a:solidFill>
                <a:latin typeface="Aptos"/>
                <a:ea typeface="Aptos"/>
                <a:cs typeface="Aptos"/>
              </a:rPr>
              <a:t>VERIFIED STARTING POINT  •  8/8 models updated  •  19/19 assessments passed  •  24/24 required exports present</a:t>
            </a:r>
          </a:p>
        </p:txBody>
      </p:sp>
      <p:sp>
        <p:nvSpPr>
          <p:cNvPr id="18" name="text-505-v4">
            <a:extLst xmlns:a="http://schemas.openxmlformats.org/drawingml/2006/main">
              <a:ext uri="{FF2B5EF4-FFF2-40B4-BE49-F238E27FC236}">
                <a16:creationId xmlns:a16="http://schemas.microsoft.com/office/drawing/2014/main" id="{813358E6-CEB3-4CB4-9D65-E3F0EC201BF7}"/>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63" b="1">
                <a:solidFill>
                  <a:srgbClr val="7D91A0"/>
                </a:solidFill>
                <a:latin typeface="Aptos"/>
                <a:ea typeface="Aptos"/>
                <a:cs typeface="Aptos"/>
              </a:defRPr>
            </a:pPr>
            <a:r>
              <a:rPr sz="863" b="1">
                <a:solidFill>
                  <a:srgbClr val="7D91A0"/>
                </a:solidFill>
                <a:latin typeface="Aptos"/>
                <a:ea typeface="Aptos"/>
                <a:cs typeface="Aptos"/>
              </a:rPr>
              <a:t>AVIATION CONTROLS ENGINEERING ONBOARDING</a:t>
            </a:r>
          </a:p>
        </p:txBody>
      </p:sp>
      <p:sp>
        <p:nvSpPr>
          <p:cNvPr id="19" name="text-506-v4">
            <a:extLst xmlns:a="http://schemas.openxmlformats.org/drawingml/2006/main">
              <a:ext uri="{FF2B5EF4-FFF2-40B4-BE49-F238E27FC236}">
                <a16:creationId xmlns:a16="http://schemas.microsoft.com/office/drawing/2014/main" id="{46B0D6C9-DC1D-471B-8E9A-7707F00C5C5F}"/>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050" b="1">
                <a:solidFill>
                  <a:srgbClr val="70DCE5"/>
                </a:solidFill>
                <a:latin typeface="Aptos"/>
                <a:ea typeface="Aptos"/>
                <a:cs typeface="Aptos"/>
              </a:defRPr>
            </a:pPr>
            <a:r>
              <a:rPr sz="1050" b="1">
                <a:solidFill>
                  <a:srgbClr val="70DCE5"/>
                </a:solidFill>
                <a:latin typeface="Aptos"/>
                <a:ea typeface="Aptos"/>
                <a:cs typeface="Aptos"/>
              </a:rPr>
              <a:t>42</a:t>
            </a:r>
          </a:p>
        </p:txBody>
      </p:sp>
    </p:spTree>
    <p:extLst>
      <p:ext uri="{BB962C8B-B14F-4D97-AF65-F5344CB8AC3E}">
        <p14:creationId xmlns:p14="http://schemas.microsoft.com/office/powerpoint/2010/main" val="39284847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2026-08-27T12:09:17.7220000Z</dcterms:created>
  <dcterms:modified xsi:type="dcterms:W3CDTF">2026-08-27T12:09:17.7230000Z</dcterms:modified>
</coreProperties>
</file>